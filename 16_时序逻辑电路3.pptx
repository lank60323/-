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444" r:id="rId3"/>
    <p:sldId id="512" r:id="rId4"/>
    <p:sldId id="513" r:id="rId5"/>
    <p:sldId id="514" r:id="rId6"/>
    <p:sldId id="515" r:id="rId7"/>
    <p:sldId id="516" r:id="rId8"/>
    <p:sldId id="517" r:id="rId9"/>
    <p:sldId id="518" r:id="rId10"/>
    <p:sldId id="519" r:id="rId11"/>
    <p:sldId id="520" r:id="rId12"/>
    <p:sldId id="521" r:id="rId13"/>
    <p:sldId id="522" r:id="rId14"/>
    <p:sldId id="523" r:id="rId15"/>
    <p:sldId id="511" r:id="rId16"/>
  </p:sldIdLst>
  <p:sldSz cx="9906000" cy="6858000" type="A4"/>
  <p:notesSz cx="9144000" cy="6858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5226"/>
    <p:restoredTop sz="80093"/>
  </p:normalViewPr>
  <p:slideViewPr>
    <p:cSldViewPr snapToGrid="0" snapToObjects="1">
      <p:cViewPr varScale="1">
        <p:scale>
          <a:sx n="109" d="100"/>
          <a:sy n="109" d="100"/>
        </p:scale>
        <p:origin x="816" y="184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16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8FAB7-9DA6-42E2-BB80-6EB4D83E2AE8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D08B7-D15B-4122-BED5-76961CE89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15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6F516-474B-49E6-8B3A-4C2D69386E26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7EB77-94AC-4128-8DFB-759E46F1AD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7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2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74x373</a:t>
            </a:r>
            <a:r>
              <a:rPr lang="zh-CN" altLang="en-US" dirty="0"/>
              <a:t>：三态</a:t>
            </a:r>
            <a:r>
              <a:rPr lang="en-US" altLang="zh-CN" dirty="0"/>
              <a:t>8</a:t>
            </a:r>
            <a:r>
              <a:rPr lang="zh-CN" altLang="en-US" dirty="0"/>
              <a:t>位锁存器</a:t>
            </a:r>
          </a:p>
          <a:p>
            <a:pPr eaLnBrk="1" hangingPunct="1"/>
            <a:r>
              <a:rPr lang="en-US" altLang="zh-CN" dirty="0"/>
              <a:t>74x374</a:t>
            </a:r>
            <a:r>
              <a:rPr lang="zh-CN" altLang="en-US" dirty="0"/>
              <a:t>：三态</a:t>
            </a:r>
            <a:r>
              <a:rPr lang="en-US" altLang="zh-CN" dirty="0"/>
              <a:t>8</a:t>
            </a:r>
            <a:r>
              <a:rPr lang="zh-CN" altLang="en-US" dirty="0"/>
              <a:t>位寄存器</a:t>
            </a:r>
          </a:p>
          <a:p>
            <a:pPr eaLnBrk="1" hangingPunct="1"/>
            <a:r>
              <a:rPr lang="en-US" altLang="zh-CN" dirty="0"/>
              <a:t>74x16374</a:t>
            </a:r>
            <a:r>
              <a:rPr lang="zh-CN" altLang="en-US" dirty="0"/>
              <a:t>：三态</a:t>
            </a:r>
            <a:r>
              <a:rPr lang="en-US" altLang="zh-CN" dirty="0"/>
              <a:t>16</a:t>
            </a:r>
            <a:r>
              <a:rPr lang="zh-CN" altLang="en-US" dirty="0"/>
              <a:t>位寄存器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72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当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E=0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有效时，开放左半边一路，右半边输出恒为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，所以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D0-&gt;D-&gt;Q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；当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E=1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无效时，开放右半边一路，左半边输出恒为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，所以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Q0-D-&gt;Q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，一直保持</a:t>
            </a:r>
            <a:r>
              <a:rPr lang="zh-CN" altLang="zh-CN" dirty="0">
                <a:effectLst/>
              </a:rPr>
              <a:t> 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028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为了消除因初始随机状态可能引起的错误，增加复位信号</a:t>
            </a:r>
            <a:r>
              <a:rPr lang="en-US" altLang="zh-CN" dirty="0"/>
              <a:t>Rd‘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/>
            <a:r>
              <a:rPr lang="en-US" altLang="zh-CN" dirty="0"/>
              <a:t>Moore</a:t>
            </a:r>
            <a:r>
              <a:rPr lang="zh-CN" altLang="en-US" dirty="0"/>
              <a:t>电路：直接使用三个寄存器</a:t>
            </a:r>
            <a:r>
              <a:rPr lang="en-US" altLang="zh-CN" dirty="0"/>
              <a:t>Q0,Q1,Q2</a:t>
            </a:r>
            <a:r>
              <a:rPr lang="zh-CN" altLang="en-US" dirty="0"/>
              <a:t>引出，求与输出。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222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Master-Untertitelformat bearbeiten</a:t>
            </a:r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AD0EE8D-9D56-A393-A0B6-B1D464FF8959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906000" cy="510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/>
              <a:t>计算机科学与技术学院本科课程</a:t>
            </a:r>
            <a:endParaRPr lang="en-US" altLang="zh-CN" sz="28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2A6DDD0-4B5B-3901-545E-2EAC257EF17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1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510639"/>
          </a:xfrm>
          <a:solidFill>
            <a:schemeClr val="accent1"/>
          </a:solidFill>
          <a:ln>
            <a:noFill/>
          </a:ln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7780" y="585760"/>
            <a:ext cx="9888220" cy="5947119"/>
          </a:xfrm>
        </p:spPr>
        <p:txBody>
          <a:bodyPr/>
          <a:lstStyle>
            <a:lvl1pPr>
              <a:defRPr sz="28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2pPr>
            <a:lvl3pPr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 err="1"/>
              <a:t>Mastertextformat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altLang="zh-CN" dirty="0"/>
          </a:p>
          <a:p>
            <a:pPr lvl="1"/>
            <a:r>
              <a:rPr lang="en-US" altLang="zh-CN" dirty="0" err="1"/>
              <a:t>Zweite</a:t>
            </a:r>
            <a:r>
              <a:rPr lang="en-US" altLang="zh-CN" dirty="0"/>
              <a:t> Ebene</a:t>
            </a:r>
          </a:p>
          <a:p>
            <a:pPr lvl="2"/>
            <a:r>
              <a:rPr lang="en-US" altLang="zh-CN" dirty="0" err="1"/>
              <a:t>Dritte</a:t>
            </a:r>
            <a:r>
              <a:rPr lang="en-US" altLang="zh-CN" dirty="0"/>
              <a:t> Ebene</a:t>
            </a:r>
          </a:p>
          <a:p>
            <a:pPr lvl="3"/>
            <a:r>
              <a:rPr lang="en-US" altLang="zh-CN" dirty="0" err="1"/>
              <a:t>Vierte</a:t>
            </a:r>
            <a:r>
              <a:rPr lang="en-US" altLang="zh-CN" dirty="0"/>
              <a:t> Ebene</a:t>
            </a:r>
          </a:p>
          <a:p>
            <a:pPr lvl="4"/>
            <a:r>
              <a:rPr lang="en-US" altLang="zh-CN" dirty="0" err="1"/>
              <a:t>Fünfte</a:t>
            </a:r>
            <a:r>
              <a:rPr lang="en-US" altLang="zh-CN" dirty="0"/>
              <a:t> Ebene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532880"/>
            <a:ext cx="31369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475220" y="6543040"/>
            <a:ext cx="23114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fld id="{9E260BC5-5BF3-8746-862B-DC45E9CAA88B}" type="slidenum">
              <a:rPr lang="en-US" smtClean="0"/>
              <a:pPr/>
              <a:t>‹#›</a:t>
            </a:fld>
            <a:r>
              <a:rPr lang="en-US" altLang="zh-CN" dirty="0"/>
              <a:t>/</a:t>
            </a:r>
            <a:endParaRPr lang="en-US" dirty="0"/>
          </a:p>
        </p:txBody>
      </p:sp>
      <p:pic>
        <p:nvPicPr>
          <p:cNvPr id="7" name="Bild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8354" y="575599"/>
            <a:ext cx="629866" cy="574907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8A49508E-0CBC-36CF-BE0A-9CFE928D505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82FF6C-9411-92E7-7DED-EBDB23C92E35}"/>
              </a:ext>
            </a:extLst>
          </p:cNvPr>
          <p:cNvSpPr txBox="1">
            <a:spLocks/>
          </p:cNvSpPr>
          <p:nvPr userDrawn="1"/>
        </p:nvSpPr>
        <p:spPr>
          <a:xfrm>
            <a:off x="17780" y="6522719"/>
            <a:ext cx="1684560" cy="208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457200" rtl="0" eaLnBrk="1" latinLnBrk="0" hangingPunct="1">
              <a:defRPr sz="10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2024</a:t>
            </a:r>
            <a:r>
              <a:rPr lang="zh-CN" altLang="en-US" dirty="0"/>
              <a:t>年秋季学期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3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7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0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0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2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3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5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3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1077976"/>
            <a:ext cx="8420100" cy="1470025"/>
          </a:xfrm>
        </p:spPr>
        <p:txBody>
          <a:bodyPr>
            <a:normAutofit fontScale="90000"/>
          </a:bodyPr>
          <a:lstStyle/>
          <a:p>
            <a:br>
              <a:rPr lang="en-US" altLang="zh-CN" sz="2400" b="1" dirty="0">
                <a:latin typeface="黑体"/>
                <a:ea typeface="黑体"/>
                <a:cs typeface="黑体"/>
              </a:rPr>
            </a:br>
            <a:br>
              <a:rPr lang="en-US" altLang="zh-CN" b="1" dirty="0">
                <a:latin typeface="黑体"/>
                <a:ea typeface="黑体"/>
                <a:cs typeface="黑体"/>
              </a:rPr>
            </a:br>
            <a: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  <a:t>模拟与数字电路</a:t>
            </a:r>
            <a:b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sz="2200" dirty="0">
                <a:solidFill>
                  <a:schemeClr val="accent1">
                    <a:lumMod val="50000"/>
                  </a:schemeClr>
                </a:solidFill>
                <a:latin typeface="+mj-ea"/>
              </a:rPr>
              <a:t>Analog and Digital Circuits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2546991"/>
            <a:ext cx="6934200" cy="2269558"/>
          </a:xfrm>
        </p:spPr>
        <p:txBody>
          <a:bodyPr>
            <a:noAutofit/>
          </a:bodyPr>
          <a:lstStyle/>
          <a:p>
            <a:endParaRPr lang="en-US" altLang="zh-CN" sz="16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br>
              <a:rPr lang="en-US" altLang="zh-CN" sz="16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16_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时序逻辑电路（</a:t>
            </a: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（数电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P291-295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br>
              <a:rPr lang="en-US" sz="2000" dirty="0">
                <a:solidFill>
                  <a:srgbClr val="0070C0"/>
                </a:solidFill>
              </a:rPr>
            </a:b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04" y="5093353"/>
            <a:ext cx="1727992" cy="15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DBC4C-9640-AD61-0F3B-5CF87397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6375B-3C17-2170-48EE-3E111108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寄存器</a:t>
            </a:r>
          </a:p>
          <a:p>
            <a:r>
              <a:rPr lang="zh-CN" altLang="en-US" sz="2800" dirty="0"/>
              <a:t>移位寄存器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B087B8-46F4-E8D4-8B30-EF3E7278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B7386-9DB7-80F6-203E-055AF101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</a:t>
            </a:fld>
            <a:r>
              <a:rPr lang="en-US" altLang="zh-CN" dirty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0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349563-CACE-9507-1C8C-B4710169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寄存器</a:t>
            </a:r>
            <a:endParaRPr kumimoji="1"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36EED5-C1F1-1A5E-7477-E135CE6AE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若干触发器的集合</a:t>
            </a:r>
          </a:p>
          <a:p>
            <a:pPr lvl="1"/>
            <a:r>
              <a:rPr lang="zh-CN" altLang="en-US" dirty="0"/>
              <a:t>每个触发器具有相同的外围电路结构</a:t>
            </a:r>
          </a:p>
          <a:p>
            <a:pPr lvl="1"/>
            <a:r>
              <a:rPr lang="zh-CN" altLang="en-US" dirty="0"/>
              <a:t>所有触发器共享时钟和控制信号</a:t>
            </a:r>
          </a:p>
          <a:p>
            <a:pPr>
              <a:spcBef>
                <a:spcPct val="20000"/>
              </a:spcBef>
            </a:pPr>
            <a:r>
              <a:rPr lang="zh-CN" altLang="en-US" dirty="0"/>
              <a:t>控制信号选项</a:t>
            </a:r>
          </a:p>
          <a:p>
            <a:pPr lvl="1"/>
            <a:r>
              <a:rPr lang="zh-CN" altLang="en-US" dirty="0"/>
              <a:t>异步复位</a:t>
            </a:r>
          </a:p>
          <a:p>
            <a:pPr lvl="1"/>
            <a:r>
              <a:rPr lang="zh-CN" altLang="en-US" dirty="0"/>
              <a:t>输入使能</a:t>
            </a:r>
          </a:p>
          <a:p>
            <a:pPr lvl="1"/>
            <a:r>
              <a:rPr lang="zh-CN" altLang="en-US" dirty="0"/>
              <a:t>输出使能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F8BBEE-C53E-559A-60DD-933C6B894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EBE689-7CFB-C4D7-D54D-9CF52A933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</a:t>
            </a:fld>
            <a:r>
              <a:rPr lang="en-US" altLang="zh-CN" dirty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561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3F514-1E15-CA9C-BD34-8B4CB3ACD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74x273</a:t>
            </a:r>
            <a:r>
              <a:rPr lang="zh-CN" altLang="en-US" dirty="0"/>
              <a:t>：带异步清零八位寄存器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E760DE-E5C1-A776-0346-E08C610C4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BA32D9-C0DD-5475-7473-9F37AEA52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4</a:t>
            </a:fld>
            <a:r>
              <a:rPr lang="en-US" altLang="zh-CN" dirty="0"/>
              <a:t>/15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9D13D5-A175-DEFD-D1E1-1B82DC9AF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863" y="908050"/>
            <a:ext cx="190500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B273C1-6F33-E4B4-9819-8D74C279A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1371600"/>
            <a:ext cx="288607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D3C221-022E-F800-33B3-740520C8F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8" y="4005263"/>
            <a:ext cx="8232775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279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4F2982-3EA7-94E1-E8CA-1AFB1C147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74x374</a:t>
            </a:r>
            <a:r>
              <a:rPr lang="zh-CN" altLang="en-US" dirty="0"/>
              <a:t>：带三态输出八位寄存器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C9762E-291D-878B-0938-91C7CD48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F2DCCF-9339-FF7B-DCBF-EA2B7A863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5</a:t>
            </a:fld>
            <a:r>
              <a:rPr lang="en-US" altLang="zh-CN" dirty="0"/>
              <a:t>/15</a:t>
            </a:r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4E16E10-77CF-9583-8A07-463505D0A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216" y="639765"/>
            <a:ext cx="5796555" cy="287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5">
            <a:extLst>
              <a:ext uri="{FF2B5EF4-FFF2-40B4-BE49-F238E27FC236}">
                <a16:creationId xmlns:a16="http://schemas.microsoft.com/office/drawing/2014/main" id="{A996245E-069F-F636-5D6D-AAD91942972D}"/>
              </a:ext>
            </a:extLst>
          </p:cNvPr>
          <p:cNvGrpSpPr>
            <a:grpSpLocks/>
          </p:cNvGrpSpPr>
          <p:nvPr/>
        </p:nvGrpSpPr>
        <p:grpSpPr bwMode="auto">
          <a:xfrm>
            <a:off x="744538" y="3516313"/>
            <a:ext cx="7212012" cy="2767012"/>
            <a:chOff x="560" y="2215"/>
            <a:chExt cx="4543" cy="1743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90396930-CDE6-3952-3E7F-072CB21F8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" y="3740"/>
              <a:ext cx="1243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600" b="0">
                  <a:latin typeface="+mj-ea"/>
                  <a:ea typeface="+mj-ea"/>
                  <a:cs typeface="Times New Roman" panose="02020603050405020304" pitchFamily="18" charset="0"/>
                </a:rPr>
                <a:t>高阻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725C2582-E9B6-CDD3-F437-BF0671E2C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2" y="3740"/>
              <a:ext cx="97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600" b="0">
                  <a:latin typeface="+mj-ea"/>
                  <a:ea typeface="+mj-ea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1F9AAB6B-4F05-24B7-5241-C886AAC72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3" y="3740"/>
              <a:ext cx="43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600" b="0">
                  <a:latin typeface="+mj-ea"/>
                  <a:ea typeface="+mj-ea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15DE10E2-3342-1D87-074B-ADD0AE5B9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" y="3740"/>
              <a:ext cx="44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600" b="0">
                  <a:latin typeface="+mj-ea"/>
                  <a:ea typeface="+mj-ea"/>
                  <a:cs typeface="Times New Roman" panose="02020603050405020304" pitchFamily="18" charset="0"/>
                </a:rPr>
                <a:t>↑</a:t>
              </a: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D7AA8B76-AF1B-DC89-5850-B23CC6545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3740"/>
              <a:ext cx="46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600" b="0">
                  <a:latin typeface="+mj-ea"/>
                  <a:ea typeface="+mj-ea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C7A7A816-E761-DB2B-5256-EE129D951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" y="3538"/>
              <a:ext cx="124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600" b="0">
                  <a:latin typeface="+mj-ea"/>
                  <a:ea typeface="+mj-ea"/>
                  <a:cs typeface="Times New Roman" panose="02020603050405020304" pitchFamily="18" charset="0"/>
                </a:rPr>
                <a:t>高阻</a:t>
              </a: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7D8683FE-F105-7CB8-85AC-EDD4D0C60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2" y="3538"/>
              <a:ext cx="97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600" b="0">
                  <a:latin typeface="+mj-ea"/>
                  <a:ea typeface="+mj-ea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93D5A022-88E8-95C1-C95D-5B202B937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3" y="3538"/>
              <a:ext cx="43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600" b="0">
                  <a:latin typeface="+mj-ea"/>
                  <a:ea typeface="+mj-ea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BBB3CCB7-1F78-C3E9-A591-EBA3D4FC1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" y="3538"/>
              <a:ext cx="44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600" b="0">
                  <a:latin typeface="+mj-ea"/>
                  <a:ea typeface="+mj-ea"/>
                  <a:cs typeface="Times New Roman" panose="02020603050405020304" pitchFamily="18" charset="0"/>
                </a:rPr>
                <a:t>↑</a:t>
              </a: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7BC769FC-7241-B50C-157E-094FC929C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3538"/>
              <a:ext cx="46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600" b="0">
                  <a:latin typeface="+mj-ea"/>
                  <a:ea typeface="+mj-ea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18281AFA-838D-EAA7-7682-97ADF6EA3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" y="3538"/>
              <a:ext cx="1073" cy="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600" b="0">
                  <a:latin typeface="+mj-ea"/>
                  <a:ea typeface="+mj-ea"/>
                  <a:cs typeface="Times New Roman" panose="02020603050405020304" pitchFamily="18" charset="0"/>
                </a:rPr>
                <a:t>存入数据</a:t>
              </a:r>
            </a:p>
            <a:p>
              <a:pPr algn="ctr">
                <a:buFontTx/>
                <a:buNone/>
              </a:pPr>
              <a:r>
                <a:rPr lang="zh-CN" altLang="en-US" sz="1600" b="0">
                  <a:latin typeface="+mj-ea"/>
                  <a:ea typeface="+mj-ea"/>
                  <a:cs typeface="Times New Roman" panose="02020603050405020304" pitchFamily="18" charset="0"/>
                </a:rPr>
                <a:t>禁止输出</a:t>
              </a: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0E6600D1-0FF2-FC76-D927-5A5047ED3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2" y="3336"/>
              <a:ext cx="978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600" b="0">
                  <a:latin typeface="+mj-ea"/>
                  <a:ea typeface="+mj-ea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A27BB7BE-D33E-5C29-1439-DC006824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3" y="3336"/>
              <a:ext cx="43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600" b="0">
                  <a:latin typeface="+mj-ea"/>
                  <a:ea typeface="+mj-ea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BA3A23E7-0F7D-4801-DBFC-BEF160DF7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" y="3336"/>
              <a:ext cx="44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600" b="0">
                  <a:latin typeface="+mj-ea"/>
                  <a:ea typeface="+mj-ea"/>
                  <a:cs typeface="Times New Roman" panose="02020603050405020304" pitchFamily="18" charset="0"/>
                </a:rPr>
                <a:t>↑</a:t>
              </a:r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D39219B1-FF36-D8F9-3C90-59F70A8D0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3336"/>
              <a:ext cx="46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600" b="0">
                  <a:latin typeface="+mj-ea"/>
                  <a:ea typeface="+mj-ea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375FD2CF-C0EE-8CE2-9136-82B011BD1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" y="3113"/>
              <a:ext cx="1119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600" b="0">
                  <a:latin typeface="+mj-ea"/>
                  <a:ea typeface="+mj-ea"/>
                  <a:cs typeface="Times New Roman" panose="02020603050405020304" pitchFamily="18" charset="0"/>
                </a:rPr>
                <a:t>内部对应触发器的状态</a:t>
              </a:r>
            </a:p>
          </p:txBody>
        </p:sp>
        <p:sp>
          <p:nvSpPr>
            <p:cNvPr id="24" name="Rectangle 22">
              <a:extLst>
                <a:ext uri="{FF2B5EF4-FFF2-40B4-BE49-F238E27FC236}">
                  <a16:creationId xmlns:a16="http://schemas.microsoft.com/office/drawing/2014/main" id="{04CC9843-CCF5-FAC7-79E9-43480415F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2" y="3135"/>
              <a:ext cx="978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600" b="0">
                  <a:latin typeface="+mj-ea"/>
                  <a:ea typeface="+mj-ea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4BE3A88F-565B-B644-706F-3FC5E6EEC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3" y="3135"/>
              <a:ext cx="439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600" b="0">
                  <a:latin typeface="+mj-ea"/>
                  <a:ea typeface="+mj-ea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FA8DDB6F-655E-8A83-8766-EE8997154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" y="3135"/>
              <a:ext cx="444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600" b="0">
                  <a:latin typeface="+mj-ea"/>
                  <a:ea typeface="+mj-ea"/>
                  <a:cs typeface="Times New Roman" panose="02020603050405020304" pitchFamily="18" charset="0"/>
                </a:rPr>
                <a:t>↑</a:t>
              </a:r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50B7972B-8CEF-97DA-BE21-9DF6BAAE2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3135"/>
              <a:ext cx="460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600" b="0">
                  <a:latin typeface="+mj-ea"/>
                  <a:ea typeface="+mj-ea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28" name="Rectangle 26">
              <a:extLst>
                <a:ext uri="{FF2B5EF4-FFF2-40B4-BE49-F238E27FC236}">
                  <a16:creationId xmlns:a16="http://schemas.microsoft.com/office/drawing/2014/main" id="{839FBE45-4CFD-AD6E-CB93-AA630C9DB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" y="3113"/>
              <a:ext cx="916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600" b="0" dirty="0">
                  <a:latin typeface="+mj-ea"/>
                  <a:ea typeface="+mj-ea"/>
                  <a:cs typeface="Times New Roman" panose="02020603050405020304" pitchFamily="18" charset="0"/>
                </a:rPr>
                <a:t>存入数据</a:t>
              </a:r>
            </a:p>
            <a:p>
              <a:pPr algn="ctr">
                <a:buFontTx/>
                <a:buNone/>
              </a:pPr>
              <a:r>
                <a:rPr lang="zh-CN" altLang="en-US" sz="1600" b="0" dirty="0">
                  <a:latin typeface="+mj-ea"/>
                  <a:ea typeface="+mj-ea"/>
                  <a:cs typeface="Times New Roman" panose="02020603050405020304" pitchFamily="18" charset="0"/>
                </a:rPr>
                <a:t>读出数据</a:t>
              </a:r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C80A7DC0-A8E2-5C2E-BF58-4741C97C03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9" y="3135"/>
              <a:ext cx="0" cy="20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D0B815B9-67C5-8B0E-38D5-E104F19816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9" y="3336"/>
              <a:ext cx="0" cy="20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2661EF83-2E72-7555-06C1-71826A92F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3" y="3538"/>
              <a:ext cx="0" cy="41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25177D3F-2BE7-D331-4591-582C78BE1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9" y="3538"/>
              <a:ext cx="0" cy="202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226864C2-1D67-5B8E-5EEC-B5DE5B01C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9" y="3740"/>
              <a:ext cx="0" cy="217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34" name="Rectangle 32">
              <a:extLst>
                <a:ext uri="{FF2B5EF4-FFF2-40B4-BE49-F238E27FC236}">
                  <a16:creationId xmlns:a16="http://schemas.microsoft.com/office/drawing/2014/main" id="{367FC6ED-EB4A-4E61-02F6-FE586AEF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" y="2734"/>
              <a:ext cx="1243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800" b="0">
                  <a:latin typeface="+mj-ea"/>
                  <a:ea typeface="+mj-ea"/>
                  <a:cs typeface="Times New Roman" panose="02020603050405020304" pitchFamily="18" charset="0"/>
                </a:rPr>
                <a:t>Q</a:t>
              </a:r>
              <a:r>
                <a:rPr lang="en-US" altLang="zh-CN" sz="1800" b="0" baseline="-30000">
                  <a:latin typeface="+mj-ea"/>
                  <a:ea typeface="+mj-ea"/>
                  <a:cs typeface="Times New Roman" panose="02020603050405020304" pitchFamily="18" charset="0"/>
                </a:rPr>
                <a:t>0</a:t>
              </a:r>
              <a:r>
                <a:rPr lang="en-US" altLang="zh-CN" sz="1800" b="0">
                  <a:latin typeface="+mj-ea"/>
                  <a:ea typeface="+mj-ea"/>
                  <a:cs typeface="Times New Roman" panose="02020603050405020304" pitchFamily="18" charset="0"/>
                </a:rPr>
                <a:t>~Q</a:t>
              </a:r>
              <a:r>
                <a:rPr lang="en-US" altLang="zh-CN" sz="1800" b="0" baseline="-30000">
                  <a:latin typeface="+mj-ea"/>
                  <a:ea typeface="+mj-ea"/>
                  <a:cs typeface="Times New Roman" panose="02020603050405020304" pitchFamily="18" charset="0"/>
                </a:rPr>
                <a:t>7</a:t>
              </a:r>
              <a:endParaRPr lang="en-US" altLang="zh-CN" sz="1800" b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33">
              <a:extLst>
                <a:ext uri="{FF2B5EF4-FFF2-40B4-BE49-F238E27FC236}">
                  <a16:creationId xmlns:a16="http://schemas.microsoft.com/office/drawing/2014/main" id="{A9C314F8-AE53-AAAC-59D4-5BFD94D4D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3" y="2770"/>
              <a:ext cx="43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800" b="0">
                  <a:latin typeface="+mj-ea"/>
                  <a:ea typeface="+mj-ea"/>
                  <a:cs typeface="Times New Roman" panose="02020603050405020304" pitchFamily="18" charset="0"/>
                </a:rPr>
                <a:t>D</a:t>
              </a:r>
              <a:r>
                <a:rPr lang="en-US" altLang="zh-CN" sz="1800" b="0" baseline="-20000">
                  <a:latin typeface="+mj-ea"/>
                  <a:ea typeface="+mj-ea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6" name="Rectangle 34">
              <a:extLst>
                <a:ext uri="{FF2B5EF4-FFF2-40B4-BE49-F238E27FC236}">
                  <a16:creationId xmlns:a16="http://schemas.microsoft.com/office/drawing/2014/main" id="{85A4F257-B628-DE29-47E7-0EFF993A1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" y="2770"/>
              <a:ext cx="4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en-US" altLang="zh-CN" sz="1800" b="0">
                  <a:latin typeface="+mj-ea"/>
                  <a:ea typeface="+mj-ea"/>
                  <a:cs typeface="Times New Roman" panose="02020603050405020304" pitchFamily="18" charset="0"/>
                </a:rPr>
                <a:t>CLK</a:t>
              </a:r>
            </a:p>
          </p:txBody>
        </p:sp>
        <p:sp>
          <p:nvSpPr>
            <p:cNvPr id="37" name="Rectangle 35">
              <a:extLst>
                <a:ext uri="{FF2B5EF4-FFF2-40B4-BE49-F238E27FC236}">
                  <a16:creationId xmlns:a16="http://schemas.microsoft.com/office/drawing/2014/main" id="{F2AB0040-65BE-655F-3B26-4BCB97C78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" y="2614"/>
              <a:ext cx="1243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600" b="0">
                  <a:latin typeface="+mj-ea"/>
                  <a:ea typeface="+mj-ea"/>
                  <a:cs typeface="Times New Roman" panose="02020603050405020304" pitchFamily="18" charset="0"/>
                </a:rPr>
                <a:t>输出</a:t>
              </a:r>
            </a:p>
          </p:txBody>
        </p:sp>
        <p:sp>
          <p:nvSpPr>
            <p:cNvPr id="38" name="Rectangle 36">
              <a:extLst>
                <a:ext uri="{FF2B5EF4-FFF2-40B4-BE49-F238E27FC236}">
                  <a16:creationId xmlns:a16="http://schemas.microsoft.com/office/drawing/2014/main" id="{5AD3AE4A-780E-D9ED-3882-17923D858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9" y="2589"/>
              <a:ext cx="94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Tx/>
                <a:buNone/>
              </a:pPr>
              <a:r>
                <a:rPr lang="zh-CN" altLang="en-US" sz="1600" b="0" dirty="0">
                  <a:latin typeface="+mj-ea"/>
                  <a:ea typeface="+mj-ea"/>
                </a:rPr>
                <a:t>内部触发器</a:t>
              </a:r>
            </a:p>
          </p:txBody>
        </p:sp>
        <p:sp>
          <p:nvSpPr>
            <p:cNvPr id="39" name="Rectangle 37">
              <a:extLst>
                <a:ext uri="{FF2B5EF4-FFF2-40B4-BE49-F238E27FC236}">
                  <a16:creationId xmlns:a16="http://schemas.microsoft.com/office/drawing/2014/main" id="{612ED34F-CEB8-6DD7-18D1-890A10976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" y="2568"/>
              <a:ext cx="134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600" b="0" dirty="0">
                  <a:latin typeface="+mj-ea"/>
                  <a:ea typeface="+mj-ea"/>
                  <a:cs typeface="Times New Roman" panose="02020603050405020304" pitchFamily="18" charset="0"/>
                </a:rPr>
                <a:t>输  入</a:t>
              </a:r>
            </a:p>
          </p:txBody>
        </p:sp>
        <p:sp>
          <p:nvSpPr>
            <p:cNvPr id="40" name="Rectangle 38">
              <a:extLst>
                <a:ext uri="{FF2B5EF4-FFF2-40B4-BE49-F238E27FC236}">
                  <a16:creationId xmlns:a16="http://schemas.microsoft.com/office/drawing/2014/main" id="{91AE3D0E-FA00-7230-63AE-12E6B106A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" y="2568"/>
              <a:ext cx="783" cy="56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Tx/>
                <a:buNone/>
              </a:pPr>
              <a:r>
                <a:rPr lang="zh-CN" altLang="en-US" sz="1600" b="0">
                  <a:latin typeface="+mj-ea"/>
                  <a:ea typeface="+mj-ea"/>
                  <a:cs typeface="Times New Roman" panose="02020603050405020304" pitchFamily="18" charset="0"/>
                </a:rPr>
                <a:t>工作模式</a:t>
              </a:r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B71B66B4-3DA4-40AE-5C65-D8236B121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3" y="2568"/>
              <a:ext cx="0" cy="202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18C6615F-3164-5413-9745-B040F472F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9" y="2568"/>
              <a:ext cx="0" cy="1384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8F4B0002-02A4-740E-E7D7-B5A91139B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9" y="2817"/>
              <a:ext cx="0" cy="109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44" name="Line 42">
              <a:extLst>
                <a:ext uri="{FF2B5EF4-FFF2-40B4-BE49-F238E27FC236}">
                  <a16:creationId xmlns:a16="http://schemas.microsoft.com/office/drawing/2014/main" id="{4AD2B668-DD66-5F2E-C9B2-696FC8DEC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9" y="2817"/>
              <a:ext cx="1343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B2BFB8F1-59C7-C54B-9122-D976E4389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2" y="2568"/>
              <a:ext cx="0" cy="1389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E7C4748A-C063-83D6-FE98-13D9A7C20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3" y="2569"/>
              <a:ext cx="0" cy="1389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EF025A5D-FD02-0BBA-8CD8-6B8E4F407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3" y="2776"/>
              <a:ext cx="0" cy="768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0CE81E6C-BE6F-6A4C-7D9E-2EA530C3EF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3" y="2817"/>
              <a:ext cx="0" cy="113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CF152CE4-BC5C-C8CE-56D8-36C6503909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" y="2568"/>
              <a:ext cx="4378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5FD00A44-E302-0682-8CC5-6290B91393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" y="3957"/>
              <a:ext cx="4378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4FEACCEF-4BF8-BCA8-A87E-C5B2194BD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" y="3105"/>
              <a:ext cx="4378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B8BB3E1E-A5D4-9315-3C0F-9BEA4D931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" y="3538"/>
              <a:ext cx="4378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  <p:graphicFrame>
          <p:nvGraphicFramePr>
            <p:cNvPr id="53" name="Object 51">
              <a:extLst>
                <a:ext uri="{FF2B5EF4-FFF2-40B4-BE49-F238E27FC236}">
                  <a16:creationId xmlns:a16="http://schemas.microsoft.com/office/drawing/2014/main" id="{760FC628-7B71-4D8A-759D-C1C3E0BEFA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03" y="2839"/>
            <a:ext cx="290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53780" imgH="215713" progId="Equation.3">
                    <p:embed/>
                  </p:oleObj>
                </mc:Choice>
                <mc:Fallback>
                  <p:oleObj name="公式" r:id="rId4" imgW="253780" imgH="215713" progId="Equation.3">
                    <p:embed/>
                    <p:pic>
                      <p:nvPicPr>
                        <p:cNvPr id="10294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3" y="2839"/>
                          <a:ext cx="290" cy="224"/>
                        </a:xfrm>
                        <a:prstGeom prst="rect">
                          <a:avLst/>
                        </a:prstGeom>
                        <a:solidFill>
                          <a:srgbClr val="FFFFFF">
                            <a:alpha val="0"/>
                          </a:srgb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Rectangle 52">
              <a:extLst>
                <a:ext uri="{FF2B5EF4-FFF2-40B4-BE49-F238E27FC236}">
                  <a16:creationId xmlns:a16="http://schemas.microsoft.com/office/drawing/2014/main" id="{E98B1F44-4E08-1A67-FEEF-5E99B6ABD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2803"/>
              <a:ext cx="598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20000"/>
                </a:lnSpc>
                <a:buFontTx/>
                <a:buNone/>
              </a:pPr>
              <a:r>
                <a:rPr lang="en-US" altLang="zh-CN" sz="1800" b="0" dirty="0">
                  <a:latin typeface="+mj-ea"/>
                  <a:ea typeface="+mj-ea"/>
                  <a:cs typeface="Times New Roman" panose="02020603050405020304" pitchFamily="18" charset="0"/>
                </a:rPr>
                <a:t>Q</a:t>
              </a:r>
              <a:r>
                <a:rPr lang="zh-CN" altLang="en-US" sz="1800" b="0" dirty="0">
                  <a:latin typeface="+mj-ea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en-US" altLang="zh-CN" sz="1800" b="0" baseline="-30000" dirty="0">
                  <a:latin typeface="+mj-ea"/>
                  <a:ea typeface="+mj-ea"/>
                  <a:cs typeface="Times New Roman" panose="02020603050405020304" pitchFamily="18" charset="0"/>
                </a:rPr>
                <a:t>i</a:t>
              </a:r>
              <a:r>
                <a:rPr lang="en-US" altLang="zh-CN" sz="1800" b="0" baseline="30000" dirty="0">
                  <a:latin typeface="+mj-ea"/>
                  <a:ea typeface="+mj-ea"/>
                  <a:cs typeface="Times New Roman" panose="02020603050405020304" pitchFamily="18" charset="0"/>
                </a:rPr>
                <a:t>n+1</a:t>
              </a:r>
              <a:endParaRPr lang="en-US" altLang="zh-CN" sz="1800" b="0" baseline="-20000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55" name="Text Box 53">
              <a:extLst>
                <a:ext uri="{FF2B5EF4-FFF2-40B4-BE49-F238E27FC236}">
                  <a16:creationId xmlns:a16="http://schemas.microsoft.com/office/drawing/2014/main" id="{08BB9B9E-07AA-EDFA-1F7C-E9887A1CE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1" y="2215"/>
              <a:ext cx="11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 b="0" dirty="0">
                  <a:latin typeface="+mj-ea"/>
                  <a:ea typeface="+mj-ea"/>
                </a:rPr>
                <a:t>功能表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390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B9EEC-9F2A-48EA-9CEF-E44EB3A5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74x377</a:t>
            </a:r>
            <a:r>
              <a:rPr lang="zh-CN" altLang="en-US" dirty="0"/>
              <a:t>：带输入使能八位寄存器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78E1E9-46D7-EB52-5554-2453A9FD9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6CEBDD-8269-7422-4505-8C009E0E4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6</a:t>
            </a:fld>
            <a:r>
              <a:rPr lang="en-US" altLang="zh-CN" dirty="0"/>
              <a:t>/15</a:t>
            </a:r>
            <a:endParaRPr lang="en-US" dirty="0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E7369312-EC4C-F6AE-DBCD-B8CC50C85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458" y="1128127"/>
            <a:ext cx="3832225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12">
            <a:extLst>
              <a:ext uri="{FF2B5EF4-FFF2-40B4-BE49-F238E27FC236}">
                <a16:creationId xmlns:a16="http://schemas.microsoft.com/office/drawing/2014/main" id="{FD107953-1961-D70C-70CF-D28C16A98B3B}"/>
              </a:ext>
            </a:extLst>
          </p:cNvPr>
          <p:cNvGrpSpPr>
            <a:grpSpLocks/>
          </p:cNvGrpSpPr>
          <p:nvPr/>
        </p:nvGrpSpPr>
        <p:grpSpPr bwMode="auto">
          <a:xfrm>
            <a:off x="1288108" y="2131427"/>
            <a:ext cx="3384550" cy="2741612"/>
            <a:chOff x="499" y="1635"/>
            <a:chExt cx="2132" cy="1816"/>
          </a:xfrm>
        </p:grpSpPr>
        <p:pic>
          <p:nvPicPr>
            <p:cNvPr id="8" name="Picture 10">
              <a:extLst>
                <a:ext uri="{FF2B5EF4-FFF2-40B4-BE49-F238E27FC236}">
                  <a16:creationId xmlns:a16="http://schemas.microsoft.com/office/drawing/2014/main" id="{4A4AE269-D061-3075-80E6-4AD0D39DD0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" y="2001"/>
              <a:ext cx="2132" cy="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0C8F9697-6225-1375-F057-19493C86F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" y="1635"/>
              <a:ext cx="692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zh-CN" altLang="en-US" sz="2400">
                  <a:latin typeface="Arial" panose="020B0604020202020204" pitchFamily="34" charset="0"/>
                </a:rPr>
                <a:t>功能表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949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8EE0A-E9D2-C81E-77BB-1A0E9828C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移位寄存器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068E3D-03F3-B35C-AE79-258FD47D5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按移位方向分类</a:t>
            </a:r>
          </a:p>
          <a:p>
            <a:pPr lvl="1"/>
            <a:r>
              <a:rPr lang="zh-CN" altLang="en-US" dirty="0"/>
              <a:t>单向移位寄存器</a:t>
            </a:r>
          </a:p>
          <a:p>
            <a:pPr lvl="1"/>
            <a:r>
              <a:rPr lang="zh-CN" altLang="en-US" dirty="0"/>
              <a:t>双向移位寄存器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kumimoji="1" lang="zh-CN" altLang="en-US" dirty="0"/>
              <a:t>按输入输出方式分类</a:t>
            </a:r>
          </a:p>
          <a:p>
            <a:pPr lvl="1"/>
            <a:r>
              <a:rPr kumimoji="1" lang="zh-CN" altLang="en-US" dirty="0"/>
              <a:t>串入</a:t>
            </a:r>
            <a:r>
              <a:rPr kumimoji="1" lang="en-US" altLang="zh-CN" dirty="0"/>
              <a:t>—</a:t>
            </a:r>
            <a:r>
              <a:rPr kumimoji="1" lang="zh-CN" altLang="en-US" dirty="0"/>
              <a:t>串出</a:t>
            </a:r>
          </a:p>
          <a:p>
            <a:pPr lvl="1"/>
            <a:r>
              <a:rPr kumimoji="1" lang="zh-CN" altLang="en-US" dirty="0"/>
              <a:t>串入</a:t>
            </a:r>
            <a:r>
              <a:rPr kumimoji="1" lang="en-US" altLang="zh-CN" dirty="0"/>
              <a:t>—</a:t>
            </a:r>
            <a:r>
              <a:rPr kumimoji="1" lang="zh-CN" altLang="en-US" dirty="0"/>
              <a:t>并出</a:t>
            </a:r>
          </a:p>
          <a:p>
            <a:pPr lvl="1"/>
            <a:r>
              <a:rPr kumimoji="1" lang="zh-CN" altLang="en-US" dirty="0"/>
              <a:t>并入</a:t>
            </a:r>
            <a:r>
              <a:rPr kumimoji="1" lang="en-US" altLang="zh-CN" dirty="0"/>
              <a:t>—</a:t>
            </a:r>
            <a:r>
              <a:rPr kumimoji="1" lang="zh-CN" altLang="en-US" dirty="0"/>
              <a:t>串出</a:t>
            </a:r>
          </a:p>
          <a:p>
            <a:pPr lvl="1"/>
            <a:r>
              <a:rPr kumimoji="1" lang="zh-CN" altLang="en-US" dirty="0"/>
              <a:t>并入</a:t>
            </a:r>
            <a:r>
              <a:rPr kumimoji="1" lang="en-US" altLang="zh-CN" dirty="0"/>
              <a:t>—</a:t>
            </a:r>
            <a:r>
              <a:rPr kumimoji="1" lang="zh-CN" altLang="en-US" dirty="0"/>
              <a:t>并出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FC3D92-CBBC-B014-D725-E7ABEAA8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E18F05-04EF-0266-72BC-847C5F521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7</a:t>
            </a:fld>
            <a:r>
              <a:rPr lang="en-US" altLang="zh-CN" dirty="0"/>
              <a:t>/15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93E93D65-8BDE-589D-9748-D17643EE5F87}"/>
              </a:ext>
            </a:extLst>
          </p:cNvPr>
          <p:cNvGrpSpPr>
            <a:grpSpLocks/>
          </p:cNvGrpSpPr>
          <p:nvPr/>
        </p:nvGrpSpPr>
        <p:grpSpPr bwMode="auto">
          <a:xfrm>
            <a:off x="4570412" y="1136650"/>
            <a:ext cx="3902075" cy="4584700"/>
            <a:chOff x="2880" y="867"/>
            <a:chExt cx="2458" cy="3178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35AF1117-63F0-0331-0EDD-DA97CCD7F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7" y="872"/>
              <a:ext cx="304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588651D2-1509-8227-E385-920D5A3F7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3" y="877"/>
              <a:ext cx="304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57E763A1-09E5-8D5E-38AA-DF99F539F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867"/>
              <a:ext cx="304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B908A283-3EFA-1F67-E813-B5F96FCB7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" y="872"/>
              <a:ext cx="304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1605CC65-7C1C-0B32-2119-EB5A8E106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2" y="1074"/>
              <a:ext cx="16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63BADC56-A167-1E76-A040-554F56BAE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8" y="1086"/>
              <a:ext cx="16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727EB5B9-396A-5361-7372-EB243F4837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1074"/>
              <a:ext cx="28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79543448-82BF-0782-CE35-95DD6010FE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1085"/>
              <a:ext cx="2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7017EA91-94C3-4396-E02D-0A0C30604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4" y="1074"/>
              <a:ext cx="28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CCBECC8A-3134-143A-6EA4-CC6E543A78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" y="954"/>
              <a:ext cx="33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42D4BDBE-B58A-7C0B-E0D5-D933485560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3" y="951"/>
              <a:ext cx="33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B0619D7C-06DD-5D83-12D0-B1F4FA837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4" y="947"/>
              <a:ext cx="33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4FB2FBB1-1FD5-B02C-6569-9190320A4F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0" y="951"/>
              <a:ext cx="334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EC286D6B-282B-9C44-2B4E-266F53190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5" y="1601"/>
              <a:ext cx="30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8781A40C-5833-8679-38AF-E2912F2CE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1606"/>
              <a:ext cx="30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259A4F8E-9C4F-3DFA-EBBE-7EE7FC885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7" y="1596"/>
              <a:ext cx="303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071DE966-A813-85E4-0866-5D833DE3F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2" y="1601"/>
              <a:ext cx="30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BB3CEB17-33CA-677F-FCD4-F1D9D637B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803"/>
              <a:ext cx="16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3E58B5C9-78EB-88C4-5C4A-FF8F0A798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7" y="1803"/>
              <a:ext cx="28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12859183-2758-8B87-5C6F-7794359B94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1" y="1800"/>
              <a:ext cx="2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94650DEE-349D-F061-0490-9C27302CAF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" y="1804"/>
              <a:ext cx="28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691E3DB0-9FFF-E55A-C86E-8CB630D435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6" y="1684"/>
              <a:ext cx="33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3E027CB3-9CD8-E74F-9E6B-9343A3452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9" y="1681"/>
              <a:ext cx="33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623836CA-5924-282B-3D2C-F6C3574BA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1677"/>
              <a:ext cx="33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31" name="Text Box 29">
              <a:extLst>
                <a:ext uri="{FF2B5EF4-FFF2-40B4-BE49-F238E27FC236}">
                  <a16:creationId xmlns:a16="http://schemas.microsoft.com/office/drawing/2014/main" id="{DA8AB720-D8EE-ABB0-C34B-D4FCF7CE4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7" y="1681"/>
              <a:ext cx="33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5F6A9987-A769-D0B2-53EF-076C507ADC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0" y="1570"/>
              <a:ext cx="0" cy="2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26F7AAC6-67B8-29CE-3A66-B85A80D3DF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5" y="1570"/>
              <a:ext cx="0" cy="2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329F9276-D12F-6B97-DDEA-F2A5559D5B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9" y="1797"/>
              <a:ext cx="14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98250D5D-4050-0ECC-9D63-D9532DDEEA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3" y="1570"/>
              <a:ext cx="0" cy="2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Rectangle 34">
              <a:extLst>
                <a:ext uri="{FF2B5EF4-FFF2-40B4-BE49-F238E27FC236}">
                  <a16:creationId xmlns:a16="http://schemas.microsoft.com/office/drawing/2014/main" id="{8F6CB168-C12E-7892-F3D3-B31EF1B27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0" y="2331"/>
              <a:ext cx="30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7" name="Rectangle 35">
              <a:extLst>
                <a:ext uri="{FF2B5EF4-FFF2-40B4-BE49-F238E27FC236}">
                  <a16:creationId xmlns:a16="http://schemas.microsoft.com/office/drawing/2014/main" id="{1085A5E0-013A-9B77-83CC-5B3B9A1C8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6" y="2336"/>
              <a:ext cx="303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8" name="Rectangle 36">
              <a:extLst>
                <a:ext uri="{FF2B5EF4-FFF2-40B4-BE49-F238E27FC236}">
                  <a16:creationId xmlns:a16="http://schemas.microsoft.com/office/drawing/2014/main" id="{B8995638-F32B-D676-A4CF-7255EA44B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2" y="2341"/>
              <a:ext cx="303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9" name="Rectangle 37">
              <a:extLst>
                <a:ext uri="{FF2B5EF4-FFF2-40B4-BE49-F238E27FC236}">
                  <a16:creationId xmlns:a16="http://schemas.microsoft.com/office/drawing/2014/main" id="{E5CE1B75-720A-0CF7-3469-95FC6AAEB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7" y="2331"/>
              <a:ext cx="304" cy="41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DF447783-0A54-F200-9DDB-BFD3AEC58D9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25" y="2843"/>
              <a:ext cx="1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F8FD907F-41DA-7AA6-0816-3C1DD50A0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2" y="2533"/>
              <a:ext cx="28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E17DF85C-72FD-5CEA-8CC0-29DA0FF0DB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6" y="2530"/>
              <a:ext cx="28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6584078D-F8BD-06CC-C67C-56F47AC01F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6" y="2534"/>
              <a:ext cx="2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42">
              <a:extLst>
                <a:ext uri="{FF2B5EF4-FFF2-40B4-BE49-F238E27FC236}">
                  <a16:creationId xmlns:a16="http://schemas.microsoft.com/office/drawing/2014/main" id="{5D678284-1778-8F15-2164-610FACCB1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" y="2414"/>
              <a:ext cx="33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45" name="Text Box 43">
              <a:extLst>
                <a:ext uri="{FF2B5EF4-FFF2-40B4-BE49-F238E27FC236}">
                  <a16:creationId xmlns:a16="http://schemas.microsoft.com/office/drawing/2014/main" id="{ABBE5F45-1191-7BBF-27E1-083C843195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2" y="2410"/>
              <a:ext cx="33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46" name="Text Box 44">
              <a:extLst>
                <a:ext uri="{FF2B5EF4-FFF2-40B4-BE49-F238E27FC236}">
                  <a16:creationId xmlns:a16="http://schemas.microsoft.com/office/drawing/2014/main" id="{1898F789-EF33-712F-510D-6901483318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4" y="2406"/>
              <a:ext cx="333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47" name="Text Box 45">
              <a:extLst>
                <a:ext uri="{FF2B5EF4-FFF2-40B4-BE49-F238E27FC236}">
                  <a16:creationId xmlns:a16="http://schemas.microsoft.com/office/drawing/2014/main" id="{77B55FDD-976C-7F9B-3852-8D05D28897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0" y="2410"/>
              <a:ext cx="33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18878264-16E9-1ABD-9C32-63B2101941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2" y="2523"/>
              <a:ext cx="16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C96DD6C8-7EF1-4BF4-3F55-2C6D4A1F4E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731" y="2833"/>
              <a:ext cx="1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080C4501-7987-C981-88C9-782E451C0A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337" y="2838"/>
              <a:ext cx="1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36C32EFD-D189-318F-E0F5-F81B178EC4A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943" y="2843"/>
              <a:ext cx="1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Rectangle 50">
              <a:extLst>
                <a:ext uri="{FF2B5EF4-FFF2-40B4-BE49-F238E27FC236}">
                  <a16:creationId xmlns:a16="http://schemas.microsoft.com/office/drawing/2014/main" id="{F74936D0-6566-E3E3-6C0F-DCE8B1E59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3193"/>
              <a:ext cx="304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3" name="Rectangle 51">
              <a:extLst>
                <a:ext uri="{FF2B5EF4-FFF2-40B4-BE49-F238E27FC236}">
                  <a16:creationId xmlns:a16="http://schemas.microsoft.com/office/drawing/2014/main" id="{C938E955-204F-369D-0902-6B93BE35A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1" y="3198"/>
              <a:ext cx="303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4" name="Rectangle 52">
              <a:extLst>
                <a:ext uri="{FF2B5EF4-FFF2-40B4-BE49-F238E27FC236}">
                  <a16:creationId xmlns:a16="http://schemas.microsoft.com/office/drawing/2014/main" id="{C861947E-D7C9-A2F4-9076-C2DC19284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" y="3203"/>
              <a:ext cx="303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5" name="Rectangle 53">
              <a:extLst>
                <a:ext uri="{FF2B5EF4-FFF2-40B4-BE49-F238E27FC236}">
                  <a16:creationId xmlns:a16="http://schemas.microsoft.com/office/drawing/2014/main" id="{7B447B8C-7888-544D-4221-1FD03E4C4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2" y="3193"/>
              <a:ext cx="304" cy="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6" name="Line 54">
              <a:extLst>
                <a:ext uri="{FF2B5EF4-FFF2-40B4-BE49-F238E27FC236}">
                  <a16:creationId xmlns:a16="http://schemas.microsoft.com/office/drawing/2014/main" id="{E9622649-10F5-6CB1-8CE4-7B9D19C605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7" y="3395"/>
              <a:ext cx="28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55">
              <a:extLst>
                <a:ext uri="{FF2B5EF4-FFF2-40B4-BE49-F238E27FC236}">
                  <a16:creationId xmlns:a16="http://schemas.microsoft.com/office/drawing/2014/main" id="{4CE6C633-F6D7-4E3C-E515-865A04856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1" y="3392"/>
              <a:ext cx="28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56">
              <a:extLst>
                <a:ext uri="{FF2B5EF4-FFF2-40B4-BE49-F238E27FC236}">
                  <a16:creationId xmlns:a16="http://schemas.microsoft.com/office/drawing/2014/main" id="{BE1BB093-5538-0697-C56F-65A0C268FF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1" y="3396"/>
              <a:ext cx="2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Text Box 57">
              <a:extLst>
                <a:ext uri="{FF2B5EF4-FFF2-40B4-BE49-F238E27FC236}">
                  <a16:creationId xmlns:a16="http://schemas.microsoft.com/office/drawing/2014/main" id="{4C8ACEE4-E556-02A1-26AC-B00756AC3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" y="3275"/>
              <a:ext cx="33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60" name="Text Box 58">
              <a:extLst>
                <a:ext uri="{FF2B5EF4-FFF2-40B4-BE49-F238E27FC236}">
                  <a16:creationId xmlns:a16="http://schemas.microsoft.com/office/drawing/2014/main" id="{E4D3EE69-96FC-4EBC-09DC-5D1136E68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2" y="3273"/>
              <a:ext cx="33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61" name="Text Box 59">
              <a:extLst>
                <a:ext uri="{FF2B5EF4-FFF2-40B4-BE49-F238E27FC236}">
                  <a16:creationId xmlns:a16="http://schemas.microsoft.com/office/drawing/2014/main" id="{9EC3519C-DC94-76B8-3EC5-4F518087E3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4" y="3284"/>
              <a:ext cx="33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62" name="Text Box 60">
              <a:extLst>
                <a:ext uri="{FF2B5EF4-FFF2-40B4-BE49-F238E27FC236}">
                  <a16:creationId xmlns:a16="http://schemas.microsoft.com/office/drawing/2014/main" id="{120B7235-F866-C74B-D075-BD07C5468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0" y="3273"/>
              <a:ext cx="33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FF</a:t>
              </a:r>
            </a:p>
          </p:txBody>
        </p:sp>
        <p:sp>
          <p:nvSpPr>
            <p:cNvPr id="63" name="Line 61">
              <a:extLst>
                <a:ext uri="{FF2B5EF4-FFF2-40B4-BE49-F238E27FC236}">
                  <a16:creationId xmlns:a16="http://schemas.microsoft.com/office/drawing/2014/main" id="{A9B6C918-E7B6-4A87-DDA5-69966C0C81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" y="3158"/>
              <a:ext cx="0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9D23A2FB-F101-C4EF-1C55-A9FF2BD414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0" y="3155"/>
              <a:ext cx="0" cy="2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63">
              <a:extLst>
                <a:ext uri="{FF2B5EF4-FFF2-40B4-BE49-F238E27FC236}">
                  <a16:creationId xmlns:a16="http://schemas.microsoft.com/office/drawing/2014/main" id="{D3581ACA-A65F-B323-5A80-8473205FC9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5" y="3153"/>
              <a:ext cx="0" cy="2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64">
              <a:extLst>
                <a:ext uri="{FF2B5EF4-FFF2-40B4-BE49-F238E27FC236}">
                  <a16:creationId xmlns:a16="http://schemas.microsoft.com/office/drawing/2014/main" id="{762123FB-97D6-8411-77D6-6527CFDE03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7" y="3158"/>
              <a:ext cx="0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65">
              <a:extLst>
                <a:ext uri="{FF2B5EF4-FFF2-40B4-BE49-F238E27FC236}">
                  <a16:creationId xmlns:a16="http://schemas.microsoft.com/office/drawing/2014/main" id="{4A3DE53A-63A2-B25B-5439-C2C5B78CB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5" y="3389"/>
              <a:ext cx="14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66">
              <a:extLst>
                <a:ext uri="{FF2B5EF4-FFF2-40B4-BE49-F238E27FC236}">
                  <a16:creationId xmlns:a16="http://schemas.microsoft.com/office/drawing/2014/main" id="{9529F0D6-7D13-7120-7C31-63A49784DE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16" y="3705"/>
              <a:ext cx="1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67">
              <a:extLst>
                <a:ext uri="{FF2B5EF4-FFF2-40B4-BE49-F238E27FC236}">
                  <a16:creationId xmlns:a16="http://schemas.microsoft.com/office/drawing/2014/main" id="{C6DCE470-13C3-B2D3-71AB-9CC684D875C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722" y="3695"/>
              <a:ext cx="1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68">
              <a:extLst>
                <a:ext uri="{FF2B5EF4-FFF2-40B4-BE49-F238E27FC236}">
                  <a16:creationId xmlns:a16="http://schemas.microsoft.com/office/drawing/2014/main" id="{857BB7B6-963F-8E3F-97EA-5BA5A2A179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328" y="3700"/>
              <a:ext cx="1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C4D339C8-19BF-E6FC-959F-EEEFDDEA9E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933" y="3705"/>
              <a:ext cx="1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Text Box 70">
              <a:extLst>
                <a:ext uri="{FF2B5EF4-FFF2-40B4-BE49-F238E27FC236}">
                  <a16:creationId xmlns:a16="http://schemas.microsoft.com/office/drawing/2014/main" id="{A7D3ED3A-BB14-27AF-A825-7E3740BAF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9" y="1276"/>
              <a:ext cx="939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000"/>
                <a:t>串入－串出</a:t>
              </a:r>
            </a:p>
          </p:txBody>
        </p:sp>
        <p:sp>
          <p:nvSpPr>
            <p:cNvPr id="73" name="Text Box 71">
              <a:extLst>
                <a:ext uri="{FF2B5EF4-FFF2-40B4-BE49-F238E27FC236}">
                  <a16:creationId xmlns:a16="http://schemas.microsoft.com/office/drawing/2014/main" id="{397E0AFE-3B3C-797F-C2C9-8EF1942F5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0" y="2020"/>
              <a:ext cx="939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000"/>
                <a:t>串入－并出</a:t>
              </a:r>
            </a:p>
          </p:txBody>
        </p:sp>
        <p:sp>
          <p:nvSpPr>
            <p:cNvPr id="74" name="Text Box 72">
              <a:extLst>
                <a:ext uri="{FF2B5EF4-FFF2-40B4-BE49-F238E27FC236}">
                  <a16:creationId xmlns:a16="http://schemas.microsoft.com/office/drawing/2014/main" id="{4FA5D694-67B6-98D6-FA75-AF10380C5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9" y="2908"/>
              <a:ext cx="109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000"/>
                <a:t>并入－串出</a:t>
              </a:r>
            </a:p>
          </p:txBody>
        </p:sp>
        <p:sp>
          <p:nvSpPr>
            <p:cNvPr id="75" name="Text Box 73">
              <a:extLst>
                <a:ext uri="{FF2B5EF4-FFF2-40B4-BE49-F238E27FC236}">
                  <a16:creationId xmlns:a16="http://schemas.microsoft.com/office/drawing/2014/main" id="{A082527B-E8A3-E087-67B6-AE7EE705D2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3" y="3770"/>
              <a:ext cx="1055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000"/>
                <a:t>并入－并出</a:t>
              </a:r>
            </a:p>
          </p:txBody>
        </p:sp>
        <p:sp>
          <p:nvSpPr>
            <p:cNvPr id="76" name="Line 74">
              <a:extLst>
                <a:ext uri="{FF2B5EF4-FFF2-40B4-BE49-F238E27FC236}">
                  <a16:creationId xmlns:a16="http://schemas.microsoft.com/office/drawing/2014/main" id="{ADA2D7AB-44F0-0AA4-23E2-911A4E5BFC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9" y="1570"/>
              <a:ext cx="0" cy="2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7193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DCF3A2-B01D-2448-EA13-3CDDF2CA7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>
                <a:solidFill>
                  <a:schemeClr val="bg1">
                    <a:lumMod val="95000"/>
                  </a:schemeClr>
                </a:solidFill>
              </a:rPr>
              <a:t>单向移位寄存器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8C386E-341B-C775-DB36-4EF148A72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串入</a:t>
            </a:r>
            <a:r>
              <a:rPr kumimoji="1" lang="en-US" altLang="zh-CN" dirty="0"/>
              <a:t>—</a:t>
            </a:r>
            <a:r>
              <a:rPr kumimoji="1" lang="zh-CN" altLang="en-US" dirty="0"/>
              <a:t>串出</a:t>
            </a:r>
            <a:r>
              <a:rPr kumimoji="1" lang="en-US" altLang="zh-CN" dirty="0"/>
              <a:t>/</a:t>
            </a:r>
            <a:r>
              <a:rPr kumimoji="1" lang="zh-CN" altLang="en-US" dirty="0"/>
              <a:t>并出四位移位寄存器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B04D59-7114-A96B-667D-1ED1D2C0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C70568-0254-09D8-CC7E-2D8F725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8</a:t>
            </a:fld>
            <a:r>
              <a:rPr lang="en-US" altLang="zh-CN" dirty="0"/>
              <a:t>/15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FBE5E49-CEA0-955E-F098-68EDCDF80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9900" y="3843338"/>
            <a:ext cx="8255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78548F7F-38F7-09DC-F75A-A10C35828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7300" y="4071938"/>
            <a:ext cx="48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6">
            <a:extLst>
              <a:ext uri="{FF2B5EF4-FFF2-40B4-BE49-F238E27FC236}">
                <a16:creationId xmlns:a16="http://schemas.microsoft.com/office/drawing/2014/main" id="{C2B082AF-8FD6-0D34-9955-DB3F0AED1016}"/>
              </a:ext>
            </a:extLst>
          </p:cNvPr>
          <p:cNvGrpSpPr>
            <a:grpSpLocks/>
          </p:cNvGrpSpPr>
          <p:nvPr/>
        </p:nvGrpSpPr>
        <p:grpSpPr bwMode="auto">
          <a:xfrm>
            <a:off x="1739900" y="4492625"/>
            <a:ext cx="131763" cy="231775"/>
            <a:chOff x="1096" y="2853"/>
            <a:chExt cx="43" cy="96"/>
          </a:xfrm>
        </p:grpSpPr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C45B5CAF-0C01-F4D1-EF4D-AEEB4C489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2853"/>
              <a:ext cx="43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8759BA14-CAD6-07A6-C5E8-E4E0A2485F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6" y="2901"/>
              <a:ext cx="43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Line 9">
            <a:extLst>
              <a:ext uri="{FF2B5EF4-FFF2-40B4-BE49-F238E27FC236}">
                <a16:creationId xmlns:a16="http://schemas.microsoft.com/office/drawing/2014/main" id="{AADE8933-DEB6-F91D-A562-8A5CABC4E4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33525" y="4605338"/>
            <a:ext cx="206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BDF7C35A-7E8B-560F-C56E-19DB357104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5400" y="4071938"/>
            <a:ext cx="412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6533C2BB-E26E-0B1B-EBF7-150B3880B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913" y="3867150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/>
              <a:t>D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2B02423D-0D19-9D01-1A25-927B64758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25" y="4400550"/>
            <a:ext cx="577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/>
              <a:t>FF</a:t>
            </a:r>
            <a:r>
              <a:rPr kumimoji="1" lang="en-US" altLang="zh-CN" sz="2000" baseline="-25000"/>
              <a:t>0</a:t>
            </a:r>
            <a:endParaRPr kumimoji="1" lang="en-US" altLang="zh-CN" sz="200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02857D3-B557-F297-E2BF-BEB3EEA69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00" y="3843338"/>
            <a:ext cx="827088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93F09FB6-6679-F8A9-E814-7574E77CAC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9888" y="4071938"/>
            <a:ext cx="4810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A6923542-9C3A-E811-CFF7-505EE80EB6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4525" y="4605338"/>
            <a:ext cx="206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FC9038E7-8FBF-66CD-2F62-10D564BC55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7988" y="4071938"/>
            <a:ext cx="412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6ABCEE83-16D6-0EF0-E521-A488503C4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0" y="3867150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/>
              <a:t>D</a:t>
            </a:r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DDC5C6FC-F8B9-F01E-8EFD-A448FD23B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25" y="4400550"/>
            <a:ext cx="577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/>
              <a:t>FF</a:t>
            </a:r>
            <a:r>
              <a:rPr kumimoji="1" lang="en-US" altLang="zh-CN" sz="2000" baseline="-25000"/>
              <a:t>1</a:t>
            </a:r>
            <a:endParaRPr kumimoji="1" lang="en-US" altLang="zh-CN" sz="2000"/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EEACD51D-39E0-156B-0D0C-9AE040D92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488" y="3843338"/>
            <a:ext cx="8255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906C0609-9B71-34A6-6D4F-99AF2B7A9A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2475" y="4071938"/>
            <a:ext cx="4810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D355203B-3FF2-33CA-ADE2-9B37B6E1BA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37113" y="4605338"/>
            <a:ext cx="206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C26ADDCF-FED7-2BA2-396B-307F8FD2E3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8988" y="4071938"/>
            <a:ext cx="414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23">
            <a:extLst>
              <a:ext uri="{FF2B5EF4-FFF2-40B4-BE49-F238E27FC236}">
                <a16:creationId xmlns:a16="http://schemas.microsoft.com/office/drawing/2014/main" id="{2AF7315C-6FE3-7DB2-A41B-204B35B6F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3867150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/>
              <a:t>D</a:t>
            </a:r>
          </a:p>
        </p:txBody>
      </p:sp>
      <p:sp>
        <p:nvSpPr>
          <p:cNvPr id="26" name="Text Box 24">
            <a:extLst>
              <a:ext uri="{FF2B5EF4-FFF2-40B4-BE49-F238E27FC236}">
                <a16:creationId xmlns:a16="http://schemas.microsoft.com/office/drawing/2014/main" id="{BAF1750F-BFAD-82AB-9B12-7F9D2AAC7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9713" y="4400550"/>
            <a:ext cx="577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/>
              <a:t>FF</a:t>
            </a:r>
            <a:r>
              <a:rPr kumimoji="1" lang="en-US" altLang="zh-CN" sz="2000" baseline="-25000"/>
              <a:t>2</a:t>
            </a:r>
            <a:endParaRPr kumimoji="1" lang="en-US" altLang="zh-CN" sz="2000"/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B9A6314C-C94C-36E6-0AC7-901396887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6075" y="3843338"/>
            <a:ext cx="825500" cy="10668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3022FA21-E856-E027-D747-959EE08AD4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3475" y="4071938"/>
            <a:ext cx="482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F3889D39-CD8D-F9D8-7EB8-46896F17FA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89700" y="4605338"/>
            <a:ext cx="206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49CC0AB8-8FA2-5F09-E009-56393321E8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3525" y="4605338"/>
            <a:ext cx="0" cy="5889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9DAA3599-12DE-7834-6622-4C2CC3D669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4525" y="4605338"/>
            <a:ext cx="0" cy="5889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9EFA74D4-8E14-34A5-807F-9973D22F9A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7113" y="4605338"/>
            <a:ext cx="0" cy="5889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DEEF6DC6-C7D4-EC1F-0DF5-388426969C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9700" y="4605338"/>
            <a:ext cx="0" cy="5889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45A54C1B-05B6-4F74-4AA4-0A9648512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1575" y="4071938"/>
            <a:ext cx="542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Text Box 33">
            <a:extLst>
              <a:ext uri="{FF2B5EF4-FFF2-40B4-BE49-F238E27FC236}">
                <a16:creationId xmlns:a16="http://schemas.microsoft.com/office/drawing/2014/main" id="{EDB0BCED-9364-63D0-A26F-27D6B9E6D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088" y="3867150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/>
              <a:t>D</a:t>
            </a:r>
          </a:p>
        </p:txBody>
      </p:sp>
      <p:sp>
        <p:nvSpPr>
          <p:cNvPr id="36" name="Text Box 34">
            <a:extLst>
              <a:ext uri="{FF2B5EF4-FFF2-40B4-BE49-F238E27FC236}">
                <a16:creationId xmlns:a16="http://schemas.microsoft.com/office/drawing/2014/main" id="{1BBBF69C-2654-8C09-A48D-1BF0A63F6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4400550"/>
            <a:ext cx="577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/>
              <a:t>FF</a:t>
            </a:r>
            <a:r>
              <a:rPr kumimoji="1" lang="en-US" altLang="zh-CN" sz="2000" baseline="-25000"/>
              <a:t>3</a:t>
            </a:r>
            <a:endParaRPr kumimoji="1" lang="en-US" altLang="zh-CN" sz="2000"/>
          </a:p>
        </p:txBody>
      </p:sp>
      <p:sp>
        <p:nvSpPr>
          <p:cNvPr id="37" name="Text Box 35">
            <a:extLst>
              <a:ext uri="{FF2B5EF4-FFF2-40B4-BE49-F238E27FC236}">
                <a16:creationId xmlns:a16="http://schemas.microsoft.com/office/drawing/2014/main" id="{83BA6E31-931E-BB1E-0B5F-27CC31290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811588"/>
            <a:ext cx="596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/>
              <a:t>D</a:t>
            </a:r>
            <a:r>
              <a:rPr kumimoji="1" lang="en-US" altLang="zh-CN" sz="2400" baseline="-25000"/>
              <a:t>SI</a:t>
            </a:r>
            <a:endParaRPr kumimoji="1" lang="en-US" altLang="zh-CN" sz="2400"/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FCD75E56-3B14-B530-F62F-46D37F807A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20775" y="5194300"/>
            <a:ext cx="536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Text Box 37">
            <a:extLst>
              <a:ext uri="{FF2B5EF4-FFF2-40B4-BE49-F238E27FC236}">
                <a16:creationId xmlns:a16="http://schemas.microsoft.com/office/drawing/2014/main" id="{F11CC03A-0F86-7121-48AD-0CB0CCD0B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4760913"/>
            <a:ext cx="523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/>
              <a:t>CP</a:t>
            </a:r>
          </a:p>
        </p:txBody>
      </p:sp>
      <p:grpSp>
        <p:nvGrpSpPr>
          <p:cNvPr id="40" name="Group 38">
            <a:extLst>
              <a:ext uri="{FF2B5EF4-FFF2-40B4-BE49-F238E27FC236}">
                <a16:creationId xmlns:a16="http://schemas.microsoft.com/office/drawing/2014/main" id="{3AA0C0A0-2546-69C8-920F-10B875CB0CCB}"/>
              </a:ext>
            </a:extLst>
          </p:cNvPr>
          <p:cNvGrpSpPr>
            <a:grpSpLocks/>
          </p:cNvGrpSpPr>
          <p:nvPr/>
        </p:nvGrpSpPr>
        <p:grpSpPr bwMode="auto">
          <a:xfrm>
            <a:off x="2909888" y="3621088"/>
            <a:ext cx="4818062" cy="457200"/>
            <a:chOff x="1833" y="2281"/>
            <a:chExt cx="3035" cy="288"/>
          </a:xfrm>
        </p:grpSpPr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5A6CF6B9-D785-E28D-BE53-F9351015AE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3" y="2281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973C939A-9543-5F7F-9885-7D68FE044E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4" y="2281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7E3017DD-1A85-1014-0686-A506C4B974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4" y="2281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42">
              <a:extLst>
                <a:ext uri="{FF2B5EF4-FFF2-40B4-BE49-F238E27FC236}">
                  <a16:creationId xmlns:a16="http://schemas.microsoft.com/office/drawing/2014/main" id="{89457754-28E7-06B2-3B86-616ECAC967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8" y="2281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" name="Text Box 43">
            <a:extLst>
              <a:ext uri="{FF2B5EF4-FFF2-40B4-BE49-F238E27FC236}">
                <a16:creationId xmlns:a16="http://schemas.microsoft.com/office/drawing/2014/main" id="{7B6BF568-C718-B9E8-14EE-8703BC7C8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3513" y="3178175"/>
            <a:ext cx="522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/>
              <a:t>Q</a:t>
            </a:r>
            <a:r>
              <a:rPr kumimoji="1" lang="en-US" altLang="zh-CN" sz="2400" baseline="-25000"/>
              <a:t>0</a:t>
            </a:r>
            <a:endParaRPr kumimoji="1" lang="en-US" altLang="zh-CN" sz="2400"/>
          </a:p>
        </p:txBody>
      </p:sp>
      <p:sp>
        <p:nvSpPr>
          <p:cNvPr id="46" name="Text Box 44">
            <a:extLst>
              <a:ext uri="{FF2B5EF4-FFF2-40B4-BE49-F238E27FC236}">
                <a16:creationId xmlns:a16="http://schemas.microsoft.com/office/drawing/2014/main" id="{254B8B8E-06D2-A2D1-87B1-38712BE99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363" y="3178175"/>
            <a:ext cx="522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/>
              <a:t>Q</a:t>
            </a:r>
            <a:r>
              <a:rPr kumimoji="1" lang="en-US" altLang="zh-CN" sz="2400" baseline="-25000"/>
              <a:t>1</a:t>
            </a:r>
            <a:endParaRPr kumimoji="1" lang="en-US" altLang="zh-CN" sz="2400"/>
          </a:p>
        </p:txBody>
      </p:sp>
      <p:sp>
        <p:nvSpPr>
          <p:cNvPr id="47" name="Text Box 45">
            <a:extLst>
              <a:ext uri="{FF2B5EF4-FFF2-40B4-BE49-F238E27FC236}">
                <a16:creationId xmlns:a16="http://schemas.microsoft.com/office/drawing/2014/main" id="{2C87C185-EFAF-031E-F5A3-8AD4E8F35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8363" y="3178175"/>
            <a:ext cx="522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/>
              <a:t>Q</a:t>
            </a:r>
            <a:r>
              <a:rPr kumimoji="1" lang="en-US" altLang="zh-CN" sz="2400" baseline="-25000"/>
              <a:t>2</a:t>
            </a:r>
            <a:endParaRPr kumimoji="1" lang="en-US" altLang="zh-CN" sz="2400"/>
          </a:p>
        </p:txBody>
      </p:sp>
      <p:sp>
        <p:nvSpPr>
          <p:cNvPr id="48" name="Text Box 46">
            <a:extLst>
              <a:ext uri="{FF2B5EF4-FFF2-40B4-BE49-F238E27FC236}">
                <a16:creationId xmlns:a16="http://schemas.microsoft.com/office/drawing/2014/main" id="{D78A2675-7522-D3A5-6F1C-798AB7F8A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2838" y="3178175"/>
            <a:ext cx="522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/>
              <a:t>Q</a:t>
            </a:r>
            <a:r>
              <a:rPr kumimoji="1" lang="en-US" altLang="zh-CN" sz="2400" baseline="-25000"/>
              <a:t>3</a:t>
            </a:r>
            <a:endParaRPr kumimoji="1" lang="en-US" altLang="zh-CN" sz="2400"/>
          </a:p>
        </p:txBody>
      </p:sp>
      <p:sp>
        <p:nvSpPr>
          <p:cNvPr id="49" name="Text Box 47">
            <a:extLst>
              <a:ext uri="{FF2B5EF4-FFF2-40B4-BE49-F238E27FC236}">
                <a16:creationId xmlns:a16="http://schemas.microsoft.com/office/drawing/2014/main" id="{03D2F6BE-F184-7582-9148-D859C5937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25" y="4262438"/>
            <a:ext cx="11525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2400"/>
              <a:t>串行输出数据</a:t>
            </a:r>
          </a:p>
        </p:txBody>
      </p:sp>
      <p:sp>
        <p:nvSpPr>
          <p:cNvPr id="50" name="Text Box 48">
            <a:extLst>
              <a:ext uri="{FF2B5EF4-FFF2-40B4-BE49-F238E27FC236}">
                <a16:creationId xmlns:a16="http://schemas.microsoft.com/office/drawing/2014/main" id="{35275CBC-EACE-40AB-6CB5-15FB9C431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988" y="3787775"/>
            <a:ext cx="684212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Aft>
                <a:spcPct val="0"/>
              </a:spcAft>
              <a:buFontTx/>
              <a:buNone/>
            </a:pPr>
            <a:r>
              <a:rPr kumimoji="1" lang="en-US" altLang="zh-CN" sz="2400"/>
              <a:t>D</a:t>
            </a:r>
            <a:r>
              <a:rPr kumimoji="1" lang="en-US" altLang="zh-CN" sz="2000" baseline="-25000"/>
              <a:t>SO</a:t>
            </a:r>
            <a:endParaRPr kumimoji="1" lang="en-US" altLang="zh-CN" sz="2000"/>
          </a:p>
        </p:txBody>
      </p:sp>
      <p:sp>
        <p:nvSpPr>
          <p:cNvPr id="51" name="Text Box 49">
            <a:extLst>
              <a:ext uri="{FF2B5EF4-FFF2-40B4-BE49-F238E27FC236}">
                <a16:creationId xmlns:a16="http://schemas.microsoft.com/office/drawing/2014/main" id="{E0A1D35C-03AA-283C-B1FE-6B558BFEF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997200"/>
            <a:ext cx="11525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zh-CN" altLang="en-US" sz="2400"/>
              <a:t>串行输入数据</a:t>
            </a:r>
            <a:endParaRPr kumimoji="1" lang="en-US" altLang="zh-CN" sz="2400"/>
          </a:p>
        </p:txBody>
      </p:sp>
      <p:sp>
        <p:nvSpPr>
          <p:cNvPr id="52" name="Text Box 50">
            <a:extLst>
              <a:ext uri="{FF2B5EF4-FFF2-40B4-BE49-F238E27FC236}">
                <a16:creationId xmlns:a16="http://schemas.microsoft.com/office/drawing/2014/main" id="{38545C29-1C59-093E-725B-9CA645B33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2528888"/>
            <a:ext cx="2052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zh-CN" altLang="en-US" sz="2400"/>
              <a:t>并行输出数据</a:t>
            </a:r>
            <a:endParaRPr kumimoji="1" lang="en-US" altLang="zh-CN" sz="2400"/>
          </a:p>
        </p:txBody>
      </p:sp>
      <p:sp>
        <p:nvSpPr>
          <p:cNvPr id="53" name="AutoShape 51">
            <a:extLst>
              <a:ext uri="{FF2B5EF4-FFF2-40B4-BE49-F238E27FC236}">
                <a16:creationId xmlns:a16="http://schemas.microsoft.com/office/drawing/2014/main" id="{28797FA3-AAE4-D2AD-29BB-6098D7D7F2F6}"/>
              </a:ext>
            </a:extLst>
          </p:cNvPr>
          <p:cNvSpPr>
            <a:spLocks/>
          </p:cNvSpPr>
          <p:nvPr/>
        </p:nvSpPr>
        <p:spPr bwMode="auto">
          <a:xfrm rot="5400000">
            <a:off x="5219701" y="549275"/>
            <a:ext cx="252412" cy="5221287"/>
          </a:xfrm>
          <a:prstGeom prst="leftBrace">
            <a:avLst>
              <a:gd name="adj1" fmla="val 8800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54" name="Group 52">
            <a:extLst>
              <a:ext uri="{FF2B5EF4-FFF2-40B4-BE49-F238E27FC236}">
                <a16:creationId xmlns:a16="http://schemas.microsoft.com/office/drawing/2014/main" id="{B447FEB6-F58C-5AAF-F204-D071D472D12F}"/>
              </a:ext>
            </a:extLst>
          </p:cNvPr>
          <p:cNvGrpSpPr>
            <a:grpSpLocks/>
          </p:cNvGrpSpPr>
          <p:nvPr/>
        </p:nvGrpSpPr>
        <p:grpSpPr bwMode="auto">
          <a:xfrm>
            <a:off x="3384550" y="4508500"/>
            <a:ext cx="131763" cy="231775"/>
            <a:chOff x="1096" y="2853"/>
            <a:chExt cx="43" cy="96"/>
          </a:xfrm>
        </p:grpSpPr>
        <p:sp>
          <p:nvSpPr>
            <p:cNvPr id="55" name="Line 53">
              <a:extLst>
                <a:ext uri="{FF2B5EF4-FFF2-40B4-BE49-F238E27FC236}">
                  <a16:creationId xmlns:a16="http://schemas.microsoft.com/office/drawing/2014/main" id="{E75B1967-B8B9-32CC-1272-D4FEDBCCF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2853"/>
              <a:ext cx="43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54">
              <a:extLst>
                <a:ext uri="{FF2B5EF4-FFF2-40B4-BE49-F238E27FC236}">
                  <a16:creationId xmlns:a16="http://schemas.microsoft.com/office/drawing/2014/main" id="{38D74E54-57CC-6844-32F9-CE883DF784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6" y="2901"/>
              <a:ext cx="43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" name="Group 55">
            <a:extLst>
              <a:ext uri="{FF2B5EF4-FFF2-40B4-BE49-F238E27FC236}">
                <a16:creationId xmlns:a16="http://schemas.microsoft.com/office/drawing/2014/main" id="{18168DB1-BC60-909C-08A2-B97EB08856A3}"/>
              </a:ext>
            </a:extLst>
          </p:cNvPr>
          <p:cNvGrpSpPr>
            <a:grpSpLocks/>
          </p:cNvGrpSpPr>
          <p:nvPr/>
        </p:nvGrpSpPr>
        <p:grpSpPr bwMode="auto">
          <a:xfrm>
            <a:off x="5040313" y="4492625"/>
            <a:ext cx="131762" cy="231775"/>
            <a:chOff x="1096" y="2853"/>
            <a:chExt cx="43" cy="96"/>
          </a:xfrm>
        </p:grpSpPr>
        <p:sp>
          <p:nvSpPr>
            <p:cNvPr id="58" name="Line 56">
              <a:extLst>
                <a:ext uri="{FF2B5EF4-FFF2-40B4-BE49-F238E27FC236}">
                  <a16:creationId xmlns:a16="http://schemas.microsoft.com/office/drawing/2014/main" id="{044DB5B3-359E-C53C-0480-6A2379F8B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2853"/>
              <a:ext cx="43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57">
              <a:extLst>
                <a:ext uri="{FF2B5EF4-FFF2-40B4-BE49-F238E27FC236}">
                  <a16:creationId xmlns:a16="http://schemas.microsoft.com/office/drawing/2014/main" id="{68CF28AA-F49E-4F69-4539-8A419A6B33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6" y="2901"/>
              <a:ext cx="43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" name="Group 58">
            <a:extLst>
              <a:ext uri="{FF2B5EF4-FFF2-40B4-BE49-F238E27FC236}">
                <a16:creationId xmlns:a16="http://schemas.microsoft.com/office/drawing/2014/main" id="{EEAF9C8B-A7DA-714A-C3F3-47E7C4361F84}"/>
              </a:ext>
            </a:extLst>
          </p:cNvPr>
          <p:cNvGrpSpPr>
            <a:grpSpLocks/>
          </p:cNvGrpSpPr>
          <p:nvPr/>
        </p:nvGrpSpPr>
        <p:grpSpPr bwMode="auto">
          <a:xfrm>
            <a:off x="6696075" y="4492625"/>
            <a:ext cx="131763" cy="231775"/>
            <a:chOff x="1096" y="2853"/>
            <a:chExt cx="43" cy="96"/>
          </a:xfrm>
        </p:grpSpPr>
        <p:sp>
          <p:nvSpPr>
            <p:cNvPr id="61" name="Line 59">
              <a:extLst>
                <a:ext uri="{FF2B5EF4-FFF2-40B4-BE49-F238E27FC236}">
                  <a16:creationId xmlns:a16="http://schemas.microsoft.com/office/drawing/2014/main" id="{681E344F-38A4-DCE4-0BF1-64C8569DF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2853"/>
              <a:ext cx="43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60">
              <a:extLst>
                <a:ext uri="{FF2B5EF4-FFF2-40B4-BE49-F238E27FC236}">
                  <a16:creationId xmlns:a16="http://schemas.microsoft.com/office/drawing/2014/main" id="{E8D9634D-631E-886B-4B62-163745DF26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6" y="2901"/>
              <a:ext cx="43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6108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B5ECF-424E-7406-42A9-C420E61CA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工作波形图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D311A0-5F1E-B9E1-9FA7-1822F9C94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5437623" cy="5947119"/>
          </a:xfrm>
        </p:spPr>
        <p:txBody>
          <a:bodyPr/>
          <a:lstStyle/>
          <a:p>
            <a:r>
              <a:rPr kumimoji="1" lang="zh-CN" altLang="en-US" dirty="0"/>
              <a:t>设</a:t>
            </a:r>
            <a:r>
              <a:rPr kumimoji="1" lang="en-US" altLang="zh-CN" dirty="0"/>
              <a:t>D</a:t>
            </a:r>
            <a:r>
              <a:rPr kumimoji="1" lang="en-US" altLang="zh-CN" sz="1600" dirty="0"/>
              <a:t>SI</a:t>
            </a:r>
            <a:r>
              <a:rPr kumimoji="1" lang="en-US" altLang="zh-CN" dirty="0"/>
              <a:t> =1011</a:t>
            </a:r>
            <a:r>
              <a:rPr kumimoji="1" lang="zh-CN" altLang="en-US" dirty="0"/>
              <a:t>，从高位开始输入</a:t>
            </a:r>
            <a:endParaRPr lang="zh-CN" altLang="en-US" sz="3200" dirty="0"/>
          </a:p>
          <a:p>
            <a:r>
              <a:rPr lang="zh-CN" altLang="en-US" dirty="0"/>
              <a:t>每来一个</a:t>
            </a:r>
            <a:r>
              <a:rPr lang="en-US" altLang="zh-CN" dirty="0"/>
              <a:t>CP</a:t>
            </a:r>
            <a:r>
              <a:rPr lang="zh-CN" altLang="en-US" dirty="0"/>
              <a:t>脉冲</a:t>
            </a:r>
          </a:p>
          <a:p>
            <a:pPr lvl="1"/>
            <a:r>
              <a:rPr lang="en-US" altLang="zh-CN" dirty="0"/>
              <a:t>D</a:t>
            </a:r>
            <a:r>
              <a:rPr lang="en-US" altLang="zh-CN" sz="1800" dirty="0"/>
              <a:t>SI</a:t>
            </a:r>
            <a:r>
              <a:rPr lang="zh-CN" altLang="en-US" dirty="0"/>
              <a:t>移入</a:t>
            </a:r>
            <a:r>
              <a:rPr lang="en-US" altLang="zh-CN" dirty="0"/>
              <a:t>Q</a:t>
            </a:r>
            <a:r>
              <a:rPr lang="en-US" altLang="zh-CN" sz="1800" dirty="0"/>
              <a:t>0</a:t>
            </a:r>
          </a:p>
          <a:p>
            <a:pPr lvl="1"/>
            <a:r>
              <a:rPr lang="en-US" altLang="zh-CN" dirty="0"/>
              <a:t>Q</a:t>
            </a:r>
            <a:r>
              <a:rPr lang="en-US" altLang="zh-CN" sz="1800" dirty="0"/>
              <a:t>0</a:t>
            </a:r>
            <a:r>
              <a:rPr lang="zh-CN" altLang="en-US" dirty="0"/>
              <a:t>移入</a:t>
            </a:r>
            <a:r>
              <a:rPr lang="en-US" altLang="zh-CN" dirty="0"/>
              <a:t>Q</a:t>
            </a:r>
            <a:r>
              <a:rPr lang="en-US" altLang="zh-CN" sz="1800" dirty="0"/>
              <a:t>1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sz="2000" dirty="0"/>
              <a:t>……</a:t>
            </a:r>
          </a:p>
          <a:p>
            <a:pPr lvl="1"/>
            <a:r>
              <a:rPr lang="en-US" altLang="zh-CN" dirty="0"/>
              <a:t>Q</a:t>
            </a:r>
            <a:r>
              <a:rPr lang="en-US" altLang="zh-CN" sz="1800" dirty="0"/>
              <a:t>2</a:t>
            </a:r>
            <a:r>
              <a:rPr lang="zh-CN" altLang="en-US" dirty="0"/>
              <a:t>移入</a:t>
            </a:r>
            <a:r>
              <a:rPr lang="en-US" altLang="zh-CN" dirty="0"/>
              <a:t>Q</a:t>
            </a:r>
            <a:r>
              <a:rPr lang="en-US" altLang="zh-CN" sz="1800" dirty="0"/>
              <a:t>3</a:t>
            </a:r>
          </a:p>
          <a:p>
            <a:r>
              <a:rPr kumimoji="1" lang="zh-CN" altLang="en-US" dirty="0"/>
              <a:t>经过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</a:t>
            </a:r>
            <a:r>
              <a:rPr kumimoji="1" lang="en-US" altLang="zh-CN" dirty="0"/>
              <a:t>CP</a:t>
            </a:r>
            <a:r>
              <a:rPr kumimoji="1" lang="zh-CN" altLang="en-US" dirty="0"/>
              <a:t>脉冲</a:t>
            </a:r>
            <a:r>
              <a:rPr kumimoji="1" lang="zh-CN" altLang="en-US" sz="2000" dirty="0"/>
              <a:t>，</a:t>
            </a:r>
            <a:r>
              <a:rPr kumimoji="1" lang="en-US" altLang="zh-CN" dirty="0"/>
              <a:t>Q</a:t>
            </a:r>
            <a:r>
              <a:rPr kumimoji="1" lang="en-US" altLang="zh-CN" sz="2000" dirty="0"/>
              <a:t>3 </a:t>
            </a:r>
            <a:r>
              <a:rPr kumimoji="1" lang="en-US" altLang="zh-CN" dirty="0"/>
              <a:t>~ Q</a:t>
            </a:r>
            <a:r>
              <a:rPr kumimoji="1" lang="en-US" altLang="zh-CN" sz="2000" dirty="0"/>
              <a:t>0</a:t>
            </a:r>
            <a:r>
              <a:rPr kumimoji="1" lang="en-US" altLang="zh-CN" dirty="0"/>
              <a:t> = 1011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D</a:t>
            </a:r>
            <a:r>
              <a:rPr kumimoji="1" lang="en-US" altLang="zh-CN" sz="1600" dirty="0"/>
              <a:t>SO</a:t>
            </a:r>
            <a:r>
              <a:rPr kumimoji="1" lang="zh-CN" altLang="en-US" dirty="0"/>
              <a:t>开始复现</a:t>
            </a:r>
            <a:r>
              <a:rPr kumimoji="1" lang="en-US" altLang="zh-CN" dirty="0"/>
              <a:t>D</a:t>
            </a:r>
            <a:r>
              <a:rPr kumimoji="1" lang="en-US" altLang="zh-CN" sz="1600" dirty="0"/>
              <a:t>SI</a:t>
            </a:r>
            <a:endParaRPr kumimoji="1" lang="zh-CN" altLang="en-US" sz="1600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9C2D80-8FAD-6E97-EF77-0F525FC2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7BD6ED-6CC1-4632-A1DC-B32A5321A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9</a:t>
            </a:fld>
            <a:r>
              <a:rPr lang="en-US" altLang="zh-CN" dirty="0"/>
              <a:t>/15</a:t>
            </a:r>
            <a:endParaRPr lang="en-US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416F94C0-3A21-4621-768E-080C2588A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420" y="2113771"/>
            <a:ext cx="3824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1         0            1            1           0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7398C3D6-F504-B43C-DB86-479C9AAE1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707" y="2726546"/>
            <a:ext cx="3613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0         1            0            1           1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3F7BEF29-8F44-9F90-CE1B-44B3DCC85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707" y="3371071"/>
            <a:ext cx="3613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0         0            1            0           1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761E1204-8621-CB8E-4D2E-E172DEBB9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707" y="4017183"/>
            <a:ext cx="3613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0         0            0            1           0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5013650A-685C-536F-B842-0DBEAFB85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707" y="4688696"/>
            <a:ext cx="3613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0         0            0            0           1</a:t>
            </a:r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4BEE8855-0939-8E7A-C84D-99EE81783CED}"/>
              </a:ext>
            </a:extLst>
          </p:cNvPr>
          <p:cNvGrpSpPr>
            <a:grpSpLocks/>
          </p:cNvGrpSpPr>
          <p:nvPr/>
        </p:nvGrpSpPr>
        <p:grpSpPr bwMode="auto">
          <a:xfrm>
            <a:off x="5646420" y="1566083"/>
            <a:ext cx="3903662" cy="325438"/>
            <a:chOff x="2971" y="1366"/>
            <a:chExt cx="2459" cy="240"/>
          </a:xfrm>
        </p:grpSpPr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000606E4-42F9-D73C-2721-84EF230D7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1606"/>
              <a:ext cx="2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8CFFFC79-88F1-9DD2-0BFE-B9781A06C1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5" y="136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CA059064-2AC8-A080-9710-FEA19B4420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5" y="1366"/>
              <a:ext cx="3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C4582386-2D02-97B2-73AF-AF4DEC527C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36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753BB863-C308-0FB5-DDC1-C8A9CD3094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606"/>
              <a:ext cx="2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79CA1D97-0656-8128-BD3B-A89A0B4B6B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5" y="136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8D709879-DA74-1DE6-E8B9-998F6EC13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" y="1366"/>
              <a:ext cx="30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8FA86E13-4933-A4F3-2F05-A8A582DA40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136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650C4421-5BD1-F8C1-CAB3-4466E3BD0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1606"/>
              <a:ext cx="2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B8B44D94-CD28-6064-597C-7128B9CB5F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4" y="136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0334CF34-7D58-2BB7-B2F9-9B78A0E15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" y="1366"/>
              <a:ext cx="30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D644531F-D63E-5C51-904F-29D57B428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5" y="136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BD2263DE-61E9-CC60-2358-40276FCF9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5" y="1606"/>
              <a:ext cx="2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F6EA9F49-5E34-A303-49C0-D38FA40E52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3" y="136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8E6F3AE2-E94A-CDEF-CB3D-FF6F76D29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3" y="1366"/>
              <a:ext cx="3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40B7054D-D7F2-8237-8621-40AF7EC19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5" y="136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C63578D6-F539-588F-9661-C0F2FE80E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5" y="1606"/>
              <a:ext cx="21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" name="Line 27">
            <a:extLst>
              <a:ext uri="{FF2B5EF4-FFF2-40B4-BE49-F238E27FC236}">
                <a16:creationId xmlns:a16="http://schemas.microsoft.com/office/drawing/2014/main" id="{1F000EB2-3670-F30E-2DBB-3BCEA3427D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5945" y="2159808"/>
            <a:ext cx="5461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E3C2635E-3E3A-CA7F-8CA2-80BA7D8539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2045" y="2159808"/>
            <a:ext cx="0" cy="3635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8891AA24-329A-DC7D-87C5-494581BC150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2045" y="2523346"/>
            <a:ext cx="9921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CF1486D7-9415-6537-E74C-01C92A8A73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94232" y="2159808"/>
            <a:ext cx="0" cy="3635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F2DC2D64-3A2B-CE56-BD64-8E977F97FFB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4232" y="2159808"/>
            <a:ext cx="16716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387D7D35-9670-96AE-4DE8-454E89E48B2B}"/>
              </a:ext>
            </a:extLst>
          </p:cNvPr>
          <p:cNvSpPr>
            <a:spLocks noChangeShapeType="1"/>
          </p:cNvSpPr>
          <p:nvPr/>
        </p:nvSpPr>
        <p:spPr bwMode="auto">
          <a:xfrm>
            <a:off x="8865870" y="2159808"/>
            <a:ext cx="0" cy="3635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71C4D0D9-41F4-BBF6-C8B4-D1E5807DB3FE}"/>
              </a:ext>
            </a:extLst>
          </p:cNvPr>
          <p:cNvSpPr>
            <a:spLocks noChangeShapeType="1"/>
          </p:cNvSpPr>
          <p:nvPr/>
        </p:nvSpPr>
        <p:spPr bwMode="auto">
          <a:xfrm>
            <a:off x="8865870" y="2523346"/>
            <a:ext cx="6842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Line 34">
            <a:extLst>
              <a:ext uri="{FF2B5EF4-FFF2-40B4-BE49-F238E27FC236}">
                <a16:creationId xmlns:a16="http://schemas.microsoft.com/office/drawing/2014/main" id="{1B494000-C7AF-0728-05A2-7EE8ED97E7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5520" y="1977246"/>
            <a:ext cx="0" cy="3186112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35">
            <a:extLst>
              <a:ext uri="{FF2B5EF4-FFF2-40B4-BE49-F238E27FC236}">
                <a16:creationId xmlns:a16="http://schemas.microsoft.com/office/drawing/2014/main" id="{642C725F-9A29-F6E7-1513-E72BD797E0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4520" y="1977246"/>
            <a:ext cx="0" cy="3186112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1F0095A3-76B9-E43E-9A9C-EE1B906D9B1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1932" y="1977246"/>
            <a:ext cx="0" cy="3186112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37">
            <a:extLst>
              <a:ext uri="{FF2B5EF4-FFF2-40B4-BE49-F238E27FC236}">
                <a16:creationId xmlns:a16="http://schemas.microsoft.com/office/drawing/2014/main" id="{FE93E1B3-4B7B-8A96-8B8A-93F5A1C417BE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9345" y="1977246"/>
            <a:ext cx="0" cy="3186112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0" name="Group 38">
            <a:extLst>
              <a:ext uri="{FF2B5EF4-FFF2-40B4-BE49-F238E27FC236}">
                <a16:creationId xmlns:a16="http://schemas.microsoft.com/office/drawing/2014/main" id="{03D5A119-85D4-DD3E-81EA-AA016851BCB5}"/>
              </a:ext>
            </a:extLst>
          </p:cNvPr>
          <p:cNvGrpSpPr>
            <a:grpSpLocks/>
          </p:cNvGrpSpPr>
          <p:nvPr/>
        </p:nvGrpSpPr>
        <p:grpSpPr bwMode="auto">
          <a:xfrm>
            <a:off x="5646420" y="2796396"/>
            <a:ext cx="3903662" cy="363537"/>
            <a:chOff x="2971" y="2038"/>
            <a:chExt cx="2459" cy="192"/>
          </a:xfrm>
        </p:grpSpPr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63C092F1-4AFF-6B13-1864-5901F3896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2230"/>
              <a:ext cx="2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23BAF71E-93B5-6165-5F4B-48C3B0E672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9" y="203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8B655B7D-0092-CDF6-162C-05283EE50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5" y="2038"/>
              <a:ext cx="5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42">
              <a:extLst>
                <a:ext uri="{FF2B5EF4-FFF2-40B4-BE49-F238E27FC236}">
                  <a16:creationId xmlns:a16="http://schemas.microsoft.com/office/drawing/2014/main" id="{3284DB04-4D31-240A-C00A-AF71C8BDC1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" y="203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D4271A63-1EEC-A785-4049-6E27FD24F2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" y="2230"/>
              <a:ext cx="5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96ECBB1F-85F4-8B54-350C-5422399E7A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4" y="2038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95241A19-95AE-24ED-5EC8-F425F15A5B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" y="2038"/>
              <a:ext cx="10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8" name="Group 46">
            <a:extLst>
              <a:ext uri="{FF2B5EF4-FFF2-40B4-BE49-F238E27FC236}">
                <a16:creationId xmlns:a16="http://schemas.microsoft.com/office/drawing/2014/main" id="{017C29F8-110F-54CD-1B5C-5C933386E967}"/>
              </a:ext>
            </a:extLst>
          </p:cNvPr>
          <p:cNvGrpSpPr>
            <a:grpSpLocks/>
          </p:cNvGrpSpPr>
          <p:nvPr/>
        </p:nvGrpSpPr>
        <p:grpSpPr bwMode="auto">
          <a:xfrm>
            <a:off x="5655945" y="3432983"/>
            <a:ext cx="3894137" cy="365125"/>
            <a:chOff x="2977" y="2374"/>
            <a:chExt cx="2453" cy="192"/>
          </a:xfrm>
        </p:grpSpPr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EFE8094A-40A9-DB0C-F2EB-61ED3C280C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7" y="2566"/>
              <a:ext cx="8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E7E78BF3-12CE-70EA-73B2-C95DA06C74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5" y="237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A3D9E4AB-A52A-FBB7-EB3E-C97EFCE1AB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" y="2374"/>
              <a:ext cx="5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1BF6D3E7-56D5-6198-5572-7C882C800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" y="237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51">
              <a:extLst>
                <a:ext uri="{FF2B5EF4-FFF2-40B4-BE49-F238E27FC236}">
                  <a16:creationId xmlns:a16="http://schemas.microsoft.com/office/drawing/2014/main" id="{D652D6DF-3940-E15C-BAED-5DD245C6E3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" y="2566"/>
              <a:ext cx="5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52">
              <a:extLst>
                <a:ext uri="{FF2B5EF4-FFF2-40B4-BE49-F238E27FC236}">
                  <a16:creationId xmlns:a16="http://schemas.microsoft.com/office/drawing/2014/main" id="{656A68EE-C492-7A17-937F-D837F42C45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3" y="237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53">
              <a:extLst>
                <a:ext uri="{FF2B5EF4-FFF2-40B4-BE49-F238E27FC236}">
                  <a16:creationId xmlns:a16="http://schemas.microsoft.com/office/drawing/2014/main" id="{236B5CE4-1754-069F-A8D0-6ACD8AD9A0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3" y="2374"/>
              <a:ext cx="5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" name="Group 54">
            <a:extLst>
              <a:ext uri="{FF2B5EF4-FFF2-40B4-BE49-F238E27FC236}">
                <a16:creationId xmlns:a16="http://schemas.microsoft.com/office/drawing/2014/main" id="{F53F0FCA-019C-0AFA-91CD-0BF5B43C08C1}"/>
              </a:ext>
            </a:extLst>
          </p:cNvPr>
          <p:cNvGrpSpPr>
            <a:grpSpLocks/>
          </p:cNvGrpSpPr>
          <p:nvPr/>
        </p:nvGrpSpPr>
        <p:grpSpPr bwMode="auto">
          <a:xfrm>
            <a:off x="5655945" y="4071158"/>
            <a:ext cx="3894137" cy="363538"/>
            <a:chOff x="2977" y="2710"/>
            <a:chExt cx="2453" cy="192"/>
          </a:xfrm>
        </p:grpSpPr>
        <p:sp>
          <p:nvSpPr>
            <p:cNvPr id="57" name="Line 55">
              <a:extLst>
                <a:ext uri="{FF2B5EF4-FFF2-40B4-BE49-F238E27FC236}">
                  <a16:creationId xmlns:a16="http://schemas.microsoft.com/office/drawing/2014/main" id="{31CC17EE-FC17-02C5-B430-F507C5D1EF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7" y="2902"/>
              <a:ext cx="13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56">
              <a:extLst>
                <a:ext uri="{FF2B5EF4-FFF2-40B4-BE49-F238E27FC236}">
                  <a16:creationId xmlns:a16="http://schemas.microsoft.com/office/drawing/2014/main" id="{E5D1E899-13F9-D28A-9DE3-871ECB4A37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4" y="271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57">
              <a:extLst>
                <a:ext uri="{FF2B5EF4-FFF2-40B4-BE49-F238E27FC236}">
                  <a16:creationId xmlns:a16="http://schemas.microsoft.com/office/drawing/2014/main" id="{5788C440-ED21-7C69-0808-01A7894049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" y="2710"/>
              <a:ext cx="5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58">
              <a:extLst>
                <a:ext uri="{FF2B5EF4-FFF2-40B4-BE49-F238E27FC236}">
                  <a16:creationId xmlns:a16="http://schemas.microsoft.com/office/drawing/2014/main" id="{A003376C-8828-6A3A-6758-0C28DE619A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3" y="271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59">
              <a:extLst>
                <a:ext uri="{FF2B5EF4-FFF2-40B4-BE49-F238E27FC236}">
                  <a16:creationId xmlns:a16="http://schemas.microsoft.com/office/drawing/2014/main" id="{B1EADD87-2FCD-0FBE-0EE3-7D3638954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3" y="2902"/>
              <a:ext cx="5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2" name="Group 60">
            <a:extLst>
              <a:ext uri="{FF2B5EF4-FFF2-40B4-BE49-F238E27FC236}">
                <a16:creationId xmlns:a16="http://schemas.microsoft.com/office/drawing/2014/main" id="{6D6ADBF8-B005-4BB8-CA18-9388F13206FF}"/>
              </a:ext>
            </a:extLst>
          </p:cNvPr>
          <p:cNvGrpSpPr>
            <a:grpSpLocks/>
          </p:cNvGrpSpPr>
          <p:nvPr/>
        </p:nvGrpSpPr>
        <p:grpSpPr bwMode="auto">
          <a:xfrm>
            <a:off x="5655945" y="4707746"/>
            <a:ext cx="3894137" cy="455612"/>
            <a:chOff x="2977" y="3046"/>
            <a:chExt cx="2453" cy="240"/>
          </a:xfrm>
        </p:grpSpPr>
        <p:sp>
          <p:nvSpPr>
            <p:cNvPr id="63" name="Line 61">
              <a:extLst>
                <a:ext uri="{FF2B5EF4-FFF2-40B4-BE49-F238E27FC236}">
                  <a16:creationId xmlns:a16="http://schemas.microsoft.com/office/drawing/2014/main" id="{8DBE22FA-8902-9AE8-A67A-0CB65661E5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7" y="3286"/>
              <a:ext cx="19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0964CABF-8390-C2F3-DD5F-E09EFDC0F0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13" y="3046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63">
              <a:extLst>
                <a:ext uri="{FF2B5EF4-FFF2-40B4-BE49-F238E27FC236}">
                  <a16:creationId xmlns:a16="http://schemas.microsoft.com/office/drawing/2014/main" id="{72EEC913-0DB2-938C-CA3E-9F5D1F079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3" y="3046"/>
              <a:ext cx="5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6" name="Text Box 64">
            <a:extLst>
              <a:ext uri="{FF2B5EF4-FFF2-40B4-BE49-F238E27FC236}">
                <a16:creationId xmlns:a16="http://schemas.microsoft.com/office/drawing/2014/main" id="{8B500155-307A-C2AB-05BE-B197823E9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8082" y="1478771"/>
            <a:ext cx="523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CP</a:t>
            </a:r>
          </a:p>
        </p:txBody>
      </p:sp>
      <p:sp>
        <p:nvSpPr>
          <p:cNvPr id="67" name="Text Box 65">
            <a:extLst>
              <a:ext uri="{FF2B5EF4-FFF2-40B4-BE49-F238E27FC236}">
                <a16:creationId xmlns:a16="http://schemas.microsoft.com/office/drawing/2014/main" id="{EC4ED106-8131-A89B-C6E7-0313C7AC5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3645" y="2123296"/>
            <a:ext cx="523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D</a:t>
            </a:r>
            <a:r>
              <a:rPr kumimoji="1" lang="en-US" altLang="zh-CN" sz="2000" baseline="-25000">
                <a:ea typeface="楷体_GB2312" pitchFamily="49" charset="-122"/>
              </a:rPr>
              <a:t>SI</a:t>
            </a:r>
          </a:p>
        </p:txBody>
      </p:sp>
      <p:sp>
        <p:nvSpPr>
          <p:cNvPr id="68" name="Text Box 66">
            <a:extLst>
              <a:ext uri="{FF2B5EF4-FFF2-40B4-BE49-F238E27FC236}">
                <a16:creationId xmlns:a16="http://schemas.microsoft.com/office/drawing/2014/main" id="{5A97FB73-EB52-0008-2BC5-D4AAF67D5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3645" y="2697971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25000">
                <a:ea typeface="楷体_GB2312" pitchFamily="49" charset="-122"/>
              </a:rPr>
              <a:t>0</a:t>
            </a:r>
          </a:p>
        </p:txBody>
      </p:sp>
      <p:sp>
        <p:nvSpPr>
          <p:cNvPr id="69" name="Text Box 67">
            <a:extLst>
              <a:ext uri="{FF2B5EF4-FFF2-40B4-BE49-F238E27FC236}">
                <a16:creationId xmlns:a16="http://schemas.microsoft.com/office/drawing/2014/main" id="{5506F962-81C3-B479-E720-680AD2D3E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1107" y="3334558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25000">
                <a:ea typeface="楷体_GB2312" pitchFamily="49" charset="-122"/>
              </a:rPr>
              <a:t>1</a:t>
            </a:r>
          </a:p>
        </p:txBody>
      </p:sp>
      <p:sp>
        <p:nvSpPr>
          <p:cNvPr id="70" name="Text Box 68">
            <a:extLst>
              <a:ext uri="{FF2B5EF4-FFF2-40B4-BE49-F238E27FC236}">
                <a16:creationId xmlns:a16="http://schemas.microsoft.com/office/drawing/2014/main" id="{4F31E98B-F3BA-E0D0-2E64-7D90588B1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8570" y="3972733"/>
            <a:ext cx="463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25000">
                <a:ea typeface="楷体_GB2312" pitchFamily="49" charset="-122"/>
              </a:rPr>
              <a:t>2</a:t>
            </a:r>
          </a:p>
        </p:txBody>
      </p:sp>
      <p:sp>
        <p:nvSpPr>
          <p:cNvPr id="71" name="Text Box 69">
            <a:extLst>
              <a:ext uri="{FF2B5EF4-FFF2-40B4-BE49-F238E27FC236}">
                <a16:creationId xmlns:a16="http://schemas.microsoft.com/office/drawing/2014/main" id="{F5F2274C-F02B-2E1C-118B-B7775374C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5495" y="4661708"/>
            <a:ext cx="10144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Q</a:t>
            </a:r>
            <a:r>
              <a:rPr kumimoji="1" lang="en-US" altLang="zh-CN" sz="2000" baseline="-25000">
                <a:ea typeface="楷体_GB2312" pitchFamily="49" charset="-122"/>
              </a:rPr>
              <a:t>3</a:t>
            </a:r>
            <a:r>
              <a:rPr kumimoji="1" lang="en-US" altLang="zh-CN" sz="1800" baseline="-25000">
                <a:ea typeface="楷体_GB2312" pitchFamily="49" charset="-122"/>
              </a:rPr>
              <a:t> </a:t>
            </a:r>
            <a:r>
              <a:rPr kumimoji="1" lang="en-US" altLang="zh-CN" sz="2000">
                <a:ea typeface="楷体_GB2312" pitchFamily="49" charset="-122"/>
              </a:rPr>
              <a:t>/</a:t>
            </a:r>
            <a:r>
              <a:rPr kumimoji="1" lang="en-US" altLang="zh-CN" sz="1200">
                <a:ea typeface="楷体_GB2312" pitchFamily="49" charset="-122"/>
              </a:rPr>
              <a:t> </a:t>
            </a:r>
            <a:r>
              <a:rPr kumimoji="1" lang="en-US" altLang="zh-CN" sz="2000">
                <a:ea typeface="楷体_GB2312" pitchFamily="49" charset="-122"/>
              </a:rPr>
              <a:t>D</a:t>
            </a:r>
            <a:r>
              <a:rPr kumimoji="1" lang="en-US" altLang="zh-CN" sz="2000" baseline="-15000">
                <a:ea typeface="楷体_GB2312" pitchFamily="49" charset="-122"/>
              </a:rPr>
              <a:t>SO</a:t>
            </a:r>
            <a:endParaRPr kumimoji="1" lang="en-US" altLang="zh-CN" sz="2000">
              <a:ea typeface="楷体_GB2312" pitchFamily="49" charset="-122"/>
            </a:endParaRPr>
          </a:p>
        </p:txBody>
      </p:sp>
      <p:sp>
        <p:nvSpPr>
          <p:cNvPr id="72" name="Line 70">
            <a:extLst>
              <a:ext uri="{FF2B5EF4-FFF2-40B4-BE49-F238E27FC236}">
                <a16:creationId xmlns:a16="http://schemas.microsoft.com/office/drawing/2014/main" id="{27BBA9F9-4ABD-2B79-EF70-5BA0D27E4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6170" y="3028171"/>
            <a:ext cx="2376487" cy="1763712"/>
          </a:xfrm>
          <a:prstGeom prst="line">
            <a:avLst/>
          </a:prstGeom>
          <a:noFill/>
          <a:ln w="28575">
            <a:solidFill>
              <a:srgbClr val="0066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71">
            <a:extLst>
              <a:ext uri="{FF2B5EF4-FFF2-40B4-BE49-F238E27FC236}">
                <a16:creationId xmlns:a16="http://schemas.microsoft.com/office/drawing/2014/main" id="{705A0120-186F-4405-CC7B-A28DB7AF69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9907" y="5420533"/>
            <a:ext cx="3959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Text Box 72">
            <a:extLst>
              <a:ext uri="{FF2B5EF4-FFF2-40B4-BE49-F238E27FC236}">
                <a16:creationId xmlns:a16="http://schemas.microsoft.com/office/drawing/2014/main" id="{4259DFAF-7B96-802E-2074-B4EDD0A24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7357" y="5461808"/>
            <a:ext cx="268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t</a:t>
            </a:r>
            <a:endParaRPr kumimoji="1" lang="en-US" altLang="zh-CN" sz="2000" baseline="-25000">
              <a:ea typeface="楷体_GB2312" pitchFamily="49" charset="-122"/>
            </a:endParaRPr>
          </a:p>
        </p:txBody>
      </p:sp>
      <p:sp>
        <p:nvSpPr>
          <p:cNvPr id="75" name="Text Box 73">
            <a:extLst>
              <a:ext uri="{FF2B5EF4-FFF2-40B4-BE49-F238E27FC236}">
                <a16:creationId xmlns:a16="http://schemas.microsoft.com/office/drawing/2014/main" id="{CF03DB65-84C8-A1C2-AF82-B97C27E8F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345" y="5461808"/>
            <a:ext cx="4105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000">
                <a:ea typeface="楷体_GB2312" pitchFamily="49" charset="-122"/>
              </a:rPr>
              <a:t>0         1            2            3           4 </a:t>
            </a:r>
            <a:endParaRPr kumimoji="1" lang="en-US" altLang="zh-CN" sz="2000" baseline="-25000">
              <a:ea typeface="楷体_GB2312" pitchFamily="49" charset="-122"/>
            </a:endParaRPr>
          </a:p>
        </p:txBody>
      </p:sp>
      <p:sp>
        <p:nvSpPr>
          <p:cNvPr id="76" name="Rectangle 74">
            <a:extLst>
              <a:ext uri="{FF2B5EF4-FFF2-40B4-BE49-F238E27FC236}">
                <a16:creationId xmlns:a16="http://schemas.microsoft.com/office/drawing/2014/main" id="{FEB586EF-DD9D-C145-BE62-C13E7BDF8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420" y="2769408"/>
            <a:ext cx="323850" cy="2322513"/>
          </a:xfrm>
          <a:prstGeom prst="rect">
            <a:avLst/>
          </a:prstGeom>
          <a:noFill/>
          <a:ln w="28575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7" name="Rectangle 75">
            <a:extLst>
              <a:ext uri="{FF2B5EF4-FFF2-40B4-BE49-F238E27FC236}">
                <a16:creationId xmlns:a16="http://schemas.microsoft.com/office/drawing/2014/main" id="{7746E22B-D80E-BB9B-8104-B1C0DEFB3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7945" y="2813858"/>
            <a:ext cx="323850" cy="232251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18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6" grpId="0" animBg="1"/>
      <p:bldP spid="7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252EF-C9EA-066C-66B2-7F2B37AB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74x194: </a:t>
            </a:r>
            <a:r>
              <a:rPr lang="zh-CN" altLang="en-US" dirty="0"/>
              <a:t>四位双向通用移位寄存器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C0C1D8-7F21-666B-CABA-D049E939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79F6AE-AFF9-2182-70C0-73592BBF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10</a:t>
            </a:fld>
            <a:r>
              <a:rPr lang="en-US" altLang="zh-CN" dirty="0"/>
              <a:t>/15</a:t>
            </a:r>
            <a:endParaRPr lang="en-US" dirty="0"/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5ADAF3FB-21BC-8B77-0F09-727FC9B209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021932"/>
              </p:ext>
            </p:extLst>
          </p:nvPr>
        </p:nvGraphicFramePr>
        <p:xfrm>
          <a:off x="656847" y="1085036"/>
          <a:ext cx="8657633" cy="5357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5130800" imgH="3175000" progId="Word.Picture.8">
                  <p:embed/>
                </p:oleObj>
              </mc:Choice>
              <mc:Fallback>
                <p:oleObj name="Picture" r:id="rId2" imgW="5130800" imgH="3175000" progId="Word.Picture.8">
                  <p:embed/>
                  <p:pic>
                    <p:nvPicPr>
                      <p:cNvPr id="174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847" y="1085036"/>
                        <a:ext cx="8657633" cy="5357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5">
            <a:extLst>
              <a:ext uri="{FF2B5EF4-FFF2-40B4-BE49-F238E27FC236}">
                <a16:creationId xmlns:a16="http://schemas.microsoft.com/office/drawing/2014/main" id="{E7844310-9381-0648-8889-8AC19932B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0590" y="1054040"/>
            <a:ext cx="1734269" cy="3147239"/>
          </a:xfrm>
          <a:prstGeom prst="ellipse">
            <a:avLst/>
          </a:prstGeom>
          <a:noFill/>
          <a:ln w="28575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39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34062-A2A2-9DA0-6112-72644B007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触发器输入逻辑电路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57889F-151C-2969-EE75-A77C0194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DAC148-C883-1929-23DB-B2179A458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11</a:t>
            </a:fld>
            <a:r>
              <a:rPr lang="en-US" altLang="zh-CN" dirty="0"/>
              <a:t>/15</a:t>
            </a:r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6B3F16F6-9A61-C5A3-3DC7-8B411CCAA4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55"/>
          <a:stretch/>
        </p:blipFill>
        <p:spPr bwMode="auto">
          <a:xfrm>
            <a:off x="1082675" y="1050075"/>
            <a:ext cx="3870325" cy="431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631C9BEA-60CA-FE2D-E74C-2D6FAF237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3" y="1122282"/>
            <a:ext cx="268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S</a:t>
            </a:r>
            <a:r>
              <a:rPr lang="en-US" altLang="zh-CN" sz="14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68F95438-CB46-63A2-58D2-47BC10CF8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3" y="1441369"/>
            <a:ext cx="268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S</a:t>
            </a:r>
            <a:r>
              <a:rPr lang="en-US" altLang="zh-CN" sz="14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4713077F-2EE4-E829-347A-BD444D5C485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313" y="1152444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60CB0566-F97B-D152-CB7F-B0A142154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3" y="1801732"/>
            <a:ext cx="268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S</a:t>
            </a:r>
            <a:r>
              <a:rPr lang="en-US" altLang="zh-CN" sz="14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CDBE3E7A-6F79-8958-3433-DFADE8485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3" y="2089069"/>
            <a:ext cx="268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S</a:t>
            </a:r>
            <a:r>
              <a:rPr lang="en-US" altLang="zh-CN" sz="14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CC875346-D93F-0056-D62A-553BADC00FC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313" y="1831894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DD9328AA-5C35-CDFA-1C0A-5092B93EA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5363" y="5221207"/>
            <a:ext cx="295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14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4C802EEB-85B6-120D-70B1-15CEE933E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7775" y="3210253"/>
            <a:ext cx="295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14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264230A6-EA42-80FC-4A6D-22A18B814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088" y="5221207"/>
            <a:ext cx="295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14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CAF9B0B2-CA1F-61B1-7025-15C3539F6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775" y="5245019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</a:t>
            </a:r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17" name="Group 97">
            <a:extLst>
              <a:ext uri="{FF2B5EF4-FFF2-40B4-BE49-F238E27FC236}">
                <a16:creationId xmlns:a16="http://schemas.microsoft.com/office/drawing/2014/main" id="{49200081-5F03-BF18-3D80-D33EF03F2EE2}"/>
              </a:ext>
            </a:extLst>
          </p:cNvPr>
          <p:cNvGrpSpPr>
            <a:grpSpLocks/>
          </p:cNvGrpSpPr>
          <p:nvPr/>
        </p:nvGrpSpPr>
        <p:grpSpPr bwMode="auto">
          <a:xfrm>
            <a:off x="5729288" y="1446541"/>
            <a:ext cx="2879725" cy="3949700"/>
            <a:chOff x="3515" y="1117"/>
            <a:chExt cx="1814" cy="2488"/>
          </a:xfrm>
        </p:grpSpPr>
        <p:sp>
          <p:nvSpPr>
            <p:cNvPr id="18" name="AutoShape 15">
              <a:extLst>
                <a:ext uri="{FF2B5EF4-FFF2-40B4-BE49-F238E27FC236}">
                  <a16:creationId xmlns:a16="http://schemas.microsoft.com/office/drawing/2014/main" id="{12C03192-3105-C955-DAEE-1DEB2AA10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2" y="1616"/>
              <a:ext cx="1247" cy="56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1801 w 21600"/>
                <a:gd name="T13" fmla="*/ 1790 h 21600"/>
                <a:gd name="T14" fmla="*/ 19799 w 21600"/>
                <a:gd name="T15" fmla="*/ 198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3D1F3A39-EECC-44B3-FB80-1EF8EF455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2" y="1911"/>
              <a:ext cx="74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4-1 MUX</a:t>
              </a:r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BF3016D0-A11E-B65C-6E95-860C30120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2" y="1820"/>
              <a:ext cx="3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D23D49CD-2FAB-CEF0-3CD4-DDF47CBE8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2" y="2024"/>
              <a:ext cx="3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B270612D-D040-44EB-97AD-4B7B1CC71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1707"/>
              <a:ext cx="1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S</a:t>
              </a:r>
              <a:r>
                <a:rPr lang="en-US" altLang="zh-CN" sz="14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8E2001DF-C568-39C4-552D-8E7D03A6CD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1911"/>
              <a:ext cx="1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S</a:t>
              </a:r>
              <a:r>
                <a:rPr lang="en-US" altLang="zh-CN" sz="140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90968345-774D-5698-D691-626FBCD03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6" y="1616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00</a:t>
              </a: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43EC36BE-1793-0566-02A2-4F60AEEE8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3" y="1616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01</a:t>
              </a:r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BAD84F2F-D42E-A05B-2C64-8511CCFE6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5" y="1616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10</a:t>
              </a:r>
            </a:p>
          </p:txBody>
        </p:sp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7027BB7D-00A0-7B31-B228-9DE52D96E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0" y="1616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11</a:t>
              </a:r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3073AE3C-0D4D-A0F8-8118-F97DAF3410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48" y="1344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A568BF23-4BCA-1140-41C6-ED0EEE3266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53" y="1344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F6CCA4D0-FFCB-F4B5-46E4-56ECAFC75D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9" y="1344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63792720-56E6-07E7-8DED-F7671B7121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4" y="1344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29">
              <a:extLst>
                <a:ext uri="{FF2B5EF4-FFF2-40B4-BE49-F238E27FC236}">
                  <a16:creationId xmlns:a16="http://schemas.microsoft.com/office/drawing/2014/main" id="{E40EFC57-D1F2-8F82-F611-259382C76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8" y="1117"/>
              <a:ext cx="1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Q</a:t>
              </a:r>
              <a:r>
                <a:rPr lang="en-US" altLang="zh-CN" sz="14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BB0A9E7D-18E6-0597-5C4A-09B4BD966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7" y="1117"/>
              <a:ext cx="1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Q</a:t>
              </a:r>
              <a:r>
                <a:rPr lang="en-US" altLang="zh-CN" sz="140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4" name="Text Box 31">
              <a:extLst>
                <a:ext uri="{FF2B5EF4-FFF2-40B4-BE49-F238E27FC236}">
                  <a16:creationId xmlns:a16="http://schemas.microsoft.com/office/drawing/2014/main" id="{A79A217B-9EF6-13E4-9BF5-9023F950E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2" y="1117"/>
              <a:ext cx="1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Q</a:t>
              </a:r>
              <a:r>
                <a:rPr lang="en-US" altLang="zh-CN" sz="14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35" name="Text Box 32">
              <a:extLst>
                <a:ext uri="{FF2B5EF4-FFF2-40B4-BE49-F238E27FC236}">
                  <a16:creationId xmlns:a16="http://schemas.microsoft.com/office/drawing/2014/main" id="{E8FC3554-E045-1D44-7F8F-5C1C28925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7" y="1117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D</a:t>
              </a:r>
              <a:r>
                <a:rPr lang="en-US" altLang="zh-CN" sz="14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6" name="Text Box 33">
              <a:extLst>
                <a:ext uri="{FF2B5EF4-FFF2-40B4-BE49-F238E27FC236}">
                  <a16:creationId xmlns:a16="http://schemas.microsoft.com/office/drawing/2014/main" id="{3FB7071C-6466-941F-BE69-FCE58691B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" y="3049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D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3351584A-EA68-EFF5-6E1B-B7EE2B03D6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8" y="2183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8" name="Group 35">
              <a:extLst>
                <a:ext uri="{FF2B5EF4-FFF2-40B4-BE49-F238E27FC236}">
                  <a16:creationId xmlns:a16="http://schemas.microsoft.com/office/drawing/2014/main" id="{9E8019DB-8A4C-C64A-669D-F2CCEDAA83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9" y="2410"/>
              <a:ext cx="317" cy="340"/>
              <a:chOff x="4286" y="2614"/>
              <a:chExt cx="317" cy="340"/>
            </a:xfrm>
          </p:grpSpPr>
          <p:sp>
            <p:nvSpPr>
              <p:cNvPr id="40" name="AutoShape 36">
                <a:extLst>
                  <a:ext uri="{FF2B5EF4-FFF2-40B4-BE49-F238E27FC236}">
                    <a16:creationId xmlns:a16="http://schemas.microsoft.com/office/drawing/2014/main" id="{268D37BF-C128-B601-F206-EFE3B7583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6" y="2614"/>
                <a:ext cx="317" cy="285"/>
              </a:xfrm>
              <a:prstGeom prst="flowChartMerg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41" name="Oval 37">
                <a:extLst>
                  <a:ext uri="{FF2B5EF4-FFF2-40B4-BE49-F238E27FC236}">
                    <a16:creationId xmlns:a16="http://schemas.microsoft.com/office/drawing/2014/main" id="{ACDADEB2-A324-DAE8-F25C-6B0733B92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0" y="2863"/>
                <a:ext cx="91" cy="91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7F4F325-E608-5CB2-B7FC-5B6FC8D3B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3" y="3317"/>
              <a:ext cx="8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solidFill>
                    <a:schemeClr val="tx2"/>
                  </a:solidFill>
                  <a:latin typeface="Arial" panose="020B0604020202020204" pitchFamily="34" charset="0"/>
                </a:rPr>
                <a:t>等效电路</a:t>
              </a:r>
            </a:p>
          </p:txBody>
        </p:sp>
      </p:grpSp>
      <p:graphicFrame>
        <p:nvGraphicFramePr>
          <p:cNvPr id="42" name="Group 96">
            <a:extLst>
              <a:ext uri="{FF2B5EF4-FFF2-40B4-BE49-F238E27FC236}">
                <a16:creationId xmlns:a16="http://schemas.microsoft.com/office/drawing/2014/main" id="{5A9C06CF-285A-EE8B-16A5-0B8DB3A7F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560525"/>
              </p:ext>
            </p:extLst>
          </p:nvPr>
        </p:nvGraphicFramePr>
        <p:xfrm>
          <a:off x="5260975" y="3715078"/>
          <a:ext cx="1584325" cy="1993901"/>
        </p:xfrm>
        <a:graphic>
          <a:graphicData uri="http://schemas.openxmlformats.org/drawingml/2006/table">
            <a:tbl>
              <a:tblPr/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7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功能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8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右移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8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左移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并入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3" name="直接连接符 44">
            <a:extLst>
              <a:ext uri="{FF2B5EF4-FFF2-40B4-BE49-F238E27FC236}">
                <a16:creationId xmlns:a16="http://schemas.microsoft.com/office/drawing/2014/main" id="{B6E0168A-5506-73C4-EFBF-177F316A4A77}"/>
              </a:ext>
            </a:extLst>
          </p:cNvPr>
          <p:cNvCxnSpPr/>
          <p:nvPr/>
        </p:nvCxnSpPr>
        <p:spPr>
          <a:xfrm>
            <a:off x="3005138" y="5221207"/>
            <a:ext cx="182562" cy="1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7">
            <a:extLst>
              <a:ext uri="{FF2B5EF4-FFF2-40B4-BE49-F238E27FC236}">
                <a16:creationId xmlns:a16="http://schemas.microsoft.com/office/drawing/2014/main" id="{B794D132-CAFF-6625-FE82-AAEE23081906}"/>
              </a:ext>
            </a:extLst>
          </p:cNvPr>
          <p:cNvCxnSpPr/>
          <p:nvPr/>
        </p:nvCxnSpPr>
        <p:spPr>
          <a:xfrm>
            <a:off x="7532688" y="4489778"/>
            <a:ext cx="182562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C4BD990F-80E5-FEDF-654B-28C4D652C81A}"/>
                  </a:ext>
                </a:extLst>
              </p:cNvPr>
              <p:cNvSpPr txBox="1"/>
              <p:nvPr/>
            </p:nvSpPr>
            <p:spPr>
              <a:xfrm>
                <a:off x="616769" y="5668904"/>
                <a:ext cx="4100674" cy="3143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C4BD990F-80E5-FEDF-654B-28C4D652C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69" y="5668904"/>
                <a:ext cx="4100674" cy="314381"/>
              </a:xfrm>
              <a:prstGeom prst="rect">
                <a:avLst/>
              </a:prstGeom>
              <a:blipFill>
                <a:blip r:embed="rId3"/>
                <a:stretch>
                  <a:fillRect l="-61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533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09E20-E3BF-6750-6EE3-20A1B5078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74x194 </a:t>
            </a:r>
            <a:r>
              <a:rPr lang="zh-CN" altLang="en-US" dirty="0"/>
              <a:t>功能表 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8CF79E-A21C-306E-FD81-149E9F890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625E9A-058C-A1D7-A135-069E329B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12</a:t>
            </a:fld>
            <a:r>
              <a:rPr lang="en-US" altLang="zh-CN" dirty="0"/>
              <a:t>/15</a:t>
            </a:r>
            <a:endParaRPr lang="en-US" dirty="0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F783ED61-BA02-524D-7EFC-D174DF0CD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387" y="5385961"/>
            <a:ext cx="690563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ea typeface="楷体_GB2312" pitchFamily="49" charset="-122"/>
              </a:rPr>
              <a:t>↑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AC6D2099-449A-58C1-1E1F-F56FCAD34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425" y="5385961"/>
            <a:ext cx="5889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12E55E01-63ED-7857-935B-346EAE4B6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462" y="5385961"/>
            <a:ext cx="588963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E963F5B9-4F2C-1036-AFBC-0B14B5AF7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5385961"/>
            <a:ext cx="55721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AD771ACA-41E5-591B-18A5-32B314C97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275" y="5385961"/>
            <a:ext cx="5619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C2B9BB97-DE4E-E265-C1CC-53B759124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5385961"/>
            <a:ext cx="62865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9E0EEA46-2D18-6B74-5B2A-DD1370EC4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9162" y="4990674"/>
            <a:ext cx="67310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 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68613919-C87B-ED60-3642-74DFDAA55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075" y="4990674"/>
            <a:ext cx="5873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29AAB451-C70E-2692-4FAA-56543EC86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287" y="4990674"/>
            <a:ext cx="5857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15" name="Rectangle 20">
            <a:extLst>
              <a:ext uri="{FF2B5EF4-FFF2-40B4-BE49-F238E27FC236}">
                <a16:creationId xmlns:a16="http://schemas.microsoft.com/office/drawing/2014/main" id="{1006D904-445B-2B09-A595-CE64CE92C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325" y="4990674"/>
            <a:ext cx="588962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0F21DE99-D1E9-2F1C-34D7-CBDECABD0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4990674"/>
            <a:ext cx="5873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17" name="Rectangle 22">
            <a:extLst>
              <a:ext uri="{FF2B5EF4-FFF2-40B4-BE49-F238E27FC236}">
                <a16:creationId xmlns:a16="http://schemas.microsoft.com/office/drawing/2014/main" id="{3F1145E2-2F8E-CBB0-1B0B-BAACB2BF9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387" y="4990674"/>
            <a:ext cx="69056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ea typeface="楷体_GB2312" pitchFamily="49" charset="-122"/>
              </a:rPr>
              <a:t>↑</a:t>
            </a:r>
          </a:p>
        </p:txBody>
      </p:sp>
      <p:sp>
        <p:nvSpPr>
          <p:cNvPr id="18" name="Rectangle 23">
            <a:extLst>
              <a:ext uri="{FF2B5EF4-FFF2-40B4-BE49-F238E27FC236}">
                <a16:creationId xmlns:a16="http://schemas.microsoft.com/office/drawing/2014/main" id="{D4EEE291-6BF0-A96B-A069-5EB620C0A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425" y="4990674"/>
            <a:ext cx="588962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" name="Rectangle 24">
            <a:extLst>
              <a:ext uri="{FF2B5EF4-FFF2-40B4-BE49-F238E27FC236}">
                <a16:creationId xmlns:a16="http://schemas.microsoft.com/office/drawing/2014/main" id="{5FEB91F4-4BAE-D955-E927-C513D2FCF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462" y="4990674"/>
            <a:ext cx="58896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9155E608-CFE7-33D4-4058-013328EE1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4990674"/>
            <a:ext cx="557212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1" name="Rectangle 26">
            <a:extLst>
              <a:ext uri="{FF2B5EF4-FFF2-40B4-BE49-F238E27FC236}">
                <a16:creationId xmlns:a16="http://schemas.microsoft.com/office/drawing/2014/main" id="{E5C5289D-4F4B-11D5-989C-EF6A38536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275" y="4990674"/>
            <a:ext cx="5619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6537878F-6522-2900-F96E-770DE9D45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4990674"/>
            <a:ext cx="6286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3" name="Rectangle 28">
            <a:extLst>
              <a:ext uri="{FF2B5EF4-FFF2-40B4-BE49-F238E27FC236}">
                <a16:creationId xmlns:a16="http://schemas.microsoft.com/office/drawing/2014/main" id="{CF03B627-6EA1-D053-3B75-83E97AA46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9162" y="4595386"/>
            <a:ext cx="67310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BE0A52E8-BC38-1B5F-3A3F-FF5CD0E94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075" y="4595386"/>
            <a:ext cx="5873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25" name="Rectangle 30">
            <a:extLst>
              <a:ext uri="{FF2B5EF4-FFF2-40B4-BE49-F238E27FC236}">
                <a16:creationId xmlns:a16="http://schemas.microsoft.com/office/drawing/2014/main" id="{B47EB164-EF4D-2BAB-A958-9A5CE3531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287" y="4595386"/>
            <a:ext cx="5857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26" name="Rectangle 31">
            <a:extLst>
              <a:ext uri="{FF2B5EF4-FFF2-40B4-BE49-F238E27FC236}">
                <a16:creationId xmlns:a16="http://schemas.microsoft.com/office/drawing/2014/main" id="{08467320-220D-BCFE-E187-F6F1E9066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325" y="4595386"/>
            <a:ext cx="5889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27" name="Rectangle 32">
            <a:extLst>
              <a:ext uri="{FF2B5EF4-FFF2-40B4-BE49-F238E27FC236}">
                <a16:creationId xmlns:a16="http://schemas.microsoft.com/office/drawing/2014/main" id="{13B166B6-1A8A-8D36-A98A-2055D240C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4595386"/>
            <a:ext cx="5873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28" name="Rectangle 33">
            <a:extLst>
              <a:ext uri="{FF2B5EF4-FFF2-40B4-BE49-F238E27FC236}">
                <a16:creationId xmlns:a16="http://schemas.microsoft.com/office/drawing/2014/main" id="{23A995DA-BA57-B2DC-82BA-D898AB5E3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387" y="4595386"/>
            <a:ext cx="690563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ea typeface="楷体_GB2312" pitchFamily="49" charset="-122"/>
              </a:rPr>
              <a:t>↑</a:t>
            </a:r>
          </a:p>
        </p:txBody>
      </p:sp>
      <p:sp>
        <p:nvSpPr>
          <p:cNvPr id="29" name="Rectangle 34">
            <a:extLst>
              <a:ext uri="{FF2B5EF4-FFF2-40B4-BE49-F238E27FC236}">
                <a16:creationId xmlns:a16="http://schemas.microsoft.com/office/drawing/2014/main" id="{ED03B084-90D8-272D-C5C9-EA1283177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425" y="4595386"/>
            <a:ext cx="5889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0" name="Rectangle 35">
            <a:extLst>
              <a:ext uri="{FF2B5EF4-FFF2-40B4-BE49-F238E27FC236}">
                <a16:creationId xmlns:a16="http://schemas.microsoft.com/office/drawing/2014/main" id="{CD0020D0-FFCD-F202-A45D-91E401C09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462" y="4595386"/>
            <a:ext cx="588963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31" name="Rectangle 36">
            <a:extLst>
              <a:ext uri="{FF2B5EF4-FFF2-40B4-BE49-F238E27FC236}">
                <a16:creationId xmlns:a16="http://schemas.microsoft.com/office/drawing/2014/main" id="{B84039BC-47EF-280E-E913-EABB8A1E5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4595386"/>
            <a:ext cx="55721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2" name="Rectangle 37">
            <a:extLst>
              <a:ext uri="{FF2B5EF4-FFF2-40B4-BE49-F238E27FC236}">
                <a16:creationId xmlns:a16="http://schemas.microsoft.com/office/drawing/2014/main" id="{0971F673-30C4-4B9C-7B79-697A02937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275" y="4595386"/>
            <a:ext cx="5619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3" name="Rectangle 38">
            <a:extLst>
              <a:ext uri="{FF2B5EF4-FFF2-40B4-BE49-F238E27FC236}">
                <a16:creationId xmlns:a16="http://schemas.microsoft.com/office/drawing/2014/main" id="{E49355C7-8C0D-2188-76B5-F5A26917F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4595386"/>
            <a:ext cx="62865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4" name="Rectangle 39">
            <a:extLst>
              <a:ext uri="{FF2B5EF4-FFF2-40B4-BE49-F238E27FC236}">
                <a16:creationId xmlns:a16="http://schemas.microsoft.com/office/drawing/2014/main" id="{E730C813-D4BE-F568-8C50-B1BF22371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450" y="4200099"/>
            <a:ext cx="658812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5" name="Rectangle 40">
            <a:extLst>
              <a:ext uri="{FF2B5EF4-FFF2-40B4-BE49-F238E27FC236}">
                <a16:creationId xmlns:a16="http://schemas.microsoft.com/office/drawing/2014/main" id="{8A0EDA64-688A-906F-961E-A941EB3CE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075" y="4200099"/>
            <a:ext cx="5873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36" name="Rectangle 41">
            <a:extLst>
              <a:ext uri="{FF2B5EF4-FFF2-40B4-BE49-F238E27FC236}">
                <a16:creationId xmlns:a16="http://schemas.microsoft.com/office/drawing/2014/main" id="{77219EF7-88D2-318F-2C35-FD6D4A554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287" y="4200099"/>
            <a:ext cx="5857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37" name="Rectangle 42">
            <a:extLst>
              <a:ext uri="{FF2B5EF4-FFF2-40B4-BE49-F238E27FC236}">
                <a16:creationId xmlns:a16="http://schemas.microsoft.com/office/drawing/2014/main" id="{4528D5B8-09E4-C0ED-1793-C31582C5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325" y="4200099"/>
            <a:ext cx="588962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38" name="Rectangle 43">
            <a:extLst>
              <a:ext uri="{FF2B5EF4-FFF2-40B4-BE49-F238E27FC236}">
                <a16:creationId xmlns:a16="http://schemas.microsoft.com/office/drawing/2014/main" id="{E522BC13-1A31-EF1D-1751-BBAE6B10F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4200099"/>
            <a:ext cx="5873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39" name="Rectangle 44">
            <a:extLst>
              <a:ext uri="{FF2B5EF4-FFF2-40B4-BE49-F238E27FC236}">
                <a16:creationId xmlns:a16="http://schemas.microsoft.com/office/drawing/2014/main" id="{0CD833CE-76C5-8BB3-03B3-56D9E7F87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387" y="4200099"/>
            <a:ext cx="69056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ea typeface="楷体_GB2312" pitchFamily="49" charset="-122"/>
              </a:rPr>
              <a:t>↑</a:t>
            </a:r>
          </a:p>
        </p:txBody>
      </p:sp>
      <p:sp>
        <p:nvSpPr>
          <p:cNvPr id="40" name="Rectangle 45">
            <a:extLst>
              <a:ext uri="{FF2B5EF4-FFF2-40B4-BE49-F238E27FC236}">
                <a16:creationId xmlns:a16="http://schemas.microsoft.com/office/drawing/2014/main" id="{40AE5F45-0101-F765-F617-EA44FADE3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425" y="4200099"/>
            <a:ext cx="588962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41" name="Rectangle 46">
            <a:extLst>
              <a:ext uri="{FF2B5EF4-FFF2-40B4-BE49-F238E27FC236}">
                <a16:creationId xmlns:a16="http://schemas.microsoft.com/office/drawing/2014/main" id="{401F1C66-56E2-1F51-63EE-09B1D473D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462" y="4200099"/>
            <a:ext cx="58896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2" name="Rectangle 47">
            <a:extLst>
              <a:ext uri="{FF2B5EF4-FFF2-40B4-BE49-F238E27FC236}">
                <a16:creationId xmlns:a16="http://schemas.microsoft.com/office/drawing/2014/main" id="{2B312C4B-664B-5750-0847-775A91242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4200099"/>
            <a:ext cx="557212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3" name="Rectangle 48">
            <a:extLst>
              <a:ext uri="{FF2B5EF4-FFF2-40B4-BE49-F238E27FC236}">
                <a16:creationId xmlns:a16="http://schemas.microsoft.com/office/drawing/2014/main" id="{F6C9AD21-AB1C-5021-C933-B17632119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275" y="4200099"/>
            <a:ext cx="5619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Rectangle 49">
            <a:extLst>
              <a:ext uri="{FF2B5EF4-FFF2-40B4-BE49-F238E27FC236}">
                <a16:creationId xmlns:a16="http://schemas.microsoft.com/office/drawing/2014/main" id="{9DF795DE-63F0-34D5-8249-813D44900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4200099"/>
            <a:ext cx="6286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" name="Rectangle 50">
            <a:extLst>
              <a:ext uri="{FF2B5EF4-FFF2-40B4-BE49-F238E27FC236}">
                <a16:creationId xmlns:a16="http://schemas.microsoft.com/office/drawing/2014/main" id="{BF129E41-DDE2-84E7-E43B-3A3BF15C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450" y="3804811"/>
            <a:ext cx="65881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6" name="Rectangle 51">
            <a:extLst>
              <a:ext uri="{FF2B5EF4-FFF2-40B4-BE49-F238E27FC236}">
                <a16:creationId xmlns:a16="http://schemas.microsoft.com/office/drawing/2014/main" id="{2951A1CF-9192-31FC-C49F-7208E9A2E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075" y="3804811"/>
            <a:ext cx="5873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47" name="Rectangle 52">
            <a:extLst>
              <a:ext uri="{FF2B5EF4-FFF2-40B4-BE49-F238E27FC236}">
                <a16:creationId xmlns:a16="http://schemas.microsoft.com/office/drawing/2014/main" id="{0DCD5C37-4E76-A944-1CB7-DE45F6325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287" y="3804811"/>
            <a:ext cx="5857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48" name="Rectangle 53">
            <a:extLst>
              <a:ext uri="{FF2B5EF4-FFF2-40B4-BE49-F238E27FC236}">
                <a16:creationId xmlns:a16="http://schemas.microsoft.com/office/drawing/2014/main" id="{90BD4532-F76C-0FB5-544C-B1717F158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325" y="3804811"/>
            <a:ext cx="5889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49" name="Rectangle 54">
            <a:extLst>
              <a:ext uri="{FF2B5EF4-FFF2-40B4-BE49-F238E27FC236}">
                <a16:creationId xmlns:a16="http://schemas.microsoft.com/office/drawing/2014/main" id="{CD9447E7-8197-7274-8DC2-34209E0FA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3804811"/>
            <a:ext cx="5873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50" name="Rectangle 55">
            <a:extLst>
              <a:ext uri="{FF2B5EF4-FFF2-40B4-BE49-F238E27FC236}">
                <a16:creationId xmlns:a16="http://schemas.microsoft.com/office/drawing/2014/main" id="{D6D4D273-E062-0278-3737-A0548B79A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387" y="3804811"/>
            <a:ext cx="690563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ea typeface="楷体_GB2312" pitchFamily="49" charset="-122"/>
              </a:rPr>
              <a:t>↑</a:t>
            </a:r>
          </a:p>
        </p:txBody>
      </p:sp>
      <p:sp>
        <p:nvSpPr>
          <p:cNvPr id="51" name="Rectangle 56">
            <a:extLst>
              <a:ext uri="{FF2B5EF4-FFF2-40B4-BE49-F238E27FC236}">
                <a16:creationId xmlns:a16="http://schemas.microsoft.com/office/drawing/2014/main" id="{C4544A43-FCCB-D512-239E-711F24165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425" y="3804811"/>
            <a:ext cx="5889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52" name="Rectangle 57">
            <a:extLst>
              <a:ext uri="{FF2B5EF4-FFF2-40B4-BE49-F238E27FC236}">
                <a16:creationId xmlns:a16="http://schemas.microsoft.com/office/drawing/2014/main" id="{3DEE23D2-D7A9-D867-D62F-1A05313A3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462" y="3804811"/>
            <a:ext cx="588963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3" name="Rectangle 58">
            <a:extLst>
              <a:ext uri="{FF2B5EF4-FFF2-40B4-BE49-F238E27FC236}">
                <a16:creationId xmlns:a16="http://schemas.microsoft.com/office/drawing/2014/main" id="{835934BA-0452-99A4-0253-544139B29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3804811"/>
            <a:ext cx="55721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4" name="Rectangle 59">
            <a:extLst>
              <a:ext uri="{FF2B5EF4-FFF2-40B4-BE49-F238E27FC236}">
                <a16:creationId xmlns:a16="http://schemas.microsoft.com/office/drawing/2014/main" id="{00AAD25F-9FBC-680F-7D7E-AD23B43CF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275" y="3804811"/>
            <a:ext cx="5619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5" name="Rectangle 60">
            <a:extLst>
              <a:ext uri="{FF2B5EF4-FFF2-40B4-BE49-F238E27FC236}">
                <a16:creationId xmlns:a16="http://schemas.microsoft.com/office/drawing/2014/main" id="{57DD4D27-D320-A500-034E-1073D4C78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3804811"/>
            <a:ext cx="62865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6" name="Rectangle 61">
            <a:extLst>
              <a:ext uri="{FF2B5EF4-FFF2-40B4-BE49-F238E27FC236}">
                <a16:creationId xmlns:a16="http://schemas.microsoft.com/office/drawing/2014/main" id="{74E957E7-3BF4-92F9-F93D-50CAA54DA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075" y="3409524"/>
            <a:ext cx="5873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57" name="Rectangle 62">
            <a:extLst>
              <a:ext uri="{FF2B5EF4-FFF2-40B4-BE49-F238E27FC236}">
                <a16:creationId xmlns:a16="http://schemas.microsoft.com/office/drawing/2014/main" id="{C849E1FE-E29B-B34B-F636-7A0CE7B18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287" y="3409524"/>
            <a:ext cx="5857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58" name="Rectangle 63">
            <a:extLst>
              <a:ext uri="{FF2B5EF4-FFF2-40B4-BE49-F238E27FC236}">
                <a16:creationId xmlns:a16="http://schemas.microsoft.com/office/drawing/2014/main" id="{430F758D-05A9-4412-C90B-38AB253BA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325" y="3409524"/>
            <a:ext cx="588962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59" name="Rectangle 64">
            <a:extLst>
              <a:ext uri="{FF2B5EF4-FFF2-40B4-BE49-F238E27FC236}">
                <a16:creationId xmlns:a16="http://schemas.microsoft.com/office/drawing/2014/main" id="{2DCA6CA0-4BF5-196F-0844-5D9AF253D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3409524"/>
            <a:ext cx="5873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60" name="Rectangle 65">
            <a:extLst>
              <a:ext uri="{FF2B5EF4-FFF2-40B4-BE49-F238E27FC236}">
                <a16:creationId xmlns:a16="http://schemas.microsoft.com/office/drawing/2014/main" id="{41AB20E2-6863-0E79-4BE4-074A28E00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387" y="3409524"/>
            <a:ext cx="69056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61" name="Rectangle 66">
            <a:extLst>
              <a:ext uri="{FF2B5EF4-FFF2-40B4-BE49-F238E27FC236}">
                <a16:creationId xmlns:a16="http://schemas.microsoft.com/office/drawing/2014/main" id="{8F002B97-1A1A-36B3-817F-D33653AF1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425" y="3409524"/>
            <a:ext cx="588962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62" name="Rectangle 67">
            <a:extLst>
              <a:ext uri="{FF2B5EF4-FFF2-40B4-BE49-F238E27FC236}">
                <a16:creationId xmlns:a16="http://schemas.microsoft.com/office/drawing/2014/main" id="{C23F32B1-AF53-FDE7-F8A4-27F294FFB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462" y="3409524"/>
            <a:ext cx="588963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63" name="Rectangle 68">
            <a:extLst>
              <a:ext uri="{FF2B5EF4-FFF2-40B4-BE49-F238E27FC236}">
                <a16:creationId xmlns:a16="http://schemas.microsoft.com/office/drawing/2014/main" id="{4F3EA0C7-8886-D964-B06A-ACBE09A8E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3409524"/>
            <a:ext cx="557212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4" name="Rectangle 69">
            <a:extLst>
              <a:ext uri="{FF2B5EF4-FFF2-40B4-BE49-F238E27FC236}">
                <a16:creationId xmlns:a16="http://schemas.microsoft.com/office/drawing/2014/main" id="{64AE2572-902B-4935-FA1F-EE9E977CD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275" y="3409524"/>
            <a:ext cx="5619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5" name="Rectangle 70">
            <a:extLst>
              <a:ext uri="{FF2B5EF4-FFF2-40B4-BE49-F238E27FC236}">
                <a16:creationId xmlns:a16="http://schemas.microsoft.com/office/drawing/2014/main" id="{EAEF28EE-E8FA-7CA0-96A9-D34C27FBF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3409524"/>
            <a:ext cx="6286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6" name="Rectangle 71">
            <a:extLst>
              <a:ext uri="{FF2B5EF4-FFF2-40B4-BE49-F238E27FC236}">
                <a16:creationId xmlns:a16="http://schemas.microsoft.com/office/drawing/2014/main" id="{9484AE66-B8D3-B70E-A081-00A8FA790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9162" y="3014236"/>
            <a:ext cx="67310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7" name="Rectangle 72">
            <a:extLst>
              <a:ext uri="{FF2B5EF4-FFF2-40B4-BE49-F238E27FC236}">
                <a16:creationId xmlns:a16="http://schemas.microsoft.com/office/drawing/2014/main" id="{E3DE5834-1C5F-2635-80AA-208791D4D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9237" y="3014236"/>
            <a:ext cx="66992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8" name="Rectangle 73">
            <a:extLst>
              <a:ext uri="{FF2B5EF4-FFF2-40B4-BE49-F238E27FC236}">
                <a16:creationId xmlns:a16="http://schemas.microsoft.com/office/drawing/2014/main" id="{DEE01336-EE21-D889-A17D-D74D452A2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0262" y="3014236"/>
            <a:ext cx="6889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9" name="Rectangle 74">
            <a:extLst>
              <a:ext uri="{FF2B5EF4-FFF2-40B4-BE49-F238E27FC236}">
                <a16:creationId xmlns:a16="http://schemas.microsoft.com/office/drawing/2014/main" id="{CDD85F8E-562B-9F4E-270D-7A84681C3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450" y="3014236"/>
            <a:ext cx="65881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0" name="Rectangle 75">
            <a:extLst>
              <a:ext uri="{FF2B5EF4-FFF2-40B4-BE49-F238E27FC236}">
                <a16:creationId xmlns:a16="http://schemas.microsoft.com/office/drawing/2014/main" id="{FEB75566-7C18-F9FE-DA83-E2C476899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075" y="3014236"/>
            <a:ext cx="5873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71" name="Rectangle 76">
            <a:extLst>
              <a:ext uri="{FF2B5EF4-FFF2-40B4-BE49-F238E27FC236}">
                <a16:creationId xmlns:a16="http://schemas.microsoft.com/office/drawing/2014/main" id="{851AFF28-1871-4154-0541-7A51CE4EC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287" y="3014236"/>
            <a:ext cx="585788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72" name="Rectangle 77">
            <a:extLst>
              <a:ext uri="{FF2B5EF4-FFF2-40B4-BE49-F238E27FC236}">
                <a16:creationId xmlns:a16="http://schemas.microsoft.com/office/drawing/2014/main" id="{41783852-C392-C204-CE33-4E85D9EF4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325" y="3014236"/>
            <a:ext cx="5889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73" name="Rectangle 78">
            <a:extLst>
              <a:ext uri="{FF2B5EF4-FFF2-40B4-BE49-F238E27FC236}">
                <a16:creationId xmlns:a16="http://schemas.microsoft.com/office/drawing/2014/main" id="{0D3FC488-6EF3-DB83-6E8B-7FBB7697A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3014236"/>
            <a:ext cx="5873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74" name="Rectangle 79">
            <a:extLst>
              <a:ext uri="{FF2B5EF4-FFF2-40B4-BE49-F238E27FC236}">
                <a16:creationId xmlns:a16="http://schemas.microsoft.com/office/drawing/2014/main" id="{D03F882F-7623-284D-F243-42414A2C4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1387" y="3014236"/>
            <a:ext cx="690563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75" name="Rectangle 80">
            <a:extLst>
              <a:ext uri="{FF2B5EF4-FFF2-40B4-BE49-F238E27FC236}">
                <a16:creationId xmlns:a16="http://schemas.microsoft.com/office/drawing/2014/main" id="{B1347675-9228-0EF7-45B8-9E7DC9F65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425" y="3014236"/>
            <a:ext cx="5889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76" name="Rectangle 81">
            <a:extLst>
              <a:ext uri="{FF2B5EF4-FFF2-40B4-BE49-F238E27FC236}">
                <a16:creationId xmlns:a16="http://schemas.microsoft.com/office/drawing/2014/main" id="{47179881-82AB-D292-1609-F8C6B01A6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462" y="3014236"/>
            <a:ext cx="588963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77" name="Rectangle 82">
            <a:extLst>
              <a:ext uri="{FF2B5EF4-FFF2-40B4-BE49-F238E27FC236}">
                <a16:creationId xmlns:a16="http://schemas.microsoft.com/office/drawing/2014/main" id="{D48BF554-E533-A0CB-BD9E-E49BD1EC9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3014236"/>
            <a:ext cx="55721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78" name="Rectangle 83">
            <a:extLst>
              <a:ext uri="{FF2B5EF4-FFF2-40B4-BE49-F238E27FC236}">
                <a16:creationId xmlns:a16="http://schemas.microsoft.com/office/drawing/2014/main" id="{044CFA75-5C71-A7B2-3E85-C6DCA448E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275" y="3014236"/>
            <a:ext cx="5619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79" name="Rectangle 84">
            <a:extLst>
              <a:ext uri="{FF2B5EF4-FFF2-40B4-BE49-F238E27FC236}">
                <a16:creationId xmlns:a16="http://schemas.microsoft.com/office/drawing/2014/main" id="{1F8356A5-77F8-753F-DE2F-395F94317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3014236"/>
            <a:ext cx="62865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80" name="Rectangle 85">
            <a:extLst>
              <a:ext uri="{FF2B5EF4-FFF2-40B4-BE49-F238E27FC236}">
                <a16:creationId xmlns:a16="http://schemas.microsoft.com/office/drawing/2014/main" id="{9069C101-DA03-1D0C-79B4-B7BAE75A5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075" y="2510999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</a:t>
            </a:r>
            <a:r>
              <a:rPr lang="en-US" altLang="zh-CN" sz="14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81" name="Rectangle 86">
            <a:extLst>
              <a:ext uri="{FF2B5EF4-FFF2-40B4-BE49-F238E27FC236}">
                <a16:creationId xmlns:a16="http://schemas.microsoft.com/office/drawing/2014/main" id="{DE15BCD4-6FA7-95EC-C969-F483946CD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287" y="2510999"/>
            <a:ext cx="585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</a:t>
            </a:r>
            <a:r>
              <a:rPr lang="en-US" altLang="zh-CN" sz="14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82" name="Rectangle 87">
            <a:extLst>
              <a:ext uri="{FF2B5EF4-FFF2-40B4-BE49-F238E27FC236}">
                <a16:creationId xmlns:a16="http://schemas.microsoft.com/office/drawing/2014/main" id="{3AF0B5DC-8569-D6E1-268F-E9E0C3283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325" y="2510999"/>
            <a:ext cx="588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</a:t>
            </a:r>
            <a:r>
              <a:rPr lang="en-US" altLang="zh-CN" sz="14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3" name="Rectangle 88">
            <a:extLst>
              <a:ext uri="{FF2B5EF4-FFF2-40B4-BE49-F238E27FC236}">
                <a16:creationId xmlns:a16="http://schemas.microsoft.com/office/drawing/2014/main" id="{C1BDAE57-5CE1-51DE-5459-E7E0F4784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2510999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</a:t>
            </a:r>
            <a:r>
              <a:rPr lang="en-US" altLang="zh-CN" sz="14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84" name="Rectangle 89">
            <a:extLst>
              <a:ext uri="{FF2B5EF4-FFF2-40B4-BE49-F238E27FC236}">
                <a16:creationId xmlns:a16="http://schemas.microsoft.com/office/drawing/2014/main" id="{E1277E45-5489-0F1E-0B96-78CCA63E2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425" y="2480836"/>
            <a:ext cx="588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D</a:t>
            </a:r>
            <a:r>
              <a:rPr lang="en-US" altLang="zh-CN" sz="2000" baseline="-30000">
                <a:cs typeface="Times New Roman" panose="02020603050405020304" pitchFamily="18" charset="0"/>
              </a:rPr>
              <a:t>SL</a:t>
            </a:r>
          </a:p>
        </p:txBody>
      </p:sp>
      <p:sp>
        <p:nvSpPr>
          <p:cNvPr id="85" name="Rectangle 90">
            <a:extLst>
              <a:ext uri="{FF2B5EF4-FFF2-40B4-BE49-F238E27FC236}">
                <a16:creationId xmlns:a16="http://schemas.microsoft.com/office/drawing/2014/main" id="{F39CADCD-23D9-5CE9-B9C7-0C8853178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462" y="2480836"/>
            <a:ext cx="588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D</a:t>
            </a:r>
            <a:r>
              <a:rPr lang="en-US" altLang="zh-CN" sz="2000" baseline="-30000">
                <a:cs typeface="Times New Roman" panose="02020603050405020304" pitchFamily="18" charset="0"/>
              </a:rPr>
              <a:t>SR</a:t>
            </a:r>
          </a:p>
        </p:txBody>
      </p:sp>
      <p:sp>
        <p:nvSpPr>
          <p:cNvPr id="86" name="Rectangle 91">
            <a:extLst>
              <a:ext uri="{FF2B5EF4-FFF2-40B4-BE49-F238E27FC236}">
                <a16:creationId xmlns:a16="http://schemas.microsoft.com/office/drawing/2014/main" id="{B979467F-C2A7-719E-3775-309692F02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250" y="2510999"/>
            <a:ext cx="557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S</a:t>
            </a:r>
            <a:r>
              <a:rPr lang="en-US" altLang="zh-CN" sz="2000" baseline="-30000">
                <a:cs typeface="Times New Roman" panose="02020603050405020304" pitchFamily="18" charset="0"/>
              </a:rPr>
              <a:t>0</a:t>
            </a:r>
            <a:endParaRPr lang="en-US" altLang="zh-CN" sz="2000">
              <a:cs typeface="Times New Roman" panose="02020603050405020304" pitchFamily="18" charset="0"/>
            </a:endParaRPr>
          </a:p>
        </p:txBody>
      </p:sp>
      <p:sp>
        <p:nvSpPr>
          <p:cNvPr id="87" name="Rectangle 92">
            <a:extLst>
              <a:ext uri="{FF2B5EF4-FFF2-40B4-BE49-F238E27FC236}">
                <a16:creationId xmlns:a16="http://schemas.microsoft.com/office/drawing/2014/main" id="{317300BB-FBE4-C9DF-0BC8-4D0C33C3C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25" y="2510999"/>
            <a:ext cx="561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cs typeface="Times New Roman" panose="02020603050405020304" pitchFamily="18" charset="0"/>
              </a:rPr>
              <a:t>S</a:t>
            </a:r>
            <a:r>
              <a:rPr lang="en-US" altLang="zh-CN" sz="2000" baseline="-30000">
                <a:cs typeface="Times New Roman" panose="02020603050405020304" pitchFamily="18" charset="0"/>
              </a:rPr>
              <a:t>1</a:t>
            </a:r>
            <a:endParaRPr lang="en-US" altLang="zh-CN" sz="2000">
              <a:cs typeface="Times New Roman" panose="02020603050405020304" pitchFamily="18" charset="0"/>
            </a:endParaRPr>
          </a:p>
        </p:txBody>
      </p:sp>
      <p:sp>
        <p:nvSpPr>
          <p:cNvPr id="88" name="Rectangle 93">
            <a:extLst>
              <a:ext uri="{FF2B5EF4-FFF2-40B4-BE49-F238E27FC236}">
                <a16:creationId xmlns:a16="http://schemas.microsoft.com/office/drawing/2014/main" id="{55B404FB-7CAA-F480-7366-8C36C77DD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1950" y="1696611"/>
            <a:ext cx="23495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cs typeface="Times New Roman" panose="02020603050405020304" pitchFamily="18" charset="0"/>
              </a:rPr>
              <a:t>并行输入</a:t>
            </a:r>
          </a:p>
        </p:txBody>
      </p:sp>
      <p:sp>
        <p:nvSpPr>
          <p:cNvPr id="89" name="Rectangle 94">
            <a:extLst>
              <a:ext uri="{FF2B5EF4-FFF2-40B4-BE49-F238E27FC236}">
                <a16:creationId xmlns:a16="http://schemas.microsoft.com/office/drawing/2014/main" id="{DF148E93-041F-50E4-5B49-9283A50C6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2" y="1448961"/>
            <a:ext cx="78105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cs typeface="Times New Roman" panose="02020603050405020304" pitchFamily="18" charset="0"/>
              </a:rPr>
              <a:t>时钟</a:t>
            </a:r>
          </a:p>
          <a:p>
            <a:pPr algn="ctr">
              <a:spcAft>
                <a:spcPct val="0"/>
              </a:spcAft>
              <a:buFontTx/>
              <a:buNone/>
            </a:pPr>
            <a:r>
              <a:rPr lang="en-US" altLang="zh-CN" sz="1800">
                <a:cs typeface="Times New Roman" panose="02020603050405020304" pitchFamily="18" charset="0"/>
              </a:rPr>
              <a:t>CP</a:t>
            </a:r>
          </a:p>
        </p:txBody>
      </p:sp>
      <p:sp>
        <p:nvSpPr>
          <p:cNvPr id="90" name="Rectangle 95">
            <a:extLst>
              <a:ext uri="{FF2B5EF4-FFF2-40B4-BE49-F238E27FC236}">
                <a16:creationId xmlns:a16="http://schemas.microsoft.com/office/drawing/2014/main" id="{8EB0E8B9-F4D8-541A-1E26-2D365B05F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462" y="1696611"/>
            <a:ext cx="1177925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cs typeface="Times New Roman" panose="02020603050405020304" pitchFamily="18" charset="0"/>
              </a:rPr>
              <a:t>串行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cs typeface="Times New Roman" panose="02020603050405020304" pitchFamily="18" charset="0"/>
              </a:rPr>
              <a:t>输入</a:t>
            </a:r>
          </a:p>
        </p:txBody>
      </p:sp>
      <p:sp>
        <p:nvSpPr>
          <p:cNvPr id="91" name="Rectangle 96">
            <a:extLst>
              <a:ext uri="{FF2B5EF4-FFF2-40B4-BE49-F238E27FC236}">
                <a16:creationId xmlns:a16="http://schemas.microsoft.com/office/drawing/2014/main" id="{4FBE638D-E3AA-AEE6-9E12-8FC53B60C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275" y="1696611"/>
            <a:ext cx="1119187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cs typeface="Arial" panose="020B0604020202020204" pitchFamily="34" charset="0"/>
              </a:rPr>
              <a:t>模式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cs typeface="Arial" panose="020B0604020202020204" pitchFamily="34" charset="0"/>
              </a:rPr>
              <a:t>选择</a:t>
            </a:r>
          </a:p>
        </p:txBody>
      </p:sp>
      <p:sp>
        <p:nvSpPr>
          <p:cNvPr id="92" name="Rectangle 97">
            <a:extLst>
              <a:ext uri="{FF2B5EF4-FFF2-40B4-BE49-F238E27FC236}">
                <a16:creationId xmlns:a16="http://schemas.microsoft.com/office/drawing/2014/main" id="{22E0214B-79A7-BB91-AE99-7C128F090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1696611"/>
            <a:ext cx="62865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cs typeface="Times New Roman" panose="02020603050405020304" pitchFamily="18" charset="0"/>
              </a:rPr>
              <a:t>清零</a:t>
            </a:r>
          </a:p>
        </p:txBody>
      </p:sp>
      <p:sp>
        <p:nvSpPr>
          <p:cNvPr id="93" name="Rectangle 98">
            <a:extLst>
              <a:ext uri="{FF2B5EF4-FFF2-40B4-BE49-F238E27FC236}">
                <a16:creationId xmlns:a16="http://schemas.microsoft.com/office/drawing/2014/main" id="{D0447DDA-34C7-7FAA-53A6-2399BC1A9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450" y="1252111"/>
            <a:ext cx="269081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cs typeface="Times New Roman" panose="02020603050405020304" pitchFamily="18" charset="0"/>
              </a:rPr>
              <a:t>输    出</a:t>
            </a:r>
          </a:p>
        </p:txBody>
      </p:sp>
      <p:sp>
        <p:nvSpPr>
          <p:cNvPr id="94" name="Rectangle 99">
            <a:extLst>
              <a:ext uri="{FF2B5EF4-FFF2-40B4-BE49-F238E27FC236}">
                <a16:creationId xmlns:a16="http://schemas.microsoft.com/office/drawing/2014/main" id="{688C733C-1118-0114-51D2-2C7F62A72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1252111"/>
            <a:ext cx="596582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>
                <a:cs typeface="Times New Roman" panose="02020603050405020304" pitchFamily="18" charset="0"/>
              </a:rPr>
              <a:t>输    入</a:t>
            </a:r>
          </a:p>
        </p:txBody>
      </p:sp>
      <p:sp>
        <p:nvSpPr>
          <p:cNvPr id="95" name="Line 100">
            <a:extLst>
              <a:ext uri="{FF2B5EF4-FFF2-40B4-BE49-F238E27FC236}">
                <a16:creationId xmlns:a16="http://schemas.microsoft.com/office/drawing/2014/main" id="{07CA0C33-D42A-D3E8-7A91-2A144314C9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625" y="1209249"/>
            <a:ext cx="8710612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Line 101">
            <a:extLst>
              <a:ext uri="{FF2B5EF4-FFF2-40B4-BE49-F238E27FC236}">
                <a16:creationId xmlns:a16="http://schemas.microsoft.com/office/drawing/2014/main" id="{5A7237B2-C8BC-E750-77D7-CED00CC68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625" y="5781249"/>
            <a:ext cx="8710612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Line 102">
            <a:extLst>
              <a:ext uri="{FF2B5EF4-FFF2-40B4-BE49-F238E27FC236}">
                <a16:creationId xmlns:a16="http://schemas.microsoft.com/office/drawing/2014/main" id="{5445AB0C-F60A-BF9F-BBD8-BE6DE80B74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625" y="913974"/>
            <a:ext cx="0" cy="486727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Line 103">
            <a:extLst>
              <a:ext uri="{FF2B5EF4-FFF2-40B4-BE49-F238E27FC236}">
                <a16:creationId xmlns:a16="http://schemas.microsoft.com/office/drawing/2014/main" id="{CE991F44-6181-3612-DC8C-944F1561F9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625" y="1677561"/>
            <a:ext cx="8710612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Line 104">
            <a:extLst>
              <a:ext uri="{FF2B5EF4-FFF2-40B4-BE49-F238E27FC236}">
                <a16:creationId xmlns:a16="http://schemas.microsoft.com/office/drawing/2014/main" id="{FE0E8945-057B-B619-8EFC-E4D408157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1450" y="1209249"/>
            <a:ext cx="0" cy="457200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Line 105">
            <a:extLst>
              <a:ext uri="{FF2B5EF4-FFF2-40B4-BE49-F238E27FC236}">
                <a16:creationId xmlns:a16="http://schemas.microsoft.com/office/drawing/2014/main" id="{6798A38A-C189-AA99-9DC4-F06BC1A247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625" y="2469724"/>
            <a:ext cx="2925762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1" name="Group 148">
            <a:extLst>
              <a:ext uri="{FF2B5EF4-FFF2-40B4-BE49-F238E27FC236}">
                <a16:creationId xmlns:a16="http://schemas.microsoft.com/office/drawing/2014/main" id="{9AE75F07-7A84-CCB2-F3B8-D9C52E50DDFD}"/>
              </a:ext>
            </a:extLst>
          </p:cNvPr>
          <p:cNvGrpSpPr>
            <a:grpSpLocks/>
          </p:cNvGrpSpPr>
          <p:nvPr/>
        </p:nvGrpSpPr>
        <p:grpSpPr bwMode="auto">
          <a:xfrm>
            <a:off x="1184275" y="1677561"/>
            <a:ext cx="2987675" cy="4103688"/>
            <a:chOff x="533" y="1089"/>
            <a:chExt cx="1882" cy="2817"/>
          </a:xfrm>
        </p:grpSpPr>
        <p:sp>
          <p:nvSpPr>
            <p:cNvPr id="102" name="Line 106">
              <a:extLst>
                <a:ext uri="{FF2B5EF4-FFF2-40B4-BE49-F238E27FC236}">
                  <a16:creationId xmlns:a16="http://schemas.microsoft.com/office/drawing/2014/main" id="{1EDB67CC-82DE-EA62-E062-F7BA7D7C95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" y="1089"/>
              <a:ext cx="0" cy="2817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107">
              <a:extLst>
                <a:ext uri="{FF2B5EF4-FFF2-40B4-BE49-F238E27FC236}">
                  <a16:creationId xmlns:a16="http://schemas.microsoft.com/office/drawing/2014/main" id="{3488B17E-2866-C99E-6F94-879CDE3874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8" y="1089"/>
              <a:ext cx="0" cy="2817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108">
              <a:extLst>
                <a:ext uri="{FF2B5EF4-FFF2-40B4-BE49-F238E27FC236}">
                  <a16:creationId xmlns:a16="http://schemas.microsoft.com/office/drawing/2014/main" id="{6D1A54DA-7049-EDEF-C76C-02169A5597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0" y="1089"/>
              <a:ext cx="0" cy="2817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109">
              <a:extLst>
                <a:ext uri="{FF2B5EF4-FFF2-40B4-BE49-F238E27FC236}">
                  <a16:creationId xmlns:a16="http://schemas.microsoft.com/office/drawing/2014/main" id="{C4D29835-EA93-38DD-E89F-575790560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5" y="1089"/>
              <a:ext cx="0" cy="2817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" name="Line 110">
            <a:extLst>
              <a:ext uri="{FF2B5EF4-FFF2-40B4-BE49-F238E27FC236}">
                <a16:creationId xmlns:a16="http://schemas.microsoft.com/office/drawing/2014/main" id="{0C46B06F-530B-BB01-D8CF-89FE869F35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2425" y="2469724"/>
            <a:ext cx="0" cy="3311525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Line 111">
            <a:extLst>
              <a:ext uri="{FF2B5EF4-FFF2-40B4-BE49-F238E27FC236}">
                <a16:creationId xmlns:a16="http://schemas.microsoft.com/office/drawing/2014/main" id="{65662C7E-04DA-D20B-B6EB-3EF0CF9E66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1950" y="2469724"/>
            <a:ext cx="234950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Line 112">
            <a:extLst>
              <a:ext uri="{FF2B5EF4-FFF2-40B4-BE49-F238E27FC236}">
                <a16:creationId xmlns:a16="http://schemas.microsoft.com/office/drawing/2014/main" id="{4268E853-50D7-3C7F-3833-B6EE746F37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625" y="3014236"/>
            <a:ext cx="8710612" cy="0"/>
          </a:xfrm>
          <a:prstGeom prst="line">
            <a:avLst/>
          </a:prstGeom>
          <a:noFill/>
          <a:ln w="28575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Text Box 113">
            <a:extLst>
              <a:ext uri="{FF2B5EF4-FFF2-40B4-BE49-F238E27FC236}">
                <a16:creationId xmlns:a16="http://schemas.microsoft.com/office/drawing/2014/main" id="{2919702D-2E10-4D04-F97F-791976450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437" y="2195086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0</a:t>
            </a:r>
            <a:r>
              <a:rPr lang="en-US" altLang="zh-CN" sz="1800" baseline="40000">
                <a:latin typeface="Arial" panose="020B0604020202020204" pitchFamily="34" charset="0"/>
              </a:rPr>
              <a:t>n+1</a:t>
            </a:r>
          </a:p>
        </p:txBody>
      </p:sp>
      <p:sp>
        <p:nvSpPr>
          <p:cNvPr id="110" name="Text Box 114">
            <a:extLst>
              <a:ext uri="{FF2B5EF4-FFF2-40B4-BE49-F238E27FC236}">
                <a16:creationId xmlns:a16="http://schemas.microsoft.com/office/drawing/2014/main" id="{9EF519CC-0BD5-ED32-461F-F1DD63573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0600" y="2204611"/>
            <a:ext cx="6651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1</a:t>
            </a:r>
            <a:r>
              <a:rPr lang="en-US" altLang="zh-CN" sz="1800" baseline="40000">
                <a:latin typeface="Arial" panose="020B0604020202020204" pitchFamily="34" charset="0"/>
              </a:rPr>
              <a:t>n+1</a:t>
            </a:r>
          </a:p>
        </p:txBody>
      </p:sp>
      <p:sp>
        <p:nvSpPr>
          <p:cNvPr id="111" name="Text Box 115">
            <a:extLst>
              <a:ext uri="{FF2B5EF4-FFF2-40B4-BE49-F238E27FC236}">
                <a16:creationId xmlns:a16="http://schemas.microsoft.com/office/drawing/2014/main" id="{687E9FC6-2E33-20B7-A421-41B9E966A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0837" y="2204611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2</a:t>
            </a:r>
            <a:r>
              <a:rPr lang="en-US" altLang="zh-CN" sz="1800" baseline="40000">
                <a:latin typeface="Arial" panose="020B0604020202020204" pitchFamily="34" charset="0"/>
              </a:rPr>
              <a:t>n+1</a:t>
            </a:r>
          </a:p>
        </p:txBody>
      </p:sp>
      <p:sp>
        <p:nvSpPr>
          <p:cNvPr id="112" name="Text Box 116">
            <a:extLst>
              <a:ext uri="{FF2B5EF4-FFF2-40B4-BE49-F238E27FC236}">
                <a16:creationId xmlns:a16="http://schemas.microsoft.com/office/drawing/2014/main" id="{119319EC-1FC1-6BD3-3CD5-36FA36C8E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1075" y="2204611"/>
            <a:ext cx="6651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3</a:t>
            </a:r>
            <a:r>
              <a:rPr lang="en-US" altLang="zh-CN" sz="1800" baseline="40000">
                <a:latin typeface="Arial" panose="020B0604020202020204" pitchFamily="34" charset="0"/>
              </a:rPr>
              <a:t>n+1</a:t>
            </a:r>
          </a:p>
        </p:txBody>
      </p:sp>
      <p:sp>
        <p:nvSpPr>
          <p:cNvPr id="113" name="Text Box 117">
            <a:extLst>
              <a:ext uri="{FF2B5EF4-FFF2-40B4-BE49-F238E27FC236}">
                <a16:creationId xmlns:a16="http://schemas.microsoft.com/office/drawing/2014/main" id="{FECEB62C-0FD9-37C7-CDB2-DC0D51700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2412" y="3441274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0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14" name="Text Box 118">
            <a:extLst>
              <a:ext uri="{FF2B5EF4-FFF2-40B4-BE49-F238E27FC236}">
                <a16:creationId xmlns:a16="http://schemas.microsoft.com/office/drawing/2014/main" id="{F0433093-F1A2-42AD-6926-92B058CA4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0112" y="3450799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1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15" name="Text Box 119">
            <a:extLst>
              <a:ext uri="{FF2B5EF4-FFF2-40B4-BE49-F238E27FC236}">
                <a16:creationId xmlns:a16="http://schemas.microsoft.com/office/drawing/2014/main" id="{679B295C-BEFF-8CAE-BA75-CE1B30695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812" y="3450799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2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16" name="Text Box 120">
            <a:extLst>
              <a:ext uri="{FF2B5EF4-FFF2-40B4-BE49-F238E27FC236}">
                <a16:creationId xmlns:a16="http://schemas.microsoft.com/office/drawing/2014/main" id="{082D3578-F1C8-DF36-1040-3BFF05289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8050" y="3450799"/>
            <a:ext cx="6651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3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17" name="Text Box 121">
            <a:extLst>
              <a:ext uri="{FF2B5EF4-FFF2-40B4-BE49-F238E27FC236}">
                <a16:creationId xmlns:a16="http://schemas.microsoft.com/office/drawing/2014/main" id="{D475797B-7800-EE93-EDAD-8A762AB68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4237" y="3838149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0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18" name="Text Box 122">
            <a:extLst>
              <a:ext uri="{FF2B5EF4-FFF2-40B4-BE49-F238E27FC236}">
                <a16:creationId xmlns:a16="http://schemas.microsoft.com/office/drawing/2014/main" id="{0E0590FC-AD3C-6CD0-3CF6-E7C21BF38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812" y="3847674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1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19" name="Text Box 123">
            <a:extLst>
              <a:ext uri="{FF2B5EF4-FFF2-40B4-BE49-F238E27FC236}">
                <a16:creationId xmlns:a16="http://schemas.microsoft.com/office/drawing/2014/main" id="{C2D899DF-BEF9-25A6-814A-43090C932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9637" y="3847674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2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20" name="Text Box 124">
            <a:extLst>
              <a:ext uri="{FF2B5EF4-FFF2-40B4-BE49-F238E27FC236}">
                <a16:creationId xmlns:a16="http://schemas.microsoft.com/office/drawing/2014/main" id="{F2D2D917-D100-677B-7837-F3D482618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0112" y="4233436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0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21" name="Text Box 125">
            <a:extLst>
              <a:ext uri="{FF2B5EF4-FFF2-40B4-BE49-F238E27FC236}">
                <a16:creationId xmlns:a16="http://schemas.microsoft.com/office/drawing/2014/main" id="{6A49148B-827B-E12A-58A5-9815F49E9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3687" y="4242961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1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22" name="Text Box 126">
            <a:extLst>
              <a:ext uri="{FF2B5EF4-FFF2-40B4-BE49-F238E27FC236}">
                <a16:creationId xmlns:a16="http://schemas.microsoft.com/office/drawing/2014/main" id="{EC22719D-59E3-CFB8-685E-5D06A930A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5512" y="4242961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2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23" name="Text Box 127">
            <a:extLst>
              <a:ext uri="{FF2B5EF4-FFF2-40B4-BE49-F238E27FC236}">
                <a16:creationId xmlns:a16="http://schemas.microsoft.com/office/drawing/2014/main" id="{1D9FC113-53B2-66E7-DD42-3B7046D6C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287" y="4630311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1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24" name="Text Box 128">
            <a:extLst>
              <a:ext uri="{FF2B5EF4-FFF2-40B4-BE49-F238E27FC236}">
                <a16:creationId xmlns:a16="http://schemas.microsoft.com/office/drawing/2014/main" id="{EDE03BAB-736E-5A7C-ED51-3E5270700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5987" y="4630311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2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25" name="Text Box 129">
            <a:extLst>
              <a:ext uri="{FF2B5EF4-FFF2-40B4-BE49-F238E27FC236}">
                <a16:creationId xmlns:a16="http://schemas.microsoft.com/office/drawing/2014/main" id="{5ABAB59A-6931-FA93-67D4-63081535E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225" y="4630311"/>
            <a:ext cx="6651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3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26" name="Text Box 130">
            <a:extLst>
              <a:ext uri="{FF2B5EF4-FFF2-40B4-BE49-F238E27FC236}">
                <a16:creationId xmlns:a16="http://schemas.microsoft.com/office/drawing/2014/main" id="{18DAD318-970B-E61F-E414-9206AA039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2412" y="5017661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1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27" name="Text Box 131">
            <a:extLst>
              <a:ext uri="{FF2B5EF4-FFF2-40B4-BE49-F238E27FC236}">
                <a16:creationId xmlns:a16="http://schemas.microsoft.com/office/drawing/2014/main" id="{16FCBB2F-B170-ADD3-45B3-676B06BE8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5987" y="5027186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2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28" name="Text Box 132">
            <a:extLst>
              <a:ext uri="{FF2B5EF4-FFF2-40B4-BE49-F238E27FC236}">
                <a16:creationId xmlns:a16="http://schemas.microsoft.com/office/drawing/2014/main" id="{5BC42A94-D899-9EF6-4FEA-AC41D50F7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812" y="5027186"/>
            <a:ext cx="665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Q</a:t>
            </a:r>
            <a:r>
              <a:rPr lang="en-US" altLang="zh-CN" sz="2000" baseline="-20000">
                <a:latin typeface="Arial" panose="020B0604020202020204" pitchFamily="34" charset="0"/>
              </a:rPr>
              <a:t>3</a:t>
            </a:r>
            <a:r>
              <a:rPr lang="en-US" altLang="zh-CN" sz="1800" baseline="40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129" name="Text Box 133">
            <a:extLst>
              <a:ext uri="{FF2B5EF4-FFF2-40B4-BE49-F238E27FC236}">
                <a16:creationId xmlns:a16="http://schemas.microsoft.com/office/drawing/2014/main" id="{1EBC4395-29EB-7E97-82D9-3B147D631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2580849"/>
            <a:ext cx="6651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1800"/>
              <a:t>CR</a:t>
            </a:r>
            <a:endParaRPr lang="en-US" altLang="zh-CN" sz="1600" baseline="40000"/>
          </a:p>
        </p:txBody>
      </p:sp>
      <p:sp>
        <p:nvSpPr>
          <p:cNvPr id="130" name="Line 134">
            <a:extLst>
              <a:ext uri="{FF2B5EF4-FFF2-40B4-BE49-F238E27FC236}">
                <a16:creationId xmlns:a16="http://schemas.microsoft.com/office/drawing/2014/main" id="{85819630-64A0-57C1-D772-72B6178F9E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912" y="2595136"/>
            <a:ext cx="3254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1" name="Line 135">
            <a:extLst>
              <a:ext uri="{FF2B5EF4-FFF2-40B4-BE49-F238E27FC236}">
                <a16:creationId xmlns:a16="http://schemas.microsoft.com/office/drawing/2014/main" id="{AC632E9D-D575-FFE8-AF52-0B94DFD858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037" y="3404761"/>
            <a:ext cx="871220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" name="Line 136">
            <a:extLst>
              <a:ext uri="{FF2B5EF4-FFF2-40B4-BE49-F238E27FC236}">
                <a16:creationId xmlns:a16="http://schemas.microsoft.com/office/drawing/2014/main" id="{88A61580-35B8-2AE8-9DFE-4737FA7D6A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037" y="3801636"/>
            <a:ext cx="871220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" name="Line 137">
            <a:extLst>
              <a:ext uri="{FF2B5EF4-FFF2-40B4-BE49-F238E27FC236}">
                <a16:creationId xmlns:a16="http://schemas.microsoft.com/office/drawing/2014/main" id="{C8DD7B02-57BF-15CE-4183-62C0269B97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037" y="4593799"/>
            <a:ext cx="871220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" name="Line 138">
            <a:extLst>
              <a:ext uri="{FF2B5EF4-FFF2-40B4-BE49-F238E27FC236}">
                <a16:creationId xmlns:a16="http://schemas.microsoft.com/office/drawing/2014/main" id="{0F87400F-C6A2-1BC2-E091-00C627FF3B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037" y="5385961"/>
            <a:ext cx="871220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" name="Rectangle 140">
            <a:extLst>
              <a:ext uri="{FF2B5EF4-FFF2-40B4-BE49-F238E27FC236}">
                <a16:creationId xmlns:a16="http://schemas.microsoft.com/office/drawing/2014/main" id="{EE619C69-2398-6EE3-3BFC-C7FCFA386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2025" y="5384374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</a:t>
            </a:r>
            <a:r>
              <a:rPr lang="en-US" altLang="zh-CN" sz="14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36" name="Rectangle 141">
            <a:extLst>
              <a:ext uri="{FF2B5EF4-FFF2-40B4-BE49-F238E27FC236}">
                <a16:creationId xmlns:a16="http://schemas.microsoft.com/office/drawing/2014/main" id="{E3523B44-6DDB-2F78-B636-7663FE274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7812" y="5384374"/>
            <a:ext cx="585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</a:t>
            </a:r>
            <a:r>
              <a:rPr lang="en-US" altLang="zh-CN" sz="14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7" name="Rectangle 142">
            <a:extLst>
              <a:ext uri="{FF2B5EF4-FFF2-40B4-BE49-F238E27FC236}">
                <a16:creationId xmlns:a16="http://schemas.microsoft.com/office/drawing/2014/main" id="{EA09E5C0-A5F5-9D04-37CB-35C08AA77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3925" y="5384374"/>
            <a:ext cx="588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</a:t>
            </a:r>
            <a:r>
              <a:rPr lang="en-US" altLang="zh-CN" sz="14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38" name="Rectangle 143">
            <a:extLst>
              <a:ext uri="{FF2B5EF4-FFF2-40B4-BE49-F238E27FC236}">
                <a16:creationId xmlns:a16="http://schemas.microsoft.com/office/drawing/2014/main" id="{932239D2-AF41-ECFF-29F3-06D52B997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412" y="5384374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</a:t>
            </a:r>
            <a:r>
              <a:rPr lang="en-US" altLang="zh-CN" sz="14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39" name="Rectangle 144">
            <a:extLst>
              <a:ext uri="{FF2B5EF4-FFF2-40B4-BE49-F238E27FC236}">
                <a16:creationId xmlns:a16="http://schemas.microsoft.com/office/drawing/2014/main" id="{79E210B3-5098-A116-7BEF-24056A958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712" y="5384374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</a:t>
            </a:r>
            <a:r>
              <a:rPr lang="en-US" altLang="zh-CN" sz="14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40" name="Rectangle 145">
            <a:extLst>
              <a:ext uri="{FF2B5EF4-FFF2-40B4-BE49-F238E27FC236}">
                <a16:creationId xmlns:a16="http://schemas.microsoft.com/office/drawing/2014/main" id="{44BEC4E9-2B82-731A-F1B1-DE4446457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450" y="5384374"/>
            <a:ext cx="585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</a:t>
            </a:r>
            <a:r>
              <a:rPr lang="en-US" altLang="zh-CN" sz="14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1" name="Rectangle 146">
            <a:extLst>
              <a:ext uri="{FF2B5EF4-FFF2-40B4-BE49-F238E27FC236}">
                <a16:creationId xmlns:a16="http://schemas.microsoft.com/office/drawing/2014/main" id="{842AF0A9-D8FD-52B6-4332-321D4BAC4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5675" y="5384374"/>
            <a:ext cx="588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</a:t>
            </a:r>
            <a:r>
              <a:rPr lang="en-US" altLang="zh-CN" sz="14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2" name="Rectangle 147">
            <a:extLst>
              <a:ext uri="{FF2B5EF4-FFF2-40B4-BE49-F238E27FC236}">
                <a16:creationId xmlns:a16="http://schemas.microsoft.com/office/drawing/2014/main" id="{8F733683-9C9F-7CF4-3B8B-D6167A3D4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2" y="5384374"/>
            <a:ext cx="587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</a:t>
            </a:r>
            <a:r>
              <a:rPr lang="en-US" altLang="zh-CN" sz="1400">
                <a:latin typeface="Arial" panose="020B060402020202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71236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CEEDB-14CA-94F0-418A-4AC3B4BEA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en-US" altLang="ja-JP" dirty="0"/>
              <a:t>: </a:t>
            </a:r>
            <a:r>
              <a:rPr lang="zh-CN" altLang="en-US" dirty="0"/>
              <a:t>移位寄存器扩展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D5354D-D746-C979-064F-7F5CEB03E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用两片</a:t>
            </a:r>
            <a:r>
              <a:rPr kumimoji="1" lang="en-US" altLang="zh-CN" dirty="0"/>
              <a:t>74x194</a:t>
            </a:r>
            <a:r>
              <a:rPr kumimoji="1" lang="zh-CN" altLang="en-US" dirty="0"/>
              <a:t>接成八位双向移位寄存器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E6AFE7-7DEE-1975-A470-2E8F3431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7F9425-C16F-920A-A98F-7761CEB4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13</a:t>
            </a:fld>
            <a:r>
              <a:rPr lang="en-US" altLang="zh-CN" dirty="0"/>
              <a:t>/15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B72E8C-5E8F-0131-CFEC-B272579A5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52" y="1580828"/>
            <a:ext cx="9229495" cy="4231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7846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F779F-0EFC-D844-9858-6878BB1D1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示例</a:t>
            </a:r>
            <a:r>
              <a:rPr lang="en-US" altLang="ja-JP" dirty="0">
                <a:latin typeface="宋体" panose="02010600030101010101" pitchFamily="2" charset="-122"/>
              </a:rPr>
              <a:t>: </a:t>
            </a:r>
            <a:r>
              <a:rPr lang="en-US" altLang="zh-CN" dirty="0" err="1">
                <a:latin typeface="宋体" panose="02010600030101010101" pitchFamily="2" charset="-122"/>
              </a:rPr>
              <a:t>实现</a:t>
            </a:r>
            <a:r>
              <a:rPr kumimoji="1" lang="zh-CN" altLang="en-US" dirty="0">
                <a:latin typeface="宋体" panose="02010600030101010101" pitchFamily="2" charset="-122"/>
              </a:rPr>
              <a:t>序列检测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F72AC3-4413-FF7A-98CB-71960A4BF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检测“</a:t>
            </a:r>
            <a:r>
              <a:rPr kumimoji="1" lang="en-US" altLang="zh-CN" dirty="0"/>
              <a:t>111”</a:t>
            </a:r>
            <a:r>
              <a:rPr kumimoji="1" lang="zh-CN" altLang="en-US" dirty="0"/>
              <a:t>序列，当连续输入三个或三个以上</a:t>
            </a:r>
            <a:r>
              <a:rPr kumimoji="1" lang="en-US" altLang="zh-CN" dirty="0"/>
              <a:t>“1”</a:t>
            </a:r>
            <a:r>
              <a:rPr kumimoji="1" lang="zh-CN" altLang="en-US" dirty="0"/>
              <a:t>时，输出为“</a:t>
            </a:r>
            <a:r>
              <a:rPr kumimoji="1" lang="en-US" altLang="zh-CN" dirty="0"/>
              <a:t>1”</a:t>
            </a:r>
            <a:r>
              <a:rPr kumimoji="1" lang="zh-CN" altLang="en-US" dirty="0"/>
              <a:t>，否则输出为“</a:t>
            </a:r>
            <a:r>
              <a:rPr kumimoji="1" lang="en-US" altLang="zh-CN" dirty="0"/>
              <a:t>0”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FE3B45-CC9B-4832-5663-CE4E4874E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816E43-A894-BA91-B55F-7E597A4BC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14</a:t>
            </a:fld>
            <a:r>
              <a:rPr lang="en-US" altLang="zh-CN" dirty="0"/>
              <a:t>/15</a:t>
            </a:r>
            <a:endParaRPr lang="en-US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84726DFD-88A6-EB8A-AD71-A0855C5F4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62" y="1918938"/>
            <a:ext cx="7813675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输入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X: 0 1 1 1 0 1 1 0 1 1 1 1 0 ……</a:t>
            </a:r>
            <a:endParaRPr kumimoji="1" lang="zh-CN" altLang="en-US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kumimoji="1" lang="zh-CN" altLang="en-US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</a:t>
            </a:r>
            <a:r>
              <a:rPr kumimoji="1" lang="en-US" altLang="zh-CN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Z: 0 0 0 1 0 0 0 0 0 0 1 1 0 ……</a:t>
            </a: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DDD87116-17DF-783A-3F44-50BA4A1EA6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388" y="2447576"/>
            <a:ext cx="758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Rectangle 69">
            <a:extLst>
              <a:ext uri="{FF2B5EF4-FFF2-40B4-BE49-F238E27FC236}">
                <a16:creationId xmlns:a16="http://schemas.microsoft.com/office/drawing/2014/main" id="{EE1AFF7B-88E2-B987-51CB-69DD58A59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9025" y="4856681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用</a:t>
            </a:r>
            <a:r>
              <a:rPr lang="en-US" altLang="zh-CN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Moore</a:t>
            </a:r>
            <a:r>
              <a:rPr lang="zh-CN" altLang="en-US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电路实现，如何</a:t>
            </a:r>
            <a:r>
              <a:rPr lang="en-US" altLang="zh-CN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?</a:t>
            </a:r>
          </a:p>
        </p:txBody>
      </p:sp>
      <p:sp>
        <p:nvSpPr>
          <p:cNvPr id="11" name="Rectangle 72">
            <a:extLst>
              <a:ext uri="{FF2B5EF4-FFF2-40B4-BE49-F238E27FC236}">
                <a16:creationId xmlns:a16="http://schemas.microsoft.com/office/drawing/2014/main" id="{FF528BE9-F430-B84D-268B-A13D31552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992" y="4367731"/>
            <a:ext cx="30524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检测“</a:t>
            </a:r>
            <a:r>
              <a:rPr lang="en-US" altLang="zh-CN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011”</a:t>
            </a:r>
            <a:r>
              <a:rPr lang="zh-CN" altLang="en-US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，如何</a:t>
            </a:r>
            <a:r>
              <a:rPr lang="en-US" altLang="zh-CN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?</a:t>
            </a:r>
            <a:endParaRPr lang="zh-CN" altLang="en-US" sz="2400" b="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2" name="Group 76">
            <a:extLst>
              <a:ext uri="{FF2B5EF4-FFF2-40B4-BE49-F238E27FC236}">
                <a16:creationId xmlns:a16="http://schemas.microsoft.com/office/drawing/2014/main" id="{90699167-C3D9-0AEF-0A5A-B439F6CBAE75}"/>
              </a:ext>
            </a:extLst>
          </p:cNvPr>
          <p:cNvGrpSpPr>
            <a:grpSpLocks/>
          </p:cNvGrpSpPr>
          <p:nvPr/>
        </p:nvGrpSpPr>
        <p:grpSpPr bwMode="auto">
          <a:xfrm>
            <a:off x="1082675" y="3433413"/>
            <a:ext cx="5508625" cy="1727200"/>
            <a:chOff x="521" y="2524"/>
            <a:chExt cx="3470" cy="1088"/>
          </a:xfrm>
        </p:grpSpPr>
        <p:sp>
          <p:nvSpPr>
            <p:cNvPr id="13" name="Text Box 31">
              <a:extLst>
                <a:ext uri="{FF2B5EF4-FFF2-40B4-BE49-F238E27FC236}">
                  <a16:creationId xmlns:a16="http://schemas.microsoft.com/office/drawing/2014/main" id="{1E7CA524-1D09-5D0D-2021-6658653907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3" y="2659"/>
              <a:ext cx="3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Q</a:t>
              </a:r>
              <a:r>
                <a:rPr kumimoji="1" lang="en-US" altLang="zh-CN" sz="2400" baseline="-25000"/>
                <a:t>1</a:t>
              </a:r>
              <a:endParaRPr kumimoji="1" lang="en-US" altLang="zh-CN" sz="2400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F72FFB71-808A-59C3-84A2-C0BC70D03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3" y="2833"/>
              <a:ext cx="427" cy="59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01900C63-C0CD-94CF-66C0-65A8328CD7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9" y="2977"/>
              <a:ext cx="3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93B45A3A-E2F9-B618-D80A-554088F1D2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3" y="3181"/>
              <a:ext cx="83" cy="146"/>
              <a:chOff x="1096" y="2853"/>
              <a:chExt cx="43" cy="96"/>
            </a:xfrm>
          </p:grpSpPr>
          <p:sp>
            <p:nvSpPr>
              <p:cNvPr id="45" name="Line 11">
                <a:extLst>
                  <a:ext uri="{FF2B5EF4-FFF2-40B4-BE49-F238E27FC236}">
                    <a16:creationId xmlns:a16="http://schemas.microsoft.com/office/drawing/2014/main" id="{257D57EC-8B6E-1076-4E7D-90101DF992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6" y="2853"/>
                <a:ext cx="43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Line 12">
                <a:extLst>
                  <a:ext uri="{FF2B5EF4-FFF2-40B4-BE49-F238E27FC236}">
                    <a16:creationId xmlns:a16="http://schemas.microsoft.com/office/drawing/2014/main" id="{AC1D670B-2BA8-D061-1C0F-6AE3C72E41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96" y="2901"/>
                <a:ext cx="43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9140FF71-C170-6ACB-193C-69B0312D71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4" y="3252"/>
              <a:ext cx="2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37472655-035A-5294-8A0F-5B295D8CD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2977"/>
              <a:ext cx="2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15">
              <a:extLst>
                <a:ext uri="{FF2B5EF4-FFF2-40B4-BE49-F238E27FC236}">
                  <a16:creationId xmlns:a16="http://schemas.microsoft.com/office/drawing/2014/main" id="{A283BE12-8133-DD27-6E05-227A71352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" y="2848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D</a:t>
              </a: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2FE7F548-CFAF-9FAD-8FE0-FE1025B21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0" y="2833"/>
              <a:ext cx="407" cy="59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2BD7F92B-39DC-02D5-392B-55F054343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7" y="2977"/>
              <a:ext cx="3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42A45BC7-545B-EBD6-7BF7-83E849926A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0" y="3252"/>
              <a:ext cx="1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B1FD8A6D-177D-CA41-2F53-B8D3EB1049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0" y="2977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F4D28BBB-3B31-422E-FAE5-6362B609D5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4" y="2848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D</a:t>
              </a: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6483452E-5FAD-54D3-3441-BFF8D4BC49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06" y="2841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131C9DD4-90CD-DC0F-E381-0E9997CDB5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3" y="3252"/>
              <a:ext cx="0" cy="3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3337D039-A878-41A8-06EA-C00A1EB06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3252"/>
              <a:ext cx="0" cy="3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B6099CA8-9D0F-5C12-5C10-48519171D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" y="2844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X</a:t>
              </a:r>
            </a:p>
          </p:txBody>
        </p:sp>
        <p:sp>
          <p:nvSpPr>
            <p:cNvPr id="29" name="Text Box 29">
              <a:extLst>
                <a:ext uri="{FF2B5EF4-FFF2-40B4-BE49-F238E27FC236}">
                  <a16:creationId xmlns:a16="http://schemas.microsoft.com/office/drawing/2014/main" id="{3A27FD60-A945-897D-B478-D9B121E57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3136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CP</a:t>
              </a:r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A4453B44-341E-3DE1-6B6E-4962234816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3" y="2659"/>
              <a:ext cx="3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Q</a:t>
              </a:r>
              <a:r>
                <a:rPr kumimoji="1" lang="en-US" altLang="zh-CN" sz="2400" baseline="-25000"/>
                <a:t>0</a:t>
              </a:r>
              <a:endParaRPr kumimoji="1" lang="en-US" altLang="zh-CN" sz="2400"/>
            </a:p>
          </p:txBody>
        </p:sp>
        <p:grpSp>
          <p:nvGrpSpPr>
            <p:cNvPr id="31" name="Group 33">
              <a:extLst>
                <a:ext uri="{FF2B5EF4-FFF2-40B4-BE49-F238E27FC236}">
                  <a16:creationId xmlns:a16="http://schemas.microsoft.com/office/drawing/2014/main" id="{0F4D4764-47CC-661D-5279-B52C60B9FE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6" y="3191"/>
              <a:ext cx="83" cy="146"/>
              <a:chOff x="1096" y="2853"/>
              <a:chExt cx="43" cy="96"/>
            </a:xfrm>
          </p:grpSpPr>
          <p:sp>
            <p:nvSpPr>
              <p:cNvPr id="43" name="Line 34">
                <a:extLst>
                  <a:ext uri="{FF2B5EF4-FFF2-40B4-BE49-F238E27FC236}">
                    <a16:creationId xmlns:a16="http://schemas.microsoft.com/office/drawing/2014/main" id="{FE77551F-3291-0D04-D8A8-B192289361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6" y="2853"/>
                <a:ext cx="43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Line 35">
                <a:extLst>
                  <a:ext uri="{FF2B5EF4-FFF2-40B4-BE49-F238E27FC236}">
                    <a16:creationId xmlns:a16="http://schemas.microsoft.com/office/drawing/2014/main" id="{9FBA84FF-4E7E-72E1-610E-AB3A536B82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96" y="2901"/>
                <a:ext cx="43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" name="Line 39">
              <a:extLst>
                <a:ext uri="{FF2B5EF4-FFF2-40B4-BE49-F238E27FC236}">
                  <a16:creationId xmlns:a16="http://schemas.microsoft.com/office/drawing/2014/main" id="{77B965CA-BF1F-AC0A-D879-E0409BE93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3" y="3612"/>
              <a:ext cx="9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Oval 46">
              <a:extLst>
                <a:ext uri="{FF2B5EF4-FFF2-40B4-BE49-F238E27FC236}">
                  <a16:creationId xmlns:a16="http://schemas.microsoft.com/office/drawing/2014/main" id="{B5DA6CD2-F6D6-3994-8932-016F8BAF1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" y="3226"/>
              <a:ext cx="77" cy="7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4" name="Line 55">
              <a:extLst>
                <a:ext uri="{FF2B5EF4-FFF2-40B4-BE49-F238E27FC236}">
                  <a16:creationId xmlns:a16="http://schemas.microsoft.com/office/drawing/2014/main" id="{A8429739-3310-C5E5-598B-4602284F1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3" y="2617"/>
              <a:ext cx="0" cy="3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56">
              <a:extLst>
                <a:ext uri="{FF2B5EF4-FFF2-40B4-BE49-F238E27FC236}">
                  <a16:creationId xmlns:a16="http://schemas.microsoft.com/office/drawing/2014/main" id="{1B6EAD2D-DF22-F9A6-915F-AFD4A132CD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2728"/>
              <a:ext cx="0" cy="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57">
              <a:extLst>
                <a:ext uri="{FF2B5EF4-FFF2-40B4-BE49-F238E27FC236}">
                  <a16:creationId xmlns:a16="http://schemas.microsoft.com/office/drawing/2014/main" id="{5DF86162-463D-5293-C309-922ABEECA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3" y="2614"/>
              <a:ext cx="20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58">
              <a:extLst>
                <a:ext uri="{FF2B5EF4-FFF2-40B4-BE49-F238E27FC236}">
                  <a16:creationId xmlns:a16="http://schemas.microsoft.com/office/drawing/2014/main" id="{11A92F47-4647-E976-4BCB-2BFB72705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2728"/>
              <a:ext cx="11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59">
              <a:extLst>
                <a:ext uri="{FF2B5EF4-FFF2-40B4-BE49-F238E27FC236}">
                  <a16:creationId xmlns:a16="http://schemas.microsoft.com/office/drawing/2014/main" id="{317100DD-A4C0-35AD-000B-7350A2585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6" y="2841"/>
              <a:ext cx="0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65">
              <a:extLst>
                <a:ext uri="{FF2B5EF4-FFF2-40B4-BE49-F238E27FC236}">
                  <a16:creationId xmlns:a16="http://schemas.microsoft.com/office/drawing/2014/main" id="{A31CCB70-DE0E-7DA4-9653-AF6CBFCEB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2728"/>
              <a:ext cx="2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66">
              <a:extLst>
                <a:ext uri="{FF2B5EF4-FFF2-40B4-BE49-F238E27FC236}">
                  <a16:creationId xmlns:a16="http://schemas.microsoft.com/office/drawing/2014/main" id="{292EFE97-579A-75B2-8A0C-744BA00E51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635"/>
              <a:ext cx="204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Z</a:t>
              </a:r>
              <a:endParaRPr kumimoji="1" lang="en-US" altLang="zh-CN" sz="2400" b="0" baseline="-25000">
                <a:ea typeface="楷体_GB2312" pitchFamily="49" charset="-122"/>
              </a:endParaRPr>
            </a:p>
          </p:txBody>
        </p:sp>
        <p:sp>
          <p:nvSpPr>
            <p:cNvPr id="41" name="AutoShape 67">
              <a:extLst>
                <a:ext uri="{FF2B5EF4-FFF2-40B4-BE49-F238E27FC236}">
                  <a16:creationId xmlns:a16="http://schemas.microsoft.com/office/drawing/2014/main" id="{EB3E990B-0DB3-683A-ADA9-3FBDE93D3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0" y="2524"/>
              <a:ext cx="354" cy="389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2" name="Oval 73">
              <a:extLst>
                <a:ext uri="{FF2B5EF4-FFF2-40B4-BE49-F238E27FC236}">
                  <a16:creationId xmlns:a16="http://schemas.microsoft.com/office/drawing/2014/main" id="{77D87322-45F1-2312-17A1-556275750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3226"/>
              <a:ext cx="77" cy="7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pSp>
        <p:nvGrpSpPr>
          <p:cNvPr id="47" name="Group 75">
            <a:extLst>
              <a:ext uri="{FF2B5EF4-FFF2-40B4-BE49-F238E27FC236}">
                <a16:creationId xmlns:a16="http://schemas.microsoft.com/office/drawing/2014/main" id="{1244C0FF-800E-EE87-48B1-9CF8EACFF3A6}"/>
              </a:ext>
            </a:extLst>
          </p:cNvPr>
          <p:cNvGrpSpPr>
            <a:grpSpLocks/>
          </p:cNvGrpSpPr>
          <p:nvPr/>
        </p:nvGrpSpPr>
        <p:grpSpPr bwMode="auto">
          <a:xfrm>
            <a:off x="1154112" y="4441476"/>
            <a:ext cx="3116263" cy="1117600"/>
            <a:chOff x="566" y="3159"/>
            <a:chExt cx="1963" cy="704"/>
          </a:xfrm>
        </p:grpSpPr>
        <p:sp>
          <p:nvSpPr>
            <p:cNvPr id="48" name="Line 40">
              <a:extLst>
                <a:ext uri="{FF2B5EF4-FFF2-40B4-BE49-F238E27FC236}">
                  <a16:creationId xmlns:a16="http://schemas.microsoft.com/office/drawing/2014/main" id="{CD2726D7-B1E4-F7F1-4547-7C89D4EE47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4" y="3748"/>
              <a:ext cx="14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5496E71-2F9C-5161-1B40-59A9A94E14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6" y="3612"/>
              <a:ext cx="307" cy="251"/>
              <a:chOff x="657" y="3861"/>
              <a:chExt cx="307" cy="251"/>
            </a:xfrm>
          </p:grpSpPr>
          <p:sp>
            <p:nvSpPr>
              <p:cNvPr id="56" name="Text Box 41">
                <a:extLst>
                  <a:ext uri="{FF2B5EF4-FFF2-40B4-BE49-F238E27FC236}">
                    <a16:creationId xmlns:a16="http://schemas.microsoft.com/office/drawing/2014/main" id="{A6A6BAAC-7629-9FD1-8FE6-5E24DD284C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7" y="3861"/>
                <a:ext cx="307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>
                    <a:ea typeface="楷体_GB2312" pitchFamily="49" charset="-122"/>
                  </a:rPr>
                  <a:t>R</a:t>
                </a:r>
                <a:r>
                  <a:rPr kumimoji="1" lang="en-US" altLang="zh-CN" sz="2000" baseline="-25000">
                    <a:ea typeface="楷体_GB2312" pitchFamily="49" charset="-122"/>
                  </a:rPr>
                  <a:t>D</a:t>
                </a:r>
                <a:endParaRPr kumimoji="1" lang="en-US" altLang="zh-CN" sz="2000">
                  <a:ea typeface="楷体_GB2312" pitchFamily="49" charset="-122"/>
                </a:endParaRPr>
              </a:p>
            </p:txBody>
          </p:sp>
          <p:sp>
            <p:nvSpPr>
              <p:cNvPr id="57" name="Line 42">
                <a:extLst>
                  <a:ext uri="{FF2B5EF4-FFF2-40B4-BE49-F238E27FC236}">
                    <a16:creationId xmlns:a16="http://schemas.microsoft.com/office/drawing/2014/main" id="{AD67134F-2892-4FF9-4566-F8C5415EA1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7" y="3908"/>
                <a:ext cx="1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0" name="Oval 43">
              <a:extLst>
                <a:ext uri="{FF2B5EF4-FFF2-40B4-BE49-F238E27FC236}">
                  <a16:creationId xmlns:a16="http://schemas.microsoft.com/office/drawing/2014/main" id="{8885310B-EB3F-0C1C-4A7F-5C9C72279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1" y="3431"/>
              <a:ext cx="77" cy="7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1" name="Line 45">
              <a:extLst>
                <a:ext uri="{FF2B5EF4-FFF2-40B4-BE49-F238E27FC236}">
                  <a16:creationId xmlns:a16="http://schemas.microsoft.com/office/drawing/2014/main" id="{FA6B1CF3-A416-2CB4-F758-7A4010168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3499"/>
              <a:ext cx="0" cy="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47">
              <a:extLst>
                <a:ext uri="{FF2B5EF4-FFF2-40B4-BE49-F238E27FC236}">
                  <a16:creationId xmlns:a16="http://schemas.microsoft.com/office/drawing/2014/main" id="{6DDE4AFD-0994-24FB-131B-3089BDE01D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5" y="3499"/>
              <a:ext cx="0" cy="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 Box 50">
              <a:extLst>
                <a:ext uri="{FF2B5EF4-FFF2-40B4-BE49-F238E27FC236}">
                  <a16:creationId xmlns:a16="http://schemas.microsoft.com/office/drawing/2014/main" id="{04F9B125-4D5E-EA9A-2A4E-84EB986F5A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3159"/>
              <a:ext cx="307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R</a:t>
              </a:r>
              <a:r>
                <a:rPr kumimoji="1" lang="en-US" altLang="zh-CN" sz="2000" baseline="-25000">
                  <a:ea typeface="楷体_GB2312" pitchFamily="49" charset="-122"/>
                </a:rPr>
                <a:t>D</a:t>
              </a:r>
              <a:endParaRPr kumimoji="1" lang="en-US" altLang="zh-CN" sz="2000">
                <a:ea typeface="楷体_GB2312" pitchFamily="49" charset="-122"/>
              </a:endParaRPr>
            </a:p>
          </p:txBody>
        </p:sp>
        <p:sp>
          <p:nvSpPr>
            <p:cNvPr id="54" name="Text Box 53">
              <a:extLst>
                <a:ext uri="{FF2B5EF4-FFF2-40B4-BE49-F238E27FC236}">
                  <a16:creationId xmlns:a16="http://schemas.microsoft.com/office/drawing/2014/main" id="{47748697-C6C6-CC7C-7D8A-E1F1B62FF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3159"/>
              <a:ext cx="307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>
                  <a:ea typeface="楷体_GB2312" pitchFamily="49" charset="-122"/>
                </a:rPr>
                <a:t>R</a:t>
              </a:r>
              <a:r>
                <a:rPr kumimoji="1" lang="en-US" altLang="zh-CN" sz="2000" baseline="-25000">
                  <a:ea typeface="楷体_GB2312" pitchFamily="49" charset="-122"/>
                </a:rPr>
                <a:t>D</a:t>
              </a:r>
              <a:endParaRPr kumimoji="1" lang="en-US" altLang="zh-CN" sz="2000">
                <a:ea typeface="楷体_GB2312" pitchFamily="49" charset="-122"/>
              </a:endParaRPr>
            </a:p>
          </p:txBody>
        </p:sp>
        <p:sp>
          <p:nvSpPr>
            <p:cNvPr id="55" name="Oval 74">
              <a:extLst>
                <a:ext uri="{FF2B5EF4-FFF2-40B4-BE49-F238E27FC236}">
                  <a16:creationId xmlns:a16="http://schemas.microsoft.com/office/drawing/2014/main" id="{5C2F1F0A-CCFA-EBF3-5510-E5C19BE5D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3430"/>
              <a:ext cx="77" cy="75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58" name="Rectangle 72">
            <a:extLst>
              <a:ext uri="{FF2B5EF4-FFF2-40B4-BE49-F238E27FC236}">
                <a16:creationId xmlns:a16="http://schemas.microsoft.com/office/drawing/2014/main" id="{DC213A6E-59D2-21FB-8ED7-8079F4E87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5539" y="5332857"/>
            <a:ext cx="47163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de-DE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此</a:t>
            </a:r>
            <a:r>
              <a:rPr lang="zh-CN" altLang="en-US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电路的状态表与</a:t>
            </a:r>
            <a:r>
              <a:rPr lang="en-US" altLang="zh-CN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PPT14</a:t>
            </a:r>
            <a:r>
              <a:rPr lang="zh-CN" altLang="en-US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的异同</a:t>
            </a:r>
            <a:r>
              <a:rPr lang="en-US" altLang="zh-CN" sz="2400" b="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?</a:t>
            </a:r>
            <a:endParaRPr lang="zh-CN" altLang="en-US" sz="2400" b="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9" name="Line 5">
            <a:extLst>
              <a:ext uri="{FF2B5EF4-FFF2-40B4-BE49-F238E27FC236}">
                <a16:creationId xmlns:a16="http://schemas.microsoft.com/office/drawing/2014/main" id="{E522EEDA-3BBD-09F4-1A29-F3A9E31D8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8537" y="2447576"/>
            <a:ext cx="758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0" name="Line 5">
            <a:extLst>
              <a:ext uri="{FF2B5EF4-FFF2-40B4-BE49-F238E27FC236}">
                <a16:creationId xmlns:a16="http://schemas.microsoft.com/office/drawing/2014/main" id="{23CE50D7-3F27-2477-6472-2EEA630BC5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6095" y="2528212"/>
            <a:ext cx="758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872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5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92BC4-F3C4-3AEF-EC86-F47B0BED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作业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D1469-A401-31ED-3543-D565F3B08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电子技术基础</a:t>
            </a: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数字部分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dirty="0"/>
              <a:t>P326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dirty="0"/>
              <a:t>6.5.2</a:t>
            </a:r>
            <a:r>
              <a:rPr lang="zh-CN" altLang="en-US" dirty="0"/>
              <a:t>，</a:t>
            </a:r>
            <a:r>
              <a:rPr lang="en-US" altLang="zh-CN" dirty="0"/>
              <a:t>6.5.3</a:t>
            </a:r>
            <a:endParaRPr lang="zh-CN" altLang="en-US" dirty="0"/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1EBEAF-E105-3D6B-A44A-1A805B92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16. </a:t>
            </a:r>
            <a:r>
              <a:rPr lang="zh-CN" altLang="en-US"/>
              <a:t>时序逻辑电路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440A33-A646-F11A-EF20-5480EA52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15</a:t>
            </a:fld>
            <a:r>
              <a:rPr lang="en-US" altLang="zh-CN" dirty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91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19053</TotalTime>
  <Words>941</Words>
  <Application>Microsoft Macintosh PowerPoint</Application>
  <PresentationFormat>A4 纸张(210x297 毫米)</PresentationFormat>
  <Paragraphs>340</Paragraphs>
  <Slides>15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等线</vt:lpstr>
      <vt:lpstr>黑体</vt:lpstr>
      <vt:lpstr>宋体</vt:lpstr>
      <vt:lpstr>Microsoft YaHei</vt:lpstr>
      <vt:lpstr>Microsoft YaHei</vt:lpstr>
      <vt:lpstr>Arial</vt:lpstr>
      <vt:lpstr>Arial Black</vt:lpstr>
      <vt:lpstr>Cambria Math</vt:lpstr>
      <vt:lpstr>Times New Roman</vt:lpstr>
      <vt:lpstr>Office-Design</vt:lpstr>
      <vt:lpstr>公式</vt:lpstr>
      <vt:lpstr>Picture</vt:lpstr>
      <vt:lpstr>  模拟与数字电路 Analog and Digital Circuits</vt:lpstr>
      <vt:lpstr>内容提纲</vt:lpstr>
      <vt:lpstr>寄存器</vt:lpstr>
      <vt:lpstr>74x273：带异步清零八位寄存器</vt:lpstr>
      <vt:lpstr>74x374：带三态输出八位寄存器</vt:lpstr>
      <vt:lpstr>74x377：带输入使能八位寄存器</vt:lpstr>
      <vt:lpstr>移位寄存器</vt:lpstr>
      <vt:lpstr>单向移位寄存器</vt:lpstr>
      <vt:lpstr>工作波形图</vt:lpstr>
      <vt:lpstr>74x194: 四位双向通用移位寄存器</vt:lpstr>
      <vt:lpstr>触发器输入逻辑电路</vt:lpstr>
      <vt:lpstr>74x194 功能表 </vt:lpstr>
      <vt:lpstr>示例: 移位寄存器扩展</vt:lpstr>
      <vt:lpstr>示例: 实现序列检测</vt:lpstr>
      <vt:lpstr>作业</vt:lpstr>
    </vt:vector>
  </TitlesOfParts>
  <Company>DFKI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从本科到硕士到博士</dc:title>
  <dc:creator>jingyuan cheng</dc:creator>
  <cp:lastModifiedBy>Microsoft Office User</cp:lastModifiedBy>
  <cp:revision>2516</cp:revision>
  <cp:lastPrinted>2020-05-26T13:24:01Z</cp:lastPrinted>
  <dcterms:created xsi:type="dcterms:W3CDTF">2020-04-07T12:23:01Z</dcterms:created>
  <dcterms:modified xsi:type="dcterms:W3CDTF">2024-10-17T03:02:47Z</dcterms:modified>
</cp:coreProperties>
</file>