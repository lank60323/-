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32" r:id="rId11"/>
    <p:sldId id="533" r:id="rId12"/>
    <p:sldId id="520" r:id="rId13"/>
    <p:sldId id="521" r:id="rId14"/>
    <p:sldId id="522" r:id="rId15"/>
    <p:sldId id="523" r:id="rId16"/>
    <p:sldId id="534" r:id="rId17"/>
    <p:sldId id="535" r:id="rId18"/>
    <p:sldId id="524" r:id="rId19"/>
    <p:sldId id="525" r:id="rId20"/>
    <p:sldId id="526" r:id="rId21"/>
    <p:sldId id="527" r:id="rId22"/>
    <p:sldId id="511" r:id="rId23"/>
    <p:sldId id="536" r:id="rId24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89"/>
    <p:restoredTop sz="79662"/>
  </p:normalViewPr>
  <p:slideViewPr>
    <p:cSldViewPr snapToGrid="0" snapToObjects="1">
      <p:cViewPr varScale="1">
        <p:scale>
          <a:sx n="79" d="100"/>
          <a:sy n="79" d="100"/>
        </p:scale>
        <p:origin x="1728" y="200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根据触发器状态变化的特点，将时序逻辑电路分为同步时序逻辑电路和异步时序逻辑电路。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同步时序逻辑电路中所有触发器的时钟端由同一时钟脉冲直接驱动，各触发器同时进行翻转。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异步时序逻辑电路中的时钟脉冲只直接驱动一部分触发器，其他则靠输入信号或时序逻辑电路内部产生的信号去驱动，所以各触发器的翻转不是同时进行的。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同步：</a:t>
            </a:r>
            <a:r>
              <a:rPr kumimoji="1" lang="zh-CN" altLang="en-US" dirty="0">
                <a:solidFill>
                  <a:srgbClr val="000066"/>
                </a:solidFill>
              </a:rPr>
              <a:t>存储电路里所有触发器有一个统一的时钟源，它们的状态在同一时刻更新</a:t>
            </a:r>
            <a:r>
              <a:rPr kumimoji="1" lang="zh-CN" altLang="en-US" dirty="0"/>
              <a:t>。</a:t>
            </a:r>
            <a:endParaRPr kumimoji="1" lang="zh-CN" altLang="en-US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异步：</a:t>
            </a:r>
            <a:r>
              <a:rPr kumimoji="1" lang="zh-CN" altLang="en-US" dirty="0">
                <a:solidFill>
                  <a:srgbClr val="000066"/>
                </a:solidFill>
              </a:rPr>
              <a:t>没有统一的时钟脉冲或没有时钟脉冲，电路的状态更新不是同时发生的。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307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如果将输入信号、各触发器的现态、次态与输出信号的关系用表格形式表示，即称为状态转换表。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为了更直观地分析时序逻辑电路的功能，将输入信号和各触发器的现态、次态，与输出信号的关系用图的形式表示，即为状态转换图。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由给定的输入信号和时钟信号，根据状态表或状态图，以及触发器的触发特性，得到输出信号、触发器状态随时间变化的波形图称为时序波形图。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是否是</a:t>
            </a:r>
            <a:r>
              <a:rPr kumimoji="1" lang="en-US" altLang="zh-CN" dirty="0">
                <a:solidFill>
                  <a:srgbClr val="000000"/>
                </a:solidFill>
              </a:rPr>
              <a:t>Moore</a:t>
            </a:r>
            <a:r>
              <a:rPr kumimoji="1" lang="zh-CN" altLang="en-US" dirty="0">
                <a:solidFill>
                  <a:srgbClr val="000000"/>
                </a:solidFill>
              </a:rPr>
              <a:t>型只看最后一层输出是否直接受</a:t>
            </a:r>
            <a:r>
              <a:rPr kumimoji="1" lang="en-US" altLang="zh-CN" dirty="0">
                <a:solidFill>
                  <a:srgbClr val="000000"/>
                </a:solidFill>
              </a:rPr>
              <a:t>X</a:t>
            </a:r>
            <a:r>
              <a:rPr kumimoji="1" lang="zh-CN" altLang="en-US" dirty="0">
                <a:solidFill>
                  <a:srgbClr val="000000"/>
                </a:solidFill>
              </a:rPr>
              <a:t>影响，不看是否含有</a:t>
            </a:r>
            <a:r>
              <a:rPr kumimoji="1" lang="en-US" altLang="zh-CN" dirty="0">
                <a:solidFill>
                  <a:srgbClr val="000000"/>
                </a:solidFill>
              </a:rPr>
              <a:t>X</a:t>
            </a:r>
            <a:r>
              <a:rPr kumimoji="1" lang="zh-CN" altLang="en-US" dirty="0">
                <a:solidFill>
                  <a:srgbClr val="000000"/>
                </a:solidFill>
              </a:rPr>
              <a:t>作为隐变量，</a:t>
            </a:r>
            <a:r>
              <a:rPr lang="zh-CN" altLang="en-US" dirty="0"/>
              <a:t>参见 数字电路</a:t>
            </a:r>
            <a:r>
              <a:rPr lang="en-US" altLang="ja-JP" dirty="0"/>
              <a:t>P275</a:t>
            </a:r>
            <a:r>
              <a:rPr lang="zh-CN" altLang="en-US" dirty="0"/>
              <a:t>页</a:t>
            </a:r>
            <a:r>
              <a:rPr lang="en-US" altLang="ja-JP" dirty="0"/>
              <a:t> </a:t>
            </a:r>
            <a:r>
              <a:rPr lang="zh-CN" altLang="en-US" dirty="0"/>
              <a:t>，特别是</a:t>
            </a:r>
            <a:r>
              <a:rPr lang="en-US" altLang="zh-CN" dirty="0"/>
              <a:t>P277 </a:t>
            </a:r>
            <a:r>
              <a:rPr lang="zh-CN" altLang="en-US" dirty="0"/>
              <a:t>图</a:t>
            </a:r>
            <a:r>
              <a:rPr lang="en-US" altLang="zh-CN" dirty="0"/>
              <a:t>6.1.6</a:t>
            </a:r>
            <a:endParaRPr kumimoji="1" lang="zh-CN" altLang="en-US" dirty="0">
              <a:solidFill>
                <a:srgbClr val="0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07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输出方程：</a:t>
            </a:r>
            <a:r>
              <a:rPr lang="zh-CN" altLang="en-US" dirty="0">
                <a:solidFill>
                  <a:schemeClr val="folHlink"/>
                </a:solidFill>
              </a:rPr>
              <a:t>表达输出信号与输入信号、状态变量的关系式</a:t>
            </a:r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激励</a:t>
            </a:r>
            <a:r>
              <a:rPr lang="zh-CN" altLang="en-US" dirty="0"/>
              <a:t>方程：</a:t>
            </a:r>
            <a:r>
              <a:rPr lang="zh-CN" altLang="en-US" dirty="0">
                <a:solidFill>
                  <a:schemeClr val="folHlink"/>
                </a:solidFill>
              </a:rPr>
              <a:t>表达激励信号与输入信号、状态变量的关系式</a:t>
            </a:r>
          </a:p>
          <a:p>
            <a:pPr eaLnBrk="1" hangingPunct="1"/>
            <a:r>
              <a:rPr lang="zh-CN" altLang="en-US" dirty="0"/>
              <a:t>状态方程：</a:t>
            </a:r>
            <a:r>
              <a:rPr lang="zh-CN" altLang="en-US" dirty="0">
                <a:solidFill>
                  <a:schemeClr val="folHlink"/>
                </a:solidFill>
              </a:rPr>
              <a:t>表达存储电路从现态到次态的转换关系式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48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FF"/>
                </a:solidFill>
              </a:rPr>
              <a:t>状态图中每个圆圈表示一个状态，带箭头的弧线表示状态转移方向、转移线旁标注出转移的外输入条件和当前的外输出情况。</a:t>
            </a:r>
          </a:p>
          <a:p>
            <a:pPr eaLnBrk="1" hangingPunct="1"/>
            <a:r>
              <a:rPr kumimoji="1" lang="zh-CN" altLang="en-US" b="1" dirty="0">
                <a:solidFill>
                  <a:srgbClr val="FF66FF"/>
                </a:solidFill>
              </a:rPr>
              <a:t>时序图</a:t>
            </a:r>
            <a:r>
              <a:rPr kumimoji="1" lang="en-US" altLang="zh-CN" dirty="0">
                <a:solidFill>
                  <a:srgbClr val="0066FF"/>
                </a:solidFill>
              </a:rPr>
              <a:t>-</a:t>
            </a:r>
            <a:r>
              <a:rPr kumimoji="1" lang="zh-CN" altLang="en-US" dirty="0">
                <a:solidFill>
                  <a:srgbClr val="0066FF"/>
                </a:solidFill>
              </a:rPr>
              <a:t>反映时序电路的输出和内部状态随时钟和输入信号变化的工作波形。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410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已知逻辑电路图，分析在时钟信号</a:t>
            </a:r>
            <a:r>
              <a:rPr lang="en-US" altLang="zh-CN" dirty="0"/>
              <a:t>(</a:t>
            </a:r>
            <a:r>
              <a:rPr lang="zh-CN" altLang="en-US" dirty="0"/>
              <a:t>和输入信号</a:t>
            </a:r>
            <a:r>
              <a:rPr lang="en-US" altLang="zh-CN" dirty="0"/>
              <a:t>)</a:t>
            </a:r>
            <a:r>
              <a:rPr lang="zh-CN" altLang="en-US" dirty="0"/>
              <a:t>作用下，其状态和输出信号变化的规律，进而确定其逻辑功能</a:t>
            </a:r>
          </a:p>
          <a:p>
            <a:pPr eaLnBrk="1" hangingPunct="1"/>
            <a:r>
              <a:rPr lang="zh-CN" altLang="en-US" dirty="0"/>
              <a:t>分析：找出给定时序电路的逻辑功能，即找出在输入和</a:t>
            </a:r>
            <a:r>
              <a:rPr lang="en-US" altLang="zh-CN" dirty="0"/>
              <a:t>CLK</a:t>
            </a:r>
            <a:r>
              <a:rPr lang="zh-CN" altLang="en-US" dirty="0"/>
              <a:t>作用下，电路的次态和输出。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一般步骤：</a:t>
            </a: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①从给定电路写出存储电路中每个触发器的驱动方程</a:t>
            </a: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（输入的逻辑式），得到整个电路的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驱动方程。</a:t>
            </a:r>
            <a:endParaRPr lang="zh-CN" altLang="en-US" dirty="0">
              <a:latin typeface="楷体_GB2312" pitchFamily="49" charset="-122"/>
            </a:endParaRP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②将驱动方程代入触发器的特性方程，得到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状态方程。</a:t>
            </a: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③从给定电路写出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输出方程。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599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J=K</a:t>
            </a:r>
            <a:r>
              <a:rPr lang="zh-CN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JK</a:t>
            </a:r>
            <a:r>
              <a:rPr lang="zh-CN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触发器可以写成</a:t>
            </a:r>
            <a:r>
              <a:rPr lang="en-US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1200" baseline="30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n+1</a:t>
            </a:r>
            <a:r>
              <a:rPr lang="en-US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=J</a:t>
            </a:r>
            <a:r>
              <a:rPr lang="zh-CN" altLang="zh-CN" sz="12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⊕</a:t>
            </a:r>
            <a:r>
              <a:rPr lang="en-US" altLang="zh-CN" sz="12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1200" baseline="300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73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71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1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e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时序逻辑电路（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P259-272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ct val="30000"/>
              </a:spcAft>
            </a:pPr>
            <a:r>
              <a:rPr lang="zh-CN" altLang="en-US" dirty="0"/>
              <a:t>时序电路的分类</a:t>
            </a:r>
          </a:p>
          <a:p>
            <a:pPr>
              <a:spcAft>
                <a:spcPct val="30000"/>
              </a:spcAft>
            </a:pPr>
            <a:r>
              <a:rPr lang="zh-CN" altLang="en-US" dirty="0"/>
              <a:t>时序电路的描述方式</a:t>
            </a:r>
          </a:p>
          <a:p>
            <a:pPr>
              <a:spcAft>
                <a:spcPct val="30000"/>
              </a:spcAft>
            </a:pPr>
            <a:r>
              <a:rPr lang="zh-CN" altLang="en-US" dirty="0"/>
              <a:t>同步时序电路的分析方法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5E029-3AFC-7BC7-D82B-0BDE1B57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时序电路的分类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3F712-B4D0-DEA0-E5B8-84B7AC213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49244" cy="5947119"/>
          </a:xfrm>
        </p:spPr>
        <p:txBody>
          <a:bodyPr/>
          <a:lstStyle/>
          <a:p>
            <a:r>
              <a:rPr lang="zh-CN" altLang="en-US" dirty="0"/>
              <a:t>根据记忆电路状态更新的特点，时序电路分为同步时序电路和异步时序电路</a:t>
            </a:r>
          </a:p>
          <a:p>
            <a:endParaRPr kumimoji="1" lang="zh-CN" altLang="en-US" dirty="0">
              <a:solidFill>
                <a:srgbClr val="000000"/>
              </a:solidFill>
            </a:endParaRPr>
          </a:p>
          <a:p>
            <a:endParaRPr kumimoji="1" lang="en-US" altLang="zh-CN" dirty="0">
              <a:solidFill>
                <a:srgbClr val="000000"/>
              </a:solidFill>
            </a:endParaRPr>
          </a:p>
          <a:p>
            <a:endParaRPr kumimoji="1" lang="zh-CN" altLang="en-US" dirty="0">
              <a:solidFill>
                <a:srgbClr val="000000"/>
              </a:solidFill>
            </a:endParaRPr>
          </a:p>
          <a:p>
            <a:endParaRPr kumimoji="1" lang="zh-CN" altLang="en-US" dirty="0">
              <a:solidFill>
                <a:srgbClr val="000000"/>
              </a:solidFill>
            </a:endParaRPr>
          </a:p>
          <a:p>
            <a:endParaRPr lang="zh-CN" altLang="en-US" dirty="0"/>
          </a:p>
          <a:p>
            <a:r>
              <a:rPr lang="zh-CN" altLang="en-US" dirty="0"/>
              <a:t>同步时序电路：所有记忆电路由统一的时钟信号控制，它们的状态在同一时刻更新</a:t>
            </a:r>
          </a:p>
          <a:p>
            <a:r>
              <a:rPr lang="zh-CN" altLang="en-US" dirty="0"/>
              <a:t>异步时序电路：没有统一的时钟信号或没有时钟信号，记忆电路的</a:t>
            </a:r>
            <a:r>
              <a:rPr kumimoji="1" lang="zh-CN" altLang="en-US" dirty="0">
                <a:solidFill>
                  <a:srgbClr val="000000"/>
                </a:solidFill>
              </a:rPr>
              <a:t>状态</a:t>
            </a:r>
            <a:r>
              <a:rPr lang="zh-CN" altLang="en-US" dirty="0"/>
              <a:t>更新不是同时发生的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228112-F694-310C-6D99-FACED350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6B4EBC-2A85-E2F4-7770-E8BDCA98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CF08F0C-78B9-14B3-0A08-620FAA136CE2}"/>
              </a:ext>
            </a:extLst>
          </p:cNvPr>
          <p:cNvGrpSpPr>
            <a:grpSpLocks/>
          </p:cNvGrpSpPr>
          <p:nvPr/>
        </p:nvGrpSpPr>
        <p:grpSpPr bwMode="auto">
          <a:xfrm>
            <a:off x="4413250" y="2488271"/>
            <a:ext cx="2413000" cy="539750"/>
            <a:chOff x="2677" y="2705"/>
            <a:chExt cx="1520" cy="426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F8230574-B8C2-96BA-3F9D-F46416E67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2705"/>
              <a:ext cx="1158" cy="4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记忆电路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8503ACB1-DFB8-1380-4EED-FD0A7A6C7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" y="2906"/>
              <a:ext cx="3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3C1CC1B9-DE8F-6FCC-11D5-8DC29F6E041A}"/>
              </a:ext>
            </a:extLst>
          </p:cNvPr>
          <p:cNvGrpSpPr>
            <a:grpSpLocks/>
          </p:cNvGrpSpPr>
          <p:nvPr/>
        </p:nvGrpSpPr>
        <p:grpSpPr bwMode="auto">
          <a:xfrm>
            <a:off x="2867025" y="2739096"/>
            <a:ext cx="4281487" cy="885825"/>
            <a:chOff x="1703" y="2921"/>
            <a:chExt cx="2697" cy="558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4246449-DF99-DA40-F378-6DEDFC290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6" y="2921"/>
              <a:ext cx="2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6C849D0-C489-ECFE-17B0-689DC8C65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3472"/>
              <a:ext cx="26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36309AE-8853-C724-D34F-B875149F0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928"/>
              <a:ext cx="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38861DD9-6119-3373-3D2F-E2972F17B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2921"/>
              <a:ext cx="0" cy="5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7C042C27-006C-3D5C-26FA-E7A4DDB1F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928"/>
              <a:ext cx="0" cy="5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Text Box 13">
            <a:extLst>
              <a:ext uri="{FF2B5EF4-FFF2-40B4-BE49-F238E27FC236}">
                <a16:creationId xmlns:a16="http://schemas.microsoft.com/office/drawing/2014/main" id="{510D9279-C77F-D62B-8438-0B8D62044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1804059"/>
            <a:ext cx="1119187" cy="12239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组合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电路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0572970A-B15F-18E1-D0D5-D44F71CF2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2089809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7A17B55B-0035-B410-900D-79EF34C57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12" y="1891371"/>
            <a:ext cx="1184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输入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038B9359-EC98-A3AB-336A-56B6A1BE6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886609"/>
            <a:ext cx="1150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输出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F5AF2FD-9C46-E183-A71B-79A2BA4C3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6425" y="2089809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90ECF10D-05C6-A5DD-DEB7-EF0795BC52FB}"/>
              </a:ext>
            </a:extLst>
          </p:cNvPr>
          <p:cNvGrpSpPr>
            <a:grpSpLocks/>
          </p:cNvGrpSpPr>
          <p:nvPr/>
        </p:nvGrpSpPr>
        <p:grpSpPr bwMode="auto">
          <a:xfrm>
            <a:off x="4881562" y="3028021"/>
            <a:ext cx="1041400" cy="431800"/>
            <a:chOff x="2972" y="3135"/>
            <a:chExt cx="656" cy="272"/>
          </a:xfrm>
        </p:grpSpPr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2EB93D01-8E2E-FAD9-A9F4-8354B0F18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8" y="3135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8113F07B-AFAE-8955-F586-BA1D3335B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3177"/>
              <a:ext cx="61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/>
                <a:t>时钟</a:t>
              </a:r>
            </a:p>
          </p:txBody>
        </p:sp>
      </p:grpSp>
      <p:sp>
        <p:nvSpPr>
          <p:cNvPr id="23" name="Text Box 21">
            <a:extLst>
              <a:ext uri="{FF2B5EF4-FFF2-40B4-BE49-F238E27FC236}">
                <a16:creationId xmlns:a16="http://schemas.microsoft.com/office/drawing/2014/main" id="{E7BFC590-0C86-1783-42AC-74A73AD8C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487" y="2554946"/>
            <a:ext cx="1150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369454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8464C-CB98-B3FB-1A5C-D926816F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米利型和摩尔型时序电路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E5567-22BC-4C4C-52DC-D591ADEB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米利 </a:t>
            </a:r>
            <a:r>
              <a:rPr lang="en-US" altLang="zh-CN" dirty="0"/>
              <a:t>(Mealy)</a:t>
            </a:r>
            <a:r>
              <a:rPr lang="zh-CN" altLang="en-US" dirty="0"/>
              <a:t>型：输出是输入和状态的函数</a:t>
            </a:r>
          </a:p>
          <a:p>
            <a:r>
              <a:rPr lang="zh-CN" altLang="en-US" dirty="0"/>
              <a:t>穆尔 </a:t>
            </a:r>
            <a:r>
              <a:rPr lang="en-US" altLang="zh-CN" dirty="0"/>
              <a:t>(Moore)</a:t>
            </a:r>
            <a:r>
              <a:rPr lang="zh-CN" altLang="en-US" dirty="0"/>
              <a:t>型：输出仅是状态的函数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BAC491-230F-B37C-DBD8-CFC9A335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FE30D4-78FF-4193-67B3-99D75A6B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E906C6B-6AFE-0E16-FB12-2ABD2CB8D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339" y="3780805"/>
            <a:ext cx="1470025" cy="9810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记忆电路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4BBD848-C64D-AE5D-85A8-6E1789E7A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6177" y="4099893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DF33BD5A-6A58-4A8E-0F2C-44E7FBCFB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514" y="4522168"/>
            <a:ext cx="1741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1ABA3A72-9400-7306-A024-46696C44A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6189" y="3260105"/>
            <a:ext cx="6842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7E638F14-F267-BD23-3508-ABDAC7F21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3014" y="3261693"/>
            <a:ext cx="0" cy="1260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28">
            <a:extLst>
              <a:ext uri="{FF2B5EF4-FFF2-40B4-BE49-F238E27FC236}">
                <a16:creationId xmlns:a16="http://schemas.microsoft.com/office/drawing/2014/main" id="{EAE6F70C-B3B2-D6D1-7421-3FDC4F9CF184}"/>
              </a:ext>
            </a:extLst>
          </p:cNvPr>
          <p:cNvGrpSpPr>
            <a:grpSpLocks/>
          </p:cNvGrpSpPr>
          <p:nvPr/>
        </p:nvGrpSpPr>
        <p:grpSpPr bwMode="auto">
          <a:xfrm>
            <a:off x="2444402" y="2860055"/>
            <a:ext cx="1016000" cy="1239838"/>
            <a:chOff x="1315" y="2202"/>
            <a:chExt cx="640" cy="781"/>
          </a:xfrm>
        </p:grpSpPr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8099868B-8864-5DCA-1260-7120742E8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2202"/>
              <a:ext cx="6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46301B4-EC90-DEE3-A9DE-11B6678A1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2202"/>
              <a:ext cx="0" cy="7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07BB4AB6-0F8B-B029-C15E-1AA0070C5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552" y="4301505"/>
            <a:ext cx="966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8BF7F80C-65E4-BB6E-F33A-A8CD61677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8364" y="4306268"/>
            <a:ext cx="581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06932651-983D-8AEA-7F11-5A2CDA6B6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9389" y="4301505"/>
            <a:ext cx="0" cy="1012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A602C022-28E1-28F8-0682-E2927295E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514" y="5314330"/>
            <a:ext cx="6367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360FD57E-7F28-A9E1-A1CA-9767D563C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552" y="3060080"/>
            <a:ext cx="1003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D8CA5619-8B96-2C80-532A-A67C9ADB2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514" y="4522168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3CDB9C5B-B91A-7C62-B878-7E119B8B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289" y="2829893"/>
            <a:ext cx="90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输出</a:t>
            </a:r>
            <a:endParaRPr lang="en-US" altLang="zh-CN" sz="2400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5817B700-1CFB-ACF9-AE8F-7062F3F39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227" y="3704605"/>
            <a:ext cx="89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状态</a:t>
            </a:r>
            <a:endParaRPr lang="en-US" altLang="zh-CN" sz="2400"/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FF5573D5-A809-5E71-645C-E2F45AC8F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439" y="3488705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输入</a:t>
            </a:r>
            <a:endParaRPr lang="en-US" altLang="zh-CN" sz="2400"/>
          </a:p>
        </p:txBody>
      </p:sp>
      <p:sp>
        <p:nvSpPr>
          <p:cNvPr id="23" name="AutoShape 25">
            <a:extLst>
              <a:ext uri="{FF2B5EF4-FFF2-40B4-BE49-F238E27FC236}">
                <a16:creationId xmlns:a16="http://schemas.microsoft.com/office/drawing/2014/main" id="{8FE8DBBB-FF0A-30EB-0FF3-36C8A911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827" y="2325068"/>
            <a:ext cx="3198812" cy="26638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7B143B9B-58AE-2BAA-C3A6-F4B02E840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1989" y="2540968"/>
            <a:ext cx="1611313" cy="9810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组合电路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（输出）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E9B312DA-C869-9B94-B9EB-231063EEA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052" y="3780805"/>
            <a:ext cx="1619250" cy="9810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组合电路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（次态）</a:t>
            </a:r>
          </a:p>
        </p:txBody>
      </p:sp>
    </p:spTree>
    <p:extLst>
      <p:ext uri="{BB962C8B-B14F-4D97-AF65-F5344CB8AC3E}">
        <p14:creationId xmlns:p14="http://schemas.microsoft.com/office/powerpoint/2010/main" val="212537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931D4-CAE3-3CB9-54C2-B7A1B16B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时序电路的描述方式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BD2DB-E4AC-AAE0-8B7B-0FE92F37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逻辑方程、状态转换表（状态表） 、状态转换图（状态图）、时序波形图（时序图）、</a:t>
            </a:r>
            <a:r>
              <a:rPr lang="en-US" altLang="zh-CN" dirty="0"/>
              <a:t>HDL</a:t>
            </a:r>
            <a:r>
              <a:rPr lang="zh-CN" altLang="en-US" dirty="0"/>
              <a:t>描述</a:t>
            </a:r>
          </a:p>
          <a:p>
            <a:pPr lvl="1"/>
            <a:r>
              <a:rPr lang="zh-CN" altLang="en-US" dirty="0"/>
              <a:t>不同描述方式是等价的，可以相互转换</a:t>
            </a:r>
          </a:p>
          <a:p>
            <a:endParaRPr lang="zh-CN" altLang="en-US" dirty="0"/>
          </a:p>
          <a:p>
            <a:endParaRPr lang="zh-CN" altLang="en-US" sz="2400" dirty="0"/>
          </a:p>
          <a:p>
            <a:pPr>
              <a:buFontTx/>
              <a:buNone/>
            </a:pPr>
            <a:endParaRPr lang="en-US" altLang="zh-CN" sz="2400" dirty="0"/>
          </a:p>
          <a:p>
            <a:pPr>
              <a:buFontTx/>
              <a:buNone/>
            </a:pPr>
            <a:endParaRPr lang="zh-CN" altLang="en-US" sz="2400" dirty="0"/>
          </a:p>
          <a:p>
            <a:r>
              <a:rPr lang="zh-CN" altLang="en-US" dirty="0"/>
              <a:t>逻辑方程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B1ED5F-3F4A-F347-944E-E32F8270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D2BF57-25E1-AFF8-76F7-17B55AE8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3">
            <a:extLst>
              <a:ext uri="{FF2B5EF4-FFF2-40B4-BE49-F238E27FC236}">
                <a16:creationId xmlns:a16="http://schemas.microsoft.com/office/drawing/2014/main" id="{7152006B-7FE6-403C-D3FF-44A7CD955504}"/>
              </a:ext>
            </a:extLst>
          </p:cNvPr>
          <p:cNvGrpSpPr>
            <a:grpSpLocks/>
          </p:cNvGrpSpPr>
          <p:nvPr/>
        </p:nvGrpSpPr>
        <p:grpSpPr bwMode="auto">
          <a:xfrm>
            <a:off x="1399788" y="1987860"/>
            <a:ext cx="6840538" cy="1731963"/>
            <a:chOff x="952" y="1772"/>
            <a:chExt cx="4309" cy="1091"/>
          </a:xfrm>
        </p:grpSpPr>
        <p:grpSp>
          <p:nvGrpSpPr>
            <p:cNvPr id="7" name="Group 23">
              <a:extLst>
                <a:ext uri="{FF2B5EF4-FFF2-40B4-BE49-F238E27FC236}">
                  <a16:creationId xmlns:a16="http://schemas.microsoft.com/office/drawing/2014/main" id="{611562AF-BAD9-9371-0808-CADD19657E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7" y="2266"/>
              <a:ext cx="1520" cy="340"/>
              <a:chOff x="2677" y="2705"/>
              <a:chExt cx="1520" cy="426"/>
            </a:xfrm>
          </p:grpSpPr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2F3D424B-A6D4-8D0C-C99D-D410EDDA9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9" y="2705"/>
                <a:ext cx="1158" cy="4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b="0">
                    <a:latin typeface="Arial" panose="020B0604020202020204" pitchFamily="34" charset="0"/>
                  </a:rPr>
                  <a:t>记忆电路</a:t>
                </a:r>
              </a:p>
            </p:txBody>
          </p:sp>
          <p:sp>
            <p:nvSpPr>
              <p:cNvPr id="22" name="Line 25">
                <a:extLst>
                  <a:ext uri="{FF2B5EF4-FFF2-40B4-BE49-F238E27FC236}">
                    <a16:creationId xmlns:a16="http://schemas.microsoft.com/office/drawing/2014/main" id="{C49FC3B9-93C6-B6DA-C088-D3D819367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" y="2906"/>
                <a:ext cx="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26">
              <a:extLst>
                <a:ext uri="{FF2B5EF4-FFF2-40B4-BE49-F238E27FC236}">
                  <a16:creationId xmlns:a16="http://schemas.microsoft.com/office/drawing/2014/main" id="{F342EBB0-D37C-A481-33E8-16FAC75F3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3" y="2424"/>
              <a:ext cx="2697" cy="439"/>
              <a:chOff x="1703" y="2921"/>
              <a:chExt cx="2697" cy="558"/>
            </a:xfrm>
          </p:grpSpPr>
          <p:sp>
            <p:nvSpPr>
              <p:cNvPr id="16" name="Line 27">
                <a:extLst>
                  <a:ext uri="{FF2B5EF4-FFF2-40B4-BE49-F238E27FC236}">
                    <a16:creationId xmlns:a16="http://schemas.microsoft.com/office/drawing/2014/main" id="{E2B9441E-8A5E-E16C-EDCE-B4F434616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6" y="2921"/>
                <a:ext cx="2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28">
                <a:extLst>
                  <a:ext uri="{FF2B5EF4-FFF2-40B4-BE49-F238E27FC236}">
                    <a16:creationId xmlns:a16="http://schemas.microsoft.com/office/drawing/2014/main" id="{33F58C13-A7E7-76FA-0C56-38D295581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3472"/>
                <a:ext cx="26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9">
                <a:extLst>
                  <a:ext uri="{FF2B5EF4-FFF2-40B4-BE49-F238E27FC236}">
                    <a16:creationId xmlns:a16="http://schemas.microsoft.com/office/drawing/2014/main" id="{DE26C4F2-DFDF-06F9-B8A4-26DDA7E5A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2928"/>
                <a:ext cx="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30">
                <a:extLst>
                  <a:ext uri="{FF2B5EF4-FFF2-40B4-BE49-F238E27FC236}">
                    <a16:creationId xmlns:a16="http://schemas.microsoft.com/office/drawing/2014/main" id="{CA5FE1B2-677A-D884-C055-B97C5A595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9" y="2921"/>
                <a:ext cx="0" cy="55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31">
                <a:extLst>
                  <a:ext uri="{FF2B5EF4-FFF2-40B4-BE49-F238E27FC236}">
                    <a16:creationId xmlns:a16="http://schemas.microsoft.com/office/drawing/2014/main" id="{024950BB-59F7-B068-089F-EEA1756EF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2928"/>
                <a:ext cx="0" cy="55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 Box 32">
              <a:extLst>
                <a:ext uri="{FF2B5EF4-FFF2-40B4-BE49-F238E27FC236}">
                  <a16:creationId xmlns:a16="http://schemas.microsoft.com/office/drawing/2014/main" id="{246705E1-3A82-7496-398C-45E0495FD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1835"/>
              <a:ext cx="705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latin typeface="Arial" panose="020B0604020202020204" pitchFamily="34" charset="0"/>
                </a:rPr>
                <a:t>组合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latin typeface="Arial" panose="020B0604020202020204" pitchFamily="34" charset="0"/>
                </a:rPr>
                <a:t>电路</a:t>
              </a:r>
            </a:p>
          </p:txBody>
        </p:sp>
        <p:sp>
          <p:nvSpPr>
            <p:cNvPr id="10" name="Line 33">
              <a:extLst>
                <a:ext uri="{FF2B5EF4-FFF2-40B4-BE49-F238E27FC236}">
                  <a16:creationId xmlns:a16="http://schemas.microsoft.com/office/drawing/2014/main" id="{A821D2AD-26C1-8805-C37C-F1F1937D9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2015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34">
              <a:extLst>
                <a:ext uri="{FF2B5EF4-FFF2-40B4-BE49-F238E27FC236}">
                  <a16:creationId xmlns:a16="http://schemas.microsoft.com/office/drawing/2014/main" id="{D76B9023-D1B3-D9E8-E65B-FE75EB964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1775"/>
              <a:ext cx="746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输入 </a:t>
              </a:r>
              <a:r>
                <a:rPr lang="en-US" altLang="zh-CN" sz="2400" b="0"/>
                <a:t>X</a:t>
              </a:r>
            </a:p>
          </p:txBody>
        </p:sp>
        <p:sp>
          <p:nvSpPr>
            <p:cNvPr id="12" name="Text Box 35">
              <a:extLst>
                <a:ext uri="{FF2B5EF4-FFF2-40B4-BE49-F238E27FC236}">
                  <a16:creationId xmlns:a16="http://schemas.microsoft.com/office/drawing/2014/main" id="{76D5DF88-9704-E646-D8E1-8D6695D2B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772"/>
              <a:ext cx="725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输出 </a:t>
              </a:r>
              <a:r>
                <a:rPr lang="en-US" altLang="zh-CN" sz="2400" b="0"/>
                <a:t>Y</a:t>
              </a:r>
            </a:p>
          </p:txBody>
        </p:sp>
        <p:sp>
          <p:nvSpPr>
            <p:cNvPr id="13" name="Line 36">
              <a:extLst>
                <a:ext uri="{FF2B5EF4-FFF2-40B4-BE49-F238E27FC236}">
                  <a16:creationId xmlns:a16="http://schemas.microsoft.com/office/drawing/2014/main" id="{44D1782E-E8DE-62B9-4A16-779664FAC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015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40">
              <a:extLst>
                <a:ext uri="{FF2B5EF4-FFF2-40B4-BE49-F238E27FC236}">
                  <a16:creationId xmlns:a16="http://schemas.microsoft.com/office/drawing/2014/main" id="{5412C9BF-02B9-5B11-8E84-52373463A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2199"/>
              <a:ext cx="725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状态 </a:t>
              </a:r>
              <a:r>
                <a:rPr lang="en-US" altLang="zh-CN" sz="2400" b="0"/>
                <a:t>Q</a:t>
              </a:r>
            </a:p>
          </p:txBody>
        </p:sp>
        <p:sp>
          <p:nvSpPr>
            <p:cNvPr id="15" name="Rectangle 41">
              <a:extLst>
                <a:ext uri="{FF2B5EF4-FFF2-40B4-BE49-F238E27FC236}">
                  <a16:creationId xmlns:a16="http://schemas.microsoft.com/office/drawing/2014/main" id="{7560FC3A-EBC2-1BF8-7CA5-A0063558E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1" y="2523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Z</a:t>
              </a:r>
              <a:endParaRPr lang="zh-CN" altLang="en-US" sz="2400" b="0"/>
            </a:p>
          </p:txBody>
        </p:sp>
      </p:grpSp>
      <p:sp>
        <p:nvSpPr>
          <p:cNvPr id="23" name="Rectangle 42">
            <a:extLst>
              <a:ext uri="{FF2B5EF4-FFF2-40B4-BE49-F238E27FC236}">
                <a16:creationId xmlns:a16="http://schemas.microsoft.com/office/drawing/2014/main" id="{E9FAA347-6D9C-DF1F-D931-33EC2A7E5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444" y="4364212"/>
            <a:ext cx="7237413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激励方程：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n+1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Z, </a:t>
            </a:r>
            <a:r>
              <a:rPr lang="en-US" altLang="zh-CN" sz="24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---- 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	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 ---- Moore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113824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A250F-90D2-899F-8A03-CA6BB09E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逻辑方程和状态表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7D992B-CADC-8B79-D8D3-A10BDFFA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04F9F8-53EB-2D4C-6962-32CDDE95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7792FAA-2D18-8B99-4D77-50D44F4FF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3573463"/>
            <a:ext cx="262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 </a:t>
            </a:r>
            <a:r>
              <a:rPr lang="zh-CN" altLang="en-US" sz="2400">
                <a:latin typeface="Arial" panose="020B0604020202020204" pitchFamily="34" charset="0"/>
              </a:rPr>
              <a:t>状态表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en-US" altLang="zh-CN" sz="2400">
                <a:latin typeface="Arial" panose="020B0604020202020204" pitchFamily="34" charset="0"/>
              </a:rPr>
              <a:t>Mealy</a:t>
            </a:r>
            <a:r>
              <a:rPr lang="zh-CN" altLang="en-US" sz="2400">
                <a:latin typeface="Arial" panose="020B0604020202020204" pitchFamily="34" charset="0"/>
              </a:rPr>
              <a:t>型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A59A194-A0DA-BC2F-152D-681E07597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448945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30000">
                <a:ea typeface="楷体_GB2312" pitchFamily="49" charset="-122"/>
              </a:rPr>
              <a:t>n</a:t>
            </a:r>
            <a:endParaRPr kumimoji="1" lang="en-US" altLang="zh-CN" sz="2400">
              <a:ea typeface="楷体_GB2312" pitchFamily="49" charset="-12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4576198-9708-0B77-B14E-C8C7FD6C3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88" y="4227513"/>
            <a:ext cx="113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30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 Y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923CD7C2-DD78-6E7D-02AE-A08AC1FE8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4803775"/>
            <a:ext cx="661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X=i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28BDD9E-F5A9-3753-0118-F1D2E4840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975" y="4803775"/>
            <a:ext cx="67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X=j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2BD4C0F-5AF0-F18C-1F0E-D815B5B0C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4160838"/>
            <a:ext cx="0" cy="1790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B3C01FC1-37B1-8866-5598-011CD4441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888" y="4759325"/>
            <a:ext cx="0" cy="1192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399C3511-2D4E-DE38-F6CC-0053EFD48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4759325"/>
            <a:ext cx="1906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1CD8024F-2A09-E24D-3597-946439B5B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5537200"/>
            <a:ext cx="7207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>
                <a:latin typeface="宋体" panose="02010600030101010101" pitchFamily="2" charset="-122"/>
              </a:rPr>
              <a:t>…/…</a:t>
            </a:r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1FE9A489-5F6D-E19E-E357-30344BFE85B4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4160838"/>
            <a:ext cx="2700337" cy="1790700"/>
            <a:chOff x="3765" y="1094"/>
            <a:chExt cx="1542" cy="1157"/>
          </a:xfrm>
        </p:grpSpPr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A1CFEFF2-C6ED-D07E-DB82-3ED13D488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1094"/>
              <a:ext cx="1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0811D4A6-F089-FAB6-A8B7-23BFF7490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1843"/>
              <a:ext cx="1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95119A0-305A-4FAF-6728-C452C0EAE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2251"/>
              <a:ext cx="1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Text Box 16">
            <a:extLst>
              <a:ext uri="{FF2B5EF4-FFF2-40B4-BE49-F238E27FC236}">
                <a16:creationId xmlns:a16="http://schemas.microsoft.com/office/drawing/2014/main" id="{382DA639-A238-EAB4-A363-ED152E20D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5537200"/>
            <a:ext cx="7207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>
                <a:latin typeface="宋体" panose="02010600030101010101" pitchFamily="2" charset="-122"/>
              </a:rPr>
              <a:t>…/…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97AF45F7-0518-1A5B-87BC-8E9C8C6E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5537200"/>
            <a:ext cx="3587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>
                <a:latin typeface="宋体" panose="02010600030101010101" pitchFamily="2" charset="-122"/>
              </a:rPr>
              <a:t>…</a:t>
            </a:r>
          </a:p>
        </p:txBody>
      </p:sp>
      <p:grpSp>
        <p:nvGrpSpPr>
          <p:cNvPr id="21" name="Group 38">
            <a:extLst>
              <a:ext uri="{FF2B5EF4-FFF2-40B4-BE49-F238E27FC236}">
                <a16:creationId xmlns:a16="http://schemas.microsoft.com/office/drawing/2014/main" id="{069E5F54-1A3F-2AA3-CFCD-F2BBCD8DBADE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3575050"/>
            <a:ext cx="2952750" cy="2376488"/>
            <a:chOff x="3084" y="2252"/>
            <a:chExt cx="1860" cy="1497"/>
          </a:xfrm>
        </p:grpSpPr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5235DC2D-6E4E-E566-724C-C4EF73231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8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30000">
                  <a:ea typeface="楷体_GB2312" pitchFamily="49" charset="-122"/>
                </a:rPr>
                <a:t>n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F6EABC71-681B-82D0-A89A-B8058F26A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2664"/>
              <a:ext cx="4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30000">
                  <a:ea typeface="楷体_GB2312" pitchFamily="49" charset="-122"/>
                </a:rPr>
                <a:t>n+1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3B24BBDF-8209-614D-B8C1-8D15872A1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3027"/>
              <a:ext cx="4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X=i</a:t>
              </a:r>
            </a:p>
          </p:txBody>
        </p:sp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id="{1166B1CB-07EE-6EAA-83EA-DCAD459D1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0" y="3027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X=j</a:t>
              </a:r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FD2723D6-28E3-3FE9-1114-F47256A82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2622"/>
              <a:ext cx="0" cy="11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E1ADDE3A-BA7A-0509-1DD5-05722880F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998"/>
              <a:ext cx="0" cy="7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90640119-C6AA-25FF-D6E7-9DC85FE26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2998"/>
              <a:ext cx="1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31075D24-8B65-DB3A-D2DE-E6A7E07F9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8" y="3488"/>
              <a:ext cx="226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>
                  <a:latin typeface="宋体" panose="02010600030101010101" pitchFamily="2" charset="-122"/>
                </a:rPr>
                <a:t>…</a:t>
              </a:r>
            </a:p>
          </p:txBody>
        </p:sp>
        <p:grpSp>
          <p:nvGrpSpPr>
            <p:cNvPr id="30" name="Group 26">
              <a:extLst>
                <a:ext uri="{FF2B5EF4-FFF2-40B4-BE49-F238E27FC236}">
                  <a16:creationId xmlns:a16="http://schemas.microsoft.com/office/drawing/2014/main" id="{DD3B599D-6814-177C-8C5A-28E9B3D51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7" y="2622"/>
              <a:ext cx="1837" cy="1127"/>
              <a:chOff x="3628" y="2772"/>
              <a:chExt cx="1928" cy="1157"/>
            </a:xfrm>
          </p:grpSpPr>
          <p:sp>
            <p:nvSpPr>
              <p:cNvPr id="37" name="Line 27">
                <a:extLst>
                  <a:ext uri="{FF2B5EF4-FFF2-40B4-BE49-F238E27FC236}">
                    <a16:creationId xmlns:a16="http://schemas.microsoft.com/office/drawing/2014/main" id="{3A1A69E4-3E66-A781-1687-179C3D039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2772"/>
                <a:ext cx="19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28">
                <a:extLst>
                  <a:ext uri="{FF2B5EF4-FFF2-40B4-BE49-F238E27FC236}">
                    <a16:creationId xmlns:a16="http://schemas.microsoft.com/office/drawing/2014/main" id="{20B6B996-4A05-8C28-5B30-095AA1D4C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3521"/>
                <a:ext cx="19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9">
                <a:extLst>
                  <a:ext uri="{FF2B5EF4-FFF2-40B4-BE49-F238E27FC236}">
                    <a16:creationId xmlns:a16="http://schemas.microsoft.com/office/drawing/2014/main" id="{40246CA7-3A45-51CF-1176-0EB11B45A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3929"/>
                <a:ext cx="19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14A1F431-94B4-9259-E4FD-49EDA47DF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3488"/>
              <a:ext cx="397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0DEB0D86-25CC-E2C9-5202-42F45CE11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3488"/>
              <a:ext cx="226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1A2B8B15-EBF7-CFF2-FE8A-8D3EE9A4F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622"/>
              <a:ext cx="0" cy="11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787EABE3-86A3-E9B7-CC09-B3EE06509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287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Y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C4C3D56A-CAB3-E861-2D12-0691D30FB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3483"/>
              <a:ext cx="226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0D277979-9551-68F1-A50A-3524ABA92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2252"/>
              <a:ext cx="17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 状态表</a:t>
              </a:r>
              <a:r>
                <a:rPr lang="en-US" altLang="zh-CN" sz="2400">
                  <a:latin typeface="宋体" panose="02010600030101010101" pitchFamily="2" charset="-122"/>
                </a:rPr>
                <a:t>(</a:t>
              </a:r>
              <a:r>
                <a:rPr lang="zh-CN" altLang="ja-JP" sz="2400">
                  <a:latin typeface="Arial" panose="020B0604020202020204" pitchFamily="34" charset="0"/>
                </a:rPr>
                <a:t>Moore</a:t>
              </a:r>
              <a:r>
                <a:rPr lang="zh-CN" altLang="en-US" sz="2400">
                  <a:latin typeface="Arial" panose="020B0604020202020204" pitchFamily="34" charset="0"/>
                </a:rPr>
                <a:t>型</a:t>
              </a:r>
              <a:r>
                <a:rPr lang="en-US" altLang="zh-CN" sz="2400">
                  <a:latin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40" name="Rectangle 36">
            <a:extLst>
              <a:ext uri="{FF2B5EF4-FFF2-40B4-BE49-F238E27FC236}">
                <a16:creationId xmlns:a16="http://schemas.microsoft.com/office/drawing/2014/main" id="{CE0C9343-561B-36A2-4571-D6CAFBC77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15" y="983018"/>
            <a:ext cx="7237412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激励方程：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zh-CN" altLang="en-US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n+1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Z, </a:t>
            </a:r>
            <a:r>
              <a:rPr lang="en-US" altLang="zh-CN" sz="24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---- 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</a:t>
            </a:r>
            <a:r>
              <a:rPr lang="en-US" altLang="zh-CN" sz="16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 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---- Moore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313913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F7551-BADE-1D8E-72B1-610F0D62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状态图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04DAA6-9065-110E-96CA-331B518E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4B66B-5C32-72F9-0533-5FDEAB94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5AB94AAA-7ABA-769E-962C-4D55A53B2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15" y="983018"/>
            <a:ext cx="7237412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激励方程：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zh-CN" altLang="en-US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n+1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Z, </a:t>
            </a:r>
            <a:r>
              <a:rPr lang="en-US" altLang="zh-CN" sz="24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---- 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</a:t>
            </a:r>
            <a:r>
              <a:rPr lang="en-US" altLang="zh-CN" sz="16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 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---- Moore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5DF24A6-D98D-A396-BB67-9AF9E1040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959" y="3883657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>
                <a:ea typeface="楷体_GB2312" pitchFamily="49" charset="-122"/>
              </a:rPr>
              <a:t>Q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4FEF891-FA89-EEDF-8774-5C9AA4EA2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922" y="3736020"/>
            <a:ext cx="1065212" cy="838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8C5CDA0F-D456-66F6-ADB2-04B6F7A29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39" y="4614365"/>
            <a:ext cx="2757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状态图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米利型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Group 49">
            <a:extLst>
              <a:ext uri="{FF2B5EF4-FFF2-40B4-BE49-F238E27FC236}">
                <a16:creationId xmlns:a16="http://schemas.microsoft.com/office/drawing/2014/main" id="{AE88C6CF-BA14-257A-464C-DD9654FF702E}"/>
              </a:ext>
            </a:extLst>
          </p:cNvPr>
          <p:cNvGrpSpPr>
            <a:grpSpLocks/>
          </p:cNvGrpSpPr>
          <p:nvPr/>
        </p:nvGrpSpPr>
        <p:grpSpPr bwMode="auto">
          <a:xfrm>
            <a:off x="4788024" y="3609477"/>
            <a:ext cx="2771775" cy="1524000"/>
            <a:chOff x="3251" y="1094"/>
            <a:chExt cx="1746" cy="960"/>
          </a:xfrm>
        </p:grpSpPr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C0321A78-9B04-CF00-1C46-41F11C2D5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" y="1289"/>
              <a:ext cx="5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b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Q/Y</a:t>
              </a:r>
            </a:p>
          </p:txBody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C4DD4386-FE16-8E2C-C62F-B8E2165CC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196"/>
              <a:ext cx="719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C430AF30-7EED-CFF5-8554-B734E6956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1094"/>
              <a:ext cx="24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X</a:t>
              </a: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2BB57EB8-70D5-3A8E-7F60-B026D5E46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9" y="1458"/>
              <a:ext cx="4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A320C554-F4E4-A5BA-6A8B-AFCDAE388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1727"/>
              <a:ext cx="17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状态图</a:t>
              </a:r>
              <a:r>
                <a:rPr lang="en-US" altLang="zh-CN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lang="zh-CN" altLang="en-US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穆尔型</a:t>
              </a:r>
              <a:r>
                <a:rPr lang="en-US" altLang="zh-CN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</a:p>
          </p:txBody>
        </p:sp>
      </p:grpSp>
      <p:sp>
        <p:nvSpPr>
          <p:cNvPr id="16" name="Line 12">
            <a:extLst>
              <a:ext uri="{FF2B5EF4-FFF2-40B4-BE49-F238E27FC236}">
                <a16:creationId xmlns:a16="http://schemas.microsoft.com/office/drawing/2014/main" id="{BFE80D86-C798-B90B-0198-B79C3B0BF9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4897" y="4170995"/>
            <a:ext cx="935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45">
            <a:extLst>
              <a:ext uri="{FF2B5EF4-FFF2-40B4-BE49-F238E27FC236}">
                <a16:creationId xmlns:a16="http://schemas.microsoft.com/office/drawing/2014/main" id="{D96ECDE4-4C3A-F9D4-D2BD-897FAB99E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5222" y="3631245"/>
            <a:ext cx="709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X/Y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66DDCF-787E-E7C2-5DDC-40BC16B2B1AF}"/>
              </a:ext>
            </a:extLst>
          </p:cNvPr>
          <p:cNvSpPr txBox="1"/>
          <p:nvPr/>
        </p:nvSpPr>
        <p:spPr>
          <a:xfrm>
            <a:off x="1087143" y="5211288"/>
            <a:ext cx="27001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转换到另一个，同时输出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变化，两个都受到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直接影响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2717CE-F377-62F4-62C2-EEE645EDF51E}"/>
              </a:ext>
            </a:extLst>
          </p:cNvPr>
          <p:cNvSpPr txBox="1"/>
          <p:nvPr/>
        </p:nvSpPr>
        <p:spPr>
          <a:xfrm>
            <a:off x="4922746" y="5150541"/>
            <a:ext cx="2700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转换到另一个，在某个状态下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值确定，与当前输入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无关，只有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直接受到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影响</a:t>
            </a:r>
          </a:p>
        </p:txBody>
      </p:sp>
    </p:spTree>
    <p:extLst>
      <p:ext uri="{BB962C8B-B14F-4D97-AF65-F5344CB8AC3E}">
        <p14:creationId xmlns:p14="http://schemas.microsoft.com/office/powerpoint/2010/main" val="359505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9656D-6DCF-7D47-B7A9-C1AAB583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：时序电路描述方式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69688-81EE-9780-4C49-523023EB1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5BE727-1B8F-A923-2259-504FCDEC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9892B-FF2C-BD0C-2A54-25D76A6B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8903F-B4DE-982E-D03E-DC1FABA17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46" y="1483074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输出方程</a:t>
            </a:r>
            <a:endParaRPr lang="zh-CN" altLang="en-US" sz="24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DF44B5-3328-8F38-3A84-3E8D5C039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779452"/>
              </p:ext>
            </p:extLst>
          </p:nvPr>
        </p:nvGraphicFramePr>
        <p:xfrm>
          <a:off x="632096" y="2014886"/>
          <a:ext cx="2324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15559" imgH="253890" progId="Equation.3">
                  <p:embed/>
                </p:oleObj>
              </mc:Choice>
              <mc:Fallback>
                <p:oleObj name="公式" r:id="rId2" imgW="1015559" imgH="253890" progId="Equation.3">
                  <p:embed/>
                  <p:pic>
                    <p:nvPicPr>
                      <p:cNvPr id="14909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096" y="2014886"/>
                        <a:ext cx="2324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6C8335A-530A-4E9A-A5E1-5AC19D653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8859"/>
              </p:ext>
            </p:extLst>
          </p:nvPr>
        </p:nvGraphicFramePr>
        <p:xfrm>
          <a:off x="655908" y="3808761"/>
          <a:ext cx="24479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79032" imgH="241195" progId="Equation.3">
                  <p:embed/>
                </p:oleObj>
              </mc:Choice>
              <mc:Fallback>
                <p:oleObj name="公式" r:id="rId4" imgW="1079032" imgH="241195" progId="Equation.3">
                  <p:embed/>
                  <p:pic>
                    <p:nvPicPr>
                      <p:cNvPr id="14909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08" y="3808761"/>
                        <a:ext cx="24479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1A2F87D-3F9B-DDB2-2781-D0FEA8741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491881"/>
              </p:ext>
            </p:extLst>
          </p:nvPr>
        </p:nvGraphicFramePr>
        <p:xfrm>
          <a:off x="628921" y="3146774"/>
          <a:ext cx="14859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47419" imgH="266584" progId="Equation.3">
                  <p:embed/>
                </p:oleObj>
              </mc:Choice>
              <mc:Fallback>
                <p:oleObj name="公式" r:id="rId6" imgW="647419" imgH="266584" progId="Equation.3">
                  <p:embed/>
                  <p:pic>
                    <p:nvPicPr>
                      <p:cNvPr id="14909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21" y="3146774"/>
                        <a:ext cx="14859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91AF66E-BFA3-031B-BE32-D69E2232F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46" y="2610199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</a:rPr>
              <a:t>激励方程</a:t>
            </a:r>
            <a:endParaRPr lang="zh-CN" altLang="en-US" sz="24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6FD41CE-E5EA-3CDF-B223-06267D144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843962"/>
              </p:ext>
            </p:extLst>
          </p:nvPr>
        </p:nvGraphicFramePr>
        <p:xfrm>
          <a:off x="2537096" y="4981924"/>
          <a:ext cx="26352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588" imgH="241195" progId="Equation.3">
                  <p:embed/>
                </p:oleObj>
              </mc:Choice>
              <mc:Fallback>
                <p:oleObj name="公式" r:id="rId8" imgW="1180588" imgH="241195" progId="Equation.3">
                  <p:embed/>
                  <p:pic>
                    <p:nvPicPr>
                      <p:cNvPr id="1490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96" y="4981924"/>
                        <a:ext cx="26352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CABA2FB-ED99-7DA0-737D-8535F18CA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233886"/>
              </p:ext>
            </p:extLst>
          </p:nvPr>
        </p:nvGraphicFramePr>
        <p:xfrm>
          <a:off x="643208" y="4937474"/>
          <a:ext cx="1573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8975" imgH="266584" progId="Equation.3">
                  <p:embed/>
                </p:oleObj>
              </mc:Choice>
              <mc:Fallback>
                <p:oleObj name="公式" r:id="rId10" imgW="748975" imgH="266584" progId="Equation.3">
                  <p:embed/>
                  <p:pic>
                    <p:nvPicPr>
                      <p:cNvPr id="14909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08" y="4937474"/>
                        <a:ext cx="1573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8218E94-9848-149C-E8D5-843B4F5B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08" y="4426299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</a:rPr>
              <a:t>状态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endParaRPr lang="zh-CN" altLang="en-US" sz="24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8902FBFD-4C9B-9517-1F8D-2B66B49FC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15003"/>
              </p:ext>
            </p:extLst>
          </p:nvPr>
        </p:nvGraphicFramePr>
        <p:xfrm>
          <a:off x="5182955" y="1335281"/>
          <a:ext cx="4443412" cy="386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2" imgW="2721900" imgH="2525631" progId="Word.Picture.8">
                  <p:embed/>
                </p:oleObj>
              </mc:Choice>
              <mc:Fallback>
                <p:oleObj name="Picture" r:id="rId12" imgW="2721900" imgH="2525631" progId="Word.Picture.8">
                  <p:embed/>
                  <p:pic>
                    <p:nvPicPr>
                      <p:cNvPr id="1843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955" y="1335281"/>
                        <a:ext cx="4443412" cy="386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3">
            <a:extLst>
              <a:ext uri="{FF2B5EF4-FFF2-40B4-BE49-F238E27FC236}">
                <a16:creationId xmlns:a16="http://schemas.microsoft.com/office/drawing/2014/main" id="{1A511806-DA0A-BAC3-2C92-ED7C3A2E1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555" y="5721119"/>
            <a:ext cx="3194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型时序电路</a:t>
            </a:r>
          </a:p>
        </p:txBody>
      </p:sp>
    </p:spTree>
    <p:extLst>
      <p:ext uri="{BB962C8B-B14F-4D97-AF65-F5344CB8AC3E}">
        <p14:creationId xmlns:p14="http://schemas.microsoft.com/office/powerpoint/2010/main" val="2784550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63A00-2923-3522-7768-0960F24D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：时序电路描述方式（续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7A935-FD55-37F9-D78C-7BBCA4B7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D1E68C-68A4-80B5-4054-F589DFDC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A01300-F3F1-AF69-6997-BF0BB21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23" name="Object 30">
            <a:extLst>
              <a:ext uri="{FF2B5EF4-FFF2-40B4-BE49-F238E27FC236}">
                <a16:creationId xmlns:a16="http://schemas.microsoft.com/office/drawing/2014/main" id="{DF4E6458-0BD9-58CE-4CA6-DAAB9456A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580982"/>
              </p:ext>
            </p:extLst>
          </p:nvPr>
        </p:nvGraphicFramePr>
        <p:xfrm>
          <a:off x="6252621" y="4005030"/>
          <a:ext cx="26749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15559" imgH="253890" progId="Equation.3">
                  <p:embed/>
                </p:oleObj>
              </mc:Choice>
              <mc:Fallback>
                <p:oleObj name="公式" r:id="rId2" imgW="1015559" imgH="253890" progId="Equation.3">
                  <p:embed/>
                  <p:pic>
                    <p:nvPicPr>
                      <p:cNvPr id="1948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2621" y="4005030"/>
                        <a:ext cx="267493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>
            <a:extLst>
              <a:ext uri="{FF2B5EF4-FFF2-40B4-BE49-F238E27FC236}">
                <a16:creationId xmlns:a16="http://schemas.microsoft.com/office/drawing/2014/main" id="{3E8634F2-F6F1-1F32-C40F-3B6535812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74682"/>
              </p:ext>
            </p:extLst>
          </p:nvPr>
        </p:nvGraphicFramePr>
        <p:xfrm>
          <a:off x="6206583" y="3174768"/>
          <a:ext cx="30892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80588" imgH="241195" progId="Equation.3">
                  <p:embed/>
                </p:oleObj>
              </mc:Choice>
              <mc:Fallback>
                <p:oleObj name="公式" r:id="rId4" imgW="1180588" imgH="241195" progId="Equation.3">
                  <p:embed/>
                  <p:pic>
                    <p:nvPicPr>
                      <p:cNvPr id="1948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6583" y="3174768"/>
                        <a:ext cx="30892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>
            <a:extLst>
              <a:ext uri="{FF2B5EF4-FFF2-40B4-BE49-F238E27FC236}">
                <a16:creationId xmlns:a16="http://schemas.microsoft.com/office/drawing/2014/main" id="{875E7BC3-9B97-C1B7-70EC-F8C8242E1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4518"/>
              </p:ext>
            </p:extLst>
          </p:nvPr>
        </p:nvGraphicFramePr>
        <p:xfrm>
          <a:off x="6251033" y="2233380"/>
          <a:ext cx="18923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48975" imgH="266584" progId="Equation.3">
                  <p:embed/>
                </p:oleObj>
              </mc:Choice>
              <mc:Fallback>
                <p:oleObj name="公式" r:id="rId6" imgW="748975" imgH="266584" progId="Equation.3">
                  <p:embed/>
                  <p:pic>
                    <p:nvPicPr>
                      <p:cNvPr id="1948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033" y="2233380"/>
                        <a:ext cx="18923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3">
            <a:extLst>
              <a:ext uri="{FF2B5EF4-FFF2-40B4-BE49-F238E27FC236}">
                <a16:creationId xmlns:a16="http://schemas.microsoft.com/office/drawing/2014/main" id="{A4FDEFF2-9478-64B0-F1E7-261BCC17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555" y="5721119"/>
            <a:ext cx="3194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型时序电路</a:t>
            </a: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199D6A3E-B64A-FF5C-C8D3-2CA87A68E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53564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AB88AD68-C627-D351-A31D-E03ACF30F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067331"/>
            <a:ext cx="10493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0A41F4A9-24F6-CAF0-9259-FE89E7F48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48" y="3076731"/>
            <a:ext cx="10509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FDF0CDEF-13A4-16E0-3CA1-FF08800EB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61" y="356409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0 1</a:t>
            </a:r>
          </a:p>
        </p:txBody>
      </p:sp>
      <p:graphicFrame>
        <p:nvGraphicFramePr>
          <p:cNvPr id="41" name="Object 17">
            <a:extLst>
              <a:ext uri="{FF2B5EF4-FFF2-40B4-BE49-F238E27FC236}">
                <a16:creationId xmlns:a16="http://schemas.microsoft.com/office/drawing/2014/main" id="{09617E85-1A9C-CB23-EC6A-0F170FDD9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629872"/>
              </p:ext>
            </p:extLst>
          </p:nvPr>
        </p:nvGraphicFramePr>
        <p:xfrm>
          <a:off x="476136" y="2146456"/>
          <a:ext cx="9223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0835" imgH="241195" progId="Equation.3">
                  <p:embed/>
                </p:oleObj>
              </mc:Choice>
              <mc:Fallback>
                <p:oleObj name="公式" r:id="rId8" imgW="380835" imgH="241195" progId="Equation.3">
                  <p:embed/>
                  <p:pic>
                    <p:nvPicPr>
                      <p:cNvPr id="10" name="Object 17">
                        <a:extLst>
                          <a:ext uri="{FF2B5EF4-FFF2-40B4-BE49-F238E27FC236}">
                            <a16:creationId xmlns:a16="http://schemas.microsoft.com/office/drawing/2014/main" id="{0A9B2E35-285C-BD8F-84BD-937595B17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36" y="2146456"/>
                        <a:ext cx="922337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8">
            <a:extLst>
              <a:ext uri="{FF2B5EF4-FFF2-40B4-BE49-F238E27FC236}">
                <a16:creationId xmlns:a16="http://schemas.microsoft.com/office/drawing/2014/main" id="{2BFD55D6-6E38-51B8-3689-5877E0B76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822812"/>
              </p:ext>
            </p:extLst>
          </p:nvPr>
        </p:nvGraphicFramePr>
        <p:xfrm>
          <a:off x="2001723" y="1924206"/>
          <a:ext cx="162083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23586" imgH="241195" progId="Equation.3">
                  <p:embed/>
                </p:oleObj>
              </mc:Choice>
              <mc:Fallback>
                <p:oleObj name="公式" r:id="rId10" imgW="723586" imgH="241195" progId="Equation.3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0EAC2507-FE2B-B7C9-B759-AC28F4D33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723" y="1924206"/>
                        <a:ext cx="162083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19">
            <a:extLst>
              <a:ext uri="{FF2B5EF4-FFF2-40B4-BE49-F238E27FC236}">
                <a16:creationId xmlns:a16="http://schemas.microsoft.com/office/drawing/2014/main" id="{32504806-87CF-5C90-9E37-A99A0B5DE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023" y="2536981"/>
            <a:ext cx="1303338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X=1</a:t>
            </a:r>
          </a:p>
        </p:txBody>
      </p:sp>
      <p:sp>
        <p:nvSpPr>
          <p:cNvPr id="44" name="Rectangle 20">
            <a:extLst>
              <a:ext uri="{FF2B5EF4-FFF2-40B4-BE49-F238E27FC236}">
                <a16:creationId xmlns:a16="http://schemas.microsoft.com/office/drawing/2014/main" id="{43027A40-DFBC-7BCE-2703-3F757B73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861" y="2536981"/>
            <a:ext cx="1300162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45" name="Line 21">
            <a:extLst>
              <a:ext uri="{FF2B5EF4-FFF2-40B4-BE49-F238E27FC236}">
                <a16:creationId xmlns:a16="http://schemas.microsoft.com/office/drawing/2014/main" id="{DF5D2BB3-5800-DF14-9203-A5427B643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1835306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22">
            <a:extLst>
              <a:ext uri="{FF2B5EF4-FFF2-40B4-BE49-F238E27FC236}">
                <a16:creationId xmlns:a16="http://schemas.microsoft.com/office/drawing/2014/main" id="{306134B8-1092-30AA-55FA-E93B52576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5040468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23">
            <a:extLst>
              <a:ext uri="{FF2B5EF4-FFF2-40B4-BE49-F238E27FC236}">
                <a16:creationId xmlns:a16="http://schemas.microsoft.com/office/drawing/2014/main" id="{412791E2-C6C5-0A22-F72E-39F06D34C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1835306"/>
            <a:ext cx="0" cy="3205162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24">
            <a:extLst>
              <a:ext uri="{FF2B5EF4-FFF2-40B4-BE49-F238E27FC236}">
                <a16:creationId xmlns:a16="http://schemas.microsoft.com/office/drawing/2014/main" id="{8A27B70A-2B42-59CE-8229-9DA57033F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023" y="2509993"/>
            <a:ext cx="0" cy="2530475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25">
            <a:extLst>
              <a:ext uri="{FF2B5EF4-FFF2-40B4-BE49-F238E27FC236}">
                <a16:creationId xmlns:a16="http://schemas.microsoft.com/office/drawing/2014/main" id="{AA6F8FBA-E8E4-4A93-EBD1-179556C77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2509993"/>
            <a:ext cx="2603500" cy="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26">
            <a:extLst>
              <a:ext uri="{FF2B5EF4-FFF2-40B4-BE49-F238E27FC236}">
                <a16:creationId xmlns:a16="http://schemas.microsoft.com/office/drawing/2014/main" id="{22D37CE5-1C5E-519E-9886-BC4845283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089431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27">
            <a:extLst>
              <a:ext uri="{FF2B5EF4-FFF2-40B4-BE49-F238E27FC236}">
                <a16:creationId xmlns:a16="http://schemas.microsoft.com/office/drawing/2014/main" id="{CB86E606-45F0-062B-4F7D-F1DDD8FE0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576793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28">
            <a:extLst>
              <a:ext uri="{FF2B5EF4-FFF2-40B4-BE49-F238E27FC236}">
                <a16:creationId xmlns:a16="http://schemas.microsoft.com/office/drawing/2014/main" id="{F42FF905-FBD8-9B09-A1C4-E689C27ED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73" y="4064156"/>
            <a:ext cx="365442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29">
            <a:extLst>
              <a:ext uri="{FF2B5EF4-FFF2-40B4-BE49-F238E27FC236}">
                <a16:creationId xmlns:a16="http://schemas.microsoft.com/office/drawing/2014/main" id="{FE7A663E-A5B5-466F-5245-C3328C90C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4551518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35">
            <a:extLst>
              <a:ext uri="{FF2B5EF4-FFF2-40B4-BE49-F238E27FC236}">
                <a16:creationId xmlns:a16="http://schemas.microsoft.com/office/drawing/2014/main" id="{0BE21E9B-280D-9658-B844-4329F9D19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148" y="3133881"/>
            <a:ext cx="33972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55" name="TextBox 36">
            <a:extLst>
              <a:ext uri="{FF2B5EF4-FFF2-40B4-BE49-F238E27FC236}">
                <a16:creationId xmlns:a16="http://schemas.microsoft.com/office/drawing/2014/main" id="{181CAFCC-8C90-5C62-140B-8A1DF4654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2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56" name="TextBox 37">
            <a:extLst>
              <a:ext uri="{FF2B5EF4-FFF2-40B4-BE49-F238E27FC236}">
                <a16:creationId xmlns:a16="http://schemas.microsoft.com/office/drawing/2014/main" id="{D4D7CBC2-EF6F-6E3B-EA44-6D8DFE6CF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361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57" name="TextBox 38">
            <a:extLst>
              <a:ext uri="{FF2B5EF4-FFF2-40B4-BE49-F238E27FC236}">
                <a16:creationId xmlns:a16="http://schemas.microsoft.com/office/drawing/2014/main" id="{82B99412-8018-80A0-2599-85161A904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3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58" name="TextBox 39">
            <a:extLst>
              <a:ext uri="{FF2B5EF4-FFF2-40B4-BE49-F238E27FC236}">
                <a16:creationId xmlns:a16="http://schemas.microsoft.com/office/drawing/2014/main" id="{0D204C81-5E48-27B9-147B-4F7D8011A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52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59" name="TextBox 40">
            <a:extLst>
              <a:ext uri="{FF2B5EF4-FFF2-40B4-BE49-F238E27FC236}">
                <a16:creationId xmlns:a16="http://schemas.microsoft.com/office/drawing/2014/main" id="{E8A58C20-98D7-3932-FED6-9B2E4D37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97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60" name="TextBox 41">
            <a:extLst>
              <a:ext uri="{FF2B5EF4-FFF2-40B4-BE49-F238E27FC236}">
                <a16:creationId xmlns:a16="http://schemas.microsoft.com/office/drawing/2014/main" id="{EBD6D5F2-02C2-9D0D-3CBC-A030EDBE7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96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61" name="TextBox 42">
            <a:extLst>
              <a:ext uri="{FF2B5EF4-FFF2-40B4-BE49-F238E27FC236}">
                <a16:creationId xmlns:a16="http://schemas.microsoft.com/office/drawing/2014/main" id="{062CAF5A-0869-4DB1-5B7F-98D814D51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41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27CF17B-4D2E-C6AF-F5BC-7F809DAC45EC}"/>
              </a:ext>
            </a:extLst>
          </p:cNvPr>
          <p:cNvSpPr txBox="1"/>
          <p:nvPr/>
        </p:nvSpPr>
        <p:spPr>
          <a:xfrm>
            <a:off x="337174" y="5303477"/>
            <a:ext cx="446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和变化后的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来确定输出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18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63A00-2923-3522-7768-0960F24D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：时序电路描述方式（续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7A935-FD55-37F9-D78C-7BBCA4B7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状态表、状态图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D1E68C-68A4-80B5-4054-F589DFDC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A01300-F3F1-AF69-6997-BF0BB21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A4FDEFF2-9478-64B0-F1E7-261BCC17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555" y="5721119"/>
            <a:ext cx="3194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型时序电路</a:t>
            </a:r>
          </a:p>
        </p:txBody>
      </p:sp>
      <p:grpSp>
        <p:nvGrpSpPr>
          <p:cNvPr id="34" name="Group 47">
            <a:extLst>
              <a:ext uri="{FF2B5EF4-FFF2-40B4-BE49-F238E27FC236}">
                <a16:creationId xmlns:a16="http://schemas.microsoft.com/office/drawing/2014/main" id="{46190A5A-A49A-2C50-65E3-1A713B93DADA}"/>
              </a:ext>
            </a:extLst>
          </p:cNvPr>
          <p:cNvGrpSpPr>
            <a:grpSpLocks/>
          </p:cNvGrpSpPr>
          <p:nvPr/>
        </p:nvGrpSpPr>
        <p:grpSpPr bwMode="auto">
          <a:xfrm>
            <a:off x="5727080" y="1788880"/>
            <a:ext cx="3886200" cy="3744913"/>
            <a:chOff x="385" y="1412"/>
            <a:chExt cx="2448" cy="2359"/>
          </a:xfrm>
        </p:grpSpPr>
        <p:sp>
          <p:nvSpPr>
            <p:cNvPr id="37" name="Rectangle 48">
              <a:extLst>
                <a:ext uri="{FF2B5EF4-FFF2-40B4-BE49-F238E27FC236}">
                  <a16:creationId xmlns:a16="http://schemas.microsoft.com/office/drawing/2014/main" id="{54DDDEE1-7961-6AB0-4C51-DF0B50CB2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41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0/0</a:t>
              </a:r>
            </a:p>
          </p:txBody>
        </p:sp>
        <p:sp>
          <p:nvSpPr>
            <p:cNvPr id="38" name="Rectangle 49">
              <a:extLst>
                <a:ext uri="{FF2B5EF4-FFF2-40B4-BE49-F238E27FC236}">
                  <a16:creationId xmlns:a16="http://schemas.microsoft.com/office/drawing/2014/main" id="{F4B79859-B4EA-9F02-3D22-27B401999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705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39" name="Rectangle 50">
              <a:extLst>
                <a:ext uri="{FF2B5EF4-FFF2-40B4-BE49-F238E27FC236}">
                  <a16:creationId xmlns:a16="http://schemas.microsoft.com/office/drawing/2014/main" id="{AC5B96FF-5C97-4A3E-C4B8-CC63EC1AC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78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40" name="Rectangle 51">
              <a:extLst>
                <a:ext uri="{FF2B5EF4-FFF2-40B4-BE49-F238E27FC236}">
                  <a16:creationId xmlns:a16="http://schemas.microsoft.com/office/drawing/2014/main" id="{F4499AD5-577C-EAD2-CD72-211D5679E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141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41" name="Rectangle 52">
              <a:extLst>
                <a:ext uri="{FF2B5EF4-FFF2-40B4-BE49-F238E27FC236}">
                  <a16:creationId xmlns:a16="http://schemas.microsoft.com/office/drawing/2014/main" id="{FD0673CB-A334-3BC6-FA5C-5FB2774F6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705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42" name="Rectangle 53">
              <a:extLst>
                <a:ext uri="{FF2B5EF4-FFF2-40B4-BE49-F238E27FC236}">
                  <a16:creationId xmlns:a16="http://schemas.microsoft.com/office/drawing/2014/main" id="{6B3CD6A2-11F6-B330-B5A3-5AE20D302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324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43" name="Line 54">
              <a:extLst>
                <a:ext uri="{FF2B5EF4-FFF2-40B4-BE49-F238E27FC236}">
                  <a16:creationId xmlns:a16="http://schemas.microsoft.com/office/drawing/2014/main" id="{D8D7A826-4719-C17F-CEE6-4C5752A32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33" y="2244"/>
              <a:ext cx="1180" cy="1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55">
              <a:extLst>
                <a:ext uri="{FF2B5EF4-FFF2-40B4-BE49-F238E27FC236}">
                  <a16:creationId xmlns:a16="http://schemas.microsoft.com/office/drawing/2014/main" id="{5360CDDE-6CE5-770E-0A11-A50432471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59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853669D8-25A0-5DEC-0092-2406D47FF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705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Arial" panose="020B0604020202020204" pitchFamily="34" charset="0"/>
                </a:rPr>
                <a:t>1/0</a:t>
              </a:r>
            </a:p>
          </p:txBody>
        </p:sp>
        <p:grpSp>
          <p:nvGrpSpPr>
            <p:cNvPr id="46" name="Group 57">
              <a:extLst>
                <a:ext uri="{FF2B5EF4-FFF2-40B4-BE49-F238E27FC236}">
                  <a16:creationId xmlns:a16="http://schemas.microsoft.com/office/drawing/2014/main" id="{8913C3C0-BF5B-45C1-6939-0E03CC0C79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" y="3340"/>
              <a:ext cx="431" cy="431"/>
              <a:chOff x="3152" y="3453"/>
              <a:chExt cx="431" cy="431"/>
            </a:xfrm>
          </p:grpSpPr>
          <p:sp>
            <p:nvSpPr>
              <p:cNvPr id="63" name="Oval 58">
                <a:extLst>
                  <a:ext uri="{FF2B5EF4-FFF2-40B4-BE49-F238E27FC236}">
                    <a16:creationId xmlns:a16="http://schemas.microsoft.com/office/drawing/2014/main" id="{8481E8B3-08F7-C1DB-E811-344C3096B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Text Box 59">
                <a:extLst>
                  <a:ext uri="{FF2B5EF4-FFF2-40B4-BE49-F238E27FC236}">
                    <a16:creationId xmlns:a16="http://schemas.microsoft.com/office/drawing/2014/main" id="{C330351F-0CF7-799D-1AB8-5E4402802A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3521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10</a:t>
                </a:r>
              </a:p>
            </p:txBody>
          </p:sp>
        </p:grpSp>
        <p:grpSp>
          <p:nvGrpSpPr>
            <p:cNvPr id="47" name="Group 60">
              <a:extLst>
                <a:ext uri="{FF2B5EF4-FFF2-40B4-BE49-F238E27FC236}">
                  <a16:creationId xmlns:a16="http://schemas.microsoft.com/office/drawing/2014/main" id="{197D1A34-2873-EC5F-4F91-03ADD4885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1889"/>
              <a:ext cx="431" cy="431"/>
              <a:chOff x="3152" y="3453"/>
              <a:chExt cx="431" cy="431"/>
            </a:xfrm>
          </p:grpSpPr>
          <p:sp>
            <p:nvSpPr>
              <p:cNvPr id="61" name="Oval 61">
                <a:extLst>
                  <a:ext uri="{FF2B5EF4-FFF2-40B4-BE49-F238E27FC236}">
                    <a16:creationId xmlns:a16="http://schemas.microsoft.com/office/drawing/2014/main" id="{E441F5CC-0845-174E-3BCC-BB6D5596F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Text Box 62">
                <a:extLst>
                  <a:ext uri="{FF2B5EF4-FFF2-40B4-BE49-F238E27FC236}">
                    <a16:creationId xmlns:a16="http://schemas.microsoft.com/office/drawing/2014/main" id="{91F7773B-D941-DF7D-EC8F-322304F24B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3521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01</a:t>
                </a:r>
              </a:p>
            </p:txBody>
          </p:sp>
        </p:grpSp>
        <p:grpSp>
          <p:nvGrpSpPr>
            <p:cNvPr id="48" name="Group 63">
              <a:extLst>
                <a:ext uri="{FF2B5EF4-FFF2-40B4-BE49-F238E27FC236}">
                  <a16:creationId xmlns:a16="http://schemas.microsoft.com/office/drawing/2014/main" id="{E5BD4C57-F160-7772-B43E-177B34C06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" y="1889"/>
              <a:ext cx="431" cy="431"/>
              <a:chOff x="3152" y="3453"/>
              <a:chExt cx="431" cy="431"/>
            </a:xfrm>
          </p:grpSpPr>
          <p:sp>
            <p:nvSpPr>
              <p:cNvPr id="59" name="Oval 64">
                <a:extLst>
                  <a:ext uri="{FF2B5EF4-FFF2-40B4-BE49-F238E27FC236}">
                    <a16:creationId xmlns:a16="http://schemas.microsoft.com/office/drawing/2014/main" id="{22003C8E-224D-1507-1BA6-E46488B5E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Text Box 65">
                <a:extLst>
                  <a:ext uri="{FF2B5EF4-FFF2-40B4-BE49-F238E27FC236}">
                    <a16:creationId xmlns:a16="http://schemas.microsoft.com/office/drawing/2014/main" id="{BBD559BC-59BC-71A2-A1E2-3C8F93BE7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3521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00</a:t>
                </a:r>
              </a:p>
            </p:txBody>
          </p:sp>
        </p:grpSp>
        <p:grpSp>
          <p:nvGrpSpPr>
            <p:cNvPr id="49" name="Group 66">
              <a:extLst>
                <a:ext uri="{FF2B5EF4-FFF2-40B4-BE49-F238E27FC236}">
                  <a16:creationId xmlns:a16="http://schemas.microsoft.com/office/drawing/2014/main" id="{C16FD240-FC03-8492-EDD4-D3AB10E630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3340"/>
              <a:ext cx="431" cy="431"/>
              <a:chOff x="3152" y="3453"/>
              <a:chExt cx="431" cy="431"/>
            </a:xfrm>
          </p:grpSpPr>
          <p:sp>
            <p:nvSpPr>
              <p:cNvPr id="57" name="Oval 67">
                <a:extLst>
                  <a:ext uri="{FF2B5EF4-FFF2-40B4-BE49-F238E27FC236}">
                    <a16:creationId xmlns:a16="http://schemas.microsoft.com/office/drawing/2014/main" id="{39C2555F-1BA7-A500-83E4-7269E98F9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Text Box 68">
                <a:extLst>
                  <a:ext uri="{FF2B5EF4-FFF2-40B4-BE49-F238E27FC236}">
                    <a16:creationId xmlns:a16="http://schemas.microsoft.com/office/drawing/2014/main" id="{E020C5AE-42B3-339C-438A-0E51AA73B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3521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11</a:t>
                </a:r>
              </a:p>
            </p:txBody>
          </p:sp>
        </p:grpSp>
        <p:sp>
          <p:nvSpPr>
            <p:cNvPr id="50" name="Line 69">
              <a:extLst>
                <a:ext uri="{FF2B5EF4-FFF2-40B4-BE49-F238E27FC236}">
                  <a16:creationId xmlns:a16="http://schemas.microsoft.com/office/drawing/2014/main" id="{020C0BC1-BADB-37F5-3252-847A378E5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3567"/>
              <a:ext cx="10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70">
              <a:extLst>
                <a:ext uri="{FF2B5EF4-FFF2-40B4-BE49-F238E27FC236}">
                  <a16:creationId xmlns:a16="http://schemas.microsoft.com/office/drawing/2014/main" id="{A77B547C-3E99-A008-69E5-36010122E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320"/>
              <a:ext cx="0" cy="10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71">
              <a:extLst>
                <a:ext uri="{FF2B5EF4-FFF2-40B4-BE49-F238E27FC236}">
                  <a16:creationId xmlns:a16="http://schemas.microsoft.com/office/drawing/2014/main" id="{5175FA23-B038-5CFF-2EF9-EF7161783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6" y="2115"/>
              <a:ext cx="10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Arc 72">
              <a:extLst>
                <a:ext uri="{FF2B5EF4-FFF2-40B4-BE49-F238E27FC236}">
                  <a16:creationId xmlns:a16="http://schemas.microsoft.com/office/drawing/2014/main" id="{A59DDC33-6E83-D706-455A-37DEBD66A835}"/>
                </a:ext>
              </a:extLst>
            </p:cNvPr>
            <p:cNvSpPr>
              <a:spLocks/>
            </p:cNvSpPr>
            <p:nvPr/>
          </p:nvSpPr>
          <p:spPr bwMode="auto">
            <a:xfrm rot="-9796798">
              <a:off x="2338" y="1593"/>
              <a:ext cx="432" cy="355"/>
            </a:xfrm>
            <a:custGeom>
              <a:avLst/>
              <a:gdLst>
                <a:gd name="T0" fmla="*/ 0 w 43200"/>
                <a:gd name="T1" fmla="*/ 0 h 39708"/>
                <a:gd name="T2" fmla="*/ 0 w 43200"/>
                <a:gd name="T3" fmla="*/ 0 h 39708"/>
                <a:gd name="T4" fmla="*/ 0 w 43200"/>
                <a:gd name="T5" fmla="*/ 0 h 3970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708"/>
                <a:gd name="T11" fmla="*/ 43200 w 43200"/>
                <a:gd name="T12" fmla="*/ 39708 h 397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708" fill="none" extrusionOk="0">
                  <a:moveTo>
                    <a:pt x="34313" y="646"/>
                  </a:moveTo>
                  <a:cubicBezTo>
                    <a:pt x="39897" y="4711"/>
                    <a:pt x="43200" y="11201"/>
                    <a:pt x="43200" y="18108"/>
                  </a:cubicBezTo>
                  <a:cubicBezTo>
                    <a:pt x="43200" y="30037"/>
                    <a:pt x="33529" y="39708"/>
                    <a:pt x="21600" y="39708"/>
                  </a:cubicBezTo>
                  <a:cubicBezTo>
                    <a:pt x="9670" y="39708"/>
                    <a:pt x="0" y="30037"/>
                    <a:pt x="0" y="18108"/>
                  </a:cubicBezTo>
                  <a:cubicBezTo>
                    <a:pt x="-1" y="10798"/>
                    <a:pt x="3696" y="3984"/>
                    <a:pt x="9824" y="-1"/>
                  </a:cubicBezTo>
                </a:path>
                <a:path w="43200" h="39708" stroke="0" extrusionOk="0">
                  <a:moveTo>
                    <a:pt x="34313" y="646"/>
                  </a:moveTo>
                  <a:cubicBezTo>
                    <a:pt x="39897" y="4711"/>
                    <a:pt x="43200" y="11201"/>
                    <a:pt x="43200" y="18108"/>
                  </a:cubicBezTo>
                  <a:cubicBezTo>
                    <a:pt x="43200" y="30037"/>
                    <a:pt x="33529" y="39708"/>
                    <a:pt x="21600" y="39708"/>
                  </a:cubicBezTo>
                  <a:cubicBezTo>
                    <a:pt x="9670" y="39708"/>
                    <a:pt x="0" y="30037"/>
                    <a:pt x="0" y="18108"/>
                  </a:cubicBezTo>
                  <a:cubicBezTo>
                    <a:pt x="-1" y="10798"/>
                    <a:pt x="3696" y="3984"/>
                    <a:pt x="9824" y="-1"/>
                  </a:cubicBezTo>
                  <a:lnTo>
                    <a:pt x="21600" y="18108"/>
                  </a:lnTo>
                  <a:lnTo>
                    <a:pt x="34313" y="64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rc 73">
              <a:extLst>
                <a:ext uri="{FF2B5EF4-FFF2-40B4-BE49-F238E27FC236}">
                  <a16:creationId xmlns:a16="http://schemas.microsoft.com/office/drawing/2014/main" id="{DA5BD0B2-847B-1BBC-2DCE-E460282A5982}"/>
                </a:ext>
              </a:extLst>
            </p:cNvPr>
            <p:cNvSpPr>
              <a:spLocks/>
            </p:cNvSpPr>
            <p:nvPr/>
          </p:nvSpPr>
          <p:spPr bwMode="auto">
            <a:xfrm rot="9417499">
              <a:off x="588" y="1594"/>
              <a:ext cx="432" cy="352"/>
            </a:xfrm>
            <a:custGeom>
              <a:avLst/>
              <a:gdLst>
                <a:gd name="T0" fmla="*/ 0 w 43200"/>
                <a:gd name="T1" fmla="*/ 0 h 39400"/>
                <a:gd name="T2" fmla="*/ 0 w 43200"/>
                <a:gd name="T3" fmla="*/ 0 h 39400"/>
                <a:gd name="T4" fmla="*/ 0 w 43200"/>
                <a:gd name="T5" fmla="*/ 0 h 394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400"/>
                <a:gd name="T11" fmla="*/ 43200 w 43200"/>
                <a:gd name="T12" fmla="*/ 39400 h 39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400" fill="none" extrusionOk="0">
                  <a:moveTo>
                    <a:pt x="34313" y="338"/>
                  </a:moveTo>
                  <a:cubicBezTo>
                    <a:pt x="39897" y="4403"/>
                    <a:pt x="43200" y="10893"/>
                    <a:pt x="43200" y="17800"/>
                  </a:cubicBezTo>
                  <a:cubicBezTo>
                    <a:pt x="43200" y="29729"/>
                    <a:pt x="33529" y="39400"/>
                    <a:pt x="21600" y="39400"/>
                  </a:cubicBezTo>
                  <a:cubicBezTo>
                    <a:pt x="9670" y="39400"/>
                    <a:pt x="0" y="29729"/>
                    <a:pt x="0" y="17800"/>
                  </a:cubicBezTo>
                  <a:cubicBezTo>
                    <a:pt x="-1" y="10686"/>
                    <a:pt x="3502" y="4028"/>
                    <a:pt x="9364" y="-1"/>
                  </a:cubicBezTo>
                </a:path>
                <a:path w="43200" h="39400" stroke="0" extrusionOk="0">
                  <a:moveTo>
                    <a:pt x="34313" y="338"/>
                  </a:moveTo>
                  <a:cubicBezTo>
                    <a:pt x="39897" y="4403"/>
                    <a:pt x="43200" y="10893"/>
                    <a:pt x="43200" y="17800"/>
                  </a:cubicBezTo>
                  <a:cubicBezTo>
                    <a:pt x="43200" y="29729"/>
                    <a:pt x="33529" y="39400"/>
                    <a:pt x="21600" y="39400"/>
                  </a:cubicBezTo>
                  <a:cubicBezTo>
                    <a:pt x="9670" y="39400"/>
                    <a:pt x="0" y="29729"/>
                    <a:pt x="0" y="17800"/>
                  </a:cubicBezTo>
                  <a:cubicBezTo>
                    <a:pt x="-1" y="10686"/>
                    <a:pt x="3502" y="4028"/>
                    <a:pt x="9364" y="-1"/>
                  </a:cubicBezTo>
                  <a:lnTo>
                    <a:pt x="21600" y="17800"/>
                  </a:lnTo>
                  <a:lnTo>
                    <a:pt x="34313" y="33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74">
              <a:extLst>
                <a:ext uri="{FF2B5EF4-FFF2-40B4-BE49-F238E27FC236}">
                  <a16:creationId xmlns:a16="http://schemas.microsoft.com/office/drawing/2014/main" id="{CE724CDA-0026-D475-9D86-ED232FB3593A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456" y="2731"/>
              <a:ext cx="1060" cy="204"/>
            </a:xfrm>
            <a:custGeom>
              <a:avLst/>
              <a:gdLst>
                <a:gd name="T0" fmla="*/ 0 w 33353"/>
                <a:gd name="T1" fmla="*/ 0 h 21600"/>
                <a:gd name="T2" fmla="*/ 0 w 33353"/>
                <a:gd name="T3" fmla="*/ 0 h 21600"/>
                <a:gd name="T4" fmla="*/ 0 w 33353"/>
                <a:gd name="T5" fmla="*/ 0 h 21600"/>
                <a:gd name="T6" fmla="*/ 0 60000 65536"/>
                <a:gd name="T7" fmla="*/ 0 60000 65536"/>
                <a:gd name="T8" fmla="*/ 0 60000 65536"/>
                <a:gd name="T9" fmla="*/ 0 w 33353"/>
                <a:gd name="T10" fmla="*/ 0 h 21600"/>
                <a:gd name="T11" fmla="*/ 33353 w 333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353" h="21600" fill="none" extrusionOk="0">
                  <a:moveTo>
                    <a:pt x="33352" y="16393"/>
                  </a:moveTo>
                  <a:cubicBezTo>
                    <a:pt x="29436" y="19753"/>
                    <a:pt x="24447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</a:path>
                <a:path w="33353" h="21600" stroke="0" extrusionOk="0">
                  <a:moveTo>
                    <a:pt x="33352" y="16393"/>
                  </a:moveTo>
                  <a:cubicBezTo>
                    <a:pt x="29436" y="19753"/>
                    <a:pt x="24447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  <a:lnTo>
                    <a:pt x="19288" y="0"/>
                  </a:lnTo>
                  <a:lnTo>
                    <a:pt x="33352" y="1639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Arc 75">
              <a:extLst>
                <a:ext uri="{FF2B5EF4-FFF2-40B4-BE49-F238E27FC236}">
                  <a16:creationId xmlns:a16="http://schemas.microsoft.com/office/drawing/2014/main" id="{C9639612-369E-59A7-3251-3EAF32322E13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306" y="2739"/>
              <a:ext cx="1066" cy="182"/>
            </a:xfrm>
            <a:custGeom>
              <a:avLst/>
              <a:gdLst>
                <a:gd name="T0" fmla="*/ 0 w 38317"/>
                <a:gd name="T1" fmla="*/ 0 h 21600"/>
                <a:gd name="T2" fmla="*/ 0 w 38317"/>
                <a:gd name="T3" fmla="*/ 0 h 21600"/>
                <a:gd name="T4" fmla="*/ 0 w 38317"/>
                <a:gd name="T5" fmla="*/ 0 h 21600"/>
                <a:gd name="T6" fmla="*/ 0 60000 65536"/>
                <a:gd name="T7" fmla="*/ 0 60000 65536"/>
                <a:gd name="T8" fmla="*/ 0 60000 65536"/>
                <a:gd name="T9" fmla="*/ 0 w 38317"/>
                <a:gd name="T10" fmla="*/ 0 h 21600"/>
                <a:gd name="T11" fmla="*/ 38317 w 3831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317" h="21600" fill="none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</a:path>
                <a:path w="38317" h="21600" stroke="0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  <a:lnTo>
                    <a:pt x="19288" y="0"/>
                  </a:lnTo>
                  <a:lnTo>
                    <a:pt x="38316" y="1022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1B51A90-CD52-36B6-9406-1659BFA9217B}"/>
              </a:ext>
            </a:extLst>
          </p:cNvPr>
          <p:cNvGrpSpPr/>
          <p:nvPr/>
        </p:nvGrpSpPr>
        <p:grpSpPr>
          <a:xfrm>
            <a:off x="7327280" y="810368"/>
            <a:ext cx="1692275" cy="839787"/>
            <a:chOff x="6181093" y="943219"/>
            <a:chExt cx="1692275" cy="839787"/>
          </a:xfrm>
        </p:grpSpPr>
        <p:sp>
          <p:nvSpPr>
            <p:cNvPr id="66" name="Text Box 43">
              <a:extLst>
                <a:ext uri="{FF2B5EF4-FFF2-40B4-BE49-F238E27FC236}">
                  <a16:creationId xmlns:a16="http://schemas.microsoft.com/office/drawing/2014/main" id="{70615B03-8EB4-C682-F730-D6BA90123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305" y="1124194"/>
              <a:ext cx="809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Q</a:t>
              </a:r>
              <a:r>
                <a:rPr kumimoji="1" lang="en-US" altLang="zh-CN" sz="1800" baseline="-25000" dirty="0">
                  <a:ea typeface="楷体_GB2312" pitchFamily="49" charset="-122"/>
                </a:rPr>
                <a:t>1</a:t>
              </a:r>
              <a:r>
                <a:rPr kumimoji="1" lang="en-US" altLang="zh-CN" sz="2400" dirty="0">
                  <a:ea typeface="楷体_GB2312" pitchFamily="49" charset="-122"/>
                </a:rPr>
                <a:t>Q</a:t>
              </a:r>
              <a:r>
                <a:rPr kumimoji="1" lang="en-US" altLang="zh-CN" sz="1800" baseline="-25000" dirty="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67" name="Oval 44">
              <a:extLst>
                <a:ext uri="{FF2B5EF4-FFF2-40B4-BE49-F238E27FC236}">
                  <a16:creationId xmlns:a16="http://schemas.microsoft.com/office/drawing/2014/main" id="{91E888A6-1FFB-6D0E-D3AF-2B2B1D480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093" y="944806"/>
              <a:ext cx="957262" cy="838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8" name="Line 45">
              <a:extLst>
                <a:ext uri="{FF2B5EF4-FFF2-40B4-BE49-F238E27FC236}">
                  <a16:creationId xmlns:a16="http://schemas.microsoft.com/office/drawing/2014/main" id="{EC91D792-9D12-CCDB-6BA3-83E6E2B3B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2480" y="1379781"/>
              <a:ext cx="750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46">
              <a:extLst>
                <a:ext uri="{FF2B5EF4-FFF2-40B4-BE49-F238E27FC236}">
                  <a16:creationId xmlns:a16="http://schemas.microsoft.com/office/drawing/2014/main" id="{A60D49DE-2606-C7EC-A394-6ACB77DBE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2643" y="943219"/>
              <a:ext cx="622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ea typeface="楷体_GB2312" pitchFamily="49" charset="-122"/>
                </a:rPr>
                <a:t>X/Y</a:t>
              </a:r>
            </a:p>
          </p:txBody>
        </p:sp>
      </p:grpSp>
      <p:sp>
        <p:nvSpPr>
          <p:cNvPr id="71" name="Rectangle 4">
            <a:extLst>
              <a:ext uri="{FF2B5EF4-FFF2-40B4-BE49-F238E27FC236}">
                <a16:creationId xmlns:a16="http://schemas.microsoft.com/office/drawing/2014/main" id="{FA881294-3263-E39B-2028-FF6C49302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53564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987BBFC6-7F3C-CBD3-66FB-AEFE4B261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067331"/>
            <a:ext cx="10493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F9B894DC-4B5B-4A2F-12DE-2823D82D8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48" y="3076731"/>
            <a:ext cx="10509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74" name="Rectangle 16">
            <a:extLst>
              <a:ext uri="{FF2B5EF4-FFF2-40B4-BE49-F238E27FC236}">
                <a16:creationId xmlns:a16="http://schemas.microsoft.com/office/drawing/2014/main" id="{716D8E8D-EA3D-7490-9D31-8114E4B80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61" y="356409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0 1</a:t>
            </a:r>
          </a:p>
        </p:txBody>
      </p:sp>
      <p:graphicFrame>
        <p:nvGraphicFramePr>
          <p:cNvPr id="75" name="Object 17">
            <a:extLst>
              <a:ext uri="{FF2B5EF4-FFF2-40B4-BE49-F238E27FC236}">
                <a16:creationId xmlns:a16="http://schemas.microsoft.com/office/drawing/2014/main" id="{DCD68895-2D21-4CBB-EC99-783EC39A9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629872"/>
              </p:ext>
            </p:extLst>
          </p:nvPr>
        </p:nvGraphicFramePr>
        <p:xfrm>
          <a:off x="476136" y="2146456"/>
          <a:ext cx="9223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35" imgH="241195" progId="Equation.3">
                  <p:embed/>
                </p:oleObj>
              </mc:Choice>
              <mc:Fallback>
                <p:oleObj name="公式" r:id="rId2" imgW="380835" imgH="241195" progId="Equation.3">
                  <p:embed/>
                  <p:pic>
                    <p:nvPicPr>
                      <p:cNvPr id="10" name="Object 17">
                        <a:extLst>
                          <a:ext uri="{FF2B5EF4-FFF2-40B4-BE49-F238E27FC236}">
                            <a16:creationId xmlns:a16="http://schemas.microsoft.com/office/drawing/2014/main" id="{0A9B2E35-285C-BD8F-84BD-937595B17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36" y="2146456"/>
                        <a:ext cx="922337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8">
            <a:extLst>
              <a:ext uri="{FF2B5EF4-FFF2-40B4-BE49-F238E27FC236}">
                <a16:creationId xmlns:a16="http://schemas.microsoft.com/office/drawing/2014/main" id="{D0222C11-2E5C-94EF-D47C-9032B0241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822812"/>
              </p:ext>
            </p:extLst>
          </p:nvPr>
        </p:nvGraphicFramePr>
        <p:xfrm>
          <a:off x="2001723" y="1924206"/>
          <a:ext cx="162083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3586" imgH="241195" progId="Equation.3">
                  <p:embed/>
                </p:oleObj>
              </mc:Choice>
              <mc:Fallback>
                <p:oleObj name="公式" r:id="rId4" imgW="723586" imgH="241195" progId="Equation.3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0EAC2507-FE2B-B7C9-B759-AC28F4D33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723" y="1924206"/>
                        <a:ext cx="162083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19">
            <a:extLst>
              <a:ext uri="{FF2B5EF4-FFF2-40B4-BE49-F238E27FC236}">
                <a16:creationId xmlns:a16="http://schemas.microsoft.com/office/drawing/2014/main" id="{804D5FBD-2F41-AE9C-379F-4A38BAC3B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023" y="2536981"/>
            <a:ext cx="1303338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X=1</a:t>
            </a:r>
          </a:p>
        </p:txBody>
      </p:sp>
      <p:sp>
        <p:nvSpPr>
          <p:cNvPr id="78" name="Rectangle 20">
            <a:extLst>
              <a:ext uri="{FF2B5EF4-FFF2-40B4-BE49-F238E27FC236}">
                <a16:creationId xmlns:a16="http://schemas.microsoft.com/office/drawing/2014/main" id="{98DE949F-4BC0-CBD6-18E5-15C2B35EA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861" y="2536981"/>
            <a:ext cx="1300162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79" name="Line 21">
            <a:extLst>
              <a:ext uri="{FF2B5EF4-FFF2-40B4-BE49-F238E27FC236}">
                <a16:creationId xmlns:a16="http://schemas.microsoft.com/office/drawing/2014/main" id="{A86513B7-CD1F-B80B-B611-7DE5D1034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1835306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22">
            <a:extLst>
              <a:ext uri="{FF2B5EF4-FFF2-40B4-BE49-F238E27FC236}">
                <a16:creationId xmlns:a16="http://schemas.microsoft.com/office/drawing/2014/main" id="{7DED8E0C-FE83-1D41-FD14-513A22B0D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5040468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23">
            <a:extLst>
              <a:ext uri="{FF2B5EF4-FFF2-40B4-BE49-F238E27FC236}">
                <a16:creationId xmlns:a16="http://schemas.microsoft.com/office/drawing/2014/main" id="{2AC2CD72-7BA6-5FCC-9D74-706C1C0E5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1835306"/>
            <a:ext cx="0" cy="3205162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24">
            <a:extLst>
              <a:ext uri="{FF2B5EF4-FFF2-40B4-BE49-F238E27FC236}">
                <a16:creationId xmlns:a16="http://schemas.microsoft.com/office/drawing/2014/main" id="{84353CDA-7EEA-736C-36F6-16AF8845A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023" y="2509993"/>
            <a:ext cx="0" cy="2530475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25">
            <a:extLst>
              <a:ext uri="{FF2B5EF4-FFF2-40B4-BE49-F238E27FC236}">
                <a16:creationId xmlns:a16="http://schemas.microsoft.com/office/drawing/2014/main" id="{2DDC08E2-9509-204D-55A9-E0FBE34E7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2509993"/>
            <a:ext cx="2603500" cy="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26">
            <a:extLst>
              <a:ext uri="{FF2B5EF4-FFF2-40B4-BE49-F238E27FC236}">
                <a16:creationId xmlns:a16="http://schemas.microsoft.com/office/drawing/2014/main" id="{B3DEB4B1-515C-0115-26A3-F7760D6C2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089431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27">
            <a:extLst>
              <a:ext uri="{FF2B5EF4-FFF2-40B4-BE49-F238E27FC236}">
                <a16:creationId xmlns:a16="http://schemas.microsoft.com/office/drawing/2014/main" id="{DDE0B541-BA0C-751C-A81A-DF266C3E8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576793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28">
            <a:extLst>
              <a:ext uri="{FF2B5EF4-FFF2-40B4-BE49-F238E27FC236}">
                <a16:creationId xmlns:a16="http://schemas.microsoft.com/office/drawing/2014/main" id="{85262844-4386-F489-8361-4299765E8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73" y="4064156"/>
            <a:ext cx="365442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29">
            <a:extLst>
              <a:ext uri="{FF2B5EF4-FFF2-40B4-BE49-F238E27FC236}">
                <a16:creationId xmlns:a16="http://schemas.microsoft.com/office/drawing/2014/main" id="{74D6C487-51D2-133B-2F39-2EC01372D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4551518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TextBox 35">
            <a:extLst>
              <a:ext uri="{FF2B5EF4-FFF2-40B4-BE49-F238E27FC236}">
                <a16:creationId xmlns:a16="http://schemas.microsoft.com/office/drawing/2014/main" id="{E7466BE5-BE7E-9942-7B39-6B001D078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148" y="3133881"/>
            <a:ext cx="33972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89" name="TextBox 36">
            <a:extLst>
              <a:ext uri="{FF2B5EF4-FFF2-40B4-BE49-F238E27FC236}">
                <a16:creationId xmlns:a16="http://schemas.microsoft.com/office/drawing/2014/main" id="{8686F30F-8175-9D8C-9726-A8445889E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2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0" name="TextBox 37">
            <a:extLst>
              <a:ext uri="{FF2B5EF4-FFF2-40B4-BE49-F238E27FC236}">
                <a16:creationId xmlns:a16="http://schemas.microsoft.com/office/drawing/2014/main" id="{CB159355-859F-7CC0-3341-4D8E973EB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361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1" name="TextBox 38">
            <a:extLst>
              <a:ext uri="{FF2B5EF4-FFF2-40B4-BE49-F238E27FC236}">
                <a16:creationId xmlns:a16="http://schemas.microsoft.com/office/drawing/2014/main" id="{23B4EB13-90B7-9E4D-AD17-9BC1B2EDE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3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2" name="TextBox 39">
            <a:extLst>
              <a:ext uri="{FF2B5EF4-FFF2-40B4-BE49-F238E27FC236}">
                <a16:creationId xmlns:a16="http://schemas.microsoft.com/office/drawing/2014/main" id="{7DFB2BBA-626B-CD06-E940-414933A2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52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3" name="TextBox 40">
            <a:extLst>
              <a:ext uri="{FF2B5EF4-FFF2-40B4-BE49-F238E27FC236}">
                <a16:creationId xmlns:a16="http://schemas.microsoft.com/office/drawing/2014/main" id="{B8D8E3E6-D098-9F8B-0405-0CDB19C12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97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4" name="TextBox 41">
            <a:extLst>
              <a:ext uri="{FF2B5EF4-FFF2-40B4-BE49-F238E27FC236}">
                <a16:creationId xmlns:a16="http://schemas.microsoft.com/office/drawing/2014/main" id="{AFD014C2-E26E-093F-EF20-EF5E77E71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96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5" name="TextBox 42">
            <a:extLst>
              <a:ext uri="{FF2B5EF4-FFF2-40B4-BE49-F238E27FC236}">
                <a16:creationId xmlns:a16="http://schemas.microsoft.com/office/drawing/2014/main" id="{F02486F0-4968-C279-E01E-2B60D8035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41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2930389-570D-F805-823A-D190C886F9E1}"/>
              </a:ext>
            </a:extLst>
          </p:cNvPr>
          <p:cNvSpPr txBox="1"/>
          <p:nvPr/>
        </p:nvSpPr>
        <p:spPr>
          <a:xfrm>
            <a:off x="337174" y="5303477"/>
            <a:ext cx="446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和变化后的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来确定输出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083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63A00-2923-3522-7768-0960F24D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：时序电路描述方式（续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7A935-FD55-37F9-D78C-7BBCA4B7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状态表、时序图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D1E68C-68A4-80B5-4054-F589DFDC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A01300-F3F1-AF69-6997-BF0BB21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6AD4CD8-1318-E103-9CF5-42E6FDF4C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53564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DD26C7-F2A8-DF25-5844-89E6D2CF0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6" y="4067331"/>
            <a:ext cx="10493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1 0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909718D-FBC7-6684-4643-6FB5B1B52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48" y="3076731"/>
            <a:ext cx="10509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0 0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5AAB21E1-44FC-2FD5-69D9-B2373183E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61" y="3564093"/>
            <a:ext cx="10493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0 1</a:t>
            </a:r>
          </a:p>
        </p:txBody>
      </p:sp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0A9B2E35-285C-BD8F-84BD-937595B17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955111"/>
              </p:ext>
            </p:extLst>
          </p:nvPr>
        </p:nvGraphicFramePr>
        <p:xfrm>
          <a:off x="476136" y="2146456"/>
          <a:ext cx="9223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35" imgH="241195" progId="Equation.3">
                  <p:embed/>
                </p:oleObj>
              </mc:Choice>
              <mc:Fallback>
                <p:oleObj name="公式" r:id="rId2" imgW="380835" imgH="241195" progId="Equation.3">
                  <p:embed/>
                  <p:pic>
                    <p:nvPicPr>
                      <p:cNvPr id="10" name="Object 17">
                        <a:extLst>
                          <a:ext uri="{FF2B5EF4-FFF2-40B4-BE49-F238E27FC236}">
                            <a16:creationId xmlns:a16="http://schemas.microsoft.com/office/drawing/2014/main" id="{0A9B2E35-285C-BD8F-84BD-937595B17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36" y="2146456"/>
                        <a:ext cx="922337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>
            <a:extLst>
              <a:ext uri="{FF2B5EF4-FFF2-40B4-BE49-F238E27FC236}">
                <a16:creationId xmlns:a16="http://schemas.microsoft.com/office/drawing/2014/main" id="{0EAC2507-FE2B-B7C9-B759-AC28F4D33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692694"/>
              </p:ext>
            </p:extLst>
          </p:nvPr>
        </p:nvGraphicFramePr>
        <p:xfrm>
          <a:off x="2001723" y="1924206"/>
          <a:ext cx="162083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3586" imgH="241195" progId="Equation.3">
                  <p:embed/>
                </p:oleObj>
              </mc:Choice>
              <mc:Fallback>
                <p:oleObj name="公式" r:id="rId4" imgW="723586" imgH="241195" progId="Equation.3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0EAC2507-FE2B-B7C9-B759-AC28F4D33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723" y="1924206"/>
                        <a:ext cx="162083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9">
            <a:extLst>
              <a:ext uri="{FF2B5EF4-FFF2-40B4-BE49-F238E27FC236}">
                <a16:creationId xmlns:a16="http://schemas.microsoft.com/office/drawing/2014/main" id="{C1BF161B-8476-5842-72D7-A9FD92BE2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023" y="2536981"/>
            <a:ext cx="1303338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X=1</a:t>
            </a:r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7956807E-2110-BA42-2ED6-310674CFF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861" y="2536981"/>
            <a:ext cx="1300162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42CAED43-6D58-A620-5232-62D47D8B9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1835306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04C3E8EE-CE71-8428-F5A9-863CD4525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5040468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222C7606-DA8D-CB98-071F-9F25E23C0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1835306"/>
            <a:ext cx="0" cy="3205162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515AB437-21FA-625E-9FE3-44CB2BECD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023" y="2509993"/>
            <a:ext cx="0" cy="2530475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583EB52F-AC74-5228-0DD2-6439E8204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861" y="2509993"/>
            <a:ext cx="2603500" cy="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6">
            <a:extLst>
              <a:ext uri="{FF2B5EF4-FFF2-40B4-BE49-F238E27FC236}">
                <a16:creationId xmlns:a16="http://schemas.microsoft.com/office/drawing/2014/main" id="{11D2E801-6196-35CA-7F90-5B8891EE1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089431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9C98B7A9-5392-19E9-C26E-4CFB39D6F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3576793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8">
            <a:extLst>
              <a:ext uri="{FF2B5EF4-FFF2-40B4-BE49-F238E27FC236}">
                <a16:creationId xmlns:a16="http://schemas.microsoft.com/office/drawing/2014/main" id="{92BF5554-8A69-05F4-E101-0398BD38C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73" y="4064156"/>
            <a:ext cx="365442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7CFA72F9-6DBE-2C6B-3F0C-A3C739EB3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523" y="4551518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35">
            <a:extLst>
              <a:ext uri="{FF2B5EF4-FFF2-40B4-BE49-F238E27FC236}">
                <a16:creationId xmlns:a16="http://schemas.microsoft.com/office/drawing/2014/main" id="{D5040DF0-E5FE-43E8-3159-5BF5A4EC8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148" y="3133881"/>
            <a:ext cx="33972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27" name="TextBox 36">
            <a:extLst>
              <a:ext uri="{FF2B5EF4-FFF2-40B4-BE49-F238E27FC236}">
                <a16:creationId xmlns:a16="http://schemas.microsoft.com/office/drawing/2014/main" id="{01FAF740-5C38-381B-D959-79148011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2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AF09711E-E6FA-A647-F48C-F1EF8BD51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361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21AAFDC2-323E-9600-792E-0068AC0BA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336" y="3133881"/>
            <a:ext cx="338137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30" name="TextBox 39">
            <a:extLst>
              <a:ext uri="{FF2B5EF4-FFF2-40B4-BE49-F238E27FC236}">
                <a16:creationId xmlns:a16="http://schemas.microsoft.com/office/drawing/2014/main" id="{D2D6D9F3-8088-B442-9479-2D299D2EC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52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1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31" name="TextBox 40">
            <a:extLst>
              <a:ext uri="{FF2B5EF4-FFF2-40B4-BE49-F238E27FC236}">
                <a16:creationId xmlns:a16="http://schemas.microsoft.com/office/drawing/2014/main" id="{485BFC2F-9F2A-A9CD-7ED2-1A971BBCC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973" y="3133881"/>
            <a:ext cx="33813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0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72F03C56-210D-83C7-4FE6-E78EB69D6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96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33" name="TextBox 42">
            <a:extLst>
              <a:ext uri="{FF2B5EF4-FFF2-40B4-BE49-F238E27FC236}">
                <a16:creationId xmlns:a16="http://schemas.microsoft.com/office/drawing/2014/main" id="{5B182948-D5D5-22CF-6F03-1B3EB9E14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411" y="3133881"/>
            <a:ext cx="2698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spcBef>
                <a:spcPts val="8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/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143342-2743-0F86-1529-24FCE222DD30}"/>
              </a:ext>
            </a:extLst>
          </p:cNvPr>
          <p:cNvSpPr txBox="1"/>
          <p:nvPr/>
        </p:nvSpPr>
        <p:spPr>
          <a:xfrm>
            <a:off x="337174" y="5303477"/>
            <a:ext cx="446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和变化后的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来确定输出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A4FDEFF2-9478-64B0-F1E7-261BCC17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555" y="5721119"/>
            <a:ext cx="3194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型时序电路</a:t>
            </a:r>
          </a:p>
        </p:txBody>
      </p:sp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905AE52B-AF60-CE50-CCAD-3EEF50A53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152553"/>
              </p:ext>
            </p:extLst>
          </p:nvPr>
        </p:nvGraphicFramePr>
        <p:xfrm>
          <a:off x="5235498" y="3035931"/>
          <a:ext cx="4454525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374608" imgH="1381490" progId="Word.Picture.8">
                  <p:embed/>
                </p:oleObj>
              </mc:Choice>
              <mc:Fallback>
                <p:oleObj name="Picture" r:id="rId6" imgW="3374608" imgH="1381490" progId="Word.Picture.8">
                  <p:embed/>
                  <p:pic>
                    <p:nvPicPr>
                      <p:cNvPr id="1496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498" y="3035931"/>
                        <a:ext cx="4454525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5DDE4CA8-CB65-5F69-FA19-51132FC34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593734"/>
              </p:ext>
            </p:extLst>
          </p:nvPr>
        </p:nvGraphicFramePr>
        <p:xfrm>
          <a:off x="5283123" y="1629406"/>
          <a:ext cx="436562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3302169" imgH="876427" progId="Word.Picture.8">
                  <p:embed/>
                </p:oleObj>
              </mc:Choice>
              <mc:Fallback>
                <p:oleObj name="Picture" r:id="rId8" imgW="3302169" imgH="876427" progId="Word.Picture.8">
                  <p:embed/>
                  <p:pic>
                    <p:nvPicPr>
                      <p:cNvPr id="235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123" y="1629406"/>
                        <a:ext cx="436562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6">
            <a:extLst>
              <a:ext uri="{FF2B5EF4-FFF2-40B4-BE49-F238E27FC236}">
                <a16:creationId xmlns:a16="http://schemas.microsoft.com/office/drawing/2014/main" id="{786A020A-F250-863E-38C2-E9BD8BCEB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3348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7">
            <a:extLst>
              <a:ext uri="{FF2B5EF4-FFF2-40B4-BE49-F238E27FC236}">
                <a16:creationId xmlns:a16="http://schemas.microsoft.com/office/drawing/2014/main" id="{3A1AFA39-23A1-B7C1-E5C7-FBECDDB53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473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8">
            <a:extLst>
              <a:ext uri="{FF2B5EF4-FFF2-40B4-BE49-F238E27FC236}">
                <a16:creationId xmlns:a16="http://schemas.microsoft.com/office/drawing/2014/main" id="{AF7BB080-97E4-7EE1-2713-4E2189F38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3310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9">
            <a:extLst>
              <a:ext uri="{FF2B5EF4-FFF2-40B4-BE49-F238E27FC236}">
                <a16:creationId xmlns:a16="http://schemas.microsoft.com/office/drawing/2014/main" id="{F7BFDAFA-3D81-BAB1-3AA8-0FCDA39BC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623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0">
            <a:extLst>
              <a:ext uri="{FF2B5EF4-FFF2-40B4-BE49-F238E27FC236}">
                <a16:creationId xmlns:a16="http://schemas.microsoft.com/office/drawing/2014/main" id="{7DEDCD50-2D97-DFF1-8B58-39131ED6A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4860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1">
            <a:extLst>
              <a:ext uri="{FF2B5EF4-FFF2-40B4-BE49-F238E27FC236}">
                <a16:creationId xmlns:a16="http://schemas.microsoft.com/office/drawing/2014/main" id="{39915597-D3EA-FF5A-B380-76952C050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9685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12">
            <a:extLst>
              <a:ext uri="{FF2B5EF4-FFF2-40B4-BE49-F238E27FC236}">
                <a16:creationId xmlns:a16="http://schemas.microsoft.com/office/drawing/2014/main" id="{5DCCCFC7-A71E-AF91-2E57-118DDC6F3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7998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13">
            <a:extLst>
              <a:ext uri="{FF2B5EF4-FFF2-40B4-BE49-F238E27FC236}">
                <a16:creationId xmlns:a16="http://schemas.microsoft.com/office/drawing/2014/main" id="{A92FE759-445C-B8D5-31B9-7C9A8CD41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6310" y="1702431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41">
            <a:extLst>
              <a:ext uri="{FF2B5EF4-FFF2-40B4-BE49-F238E27FC236}">
                <a16:creationId xmlns:a16="http://schemas.microsoft.com/office/drawing/2014/main" id="{962FF7A5-BEEA-CB89-DDDC-18656D89F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048" y="3662993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Q</a:t>
            </a:r>
            <a:r>
              <a:rPr lang="en-US" altLang="zh-CN" sz="16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8" name="Text Box 42">
            <a:extLst>
              <a:ext uri="{FF2B5EF4-FFF2-40B4-BE49-F238E27FC236}">
                <a16:creationId xmlns:a16="http://schemas.microsoft.com/office/drawing/2014/main" id="{BDAD6A9D-3FF3-60C0-9E31-012FCC8CA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148" y="2970843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Q</a:t>
            </a:r>
            <a:r>
              <a:rPr lang="en-US" altLang="zh-CN" sz="16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9" name="Text Box 43">
            <a:extLst>
              <a:ext uri="{FF2B5EF4-FFF2-40B4-BE49-F238E27FC236}">
                <a16:creationId xmlns:a16="http://schemas.microsoft.com/office/drawing/2014/main" id="{E6834A2F-40AA-3796-6678-767AA8077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448" y="4393243"/>
            <a:ext cx="3873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Y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80" name="Line 44">
            <a:extLst>
              <a:ext uri="{FF2B5EF4-FFF2-40B4-BE49-F238E27FC236}">
                <a16:creationId xmlns:a16="http://schemas.microsoft.com/office/drawing/2014/main" id="{8C12F7E0-E605-11C2-E597-727E0EE5B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223" y="4839331"/>
            <a:ext cx="234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45">
            <a:extLst>
              <a:ext uri="{FF2B5EF4-FFF2-40B4-BE49-F238E27FC236}">
                <a16:creationId xmlns:a16="http://schemas.microsoft.com/office/drawing/2014/main" id="{F857E91C-C121-B84A-0C10-4C51A812A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523" y="4147181"/>
            <a:ext cx="234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46">
            <a:extLst>
              <a:ext uri="{FF2B5EF4-FFF2-40B4-BE49-F238E27FC236}">
                <a16:creationId xmlns:a16="http://schemas.microsoft.com/office/drawing/2014/main" id="{F875408A-B7F3-61E5-0A53-C652717F4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523" y="3442331"/>
            <a:ext cx="234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Text Box 48">
            <a:extLst>
              <a:ext uri="{FF2B5EF4-FFF2-40B4-BE49-F238E27FC236}">
                <a16:creationId xmlns:a16="http://schemas.microsoft.com/office/drawing/2014/main" id="{F1385564-BF56-7ED0-7538-1A1FB7A9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548" y="2350131"/>
            <a:ext cx="3873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X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84" name="Text Box 49">
            <a:extLst>
              <a:ext uri="{FF2B5EF4-FFF2-40B4-BE49-F238E27FC236}">
                <a16:creationId xmlns:a16="http://schemas.microsoft.com/office/drawing/2014/main" id="{B0C762E8-E001-391C-AF17-885881C82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598" y="1642106"/>
            <a:ext cx="571500" cy="427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>
                <a:latin typeface="Arial" panose="020B0604020202020204" pitchFamily="34" charset="0"/>
              </a:rPr>
              <a:t>CP</a:t>
            </a:r>
            <a:endParaRPr lang="en-US" altLang="zh-CN" sz="2200">
              <a:latin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992B5C1-5CAC-DC65-BBCC-D876D98BE249}"/>
              </a:ext>
            </a:extLst>
          </p:cNvPr>
          <p:cNvSpPr txBox="1"/>
          <p:nvPr/>
        </p:nvSpPr>
        <p:spPr>
          <a:xfrm>
            <a:off x="5118217" y="4992338"/>
            <a:ext cx="4714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在时钟沿上根据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更新，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随时随刻根据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</a:p>
        </p:txBody>
      </p:sp>
    </p:spTree>
    <p:extLst>
      <p:ext uri="{BB962C8B-B14F-4D97-AF65-F5344CB8AC3E}">
        <p14:creationId xmlns:p14="http://schemas.microsoft.com/office/powerpoint/2010/main" val="4139714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3274D-64A0-4223-6855-9D61AFF6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同步时序电路的分析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BF031-ECFC-24E3-AD4B-9BF5DB85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/>
              <a:t>已知逻辑电路图，确定其逻辑功能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一般分析步骤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根据逻辑图，写出逻辑方程</a:t>
            </a:r>
          </a:p>
          <a:p>
            <a:pPr lvl="2">
              <a:spcBef>
                <a:spcPct val="10000"/>
              </a:spcBef>
            </a:pPr>
            <a:r>
              <a:rPr lang="zh-CN" altLang="en-US" sz="2400" dirty="0"/>
              <a:t>输出方程</a:t>
            </a:r>
          </a:p>
          <a:p>
            <a:pPr lvl="2">
              <a:spcBef>
                <a:spcPct val="10000"/>
              </a:spcBef>
            </a:pPr>
            <a:r>
              <a:rPr lang="zh-CN" altLang="en-US" sz="2400" dirty="0"/>
              <a:t>激励方程：每个触发器的输入驱动方程</a:t>
            </a:r>
          </a:p>
          <a:p>
            <a:pPr lvl="2">
              <a:spcBef>
                <a:spcPct val="10000"/>
              </a:spcBef>
            </a:pPr>
            <a:r>
              <a:rPr lang="zh-CN" altLang="en-US" sz="2400" dirty="0"/>
              <a:t>状态方程：将激励方程代入触发器特性方程得到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列出状态表、画出状态图或时序图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确定电路的逻辑功能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D6B1C4-9631-5982-DF0D-08556CC0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DC0339-A28A-2ED8-E359-FF5497ED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50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23C88-182A-1195-2243-51D4BCAF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：分析时序电路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7993F0-A6A4-AE82-733D-E649A2B03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写出逻辑方程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A4D4D1-9089-0B46-2B5E-6A8E3390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A9449C-37C5-FF87-9EE1-466CA480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407E9BA-754C-3546-3C8D-F3348F48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22" y="1165807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输出方程</a:t>
            </a:r>
            <a:endParaRPr lang="zh-CN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79C7B41-A6D6-F70A-B170-032411691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22" y="2318332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</a:rPr>
              <a:t>激励方程</a:t>
            </a:r>
            <a:endParaRPr lang="zh-CN" altLang="en-US" sz="24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44163B6-7A9D-0A69-D070-D6A47A497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9" y="4155069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状态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endParaRPr lang="zh-CN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292086-9034-EB0D-3591-DE4071A17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59" y="3518482"/>
            <a:ext cx="2413000" cy="528637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J</a:t>
            </a:r>
            <a:r>
              <a:rPr lang="en-US" altLang="zh-CN" i="1" baseline="-25000">
                <a:ea typeface="楷体_GB2312" pitchFamily="49" charset="-122"/>
              </a:rPr>
              <a:t>2</a:t>
            </a:r>
            <a:r>
              <a:rPr lang="en-US" altLang="zh-CN" i="1">
                <a:ea typeface="楷体_GB2312" pitchFamily="49" charset="-122"/>
              </a:rPr>
              <a:t>=K</a:t>
            </a:r>
            <a:r>
              <a:rPr lang="en-US" altLang="zh-CN" i="1" baseline="-25000">
                <a:ea typeface="楷体_GB2312" pitchFamily="49" charset="-122"/>
              </a:rPr>
              <a:t>2</a:t>
            </a:r>
            <a:r>
              <a:rPr lang="en-US" altLang="zh-CN" i="1">
                <a:ea typeface="楷体_GB2312" pitchFamily="49" charset="-122"/>
              </a:rPr>
              <a:t>=X </a:t>
            </a:r>
            <a:r>
              <a:rPr lang="en-US" altLang="zh-CN" i="1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>
                <a:ea typeface="楷体_GB2312" pitchFamily="49" charset="-122"/>
              </a:rPr>
              <a:t> Q</a:t>
            </a:r>
            <a:r>
              <a:rPr lang="en-US" altLang="zh-CN" i="1" baseline="-25000"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EA4F64-1AC2-1FDC-3E56-37F48F48C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72" y="2858082"/>
            <a:ext cx="1433512" cy="528637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J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 i="1">
                <a:ea typeface="楷体_GB2312" pitchFamily="49" charset="-122"/>
              </a:rPr>
              <a:t>=K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 i="1">
                <a:ea typeface="楷体_GB2312" pitchFamily="49" charset="-122"/>
              </a:rPr>
              <a:t>=1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269B3-FC81-B629-075B-F0B6FB7B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22" y="1705557"/>
            <a:ext cx="1687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Y = Q</a:t>
            </a:r>
            <a:r>
              <a:rPr lang="en-US" altLang="zh-CN" i="1" baseline="-25000">
                <a:ea typeface="楷体_GB2312" pitchFamily="49" charset="-122"/>
              </a:rPr>
              <a:t>2 </a:t>
            </a:r>
            <a:r>
              <a:rPr lang="en-US" altLang="zh-CN" i="1">
                <a:ea typeface="楷体_GB2312" pitchFamily="49" charset="-122"/>
              </a:rPr>
              <a:t>Q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>
                <a:ea typeface="楷体_GB2312" pitchFamily="49" charset="-122"/>
              </a:rPr>
              <a:t> </a:t>
            </a:r>
          </a:p>
        </p:txBody>
      </p:sp>
      <p:grpSp>
        <p:nvGrpSpPr>
          <p:cNvPr id="12" name="Group 16">
            <a:extLst>
              <a:ext uri="{FF2B5EF4-FFF2-40B4-BE49-F238E27FC236}">
                <a16:creationId xmlns:a16="http://schemas.microsoft.com/office/drawing/2014/main" id="{059FD222-8D17-34C1-F665-A55E2EF549FF}"/>
              </a:ext>
            </a:extLst>
          </p:cNvPr>
          <p:cNvGrpSpPr>
            <a:grpSpLocks/>
          </p:cNvGrpSpPr>
          <p:nvPr/>
        </p:nvGrpSpPr>
        <p:grpSpPr bwMode="auto">
          <a:xfrm>
            <a:off x="854634" y="4658307"/>
            <a:ext cx="2016125" cy="519112"/>
            <a:chOff x="635" y="2364"/>
            <a:chExt cx="1270" cy="327"/>
          </a:xfrm>
        </p:grpSpPr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2427E8D7-5E6C-EB39-1A82-F7D1C899D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2364"/>
              <a:ext cx="1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Q</a:t>
              </a:r>
              <a:r>
                <a:rPr kumimoji="1" lang="en-US" altLang="zh-CN" i="1" baseline="-25000"/>
                <a:t>1</a:t>
              </a:r>
              <a:r>
                <a:rPr kumimoji="1" lang="en-US" altLang="zh-CN" i="1" baseline="30000"/>
                <a:t>n+1</a:t>
              </a:r>
              <a:r>
                <a:rPr kumimoji="1" lang="en-US" altLang="zh-CN" i="1"/>
                <a:t> = Q</a:t>
              </a:r>
              <a:r>
                <a:rPr kumimoji="1" lang="en-US" altLang="zh-CN" i="1" baseline="-25000"/>
                <a:t>1</a:t>
              </a:r>
              <a:r>
                <a:rPr kumimoji="1" lang="en-US" altLang="zh-CN" i="1" baseline="30000"/>
                <a:t>n</a:t>
              </a:r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BC6D268D-A3C1-6705-C932-85E7C5441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40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Rectangle 11">
            <a:extLst>
              <a:ext uri="{FF2B5EF4-FFF2-40B4-BE49-F238E27FC236}">
                <a16:creationId xmlns:a16="http://schemas.microsoft.com/office/drawing/2014/main" id="{94265E7B-2F2C-9EF0-504D-2839C28C7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634" y="5307594"/>
            <a:ext cx="3781425" cy="528638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i="1" dirty="0"/>
              <a:t>Q</a:t>
            </a:r>
            <a:r>
              <a:rPr kumimoji="1" lang="en-US" altLang="zh-CN" i="1" baseline="-25000" dirty="0"/>
              <a:t>2</a:t>
            </a:r>
            <a:r>
              <a:rPr kumimoji="1" lang="en-US" altLang="zh-CN" i="1" baseline="30000" dirty="0"/>
              <a:t>n+1</a:t>
            </a:r>
            <a:r>
              <a:rPr lang="en-US" altLang="zh-CN" i="1" baseline="30000" dirty="0">
                <a:ea typeface="楷体_GB2312" pitchFamily="49" charset="-122"/>
              </a:rPr>
              <a:t> </a:t>
            </a:r>
            <a:r>
              <a:rPr lang="en-US" altLang="zh-CN" i="1" dirty="0">
                <a:ea typeface="楷体_GB2312" pitchFamily="49" charset="-122"/>
              </a:rPr>
              <a:t>=X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 dirty="0">
                <a:ea typeface="楷体_GB2312" pitchFamily="49" charset="-122"/>
              </a:rPr>
              <a:t>  </a:t>
            </a:r>
            <a:r>
              <a:rPr kumimoji="1" lang="en-US" altLang="zh-CN" i="1" dirty="0">
                <a:ea typeface="楷体_GB2312" pitchFamily="49" charset="-122"/>
              </a:rPr>
              <a:t>Q</a:t>
            </a:r>
            <a:r>
              <a:rPr kumimoji="1" lang="en-US" altLang="zh-CN" i="1" baseline="-25000" dirty="0">
                <a:ea typeface="楷体_GB2312" pitchFamily="49" charset="-122"/>
              </a:rPr>
              <a:t>1</a:t>
            </a:r>
            <a:r>
              <a:rPr kumimoji="1" lang="en-US" altLang="zh-CN" i="1" baseline="30000" dirty="0">
                <a:ea typeface="楷体_GB2312" pitchFamily="49" charset="-122"/>
              </a:rPr>
              <a:t>n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 dirty="0">
                <a:ea typeface="楷体_GB2312" pitchFamily="49" charset="-122"/>
              </a:rPr>
              <a:t>  </a:t>
            </a:r>
            <a:r>
              <a:rPr kumimoji="1" lang="en-US" altLang="zh-CN" i="1" dirty="0">
                <a:ea typeface="楷体_GB2312" pitchFamily="49" charset="-122"/>
              </a:rPr>
              <a:t>Q</a:t>
            </a:r>
            <a:r>
              <a:rPr kumimoji="1" lang="en-US" altLang="zh-CN" i="1" baseline="-25000" dirty="0">
                <a:ea typeface="楷体_GB2312" pitchFamily="49" charset="-122"/>
              </a:rPr>
              <a:t>2</a:t>
            </a:r>
            <a:r>
              <a:rPr kumimoji="1" lang="en-US" altLang="zh-CN" i="1" baseline="30000" dirty="0">
                <a:ea typeface="楷体_GB2312" pitchFamily="49" charset="-122"/>
              </a:rPr>
              <a:t>n</a:t>
            </a:r>
          </a:p>
        </p:txBody>
      </p:sp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9E4EB423-1286-3916-725B-B38A9F6C9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817967"/>
              </p:ext>
            </p:extLst>
          </p:nvPr>
        </p:nvGraphicFramePr>
        <p:xfrm>
          <a:off x="3762529" y="1526981"/>
          <a:ext cx="5905500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2857500" imgH="1016000" progId="Word.Picture.8">
                  <p:embed/>
                </p:oleObj>
              </mc:Choice>
              <mc:Fallback>
                <p:oleObj name="图片" r:id="rId3" imgW="2857500" imgH="1016000" progId="Word.Picture.8">
                  <p:embed/>
                  <p:pic>
                    <p:nvPicPr>
                      <p:cNvPr id="276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529" y="1526981"/>
                        <a:ext cx="5905500" cy="2314575"/>
                      </a:xfrm>
                      <a:prstGeom prst="rect">
                        <a:avLst/>
                      </a:prstGeom>
                      <a:solidFill>
                        <a:schemeClr val="bg1">
                          <a:alpha val="3098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E4A8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12">
            <a:extLst>
              <a:ext uri="{FF2B5EF4-FFF2-40B4-BE49-F238E27FC236}">
                <a16:creationId xmlns:a16="http://schemas.microsoft.com/office/drawing/2014/main" id="{08C942AF-944E-5BA1-1B99-C1BB3258710D}"/>
              </a:ext>
            </a:extLst>
          </p:cNvPr>
          <p:cNvGrpSpPr>
            <a:grpSpLocks/>
          </p:cNvGrpSpPr>
          <p:nvPr/>
        </p:nvGrpSpPr>
        <p:grpSpPr bwMode="auto">
          <a:xfrm>
            <a:off x="6294120" y="5772732"/>
            <a:ext cx="3492500" cy="519112"/>
            <a:chOff x="2789" y="2931"/>
            <a:chExt cx="2200" cy="327"/>
          </a:xfrm>
        </p:grpSpPr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2CC1F6FD-3946-246A-4B7C-39A2BBC49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931"/>
              <a:ext cx="22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30000"/>
                </a:spcAft>
                <a:buFontTx/>
                <a:buNone/>
              </a:pPr>
              <a:r>
                <a:rPr kumimoji="1" lang="en-US" altLang="zh-CN" dirty="0"/>
                <a:t>[ Q</a:t>
              </a:r>
              <a:r>
                <a:rPr kumimoji="1" lang="en-US" altLang="zh-CN" baseline="30000" dirty="0"/>
                <a:t>n+1</a:t>
              </a:r>
              <a:r>
                <a:rPr kumimoji="1" lang="en-US" altLang="zh-CN" dirty="0"/>
                <a:t> = J </a:t>
              </a:r>
              <a:r>
                <a:rPr kumimoji="1" lang="en-US" altLang="zh-CN" dirty="0" err="1"/>
                <a:t>Q</a:t>
              </a:r>
              <a:r>
                <a:rPr kumimoji="1" lang="en-US" altLang="zh-CN" baseline="30000" dirty="0" err="1"/>
                <a:t>n</a:t>
              </a:r>
              <a:r>
                <a:rPr kumimoji="1" lang="en-US" altLang="zh-CN" dirty="0"/>
                <a:t> + K </a:t>
              </a:r>
              <a:r>
                <a:rPr kumimoji="1" lang="en-US" altLang="zh-CN" dirty="0" err="1"/>
                <a:t>Q</a:t>
              </a:r>
              <a:r>
                <a:rPr kumimoji="1" lang="en-US" altLang="zh-CN" baseline="30000" dirty="0" err="1"/>
                <a:t>n</a:t>
              </a:r>
              <a:r>
                <a:rPr kumimoji="1" lang="en-US" altLang="zh-CN" dirty="0"/>
                <a:t> ]</a:t>
              </a:r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994C14C2-0614-4407-21FE-6A1CF6347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971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8B6BA89E-7FE7-6B3F-D89F-23DF7722D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971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" name="Rectangle 13">
            <a:extLst>
              <a:ext uri="{FF2B5EF4-FFF2-40B4-BE49-F238E27FC236}">
                <a16:creationId xmlns:a16="http://schemas.microsoft.com/office/drawing/2014/main" id="{22B87D07-7DF9-D370-37F2-07589685C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235" y="3915025"/>
            <a:ext cx="31940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Moore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型时序电路</a:t>
            </a:r>
          </a:p>
        </p:txBody>
      </p:sp>
    </p:spTree>
    <p:extLst>
      <p:ext uri="{BB962C8B-B14F-4D97-AF65-F5344CB8AC3E}">
        <p14:creationId xmlns:p14="http://schemas.microsoft.com/office/powerpoint/2010/main" val="215625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9A6BA-7AD4-3F87-E3C2-49865283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：分析时序电路（续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7BC33E-F208-89D4-9A64-FACE7D233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列出状态表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6B402C-91AA-CF44-8CFF-B4313795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1A18D0-A6E4-62E4-2C50-710127AD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1872F0B-D4D0-078C-2113-F6829BDD2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22" y="1165807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输出方程</a:t>
            </a:r>
            <a:endParaRPr lang="zh-CN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220A2EC-BA92-6F10-E4D4-23BD216F4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22" y="2318332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</a:rPr>
              <a:t>激励方程</a:t>
            </a:r>
            <a:endParaRPr lang="zh-CN" altLang="en-US" sz="24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DBCC0AD-F6B9-2620-D0BB-6305D223D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9" y="4155069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状态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endParaRPr lang="zh-CN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519DEB-7E58-3BC5-828C-7EF46DDB4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59" y="3518482"/>
            <a:ext cx="2413000" cy="528637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J</a:t>
            </a:r>
            <a:r>
              <a:rPr lang="en-US" altLang="zh-CN" i="1" baseline="-25000">
                <a:ea typeface="楷体_GB2312" pitchFamily="49" charset="-122"/>
              </a:rPr>
              <a:t>2</a:t>
            </a:r>
            <a:r>
              <a:rPr lang="en-US" altLang="zh-CN" i="1">
                <a:ea typeface="楷体_GB2312" pitchFamily="49" charset="-122"/>
              </a:rPr>
              <a:t>=K</a:t>
            </a:r>
            <a:r>
              <a:rPr lang="en-US" altLang="zh-CN" i="1" baseline="-25000">
                <a:ea typeface="楷体_GB2312" pitchFamily="49" charset="-122"/>
              </a:rPr>
              <a:t>2</a:t>
            </a:r>
            <a:r>
              <a:rPr lang="en-US" altLang="zh-CN" i="1">
                <a:ea typeface="楷体_GB2312" pitchFamily="49" charset="-122"/>
              </a:rPr>
              <a:t>=X </a:t>
            </a:r>
            <a:r>
              <a:rPr lang="en-US" altLang="zh-CN" i="1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>
                <a:ea typeface="楷体_GB2312" pitchFamily="49" charset="-122"/>
              </a:rPr>
              <a:t> Q</a:t>
            </a:r>
            <a:r>
              <a:rPr lang="en-US" altLang="zh-CN" i="1" baseline="-25000"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BDEAC5-16B9-48B9-DC49-06F47EC5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72" y="2858082"/>
            <a:ext cx="1433512" cy="528637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J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 i="1">
                <a:ea typeface="楷体_GB2312" pitchFamily="49" charset="-122"/>
              </a:rPr>
              <a:t>=K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 i="1">
                <a:ea typeface="楷体_GB2312" pitchFamily="49" charset="-122"/>
              </a:rPr>
              <a:t>=1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40E40-09BF-555A-83A6-C15592D1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22" y="1705557"/>
            <a:ext cx="1687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>
                <a:ea typeface="楷体_GB2312" pitchFamily="49" charset="-122"/>
              </a:rPr>
              <a:t>Y = Q</a:t>
            </a:r>
            <a:r>
              <a:rPr lang="en-US" altLang="zh-CN" i="1" baseline="-25000">
                <a:ea typeface="楷体_GB2312" pitchFamily="49" charset="-122"/>
              </a:rPr>
              <a:t>2 </a:t>
            </a:r>
            <a:r>
              <a:rPr lang="en-US" altLang="zh-CN" i="1">
                <a:ea typeface="楷体_GB2312" pitchFamily="49" charset="-122"/>
              </a:rPr>
              <a:t>Q</a:t>
            </a:r>
            <a:r>
              <a:rPr lang="en-US" altLang="zh-CN" i="1" baseline="-25000">
                <a:ea typeface="楷体_GB2312" pitchFamily="49" charset="-122"/>
              </a:rPr>
              <a:t>1</a:t>
            </a:r>
            <a:r>
              <a:rPr lang="en-US" altLang="zh-CN">
                <a:ea typeface="楷体_GB2312" pitchFamily="49" charset="-122"/>
              </a:rPr>
              <a:t> </a:t>
            </a:r>
          </a:p>
        </p:txBody>
      </p:sp>
      <p:grpSp>
        <p:nvGrpSpPr>
          <p:cNvPr id="12" name="Group 16">
            <a:extLst>
              <a:ext uri="{FF2B5EF4-FFF2-40B4-BE49-F238E27FC236}">
                <a16:creationId xmlns:a16="http://schemas.microsoft.com/office/drawing/2014/main" id="{5917BFCC-B126-21C2-6B16-F712EF8A30F5}"/>
              </a:ext>
            </a:extLst>
          </p:cNvPr>
          <p:cNvGrpSpPr>
            <a:grpSpLocks/>
          </p:cNvGrpSpPr>
          <p:nvPr/>
        </p:nvGrpSpPr>
        <p:grpSpPr bwMode="auto">
          <a:xfrm>
            <a:off x="854634" y="4658307"/>
            <a:ext cx="2016125" cy="519112"/>
            <a:chOff x="635" y="2364"/>
            <a:chExt cx="1270" cy="327"/>
          </a:xfrm>
        </p:grpSpPr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C1E23B50-409C-9E90-46E6-D154C3435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2364"/>
              <a:ext cx="1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Q</a:t>
              </a:r>
              <a:r>
                <a:rPr kumimoji="1" lang="en-US" altLang="zh-CN" i="1" baseline="-25000"/>
                <a:t>1</a:t>
              </a:r>
              <a:r>
                <a:rPr kumimoji="1" lang="en-US" altLang="zh-CN" i="1" baseline="30000"/>
                <a:t>n+1</a:t>
              </a:r>
              <a:r>
                <a:rPr kumimoji="1" lang="en-US" altLang="zh-CN" i="1"/>
                <a:t> = Q</a:t>
              </a:r>
              <a:r>
                <a:rPr kumimoji="1" lang="en-US" altLang="zh-CN" i="1" baseline="-25000"/>
                <a:t>1</a:t>
              </a:r>
              <a:r>
                <a:rPr kumimoji="1" lang="en-US" altLang="zh-CN" i="1" baseline="30000"/>
                <a:t>n</a:t>
              </a:r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ED5C6F0-E8D0-4A23-F20B-A88E248B8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40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Rectangle 11">
            <a:extLst>
              <a:ext uri="{FF2B5EF4-FFF2-40B4-BE49-F238E27FC236}">
                <a16:creationId xmlns:a16="http://schemas.microsoft.com/office/drawing/2014/main" id="{BEB4B6DD-6E0E-E354-21BC-FB9D17218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634" y="5307594"/>
            <a:ext cx="3781425" cy="528638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i="1" dirty="0"/>
              <a:t>Q</a:t>
            </a:r>
            <a:r>
              <a:rPr kumimoji="1" lang="en-US" altLang="zh-CN" i="1" baseline="-25000" dirty="0"/>
              <a:t>2</a:t>
            </a:r>
            <a:r>
              <a:rPr kumimoji="1" lang="en-US" altLang="zh-CN" i="1" baseline="30000" dirty="0"/>
              <a:t>n+1</a:t>
            </a:r>
            <a:r>
              <a:rPr lang="en-US" altLang="zh-CN" i="1" baseline="30000" dirty="0">
                <a:ea typeface="楷体_GB2312" pitchFamily="49" charset="-122"/>
              </a:rPr>
              <a:t> </a:t>
            </a:r>
            <a:r>
              <a:rPr lang="en-US" altLang="zh-CN" i="1" dirty="0">
                <a:ea typeface="楷体_GB2312" pitchFamily="49" charset="-122"/>
              </a:rPr>
              <a:t>=X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 dirty="0">
                <a:ea typeface="楷体_GB2312" pitchFamily="49" charset="-122"/>
              </a:rPr>
              <a:t>  </a:t>
            </a:r>
            <a:r>
              <a:rPr kumimoji="1" lang="en-US" altLang="zh-CN" i="1" dirty="0">
                <a:ea typeface="楷体_GB2312" pitchFamily="49" charset="-122"/>
              </a:rPr>
              <a:t>Q</a:t>
            </a:r>
            <a:r>
              <a:rPr kumimoji="1" lang="en-US" altLang="zh-CN" i="1" baseline="-25000" dirty="0">
                <a:ea typeface="楷体_GB2312" pitchFamily="49" charset="-122"/>
              </a:rPr>
              <a:t>1</a:t>
            </a:r>
            <a:r>
              <a:rPr kumimoji="1" lang="en-US" altLang="zh-CN" i="1" baseline="30000" dirty="0">
                <a:ea typeface="楷体_GB2312" pitchFamily="49" charset="-122"/>
              </a:rPr>
              <a:t>n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lang="en-US" altLang="zh-CN" i="1" dirty="0">
                <a:ea typeface="楷体_GB2312" pitchFamily="49" charset="-122"/>
              </a:rPr>
              <a:t>  </a:t>
            </a:r>
            <a:r>
              <a:rPr kumimoji="1" lang="en-US" altLang="zh-CN" i="1" dirty="0">
                <a:ea typeface="楷体_GB2312" pitchFamily="49" charset="-122"/>
              </a:rPr>
              <a:t>Q</a:t>
            </a:r>
            <a:r>
              <a:rPr kumimoji="1" lang="en-US" altLang="zh-CN" i="1" baseline="-25000" dirty="0">
                <a:ea typeface="楷体_GB2312" pitchFamily="49" charset="-122"/>
              </a:rPr>
              <a:t>2</a:t>
            </a:r>
            <a:r>
              <a:rPr kumimoji="1" lang="en-US" altLang="zh-CN" i="1" baseline="30000" dirty="0">
                <a:ea typeface="楷体_GB2312" pitchFamily="49" charset="-122"/>
              </a:rPr>
              <a:t>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CD64F0-DC35-4250-AF07-F9AFE7D7BBCB}"/>
              </a:ext>
            </a:extLst>
          </p:cNvPr>
          <p:cNvSpPr txBox="1"/>
          <p:nvPr/>
        </p:nvSpPr>
        <p:spPr>
          <a:xfrm>
            <a:off x="531418" y="5973316"/>
            <a:ext cx="38780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时输出为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，否则为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6">
            <a:extLst>
              <a:ext uri="{FF2B5EF4-FFF2-40B4-BE49-F238E27FC236}">
                <a16:creationId xmlns:a16="http://schemas.microsoft.com/office/drawing/2014/main" id="{EC6CADA7-1425-3699-DF37-02DBDF9350FD}"/>
              </a:ext>
            </a:extLst>
          </p:cNvPr>
          <p:cNvCxnSpPr/>
          <p:nvPr/>
        </p:nvCxnSpPr>
        <p:spPr>
          <a:xfrm>
            <a:off x="1915630" y="5881468"/>
            <a:ext cx="2262063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">
            <a:extLst>
              <a:ext uri="{FF2B5EF4-FFF2-40B4-BE49-F238E27FC236}">
                <a16:creationId xmlns:a16="http://schemas.microsoft.com/office/drawing/2014/main" id="{1203B6D9-C0E3-370B-F335-E23212307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895" y="1565063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状态表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BC366A28-16A5-43CF-9B23-7189F01623DA}"/>
              </a:ext>
            </a:extLst>
          </p:cNvPr>
          <p:cNvGrpSpPr>
            <a:grpSpLocks/>
          </p:cNvGrpSpPr>
          <p:nvPr/>
        </p:nvGrpSpPr>
        <p:grpSpPr bwMode="auto">
          <a:xfrm>
            <a:off x="7583189" y="3485144"/>
            <a:ext cx="698500" cy="1927225"/>
            <a:chOff x="4368" y="2186"/>
            <a:chExt cx="848" cy="1214"/>
          </a:xfrm>
        </p:grpSpPr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A32A6603-D55A-AC46-1417-9B7972AF0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093"/>
              <a:ext cx="8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1 0</a:t>
              </a:r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FF8DFEE4-63D8-78FB-E0A2-B92DF11CE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798"/>
              <a:ext cx="8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0 1</a:t>
              </a:r>
            </a:p>
          </p:txBody>
        </p:sp>
        <p:sp>
          <p:nvSpPr>
            <p:cNvPr id="22" name="Rectangle 13">
              <a:extLst>
                <a:ext uri="{FF2B5EF4-FFF2-40B4-BE49-F238E27FC236}">
                  <a16:creationId xmlns:a16="http://schemas.microsoft.com/office/drawing/2014/main" id="{D002047C-8D4D-DE96-7F87-E6CE9D419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2186"/>
              <a:ext cx="8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1 1</a:t>
              </a:r>
            </a:p>
          </p:txBody>
        </p:sp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1C435F51-3678-463D-BFEA-FFA0BA50F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2481"/>
              <a:ext cx="8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0 0</a:t>
              </a:r>
            </a:p>
          </p:txBody>
        </p:sp>
      </p:grpSp>
      <p:grpSp>
        <p:nvGrpSpPr>
          <p:cNvPr id="24" name="Group 15">
            <a:extLst>
              <a:ext uri="{FF2B5EF4-FFF2-40B4-BE49-F238E27FC236}">
                <a16:creationId xmlns:a16="http://schemas.microsoft.com/office/drawing/2014/main" id="{6528DC95-D082-9120-3EDA-E680F93759B3}"/>
              </a:ext>
            </a:extLst>
          </p:cNvPr>
          <p:cNvGrpSpPr>
            <a:grpSpLocks/>
          </p:cNvGrpSpPr>
          <p:nvPr/>
        </p:nvGrpSpPr>
        <p:grpSpPr bwMode="auto">
          <a:xfrm>
            <a:off x="6557664" y="3478794"/>
            <a:ext cx="846137" cy="1935163"/>
            <a:chOff x="3549" y="2182"/>
            <a:chExt cx="837" cy="1219"/>
          </a:xfrm>
        </p:grpSpPr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B9C0B770-5565-8BD2-0729-8FD5C898D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094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0 0</a:t>
              </a:r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5551FAF5-F6D0-3EF2-3DC2-14AEB0578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798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1 1</a:t>
              </a:r>
            </a:p>
          </p:txBody>
        </p:sp>
        <p:sp>
          <p:nvSpPr>
            <p:cNvPr id="27" name="Rectangle 18">
              <a:extLst>
                <a:ext uri="{FF2B5EF4-FFF2-40B4-BE49-F238E27FC236}">
                  <a16:creationId xmlns:a16="http://schemas.microsoft.com/office/drawing/2014/main" id="{52F4D8A1-F4AF-DEA6-146F-4D905C35C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2182"/>
              <a:ext cx="81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0 1</a:t>
              </a:r>
            </a:p>
          </p:txBody>
        </p:sp>
        <p:sp>
          <p:nvSpPr>
            <p:cNvPr id="28" name="Rectangle 19">
              <a:extLst>
                <a:ext uri="{FF2B5EF4-FFF2-40B4-BE49-F238E27FC236}">
                  <a16:creationId xmlns:a16="http://schemas.microsoft.com/office/drawing/2014/main" id="{476AFBE6-7033-5DB7-D401-F85046CAD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485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1 0</a:t>
              </a:r>
            </a:p>
          </p:txBody>
        </p:sp>
      </p:grpSp>
      <p:grpSp>
        <p:nvGrpSpPr>
          <p:cNvPr id="29" name="Group 20">
            <a:extLst>
              <a:ext uri="{FF2B5EF4-FFF2-40B4-BE49-F238E27FC236}">
                <a16:creationId xmlns:a16="http://schemas.microsoft.com/office/drawing/2014/main" id="{1A36C295-6AE2-5C67-9BFA-30FE22C51639}"/>
              </a:ext>
            </a:extLst>
          </p:cNvPr>
          <p:cNvGrpSpPr>
            <a:grpSpLocks/>
          </p:cNvGrpSpPr>
          <p:nvPr/>
        </p:nvGrpSpPr>
        <p:grpSpPr bwMode="auto">
          <a:xfrm>
            <a:off x="5557539" y="3466094"/>
            <a:ext cx="801687" cy="1946275"/>
            <a:chOff x="2801" y="2174"/>
            <a:chExt cx="675" cy="1226"/>
          </a:xfrm>
        </p:grpSpPr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75E1AF90-4EAB-BBC6-55AB-E57C42858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3093"/>
              <a:ext cx="66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1 1</a:t>
              </a:r>
            </a:p>
          </p:txBody>
        </p: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1BDD1E48-2931-F61B-0145-6207E99F4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" y="2798"/>
              <a:ext cx="66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1 0</a:t>
              </a:r>
            </a:p>
          </p:txBody>
        </p: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02476AA1-3DF4-40C1-D275-3EF5A6D9E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2174"/>
              <a:ext cx="57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0 0</a:t>
              </a:r>
            </a:p>
          </p:txBody>
        </p:sp>
        <p:sp>
          <p:nvSpPr>
            <p:cNvPr id="33" name="Rectangle 24">
              <a:extLst>
                <a:ext uri="{FF2B5EF4-FFF2-40B4-BE49-F238E27FC236}">
                  <a16:creationId xmlns:a16="http://schemas.microsoft.com/office/drawing/2014/main" id="{CC3E6C75-7B57-B2DE-FE70-999BEC5B8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5" y="2481"/>
              <a:ext cx="66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0 1</a:t>
              </a:r>
            </a:p>
          </p:txBody>
        </p:sp>
      </p:grpSp>
      <p:graphicFrame>
        <p:nvGraphicFramePr>
          <p:cNvPr id="34" name="Object 25">
            <a:extLst>
              <a:ext uri="{FF2B5EF4-FFF2-40B4-BE49-F238E27FC236}">
                <a16:creationId xmlns:a16="http://schemas.microsoft.com/office/drawing/2014/main" id="{F449EE65-9DED-9745-792C-18FD4A6B5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192859"/>
              </p:ext>
            </p:extLst>
          </p:nvPr>
        </p:nvGraphicFramePr>
        <p:xfrm>
          <a:off x="5422601" y="2494544"/>
          <a:ext cx="100806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81000" imgH="228600" progId="Equation.3">
                  <p:embed/>
                </p:oleObj>
              </mc:Choice>
              <mc:Fallback>
                <p:oleObj name="公式" r:id="rId3" imgW="381000" imgH="228600" progId="Equation.3">
                  <p:embed/>
                  <p:pic>
                    <p:nvPicPr>
                      <p:cNvPr id="2868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601" y="2494544"/>
                        <a:ext cx="1008063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6">
            <a:extLst>
              <a:ext uri="{FF2B5EF4-FFF2-40B4-BE49-F238E27FC236}">
                <a16:creationId xmlns:a16="http://schemas.microsoft.com/office/drawing/2014/main" id="{75E62F20-12A9-F02E-8A73-2608E32CA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039312"/>
              </p:ext>
            </p:extLst>
          </p:nvPr>
        </p:nvGraphicFramePr>
        <p:xfrm>
          <a:off x="6827539" y="2277057"/>
          <a:ext cx="1368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58800" imgH="228600" progId="Equation.3">
                  <p:embed/>
                </p:oleObj>
              </mc:Choice>
              <mc:Fallback>
                <p:oleObj name="公式" r:id="rId5" imgW="558800" imgH="228600" progId="Equation.3">
                  <p:embed/>
                  <p:pic>
                    <p:nvPicPr>
                      <p:cNvPr id="2868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539" y="2277057"/>
                        <a:ext cx="1368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7">
            <a:extLst>
              <a:ext uri="{FF2B5EF4-FFF2-40B4-BE49-F238E27FC236}">
                <a16:creationId xmlns:a16="http://schemas.microsoft.com/office/drawing/2014/main" id="{52ECE744-88D8-0AA3-7956-3A0C424B6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189" y="2926344"/>
            <a:ext cx="75565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cs typeface="Times New Roman" panose="02020603050405020304" pitchFamily="18" charset="0"/>
              </a:rPr>
              <a:t>X=</a:t>
            </a:r>
            <a:r>
              <a:rPr lang="en-US" altLang="zh-CN" sz="24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88375298-6E7D-007D-895C-8BBC7C977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39" y="2926344"/>
            <a:ext cx="98901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cs typeface="Times New Roman" panose="02020603050405020304" pitchFamily="18" charset="0"/>
              </a:rPr>
              <a:t>X=</a:t>
            </a:r>
            <a:r>
              <a:rPr lang="en-US" altLang="zh-CN" sz="24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761C79F5-8C84-CACF-C0D2-58914DA40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401" y="2224669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0">
            <a:extLst>
              <a:ext uri="{FF2B5EF4-FFF2-40B4-BE49-F238E27FC236}">
                <a16:creationId xmlns:a16="http://schemas.microsoft.com/office/drawing/2014/main" id="{47D49D65-D993-E422-2FA1-A4C26116B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401" y="5429832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1">
            <a:extLst>
              <a:ext uri="{FF2B5EF4-FFF2-40B4-BE49-F238E27FC236}">
                <a16:creationId xmlns:a16="http://schemas.microsoft.com/office/drawing/2014/main" id="{625688A7-1AC8-4C04-2665-017DC7EF1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2739" y="2224669"/>
            <a:ext cx="0" cy="3205163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2">
            <a:extLst>
              <a:ext uri="{FF2B5EF4-FFF2-40B4-BE49-F238E27FC236}">
                <a16:creationId xmlns:a16="http://schemas.microsoft.com/office/drawing/2014/main" id="{F159C577-6967-A39A-FE2F-317B7E725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314" y="2899357"/>
            <a:ext cx="0" cy="253047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33">
            <a:extLst>
              <a:ext uri="{FF2B5EF4-FFF2-40B4-BE49-F238E27FC236}">
                <a16:creationId xmlns:a16="http://schemas.microsoft.com/office/drawing/2014/main" id="{33F03959-0C70-112F-8021-02FE8B653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2739" y="2899357"/>
            <a:ext cx="18891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34">
            <a:extLst>
              <a:ext uri="{FF2B5EF4-FFF2-40B4-BE49-F238E27FC236}">
                <a16:creationId xmlns:a16="http://schemas.microsoft.com/office/drawing/2014/main" id="{856ADB71-8B26-51D5-57ED-C68DFD9E9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401" y="3478794"/>
            <a:ext cx="3652838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35">
            <a:extLst>
              <a:ext uri="{FF2B5EF4-FFF2-40B4-BE49-F238E27FC236}">
                <a16:creationId xmlns:a16="http://schemas.microsoft.com/office/drawing/2014/main" id="{1A15B9A5-3605-15BC-810E-88807A1E0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401" y="3966157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36">
            <a:extLst>
              <a:ext uri="{FF2B5EF4-FFF2-40B4-BE49-F238E27FC236}">
                <a16:creationId xmlns:a16="http://schemas.microsoft.com/office/drawing/2014/main" id="{D882D473-33BF-C5B2-4927-E09D818DF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4351" y="4453519"/>
            <a:ext cx="365442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37">
            <a:extLst>
              <a:ext uri="{FF2B5EF4-FFF2-40B4-BE49-F238E27FC236}">
                <a16:creationId xmlns:a16="http://schemas.microsoft.com/office/drawing/2014/main" id="{58245D5E-0A73-161D-9C3C-C145E06E5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401" y="4940882"/>
            <a:ext cx="3652838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" name="Group 38">
            <a:extLst>
              <a:ext uri="{FF2B5EF4-FFF2-40B4-BE49-F238E27FC236}">
                <a16:creationId xmlns:a16="http://schemas.microsoft.com/office/drawing/2014/main" id="{9B260F10-EDAF-E33D-9D59-11F2DF2507E0}"/>
              </a:ext>
            </a:extLst>
          </p:cNvPr>
          <p:cNvGrpSpPr>
            <a:grpSpLocks/>
          </p:cNvGrpSpPr>
          <p:nvPr/>
        </p:nvGrpSpPr>
        <p:grpSpPr bwMode="auto">
          <a:xfrm>
            <a:off x="8483301" y="3453394"/>
            <a:ext cx="611188" cy="1935163"/>
            <a:chOff x="3549" y="2182"/>
            <a:chExt cx="837" cy="1219"/>
          </a:xfrm>
        </p:grpSpPr>
        <p:sp>
          <p:nvSpPr>
            <p:cNvPr id="48" name="Rectangle 39">
              <a:extLst>
                <a:ext uri="{FF2B5EF4-FFF2-40B4-BE49-F238E27FC236}">
                  <a16:creationId xmlns:a16="http://schemas.microsoft.com/office/drawing/2014/main" id="{FBEB3015-AD3C-3F97-E38B-A97AFD86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094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9B0035BF-3A45-0BF8-CE7B-F5DE8039A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798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" name="Rectangle 41">
              <a:extLst>
                <a:ext uri="{FF2B5EF4-FFF2-40B4-BE49-F238E27FC236}">
                  <a16:creationId xmlns:a16="http://schemas.microsoft.com/office/drawing/2014/main" id="{7DB1A892-A54F-348F-3D32-C33104DEA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2182"/>
              <a:ext cx="81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 </a:t>
              </a:r>
            </a:p>
          </p:txBody>
        </p:sp>
        <p:sp>
          <p:nvSpPr>
            <p:cNvPr id="51" name="Rectangle 42">
              <a:extLst>
                <a:ext uri="{FF2B5EF4-FFF2-40B4-BE49-F238E27FC236}">
                  <a16:creationId xmlns:a16="http://schemas.microsoft.com/office/drawing/2014/main" id="{AA851C41-5D92-5E54-2A83-7135A18D4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485"/>
              <a:ext cx="8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52" name="Object 43">
            <a:extLst>
              <a:ext uri="{FF2B5EF4-FFF2-40B4-BE49-F238E27FC236}">
                <a16:creationId xmlns:a16="http://schemas.microsoft.com/office/drawing/2014/main" id="{7AEFADB9-5CCD-104C-AAE5-97490924CC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794770"/>
              </p:ext>
            </p:extLst>
          </p:nvPr>
        </p:nvGraphicFramePr>
        <p:xfrm>
          <a:off x="8627764" y="2651707"/>
          <a:ext cx="3429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9579" imgH="164957" progId="Equation.3">
                  <p:embed/>
                </p:oleObj>
              </mc:Choice>
              <mc:Fallback>
                <p:oleObj name="公式" r:id="rId7" imgW="139579" imgH="164957" progId="Equation.3">
                  <p:embed/>
                  <p:pic>
                    <p:nvPicPr>
                      <p:cNvPr id="2870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7764" y="2651707"/>
                        <a:ext cx="3429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44">
            <a:extLst>
              <a:ext uri="{FF2B5EF4-FFF2-40B4-BE49-F238E27FC236}">
                <a16:creationId xmlns:a16="http://schemas.microsoft.com/office/drawing/2014/main" id="{CCD48820-B0C2-7A39-D62D-5B1455F88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1864" y="2219907"/>
            <a:ext cx="0" cy="3205162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1F960D2-B09F-FC2E-E97F-F9ABC1AB618F}"/>
              </a:ext>
            </a:extLst>
          </p:cNvPr>
          <p:cNvSpPr txBox="1"/>
          <p:nvPr/>
        </p:nvSpPr>
        <p:spPr>
          <a:xfrm>
            <a:off x="5132257" y="5429422"/>
            <a:ext cx="446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Q2,Q1</a:t>
            </a:r>
            <a:r>
              <a:rPr lang="zh-CN" altLang="en-US" strike="sngStrike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和变化后的</a:t>
            </a:r>
            <a:r>
              <a:rPr lang="en-US" altLang="zh-CN" strike="sngStrike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来确定输出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586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68B6E-38A9-ED8A-0C59-DF5170E6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：分析时序电路（续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D3E24-53D7-3D71-10B2-0F49D558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画出状态图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F11EAC-47BC-1A0A-46E3-A15A91DA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8D1B54-1677-33EE-2F4A-18FAA4EA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731D5D-8094-BAE8-08B8-3285E3B04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041" y="1745825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6C458056-C44B-274C-4070-14D83968895C}"/>
              </a:ext>
            </a:extLst>
          </p:cNvPr>
          <p:cNvGrpSpPr>
            <a:grpSpLocks/>
          </p:cNvGrpSpPr>
          <p:nvPr/>
        </p:nvGrpSpPr>
        <p:grpSpPr bwMode="auto">
          <a:xfrm>
            <a:off x="737879" y="2377650"/>
            <a:ext cx="3097212" cy="2808287"/>
            <a:chOff x="521" y="2047"/>
            <a:chExt cx="1951" cy="1769"/>
          </a:xfrm>
        </p:grpSpPr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66CF36B0-20A9-4189-4384-AA30D54E49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" y="2744"/>
              <a:ext cx="368" cy="1062"/>
              <a:chOff x="4368" y="2186"/>
              <a:chExt cx="848" cy="1214"/>
            </a:xfrm>
          </p:grpSpPr>
          <p:sp>
            <p:nvSpPr>
              <p:cNvPr id="39" name="Rectangle 14">
                <a:extLst>
                  <a:ext uri="{FF2B5EF4-FFF2-40B4-BE49-F238E27FC236}">
                    <a16:creationId xmlns:a16="http://schemas.microsoft.com/office/drawing/2014/main" id="{82EFC39B-EA82-ABE1-59C1-C1B663792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" y="3093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  <p:sp>
            <p:nvSpPr>
              <p:cNvPr id="40" name="Rectangle 15">
                <a:extLst>
                  <a:ext uri="{FF2B5EF4-FFF2-40B4-BE49-F238E27FC236}">
                    <a16:creationId xmlns:a16="http://schemas.microsoft.com/office/drawing/2014/main" id="{9D0376F2-C2DE-E291-88F6-3BC3984C9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798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  <p:sp>
            <p:nvSpPr>
              <p:cNvPr id="41" name="Rectangle 16">
                <a:extLst>
                  <a:ext uri="{FF2B5EF4-FFF2-40B4-BE49-F238E27FC236}">
                    <a16:creationId xmlns:a16="http://schemas.microsoft.com/office/drawing/2014/main" id="{11DE217A-5E3F-C1C3-425A-DBAE0996D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6" y="2186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42" name="Rectangle 17">
                <a:extLst>
                  <a:ext uri="{FF2B5EF4-FFF2-40B4-BE49-F238E27FC236}">
                    <a16:creationId xmlns:a16="http://schemas.microsoft.com/office/drawing/2014/main" id="{39AB863B-1D3E-5F78-8418-E95970485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8" y="2481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</p:grpSp>
        <p:grpSp>
          <p:nvGrpSpPr>
            <p:cNvPr id="9" name="Group 18">
              <a:extLst>
                <a:ext uri="{FF2B5EF4-FFF2-40B4-BE49-F238E27FC236}">
                  <a16:creationId xmlns:a16="http://schemas.microsoft.com/office/drawing/2014/main" id="{2D3A9E6E-C4BB-C656-F06A-80DAC8180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9" y="2741"/>
              <a:ext cx="446" cy="1066"/>
              <a:chOff x="3549" y="2182"/>
              <a:chExt cx="837" cy="1219"/>
            </a:xfrm>
          </p:grpSpPr>
          <p:sp>
            <p:nvSpPr>
              <p:cNvPr id="35" name="Rectangle 19">
                <a:extLst>
                  <a:ext uri="{FF2B5EF4-FFF2-40B4-BE49-F238E27FC236}">
                    <a16:creationId xmlns:a16="http://schemas.microsoft.com/office/drawing/2014/main" id="{1728C0DE-9646-2D60-A6A3-978BB9301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3094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  <p:sp>
            <p:nvSpPr>
              <p:cNvPr id="36" name="Rectangle 20">
                <a:extLst>
                  <a:ext uri="{FF2B5EF4-FFF2-40B4-BE49-F238E27FC236}">
                    <a16:creationId xmlns:a16="http://schemas.microsoft.com/office/drawing/2014/main" id="{F0D64C45-1DF2-C7BA-50BF-5C5672AFF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2798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CA7F5CC4-78E1-B355-683E-1B6BAA801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182"/>
                <a:ext cx="819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BD4A0F65-05A9-0DD2-5FB0-92E182A42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9" y="2485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</p:grpSp>
        <p:grpSp>
          <p:nvGrpSpPr>
            <p:cNvPr id="10" name="Group 23">
              <a:extLst>
                <a:ext uri="{FF2B5EF4-FFF2-40B4-BE49-F238E27FC236}">
                  <a16:creationId xmlns:a16="http://schemas.microsoft.com/office/drawing/2014/main" id="{B1D52328-D6B2-5801-4A23-E9233257F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" y="2734"/>
              <a:ext cx="422" cy="1072"/>
              <a:chOff x="2801" y="2174"/>
              <a:chExt cx="675" cy="1226"/>
            </a:xfrm>
          </p:grpSpPr>
          <p:sp>
            <p:nvSpPr>
              <p:cNvPr id="31" name="Rectangle 24">
                <a:extLst>
                  <a:ext uri="{FF2B5EF4-FFF2-40B4-BE49-F238E27FC236}">
                    <a16:creationId xmlns:a16="http://schemas.microsoft.com/office/drawing/2014/main" id="{715EADC7-B3BC-4407-1821-B22A49A61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" y="3093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32" name="Rectangle 25">
                <a:extLst>
                  <a:ext uri="{FF2B5EF4-FFF2-40B4-BE49-F238E27FC236}">
                    <a16:creationId xmlns:a16="http://schemas.microsoft.com/office/drawing/2014/main" id="{DCFE122C-8B68-9F11-6B6A-A349766BD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798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6742626E-B87D-F79C-D35B-70DE6DF7C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" y="2174"/>
                <a:ext cx="57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2C4099C2-4DCD-7120-3C75-769DC5BC6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5" y="2481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</p:grpSp>
        <p:graphicFrame>
          <p:nvGraphicFramePr>
            <p:cNvPr id="11" name="Object 28">
              <a:extLst>
                <a:ext uri="{FF2B5EF4-FFF2-40B4-BE49-F238E27FC236}">
                  <a16:creationId xmlns:a16="http://schemas.microsoft.com/office/drawing/2014/main" id="{337922AF-81C4-A508-FFDD-688074B2C4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" y="2198"/>
            <a:ext cx="53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81000" imgH="228600" progId="Equation.3">
                    <p:embed/>
                  </p:oleObj>
                </mc:Choice>
                <mc:Fallback>
                  <p:oleObj name="公式" r:id="rId2" imgW="381000" imgH="228600" progId="Equation.3">
                    <p:embed/>
                    <p:pic>
                      <p:nvPicPr>
                        <p:cNvPr id="30737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198"/>
                          <a:ext cx="531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9">
              <a:extLst>
                <a:ext uri="{FF2B5EF4-FFF2-40B4-BE49-F238E27FC236}">
                  <a16:creationId xmlns:a16="http://schemas.microsoft.com/office/drawing/2014/main" id="{83E1D66C-3645-308D-7982-BB7DA0FA2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1" y="2078"/>
            <a:ext cx="72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58800" imgH="228600" progId="Equation.3">
                    <p:embed/>
                  </p:oleObj>
                </mc:Choice>
                <mc:Fallback>
                  <p:oleObj name="公式" r:id="rId4" imgW="558800" imgH="228600" progId="Equation.3">
                    <p:embed/>
                    <p:pic>
                      <p:nvPicPr>
                        <p:cNvPr id="30738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1" y="2078"/>
                          <a:ext cx="72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3BDFA2F2-A532-98AF-FB30-4761E556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2436"/>
              <a:ext cx="5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i="1">
                  <a:cs typeface="Times New Roman" panose="02020603050405020304" pitchFamily="18" charset="0"/>
                </a:rPr>
                <a:t>X=</a:t>
              </a:r>
              <a:r>
                <a:rPr lang="en-US" altLang="zh-CN" sz="240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930C168E-7810-832F-8BE4-A357A2B94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" y="2436"/>
              <a:ext cx="5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i="1">
                  <a:cs typeface="Times New Roman" panose="02020603050405020304" pitchFamily="18" charset="0"/>
                </a:rPr>
                <a:t>X=</a:t>
              </a:r>
              <a:r>
                <a:rPr lang="en-US" altLang="zh-CN" sz="240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" name="Line 32">
              <a:extLst>
                <a:ext uri="{FF2B5EF4-FFF2-40B4-BE49-F238E27FC236}">
                  <a16:creationId xmlns:a16="http://schemas.microsoft.com/office/drawing/2014/main" id="{78B31956-0E3F-D9FF-BC83-6FE860438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2050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2267C14-F59B-74B7-5971-428090DE3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816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4">
              <a:extLst>
                <a:ext uri="{FF2B5EF4-FFF2-40B4-BE49-F238E27FC236}">
                  <a16:creationId xmlns:a16="http://schemas.microsoft.com/office/drawing/2014/main" id="{386DAE32-4302-CFAF-AA21-E90437C6D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" y="2050"/>
              <a:ext cx="0" cy="176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5">
              <a:extLst>
                <a:ext uri="{FF2B5EF4-FFF2-40B4-BE49-F238E27FC236}">
                  <a16:creationId xmlns:a16="http://schemas.microsoft.com/office/drawing/2014/main" id="{2490AC8E-1FD2-8E45-7B12-8901D5CF7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21"/>
              <a:ext cx="0" cy="1395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6">
              <a:extLst>
                <a:ext uri="{FF2B5EF4-FFF2-40B4-BE49-F238E27FC236}">
                  <a16:creationId xmlns:a16="http://schemas.microsoft.com/office/drawing/2014/main" id="{BFA827B1-E3BB-6979-A8B0-63BC9BE47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" y="2421"/>
              <a:ext cx="995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7">
              <a:extLst>
                <a:ext uri="{FF2B5EF4-FFF2-40B4-BE49-F238E27FC236}">
                  <a16:creationId xmlns:a16="http://schemas.microsoft.com/office/drawing/2014/main" id="{DD37887A-8B5A-A916-8600-F94D78895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2741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8">
              <a:extLst>
                <a:ext uri="{FF2B5EF4-FFF2-40B4-BE49-F238E27FC236}">
                  <a16:creationId xmlns:a16="http://schemas.microsoft.com/office/drawing/2014/main" id="{BD214FEA-E4C8-18E8-A2FA-E65158B89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009"/>
              <a:ext cx="192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9">
              <a:extLst>
                <a:ext uri="{FF2B5EF4-FFF2-40B4-BE49-F238E27FC236}">
                  <a16:creationId xmlns:a16="http://schemas.microsoft.com/office/drawing/2014/main" id="{5B6F05BC-32B8-896C-CCE6-71723651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3278"/>
              <a:ext cx="19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0">
              <a:extLst>
                <a:ext uri="{FF2B5EF4-FFF2-40B4-BE49-F238E27FC236}">
                  <a16:creationId xmlns:a16="http://schemas.microsoft.com/office/drawing/2014/main" id="{90DAC4E8-CA14-7121-E1C4-03DC63E09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547"/>
              <a:ext cx="192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1">
              <a:extLst>
                <a:ext uri="{FF2B5EF4-FFF2-40B4-BE49-F238E27FC236}">
                  <a16:creationId xmlns:a16="http://schemas.microsoft.com/office/drawing/2014/main" id="{37F93710-FA71-1F3C-D23C-0063B8124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" y="2727"/>
              <a:ext cx="322" cy="1066"/>
              <a:chOff x="3549" y="2182"/>
              <a:chExt cx="837" cy="1219"/>
            </a:xfrm>
          </p:grpSpPr>
          <p:sp>
            <p:nvSpPr>
              <p:cNvPr id="27" name="Rectangle 42">
                <a:extLst>
                  <a:ext uri="{FF2B5EF4-FFF2-40B4-BE49-F238E27FC236}">
                    <a16:creationId xmlns:a16="http://schemas.microsoft.com/office/drawing/2014/main" id="{138C125E-B0DD-2CE9-515E-D16B2BC3E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3094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8" name="Rectangle 43">
                <a:extLst>
                  <a:ext uri="{FF2B5EF4-FFF2-40B4-BE49-F238E27FC236}">
                    <a16:creationId xmlns:a16="http://schemas.microsoft.com/office/drawing/2014/main" id="{AE3EF0DF-AC5E-C54F-6CF5-306DBB919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2798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" name="Rectangle 44">
                <a:extLst>
                  <a:ext uri="{FF2B5EF4-FFF2-40B4-BE49-F238E27FC236}">
                    <a16:creationId xmlns:a16="http://schemas.microsoft.com/office/drawing/2014/main" id="{170661C9-E33F-15BB-ACDE-F63390754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182"/>
                <a:ext cx="819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</a:t>
                </a:r>
              </a:p>
            </p:txBody>
          </p:sp>
          <p:sp>
            <p:nvSpPr>
              <p:cNvPr id="30" name="Rectangle 45">
                <a:extLst>
                  <a:ext uri="{FF2B5EF4-FFF2-40B4-BE49-F238E27FC236}">
                    <a16:creationId xmlns:a16="http://schemas.microsoft.com/office/drawing/2014/main" id="{FEC2428C-5F55-6D9D-B065-E10DD0518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9" y="2485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aphicFrame>
          <p:nvGraphicFramePr>
            <p:cNvPr id="25" name="Object 46">
              <a:extLst>
                <a:ext uri="{FF2B5EF4-FFF2-40B4-BE49-F238E27FC236}">
                  <a16:creationId xmlns:a16="http://schemas.microsoft.com/office/drawing/2014/main" id="{57E520BF-A74F-90AB-B149-BA93BE5EF4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9" y="2285"/>
            <a:ext cx="18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30751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2285"/>
                          <a:ext cx="18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47">
              <a:extLst>
                <a:ext uri="{FF2B5EF4-FFF2-40B4-BE49-F238E27FC236}">
                  <a16:creationId xmlns:a16="http://schemas.microsoft.com/office/drawing/2014/main" id="{05091468-9455-AE5E-EF26-8F9699C84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047"/>
              <a:ext cx="0" cy="176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" name="Rectangle 4">
            <a:extLst>
              <a:ext uri="{FF2B5EF4-FFF2-40B4-BE49-F238E27FC236}">
                <a16:creationId xmlns:a16="http://schemas.microsoft.com/office/drawing/2014/main" id="{DE9CA71A-D4DE-E8FE-5D4B-FB9BECD47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156" y="5371675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状态图</a:t>
            </a:r>
          </a:p>
        </p:txBody>
      </p:sp>
      <p:grpSp>
        <p:nvGrpSpPr>
          <p:cNvPr id="44" name="Group 6">
            <a:extLst>
              <a:ext uri="{FF2B5EF4-FFF2-40B4-BE49-F238E27FC236}">
                <a16:creationId xmlns:a16="http://schemas.microsoft.com/office/drawing/2014/main" id="{6E21CBEB-79E7-A9AF-777C-84C32A57EE3E}"/>
              </a:ext>
            </a:extLst>
          </p:cNvPr>
          <p:cNvGrpSpPr>
            <a:grpSpLocks/>
          </p:cNvGrpSpPr>
          <p:nvPr/>
        </p:nvGrpSpPr>
        <p:grpSpPr bwMode="auto">
          <a:xfrm>
            <a:off x="4936294" y="2207787"/>
            <a:ext cx="3600450" cy="3168650"/>
            <a:chOff x="3104" y="1401"/>
            <a:chExt cx="2203" cy="1893"/>
          </a:xfrm>
        </p:grpSpPr>
        <p:graphicFrame>
          <p:nvGraphicFramePr>
            <p:cNvPr id="45" name="Object 7">
              <a:extLst>
                <a:ext uri="{FF2B5EF4-FFF2-40B4-BE49-F238E27FC236}">
                  <a16:creationId xmlns:a16="http://schemas.microsoft.com/office/drawing/2014/main" id="{EC1D2D8E-04D3-38BA-E30A-7F421EC9E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4" y="1401"/>
            <a:ext cx="2203" cy="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8" imgW="1439305" imgH="1191306" progId="Word.Picture.8">
                    <p:embed/>
                  </p:oleObj>
                </mc:Choice>
                <mc:Fallback>
                  <p:oleObj name="Picture" r:id="rId8" imgW="1439305" imgH="1191306" progId="Word.Picture.8">
                    <p:embed/>
                    <p:pic>
                      <p:nvPicPr>
                        <p:cNvPr id="3076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4" y="1401"/>
                          <a:ext cx="2203" cy="1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8">
              <a:extLst>
                <a:ext uri="{FF2B5EF4-FFF2-40B4-BE49-F238E27FC236}">
                  <a16:creationId xmlns:a16="http://schemas.microsoft.com/office/drawing/2014/main" id="{34356B38-2229-934D-B841-4B8A2BEA93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" y="1556"/>
            <a:ext cx="1795" cy="1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10" imgW="1171100" imgH="1133127" progId="Word.Picture.8">
                    <p:embed/>
                  </p:oleObj>
                </mc:Choice>
                <mc:Fallback>
                  <p:oleObj name="Picture" r:id="rId10" imgW="1171100" imgH="1133127" progId="Word.Picture.8">
                    <p:embed/>
                    <p:pic>
                      <p:nvPicPr>
                        <p:cNvPr id="3077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" y="1556"/>
                          <a:ext cx="1795" cy="1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Oval 9">
            <a:extLst>
              <a:ext uri="{FF2B5EF4-FFF2-40B4-BE49-F238E27FC236}">
                <a16:creationId xmlns:a16="http://schemas.microsoft.com/office/drawing/2014/main" id="{A398EB25-EAE0-3253-B349-4284C88AE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706" y="1596600"/>
            <a:ext cx="1223963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Q</a:t>
            </a:r>
            <a:r>
              <a:rPr lang="en-US" altLang="zh-CN" sz="1400" b="0">
                <a:latin typeface="Arial" panose="020B0604020202020204" pitchFamily="34" charset="0"/>
              </a:rPr>
              <a:t>2</a:t>
            </a:r>
            <a:r>
              <a:rPr lang="en-US" altLang="zh-CN" sz="2000" b="0">
                <a:latin typeface="Arial" panose="020B0604020202020204" pitchFamily="34" charset="0"/>
              </a:rPr>
              <a:t>Q</a:t>
            </a:r>
            <a:r>
              <a:rPr lang="en-US" altLang="zh-CN" sz="1400" b="0">
                <a:latin typeface="Arial" panose="020B0604020202020204" pitchFamily="34" charset="0"/>
              </a:rPr>
              <a:t>1</a:t>
            </a:r>
            <a:r>
              <a:rPr lang="en-US" altLang="zh-CN" sz="2000" b="0">
                <a:latin typeface="Arial" panose="020B0604020202020204" pitchFamily="34" charset="0"/>
              </a:rPr>
              <a:t>/Y</a:t>
            </a:r>
          </a:p>
        </p:txBody>
      </p:sp>
      <p:sp>
        <p:nvSpPr>
          <p:cNvPr id="48" name="Line 10">
            <a:extLst>
              <a:ext uri="{FF2B5EF4-FFF2-40B4-BE49-F238E27FC236}">
                <a16:creationId xmlns:a16="http://schemas.microsoft.com/office/drawing/2014/main" id="{7F59E07D-E0E4-9760-C10E-24DA3C966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669" y="1920450"/>
            <a:ext cx="611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11">
            <a:extLst>
              <a:ext uri="{FF2B5EF4-FFF2-40B4-BE49-F238E27FC236}">
                <a16:creationId xmlns:a16="http://schemas.microsoft.com/office/drawing/2014/main" id="{977F83BA-DB4D-BA68-6EFE-89CD31C3A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0619" y="148865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6606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68B6E-38A9-ED8A-0C59-DF5170E6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：分析时序电路（续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D3E24-53D7-3D71-10B2-0F49D558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画出状态图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F11EAC-47BC-1A0A-46E3-A15A91DA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8D1B54-1677-33EE-2F4A-18FAA4EA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731D5D-8094-BAE8-08B8-3285E3B04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041" y="1745825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6C458056-C44B-274C-4070-14D83968895C}"/>
              </a:ext>
            </a:extLst>
          </p:cNvPr>
          <p:cNvGrpSpPr>
            <a:grpSpLocks/>
          </p:cNvGrpSpPr>
          <p:nvPr/>
        </p:nvGrpSpPr>
        <p:grpSpPr bwMode="auto">
          <a:xfrm>
            <a:off x="737879" y="2377650"/>
            <a:ext cx="3097212" cy="2808287"/>
            <a:chOff x="521" y="2047"/>
            <a:chExt cx="1951" cy="1769"/>
          </a:xfrm>
        </p:grpSpPr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66CF36B0-20A9-4189-4384-AA30D54E49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" y="2744"/>
              <a:ext cx="368" cy="1062"/>
              <a:chOff x="4368" y="2186"/>
              <a:chExt cx="848" cy="1214"/>
            </a:xfrm>
          </p:grpSpPr>
          <p:sp>
            <p:nvSpPr>
              <p:cNvPr id="39" name="Rectangle 14">
                <a:extLst>
                  <a:ext uri="{FF2B5EF4-FFF2-40B4-BE49-F238E27FC236}">
                    <a16:creationId xmlns:a16="http://schemas.microsoft.com/office/drawing/2014/main" id="{82EFC39B-EA82-ABE1-59C1-C1B663792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" y="3093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  <p:sp>
            <p:nvSpPr>
              <p:cNvPr id="40" name="Rectangle 15">
                <a:extLst>
                  <a:ext uri="{FF2B5EF4-FFF2-40B4-BE49-F238E27FC236}">
                    <a16:creationId xmlns:a16="http://schemas.microsoft.com/office/drawing/2014/main" id="{9D0376F2-C2DE-E291-88F6-3BC3984C9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798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  <p:sp>
            <p:nvSpPr>
              <p:cNvPr id="41" name="Rectangle 16">
                <a:extLst>
                  <a:ext uri="{FF2B5EF4-FFF2-40B4-BE49-F238E27FC236}">
                    <a16:creationId xmlns:a16="http://schemas.microsoft.com/office/drawing/2014/main" id="{11DE217A-5E3F-C1C3-425A-DBAE0996D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6" y="2186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42" name="Rectangle 17">
                <a:extLst>
                  <a:ext uri="{FF2B5EF4-FFF2-40B4-BE49-F238E27FC236}">
                    <a16:creationId xmlns:a16="http://schemas.microsoft.com/office/drawing/2014/main" id="{39AB863B-1D3E-5F78-8418-E95970485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8" y="2481"/>
                <a:ext cx="82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</p:grpSp>
        <p:grpSp>
          <p:nvGrpSpPr>
            <p:cNvPr id="9" name="Group 18">
              <a:extLst>
                <a:ext uri="{FF2B5EF4-FFF2-40B4-BE49-F238E27FC236}">
                  <a16:creationId xmlns:a16="http://schemas.microsoft.com/office/drawing/2014/main" id="{2D3A9E6E-C4BB-C656-F06A-80DAC8180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9" y="2741"/>
              <a:ext cx="446" cy="1066"/>
              <a:chOff x="3549" y="2182"/>
              <a:chExt cx="837" cy="1219"/>
            </a:xfrm>
          </p:grpSpPr>
          <p:sp>
            <p:nvSpPr>
              <p:cNvPr id="35" name="Rectangle 19">
                <a:extLst>
                  <a:ext uri="{FF2B5EF4-FFF2-40B4-BE49-F238E27FC236}">
                    <a16:creationId xmlns:a16="http://schemas.microsoft.com/office/drawing/2014/main" id="{1728C0DE-9646-2D60-A6A3-978BB9301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3094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  <p:sp>
            <p:nvSpPr>
              <p:cNvPr id="36" name="Rectangle 20">
                <a:extLst>
                  <a:ext uri="{FF2B5EF4-FFF2-40B4-BE49-F238E27FC236}">
                    <a16:creationId xmlns:a16="http://schemas.microsoft.com/office/drawing/2014/main" id="{F0D64C45-1DF2-C7BA-50BF-5C5672AFF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2798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CA7F5CC4-78E1-B355-683E-1B6BAA801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182"/>
                <a:ext cx="819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BD4A0F65-05A9-0DD2-5FB0-92E182A42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9" y="2485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</p:grpSp>
        <p:grpSp>
          <p:nvGrpSpPr>
            <p:cNvPr id="10" name="Group 23">
              <a:extLst>
                <a:ext uri="{FF2B5EF4-FFF2-40B4-BE49-F238E27FC236}">
                  <a16:creationId xmlns:a16="http://schemas.microsoft.com/office/drawing/2014/main" id="{B1D52328-D6B2-5801-4A23-E9233257F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" y="2734"/>
              <a:ext cx="422" cy="1072"/>
              <a:chOff x="2801" y="2174"/>
              <a:chExt cx="675" cy="1226"/>
            </a:xfrm>
          </p:grpSpPr>
          <p:sp>
            <p:nvSpPr>
              <p:cNvPr id="31" name="Rectangle 24">
                <a:extLst>
                  <a:ext uri="{FF2B5EF4-FFF2-40B4-BE49-F238E27FC236}">
                    <a16:creationId xmlns:a16="http://schemas.microsoft.com/office/drawing/2014/main" id="{715EADC7-B3BC-4407-1821-B22A49A61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" y="3093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1 1</a:t>
                </a:r>
              </a:p>
            </p:txBody>
          </p:sp>
          <p:sp>
            <p:nvSpPr>
              <p:cNvPr id="32" name="Rectangle 25">
                <a:extLst>
                  <a:ext uri="{FF2B5EF4-FFF2-40B4-BE49-F238E27FC236}">
                    <a16:creationId xmlns:a16="http://schemas.microsoft.com/office/drawing/2014/main" id="{DCFE122C-8B68-9F11-6B6A-A349766BD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798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1 0</a:t>
                </a:r>
              </a:p>
            </p:txBody>
          </p:sp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6742626E-B87D-F79C-D35B-70DE6DF7C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" y="2174"/>
                <a:ext cx="57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0 0</a:t>
                </a: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2C4099C2-4DCD-7120-3C75-769DC5BC6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5" y="2481"/>
                <a:ext cx="661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0 1</a:t>
                </a:r>
              </a:p>
            </p:txBody>
          </p:sp>
        </p:grpSp>
        <p:graphicFrame>
          <p:nvGraphicFramePr>
            <p:cNvPr id="11" name="Object 28">
              <a:extLst>
                <a:ext uri="{FF2B5EF4-FFF2-40B4-BE49-F238E27FC236}">
                  <a16:creationId xmlns:a16="http://schemas.microsoft.com/office/drawing/2014/main" id="{337922AF-81C4-A508-FFDD-688074B2C4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" y="2198"/>
            <a:ext cx="53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81000" imgH="228600" progId="Equation.3">
                    <p:embed/>
                  </p:oleObj>
                </mc:Choice>
                <mc:Fallback>
                  <p:oleObj name="公式" r:id="rId2" imgW="381000" imgH="228600" progId="Equation.3">
                    <p:embed/>
                    <p:pic>
                      <p:nvPicPr>
                        <p:cNvPr id="11" name="Object 28">
                          <a:extLst>
                            <a:ext uri="{FF2B5EF4-FFF2-40B4-BE49-F238E27FC236}">
                              <a16:creationId xmlns:a16="http://schemas.microsoft.com/office/drawing/2014/main" id="{337922AF-81C4-A508-FFDD-688074B2C4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198"/>
                          <a:ext cx="531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9">
              <a:extLst>
                <a:ext uri="{FF2B5EF4-FFF2-40B4-BE49-F238E27FC236}">
                  <a16:creationId xmlns:a16="http://schemas.microsoft.com/office/drawing/2014/main" id="{83E1D66C-3645-308D-7982-BB7DA0FA2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1" y="2078"/>
            <a:ext cx="72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58800" imgH="228600" progId="Equation.3">
                    <p:embed/>
                  </p:oleObj>
                </mc:Choice>
                <mc:Fallback>
                  <p:oleObj name="公式" r:id="rId4" imgW="558800" imgH="228600" progId="Equation.3">
                    <p:embed/>
                    <p:pic>
                      <p:nvPicPr>
                        <p:cNvPr id="12" name="Object 29">
                          <a:extLst>
                            <a:ext uri="{FF2B5EF4-FFF2-40B4-BE49-F238E27FC236}">
                              <a16:creationId xmlns:a16="http://schemas.microsoft.com/office/drawing/2014/main" id="{83E1D66C-3645-308D-7982-BB7DA0FA2F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1" y="2078"/>
                          <a:ext cx="72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3BDFA2F2-A532-98AF-FB30-4761E556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2436"/>
              <a:ext cx="5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i="1">
                  <a:cs typeface="Times New Roman" panose="02020603050405020304" pitchFamily="18" charset="0"/>
                </a:rPr>
                <a:t>X=</a:t>
              </a:r>
              <a:r>
                <a:rPr lang="en-US" altLang="zh-CN" sz="240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930C168E-7810-832F-8BE4-A357A2B94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" y="2436"/>
              <a:ext cx="5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i="1">
                  <a:cs typeface="Times New Roman" panose="02020603050405020304" pitchFamily="18" charset="0"/>
                </a:rPr>
                <a:t>X=</a:t>
              </a:r>
              <a:r>
                <a:rPr lang="en-US" altLang="zh-CN" sz="240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" name="Line 32">
              <a:extLst>
                <a:ext uri="{FF2B5EF4-FFF2-40B4-BE49-F238E27FC236}">
                  <a16:creationId xmlns:a16="http://schemas.microsoft.com/office/drawing/2014/main" id="{78B31956-0E3F-D9FF-BC83-6FE860438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2050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2267C14-F59B-74B7-5971-428090DE3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816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4">
              <a:extLst>
                <a:ext uri="{FF2B5EF4-FFF2-40B4-BE49-F238E27FC236}">
                  <a16:creationId xmlns:a16="http://schemas.microsoft.com/office/drawing/2014/main" id="{386DAE32-4302-CFAF-AA21-E90437C6D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" y="2050"/>
              <a:ext cx="0" cy="176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5">
              <a:extLst>
                <a:ext uri="{FF2B5EF4-FFF2-40B4-BE49-F238E27FC236}">
                  <a16:creationId xmlns:a16="http://schemas.microsoft.com/office/drawing/2014/main" id="{2490AC8E-1FD2-8E45-7B12-8901D5CF7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21"/>
              <a:ext cx="0" cy="1395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6">
              <a:extLst>
                <a:ext uri="{FF2B5EF4-FFF2-40B4-BE49-F238E27FC236}">
                  <a16:creationId xmlns:a16="http://schemas.microsoft.com/office/drawing/2014/main" id="{BFA827B1-E3BB-6979-A8B0-63BC9BE47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" y="2421"/>
              <a:ext cx="995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7">
              <a:extLst>
                <a:ext uri="{FF2B5EF4-FFF2-40B4-BE49-F238E27FC236}">
                  <a16:creationId xmlns:a16="http://schemas.microsoft.com/office/drawing/2014/main" id="{DD37887A-8B5A-A916-8600-F94D78895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2741"/>
              <a:ext cx="192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8">
              <a:extLst>
                <a:ext uri="{FF2B5EF4-FFF2-40B4-BE49-F238E27FC236}">
                  <a16:creationId xmlns:a16="http://schemas.microsoft.com/office/drawing/2014/main" id="{BD214FEA-E4C8-18E8-A2FA-E65158B89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009"/>
              <a:ext cx="192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9">
              <a:extLst>
                <a:ext uri="{FF2B5EF4-FFF2-40B4-BE49-F238E27FC236}">
                  <a16:creationId xmlns:a16="http://schemas.microsoft.com/office/drawing/2014/main" id="{5B6F05BC-32B8-896C-CCE6-71723651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3278"/>
              <a:ext cx="19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0">
              <a:extLst>
                <a:ext uri="{FF2B5EF4-FFF2-40B4-BE49-F238E27FC236}">
                  <a16:creationId xmlns:a16="http://schemas.microsoft.com/office/drawing/2014/main" id="{90DAC4E8-CA14-7121-E1C4-03DC63E09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547"/>
              <a:ext cx="192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1">
              <a:extLst>
                <a:ext uri="{FF2B5EF4-FFF2-40B4-BE49-F238E27FC236}">
                  <a16:creationId xmlns:a16="http://schemas.microsoft.com/office/drawing/2014/main" id="{37F93710-FA71-1F3C-D23C-0063B8124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" y="2727"/>
              <a:ext cx="322" cy="1066"/>
              <a:chOff x="3549" y="2182"/>
              <a:chExt cx="837" cy="1219"/>
            </a:xfrm>
          </p:grpSpPr>
          <p:sp>
            <p:nvSpPr>
              <p:cNvPr id="27" name="Rectangle 42">
                <a:extLst>
                  <a:ext uri="{FF2B5EF4-FFF2-40B4-BE49-F238E27FC236}">
                    <a16:creationId xmlns:a16="http://schemas.microsoft.com/office/drawing/2014/main" id="{138C125E-B0DD-2CE9-515E-D16B2BC3E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0" y="3094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8" name="Rectangle 43">
                <a:extLst>
                  <a:ext uri="{FF2B5EF4-FFF2-40B4-BE49-F238E27FC236}">
                    <a16:creationId xmlns:a16="http://schemas.microsoft.com/office/drawing/2014/main" id="{AE3EF0DF-AC5E-C54F-6CF5-306DBB919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2798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" name="Rectangle 44">
                <a:extLst>
                  <a:ext uri="{FF2B5EF4-FFF2-40B4-BE49-F238E27FC236}">
                    <a16:creationId xmlns:a16="http://schemas.microsoft.com/office/drawing/2014/main" id="{170661C9-E33F-15BB-ACDE-F63390754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182"/>
                <a:ext cx="819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 </a:t>
                </a:r>
              </a:p>
            </p:txBody>
          </p:sp>
          <p:sp>
            <p:nvSpPr>
              <p:cNvPr id="30" name="Rectangle 45">
                <a:extLst>
                  <a:ext uri="{FF2B5EF4-FFF2-40B4-BE49-F238E27FC236}">
                    <a16:creationId xmlns:a16="http://schemas.microsoft.com/office/drawing/2014/main" id="{FEC2428C-5F55-6D9D-B065-E10DD0518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9" y="2485"/>
                <a:ext cx="820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aphicFrame>
          <p:nvGraphicFramePr>
            <p:cNvPr id="25" name="Object 46">
              <a:extLst>
                <a:ext uri="{FF2B5EF4-FFF2-40B4-BE49-F238E27FC236}">
                  <a16:creationId xmlns:a16="http://schemas.microsoft.com/office/drawing/2014/main" id="{57E520BF-A74F-90AB-B149-BA93BE5EF4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9" y="2285"/>
            <a:ext cx="18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25" name="Object 46">
                          <a:extLst>
                            <a:ext uri="{FF2B5EF4-FFF2-40B4-BE49-F238E27FC236}">
                              <a16:creationId xmlns:a16="http://schemas.microsoft.com/office/drawing/2014/main" id="{57E520BF-A74F-90AB-B149-BA93BE5EF4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2285"/>
                          <a:ext cx="18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47">
              <a:extLst>
                <a:ext uri="{FF2B5EF4-FFF2-40B4-BE49-F238E27FC236}">
                  <a16:creationId xmlns:a16="http://schemas.microsoft.com/office/drawing/2014/main" id="{05091468-9455-AE5E-EF26-8F9699C84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6" y="2047"/>
              <a:ext cx="0" cy="176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4C332BB3-3774-4322-CA88-9E391C131AC9}"/>
              </a:ext>
            </a:extLst>
          </p:cNvPr>
          <p:cNvSpPr txBox="1"/>
          <p:nvPr/>
        </p:nvSpPr>
        <p:spPr>
          <a:xfrm>
            <a:off x="780741" y="5995082"/>
            <a:ext cx="814724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Q1,Q2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在时钟沿上根据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和当前的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Q1,Q2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更新，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随时随刻根据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Q0,Q1</a:t>
            </a:r>
            <a:r>
              <a:rPr lang="zh-CN" altLang="en-US" strike="sngStrike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trike="sngStrike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9515006A-0ABD-1314-A783-E86FF18A098D}"/>
              </a:ext>
            </a:extLst>
          </p:cNvPr>
          <p:cNvGrpSpPr>
            <a:grpSpLocks/>
          </p:cNvGrpSpPr>
          <p:nvPr/>
        </p:nvGrpSpPr>
        <p:grpSpPr bwMode="auto">
          <a:xfrm>
            <a:off x="4781100" y="3595881"/>
            <a:ext cx="4914900" cy="1890712"/>
            <a:chOff x="2540" y="2222"/>
            <a:chExt cx="3096" cy="1191"/>
          </a:xfrm>
        </p:grpSpPr>
        <p:graphicFrame>
          <p:nvGraphicFramePr>
            <p:cNvPr id="78" name="Object 16">
              <a:extLst>
                <a:ext uri="{FF2B5EF4-FFF2-40B4-BE49-F238E27FC236}">
                  <a16:creationId xmlns:a16="http://schemas.microsoft.com/office/drawing/2014/main" id="{EEBA82C1-122A-1A64-8782-B7371FE8F0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91678"/>
                </p:ext>
              </p:extLst>
            </p:nvPr>
          </p:nvGraphicFramePr>
          <p:xfrm>
            <a:off x="2540" y="2222"/>
            <a:ext cx="3096" cy="1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8" imgW="3363468" imgH="1088136" progId="Word.Picture.8">
                    <p:embed/>
                  </p:oleObj>
                </mc:Choice>
                <mc:Fallback>
                  <p:oleObj name="Picture" r:id="rId8" imgW="3363468" imgH="1088136" progId="Word.Picture.8">
                    <p:embed/>
                    <p:pic>
                      <p:nvPicPr>
                        <p:cNvPr id="51" name="Object 16">
                          <a:extLst>
                            <a:ext uri="{FF2B5EF4-FFF2-40B4-BE49-F238E27FC236}">
                              <a16:creationId xmlns:a16="http://schemas.microsoft.com/office/drawing/2014/main" id="{A25766BD-B2B0-E11B-7C70-0C485D944C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2222"/>
                          <a:ext cx="3096" cy="1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Rectangle 17">
              <a:extLst>
                <a:ext uri="{FF2B5EF4-FFF2-40B4-BE49-F238E27FC236}">
                  <a16:creationId xmlns:a16="http://schemas.microsoft.com/office/drawing/2014/main" id="{AD85100E-AB86-20CB-DF35-6924D204E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2271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9BC6D16A-53DB-36F2-AA82-6462F46FB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5" y="2271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81" name="Rectangle 19">
              <a:extLst>
                <a:ext uri="{FF2B5EF4-FFF2-40B4-BE49-F238E27FC236}">
                  <a16:creationId xmlns:a16="http://schemas.microsoft.com/office/drawing/2014/main" id="{93A02DF7-0600-0B18-7138-1A556DA2B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2272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82" name="Rectangle 20">
              <a:extLst>
                <a:ext uri="{FF2B5EF4-FFF2-40B4-BE49-F238E27FC236}">
                  <a16:creationId xmlns:a16="http://schemas.microsoft.com/office/drawing/2014/main" id="{76B7AEB3-6904-3873-DB63-C14DDDDD5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246"/>
              <a:ext cx="2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98E09BDC-B17D-5785-1527-A640D46D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84" name="Rectangle 22">
              <a:extLst>
                <a:ext uri="{FF2B5EF4-FFF2-40B4-BE49-F238E27FC236}">
                  <a16:creationId xmlns:a16="http://schemas.microsoft.com/office/drawing/2014/main" id="{A7316470-B04B-7DD5-A3EE-477AF346C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85" name="Rectangle 23">
              <a:extLst>
                <a:ext uri="{FF2B5EF4-FFF2-40B4-BE49-F238E27FC236}">
                  <a16:creationId xmlns:a16="http://schemas.microsoft.com/office/drawing/2014/main" id="{865E1FF8-B9D9-28CC-0506-072C07C72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86" name="Rectangle 24">
              <a:extLst>
                <a:ext uri="{FF2B5EF4-FFF2-40B4-BE49-F238E27FC236}">
                  <a16:creationId xmlns:a16="http://schemas.microsoft.com/office/drawing/2014/main" id="{141A3340-3DAE-05B2-BCD5-8E5340878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2278"/>
              <a:ext cx="2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87" name="Line 65">
            <a:extLst>
              <a:ext uri="{FF2B5EF4-FFF2-40B4-BE49-F238E27FC236}">
                <a16:creationId xmlns:a16="http://schemas.microsoft.com/office/drawing/2014/main" id="{8364F204-22AF-D2DC-3FA1-8F22398AD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086" y="534371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66">
            <a:extLst>
              <a:ext uri="{FF2B5EF4-FFF2-40B4-BE49-F238E27FC236}">
                <a16:creationId xmlns:a16="http://schemas.microsoft.com/office/drawing/2014/main" id="{AF971198-F919-7A79-1D45-CEA2C63A6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6686" y="4694431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67">
            <a:extLst>
              <a:ext uri="{FF2B5EF4-FFF2-40B4-BE49-F238E27FC236}">
                <a16:creationId xmlns:a16="http://schemas.microsoft.com/office/drawing/2014/main" id="{31F5FB35-C1C1-F1F8-9762-C032B1290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6686" y="405466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Rectangle 5">
            <a:extLst>
              <a:ext uri="{FF2B5EF4-FFF2-40B4-BE49-F238E27FC236}">
                <a16:creationId xmlns:a16="http://schemas.microsoft.com/office/drawing/2014/main" id="{A1E00DFC-ACCF-70FB-78CC-9CFE0243F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363" y="1371407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时序图</a:t>
            </a:r>
          </a:p>
        </p:txBody>
      </p:sp>
      <p:graphicFrame>
        <p:nvGraphicFramePr>
          <p:cNvPr id="91" name="Object 6">
            <a:extLst>
              <a:ext uri="{FF2B5EF4-FFF2-40B4-BE49-F238E27FC236}">
                <a16:creationId xmlns:a16="http://schemas.microsoft.com/office/drawing/2014/main" id="{C5B965FD-CD4E-3E3F-AFED-38740C76B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155164"/>
              </p:ext>
            </p:extLst>
          </p:nvPr>
        </p:nvGraphicFramePr>
        <p:xfrm>
          <a:off x="4784273" y="1938531"/>
          <a:ext cx="46799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0" imgW="3201924" imgH="696468" progId="Word.Picture.8">
                  <p:embed/>
                </p:oleObj>
              </mc:Choice>
              <mc:Fallback>
                <p:oleObj name="Picture" r:id="rId10" imgW="3201924" imgH="696468" progId="Word.Picture.8">
                  <p:embed/>
                  <p:pic>
                    <p:nvPicPr>
                      <p:cNvPr id="64" name="Object 6">
                        <a:extLst>
                          <a:ext uri="{FF2B5EF4-FFF2-40B4-BE49-F238E27FC236}">
                            <a16:creationId xmlns:a16="http://schemas.microsoft.com/office/drawing/2014/main" id="{D49BCE67-1651-89C8-C8D0-44A39865C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273" y="1938531"/>
                        <a:ext cx="46799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Line 7">
            <a:extLst>
              <a:ext uri="{FF2B5EF4-FFF2-40B4-BE49-F238E27FC236}">
                <a16:creationId xmlns:a16="http://schemas.microsoft.com/office/drawing/2014/main" id="{8D800988-57E0-6345-8671-9F0500DF5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386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8">
            <a:extLst>
              <a:ext uri="{FF2B5EF4-FFF2-40B4-BE49-F238E27FC236}">
                <a16:creationId xmlns:a16="http://schemas.microsoft.com/office/drawing/2014/main" id="{636A4A4C-5ABF-3ABD-3968-88A2ACAE1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1736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Line 9">
            <a:extLst>
              <a:ext uri="{FF2B5EF4-FFF2-40B4-BE49-F238E27FC236}">
                <a16:creationId xmlns:a16="http://schemas.microsoft.com/office/drawing/2014/main" id="{9102E05A-F0F2-CEC7-D065-E6A3037C2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4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10">
            <a:extLst>
              <a:ext uri="{FF2B5EF4-FFF2-40B4-BE49-F238E27FC236}">
                <a16:creationId xmlns:a16="http://schemas.microsoft.com/office/drawing/2014/main" id="{0533F239-F88D-F964-4D7C-F5EBCA3CF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4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11">
            <a:extLst>
              <a:ext uri="{FF2B5EF4-FFF2-40B4-BE49-F238E27FC236}">
                <a16:creationId xmlns:a16="http://schemas.microsoft.com/office/drawing/2014/main" id="{4C143606-E16E-9B02-FF17-714E7439E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58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Line 12">
            <a:extLst>
              <a:ext uri="{FF2B5EF4-FFF2-40B4-BE49-F238E27FC236}">
                <a16:creationId xmlns:a16="http://schemas.microsoft.com/office/drawing/2014/main" id="{C6286C2C-F13E-9C08-8EE2-D2CC8959A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024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13">
            <a:extLst>
              <a:ext uri="{FF2B5EF4-FFF2-40B4-BE49-F238E27FC236}">
                <a16:creationId xmlns:a16="http://schemas.microsoft.com/office/drawing/2014/main" id="{9EC56C77-7C51-C78E-D5AE-4AE3BFC0F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45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14">
            <a:extLst>
              <a:ext uri="{FF2B5EF4-FFF2-40B4-BE49-F238E27FC236}">
                <a16:creationId xmlns:a16="http://schemas.microsoft.com/office/drawing/2014/main" id="{F09ADCA6-25C1-BC2C-0B0F-69FAB9CA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3711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Box 61">
            <a:extLst>
              <a:ext uri="{FF2B5EF4-FFF2-40B4-BE49-F238E27FC236}">
                <a16:creationId xmlns:a16="http://schemas.microsoft.com/office/drawing/2014/main" id="{F04B2F2A-4B73-FB09-E5C6-CCF95AC75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311" y="4237231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Q</a:t>
            </a:r>
            <a:r>
              <a:rPr lang="en-US" altLang="zh-CN" sz="1600" i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1" name="Text Box 62">
            <a:extLst>
              <a:ext uri="{FF2B5EF4-FFF2-40B4-BE49-F238E27FC236}">
                <a16:creationId xmlns:a16="http://schemas.microsoft.com/office/drawing/2014/main" id="{A637ADBF-322B-D08C-AAF2-03520E10A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1" y="3545081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Q</a:t>
            </a:r>
            <a:r>
              <a:rPr lang="en-US" altLang="zh-CN" sz="1600" i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" name="Text Box 63">
            <a:extLst>
              <a:ext uri="{FF2B5EF4-FFF2-40B4-BE49-F238E27FC236}">
                <a16:creationId xmlns:a16="http://schemas.microsoft.com/office/drawing/2014/main" id="{048FEF0D-E893-AC03-F1DA-F34FE21DA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811" y="4929381"/>
            <a:ext cx="3873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Y</a:t>
            </a:r>
            <a:endParaRPr lang="en-US" altLang="zh-CN" sz="1600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245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68B6E-38A9-ED8A-0C59-DF5170E6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：分析时序电路（续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D3E24-53D7-3D71-10B2-0F49D558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确定电路逻辑功能：可逆计数器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X=0</a:t>
            </a:r>
            <a:r>
              <a:rPr lang="zh-CN" altLang="en-US" dirty="0"/>
              <a:t>时，电路进行加</a:t>
            </a:r>
            <a:r>
              <a:rPr lang="en-US" altLang="zh-CN" dirty="0"/>
              <a:t>1</a:t>
            </a:r>
            <a:r>
              <a:rPr lang="zh-CN" altLang="en-US" dirty="0"/>
              <a:t>计数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X=1</a:t>
            </a:r>
            <a:r>
              <a:rPr lang="zh-CN" altLang="en-US" dirty="0"/>
              <a:t>时，电路进行减</a:t>
            </a:r>
            <a:r>
              <a:rPr lang="en-US" altLang="zh-CN" dirty="0"/>
              <a:t>1</a:t>
            </a:r>
            <a:r>
              <a:rPr lang="zh-CN" altLang="en-US" dirty="0"/>
              <a:t>计数</a:t>
            </a:r>
          </a:p>
          <a:p>
            <a:pPr lvl="1"/>
            <a:r>
              <a:rPr lang="en-US" altLang="zh-CN" dirty="0"/>
              <a:t>Y</a:t>
            </a:r>
            <a:r>
              <a:rPr lang="zh-CN" altLang="en-US" dirty="0"/>
              <a:t>可理解为进位或借位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F11EAC-47BC-1A0A-46E3-A15A91DA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8D1B54-1677-33EE-2F4A-18FAA4EA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50" name="Group 15">
            <a:extLst>
              <a:ext uri="{FF2B5EF4-FFF2-40B4-BE49-F238E27FC236}">
                <a16:creationId xmlns:a16="http://schemas.microsoft.com/office/drawing/2014/main" id="{AFB61369-46D9-077D-E3B2-94ACE7FA22DA}"/>
              </a:ext>
            </a:extLst>
          </p:cNvPr>
          <p:cNvGrpSpPr>
            <a:grpSpLocks/>
          </p:cNvGrpSpPr>
          <p:nvPr/>
        </p:nvGrpSpPr>
        <p:grpSpPr bwMode="auto">
          <a:xfrm>
            <a:off x="4781100" y="3595881"/>
            <a:ext cx="4914900" cy="1890712"/>
            <a:chOff x="2540" y="2222"/>
            <a:chExt cx="3096" cy="1191"/>
          </a:xfrm>
        </p:grpSpPr>
        <p:graphicFrame>
          <p:nvGraphicFramePr>
            <p:cNvPr id="51" name="Object 16">
              <a:extLst>
                <a:ext uri="{FF2B5EF4-FFF2-40B4-BE49-F238E27FC236}">
                  <a16:creationId xmlns:a16="http://schemas.microsoft.com/office/drawing/2014/main" id="{A25766BD-B2B0-E11B-7C70-0C485D944C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635090"/>
                </p:ext>
              </p:extLst>
            </p:nvPr>
          </p:nvGraphicFramePr>
          <p:xfrm>
            <a:off x="2540" y="2222"/>
            <a:ext cx="3096" cy="1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3363468" imgH="1088136" progId="Word.Picture.8">
                    <p:embed/>
                  </p:oleObj>
                </mc:Choice>
                <mc:Fallback>
                  <p:oleObj name="Picture" r:id="rId2" imgW="3363468" imgH="1088136" progId="Word.Picture.8">
                    <p:embed/>
                    <p:pic>
                      <p:nvPicPr>
                        <p:cNvPr id="51" name="Object 16">
                          <a:extLst>
                            <a:ext uri="{FF2B5EF4-FFF2-40B4-BE49-F238E27FC236}">
                              <a16:creationId xmlns:a16="http://schemas.microsoft.com/office/drawing/2014/main" id="{A25766BD-B2B0-E11B-7C70-0C485D944C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2222"/>
                          <a:ext cx="3096" cy="1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Rectangle 17">
              <a:extLst>
                <a:ext uri="{FF2B5EF4-FFF2-40B4-BE49-F238E27FC236}">
                  <a16:creationId xmlns:a16="http://schemas.microsoft.com/office/drawing/2014/main" id="{3BBED631-E56F-9032-E2F5-79FBB0A43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2271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3" name="Rectangle 18">
              <a:extLst>
                <a:ext uri="{FF2B5EF4-FFF2-40B4-BE49-F238E27FC236}">
                  <a16:creationId xmlns:a16="http://schemas.microsoft.com/office/drawing/2014/main" id="{68B09F40-9009-1461-938E-FCDD0646C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5" y="2271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54" name="Rectangle 19">
              <a:extLst>
                <a:ext uri="{FF2B5EF4-FFF2-40B4-BE49-F238E27FC236}">
                  <a16:creationId xmlns:a16="http://schemas.microsoft.com/office/drawing/2014/main" id="{90BF86BD-25EA-863D-F2D0-48408F676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2272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5" name="Rectangle 20">
              <a:extLst>
                <a:ext uri="{FF2B5EF4-FFF2-40B4-BE49-F238E27FC236}">
                  <a16:creationId xmlns:a16="http://schemas.microsoft.com/office/drawing/2014/main" id="{5455CD79-F679-FB5A-E0DF-1BAF5A5C3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246"/>
              <a:ext cx="2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8CBEED7D-DA88-23D5-1E9E-A0CD80E1B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Rectangle 22">
              <a:extLst>
                <a:ext uri="{FF2B5EF4-FFF2-40B4-BE49-F238E27FC236}">
                  <a16:creationId xmlns:a16="http://schemas.microsoft.com/office/drawing/2014/main" id="{1F9AF014-BFCA-EA11-56FD-E6CEE917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1DD883C9-861E-75E3-5CB7-DE01FB5F5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" y="2264"/>
              <a:ext cx="24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7040F697-DB25-7B38-0328-E7B8F5844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2278"/>
              <a:ext cx="2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200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60" name="Line 65">
            <a:extLst>
              <a:ext uri="{FF2B5EF4-FFF2-40B4-BE49-F238E27FC236}">
                <a16:creationId xmlns:a16="http://schemas.microsoft.com/office/drawing/2014/main" id="{643CCB3A-3691-4BE2-E69C-F9FB9188F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086" y="534371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66">
            <a:extLst>
              <a:ext uri="{FF2B5EF4-FFF2-40B4-BE49-F238E27FC236}">
                <a16:creationId xmlns:a16="http://schemas.microsoft.com/office/drawing/2014/main" id="{E2EF909F-505F-CA85-70A1-7A97B9944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6686" y="4694431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7">
            <a:extLst>
              <a:ext uri="{FF2B5EF4-FFF2-40B4-BE49-F238E27FC236}">
                <a16:creationId xmlns:a16="http://schemas.microsoft.com/office/drawing/2014/main" id="{13BA5DAF-95DF-8396-F01D-94C5C471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6686" y="405466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" name="Object 6">
            <a:extLst>
              <a:ext uri="{FF2B5EF4-FFF2-40B4-BE49-F238E27FC236}">
                <a16:creationId xmlns:a16="http://schemas.microsoft.com/office/drawing/2014/main" id="{D49BCE67-1651-89C8-C8D0-44A39865C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495069"/>
              </p:ext>
            </p:extLst>
          </p:nvPr>
        </p:nvGraphicFramePr>
        <p:xfrm>
          <a:off x="4784273" y="1938531"/>
          <a:ext cx="46799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201924" imgH="696468" progId="Word.Picture.8">
                  <p:embed/>
                </p:oleObj>
              </mc:Choice>
              <mc:Fallback>
                <p:oleObj name="Picture" r:id="rId4" imgW="3201924" imgH="696468" progId="Word.Picture.8">
                  <p:embed/>
                  <p:pic>
                    <p:nvPicPr>
                      <p:cNvPr id="64" name="Object 6">
                        <a:extLst>
                          <a:ext uri="{FF2B5EF4-FFF2-40B4-BE49-F238E27FC236}">
                            <a16:creationId xmlns:a16="http://schemas.microsoft.com/office/drawing/2014/main" id="{D49BCE67-1651-89C8-C8D0-44A39865C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273" y="1938531"/>
                        <a:ext cx="46799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Line 7">
            <a:extLst>
              <a:ext uri="{FF2B5EF4-FFF2-40B4-BE49-F238E27FC236}">
                <a16:creationId xmlns:a16="http://schemas.microsoft.com/office/drawing/2014/main" id="{0FF077A9-A2C7-C0E8-3C63-A245DCE18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386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8">
            <a:extLst>
              <a:ext uri="{FF2B5EF4-FFF2-40B4-BE49-F238E27FC236}">
                <a16:creationId xmlns:a16="http://schemas.microsoft.com/office/drawing/2014/main" id="{5BA3EDBC-5F06-F529-1DD6-9462D6B0D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1736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9">
            <a:extLst>
              <a:ext uri="{FF2B5EF4-FFF2-40B4-BE49-F238E27FC236}">
                <a16:creationId xmlns:a16="http://schemas.microsoft.com/office/drawing/2014/main" id="{D64D31B6-7AE3-6B96-F81B-06F7DD6B5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4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0">
            <a:extLst>
              <a:ext uri="{FF2B5EF4-FFF2-40B4-BE49-F238E27FC236}">
                <a16:creationId xmlns:a16="http://schemas.microsoft.com/office/drawing/2014/main" id="{75AB5662-44E4-8A69-6A74-27D8E5591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4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11">
            <a:extLst>
              <a:ext uri="{FF2B5EF4-FFF2-40B4-BE49-F238E27FC236}">
                <a16:creationId xmlns:a16="http://schemas.microsoft.com/office/drawing/2014/main" id="{2AE8E8FE-2F80-6C5E-B411-5A92EFCEA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58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2">
            <a:extLst>
              <a:ext uri="{FF2B5EF4-FFF2-40B4-BE49-F238E27FC236}">
                <a16:creationId xmlns:a16="http://schemas.microsoft.com/office/drawing/2014/main" id="{9B60E005-5BE2-FDBA-3F7D-556FB76FC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024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3">
            <a:extLst>
              <a:ext uri="{FF2B5EF4-FFF2-40B4-BE49-F238E27FC236}">
                <a16:creationId xmlns:a16="http://schemas.microsoft.com/office/drawing/2014/main" id="{357842C0-C298-8AE4-EED7-616674BBC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4598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4">
            <a:extLst>
              <a:ext uri="{FF2B5EF4-FFF2-40B4-BE49-F238E27FC236}">
                <a16:creationId xmlns:a16="http://schemas.microsoft.com/office/drawing/2014/main" id="{501B2817-CF43-C724-D579-7A23761B4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3711" y="2189356"/>
            <a:ext cx="0" cy="3132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Text Box 61">
            <a:extLst>
              <a:ext uri="{FF2B5EF4-FFF2-40B4-BE49-F238E27FC236}">
                <a16:creationId xmlns:a16="http://schemas.microsoft.com/office/drawing/2014/main" id="{C44672C5-3A85-D544-1B8C-D90D1D412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311" y="4237231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Q</a:t>
            </a:r>
            <a:r>
              <a:rPr lang="en-US" altLang="zh-CN" sz="1600" i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" name="Text Box 62">
            <a:extLst>
              <a:ext uri="{FF2B5EF4-FFF2-40B4-BE49-F238E27FC236}">
                <a16:creationId xmlns:a16="http://schemas.microsoft.com/office/drawing/2014/main" id="{15F51C43-8C0C-13BE-E4FE-8393A59A8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11" y="3545081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Q</a:t>
            </a:r>
            <a:r>
              <a:rPr lang="en-US" altLang="zh-CN" sz="1600" i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5" name="Text Box 63">
            <a:extLst>
              <a:ext uri="{FF2B5EF4-FFF2-40B4-BE49-F238E27FC236}">
                <a16:creationId xmlns:a16="http://schemas.microsoft.com/office/drawing/2014/main" id="{C80A9390-022B-88FA-07C4-0E0E2A6A3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811" y="4929381"/>
            <a:ext cx="3873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i="1">
                <a:latin typeface="Arial" panose="020B0604020202020204" pitchFamily="34" charset="0"/>
              </a:rPr>
              <a:t>Y</a:t>
            </a:r>
            <a:endParaRPr lang="en-US" altLang="zh-CN" sz="1600" i="1">
              <a:latin typeface="Arial" panose="020B0604020202020204" pitchFamily="34" charset="0"/>
            </a:endParaRPr>
          </a:p>
        </p:txBody>
      </p:sp>
      <p:grpSp>
        <p:nvGrpSpPr>
          <p:cNvPr id="43" name="Group 22">
            <a:extLst>
              <a:ext uri="{FF2B5EF4-FFF2-40B4-BE49-F238E27FC236}">
                <a16:creationId xmlns:a16="http://schemas.microsoft.com/office/drawing/2014/main" id="{49EEE665-1D82-ECE8-8650-9591A29CC309}"/>
              </a:ext>
            </a:extLst>
          </p:cNvPr>
          <p:cNvGrpSpPr>
            <a:grpSpLocks/>
          </p:cNvGrpSpPr>
          <p:nvPr/>
        </p:nvGrpSpPr>
        <p:grpSpPr bwMode="auto">
          <a:xfrm>
            <a:off x="456479" y="2613393"/>
            <a:ext cx="3497262" cy="3005138"/>
            <a:chOff x="3104" y="1401"/>
            <a:chExt cx="2203" cy="1893"/>
          </a:xfrm>
        </p:grpSpPr>
        <p:graphicFrame>
          <p:nvGraphicFramePr>
            <p:cNvPr id="44" name="Object 23">
              <a:extLst>
                <a:ext uri="{FF2B5EF4-FFF2-40B4-BE49-F238E27FC236}">
                  <a16:creationId xmlns:a16="http://schemas.microsoft.com/office/drawing/2014/main" id="{3E74ED0D-C2F7-1C58-B917-430B16E6C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4" y="1401"/>
            <a:ext cx="2203" cy="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6" imgW="1439305" imgH="1191306" progId="Word.Picture.8">
                    <p:embed/>
                  </p:oleObj>
                </mc:Choice>
                <mc:Fallback>
                  <p:oleObj name="Picture" r:id="rId6" imgW="1439305" imgH="1191306" progId="Word.Picture.8">
                    <p:embed/>
                    <p:pic>
                      <p:nvPicPr>
                        <p:cNvPr id="3484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4" y="1401"/>
                          <a:ext cx="2203" cy="1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BF45BE46-0FCE-9838-C21D-D86EEA51E2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" y="1556"/>
            <a:ext cx="1795" cy="1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8" imgW="1171100" imgH="1133127" progId="Word.Picture.8">
                    <p:embed/>
                  </p:oleObj>
                </mc:Choice>
                <mc:Fallback>
                  <p:oleObj name="Picture" r:id="rId8" imgW="1171100" imgH="1133127" progId="Word.Picture.8">
                    <p:embed/>
                    <p:pic>
                      <p:nvPicPr>
                        <p:cNvPr id="3484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" y="1556"/>
                          <a:ext cx="1795" cy="1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Rectangle 5">
            <a:extLst>
              <a:ext uri="{FF2B5EF4-FFF2-40B4-BE49-F238E27FC236}">
                <a16:creationId xmlns:a16="http://schemas.microsoft.com/office/drawing/2014/main" id="{9D56D9BE-28A1-ED03-B624-D0842B609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363" y="1371407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时序图</a:t>
            </a:r>
          </a:p>
        </p:txBody>
      </p:sp>
    </p:spTree>
    <p:extLst>
      <p:ext uri="{BB962C8B-B14F-4D97-AF65-F5344CB8AC3E}">
        <p14:creationId xmlns:p14="http://schemas.microsoft.com/office/powerpoint/2010/main" val="295348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E258D-8D46-2431-0D00-ED4806E7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3</a:t>
            </a:r>
            <a:r>
              <a:rPr lang="zh-CN" altLang="en-US" dirty="0"/>
              <a:t>：分析时序电路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E2019-3EAF-4736-DA05-59FA0D484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写出逻辑方程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C01AF-6F65-5923-CE87-849AD285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73F579-78B2-9F65-9EC2-59460283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9FE7F21-9E84-EA8C-9C3A-5A008FB98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856537"/>
              </p:ext>
            </p:extLst>
          </p:nvPr>
        </p:nvGraphicFramePr>
        <p:xfrm>
          <a:off x="2613257" y="585759"/>
          <a:ext cx="6453188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886200" imgH="1803400" progId="Word.Picture.8">
                  <p:embed/>
                </p:oleObj>
              </mc:Choice>
              <mc:Fallback>
                <p:oleObj name="图片" r:id="rId2" imgW="3886200" imgH="1803400" progId="Word.Picture.8">
                  <p:embed/>
                  <p:pic>
                    <p:nvPicPr>
                      <p:cNvPr id="358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257" y="585759"/>
                        <a:ext cx="6453188" cy="3000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2">
            <a:extLst>
              <a:ext uri="{FF2B5EF4-FFF2-40B4-BE49-F238E27FC236}">
                <a16:creationId xmlns:a16="http://schemas.microsoft.com/office/drawing/2014/main" id="{B90BCC7B-019A-4E6C-BBF7-B0142E9B9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8607" y="3922459"/>
            <a:ext cx="1570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tabLst>
                <a:tab pos="733425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7334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激励方程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60FE22-AA3F-7436-5447-B6D1A670C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068" y="3876422"/>
            <a:ext cx="1570037" cy="476250"/>
          </a:xfrm>
          <a:prstGeom prst="rect">
            <a:avLst/>
          </a:prstGeom>
          <a:noFill/>
          <a:ln w="19050">
            <a:solidFill>
              <a:srgbClr val="FF33CC">
                <a:alpha val="0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状态方程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CBA2B8D1-8105-109F-D341-7237CBDA5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048760"/>
              </p:ext>
            </p:extLst>
          </p:nvPr>
        </p:nvGraphicFramePr>
        <p:xfrm>
          <a:off x="6086068" y="4411409"/>
          <a:ext cx="19716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531" imgH="761669" progId="Equation.3">
                  <p:embed/>
                </p:oleObj>
              </mc:Choice>
              <mc:Fallback>
                <p:oleObj name="公式" r:id="rId4" imgW="850531" imgH="761669" progId="Equation.3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6068" y="4411409"/>
                        <a:ext cx="19716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4">
            <a:extLst>
              <a:ext uri="{FF2B5EF4-FFF2-40B4-BE49-F238E27FC236}">
                <a16:creationId xmlns:a16="http://schemas.microsoft.com/office/drawing/2014/main" id="{8B0845DC-CF8D-3F57-F96A-BA4162D9A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57" y="3922459"/>
            <a:ext cx="1989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>
              <a:spcAft>
                <a:spcPct val="20000"/>
              </a:spcAft>
              <a:buChar char="•"/>
              <a:tabLst>
                <a:tab pos="733425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7334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7334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输出方程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D2584CC7-BFB9-EBFA-4D65-285D32F46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41758"/>
              </p:ext>
            </p:extLst>
          </p:nvPr>
        </p:nvGraphicFramePr>
        <p:xfrm>
          <a:off x="1247195" y="4543172"/>
          <a:ext cx="117157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08000" imgH="685800" progId="Equation.3">
                  <p:embed/>
                </p:oleObj>
              </mc:Choice>
              <mc:Fallback>
                <p:oleObj name="公式" r:id="rId6" imgW="508000" imgH="685800" progId="Equation.3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195" y="4543172"/>
                        <a:ext cx="1171575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A29286CB-D538-98C0-849B-5636D985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208" y="3810540"/>
            <a:ext cx="1935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30000"/>
              </a:spcAft>
              <a:buFontTx/>
              <a:buNone/>
            </a:pPr>
            <a:r>
              <a:rPr kumimoji="1" lang="en-US" altLang="zh-CN" b="0" dirty="0"/>
              <a:t>[ Q</a:t>
            </a:r>
            <a:r>
              <a:rPr kumimoji="1" lang="en-US" altLang="zh-CN" b="0" baseline="30000" dirty="0"/>
              <a:t>n+1</a:t>
            </a:r>
            <a:r>
              <a:rPr kumimoji="1" lang="en-US" altLang="zh-CN" b="0" dirty="0"/>
              <a:t> = D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5E37BF5-9AE4-EC1C-F41D-86BBF487E897}"/>
                  </a:ext>
                </a:extLst>
              </p:cNvPr>
              <p:cNvSpPr txBox="1"/>
              <p:nvPr/>
            </p:nvSpPr>
            <p:spPr>
              <a:xfrm>
                <a:off x="2846703" y="4601113"/>
                <a:ext cx="2895513" cy="1385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sz="28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5E37BF5-9AE4-EC1C-F41D-86BBF487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703" y="4601113"/>
                <a:ext cx="2895513" cy="1385892"/>
              </a:xfrm>
              <a:prstGeom prst="rect">
                <a:avLst/>
              </a:prstGeom>
              <a:blipFill>
                <a:blip r:embed="rId8"/>
                <a:stretch>
                  <a:fillRect b="-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29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79E9E-40C8-F6EA-0838-FBBE401E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3</a:t>
            </a:r>
            <a:r>
              <a:rPr lang="zh-CN" altLang="en-US" dirty="0"/>
              <a:t>：分析时序电路（续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E5A17-6443-195B-05BD-36569C6E8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列出状态表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63563A-8C3F-3D2C-DBD4-D6C50753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ABB95B-D075-9B13-4279-029F5FD0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3863DB6-FF5E-C014-CE85-0BB5F49A3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551620"/>
              </p:ext>
            </p:extLst>
          </p:nvPr>
        </p:nvGraphicFramePr>
        <p:xfrm>
          <a:off x="401948" y="1663700"/>
          <a:ext cx="347345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97950" imgH="761669" progId="Equation.3">
                  <p:embed/>
                </p:oleObj>
              </mc:Choice>
              <mc:Fallback>
                <p:oleObj name="公式" r:id="rId2" imgW="1497950" imgH="761669" progId="Equation.3">
                  <p:embed/>
                  <p:pic>
                    <p:nvPicPr>
                      <p:cNvPr id="3689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48" y="1663700"/>
                        <a:ext cx="347345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">
            <a:extLst>
              <a:ext uri="{FF2B5EF4-FFF2-40B4-BE49-F238E27FC236}">
                <a16:creationId xmlns:a16="http://schemas.microsoft.com/office/drawing/2014/main" id="{84C3D1E8-A5BA-B6AB-5F44-E4144325A5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00070"/>
              </p:ext>
            </p:extLst>
          </p:nvPr>
        </p:nvGraphicFramePr>
        <p:xfrm>
          <a:off x="5487911" y="2113446"/>
          <a:ext cx="12414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5863" imgH="241195" progId="Equation.3">
                  <p:embed/>
                </p:oleObj>
              </mc:Choice>
              <mc:Fallback>
                <p:oleObj name="公式" r:id="rId4" imgW="545863" imgH="241195" progId="Equation.3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46CCC2BD-748F-8C77-30CD-8754CD839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11" y="2113446"/>
                        <a:ext cx="1241425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>
            <a:extLst>
              <a:ext uri="{FF2B5EF4-FFF2-40B4-BE49-F238E27FC236}">
                <a16:creationId xmlns:a16="http://schemas.microsoft.com/office/drawing/2014/main" id="{D9C9EE68-370E-437B-7521-3C0915100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731559"/>
              </p:ext>
            </p:extLst>
          </p:nvPr>
        </p:nvGraphicFramePr>
        <p:xfrm>
          <a:off x="7140498" y="2115034"/>
          <a:ext cx="17446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2447" imgH="241195" progId="Equation.3">
                  <p:embed/>
                </p:oleObj>
              </mc:Choice>
              <mc:Fallback>
                <p:oleObj name="公式" r:id="rId6" imgW="812447" imgH="241195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517153EA-991D-146F-928F-51B255FE6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498" y="2115034"/>
                        <a:ext cx="174466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57">
            <a:extLst>
              <a:ext uri="{FF2B5EF4-FFF2-40B4-BE49-F238E27FC236}">
                <a16:creationId xmlns:a16="http://schemas.microsoft.com/office/drawing/2014/main" id="{7FC7881D-5C22-7A4C-06C0-4F91BFF2B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545354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1   1   1</a:t>
            </a:r>
          </a:p>
        </p:txBody>
      </p:sp>
      <p:sp>
        <p:nvSpPr>
          <p:cNvPr id="35" name="Rectangle 55">
            <a:extLst>
              <a:ext uri="{FF2B5EF4-FFF2-40B4-BE49-F238E27FC236}">
                <a16:creationId xmlns:a16="http://schemas.microsoft.com/office/drawing/2014/main" id="{E5655E83-4A7F-F047-F75D-2B90574EC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505032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1   1   0</a:t>
            </a:r>
          </a:p>
        </p:txBody>
      </p:sp>
      <p:sp>
        <p:nvSpPr>
          <p:cNvPr id="36" name="Rectangle 53">
            <a:extLst>
              <a:ext uri="{FF2B5EF4-FFF2-40B4-BE49-F238E27FC236}">
                <a16:creationId xmlns:a16="http://schemas.microsoft.com/office/drawing/2014/main" id="{06234C8B-1BAB-0736-9861-E5BD6373B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464709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1   0   1</a:t>
            </a:r>
          </a:p>
        </p:txBody>
      </p:sp>
      <p:sp>
        <p:nvSpPr>
          <p:cNvPr id="37" name="Rectangle 51">
            <a:extLst>
              <a:ext uri="{FF2B5EF4-FFF2-40B4-BE49-F238E27FC236}">
                <a16:creationId xmlns:a16="http://schemas.microsoft.com/office/drawing/2014/main" id="{4C45DB7E-4BFB-A891-C7E1-7BCEB95FF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424387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1   0   0</a:t>
            </a:r>
          </a:p>
        </p:txBody>
      </p:sp>
      <p:sp>
        <p:nvSpPr>
          <p:cNvPr id="38" name="Rectangle 49">
            <a:extLst>
              <a:ext uri="{FF2B5EF4-FFF2-40B4-BE49-F238E27FC236}">
                <a16:creationId xmlns:a16="http://schemas.microsoft.com/office/drawing/2014/main" id="{F1EF6D0D-144D-29EE-93D0-BD9CDB5A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84064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0   1   1</a:t>
            </a:r>
          </a:p>
        </p:txBody>
      </p:sp>
      <p:sp>
        <p:nvSpPr>
          <p:cNvPr id="39" name="Rectangle 47">
            <a:extLst>
              <a:ext uri="{FF2B5EF4-FFF2-40B4-BE49-F238E27FC236}">
                <a16:creationId xmlns:a16="http://schemas.microsoft.com/office/drawing/2014/main" id="{9FBF9579-2E3A-ECAF-B308-BB334405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43742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0   1   0</a:t>
            </a:r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53CB46D7-2FE1-856A-0DE4-FE162D02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03419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0   0   1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BC0BA256-4C09-226B-B160-97CECF8E3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263097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0   0   0</a:t>
            </a:r>
          </a:p>
        </p:txBody>
      </p:sp>
      <p:sp>
        <p:nvSpPr>
          <p:cNvPr id="42" name="Line 59">
            <a:extLst>
              <a:ext uri="{FF2B5EF4-FFF2-40B4-BE49-F238E27FC236}">
                <a16:creationId xmlns:a16="http://schemas.microsoft.com/office/drawing/2014/main" id="{14755BBA-DBE6-1CF1-804C-8172E1E7E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2105509"/>
            <a:ext cx="367188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" name="Line 60">
            <a:extLst>
              <a:ext uri="{FF2B5EF4-FFF2-40B4-BE49-F238E27FC236}">
                <a16:creationId xmlns:a16="http://schemas.microsoft.com/office/drawing/2014/main" id="{A15085BB-3CB5-C8F2-0C14-C53E568DD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902809"/>
            <a:ext cx="367188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Line 65">
            <a:extLst>
              <a:ext uri="{FF2B5EF4-FFF2-40B4-BE49-F238E27FC236}">
                <a16:creationId xmlns:a16="http://schemas.microsoft.com/office/drawing/2014/main" id="{4986921E-F858-BBB1-A8E2-8FFA0A5E4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2630971"/>
            <a:ext cx="3671887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" name="Line 71">
            <a:extLst>
              <a:ext uri="{FF2B5EF4-FFF2-40B4-BE49-F238E27FC236}">
                <a16:creationId xmlns:a16="http://schemas.microsoft.com/office/drawing/2014/main" id="{9E78D3CB-AA2E-5DC7-9157-33E1E1336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03419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" name="Line 79">
            <a:extLst>
              <a:ext uri="{FF2B5EF4-FFF2-40B4-BE49-F238E27FC236}">
                <a16:creationId xmlns:a16="http://schemas.microsoft.com/office/drawing/2014/main" id="{5CB88A24-D931-756D-BE72-005B6E50A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43742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" name="Line 87">
            <a:extLst>
              <a:ext uri="{FF2B5EF4-FFF2-40B4-BE49-F238E27FC236}">
                <a16:creationId xmlns:a16="http://schemas.microsoft.com/office/drawing/2014/main" id="{22A3BCB7-3EE7-7C3B-B2A2-283979AD8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84064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" name="Line 95">
            <a:extLst>
              <a:ext uri="{FF2B5EF4-FFF2-40B4-BE49-F238E27FC236}">
                <a16:creationId xmlns:a16="http://schemas.microsoft.com/office/drawing/2014/main" id="{89CD33F6-0E2C-F4BF-3F03-FC7918816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424387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Line 103">
            <a:extLst>
              <a:ext uri="{FF2B5EF4-FFF2-40B4-BE49-F238E27FC236}">
                <a16:creationId xmlns:a16="http://schemas.microsoft.com/office/drawing/2014/main" id="{0598FC59-496A-DF12-1C0C-FFCE5EEC4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464709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" name="Line 111">
            <a:extLst>
              <a:ext uri="{FF2B5EF4-FFF2-40B4-BE49-F238E27FC236}">
                <a16:creationId xmlns:a16="http://schemas.microsoft.com/office/drawing/2014/main" id="{42CBBF4B-DFB8-C731-BF3B-919E8789F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05032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" name="Line 119">
            <a:extLst>
              <a:ext uri="{FF2B5EF4-FFF2-40B4-BE49-F238E27FC236}">
                <a16:creationId xmlns:a16="http://schemas.microsoft.com/office/drawing/2014/main" id="{47E85129-2023-6DA4-0320-E2656B878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45354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Rectangle 139">
            <a:extLst>
              <a:ext uri="{FF2B5EF4-FFF2-40B4-BE49-F238E27FC236}">
                <a16:creationId xmlns:a16="http://schemas.microsoft.com/office/drawing/2014/main" id="{81FDA82E-6588-2C84-7C21-8560EC608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036" y="1499084"/>
            <a:ext cx="16573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状态表</a:t>
            </a:r>
          </a:p>
        </p:txBody>
      </p:sp>
      <p:cxnSp>
        <p:nvCxnSpPr>
          <p:cNvPr id="53" name="直接连接符 49">
            <a:extLst>
              <a:ext uri="{FF2B5EF4-FFF2-40B4-BE49-F238E27FC236}">
                <a16:creationId xmlns:a16="http://schemas.microsoft.com/office/drawing/2014/main" id="{133CB2BA-34FC-3725-A30D-F7F4F580E4B3}"/>
              </a:ext>
            </a:extLst>
          </p:cNvPr>
          <p:cNvCxnSpPr/>
          <p:nvPr/>
        </p:nvCxnSpPr>
        <p:spPr>
          <a:xfrm rot="16200000" flipH="1">
            <a:off x="5006898" y="4004159"/>
            <a:ext cx="3797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2">
            <a:extLst>
              <a:ext uri="{FF2B5EF4-FFF2-40B4-BE49-F238E27FC236}">
                <a16:creationId xmlns:a16="http://schemas.microsoft.com/office/drawing/2014/main" id="{BE373B39-64CE-2D34-DB0C-98D62EBB6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23" y="2619859"/>
            <a:ext cx="3381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5" name="TextBox 53">
            <a:extLst>
              <a:ext uri="{FF2B5EF4-FFF2-40B4-BE49-F238E27FC236}">
                <a16:creationId xmlns:a16="http://schemas.microsoft.com/office/drawing/2014/main" id="{76B6E829-DFF3-42D2-FA46-78F6DF49E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036" y="2619859"/>
            <a:ext cx="338137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6" name="TextBox 54">
            <a:extLst>
              <a:ext uri="{FF2B5EF4-FFF2-40B4-BE49-F238E27FC236}">
                <a16:creationId xmlns:a16="http://schemas.microsoft.com/office/drawing/2014/main" id="{CE88E53C-B049-A22F-3B98-17C696F5F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836" y="2619859"/>
            <a:ext cx="338137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5261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FFA60-49BF-B3E3-0BDE-3CE8A222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3</a:t>
            </a:r>
            <a:r>
              <a:rPr lang="zh-CN" altLang="en-US" dirty="0"/>
              <a:t>：分析时序电路（续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6370C-6D89-8B1E-4F0B-679A91566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画出状态图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C39F51-DA96-205E-0EDC-245C2D90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5BAA41-4978-8F79-7DF3-01E12428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46CCC2BD-748F-8C77-30CD-8754CD839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536469"/>
              </p:ext>
            </p:extLst>
          </p:nvPr>
        </p:nvGraphicFramePr>
        <p:xfrm>
          <a:off x="5487911" y="2113446"/>
          <a:ext cx="12414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45863" imgH="241195" progId="Equation.3">
                  <p:embed/>
                </p:oleObj>
              </mc:Choice>
              <mc:Fallback>
                <p:oleObj name="公式" r:id="rId2" imgW="545863" imgH="241195" progId="Equation.3">
                  <p:embed/>
                  <p:pic>
                    <p:nvPicPr>
                      <p:cNvPr id="3687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11" y="2113446"/>
                        <a:ext cx="1241425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517153EA-991D-146F-928F-51B255FE6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414157"/>
              </p:ext>
            </p:extLst>
          </p:nvPr>
        </p:nvGraphicFramePr>
        <p:xfrm>
          <a:off x="7140498" y="2115034"/>
          <a:ext cx="17446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12447" imgH="241195" progId="Equation.3">
                  <p:embed/>
                </p:oleObj>
              </mc:Choice>
              <mc:Fallback>
                <p:oleObj name="公式" r:id="rId4" imgW="812447" imgH="241195" progId="Equation.3">
                  <p:embed/>
                  <p:pic>
                    <p:nvPicPr>
                      <p:cNvPr id="368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498" y="2115034"/>
                        <a:ext cx="174466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7">
            <a:extLst>
              <a:ext uri="{FF2B5EF4-FFF2-40B4-BE49-F238E27FC236}">
                <a16:creationId xmlns:a16="http://schemas.microsoft.com/office/drawing/2014/main" id="{38896642-E49E-F3F2-C55F-232DD42C5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545354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1   1   1</a:t>
            </a:r>
          </a:p>
        </p:txBody>
      </p:sp>
      <p:sp>
        <p:nvSpPr>
          <p:cNvPr id="10" name="Rectangle 55">
            <a:extLst>
              <a:ext uri="{FF2B5EF4-FFF2-40B4-BE49-F238E27FC236}">
                <a16:creationId xmlns:a16="http://schemas.microsoft.com/office/drawing/2014/main" id="{51E7E18D-7914-6099-EADB-1DD9E4FEE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505032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1   1   0</a:t>
            </a:r>
          </a:p>
        </p:txBody>
      </p:sp>
      <p:sp>
        <p:nvSpPr>
          <p:cNvPr id="11" name="Rectangle 53">
            <a:extLst>
              <a:ext uri="{FF2B5EF4-FFF2-40B4-BE49-F238E27FC236}">
                <a16:creationId xmlns:a16="http://schemas.microsoft.com/office/drawing/2014/main" id="{68FFD492-3E7A-C0D6-F1D1-9DDDBDB9C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464709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1   0   1</a:t>
            </a: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EF052BAE-CF22-F03E-32AA-A0FDE4212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424387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1   0   0</a:t>
            </a:r>
          </a:p>
        </p:txBody>
      </p:sp>
      <p:sp>
        <p:nvSpPr>
          <p:cNvPr id="13" name="Rectangle 49">
            <a:extLst>
              <a:ext uri="{FF2B5EF4-FFF2-40B4-BE49-F238E27FC236}">
                <a16:creationId xmlns:a16="http://schemas.microsoft.com/office/drawing/2014/main" id="{41244AA4-DF93-5A14-5DCE-ECD6B0681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84064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0   1   1</a:t>
            </a:r>
          </a:p>
        </p:txBody>
      </p:sp>
      <p:sp>
        <p:nvSpPr>
          <p:cNvPr id="14" name="Rectangle 47">
            <a:extLst>
              <a:ext uri="{FF2B5EF4-FFF2-40B4-BE49-F238E27FC236}">
                <a16:creationId xmlns:a16="http://schemas.microsoft.com/office/drawing/2014/main" id="{69A2C2B2-1751-44B0-1E8A-99436FD78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43742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0   1   0</a:t>
            </a:r>
          </a:p>
        </p:txBody>
      </p:sp>
      <p:sp>
        <p:nvSpPr>
          <p:cNvPr id="15" name="Rectangle 45">
            <a:extLst>
              <a:ext uri="{FF2B5EF4-FFF2-40B4-BE49-F238E27FC236}">
                <a16:creationId xmlns:a16="http://schemas.microsoft.com/office/drawing/2014/main" id="{5CA8B1A1-60BA-D2A2-8A3D-CBD7CBE8E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3034196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0   0   1</a:t>
            </a:r>
          </a:p>
        </p:txBody>
      </p:sp>
      <p:sp>
        <p:nvSpPr>
          <p:cNvPr id="16" name="Rectangle 43">
            <a:extLst>
              <a:ext uri="{FF2B5EF4-FFF2-40B4-BE49-F238E27FC236}">
                <a16:creationId xmlns:a16="http://schemas.microsoft.com/office/drawing/2014/main" id="{F044BC20-3EDB-0957-05B8-1D8DB151B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973" y="2630971"/>
            <a:ext cx="16351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solidFill>
                  <a:srgbClr val="000066"/>
                </a:solidFill>
                <a:cs typeface="Times New Roman" panose="02020603050405020304" pitchFamily="18" charset="0"/>
              </a:rPr>
              <a:t>0   0   0</a:t>
            </a:r>
          </a:p>
        </p:txBody>
      </p:sp>
      <p:sp>
        <p:nvSpPr>
          <p:cNvPr id="17" name="Line 59">
            <a:extLst>
              <a:ext uri="{FF2B5EF4-FFF2-40B4-BE49-F238E27FC236}">
                <a16:creationId xmlns:a16="http://schemas.microsoft.com/office/drawing/2014/main" id="{E1EE93D6-872C-608E-B033-2193EE14E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2105509"/>
            <a:ext cx="367188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60">
            <a:extLst>
              <a:ext uri="{FF2B5EF4-FFF2-40B4-BE49-F238E27FC236}">
                <a16:creationId xmlns:a16="http://schemas.microsoft.com/office/drawing/2014/main" id="{43E81083-7120-907E-B7AC-B7995D726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902809"/>
            <a:ext cx="367188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65">
            <a:extLst>
              <a:ext uri="{FF2B5EF4-FFF2-40B4-BE49-F238E27FC236}">
                <a16:creationId xmlns:a16="http://schemas.microsoft.com/office/drawing/2014/main" id="{47BF9E92-2DF6-38C5-B745-569CBC3E1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2630971"/>
            <a:ext cx="3671887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71">
            <a:extLst>
              <a:ext uri="{FF2B5EF4-FFF2-40B4-BE49-F238E27FC236}">
                <a16:creationId xmlns:a16="http://schemas.microsoft.com/office/drawing/2014/main" id="{43CB91F6-A874-C2D5-08F0-2E7D9BD6F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03419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79">
            <a:extLst>
              <a:ext uri="{FF2B5EF4-FFF2-40B4-BE49-F238E27FC236}">
                <a16:creationId xmlns:a16="http://schemas.microsoft.com/office/drawing/2014/main" id="{B49ADF34-54AB-5D60-972C-606308058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43742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87">
            <a:extLst>
              <a:ext uri="{FF2B5EF4-FFF2-40B4-BE49-F238E27FC236}">
                <a16:creationId xmlns:a16="http://schemas.microsoft.com/office/drawing/2014/main" id="{9F60B9A3-6606-333F-EC0C-5A6296D1D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384064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95">
            <a:extLst>
              <a:ext uri="{FF2B5EF4-FFF2-40B4-BE49-F238E27FC236}">
                <a16:creationId xmlns:a16="http://schemas.microsoft.com/office/drawing/2014/main" id="{5193A0BC-B8ED-6D09-7C85-6C32B0C07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424387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103">
            <a:extLst>
              <a:ext uri="{FF2B5EF4-FFF2-40B4-BE49-F238E27FC236}">
                <a16:creationId xmlns:a16="http://schemas.microsoft.com/office/drawing/2014/main" id="{23913457-B932-5A40-AEFF-06DD5C161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464709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111">
            <a:extLst>
              <a:ext uri="{FF2B5EF4-FFF2-40B4-BE49-F238E27FC236}">
                <a16:creationId xmlns:a16="http://schemas.microsoft.com/office/drawing/2014/main" id="{78FC639F-683E-B710-C7BA-447859C174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050321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119">
            <a:extLst>
              <a:ext uri="{FF2B5EF4-FFF2-40B4-BE49-F238E27FC236}">
                <a16:creationId xmlns:a16="http://schemas.microsoft.com/office/drawing/2014/main" id="{1F9D25ED-FC67-6511-76A9-717A04026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061" y="5453546"/>
            <a:ext cx="36718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Rectangle 139">
            <a:extLst>
              <a:ext uri="{FF2B5EF4-FFF2-40B4-BE49-F238E27FC236}">
                <a16:creationId xmlns:a16="http://schemas.microsoft.com/office/drawing/2014/main" id="{7A0846BD-C47E-7173-E994-4ABAF3D5E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036" y="1499084"/>
            <a:ext cx="16573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状态表</a:t>
            </a:r>
          </a:p>
        </p:txBody>
      </p:sp>
      <p:cxnSp>
        <p:nvCxnSpPr>
          <p:cNvPr id="28" name="直接连接符 49">
            <a:extLst>
              <a:ext uri="{FF2B5EF4-FFF2-40B4-BE49-F238E27FC236}">
                <a16:creationId xmlns:a16="http://schemas.microsoft.com/office/drawing/2014/main" id="{CAE8B939-66DF-7A8A-079A-F35A1884E9DE}"/>
              </a:ext>
            </a:extLst>
          </p:cNvPr>
          <p:cNvCxnSpPr/>
          <p:nvPr/>
        </p:nvCxnSpPr>
        <p:spPr>
          <a:xfrm rot="16200000" flipH="1">
            <a:off x="5006898" y="4004159"/>
            <a:ext cx="3797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2">
            <a:extLst>
              <a:ext uri="{FF2B5EF4-FFF2-40B4-BE49-F238E27FC236}">
                <a16:creationId xmlns:a16="http://schemas.microsoft.com/office/drawing/2014/main" id="{FDC389B2-4CE0-7E0F-78A2-B8E5C3F22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23" y="2619859"/>
            <a:ext cx="3381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" name="TextBox 53">
            <a:extLst>
              <a:ext uri="{FF2B5EF4-FFF2-40B4-BE49-F238E27FC236}">
                <a16:creationId xmlns:a16="http://schemas.microsoft.com/office/drawing/2014/main" id="{7748B24C-6678-0EA6-C0D1-60C20C511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036" y="2619859"/>
            <a:ext cx="338137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1" name="TextBox 54">
            <a:extLst>
              <a:ext uri="{FF2B5EF4-FFF2-40B4-BE49-F238E27FC236}">
                <a16:creationId xmlns:a16="http://schemas.microsoft.com/office/drawing/2014/main" id="{476B933A-878A-6776-1330-5D6008535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836" y="2619859"/>
            <a:ext cx="338137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ts val="3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2" name="Object 2">
            <a:extLst>
              <a:ext uri="{FF2B5EF4-FFF2-40B4-BE49-F238E27FC236}">
                <a16:creationId xmlns:a16="http://schemas.microsoft.com/office/drawing/2014/main" id="{3F6E64AA-D316-16AF-8857-5332FBA4C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289370"/>
              </p:ext>
            </p:extLst>
          </p:nvPr>
        </p:nvGraphicFramePr>
        <p:xfrm>
          <a:off x="213166" y="2440471"/>
          <a:ext cx="4705350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238560" imgH="1724400" progId="Word.Picture.8">
                  <p:embed/>
                </p:oleObj>
              </mc:Choice>
              <mc:Fallback>
                <p:oleObj name="Picture" r:id="rId6" imgW="3238560" imgH="1724400" progId="Word.Picture.8">
                  <p:embed/>
                  <p:pic>
                    <p:nvPicPr>
                      <p:cNvPr id="3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6" y="2440471"/>
                        <a:ext cx="4705350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">
            <a:extLst>
              <a:ext uri="{FF2B5EF4-FFF2-40B4-BE49-F238E27FC236}">
                <a16:creationId xmlns:a16="http://schemas.microsoft.com/office/drawing/2014/main" id="{2FEA2ADA-242E-B69E-A380-9E06F322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678" y="5350358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139A58-CFB0-D3CE-BFA2-DE3D283A0F5B}"/>
              </a:ext>
            </a:extLst>
          </p:cNvPr>
          <p:cNvSpPr txBox="1"/>
          <p:nvPr/>
        </p:nvSpPr>
        <p:spPr>
          <a:xfrm>
            <a:off x="1406172" y="5846213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（本例为无条件跳转）</a:t>
            </a:r>
          </a:p>
        </p:txBody>
      </p:sp>
    </p:spTree>
    <p:extLst>
      <p:ext uri="{BB962C8B-B14F-4D97-AF65-F5344CB8AC3E}">
        <p14:creationId xmlns:p14="http://schemas.microsoft.com/office/powerpoint/2010/main" val="707891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18F77-CC48-724F-BB66-BBFD9B2D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3</a:t>
            </a:r>
            <a:r>
              <a:rPr lang="zh-CN" altLang="en-US" dirty="0"/>
              <a:t>：分析时序电路（续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F4BFD-68B9-4C13-148D-A86874A5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画出时序图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b="0" dirty="0">
                <a:ea typeface="楷体_GB2312" pitchFamily="49" charset="-122"/>
              </a:rPr>
              <a:t>由状态图可见，电路有</a:t>
            </a:r>
            <a:r>
              <a:rPr kumimoji="1" lang="en-US" altLang="zh-CN" b="0" dirty="0">
                <a:ea typeface="楷体_GB2312" pitchFamily="49" charset="-122"/>
              </a:rPr>
              <a:t>3</a:t>
            </a:r>
            <a:r>
              <a:rPr kumimoji="1" lang="zh-CN" altLang="en-US" b="0" dirty="0">
                <a:ea typeface="楷体_GB2312" pitchFamily="49" charset="-122"/>
              </a:rPr>
              <a:t>个循环的有效状态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b="0" dirty="0">
                <a:ea typeface="楷体_GB2312" pitchFamily="49" charset="-122"/>
              </a:rPr>
              <a:t>从时序图可看出，电路正常工作时，各触发器的</a:t>
            </a:r>
            <a:r>
              <a:rPr kumimoji="1" lang="en-US" altLang="zh-CN" b="0" i="1" dirty="0">
                <a:ea typeface="楷体_GB2312" pitchFamily="49" charset="-122"/>
              </a:rPr>
              <a:t>Q</a:t>
            </a:r>
            <a:r>
              <a:rPr kumimoji="1" lang="zh-CN" altLang="en-US" b="0" dirty="0">
                <a:ea typeface="楷体_GB2312" pitchFamily="49" charset="-122"/>
              </a:rPr>
              <a:t>端轮流出现一个宽度为一个</a:t>
            </a:r>
            <a:r>
              <a:rPr kumimoji="1" lang="zh-CN" altLang="en-US" b="0" i="1" dirty="0">
                <a:ea typeface="楷体_GB2312" pitchFamily="49" charset="-122"/>
              </a:rPr>
              <a:t>时钟 </a:t>
            </a:r>
            <a:r>
              <a:rPr kumimoji="1" lang="zh-CN" altLang="en-US" b="0" dirty="0">
                <a:ea typeface="楷体_GB2312" pitchFamily="49" charset="-122"/>
              </a:rPr>
              <a:t>周期</a:t>
            </a:r>
            <a:r>
              <a:rPr kumimoji="1" lang="en-US" altLang="zh-CN" b="0" dirty="0">
                <a:ea typeface="楷体_GB2312" pitchFamily="49" charset="-122"/>
              </a:rPr>
              <a:t>(</a:t>
            </a:r>
            <a:r>
              <a:rPr kumimoji="1" lang="en-US" altLang="zh-CN" b="0" i="1" dirty="0">
                <a:ea typeface="楷体_GB2312" pitchFamily="49" charset="-122"/>
              </a:rPr>
              <a:t>T</a:t>
            </a:r>
            <a:r>
              <a:rPr kumimoji="1" lang="en-US" altLang="zh-CN" b="0" baseline="-25000" dirty="0">
                <a:ea typeface="楷体_GB2312" pitchFamily="49" charset="-122"/>
              </a:rPr>
              <a:t>CP</a:t>
            </a:r>
            <a:r>
              <a:rPr kumimoji="1" lang="en-US" altLang="zh-CN" b="0" dirty="0">
                <a:ea typeface="楷体_GB2312" pitchFamily="49" charset="-122"/>
              </a:rPr>
              <a:t>)</a:t>
            </a:r>
            <a:r>
              <a:rPr kumimoji="1" lang="zh-CN" altLang="en-US" b="0" dirty="0">
                <a:ea typeface="楷体_GB2312" pitchFamily="49" charset="-122"/>
              </a:rPr>
              <a:t>的脉冲信号，循环周期为</a:t>
            </a:r>
            <a:r>
              <a:rPr kumimoji="1" lang="en-US" altLang="zh-CN" b="0" dirty="0">
                <a:ea typeface="楷体_GB2312" pitchFamily="49" charset="-122"/>
              </a:rPr>
              <a:t>3</a:t>
            </a:r>
            <a:r>
              <a:rPr kumimoji="1" lang="en-US" altLang="zh-CN" b="0" i="1" dirty="0">
                <a:ea typeface="楷体_GB2312" pitchFamily="49" charset="-122"/>
              </a:rPr>
              <a:t>T</a:t>
            </a:r>
            <a:r>
              <a:rPr kumimoji="1" lang="en-US" altLang="zh-CN" b="0" baseline="-25000" dirty="0">
                <a:ea typeface="楷体_GB2312" pitchFamily="49" charset="-122"/>
              </a:rPr>
              <a:t>CP</a:t>
            </a:r>
            <a:endParaRPr kumimoji="1" lang="en-US" altLang="zh-CN" b="0" dirty="0">
              <a:ea typeface="楷体_GB2312" pitchFamily="49" charset="-122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ea typeface="楷体_GB2312" pitchFamily="49" charset="-122"/>
              </a:rPr>
              <a:t>电路的功能为脉冲分配器或节拍脉冲产生器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6FFD74-D911-0C9B-DE87-2E3BBC5B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0EE153-6DA1-07D8-F191-E11211E6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D8217E8D-BCE5-0165-FDB7-4B9AB1FB8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306396"/>
              </p:ext>
            </p:extLst>
          </p:nvPr>
        </p:nvGraphicFramePr>
        <p:xfrm>
          <a:off x="503199" y="3699764"/>
          <a:ext cx="2530475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937880" imgH="1027080" progId="Word.Picture.8">
                  <p:embed/>
                </p:oleObj>
              </mc:Choice>
              <mc:Fallback>
                <p:oleObj name="Picture" r:id="rId2" imgW="1937880" imgH="1027080" progId="Word.Picture.8">
                  <p:embed/>
                  <p:pic>
                    <p:nvPicPr>
                      <p:cNvPr id="389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199" y="3699764"/>
                        <a:ext cx="2530475" cy="1330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99EE50C2-C15F-494E-93B4-77D0DD789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401680"/>
              </p:ext>
            </p:extLst>
          </p:nvPr>
        </p:nvGraphicFramePr>
        <p:xfrm>
          <a:off x="3835400" y="3258440"/>
          <a:ext cx="5372100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372040" imgH="1388308" progId="Word.Picture.8">
                  <p:embed/>
                </p:oleObj>
              </mc:Choice>
              <mc:Fallback>
                <p:oleObj name="Picture" r:id="rId4" imgW="3372040" imgH="1388308" progId="Word.Picture.8">
                  <p:embed/>
                  <p:pic>
                    <p:nvPicPr>
                      <p:cNvPr id="389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3258440"/>
                        <a:ext cx="5372100" cy="221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5697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P320-323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6.1.6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6.1.7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6.2.1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6.2.4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6.2.7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通知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期中考试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日周二 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09:45-11:45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，很可能 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3B103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（注意不是上课教室）</a:t>
            </a:r>
            <a:endParaRPr lang="en-US" altLang="zh-CN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习题课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/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第一次：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日周六 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19:00~20:30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3C202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（注意不是上课教室），开始至组合电路</a:t>
            </a:r>
            <a:endParaRPr lang="en-US" altLang="zh-CN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/>
            <a:endParaRPr lang="en-US" altLang="zh-CN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/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第二次：时间请投票，地点待定，至</a:t>
            </a:r>
            <a:r>
              <a:rPr lang="en-US" altLang="zh-CN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PPT14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（期中考试内容截止处）</a:t>
            </a:r>
            <a:endParaRPr lang="en-US" altLang="zh-CN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4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19222</TotalTime>
  <Words>2365</Words>
  <Application>Microsoft Macintosh PowerPoint</Application>
  <PresentationFormat>A4 纸张(210x297 毫米)</PresentationFormat>
  <Paragraphs>578</Paragraphs>
  <Slides>23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黑体</vt:lpstr>
      <vt:lpstr>楷体_GB2312</vt:lpstr>
      <vt:lpstr>宋体</vt:lpstr>
      <vt:lpstr>Microsoft YaHei</vt:lpstr>
      <vt:lpstr>Microsoft YaHei</vt:lpstr>
      <vt:lpstr>Arial</vt:lpstr>
      <vt:lpstr>Arial Black</vt:lpstr>
      <vt:lpstr>Cambria</vt:lpstr>
      <vt:lpstr>Cambria Math</vt:lpstr>
      <vt:lpstr>Times New Roman</vt:lpstr>
      <vt:lpstr>Office-Design</vt:lpstr>
      <vt:lpstr>公式</vt:lpstr>
      <vt:lpstr>Picture</vt:lpstr>
      <vt:lpstr>图片</vt:lpstr>
      <vt:lpstr>  模拟与数字电路 Analog and Digital Circuits</vt:lpstr>
      <vt:lpstr>内容提纲</vt:lpstr>
      <vt:lpstr>时序电路的分类</vt:lpstr>
      <vt:lpstr>米利型和摩尔型时序电路</vt:lpstr>
      <vt:lpstr>时序电路的描述方式</vt:lpstr>
      <vt:lpstr>逻辑方程和状态表</vt:lpstr>
      <vt:lpstr>状态图</vt:lpstr>
      <vt:lpstr>示例1：时序电路描述方式</vt:lpstr>
      <vt:lpstr>示例1：时序电路描述方式（续1）</vt:lpstr>
      <vt:lpstr>示例1：时序电路描述方式（续2）</vt:lpstr>
      <vt:lpstr>示例1：时序电路描述方式（续3）</vt:lpstr>
      <vt:lpstr>同步时序电路的分析</vt:lpstr>
      <vt:lpstr>示例2：分析时序电路</vt:lpstr>
      <vt:lpstr>示例2：分析时序电路（续1）</vt:lpstr>
      <vt:lpstr>示例2：分析时序电路（续2）</vt:lpstr>
      <vt:lpstr>示例2：分析时序电路（续3）</vt:lpstr>
      <vt:lpstr>示例2：分析时序电路（续4）</vt:lpstr>
      <vt:lpstr>示例3：分析时序电路</vt:lpstr>
      <vt:lpstr>示例3：分析时序电路（续1）</vt:lpstr>
      <vt:lpstr>示例3：分析时序电路（续2）</vt:lpstr>
      <vt:lpstr>示例3：分析时序电路（续3）</vt:lpstr>
      <vt:lpstr>作业</vt:lpstr>
      <vt:lpstr>通知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2539</cp:revision>
  <cp:lastPrinted>2020-05-26T13:24:01Z</cp:lastPrinted>
  <dcterms:created xsi:type="dcterms:W3CDTF">2020-04-07T12:23:01Z</dcterms:created>
  <dcterms:modified xsi:type="dcterms:W3CDTF">2024-10-16T23:41:01Z</dcterms:modified>
</cp:coreProperties>
</file>