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444" r:id="rId3"/>
    <p:sldId id="536" r:id="rId4"/>
    <p:sldId id="512" r:id="rId5"/>
    <p:sldId id="513" r:id="rId6"/>
    <p:sldId id="514" r:id="rId7"/>
    <p:sldId id="515" r:id="rId8"/>
    <p:sldId id="516" r:id="rId9"/>
    <p:sldId id="517" r:id="rId10"/>
    <p:sldId id="544" r:id="rId11"/>
    <p:sldId id="518" r:id="rId12"/>
    <p:sldId id="519" r:id="rId13"/>
    <p:sldId id="537" r:id="rId14"/>
    <p:sldId id="538" r:id="rId15"/>
    <p:sldId id="539" r:id="rId16"/>
    <p:sldId id="522" r:id="rId17"/>
    <p:sldId id="523" r:id="rId18"/>
    <p:sldId id="524" r:id="rId19"/>
    <p:sldId id="525" r:id="rId20"/>
    <p:sldId id="540" r:id="rId21"/>
    <p:sldId id="541" r:id="rId22"/>
    <p:sldId id="527" r:id="rId23"/>
    <p:sldId id="542" r:id="rId24"/>
    <p:sldId id="528" r:id="rId25"/>
    <p:sldId id="529" r:id="rId26"/>
    <p:sldId id="530" r:id="rId27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88"/>
    <p:restoredTop sz="80231"/>
  </p:normalViewPr>
  <p:slideViewPr>
    <p:cSldViewPr snapToGrid="0" snapToObjects="1">
      <p:cViewPr varScale="1">
        <p:scale>
          <a:sx n="84" d="100"/>
          <a:sy n="84" d="100"/>
        </p:scale>
        <p:origin x="416" y="184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b="0" dirty="0"/>
              <a:t>always</a:t>
            </a:r>
            <a:r>
              <a:rPr lang="zh-CN" altLang="en-US" b="0" dirty="0"/>
              <a:t>：</a:t>
            </a:r>
          </a:p>
          <a:p>
            <a:pPr eaLnBrk="1" hangingPunct="1"/>
            <a:r>
              <a:rPr lang="en-US" altLang="zh-CN" b="0" dirty="0"/>
              <a:t>Runs when simulation starts</a:t>
            </a:r>
          </a:p>
          <a:p>
            <a:pPr eaLnBrk="1" hangingPunct="1"/>
            <a:r>
              <a:rPr lang="en-US" altLang="zh-CN" b="0" dirty="0"/>
              <a:t>Restarts when control reaches the end</a:t>
            </a:r>
          </a:p>
          <a:p>
            <a:pPr eaLnBrk="1" hangingPunct="1"/>
            <a:r>
              <a:rPr lang="en-US" altLang="zh-CN" b="0" dirty="0"/>
              <a:t>Good for modeling/specifying hardware</a:t>
            </a:r>
          </a:p>
          <a:p>
            <a:pPr eaLnBrk="1" hangingPunct="1"/>
            <a:endParaRPr lang="zh-CN" altLang="en-US" b="0" dirty="0"/>
          </a:p>
          <a:p>
            <a:pPr eaLnBrk="1" hangingPunct="1"/>
            <a:r>
              <a:rPr lang="en-US" altLang="zh-CN" b="0" dirty="0"/>
              <a:t>initial</a:t>
            </a:r>
            <a:r>
              <a:rPr lang="zh-CN" altLang="en-US" b="0" dirty="0"/>
              <a:t>：</a:t>
            </a:r>
          </a:p>
          <a:p>
            <a:pPr eaLnBrk="1" hangingPunct="1"/>
            <a:r>
              <a:rPr lang="en-US" altLang="zh-CN" b="0" dirty="0"/>
              <a:t>Runs when simulation starts</a:t>
            </a:r>
          </a:p>
          <a:p>
            <a:pPr eaLnBrk="1" hangingPunct="1"/>
            <a:r>
              <a:rPr lang="en-US" altLang="zh-CN" b="0" dirty="0"/>
              <a:t>Terminates when control reaches the end</a:t>
            </a:r>
          </a:p>
          <a:p>
            <a:pPr eaLnBrk="1" hangingPunct="1"/>
            <a:r>
              <a:rPr lang="en-US" altLang="zh-CN" b="0" dirty="0"/>
              <a:t>Good for providing stimulus</a:t>
            </a:r>
            <a:endParaRPr lang="zh-CN" altLang="en-US" b="0" dirty="0"/>
          </a:p>
          <a:p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869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除非要求对</a:t>
            </a:r>
            <a:r>
              <a:rPr lang="en-US" altLang="zh-CN" dirty="0" err="1"/>
              <a:t>rst</a:t>
            </a:r>
            <a:r>
              <a:rPr lang="zh-CN" altLang="en-US" dirty="0"/>
              <a:t>的即使响应，否则推荐使用同步复位；不占用全局时钟线，且所有输出仅随</a:t>
            </a:r>
            <a:r>
              <a:rPr lang="en-US" altLang="zh-CN" dirty="0"/>
              <a:t>CLK</a:t>
            </a:r>
            <a:r>
              <a:rPr lang="zh-CN" altLang="en-US" dirty="0"/>
              <a:t>变化，保持完全同步。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678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为了更好的分析，将</a:t>
            </a:r>
            <a:r>
              <a:rPr lang="en-US" altLang="zh-CN" dirty="0" err="1"/>
              <a:t>a,b,c</a:t>
            </a:r>
            <a:r>
              <a:rPr lang="zh-CN" altLang="en-US" dirty="0"/>
              <a:t>看作位宽为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设初始时</a:t>
            </a:r>
            <a:endParaRPr lang="en-US" altLang="zh-CN" dirty="0"/>
          </a:p>
          <a:p>
            <a:r>
              <a:rPr lang="en-US" altLang="zh-CN" dirty="0"/>
              <a:t>a = 01, b=10, c=11</a:t>
            </a:r>
          </a:p>
          <a:p>
            <a:r>
              <a:rPr lang="zh-CN" altLang="en-US" dirty="0"/>
              <a:t>对于左边描述，当时钟上升沿到来：</a:t>
            </a:r>
            <a:endParaRPr lang="en-US" altLang="zh-CN" dirty="0"/>
          </a:p>
          <a:p>
            <a:r>
              <a:rPr lang="zh-CN" altLang="en-US" dirty="0"/>
              <a:t>执行</a:t>
            </a:r>
            <a:r>
              <a:rPr lang="en-US" altLang="zh-CN" dirty="0"/>
              <a:t>b=a;</a:t>
            </a:r>
            <a:endParaRPr lang="en-US" altLang="ja-JP" dirty="0"/>
          </a:p>
          <a:p>
            <a:r>
              <a:rPr lang="en-US" altLang="zh-CN" dirty="0"/>
              <a:t>b=01</a:t>
            </a:r>
          </a:p>
          <a:p>
            <a:r>
              <a:rPr lang="zh-CN" altLang="en-US" dirty="0"/>
              <a:t>执行</a:t>
            </a:r>
            <a:r>
              <a:rPr lang="en-US" altLang="zh-CN" dirty="0"/>
              <a:t>c=b</a:t>
            </a:r>
          </a:p>
          <a:p>
            <a:r>
              <a:rPr lang="en-US" altLang="zh-CN" dirty="0"/>
              <a:t>c=01</a:t>
            </a:r>
          </a:p>
          <a:p>
            <a:r>
              <a:rPr lang="zh-CN" altLang="en-US" dirty="0"/>
              <a:t>即在时钟上升沿，将</a:t>
            </a:r>
            <a:r>
              <a:rPr lang="en-US" altLang="zh-CN" dirty="0"/>
              <a:t>a-</a:t>
            </a:r>
            <a:r>
              <a:rPr lang="zh-CN" altLang="en-US" dirty="0"/>
              <a:t>的值打给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c; </a:t>
            </a:r>
            <a:r>
              <a:rPr lang="zh-CN" altLang="en-US" dirty="0"/>
              <a:t>下图电路可满足。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对于右边表述，当时钟上升沿到来：</a:t>
            </a:r>
            <a:endParaRPr lang="en-US" altLang="zh-CN" dirty="0"/>
          </a:p>
          <a:p>
            <a:r>
              <a:rPr lang="zh-CN" altLang="en-US" dirty="0"/>
              <a:t>执行</a:t>
            </a:r>
            <a:r>
              <a:rPr lang="en-US" altLang="zh-CN" dirty="0"/>
              <a:t>c=b;</a:t>
            </a:r>
            <a:endParaRPr lang="en-US" altLang="ja-JP" dirty="0"/>
          </a:p>
          <a:p>
            <a:r>
              <a:rPr lang="en-US" altLang="zh-CN" dirty="0"/>
              <a:t>c=10</a:t>
            </a:r>
          </a:p>
          <a:p>
            <a:r>
              <a:rPr lang="zh-CN" altLang="en-US" dirty="0"/>
              <a:t>执行</a:t>
            </a:r>
            <a:r>
              <a:rPr lang="en-US" altLang="zh-CN" dirty="0"/>
              <a:t>b=a</a:t>
            </a:r>
          </a:p>
          <a:p>
            <a:r>
              <a:rPr lang="en-US" altLang="zh-CN" dirty="0"/>
              <a:t>a=01</a:t>
            </a:r>
          </a:p>
          <a:p>
            <a:r>
              <a:rPr lang="zh-CN" altLang="en-US" dirty="0"/>
              <a:t>即在时钟上升沿，分别将</a:t>
            </a:r>
            <a:r>
              <a:rPr lang="en-US" altLang="zh-CN" dirty="0"/>
              <a:t>a-</a:t>
            </a:r>
            <a:r>
              <a:rPr lang="zh-CN" altLang="en-US" dirty="0"/>
              <a:t>的值打给</a:t>
            </a:r>
            <a:r>
              <a:rPr lang="en-US" altLang="zh-CN" dirty="0"/>
              <a:t>b, </a:t>
            </a:r>
            <a:r>
              <a:rPr lang="zh-CN" altLang="en-US" dirty="0"/>
              <a:t>将</a:t>
            </a:r>
            <a:r>
              <a:rPr lang="en-US" altLang="zh-CN" dirty="0"/>
              <a:t>b-</a:t>
            </a:r>
            <a:r>
              <a:rPr lang="zh-CN" altLang="en-US" dirty="0"/>
              <a:t>的值打给</a:t>
            </a:r>
            <a:r>
              <a:rPr lang="en-US" altLang="zh-CN" dirty="0"/>
              <a:t>c</a:t>
            </a:r>
            <a:r>
              <a:rPr lang="zh-CN" altLang="en-US" dirty="0"/>
              <a:t>；下图电路可满足。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234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如果将输入信号、各触发器的现态、次态与输出信号的关系用表格形式表示，即称为状态转换表。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为了更直观地分析时序逻辑电路的功能，将输入信号和各触发器的现态、次态，与输出信号的关系用图的形式表示，即为状态转换图。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由给定的输入信号和时钟信号，根据状态表或状态图，以及触发器的触发特性，得到输出信号、触发器状态随时间变化的波形图称为时序波形图。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是否是</a:t>
            </a:r>
            <a:r>
              <a:rPr kumimoji="1" lang="en-US" altLang="zh-CN" dirty="0">
                <a:solidFill>
                  <a:srgbClr val="000000"/>
                </a:solidFill>
              </a:rPr>
              <a:t>Moore</a:t>
            </a:r>
            <a:r>
              <a:rPr kumimoji="1" lang="zh-CN" altLang="en-US" dirty="0">
                <a:solidFill>
                  <a:srgbClr val="000000"/>
                </a:solidFill>
              </a:rPr>
              <a:t>型只看最后一层输出是否直接受</a:t>
            </a:r>
            <a:r>
              <a:rPr kumimoji="1" lang="en-US" altLang="zh-CN" dirty="0">
                <a:solidFill>
                  <a:srgbClr val="000000"/>
                </a:solidFill>
              </a:rPr>
              <a:t>X</a:t>
            </a:r>
            <a:r>
              <a:rPr kumimoji="1" lang="zh-CN" altLang="en-US" dirty="0">
                <a:solidFill>
                  <a:srgbClr val="000000"/>
                </a:solidFill>
              </a:rPr>
              <a:t>影响，不看是否含有</a:t>
            </a:r>
            <a:r>
              <a:rPr kumimoji="1" lang="en-US" altLang="zh-CN" dirty="0">
                <a:solidFill>
                  <a:srgbClr val="000000"/>
                </a:solidFill>
              </a:rPr>
              <a:t>X</a:t>
            </a:r>
            <a:r>
              <a:rPr kumimoji="1" lang="zh-CN" altLang="en-US" dirty="0">
                <a:solidFill>
                  <a:srgbClr val="000000"/>
                </a:solidFill>
              </a:rPr>
              <a:t>作为隐变量，</a:t>
            </a:r>
            <a:r>
              <a:rPr lang="zh-CN" altLang="en-US" dirty="0"/>
              <a:t>参见 数字电路</a:t>
            </a:r>
            <a:r>
              <a:rPr lang="en-US" altLang="ja-JP" dirty="0"/>
              <a:t>P275</a:t>
            </a:r>
            <a:r>
              <a:rPr lang="zh-CN" altLang="en-US" dirty="0"/>
              <a:t>页</a:t>
            </a:r>
            <a:r>
              <a:rPr lang="en-US" altLang="ja-JP" dirty="0"/>
              <a:t> </a:t>
            </a:r>
            <a:r>
              <a:rPr lang="zh-CN" altLang="en-US" dirty="0"/>
              <a:t>，特别是</a:t>
            </a:r>
            <a:r>
              <a:rPr lang="en-US" altLang="zh-CN" dirty="0"/>
              <a:t>P277 </a:t>
            </a:r>
            <a:r>
              <a:rPr lang="zh-CN" altLang="en-US" dirty="0"/>
              <a:t>图</a:t>
            </a:r>
            <a:r>
              <a:rPr lang="en-US" altLang="zh-CN" dirty="0"/>
              <a:t>6.1.6</a:t>
            </a:r>
            <a:endParaRPr kumimoji="1" lang="zh-CN" altLang="en-US" dirty="0">
              <a:solidFill>
                <a:srgbClr val="0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907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818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@</a:t>
            </a:r>
            <a:r>
              <a:rPr kumimoji="1" lang="zh-CN" altLang="en-US" dirty="0"/>
              <a:t>* 循环中任意自变量发生变化即触发执行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81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15_Verilog HDL(2)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P244-249, 310-318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en-US" altLang="zh-CN" dirty="0"/>
              <a:t>Verilog</a:t>
            </a:r>
            <a:r>
              <a:rPr lang="zh-CN" altLang="en-US" dirty="0"/>
              <a:t>描述锁存器和触发器</a:t>
            </a:r>
            <a:endParaRPr lang="en-US" altLang="zh-CN" dirty="0"/>
          </a:p>
          <a:p>
            <a:pPr>
              <a:spcBef>
                <a:spcPct val="30000"/>
              </a:spcBef>
            </a:pPr>
            <a:r>
              <a:rPr lang="en-US" altLang="zh-CN" dirty="0"/>
              <a:t>Verilog</a:t>
            </a:r>
            <a:r>
              <a:rPr lang="zh-CN" altLang="en-US" dirty="0"/>
              <a:t>描述有限状态机</a:t>
            </a:r>
            <a:r>
              <a:rPr lang="en-US" altLang="zh-CN" dirty="0"/>
              <a:t>(FSM)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40BD1-C89E-DA6B-251B-9340615B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</a:t>
            </a:r>
            <a:r>
              <a:rPr lang="zh-CN" altLang="en-US" dirty="0"/>
              <a:t>过程赋值语句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D40702-8F85-A1C8-EB92-CA615A32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always</a:t>
            </a:r>
            <a:r>
              <a:rPr lang="zh-CN" altLang="en-US" dirty="0"/>
              <a:t>和</a:t>
            </a:r>
            <a:r>
              <a:rPr lang="en-US" altLang="zh-CN" dirty="0"/>
              <a:t>initial</a:t>
            </a:r>
            <a:r>
              <a:rPr lang="zh-CN" altLang="en-US" dirty="0"/>
              <a:t>块中，对</a:t>
            </a:r>
            <a:r>
              <a:rPr lang="en-US" altLang="zh-CN" dirty="0"/>
              <a:t>reg</a:t>
            </a:r>
            <a:r>
              <a:rPr lang="zh-CN" altLang="en-US" dirty="0"/>
              <a:t>类型变量赋值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两种赋值方式</a:t>
            </a:r>
          </a:p>
          <a:p>
            <a:pPr lvl="1">
              <a:lnSpc>
                <a:spcPct val="110000"/>
              </a:lnSpc>
            </a:pPr>
            <a:r>
              <a:rPr lang="zh-CN" altLang="en-US" sz="2800" dirty="0"/>
              <a:t>阻塞（</a:t>
            </a:r>
            <a:r>
              <a:rPr lang="en-US" altLang="zh-CN" sz="2800" dirty="0"/>
              <a:t>blocking)  </a:t>
            </a:r>
            <a:r>
              <a:rPr lang="zh-CN" altLang="en-US" sz="2800" dirty="0"/>
              <a:t>赋值语句 </a:t>
            </a:r>
            <a:r>
              <a:rPr lang="en-US" altLang="zh-CN" sz="2800" dirty="0"/>
              <a:t>( = )</a:t>
            </a:r>
            <a:endParaRPr lang="zh-CN" altLang="en-US" sz="2800" dirty="0"/>
          </a:p>
          <a:p>
            <a:pPr lvl="2">
              <a:lnSpc>
                <a:spcPct val="110000"/>
              </a:lnSpc>
            </a:pPr>
            <a:r>
              <a:rPr lang="zh-CN" altLang="en-US" sz="2400" dirty="0"/>
              <a:t>块内的赋值语句顺序执行，完成一条赋值语句后才能做下一句的操作</a:t>
            </a:r>
            <a:endParaRPr lang="en-US" altLang="zh-CN" sz="2400" dirty="0"/>
          </a:p>
          <a:p>
            <a:pPr lvl="2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推荐描述组合电路</a:t>
            </a:r>
          </a:p>
          <a:p>
            <a:pPr lvl="1">
              <a:lnSpc>
                <a:spcPct val="110000"/>
              </a:lnSpc>
            </a:pPr>
            <a:r>
              <a:rPr lang="zh-CN" altLang="en-US" sz="2800" dirty="0"/>
              <a:t>非阻塞（</a:t>
            </a:r>
            <a:r>
              <a:rPr lang="en-US" altLang="zh-CN" sz="2800" dirty="0"/>
              <a:t>non-blocking)  </a:t>
            </a:r>
            <a:r>
              <a:rPr lang="zh-CN" altLang="en-US" sz="2800" dirty="0"/>
              <a:t>赋值语句 </a:t>
            </a:r>
            <a:r>
              <a:rPr lang="en-US" altLang="zh-CN" sz="2800" dirty="0"/>
              <a:t>( &lt;= )</a:t>
            </a:r>
            <a:endParaRPr lang="zh-CN" altLang="en-US" sz="2800" dirty="0"/>
          </a:p>
          <a:p>
            <a:pPr lvl="2">
              <a:lnSpc>
                <a:spcPct val="110000"/>
              </a:lnSpc>
            </a:pPr>
            <a:r>
              <a:rPr lang="zh-CN" altLang="en-US" sz="2400" dirty="0"/>
              <a:t>块内的赋值语句并发执行，即同时赋值</a:t>
            </a:r>
            <a:endParaRPr lang="en-US" altLang="zh-CN" sz="2400" dirty="0"/>
          </a:p>
          <a:p>
            <a:pPr lvl="2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推荐描述时序电路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74AFB3-ECB9-6C37-239D-A1285DF8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51AF17-1BAF-29E3-61EB-473B3E13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2563D4-0A64-EF61-3692-0DD37E35BB71}"/>
              </a:ext>
            </a:extLst>
          </p:cNvPr>
          <p:cNvSpPr txBox="1"/>
          <p:nvPr/>
        </p:nvSpPr>
        <p:spPr>
          <a:xfrm>
            <a:off x="5977287" y="5813659"/>
            <a:ext cx="361909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使用两种赋值方式有什么好处？</a:t>
            </a:r>
          </a:p>
        </p:txBody>
      </p:sp>
    </p:spTree>
    <p:extLst>
      <p:ext uri="{BB962C8B-B14F-4D97-AF65-F5344CB8AC3E}">
        <p14:creationId xmlns:p14="http://schemas.microsoft.com/office/powerpoint/2010/main" val="376643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39F72-1A7A-794D-7157-D9A48D88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</a:t>
            </a:r>
            <a:r>
              <a:rPr lang="zh-CN" altLang="en-US" dirty="0"/>
              <a:t>描述</a:t>
            </a:r>
            <a:r>
              <a:rPr lang="en-US" altLang="zh-CN" dirty="0"/>
              <a:t>D</a:t>
            </a:r>
            <a:r>
              <a:rPr lang="zh-CN" altLang="en-US" dirty="0"/>
              <a:t>锁存器和触发器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7A3E06-3C4D-F931-820C-5ADFC269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7A27D9-C0C4-803A-AAA3-11064B98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198AF13-30E1-77F9-7357-D1517AFB9092}"/>
              </a:ext>
            </a:extLst>
          </p:cNvPr>
          <p:cNvSpPr txBox="1">
            <a:spLocks noChangeArrowheads="1"/>
          </p:cNvSpPr>
          <p:nvPr/>
        </p:nvSpPr>
        <p:spPr>
          <a:xfrm>
            <a:off x="4953000" y="1227346"/>
            <a:ext cx="4284662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5000"/>
              </a:spcBef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module D_FF (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en-US" altLang="zh-CN" sz="20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Qn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</a:t>
            </a: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D, C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Q,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reg 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assign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~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@(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&lt;= 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>
              <a:spcBef>
                <a:spcPct val="25000"/>
              </a:spcBef>
              <a:buFontTx/>
              <a:buNone/>
            </a:pP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endmodule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0DB7397-EB72-766A-9624-55EFB2E82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471" y="1227346"/>
            <a:ext cx="4592637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D_Latch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Q,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D,C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input 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D, C;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Q,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Qn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reg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Q;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assign </a:t>
            </a:r>
            <a:r>
              <a:rPr lang="en-US" altLang="zh-CN" sz="2000" b="1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Qn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~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@(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if (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&lt;= 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endmodule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00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37EAB976-CF79-5C76-0E00-7E2C773C8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1950" y="5465971"/>
            <a:ext cx="3127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E2C0A8-4D2E-00D4-8F5B-6EBBEE67D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0" y="4673808"/>
            <a:ext cx="838200" cy="11525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3F66ECDA-2BF7-2200-2C43-FA17CE7F8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237" y="484208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D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E2414D3B-1195-1BAA-D77D-A6F4C6A2F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6350" y="484208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8C9DAE21-738B-C33D-5FDB-DF1FA13D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2062" y="5250071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B90B5D44-F276-9D4F-80C2-D091CF6A2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5407233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BE896BA3-0F2D-AD7F-00E3-DEE0543F0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6412" y="5034171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13370AB8-2344-BF55-F72F-B31D27590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6412" y="5462796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02EB998C-354F-0C30-E26D-4E6E03785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1950" y="5034171"/>
            <a:ext cx="3127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0C5F80C8-A394-9DB0-41B8-92D5ED4B1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527388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C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35068CB9-7397-5137-94C6-A258D20D9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7" y="4673808"/>
            <a:ext cx="838200" cy="11525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E000F5C-2F44-DC7C-7C6F-D67EEACC1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5034171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28929A52-62A5-015F-060D-EB1DEEE00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5462796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9A07EE9D-3420-E24C-532E-8EBBC8402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484208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D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B28B7744-1096-0EF9-6F8A-708BBC39B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37" y="484208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</a:p>
        </p:txBody>
      </p:sp>
      <p:sp>
        <p:nvSpPr>
          <p:cNvPr id="23" name="AutoShape 21">
            <a:extLst>
              <a:ext uri="{FF2B5EF4-FFF2-40B4-BE49-F238E27FC236}">
                <a16:creationId xmlns:a16="http://schemas.microsoft.com/office/drawing/2014/main" id="{6C66D028-9DA1-E76B-0790-70B7613E88F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83463" y="5378658"/>
            <a:ext cx="215900" cy="174625"/>
          </a:xfrm>
          <a:prstGeom prst="flowChartExtra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8258CEFD-2869-7472-F140-6E7D88A0F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7650" y="5250071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617DA29F-6A0C-54D7-0F91-9C17B28A7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7537" y="5034171"/>
            <a:ext cx="312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5EB0C983-FC1E-3634-D62B-5FA655071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7537" y="5465971"/>
            <a:ext cx="312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E3C1E0-AA07-9913-3E79-F234A7696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712" y="5407233"/>
            <a:ext cx="130175" cy="1301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651D6D41-04E4-5C5D-B8F8-256194F50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2212" y="5250071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C</a:t>
            </a: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C05FA92A-ADA6-C822-EA05-D6389A933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8537" y="1073358"/>
            <a:ext cx="0" cy="4787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16">
            <a:extLst>
              <a:ext uri="{FF2B5EF4-FFF2-40B4-BE49-F238E27FC236}">
                <a16:creationId xmlns:a16="http://schemas.microsoft.com/office/drawing/2014/main" id="{14C31098-B4EE-7846-6370-C08E42FF3B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0675" y="5313677"/>
            <a:ext cx="207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6">
            <a:extLst>
              <a:ext uri="{FF2B5EF4-FFF2-40B4-BE49-F238E27FC236}">
                <a16:creationId xmlns:a16="http://schemas.microsoft.com/office/drawing/2014/main" id="{E1FE9F6C-EE9E-1BC6-C435-33D806E274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8425" y="5329177"/>
            <a:ext cx="2079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BAFE22F-DD00-0C9B-3D78-05327F515D68}"/>
              </a:ext>
            </a:extLst>
          </p:cNvPr>
          <p:cNvSpPr txBox="1"/>
          <p:nvPr/>
        </p:nvSpPr>
        <p:spPr>
          <a:xfrm>
            <a:off x="739775" y="2889476"/>
            <a:ext cx="3062287" cy="400110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always @*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94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00BB4-2D6D-2CAB-52AC-008DA12E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异步或同步复位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A346BE-D244-553C-8F73-E9651527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1AA055-7D33-ED14-D55A-CEE84304B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D6480F-BA26-E5E6-31BB-9207D9A7D817}"/>
              </a:ext>
            </a:extLst>
          </p:cNvPr>
          <p:cNvSpPr/>
          <p:nvPr/>
        </p:nvSpPr>
        <p:spPr>
          <a:xfrm>
            <a:off x="3998180" y="510639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synchronous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2C9E46-5712-BB78-DACE-6988B2308A0C}"/>
              </a:ext>
            </a:extLst>
          </p:cNvPr>
          <p:cNvSpPr/>
          <p:nvPr/>
        </p:nvSpPr>
        <p:spPr>
          <a:xfrm>
            <a:off x="2082458" y="510639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asynchronous</a:t>
            </a:r>
            <a:endParaRPr lang="zh-CN" alt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9E33D86-BA68-7EEC-841A-AE205498E59D}"/>
              </a:ext>
            </a:extLst>
          </p:cNvPr>
          <p:cNvSpPr txBox="1">
            <a:spLocks noChangeArrowheads="1"/>
          </p:cNvSpPr>
          <p:nvPr/>
        </p:nvSpPr>
        <p:spPr>
          <a:xfrm>
            <a:off x="5490896" y="1279138"/>
            <a:ext cx="3168650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module 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ff_s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rst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 d,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output reg q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always @(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negedge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if (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rst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q &lt;= 0;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else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q &lt;= d;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endmodule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E4DEF1F-66D0-BC60-B755-F2174E9B6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46" y="1279138"/>
            <a:ext cx="4052888" cy="482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  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ff_a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 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 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input d,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output reg q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 @(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negedge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 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if 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q &lt;= 0;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else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q &lt;= d;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endmodule</a:t>
            </a:r>
            <a:endParaRPr lang="en-US" altLang="zh-CN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3F040281-B693-B647-405B-22DB9AE78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6784" y="1495038"/>
            <a:ext cx="0" cy="29527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组合 1">
            <a:extLst>
              <a:ext uri="{FF2B5EF4-FFF2-40B4-BE49-F238E27FC236}">
                <a16:creationId xmlns:a16="http://schemas.microsoft.com/office/drawing/2014/main" id="{03F0726F-DD72-6BF2-E03A-40E8039A0E43}"/>
              </a:ext>
            </a:extLst>
          </p:cNvPr>
          <p:cNvGrpSpPr>
            <a:grpSpLocks/>
          </p:cNvGrpSpPr>
          <p:nvPr/>
        </p:nvGrpSpPr>
        <p:grpSpPr bwMode="auto">
          <a:xfrm>
            <a:off x="3582721" y="4555738"/>
            <a:ext cx="1511300" cy="1577975"/>
            <a:chOff x="3782442" y="4689475"/>
            <a:chExt cx="1510283" cy="1577454"/>
          </a:xfrm>
        </p:grpSpPr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50C8CD59-38DE-553D-1258-F70A78207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788" y="4689475"/>
              <a:ext cx="838200" cy="115252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930E8F44-4708-D3C3-A930-A4E5487AC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450" y="5049838"/>
              <a:ext cx="2762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2BF76CE9-641E-9774-966C-A81E7C9B6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442" y="5478463"/>
              <a:ext cx="3482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16B50E52-19E0-1D99-DF83-173E4B0C7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275" y="4857750"/>
              <a:ext cx="3508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D</a:t>
              </a: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C3EBD82F-DAE8-C246-A71E-34F4112BC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4388" y="5048250"/>
              <a:ext cx="3635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1800">
                  <a:ea typeface="楷体_GB2312" pitchFamily="49" charset="-122"/>
                </a:rPr>
                <a:t>Q</a:t>
              </a:r>
            </a:p>
          </p:txBody>
        </p:sp>
        <p:sp>
          <p:nvSpPr>
            <p:cNvPr id="17" name="AutoShape 11">
              <a:extLst>
                <a:ext uri="{FF2B5EF4-FFF2-40B4-BE49-F238E27FC236}">
                  <a16:creationId xmlns:a16="http://schemas.microsoft.com/office/drawing/2014/main" id="{63C61DAF-6DD9-E76A-8116-5CB844449B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25913" y="5394325"/>
              <a:ext cx="215900" cy="174625"/>
            </a:xfrm>
            <a:prstGeom prst="flowChartExtra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6019BFDE-B04E-3DDB-0420-280935743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9988" y="5240338"/>
              <a:ext cx="3127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6AB38A72-A068-9659-E1DB-1F3129455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613" y="5413375"/>
              <a:ext cx="130175" cy="1301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09F84946-C5EE-ECE2-6BB3-567956549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488" y="5842001"/>
              <a:ext cx="0" cy="323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6">
              <a:extLst>
                <a:ext uri="{FF2B5EF4-FFF2-40B4-BE49-F238E27FC236}">
                  <a16:creationId xmlns:a16="http://schemas.microsoft.com/office/drawing/2014/main" id="{90583AD6-845C-799D-614D-BCF66EEA9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079" y="580526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rst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13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C83DC-1320-1581-A6F8-3E65D371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示例：阻塞赋值语句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ADAC17-7873-EEE7-FA79-B855E882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7DBD65-2CCC-4701-F10D-D0B19D05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F8C1553-A89F-6EE5-67C6-D351B35D7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7" y="1700213"/>
            <a:ext cx="3473441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@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begin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;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</a:t>
            </a:r>
            <a:endParaRPr lang="zh-CN" altLang="en-US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30716F-2285-7631-A49D-0B503EFE8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700213"/>
            <a:ext cx="347344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@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begin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;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</a:t>
            </a:r>
            <a:endParaRPr lang="zh-CN" altLang="en-US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A9DFB6F4-C1BA-4682-B63B-2F8FFBD934E8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4364038"/>
            <a:ext cx="3624263" cy="1447800"/>
            <a:chOff x="3084" y="2749"/>
            <a:chExt cx="2283" cy="912"/>
          </a:xfrm>
        </p:grpSpPr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505BA8CC-76D8-FBE0-BDBF-098FC4276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2" y="332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659B053C-57E4-D7A9-968D-FD9E2C6C7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285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clk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8B1BB1F0-4EEA-E317-26BE-A4A0A757A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" y="3339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</a:t>
              </a: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92A95DEA-DAB4-BD95-84CF-473C0EAF3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2989"/>
              <a:ext cx="499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BF50D76E-4690-38EE-3C01-6D2D7B3FA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325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7987FB7C-9081-6E23-4AA3-2A424CF52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3133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E581780E-CBC8-CAE2-D593-9D815F3A4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133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820213A0-1F03-7FAA-92AC-030A2EBA9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181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D   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91E72107-F8B7-A7A3-1447-69F5C640F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3181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Q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35C6DC47-7951-9A50-DD8E-237E18146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3085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0231C875-541E-FA6B-777F-5386B06C53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3" y="3133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ACBB8418-0215-6275-8BD6-7BBC56405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4" y="3339"/>
              <a:ext cx="3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3C4B0D05-F64F-57A5-DE5B-D56B0B104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2749"/>
              <a:ext cx="8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5A6B23E3-25AC-88B5-C024-8F9E26D03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74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4A78FF2E-3DCE-6C19-1C2A-DC58C9DD9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274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1D3ECD5B-4F13-9B2B-204E-D68256E74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358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a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4E6CE4BB-F767-DE06-4458-BCDB697A4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5" y="3373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b</a:t>
              </a: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BF661D29-0FB2-EBAC-7E2A-D7E487DF1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995"/>
              <a:ext cx="499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620FDFDE-D63A-496D-6C0D-2B3B3DE94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0" y="3187"/>
              <a:ext cx="2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D     </a:t>
              </a: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A15C7993-DEB8-3FED-1464-566FF590F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3187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Q</a:t>
              </a: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52BFBD51-D982-A530-1C9E-5E03CD17F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0" y="3091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1AE3FC97-E9F2-5021-21BE-F4D27E900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0" y="3139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31" name="Group 28">
            <a:extLst>
              <a:ext uri="{FF2B5EF4-FFF2-40B4-BE49-F238E27FC236}">
                <a16:creationId xmlns:a16="http://schemas.microsoft.com/office/drawing/2014/main" id="{1B86E22A-3AF2-9B13-51C9-20BC52F112F5}"/>
              </a:ext>
            </a:extLst>
          </p:cNvPr>
          <p:cNvGrpSpPr>
            <a:grpSpLocks/>
          </p:cNvGrpSpPr>
          <p:nvPr/>
        </p:nvGrpSpPr>
        <p:grpSpPr bwMode="auto">
          <a:xfrm>
            <a:off x="881063" y="4508500"/>
            <a:ext cx="2754312" cy="1284288"/>
            <a:chOff x="3209" y="2931"/>
            <a:chExt cx="1735" cy="809"/>
          </a:xfrm>
        </p:grpSpPr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01954A90-C9AF-BDB5-31D4-EC776F03F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0" y="3085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6AF657F1-2329-32C7-110D-1C581A2FD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0" y="3085"/>
              <a:ext cx="2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FFA73589-81C9-BA9E-ADEC-CC2F43454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7" y="3419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4C70626A-6F47-5242-0EAC-78F3FCC8F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" y="294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clk</a:t>
              </a: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578B0C71-2B0B-4AF9-CA31-B8B5192A5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3083"/>
              <a:ext cx="499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10231229-3815-E847-09C9-B11797F42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3419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E938990C-4614-E72B-3CB9-9C8A61206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3227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E1ED5DBE-02C7-7E58-4CB7-1E7718220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3275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D   </a:t>
              </a: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472D6F77-E3A0-8134-13AA-D3A99168C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3275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Q</a:t>
              </a: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AAB830A6-606E-33DC-9365-4FEAF3E72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3179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1EFA4403-5971-90E7-40C4-88ED784E30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8" y="3227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BCB75FC9-3366-3EA0-F8F2-4E59855CB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345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a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F53BEF35-531F-E807-9D50-345D7BC3A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326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</a:t>
              </a: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3046D4E6-5607-7A05-19E2-026A28083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9" y="2931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b</a:t>
              </a:r>
            </a:p>
          </p:txBody>
        </p:sp>
      </p:grpSp>
      <p:sp>
        <p:nvSpPr>
          <p:cNvPr id="46" name="Line 43">
            <a:extLst>
              <a:ext uri="{FF2B5EF4-FFF2-40B4-BE49-F238E27FC236}">
                <a16:creationId xmlns:a16="http://schemas.microsoft.com/office/drawing/2014/main" id="{B3F04016-B350-B27E-1A0D-6E6184162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7561" y="1740600"/>
            <a:ext cx="0" cy="3924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CE1D6-3D3F-F03F-2A0E-3E8B2D39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示例：非阻塞赋值语句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C4B936-EFB2-421F-940C-58A0D7BE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9EEBA2-B0B5-7AEE-52B8-DED2E49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E4D7BB-F339-CD24-49C7-F42E158D6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7" y="1700213"/>
            <a:ext cx="347503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@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begin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 ;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b;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</a:t>
            </a:r>
            <a:endParaRPr lang="zh-CN" altLang="en-US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CFE6D64-849C-CC35-5FCF-B082E2770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699" y="1700213"/>
            <a:ext cx="3300403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@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begin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; 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 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&lt;=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a;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</a:t>
            </a:r>
            <a:endParaRPr lang="zh-CN" altLang="en-US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21DC1E43-0B05-FAD9-0560-DA31D1424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8513" y="1736725"/>
            <a:ext cx="0" cy="3924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1270D537-00ED-C4B7-E42B-0FA245011880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4364038"/>
            <a:ext cx="3624263" cy="1447800"/>
            <a:chOff x="3084" y="2749"/>
            <a:chExt cx="2283" cy="912"/>
          </a:xfrm>
        </p:grpSpPr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B2DEFB8C-BF32-8073-ACE7-713A7DFB3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2" y="332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DDB2B510-C325-6652-242F-4002373C5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285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clk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CF80958C-C40C-D044-AA11-9448CEC02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" y="3339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</a:t>
              </a: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14F22802-4473-D06B-0787-F663CE87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2989"/>
              <a:ext cx="499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A1375E75-01DC-222D-BB7B-10A88EF33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325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BD444B2C-D1B3-1F63-A122-69985BE56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3133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62B01F74-6B1E-3B86-889E-7D717835A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133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2148FC92-8DC5-6999-BA78-1C6277D6E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181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D   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87E31460-F938-F7E5-630C-9D9BDC673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3181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Q</a:t>
              </a: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522CCCE4-94D0-1D9A-072F-7329EA16F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3085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E0F4547D-9531-E0C3-D7DD-96316626D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3" y="3133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17F569D3-0256-F59B-AE5C-6EB7125CA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4" y="3339"/>
              <a:ext cx="3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46DFB908-7A06-90A7-6404-028CAED99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2749"/>
              <a:ext cx="8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D1B25243-F953-ADDB-2AEC-D32A0CEF3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74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C9A94B9F-2C6F-B3CF-F53D-EBFE71EDEA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274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BEC599ED-01C5-3883-B9C3-D825E7CFD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358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a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365286D3-AE3F-FF1C-A9C6-1D36D3320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5" y="3373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b</a:t>
              </a: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C8C082A7-906C-6E87-7EFD-A38C0F86D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995"/>
              <a:ext cx="499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CC814BF9-2656-C0E9-C451-35FDC0DE0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0" y="3187"/>
              <a:ext cx="2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D     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50BE0458-3F9A-D3FC-97E7-3402A7FD4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3187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Q</a:t>
              </a: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069C26B3-8EFE-376E-3691-509F1CAA7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0" y="3091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CDCB1451-438D-32DD-343B-FA27185A66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0" y="3139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32" name="Group 29">
            <a:extLst>
              <a:ext uri="{FF2B5EF4-FFF2-40B4-BE49-F238E27FC236}">
                <a16:creationId xmlns:a16="http://schemas.microsoft.com/office/drawing/2014/main" id="{99F86C98-808F-F799-ADAA-9BF89A40ABB1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4357688"/>
            <a:ext cx="3624263" cy="1447800"/>
            <a:chOff x="3084" y="2749"/>
            <a:chExt cx="2283" cy="912"/>
          </a:xfrm>
        </p:grpSpPr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671D3F20-0621-878C-06EF-43F088325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2" y="3325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0C1BD725-85B4-86DC-E878-35263E655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285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clk</a:t>
              </a:r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254DED78-FD92-F5D3-6BA6-CFCF60302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0" y="3339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c</a:t>
              </a: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6813CF6A-B7DC-B8C5-828A-5D051C83D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2989"/>
              <a:ext cx="499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1C2D112E-8CBF-1CBB-E7A8-4D1136D2A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325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451E4064-1B1F-099C-742C-2A1BE3B51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3133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54D2AE24-AC98-CA0F-572B-609BEAFD1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133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3ECEAB95-6F50-D302-A198-4AE7845EA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3181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D   </a:t>
              </a: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794EE58A-0DAC-F664-DFCC-B579A9A50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3181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Q</a:t>
              </a:r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4DB49FA2-4C18-414F-EDBF-EFA71B696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3085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433C54DC-65AF-2CAD-D75B-5D4A9F020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83" y="3133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211269E5-A9A8-BCAB-D582-CA931BD9B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4" y="3339"/>
              <a:ext cx="3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6B3C6EF8-EB42-AA18-372C-A95A19D1B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2749"/>
              <a:ext cx="8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DC18FE70-EE7F-4A68-EDA3-CAE0CF890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74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8274C9DE-AE20-C984-72C6-7861BB5DD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" y="2749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19F02CB4-1321-0649-CD35-137C4FCF0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358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a</a:t>
              </a:r>
            </a:p>
          </p:txBody>
        </p:sp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96ED8CCA-CFAD-A15A-65CF-B6A9979E1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5" y="3373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400"/>
                <a:t>b</a:t>
              </a: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2F094336-1FC6-63F6-145B-1AAC49BE6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995"/>
              <a:ext cx="499" cy="48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1" name="Text Box 48">
              <a:extLst>
                <a:ext uri="{FF2B5EF4-FFF2-40B4-BE49-F238E27FC236}">
                  <a16:creationId xmlns:a16="http://schemas.microsoft.com/office/drawing/2014/main" id="{2ACD93B4-954E-586F-93A6-EE16D3734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0" y="3187"/>
              <a:ext cx="24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D     </a:t>
              </a:r>
            </a:p>
          </p:txBody>
        </p:sp>
        <p:sp>
          <p:nvSpPr>
            <p:cNvPr id="52" name="Text Box 49">
              <a:extLst>
                <a:ext uri="{FF2B5EF4-FFF2-40B4-BE49-F238E27FC236}">
                  <a16:creationId xmlns:a16="http://schemas.microsoft.com/office/drawing/2014/main" id="{2B9CDFD6-9C31-0A81-A432-FE15E9B4E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3187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Clr>
                  <a:schemeClr val="tx2"/>
                </a:buClr>
                <a:buFontTx/>
                <a:buNone/>
              </a:pPr>
              <a:r>
                <a:rPr kumimoji="1" lang="en-US" altLang="zh-CN" sz="2000"/>
                <a:t>Q</a:t>
              </a:r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F42AA5C3-9212-1307-DABB-F35E2F442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0" y="3091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3E8F1134-EE76-EE1D-8AEE-EE90C0D0B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0" y="3139"/>
              <a:ext cx="14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012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2F00-9807-8E9B-88DB-90DD9FB4C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示例：两种赋值语句比较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8E370F-4395-96E2-EA0A-B9695B71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2A719A-5632-936A-253A-83062798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751D26-EF80-9A59-E741-2AA8FAA71AA3}"/>
              </a:ext>
            </a:extLst>
          </p:cNvPr>
          <p:cNvSpPr txBox="1">
            <a:spLocks noChangeArrowheads="1"/>
          </p:cNvSpPr>
          <p:nvPr/>
        </p:nvSpPr>
        <p:spPr>
          <a:xfrm>
            <a:off x="241870" y="1449388"/>
            <a:ext cx="4600717" cy="493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module </a:t>
            </a:r>
            <a:r>
              <a:rPr lang="en-US" altLang="zh-CN" sz="2000" dirty="0" err="1"/>
              <a:t>basgn</a:t>
            </a:r>
            <a:r>
              <a:rPr lang="en-US" altLang="zh-CN" sz="2000" dirty="0"/>
              <a:t> (x1, x2, x3, Clock, f, g);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input x1, x2, x3, Clock;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output f, g;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reg f, g;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always @(</a:t>
            </a:r>
            <a:r>
              <a:rPr lang="en-US" altLang="zh-CN" sz="2000" dirty="0" err="1"/>
              <a:t>posedge</a:t>
            </a:r>
            <a:r>
              <a:rPr lang="en-US" altLang="zh-CN" sz="2000" dirty="0"/>
              <a:t> Clock)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    begin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	    f = x1 &amp; x2;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	    g = f | x3;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    end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err="1"/>
              <a:t>endmodule</a:t>
            </a:r>
            <a:endParaRPr lang="en-US" altLang="zh-CN" sz="2000" dirty="0"/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1F46B62E-6511-7C03-B4A4-CBEC24B04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12546"/>
              </p:ext>
            </p:extLst>
          </p:nvPr>
        </p:nvGraphicFramePr>
        <p:xfrm>
          <a:off x="4604320" y="1939904"/>
          <a:ext cx="5059810" cy="3504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3780952" imgH="2619048" progId="Paint.Picture">
                  <p:embed/>
                </p:oleObj>
              </mc:Choice>
              <mc:Fallback>
                <p:oleObj name="位图图像" r:id="rId2" imgW="3780952" imgH="2619048" progId="Paint.Picture">
                  <p:embed/>
                  <p:pic>
                    <p:nvPicPr>
                      <p:cNvPr id="1946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4320" y="1939904"/>
                        <a:ext cx="5059810" cy="3504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469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1AA9F-1A29-E9D2-0B8F-6CAA23BC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示例：两种赋值语句比较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续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04EEEC-CC01-F728-2036-32F75775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1D223-8EA8-BD3B-AB32-39E5125F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B802D1D-A9C3-A2CD-D1F6-56AA7E39B21E}"/>
              </a:ext>
            </a:extLst>
          </p:cNvPr>
          <p:cNvSpPr txBox="1">
            <a:spLocks noChangeArrowheads="1"/>
          </p:cNvSpPr>
          <p:nvPr/>
        </p:nvSpPr>
        <p:spPr>
          <a:xfrm>
            <a:off x="542845" y="1387395"/>
            <a:ext cx="4038600" cy="49323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module </a:t>
            </a:r>
            <a:r>
              <a:rPr lang="en-US" altLang="zh-CN" sz="2000" dirty="0" err="1"/>
              <a:t>nbasgn</a:t>
            </a:r>
            <a:r>
              <a:rPr lang="en-US" altLang="zh-CN" sz="2000" dirty="0"/>
              <a:t> (x1, x2, x3, Clock, f, g);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input x1, x2, x3, Clock;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output f, g;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reg f, g;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always @(</a:t>
            </a:r>
            <a:r>
              <a:rPr lang="en-US" altLang="zh-CN" sz="2000" dirty="0" err="1"/>
              <a:t>posedge</a:t>
            </a:r>
            <a:r>
              <a:rPr lang="en-US" altLang="zh-CN" sz="2000" dirty="0"/>
              <a:t> Clock)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	begin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	  f </a:t>
            </a:r>
            <a:r>
              <a:rPr lang="en-US" altLang="zh-CN" sz="2000" i="1" dirty="0"/>
              <a:t>&lt;</a:t>
            </a:r>
            <a:r>
              <a:rPr lang="en-US" altLang="zh-CN" sz="2000" dirty="0"/>
              <a:t>= x1 &amp; x2;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	  g </a:t>
            </a:r>
            <a:r>
              <a:rPr lang="en-US" altLang="zh-CN" sz="2000" i="1" dirty="0"/>
              <a:t>&lt;</a:t>
            </a:r>
            <a:r>
              <a:rPr lang="en-US" altLang="zh-CN" sz="2000" dirty="0"/>
              <a:t>= f | x3;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/>
              <a:t>	end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err="1"/>
              <a:t>endmodule</a:t>
            </a:r>
            <a:endParaRPr lang="en-US" altLang="zh-CN" sz="2000" dirty="0"/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DFDE2AB3-F28C-065D-12E9-B5CE2481D2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224616"/>
              </p:ext>
            </p:extLst>
          </p:nvPr>
        </p:nvGraphicFramePr>
        <p:xfrm>
          <a:off x="4776788" y="1777028"/>
          <a:ext cx="4754670" cy="3549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3780952" imgH="2591162" progId="Paint.Picture">
                  <p:embed/>
                </p:oleObj>
              </mc:Choice>
              <mc:Fallback>
                <p:oleObj name="位图图像" r:id="rId2" imgW="3780952" imgH="2591162" progId="Paint.Picture">
                  <p:embed/>
                  <p:pic>
                    <p:nvPicPr>
                      <p:cNvPr id="2150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788" y="1777028"/>
                        <a:ext cx="4754670" cy="3549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329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931D4-CAE3-3CB9-54C2-B7A1B16B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回顾：时序电路的描述方式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BD2DB-E4AC-AAE0-8B7B-0FE92F379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157217" cy="5947119"/>
          </a:xfrm>
        </p:spPr>
        <p:txBody>
          <a:bodyPr/>
          <a:lstStyle/>
          <a:p>
            <a:r>
              <a:rPr lang="zh-CN" altLang="en-US" dirty="0"/>
              <a:t>逻辑方程、状态转换表（状态表） 、状态转换图（状态图）、时序波形图（时序图）、</a:t>
            </a:r>
            <a:r>
              <a:rPr lang="en-US" altLang="zh-CN" dirty="0"/>
              <a:t>HDL</a:t>
            </a:r>
            <a:r>
              <a:rPr lang="zh-CN" altLang="en-US" dirty="0"/>
              <a:t>描述</a:t>
            </a:r>
          </a:p>
          <a:p>
            <a:pPr lvl="1"/>
            <a:r>
              <a:rPr lang="zh-CN" altLang="en-US" dirty="0"/>
              <a:t>不同描述方式是等价的，可以相互转换</a:t>
            </a:r>
          </a:p>
          <a:p>
            <a:endParaRPr lang="zh-CN" altLang="en-US" dirty="0"/>
          </a:p>
          <a:p>
            <a:endParaRPr lang="zh-CN" altLang="en-US" sz="2400" dirty="0"/>
          </a:p>
          <a:p>
            <a:pPr>
              <a:buFontTx/>
              <a:buNone/>
            </a:pPr>
            <a:endParaRPr lang="en-US" altLang="zh-CN" sz="2400" dirty="0"/>
          </a:p>
          <a:p>
            <a:pPr>
              <a:buFontTx/>
              <a:buNone/>
            </a:pPr>
            <a:endParaRPr lang="zh-CN" altLang="en-US" sz="2400" dirty="0"/>
          </a:p>
          <a:p>
            <a:r>
              <a:rPr lang="zh-CN" altLang="en-US" dirty="0"/>
              <a:t>逻辑方程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B1ED5F-3F4A-F347-944E-E32F8270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13. </a:t>
            </a:r>
            <a:r>
              <a:rPr lang="zh-CN" altLang="en-US"/>
              <a:t>时序逻辑电路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D2BF57-25E1-AFF8-76F7-17B55AE8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/22</a:t>
            </a:r>
            <a:endParaRPr lang="en-US" dirty="0"/>
          </a:p>
        </p:txBody>
      </p:sp>
      <p:grpSp>
        <p:nvGrpSpPr>
          <p:cNvPr id="6" name="Group 43">
            <a:extLst>
              <a:ext uri="{FF2B5EF4-FFF2-40B4-BE49-F238E27FC236}">
                <a16:creationId xmlns:a16="http://schemas.microsoft.com/office/drawing/2014/main" id="{7152006B-7FE6-403C-D3FF-44A7CD955504}"/>
              </a:ext>
            </a:extLst>
          </p:cNvPr>
          <p:cNvGrpSpPr>
            <a:grpSpLocks/>
          </p:cNvGrpSpPr>
          <p:nvPr/>
        </p:nvGrpSpPr>
        <p:grpSpPr bwMode="auto">
          <a:xfrm>
            <a:off x="1399788" y="1987860"/>
            <a:ext cx="6840538" cy="1731963"/>
            <a:chOff x="952" y="1772"/>
            <a:chExt cx="4309" cy="1091"/>
          </a:xfrm>
        </p:grpSpPr>
        <p:grpSp>
          <p:nvGrpSpPr>
            <p:cNvPr id="7" name="Group 23">
              <a:extLst>
                <a:ext uri="{FF2B5EF4-FFF2-40B4-BE49-F238E27FC236}">
                  <a16:creationId xmlns:a16="http://schemas.microsoft.com/office/drawing/2014/main" id="{611562AF-BAD9-9371-0808-CADD19657E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7" y="2266"/>
              <a:ext cx="1520" cy="340"/>
              <a:chOff x="2677" y="2705"/>
              <a:chExt cx="1520" cy="426"/>
            </a:xfrm>
          </p:grpSpPr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2F3D424B-A6D4-8D0C-C99D-D410EDDA9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9" y="2705"/>
                <a:ext cx="1158" cy="4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 anchorCtr="1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zh-CN" altLang="en-US" sz="2400" b="0">
                    <a:latin typeface="Arial" panose="020B0604020202020204" pitchFamily="34" charset="0"/>
                  </a:rPr>
                  <a:t>记忆电路</a:t>
                </a:r>
              </a:p>
            </p:txBody>
          </p:sp>
          <p:sp>
            <p:nvSpPr>
              <p:cNvPr id="22" name="Line 25">
                <a:extLst>
                  <a:ext uri="{FF2B5EF4-FFF2-40B4-BE49-F238E27FC236}">
                    <a16:creationId xmlns:a16="http://schemas.microsoft.com/office/drawing/2014/main" id="{C49FC3B9-93C6-B6DA-C088-D3D819367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7" y="2906"/>
                <a:ext cx="36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Group 26">
              <a:extLst>
                <a:ext uri="{FF2B5EF4-FFF2-40B4-BE49-F238E27FC236}">
                  <a16:creationId xmlns:a16="http://schemas.microsoft.com/office/drawing/2014/main" id="{F342EBB0-D37C-A481-33E8-16FAC75F39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3" y="2424"/>
              <a:ext cx="2697" cy="439"/>
              <a:chOff x="1703" y="2921"/>
              <a:chExt cx="2697" cy="558"/>
            </a:xfrm>
          </p:grpSpPr>
          <p:sp>
            <p:nvSpPr>
              <p:cNvPr id="16" name="Line 27">
                <a:extLst>
                  <a:ext uri="{FF2B5EF4-FFF2-40B4-BE49-F238E27FC236}">
                    <a16:creationId xmlns:a16="http://schemas.microsoft.com/office/drawing/2014/main" id="{E2B9441E-8A5E-E16C-EDCE-B4F434616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6" y="2921"/>
                <a:ext cx="20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28">
                <a:extLst>
                  <a:ext uri="{FF2B5EF4-FFF2-40B4-BE49-F238E27FC236}">
                    <a16:creationId xmlns:a16="http://schemas.microsoft.com/office/drawing/2014/main" id="{33F58C13-A7E7-76FA-0C56-38D295581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3" y="3472"/>
                <a:ext cx="269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9">
                <a:extLst>
                  <a:ext uri="{FF2B5EF4-FFF2-40B4-BE49-F238E27FC236}">
                    <a16:creationId xmlns:a16="http://schemas.microsoft.com/office/drawing/2014/main" id="{DE26C4F2-DFDF-06F9-B8A4-26DDA7E5A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3" y="2928"/>
                <a:ext cx="27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30">
                <a:extLst>
                  <a:ext uri="{FF2B5EF4-FFF2-40B4-BE49-F238E27FC236}">
                    <a16:creationId xmlns:a16="http://schemas.microsoft.com/office/drawing/2014/main" id="{CA5FE1B2-677A-D884-C055-B97C5A595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99" y="2921"/>
                <a:ext cx="0" cy="55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31">
                <a:extLst>
                  <a:ext uri="{FF2B5EF4-FFF2-40B4-BE49-F238E27FC236}">
                    <a16:creationId xmlns:a16="http://schemas.microsoft.com/office/drawing/2014/main" id="{024950BB-59F7-B068-089F-EEA1756EF9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3" y="2928"/>
                <a:ext cx="0" cy="55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Text Box 32">
              <a:extLst>
                <a:ext uri="{FF2B5EF4-FFF2-40B4-BE49-F238E27FC236}">
                  <a16:creationId xmlns:a16="http://schemas.microsoft.com/office/drawing/2014/main" id="{246705E1-3A82-7496-398C-45E0495FD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1835"/>
              <a:ext cx="705" cy="77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latin typeface="Arial" panose="020B0604020202020204" pitchFamily="34" charset="0"/>
                </a:rPr>
                <a:t>组合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latin typeface="Arial" panose="020B0604020202020204" pitchFamily="34" charset="0"/>
                </a:rPr>
                <a:t>电路</a:t>
              </a:r>
            </a:p>
          </p:txBody>
        </p:sp>
        <p:sp>
          <p:nvSpPr>
            <p:cNvPr id="10" name="Line 33">
              <a:extLst>
                <a:ext uri="{FF2B5EF4-FFF2-40B4-BE49-F238E27FC236}">
                  <a16:creationId xmlns:a16="http://schemas.microsoft.com/office/drawing/2014/main" id="{A821D2AD-26C1-8805-C37C-F1F1937D9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3" y="2015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34">
              <a:extLst>
                <a:ext uri="{FF2B5EF4-FFF2-40B4-BE49-F238E27FC236}">
                  <a16:creationId xmlns:a16="http://schemas.microsoft.com/office/drawing/2014/main" id="{D76B9023-D1B3-D9E8-E65B-FE75EB964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" y="1775"/>
              <a:ext cx="746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/>
                <a:t>输入 </a:t>
              </a:r>
              <a:r>
                <a:rPr lang="en-US" altLang="zh-CN" sz="2400" b="0"/>
                <a:t>X</a:t>
              </a:r>
            </a:p>
          </p:txBody>
        </p:sp>
        <p:sp>
          <p:nvSpPr>
            <p:cNvPr id="12" name="Text Box 35">
              <a:extLst>
                <a:ext uri="{FF2B5EF4-FFF2-40B4-BE49-F238E27FC236}">
                  <a16:creationId xmlns:a16="http://schemas.microsoft.com/office/drawing/2014/main" id="{76D5DF88-9704-E646-D8E1-8D6695D2B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1772"/>
              <a:ext cx="725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/>
                <a:t>输出 </a:t>
              </a:r>
              <a:r>
                <a:rPr lang="en-US" altLang="zh-CN" sz="2400" b="0"/>
                <a:t>Y</a:t>
              </a:r>
            </a:p>
          </p:txBody>
        </p:sp>
        <p:sp>
          <p:nvSpPr>
            <p:cNvPr id="13" name="Line 36">
              <a:extLst>
                <a:ext uri="{FF2B5EF4-FFF2-40B4-BE49-F238E27FC236}">
                  <a16:creationId xmlns:a16="http://schemas.microsoft.com/office/drawing/2014/main" id="{44D1782E-E8DE-62B9-4A16-779664FAC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9" y="2015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40">
              <a:extLst>
                <a:ext uri="{FF2B5EF4-FFF2-40B4-BE49-F238E27FC236}">
                  <a16:creationId xmlns:a16="http://schemas.microsoft.com/office/drawing/2014/main" id="{5412C9BF-02B9-5B11-8E84-52373463A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" y="2199"/>
              <a:ext cx="725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/>
                <a:t>状态 </a:t>
              </a:r>
              <a:r>
                <a:rPr lang="en-US" altLang="zh-CN" sz="2400" b="0"/>
                <a:t>Q</a:t>
              </a:r>
            </a:p>
          </p:txBody>
        </p:sp>
        <p:sp>
          <p:nvSpPr>
            <p:cNvPr id="15" name="Rectangle 41">
              <a:extLst>
                <a:ext uri="{FF2B5EF4-FFF2-40B4-BE49-F238E27FC236}">
                  <a16:creationId xmlns:a16="http://schemas.microsoft.com/office/drawing/2014/main" id="{7560FC3A-EBC2-1BF8-7CA5-A0063558E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1" y="2523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Z</a:t>
              </a:r>
              <a:endParaRPr lang="zh-CN" altLang="en-US" sz="2400" b="0"/>
            </a:p>
          </p:txBody>
        </p:sp>
      </p:grpSp>
      <p:sp>
        <p:nvSpPr>
          <p:cNvPr id="23" name="Rectangle 42">
            <a:extLst>
              <a:ext uri="{FF2B5EF4-FFF2-40B4-BE49-F238E27FC236}">
                <a16:creationId xmlns:a16="http://schemas.microsoft.com/office/drawing/2014/main" id="{E9FAA347-6D9C-DF1F-D931-33EC2A7E5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444" y="4364212"/>
            <a:ext cx="7237413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激励方程：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n+1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Z, </a:t>
            </a:r>
            <a:r>
              <a:rPr lang="en-US" altLang="zh-CN" sz="2400" b="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en-US" altLang="zh-CN" sz="2400" b="0" baseline="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输出方程：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X,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---- Mealy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  <a:p>
            <a:pPr eaLnBrk="1" hangingPunct="1">
              <a:spcBef>
                <a:spcPct val="10000"/>
              </a:spcBef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			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＝ </a:t>
            </a:r>
            <a:r>
              <a:rPr lang="en-US" altLang="zh-CN" sz="2400" b="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en-US" altLang="zh-CN" sz="2400" b="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 Q</a:t>
            </a:r>
            <a:r>
              <a:rPr lang="en-US" altLang="zh-CN" sz="2400" b="0" baseline="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     ---- Moore</a:t>
            </a: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1138245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4EEBD-A8FE-1A15-8540-553E8769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</a:t>
            </a:r>
            <a:r>
              <a:rPr lang="zh-CN" altLang="en-US" dirty="0"/>
              <a:t>描述有限状态机（</a:t>
            </a:r>
            <a:r>
              <a:rPr lang="en-US" altLang="zh-CN" dirty="0"/>
              <a:t>FSM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2E3E0-0B74-8F9B-7611-9345FD59A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时序电路又称为有限状态机</a:t>
            </a:r>
            <a:r>
              <a:rPr lang="en-US" altLang="zh-CN" dirty="0"/>
              <a:t>(FSM, Finite State Machine)</a:t>
            </a:r>
          </a:p>
          <a:p>
            <a:pPr lvl="1"/>
            <a:r>
              <a:rPr lang="zh-CN" altLang="en-US" dirty="0"/>
              <a:t>需要描述三个对象：现态</a:t>
            </a:r>
            <a:r>
              <a:rPr lang="en-US" altLang="zh-CN" dirty="0"/>
              <a:t>(Current State, CS)</a:t>
            </a:r>
            <a:r>
              <a:rPr lang="zh-CN" altLang="en-US" dirty="0"/>
              <a:t>、 次态</a:t>
            </a:r>
            <a:r>
              <a:rPr lang="en-US" altLang="zh-CN" dirty="0"/>
              <a:t>(Next State, NS)</a:t>
            </a:r>
            <a:r>
              <a:rPr lang="zh-CN" altLang="en-US" dirty="0"/>
              <a:t>和输出</a:t>
            </a:r>
            <a:r>
              <a:rPr lang="en-US" altLang="zh-CN" dirty="0"/>
              <a:t>(OUT)</a:t>
            </a:r>
          </a:p>
          <a:p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171660-F047-3000-7BD5-CD85C6139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04DD17-0E5B-A730-268D-A8456081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6" name="Text Box 27">
            <a:extLst>
              <a:ext uri="{FF2B5EF4-FFF2-40B4-BE49-F238E27FC236}">
                <a16:creationId xmlns:a16="http://schemas.microsoft.com/office/drawing/2014/main" id="{95FBCF6B-56E2-2511-112B-370DA311A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550" y="3189180"/>
            <a:ext cx="1441450" cy="18272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组合</a:t>
            </a:r>
            <a:endParaRPr lang="en-US" altLang="zh-CN" sz="2400">
              <a:latin typeface="Arial" panose="020B0604020202020204" pitchFamily="34" charset="0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电路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0CF7638-C0E6-8FAE-BC96-AB11CBDAF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2275" y="4640155"/>
            <a:ext cx="10080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现态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(CS)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6C36FE7B-E953-F437-F2B4-B0F872550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8" y="4211530"/>
            <a:ext cx="1436687" cy="8048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记忆电路</a:t>
            </a:r>
          </a:p>
        </p:txBody>
      </p:sp>
      <p:grpSp>
        <p:nvGrpSpPr>
          <p:cNvPr id="9" name="组合 30">
            <a:extLst>
              <a:ext uri="{FF2B5EF4-FFF2-40B4-BE49-F238E27FC236}">
                <a16:creationId xmlns:a16="http://schemas.microsoft.com/office/drawing/2014/main" id="{B1396882-1229-6FA7-EEEF-81ABA91DAAB4}"/>
              </a:ext>
            </a:extLst>
          </p:cNvPr>
          <p:cNvGrpSpPr>
            <a:grpSpLocks/>
          </p:cNvGrpSpPr>
          <p:nvPr/>
        </p:nvGrpSpPr>
        <p:grpSpPr bwMode="auto">
          <a:xfrm>
            <a:off x="2360613" y="3633680"/>
            <a:ext cx="1135062" cy="1185862"/>
            <a:chOff x="1163638" y="3106720"/>
            <a:chExt cx="1804987" cy="1185880"/>
          </a:xfrm>
        </p:grpSpPr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1CAB1DD2-C150-CB1A-C2E6-077E62930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638" y="3106720"/>
              <a:ext cx="1793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E26C4340-110F-516D-CFAC-7A7C53789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9225" y="4292600"/>
              <a:ext cx="1549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Line 12">
            <a:extLst>
              <a:ext uri="{FF2B5EF4-FFF2-40B4-BE49-F238E27FC236}">
                <a16:creationId xmlns:a16="http://schemas.microsoft.com/office/drawing/2014/main" id="{E6CCAFCF-8E7D-138C-92F0-3FAEDDFA5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25" y="4638567"/>
            <a:ext cx="1249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F78EA7F4-02AD-D6C9-9F69-1FAC7D1CA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3013" y="4643330"/>
            <a:ext cx="4048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5790CC86-F0FB-5DA6-92D6-363B8F14D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7825" y="4638567"/>
            <a:ext cx="0" cy="9382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E6B442E3-EC66-6B88-CE09-45692EB734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25" y="3620980"/>
            <a:ext cx="1244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31">
            <a:extLst>
              <a:ext uri="{FF2B5EF4-FFF2-40B4-BE49-F238E27FC236}">
                <a16:creationId xmlns:a16="http://schemas.microsoft.com/office/drawing/2014/main" id="{57BBD4AD-9C2C-C999-3E6E-9191BF21411D}"/>
              </a:ext>
            </a:extLst>
          </p:cNvPr>
          <p:cNvGrpSpPr>
            <a:grpSpLocks/>
          </p:cNvGrpSpPr>
          <p:nvPr/>
        </p:nvGrpSpPr>
        <p:grpSpPr bwMode="auto">
          <a:xfrm>
            <a:off x="2506663" y="4819542"/>
            <a:ext cx="5491162" cy="757238"/>
            <a:chOff x="1419225" y="4292600"/>
            <a:chExt cx="6051550" cy="757238"/>
          </a:xfrm>
        </p:grpSpPr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CD3F0CFD-473D-71A1-F7CD-8086445E0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9225" y="5049838"/>
              <a:ext cx="6051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7C86D3D7-B345-D330-EAE3-8D7058C1C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2" y="4292600"/>
              <a:ext cx="0" cy="757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7C620-C2E2-A003-C70A-545F30F7F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0600" y="3228867"/>
            <a:ext cx="11477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输出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(OUT)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D3F421-D56C-D397-14C4-F09688984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702067"/>
            <a:ext cx="10461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次态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solidFill>
                  <a:srgbClr val="0000FF"/>
                </a:solidFill>
              </a:rPr>
              <a:t>(NS)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348BB7-5EE4-5FCA-DB33-5C8101081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3225692"/>
            <a:ext cx="9842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/>
              <a:t>输入</a:t>
            </a:r>
            <a:endParaRPr lang="en-US" altLang="zh-CN" sz="2400"/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/>
              <a:t>(IN)</a:t>
            </a: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6D25E8CA-9591-2BEC-4CC5-D56C12C0D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7963" y="3567005"/>
            <a:ext cx="160337" cy="147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B88B0B02-63A9-05A4-3869-A556DEF018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29263" y="3549542"/>
            <a:ext cx="160337" cy="149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A66F1972-7831-7612-5D87-DF8727A8D9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0688" y="4554430"/>
            <a:ext cx="160337" cy="147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8BF03222-477B-80D3-B41C-A40AE71D7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10488" y="4583005"/>
            <a:ext cx="160337" cy="147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3F639AB4-C3E4-5F4E-2847-B75E0D97B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75" y="3019317"/>
            <a:ext cx="2117725" cy="2182813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1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9A8C6BB9-FC28-D268-1063-DD262A3C8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从状态机到程序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C69BF9-2BD4-7403-6FB2-8341B755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kern="0" dirty="0">
                <a:cs typeface="Times New Roman" panose="02020603050405020304" pitchFamily="18" charset="0"/>
              </a:rPr>
              <a:t>FSM</a:t>
            </a:r>
            <a:r>
              <a:rPr lang="zh-CN" altLang="en-US" kern="0" dirty="0">
                <a:cs typeface="Times New Roman" panose="02020603050405020304" pitchFamily="18" charset="0"/>
              </a:rPr>
              <a:t>描述方式（二段式）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292FE4-1B26-8CE5-5ABF-D9F8F16D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1C5C6E-71F9-F456-378C-E4353264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/25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DA47A0-D523-72B5-431B-6A67D676A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" y="1144269"/>
            <a:ext cx="5522845" cy="2249339"/>
          </a:xfrm>
          <a:prstGeom prst="rect">
            <a:avLst/>
          </a:prstGeom>
        </p:spPr>
      </p:pic>
      <p:sp>
        <p:nvSpPr>
          <p:cNvPr id="28" name="下箭头 27">
            <a:extLst>
              <a:ext uri="{FF2B5EF4-FFF2-40B4-BE49-F238E27FC236}">
                <a16:creationId xmlns:a16="http://schemas.microsoft.com/office/drawing/2014/main" id="{55E24734-245A-BF03-303A-F7567DE99A9D}"/>
              </a:ext>
            </a:extLst>
          </p:cNvPr>
          <p:cNvSpPr/>
          <p:nvPr/>
        </p:nvSpPr>
        <p:spPr>
          <a:xfrm rot="17118406">
            <a:off x="5682341" y="2395072"/>
            <a:ext cx="337185" cy="7620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7C3F421-BED1-132C-7505-7F8A74B69EC1}"/>
              </a:ext>
            </a:extLst>
          </p:cNvPr>
          <p:cNvSpPr/>
          <p:nvPr/>
        </p:nvSpPr>
        <p:spPr>
          <a:xfrm>
            <a:off x="156216" y="4857996"/>
            <a:ext cx="4312267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：组合逻辑（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combination logic)</a:t>
            </a:r>
          </a:p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：输出逻辑（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logic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ja-JP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：状态逻辑（</a:t>
            </a:r>
            <a:r>
              <a:rPr lang="en-US" altLang="ja-JP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logic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ja-JP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SR,OR: state register, output register</a:t>
            </a:r>
          </a:p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cs/ns: current/next state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4738E12-5912-519F-CDC9-9482039E7B29}"/>
              </a:ext>
            </a:extLst>
          </p:cNvPr>
          <p:cNvGrpSpPr>
            <a:grpSpLocks/>
          </p:cNvGrpSpPr>
          <p:nvPr/>
        </p:nvGrpSpPr>
        <p:grpSpPr bwMode="auto">
          <a:xfrm>
            <a:off x="6820045" y="2149009"/>
            <a:ext cx="2822575" cy="1644650"/>
            <a:chOff x="5122840" y="1504184"/>
            <a:chExt cx="2822805" cy="1645506"/>
          </a:xfrm>
        </p:grpSpPr>
        <p:cxnSp>
          <p:nvCxnSpPr>
            <p:cNvPr id="33" name="直接箭头连接符 118">
              <a:extLst>
                <a:ext uri="{FF2B5EF4-FFF2-40B4-BE49-F238E27FC236}">
                  <a16:creationId xmlns:a16="http://schemas.microsoft.com/office/drawing/2014/main" id="{B3C79228-22A5-8FBA-6F89-68B4F389E56B}"/>
                </a:ext>
              </a:extLst>
            </p:cNvPr>
            <p:cNvCxnSpPr/>
            <p:nvPr/>
          </p:nvCxnSpPr>
          <p:spPr bwMode="auto">
            <a:xfrm>
              <a:off x="5186345" y="1931444"/>
              <a:ext cx="5842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9DF68E54-D8DE-7374-1192-68045C7E0D08}"/>
                </a:ext>
              </a:extLst>
            </p:cNvPr>
            <p:cNvSpPr txBox="1"/>
            <p:nvPr/>
          </p:nvSpPr>
          <p:spPr bwMode="auto">
            <a:xfrm>
              <a:off x="7005768" y="2131573"/>
              <a:ext cx="425485" cy="825930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SR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4321C919-F628-7CE0-B61D-84D50B51D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6698" y="2764324"/>
              <a:ext cx="381626" cy="160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3E6577E7-ED45-D2B0-155F-D8501C650A6A}"/>
                </a:ext>
              </a:extLst>
            </p:cNvPr>
            <p:cNvSpPr txBox="1"/>
            <p:nvPr/>
          </p:nvSpPr>
          <p:spPr bwMode="auto">
            <a:xfrm>
              <a:off x="5761067" y="1683665"/>
              <a:ext cx="592185" cy="1273838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CL</a:t>
              </a:r>
            </a:p>
          </p:txBody>
        </p:sp>
        <p:cxnSp>
          <p:nvCxnSpPr>
            <p:cNvPr id="37" name="直接箭头连接符 124">
              <a:extLst>
                <a:ext uri="{FF2B5EF4-FFF2-40B4-BE49-F238E27FC236}">
                  <a16:creationId xmlns:a16="http://schemas.microsoft.com/office/drawing/2014/main" id="{D9575831-F3BE-020C-6CC7-E03A448D5A2F}"/>
                </a:ext>
              </a:extLst>
            </p:cNvPr>
            <p:cNvCxnSpPr/>
            <p:nvPr/>
          </p:nvCxnSpPr>
          <p:spPr bwMode="auto">
            <a:xfrm>
              <a:off x="5421314" y="2751021"/>
              <a:ext cx="334989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125">
              <a:extLst>
                <a:ext uri="{FF2B5EF4-FFF2-40B4-BE49-F238E27FC236}">
                  <a16:creationId xmlns:a16="http://schemas.microsoft.com/office/drawing/2014/main" id="{6D055D23-F23F-7B98-9B5E-C437C3CDCCD5}"/>
                </a:ext>
              </a:extLst>
            </p:cNvPr>
            <p:cNvCxnSpPr/>
            <p:nvPr/>
          </p:nvCxnSpPr>
          <p:spPr bwMode="auto">
            <a:xfrm>
              <a:off x="7431253" y="2554068"/>
              <a:ext cx="334989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箭头连接符 126">
              <a:extLst>
                <a:ext uri="{FF2B5EF4-FFF2-40B4-BE49-F238E27FC236}">
                  <a16:creationId xmlns:a16="http://schemas.microsoft.com/office/drawing/2014/main" id="{F372FE7C-F4B9-3B48-D651-2E2F433EB447}"/>
                </a:ext>
              </a:extLst>
            </p:cNvPr>
            <p:cNvCxnSpPr/>
            <p:nvPr/>
          </p:nvCxnSpPr>
          <p:spPr bwMode="auto">
            <a:xfrm rot="5400000">
              <a:off x="7473989" y="2851085"/>
              <a:ext cx="595622" cy="15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127">
              <a:extLst>
                <a:ext uri="{FF2B5EF4-FFF2-40B4-BE49-F238E27FC236}">
                  <a16:creationId xmlns:a16="http://schemas.microsoft.com/office/drawing/2014/main" id="{C584F51F-2717-F812-797A-E3EF272F6DD6}"/>
                </a:ext>
              </a:extLst>
            </p:cNvPr>
            <p:cNvCxnSpPr/>
            <p:nvPr/>
          </p:nvCxnSpPr>
          <p:spPr bwMode="auto">
            <a:xfrm>
              <a:off x="5421314" y="3148102"/>
              <a:ext cx="2349691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128">
              <a:extLst>
                <a:ext uri="{FF2B5EF4-FFF2-40B4-BE49-F238E27FC236}">
                  <a16:creationId xmlns:a16="http://schemas.microsoft.com/office/drawing/2014/main" id="{B991D5D6-77CD-1EC8-9ED2-8150C6F64502}"/>
                </a:ext>
              </a:extLst>
            </p:cNvPr>
            <p:cNvCxnSpPr/>
            <p:nvPr/>
          </p:nvCxnSpPr>
          <p:spPr bwMode="auto">
            <a:xfrm rot="5400000">
              <a:off x="5222773" y="2951150"/>
              <a:ext cx="397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129">
              <a:extLst>
                <a:ext uri="{FF2B5EF4-FFF2-40B4-BE49-F238E27FC236}">
                  <a16:creationId xmlns:a16="http://schemas.microsoft.com/office/drawing/2014/main" id="{B2377934-94CC-AD28-BBDC-0778451B78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53252" y="1931444"/>
              <a:ext cx="14590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130">
              <a:extLst>
                <a:ext uri="{FF2B5EF4-FFF2-40B4-BE49-F238E27FC236}">
                  <a16:creationId xmlns:a16="http://schemas.microsoft.com/office/drawing/2014/main" id="{8EAB8653-0842-26FF-71A5-4645EA5FB4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53252" y="2554068"/>
              <a:ext cx="65251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58">
              <a:extLst>
                <a:ext uri="{FF2B5EF4-FFF2-40B4-BE49-F238E27FC236}">
                  <a16:creationId xmlns:a16="http://schemas.microsoft.com/office/drawing/2014/main" id="{C7A972C8-6B6F-F51E-3CA8-7425E858F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2840" y="1504184"/>
              <a:ext cx="328692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in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45" name="TextBox 60">
              <a:extLst>
                <a:ext uri="{FF2B5EF4-FFF2-40B4-BE49-F238E27FC236}">
                  <a16:creationId xmlns:a16="http://schemas.microsoft.com/office/drawing/2014/main" id="{19DEDFBA-E66A-F60E-A82D-D22B7118B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4000" y="1504184"/>
              <a:ext cx="448103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out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46" name="TextBox 61">
              <a:extLst>
                <a:ext uri="{FF2B5EF4-FFF2-40B4-BE49-F238E27FC236}">
                  <a16:creationId xmlns:a16="http://schemas.microsoft.com/office/drawing/2014/main" id="{F743C9CA-81BD-A4BD-227D-C591BDAC2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3412" y="2100568"/>
              <a:ext cx="342233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cs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47" name="TextBox 62">
              <a:extLst>
                <a:ext uri="{FF2B5EF4-FFF2-40B4-BE49-F238E27FC236}">
                  <a16:creationId xmlns:a16="http://schemas.microsoft.com/office/drawing/2014/main" id="{CF8578BD-BF13-C454-BD9D-1ACACA0BC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2100568"/>
              <a:ext cx="355775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ns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矩形: 圆角 176">
            <a:extLst>
              <a:ext uri="{FF2B5EF4-FFF2-40B4-BE49-F238E27FC236}">
                <a16:creationId xmlns:a16="http://schemas.microsoft.com/office/drawing/2014/main" id="{C2EF6382-6162-8987-4FDA-75F558AF153D}"/>
              </a:ext>
            </a:extLst>
          </p:cNvPr>
          <p:cNvSpPr/>
          <p:nvPr/>
        </p:nvSpPr>
        <p:spPr bwMode="auto">
          <a:xfrm>
            <a:off x="7269307" y="2228384"/>
            <a:ext cx="906463" cy="1468438"/>
          </a:xfrm>
          <a:prstGeom prst="roundRect">
            <a:avLst/>
          </a:prstGeom>
          <a:noFill/>
          <a:ln w="19050">
            <a:solidFill>
              <a:srgbClr val="CC33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矩形: 圆角 177">
            <a:extLst>
              <a:ext uri="{FF2B5EF4-FFF2-40B4-BE49-F238E27FC236}">
                <a16:creationId xmlns:a16="http://schemas.microsoft.com/office/drawing/2014/main" id="{E7405877-0405-66DF-1885-99FCC00B935F}"/>
              </a:ext>
            </a:extLst>
          </p:cNvPr>
          <p:cNvSpPr/>
          <p:nvPr/>
        </p:nvSpPr>
        <p:spPr bwMode="auto">
          <a:xfrm>
            <a:off x="8564707" y="2685584"/>
            <a:ext cx="728663" cy="1011238"/>
          </a:xfrm>
          <a:prstGeom prst="roundRect">
            <a:avLst/>
          </a:prstGeom>
          <a:noFill/>
          <a:ln w="19050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2E607F5-78E7-0569-6C06-6254650D5F4C}"/>
              </a:ext>
            </a:extLst>
          </p:cNvPr>
          <p:cNvSpPr txBox="1"/>
          <p:nvPr/>
        </p:nvSpPr>
        <p:spPr>
          <a:xfrm>
            <a:off x="5351378" y="4027000"/>
            <a:ext cx="4440299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两段式</a:t>
            </a: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Verilog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描述有限状态机：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的转变（依据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ns)</a:t>
            </a: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时序逻辑（以时钟触发）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非阻塞型赋值（</a:t>
            </a: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=&gt;, 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核心一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触发器）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的转变（依据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US" altLang="zh-CN" b="1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组合逻辑（无时钟）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阻塞性赋值（</a:t>
            </a: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=, 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串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逻辑门）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458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69BF9-2BD4-7403-6FB2-8341B755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kern="0" dirty="0">
                <a:cs typeface="Times New Roman" panose="02020603050405020304" pitchFamily="18" charset="0"/>
              </a:rPr>
              <a:t>FSM</a:t>
            </a:r>
            <a:r>
              <a:rPr lang="zh-CN" altLang="en-US" kern="0" dirty="0">
                <a:cs typeface="Times New Roman" panose="02020603050405020304" pitchFamily="18" charset="0"/>
              </a:rPr>
              <a:t>描述方式（二段式）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292FE4-1B26-8CE5-5ABF-D9F8F16D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1C5C6E-71F9-F456-378C-E4353264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51BA83A-8F0B-C045-BD87-77648D3C63F0}"/>
              </a:ext>
            </a:extLst>
          </p:cNvPr>
          <p:cNvGrpSpPr>
            <a:grpSpLocks/>
          </p:cNvGrpSpPr>
          <p:nvPr/>
        </p:nvGrpSpPr>
        <p:grpSpPr bwMode="auto">
          <a:xfrm>
            <a:off x="6820045" y="2149009"/>
            <a:ext cx="2822575" cy="1644650"/>
            <a:chOff x="5122840" y="1504184"/>
            <a:chExt cx="2822805" cy="1645506"/>
          </a:xfrm>
        </p:grpSpPr>
        <p:cxnSp>
          <p:nvCxnSpPr>
            <p:cNvPr id="11" name="直接箭头连接符 118">
              <a:extLst>
                <a:ext uri="{FF2B5EF4-FFF2-40B4-BE49-F238E27FC236}">
                  <a16:creationId xmlns:a16="http://schemas.microsoft.com/office/drawing/2014/main" id="{0DA48F3B-B1F7-5F63-348A-E461DB876128}"/>
                </a:ext>
              </a:extLst>
            </p:cNvPr>
            <p:cNvCxnSpPr/>
            <p:nvPr/>
          </p:nvCxnSpPr>
          <p:spPr bwMode="auto">
            <a:xfrm>
              <a:off x="5186345" y="1931444"/>
              <a:ext cx="5842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34">
              <a:extLst>
                <a:ext uri="{FF2B5EF4-FFF2-40B4-BE49-F238E27FC236}">
                  <a16:creationId xmlns:a16="http://schemas.microsoft.com/office/drawing/2014/main" id="{187EBF08-EFE1-461B-28C8-FB9F92314F0B}"/>
                </a:ext>
              </a:extLst>
            </p:cNvPr>
            <p:cNvSpPr txBox="1"/>
            <p:nvPr/>
          </p:nvSpPr>
          <p:spPr bwMode="auto">
            <a:xfrm>
              <a:off x="7005768" y="2131573"/>
              <a:ext cx="425485" cy="825930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SR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TextBox 35">
              <a:extLst>
                <a:ext uri="{FF2B5EF4-FFF2-40B4-BE49-F238E27FC236}">
                  <a16:creationId xmlns:a16="http://schemas.microsoft.com/office/drawing/2014/main" id="{840CF5DF-EF3E-A34D-AA3A-60D617C21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6698" y="2764324"/>
              <a:ext cx="381626" cy="160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  <p:sp>
          <p:nvSpPr>
            <p:cNvPr id="14" name="TextBox 36">
              <a:extLst>
                <a:ext uri="{FF2B5EF4-FFF2-40B4-BE49-F238E27FC236}">
                  <a16:creationId xmlns:a16="http://schemas.microsoft.com/office/drawing/2014/main" id="{8B594684-FED6-37FF-9294-34F7CDBF068C}"/>
                </a:ext>
              </a:extLst>
            </p:cNvPr>
            <p:cNvSpPr txBox="1"/>
            <p:nvPr/>
          </p:nvSpPr>
          <p:spPr bwMode="auto">
            <a:xfrm>
              <a:off x="5761067" y="1683665"/>
              <a:ext cx="592185" cy="1273838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CL</a:t>
              </a:r>
            </a:p>
          </p:txBody>
        </p:sp>
        <p:cxnSp>
          <p:nvCxnSpPr>
            <p:cNvPr id="15" name="直接箭头连接符 124">
              <a:extLst>
                <a:ext uri="{FF2B5EF4-FFF2-40B4-BE49-F238E27FC236}">
                  <a16:creationId xmlns:a16="http://schemas.microsoft.com/office/drawing/2014/main" id="{1A598AE0-7EC0-15AD-59BD-7AB878CC9F94}"/>
                </a:ext>
              </a:extLst>
            </p:cNvPr>
            <p:cNvCxnSpPr/>
            <p:nvPr/>
          </p:nvCxnSpPr>
          <p:spPr bwMode="auto">
            <a:xfrm>
              <a:off x="5421314" y="2751021"/>
              <a:ext cx="334989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125">
              <a:extLst>
                <a:ext uri="{FF2B5EF4-FFF2-40B4-BE49-F238E27FC236}">
                  <a16:creationId xmlns:a16="http://schemas.microsoft.com/office/drawing/2014/main" id="{CF039417-8593-3AA1-8BAD-FDDC139D9A7F}"/>
                </a:ext>
              </a:extLst>
            </p:cNvPr>
            <p:cNvCxnSpPr/>
            <p:nvPr/>
          </p:nvCxnSpPr>
          <p:spPr bwMode="auto">
            <a:xfrm>
              <a:off x="7431253" y="2554068"/>
              <a:ext cx="334989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26">
              <a:extLst>
                <a:ext uri="{FF2B5EF4-FFF2-40B4-BE49-F238E27FC236}">
                  <a16:creationId xmlns:a16="http://schemas.microsoft.com/office/drawing/2014/main" id="{DBCF5E51-9AC4-12C9-841A-6B8CF07DC69A}"/>
                </a:ext>
              </a:extLst>
            </p:cNvPr>
            <p:cNvCxnSpPr/>
            <p:nvPr/>
          </p:nvCxnSpPr>
          <p:spPr bwMode="auto">
            <a:xfrm rot="5400000">
              <a:off x="7473989" y="2851085"/>
              <a:ext cx="595622" cy="15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27">
              <a:extLst>
                <a:ext uri="{FF2B5EF4-FFF2-40B4-BE49-F238E27FC236}">
                  <a16:creationId xmlns:a16="http://schemas.microsoft.com/office/drawing/2014/main" id="{73D1562F-87BD-B4E0-C09E-9471AD2A5C0C}"/>
                </a:ext>
              </a:extLst>
            </p:cNvPr>
            <p:cNvCxnSpPr/>
            <p:nvPr/>
          </p:nvCxnSpPr>
          <p:spPr bwMode="auto">
            <a:xfrm>
              <a:off x="5421314" y="3148102"/>
              <a:ext cx="2349691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28">
              <a:extLst>
                <a:ext uri="{FF2B5EF4-FFF2-40B4-BE49-F238E27FC236}">
                  <a16:creationId xmlns:a16="http://schemas.microsoft.com/office/drawing/2014/main" id="{6D541C46-85D4-076D-21C3-06830F70C534}"/>
                </a:ext>
              </a:extLst>
            </p:cNvPr>
            <p:cNvCxnSpPr/>
            <p:nvPr/>
          </p:nvCxnSpPr>
          <p:spPr bwMode="auto">
            <a:xfrm rot="5400000">
              <a:off x="5222773" y="2951150"/>
              <a:ext cx="397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29">
              <a:extLst>
                <a:ext uri="{FF2B5EF4-FFF2-40B4-BE49-F238E27FC236}">
                  <a16:creationId xmlns:a16="http://schemas.microsoft.com/office/drawing/2014/main" id="{58423338-B427-EC02-80BD-E1EC091F42B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53252" y="1931444"/>
              <a:ext cx="14590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130">
              <a:extLst>
                <a:ext uri="{FF2B5EF4-FFF2-40B4-BE49-F238E27FC236}">
                  <a16:creationId xmlns:a16="http://schemas.microsoft.com/office/drawing/2014/main" id="{7DC3353D-DEA0-F15B-BF76-43F77ECC21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53252" y="2554068"/>
              <a:ext cx="65251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94B2A356-714B-20D2-D0F5-6861C1299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2840" y="1504184"/>
              <a:ext cx="328692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in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23" name="TextBox 60">
              <a:extLst>
                <a:ext uri="{FF2B5EF4-FFF2-40B4-BE49-F238E27FC236}">
                  <a16:creationId xmlns:a16="http://schemas.microsoft.com/office/drawing/2014/main" id="{825ED689-9278-569A-DE0C-578165F96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4000" y="1504184"/>
              <a:ext cx="448103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out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24" name="TextBox 61">
              <a:extLst>
                <a:ext uri="{FF2B5EF4-FFF2-40B4-BE49-F238E27FC236}">
                  <a16:creationId xmlns:a16="http://schemas.microsoft.com/office/drawing/2014/main" id="{7B477026-13DE-E5D1-2929-2D9FFAA7F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3412" y="2100568"/>
              <a:ext cx="342233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cs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25" name="TextBox 62">
              <a:extLst>
                <a:ext uri="{FF2B5EF4-FFF2-40B4-BE49-F238E27FC236}">
                  <a16:creationId xmlns:a16="http://schemas.microsoft.com/office/drawing/2014/main" id="{856A0BF2-D5FD-DC67-C0D3-14A49843B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2100568"/>
              <a:ext cx="355775" cy="314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ns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矩形: 圆角 176">
            <a:extLst>
              <a:ext uri="{FF2B5EF4-FFF2-40B4-BE49-F238E27FC236}">
                <a16:creationId xmlns:a16="http://schemas.microsoft.com/office/drawing/2014/main" id="{FABA7E70-FDC0-4A9E-67AE-0818789FE563}"/>
              </a:ext>
            </a:extLst>
          </p:cNvPr>
          <p:cNvSpPr/>
          <p:nvPr/>
        </p:nvSpPr>
        <p:spPr bwMode="auto">
          <a:xfrm>
            <a:off x="7269307" y="2228384"/>
            <a:ext cx="906463" cy="1468438"/>
          </a:xfrm>
          <a:prstGeom prst="roundRect">
            <a:avLst/>
          </a:prstGeom>
          <a:noFill/>
          <a:ln w="19050">
            <a:solidFill>
              <a:srgbClr val="CC33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矩形: 圆角 177">
            <a:extLst>
              <a:ext uri="{FF2B5EF4-FFF2-40B4-BE49-F238E27FC236}">
                <a16:creationId xmlns:a16="http://schemas.microsoft.com/office/drawing/2014/main" id="{95D047DF-4540-E398-BB5C-B4F7DC469B22}"/>
              </a:ext>
            </a:extLst>
          </p:cNvPr>
          <p:cNvSpPr/>
          <p:nvPr/>
        </p:nvSpPr>
        <p:spPr bwMode="auto">
          <a:xfrm>
            <a:off x="8564707" y="2685584"/>
            <a:ext cx="728663" cy="1011238"/>
          </a:xfrm>
          <a:prstGeom prst="roundRect">
            <a:avLst/>
          </a:prstGeom>
          <a:noFill/>
          <a:ln w="19050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649161E-C671-923E-3B06-4C97A9E8E2BC}"/>
              </a:ext>
            </a:extLst>
          </p:cNvPr>
          <p:cNvSpPr txBox="1"/>
          <p:nvPr/>
        </p:nvSpPr>
        <p:spPr>
          <a:xfrm>
            <a:off x="5351378" y="4027000"/>
            <a:ext cx="4440299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两段式</a:t>
            </a: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Verilog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描述有限状态机：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的转变（依据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ns)</a:t>
            </a: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时序逻辑（以时钟触发）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非阻塞型赋值（</a:t>
            </a: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=&gt;, 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核心一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触发器）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的转变（依据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US" altLang="zh-CN" b="1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组合逻辑（无时钟）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阻塞性赋值（</a:t>
            </a: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=, 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串</a:t>
            </a:r>
            <a:r>
              <a:rPr kumimoji="1" lang="zh-CN" altLang="en-US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逻辑门）</a:t>
            </a:r>
            <a:endParaRPr kumimoji="1" lang="en-US" altLang="zh-CN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47AF409-6263-8C98-6FDB-3845CC3E3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05" y="756139"/>
            <a:ext cx="3566284" cy="12193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/>
              <a:t>always @(</a:t>
            </a:r>
            <a:r>
              <a:rPr lang="en-US" altLang="zh-CN" sz="1800" b="0" dirty="0" err="1"/>
              <a:t>posedge</a:t>
            </a:r>
            <a:r>
              <a:rPr lang="en-US" altLang="zh-CN" sz="1800" b="0" dirty="0"/>
              <a:t> </a:t>
            </a:r>
            <a:r>
              <a:rPr lang="en-US" altLang="zh-CN" sz="1800" b="0" dirty="0" err="1"/>
              <a:t>clk</a:t>
            </a:r>
            <a:r>
              <a:rPr lang="en-US" altLang="zh-CN" sz="1800" b="0" dirty="0"/>
              <a:t>) begin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/>
              <a:t>      </a:t>
            </a:r>
            <a:r>
              <a:rPr lang="en-US" altLang="zh-CN" sz="1800" b="0" dirty="0"/>
              <a:t>if (</a:t>
            </a:r>
            <a:r>
              <a:rPr lang="en-US" altLang="zh-CN" sz="1800" b="0" dirty="0" err="1"/>
              <a:t>rst</a:t>
            </a:r>
            <a:r>
              <a:rPr lang="en-US" altLang="zh-CN" sz="1800" b="0" dirty="0"/>
              <a:t>)  cs &lt;= </a:t>
            </a:r>
            <a:r>
              <a:rPr lang="zh-CN" altLang="en-US" sz="1800" b="0" dirty="0"/>
              <a:t>复位值；</a:t>
            </a:r>
            <a:endParaRPr lang="en-US" altLang="zh-CN" sz="18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/>
              <a:t>      </a:t>
            </a:r>
            <a:r>
              <a:rPr lang="en-US" altLang="zh-CN" sz="1800" b="0" dirty="0"/>
              <a:t>else cs &lt;= ns;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/>
              <a:t>end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4BE63685-E590-DD4D-CF62-FBF523601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29" y="2037422"/>
            <a:ext cx="3571860" cy="43966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/>
              <a:t>always  @*  begin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	</a:t>
            </a:r>
            <a:r>
              <a:rPr lang="zh-CN" altLang="en-US" sz="1800" b="0" dirty="0"/>
              <a:t>  </a:t>
            </a:r>
            <a:r>
              <a:rPr lang="en-US" altLang="zh-CN" sz="1800" b="0" dirty="0"/>
              <a:t>out = </a:t>
            </a:r>
            <a:r>
              <a:rPr lang="zh-CN" altLang="en-US" sz="1800" b="0" dirty="0"/>
              <a:t>默认值；</a:t>
            </a:r>
            <a:endParaRPr lang="en-US" altLang="zh-CN" sz="1800" b="0" dirty="0"/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ns  =  cs;</a:t>
            </a:r>
          </a:p>
          <a:p>
            <a:pPr lvl="1">
              <a:spcAft>
                <a:spcPct val="0"/>
              </a:spcAft>
              <a:buFontTx/>
              <a:buNone/>
            </a:pPr>
            <a:endParaRPr lang="en-US" altLang="zh-CN" sz="1800" b="0" dirty="0"/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case  (cs)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S0: begin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    if (in</a:t>
            </a:r>
            <a:r>
              <a:rPr lang="zh-CN" altLang="en-US" sz="1800" b="0" dirty="0"/>
              <a:t>条件</a:t>
            </a:r>
            <a:r>
              <a:rPr lang="en-US" altLang="zh-CN" sz="1800" b="0" dirty="0"/>
              <a:t>0) begin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        out = </a:t>
            </a:r>
            <a:r>
              <a:rPr lang="zh-CN" altLang="en-US" sz="1800" b="0" dirty="0"/>
              <a:t>表达式</a:t>
            </a:r>
            <a:r>
              <a:rPr lang="en-US" altLang="zh-CN" sz="1800" b="0" dirty="0"/>
              <a:t>0;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        ns = Si;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    end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    if …… 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    ……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end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/>
              <a:t>    ......</a:t>
            </a:r>
          </a:p>
          <a:p>
            <a:pPr lvl="1">
              <a:spcAft>
                <a:spcPct val="0"/>
              </a:spcAft>
              <a:buFontTx/>
              <a:buNone/>
            </a:pPr>
            <a:r>
              <a:rPr lang="en-US" altLang="zh-CN" sz="1800" b="0" dirty="0" err="1"/>
              <a:t>endcase</a:t>
            </a:r>
            <a:endParaRPr lang="en-US" altLang="zh-CN" sz="18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/>
              <a:t>end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A9794C4-E2A2-313F-4042-1B01D6C4C298}"/>
              </a:ext>
            </a:extLst>
          </p:cNvPr>
          <p:cNvSpPr txBox="1"/>
          <p:nvPr/>
        </p:nvSpPr>
        <p:spPr>
          <a:xfrm>
            <a:off x="4016289" y="1028554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kumimoji="1" lang="zh-CN" altLang="en-US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默认状态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08182CA-79C5-2459-79C7-7BE2CCEA74CA}"/>
              </a:ext>
            </a:extLst>
          </p:cNvPr>
          <p:cNvSpPr txBox="1"/>
          <p:nvPr/>
        </p:nvSpPr>
        <p:spPr>
          <a:xfrm>
            <a:off x="4036882" y="1393325"/>
            <a:ext cx="268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kumimoji="1" i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//cs</a:t>
            </a:r>
            <a:r>
              <a:rPr lang="zh-CN" altLang="en-US" dirty="0"/>
              <a:t>无条件进入下一状态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E6DB197-6BFF-EB87-E008-C8F8EE56ABB9}"/>
              </a:ext>
            </a:extLst>
          </p:cNvPr>
          <p:cNvSpPr txBox="1"/>
          <p:nvPr/>
        </p:nvSpPr>
        <p:spPr>
          <a:xfrm>
            <a:off x="2338722" y="1999944"/>
            <a:ext cx="4721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kumimoji="1" i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//</a:t>
            </a:r>
            <a:r>
              <a:rPr kumimoji="1" lang="en-US" altLang="zh-CN" dirty="0"/>
              <a:t>@</a:t>
            </a:r>
            <a:r>
              <a:rPr kumimoji="1" lang="zh-CN" altLang="en-US" dirty="0"/>
              <a:t>* 循环中任意自变量发生变化即触发执行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FA7535B-21F9-966C-46EE-BE6B12F0B21C}"/>
              </a:ext>
            </a:extLst>
          </p:cNvPr>
          <p:cNvSpPr txBox="1"/>
          <p:nvPr/>
        </p:nvSpPr>
        <p:spPr>
          <a:xfrm>
            <a:off x="4030449" y="2393771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kumimoji="1" lang="zh-CN" altLang="en-US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保证有默认状态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4B56BE7-C0BE-314A-B6A7-A62B880CF71E}"/>
              </a:ext>
            </a:extLst>
          </p:cNvPr>
          <p:cNvSpPr txBox="1"/>
          <p:nvPr/>
        </p:nvSpPr>
        <p:spPr>
          <a:xfrm>
            <a:off x="4005795" y="3106081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kumimoji="1" lang="zh-CN" altLang="en-US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以当前状态为大条件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1D95A6B-56E8-4832-2FB1-388B4D5A5718}"/>
              </a:ext>
            </a:extLst>
          </p:cNvPr>
          <p:cNvSpPr txBox="1"/>
          <p:nvPr/>
        </p:nvSpPr>
        <p:spPr>
          <a:xfrm>
            <a:off x="3998129" y="3634747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kumimoji="1" lang="zh-CN" altLang="en-US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以输入为小条件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126135F-961C-F560-5B63-241D707AC353}"/>
              </a:ext>
            </a:extLst>
          </p:cNvPr>
          <p:cNvSpPr txBox="1"/>
          <p:nvPr/>
        </p:nvSpPr>
        <p:spPr>
          <a:xfrm>
            <a:off x="3990384" y="337041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kumimoji="1" lang="zh-CN" altLang="en-US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</a:t>
            </a:r>
            <a:r>
              <a:rPr kumimoji="1" lang="en-US" altLang="zh-CN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kumimoji="1" lang="zh-CN" altLang="en-US" i="1" dirty="0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09CF3FB-1CD7-8CEF-3773-4DF2407E2D19}"/>
              </a:ext>
            </a:extLst>
          </p:cNvPr>
          <p:cNvSpPr txBox="1"/>
          <p:nvPr/>
        </p:nvSpPr>
        <p:spPr>
          <a:xfrm>
            <a:off x="4005795" y="5573947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kumimoji="1" lang="zh-CN" altLang="en-US" i="1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更多状态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2197931-9CC9-6C3D-C0BC-C186139C6214}"/>
              </a:ext>
            </a:extLst>
          </p:cNvPr>
          <p:cNvSpPr txBox="1"/>
          <p:nvPr/>
        </p:nvSpPr>
        <p:spPr>
          <a:xfrm>
            <a:off x="22669" y="474058"/>
            <a:ext cx="6023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描述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的转变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23D3E4E-D29D-1C6D-983C-6C72C8F97909}"/>
              </a:ext>
            </a:extLst>
          </p:cNvPr>
          <p:cNvSpPr txBox="1"/>
          <p:nvPr/>
        </p:nvSpPr>
        <p:spPr>
          <a:xfrm>
            <a:off x="-4170" y="2849917"/>
            <a:ext cx="5955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描述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kumimoji="1" lang="zh-CN" altLang="en-US" b="1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的转变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41FC54F-35E4-B21C-58B7-66923AFF7563}"/>
              </a:ext>
            </a:extLst>
          </p:cNvPr>
          <p:cNvSpPr txBox="1"/>
          <p:nvPr/>
        </p:nvSpPr>
        <p:spPr>
          <a:xfrm>
            <a:off x="3987028" y="3996682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kumimoji="1" i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//</a:t>
            </a:r>
            <a:r>
              <a:rPr lang="zh-CN" altLang="en-US" dirty="0"/>
              <a:t>改变</a:t>
            </a:r>
            <a:r>
              <a:rPr lang="en-US" altLang="zh-CN" dirty="0"/>
              <a:t>out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7D4E8E6-1F02-A59A-4536-C6FE9FE715A7}"/>
              </a:ext>
            </a:extLst>
          </p:cNvPr>
          <p:cNvSpPr txBox="1"/>
          <p:nvPr/>
        </p:nvSpPr>
        <p:spPr>
          <a:xfrm>
            <a:off x="3987028" y="4336066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kumimoji="1" i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/>
              <a:t>//</a:t>
            </a:r>
            <a:r>
              <a:rPr lang="zh-CN" altLang="en-US" dirty="0"/>
              <a:t>改变</a:t>
            </a:r>
            <a:r>
              <a:rPr lang="en-US" altLang="zh-CN" dirty="0"/>
              <a:t>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847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8E742-BCBD-06A2-5A38-986A0D96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示例：两段式米里型</a:t>
            </a:r>
            <a:r>
              <a:rPr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CA28E0-4BE3-8254-7F65-6264961E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312944" cy="5947119"/>
          </a:xfrm>
        </p:spPr>
        <p:txBody>
          <a:bodyPr/>
          <a:lstStyle/>
          <a:p>
            <a:r>
              <a:rPr lang="zh-CN" altLang="en-US" sz="2000" dirty="0"/>
              <a:t>将输入序列中每次出现的第一个</a:t>
            </a:r>
            <a:r>
              <a:rPr lang="en-US" altLang="zh-CN" sz="2000" dirty="0"/>
              <a:t>1</a:t>
            </a:r>
            <a:r>
              <a:rPr lang="zh-CN" altLang="en-US" sz="2000" dirty="0"/>
              <a:t>替换为</a:t>
            </a:r>
            <a:r>
              <a:rPr lang="en-US" altLang="zh-CN" sz="2000" dirty="0"/>
              <a:t>0</a:t>
            </a:r>
            <a:r>
              <a:rPr lang="zh-CN" altLang="en-US" sz="2000" dirty="0"/>
              <a:t>，其他不变，然后输出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583201-F2B9-53EB-E648-507D2F59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B173E6-7A21-9EE7-19D8-D03C18B6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组合 75">
            <a:extLst>
              <a:ext uri="{FF2B5EF4-FFF2-40B4-BE49-F238E27FC236}">
                <a16:creationId xmlns:a16="http://schemas.microsoft.com/office/drawing/2014/main" id="{D619E587-3A0C-28C8-80AA-BD1FCAD2EFBB}"/>
              </a:ext>
            </a:extLst>
          </p:cNvPr>
          <p:cNvGrpSpPr>
            <a:grpSpLocks/>
          </p:cNvGrpSpPr>
          <p:nvPr/>
        </p:nvGrpSpPr>
        <p:grpSpPr bwMode="auto">
          <a:xfrm>
            <a:off x="6403749" y="585759"/>
            <a:ext cx="2954337" cy="1684338"/>
            <a:chOff x="5565775" y="4440238"/>
            <a:chExt cx="2954338" cy="1684337"/>
          </a:xfrm>
        </p:grpSpPr>
        <p:grpSp>
          <p:nvGrpSpPr>
            <p:cNvPr id="7" name="组合 73">
              <a:extLst>
                <a:ext uri="{FF2B5EF4-FFF2-40B4-BE49-F238E27FC236}">
                  <a16:creationId xmlns:a16="http://schemas.microsoft.com/office/drawing/2014/main" id="{B2BE58B6-FD65-1E09-6491-3FE32C2C1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5775" y="4440238"/>
              <a:ext cx="2954338" cy="1684337"/>
              <a:chOff x="5217578" y="1962481"/>
              <a:chExt cx="2954426" cy="1684007"/>
            </a:xfrm>
          </p:grpSpPr>
          <p:sp>
            <p:nvSpPr>
              <p:cNvPr id="10" name="TextBox 34">
                <a:extLst>
                  <a:ext uri="{FF2B5EF4-FFF2-40B4-BE49-F238E27FC236}">
                    <a16:creationId xmlns:a16="http://schemas.microsoft.com/office/drawing/2014/main" id="{DA231C98-D574-8FD8-960A-6D75BE44677F}"/>
                  </a:ext>
                </a:extLst>
              </p:cNvPr>
              <p:cNvSpPr txBox="1"/>
              <p:nvPr/>
            </p:nvSpPr>
            <p:spPr bwMode="auto">
              <a:xfrm>
                <a:off x="7184549" y="2729093"/>
                <a:ext cx="466739" cy="68725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" name="TextBox 35">
                <a:extLst>
                  <a:ext uri="{FF2B5EF4-FFF2-40B4-BE49-F238E27FC236}">
                    <a16:creationId xmlns:a16="http://schemas.microsoft.com/office/drawing/2014/main" id="{D6607341-4554-E5A9-852F-55A184DCC7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36">
                <a:extLst>
                  <a:ext uri="{FF2B5EF4-FFF2-40B4-BE49-F238E27FC236}">
                    <a16:creationId xmlns:a16="http://schemas.microsoft.com/office/drawing/2014/main" id="{E55C7D46-6147-CA46-B487-9DE8E1CF9B5D}"/>
                  </a:ext>
                </a:extLst>
              </p:cNvPr>
              <p:cNvSpPr txBox="1"/>
              <p:nvPr/>
            </p:nvSpPr>
            <p:spPr bwMode="auto">
              <a:xfrm>
                <a:off x="5911336" y="2202147"/>
                <a:ext cx="520716" cy="1214198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CL</a:t>
                </a:r>
                <a:endParaRPr lang="en-US" altLang="zh-CN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3" name="直接箭头连接符 83">
                <a:extLst>
                  <a:ext uri="{FF2B5EF4-FFF2-40B4-BE49-F238E27FC236}">
                    <a16:creationId xmlns:a16="http://schemas.microsoft.com/office/drawing/2014/main" id="{7B6AEACE-11B2-39C6-1711-1540F22927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368311" cy="15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84">
                <a:extLst>
                  <a:ext uri="{FF2B5EF4-FFF2-40B4-BE49-F238E27FC236}">
                    <a16:creationId xmlns:a16="http://schemas.microsoft.com/office/drawing/2014/main" id="{7706B016-9529-64C8-425C-B0BED9E596C0}"/>
                  </a:ext>
                </a:extLst>
              </p:cNvPr>
              <p:cNvCxnSpPr/>
              <p:nvPr/>
            </p:nvCxnSpPr>
            <p:spPr bwMode="auto">
              <a:xfrm>
                <a:off x="7651288" y="3102082"/>
                <a:ext cx="369899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85">
                <a:extLst>
                  <a:ext uri="{FF2B5EF4-FFF2-40B4-BE49-F238E27FC236}">
                    <a16:creationId xmlns:a16="http://schemas.microsoft.com/office/drawing/2014/main" id="{D0DD973A-D247-B825-1967-B74C992D15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5950" y="3100495"/>
                <a:ext cx="0" cy="54599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86">
                <a:extLst>
                  <a:ext uri="{FF2B5EF4-FFF2-40B4-BE49-F238E27FC236}">
                    <a16:creationId xmlns:a16="http://schemas.microsoft.com/office/drawing/2014/main" id="{102C6685-2313-5528-8475-A8698370AC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25" y="3646488"/>
                <a:ext cx="247816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87">
                <a:extLst>
                  <a:ext uri="{FF2B5EF4-FFF2-40B4-BE49-F238E27FC236}">
                    <a16:creationId xmlns:a16="http://schemas.microsoft.com/office/drawing/2014/main" id="{397AD50C-7B60-C63F-5BE5-8340B7B2175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0" cy="446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88">
                <a:extLst>
                  <a:ext uri="{FF2B5EF4-FFF2-40B4-BE49-F238E27FC236}">
                    <a16:creationId xmlns:a16="http://schemas.microsoft.com/office/drawing/2014/main" id="{FCB6C544-773C-9CC3-3095-EB51DF3257F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2421179"/>
                <a:ext cx="159548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89">
                <a:extLst>
                  <a:ext uri="{FF2B5EF4-FFF2-40B4-BE49-F238E27FC236}">
                    <a16:creationId xmlns:a16="http://schemas.microsoft.com/office/drawing/2014/main" id="{3B2323CF-BBD0-0F30-98FB-AF1548A3CA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3100495"/>
                <a:ext cx="75249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58">
                <a:extLst>
                  <a:ext uri="{FF2B5EF4-FFF2-40B4-BE49-F238E27FC236}">
                    <a16:creationId xmlns:a16="http://schemas.microsoft.com/office/drawing/2014/main" id="{644B230E-1194-C0A8-60A6-D177C6A43F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962481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Box 60">
                <a:extLst>
                  <a:ext uri="{FF2B5EF4-FFF2-40B4-BE49-F238E27FC236}">
                    <a16:creationId xmlns:a16="http://schemas.microsoft.com/office/drawing/2014/main" id="{0D621BDA-C56C-0E61-2109-17BA68D78E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46523" y="1962671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61">
                <a:extLst>
                  <a:ext uri="{FF2B5EF4-FFF2-40B4-BE49-F238E27FC236}">
                    <a16:creationId xmlns:a16="http://schemas.microsoft.com/office/drawing/2014/main" id="{30FC6E14-29B2-2B51-D390-316CB6402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94947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62">
                <a:extLst>
                  <a:ext uri="{FF2B5EF4-FFF2-40B4-BE49-F238E27FC236}">
                    <a16:creationId xmlns:a16="http://schemas.microsoft.com/office/drawing/2014/main" id="{C43415B9-C8D1-9711-F034-BC78A7E85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4060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" name="直接箭头连接符 100">
                <a:extLst>
                  <a:ext uri="{FF2B5EF4-FFF2-40B4-BE49-F238E27FC236}">
                    <a16:creationId xmlns:a16="http://schemas.microsoft.com/office/drawing/2014/main" id="{54C2B5F8-556A-4F68-2C57-556B21C369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2" y="2413242"/>
                <a:ext cx="64772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矩形: 圆角 78">
              <a:extLst>
                <a:ext uri="{FF2B5EF4-FFF2-40B4-BE49-F238E27FC236}">
                  <a16:creationId xmlns:a16="http://schemas.microsoft.com/office/drawing/2014/main" id="{6D4794F1-2AA7-2212-3999-B2E236AF194A}"/>
                </a:ext>
              </a:extLst>
            </p:cNvPr>
            <p:cNvSpPr/>
            <p:nvPr/>
          </p:nvSpPr>
          <p:spPr bwMode="auto">
            <a:xfrm>
              <a:off x="6072187" y="4556126"/>
              <a:ext cx="874713" cy="1466849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: 圆角 79">
              <a:extLst>
                <a:ext uri="{FF2B5EF4-FFF2-40B4-BE49-F238E27FC236}">
                  <a16:creationId xmlns:a16="http://schemas.microsoft.com/office/drawing/2014/main" id="{9676832A-0387-C0B0-8C92-D2B3B3842D74}"/>
                </a:ext>
              </a:extLst>
            </p:cNvPr>
            <p:cNvSpPr/>
            <p:nvPr/>
          </p:nvSpPr>
          <p:spPr bwMode="auto">
            <a:xfrm>
              <a:off x="7358063" y="5103813"/>
              <a:ext cx="796925" cy="919162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5" name="Rectangle 15">
            <a:extLst>
              <a:ext uri="{FF2B5EF4-FFF2-40B4-BE49-F238E27FC236}">
                <a16:creationId xmlns:a16="http://schemas.microsoft.com/office/drawing/2014/main" id="{40965662-8B4D-B95F-4F26-AEA0D46EE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08" y="1519594"/>
            <a:ext cx="5863432" cy="462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92" tIns="26621" rIns="18792" bIns="26621"/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定义接口和变量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 reduce (out,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reset, in);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output  out;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input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reset, in;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parameter  zero = 0, one = 1;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reg   out;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reg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，时序逻辑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always  @(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if (reset)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&lt;= zero;  //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同步复位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else current_ state &lt;=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6" name="Group 4">
            <a:extLst>
              <a:ext uri="{FF2B5EF4-FFF2-40B4-BE49-F238E27FC236}">
                <a16:creationId xmlns:a16="http://schemas.microsoft.com/office/drawing/2014/main" id="{9F2D5B5C-F980-6314-C6B7-157F627329CB}"/>
              </a:ext>
            </a:extLst>
          </p:cNvPr>
          <p:cNvGrpSpPr>
            <a:grpSpLocks/>
          </p:cNvGrpSpPr>
          <p:nvPr/>
        </p:nvGrpSpPr>
        <p:grpSpPr bwMode="auto">
          <a:xfrm>
            <a:off x="7110186" y="3256853"/>
            <a:ext cx="1946275" cy="2138363"/>
            <a:chOff x="3855" y="1570"/>
            <a:chExt cx="1226" cy="1347"/>
          </a:xfrm>
        </p:grpSpPr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9B17010C-9AAA-B110-B94C-42C60223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4" y="2098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1/0</a:t>
              </a:r>
            </a:p>
          </p:txBody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6DB9DE7E-6C80-FDC0-B9E3-A58885B06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2182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0/0</a:t>
              </a: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70393650-E604-82D7-E8FF-0FB9ADADE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1706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0/0</a:t>
              </a:r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9BD386F4-279C-EC85-6E6B-C29DA2ABC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568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1/1</a:t>
              </a:r>
            </a:p>
          </p:txBody>
        </p:sp>
        <p:sp>
          <p:nvSpPr>
            <p:cNvPr id="31" name="Oval 9">
              <a:extLst>
                <a:ext uri="{FF2B5EF4-FFF2-40B4-BE49-F238E27FC236}">
                  <a16:creationId xmlns:a16="http://schemas.microsoft.com/office/drawing/2014/main" id="{E729FD20-1F8D-3E9C-2ECA-D0A1EDFF0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570"/>
              <a:ext cx="737" cy="4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zero</a:t>
              </a:r>
            </a:p>
          </p:txBody>
        </p: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E3DAFCEE-0061-64A8-97FC-71D1C2E62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427"/>
              <a:ext cx="737" cy="4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one</a:t>
              </a:r>
            </a:p>
          </p:txBody>
        </p:sp>
        <p:cxnSp>
          <p:nvCxnSpPr>
            <p:cNvPr id="33" name="AutoShape 11">
              <a:extLst>
                <a:ext uri="{FF2B5EF4-FFF2-40B4-BE49-F238E27FC236}">
                  <a16:creationId xmlns:a16="http://schemas.microsoft.com/office/drawing/2014/main" id="{2FA5E015-6461-2843-6771-D513644532E9}"/>
                </a:ext>
              </a:extLst>
            </p:cNvPr>
            <p:cNvCxnSpPr>
              <a:cxnSpLocks noChangeShapeType="1"/>
              <a:stCxn id="31" idx="4"/>
              <a:endCxn id="32" idx="0"/>
            </p:cNvCxnSpPr>
            <p:nvPr/>
          </p:nvCxnSpPr>
          <p:spPr bwMode="auto">
            <a:xfrm>
              <a:off x="4428" y="2071"/>
              <a:ext cx="0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AutoShape 12">
              <a:extLst>
                <a:ext uri="{FF2B5EF4-FFF2-40B4-BE49-F238E27FC236}">
                  <a16:creationId xmlns:a16="http://schemas.microsoft.com/office/drawing/2014/main" id="{6B89E221-AAD2-98AD-A2D4-E06C63F90494}"/>
                </a:ext>
              </a:extLst>
            </p:cNvPr>
            <p:cNvCxnSpPr>
              <a:cxnSpLocks noChangeShapeType="1"/>
              <a:stCxn id="32" idx="2"/>
              <a:endCxn id="31" idx="2"/>
            </p:cNvCxnSpPr>
            <p:nvPr/>
          </p:nvCxnSpPr>
          <p:spPr bwMode="auto">
            <a:xfrm rot="10800000" flipH="1">
              <a:off x="4047" y="1815"/>
              <a:ext cx="1" cy="857"/>
            </a:xfrm>
            <a:prstGeom prst="curvedConnector3">
              <a:avLst>
                <a:gd name="adj1" fmla="val -27600009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AutoShape 13">
              <a:extLst>
                <a:ext uri="{FF2B5EF4-FFF2-40B4-BE49-F238E27FC236}">
                  <a16:creationId xmlns:a16="http://schemas.microsoft.com/office/drawing/2014/main" id="{85B74FB0-CDE9-AC4A-A7F7-ABF01EC98D7C}"/>
                </a:ext>
              </a:extLst>
            </p:cNvPr>
            <p:cNvCxnSpPr>
              <a:cxnSpLocks noChangeShapeType="1"/>
              <a:stCxn id="31" idx="5"/>
              <a:endCxn id="31" idx="7"/>
            </p:cNvCxnSpPr>
            <p:nvPr/>
          </p:nvCxnSpPr>
          <p:spPr bwMode="auto">
            <a:xfrm rot="5400000" flipH="1" flipV="1">
              <a:off x="4504" y="1814"/>
              <a:ext cx="369" cy="1"/>
            </a:xfrm>
            <a:prstGeom prst="curvedConnector5">
              <a:avLst>
                <a:gd name="adj1" fmla="val -25204"/>
                <a:gd name="adj2" fmla="val 49300014"/>
                <a:gd name="adj3" fmla="val 141731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14">
              <a:extLst>
                <a:ext uri="{FF2B5EF4-FFF2-40B4-BE49-F238E27FC236}">
                  <a16:creationId xmlns:a16="http://schemas.microsoft.com/office/drawing/2014/main" id="{E44D4FAC-25BC-1CAF-1DC0-E8417EE890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4487" y="2684"/>
              <a:ext cx="369" cy="1"/>
            </a:xfrm>
            <a:prstGeom prst="curvedConnector5">
              <a:avLst>
                <a:gd name="adj1" fmla="val -36046"/>
                <a:gd name="adj2" fmla="val 47000014"/>
                <a:gd name="adj3" fmla="val 143898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Group 16">
            <a:extLst>
              <a:ext uri="{FF2B5EF4-FFF2-40B4-BE49-F238E27FC236}">
                <a16:creationId xmlns:a16="http://schemas.microsoft.com/office/drawing/2014/main" id="{16ED68BD-A440-4325-F7A6-6D799F671663}"/>
              </a:ext>
            </a:extLst>
          </p:cNvPr>
          <p:cNvGrpSpPr>
            <a:grpSpLocks/>
          </p:cNvGrpSpPr>
          <p:nvPr/>
        </p:nvGrpSpPr>
        <p:grpSpPr bwMode="auto">
          <a:xfrm>
            <a:off x="7746773" y="2356741"/>
            <a:ext cx="558800" cy="900112"/>
            <a:chOff x="4256" y="1003"/>
            <a:chExt cx="352" cy="567"/>
          </a:xfrm>
        </p:grpSpPr>
        <p:cxnSp>
          <p:nvCxnSpPr>
            <p:cNvPr id="38" name="AutoShape 17">
              <a:extLst>
                <a:ext uri="{FF2B5EF4-FFF2-40B4-BE49-F238E27FC236}">
                  <a16:creationId xmlns:a16="http://schemas.microsoft.com/office/drawing/2014/main" id="{580C0D27-F7DA-56F6-4DCF-E12E70737548}"/>
                </a:ext>
              </a:extLst>
            </p:cNvPr>
            <p:cNvCxnSpPr>
              <a:cxnSpLocks noChangeShapeType="1"/>
              <a:stCxn id="39" idx="2"/>
              <a:endCxn id="31" idx="0"/>
            </p:cNvCxnSpPr>
            <p:nvPr/>
          </p:nvCxnSpPr>
          <p:spPr bwMode="auto">
            <a:xfrm flipH="1">
              <a:off x="4428" y="1203"/>
              <a:ext cx="4" cy="36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D7534B98-1C6C-A504-4EDC-D575C8AE4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1003"/>
              <a:ext cx="35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reset</a:t>
              </a:r>
            </a:p>
          </p:txBody>
        </p:sp>
      </p:grpSp>
      <p:grpSp>
        <p:nvGrpSpPr>
          <p:cNvPr id="40" name="Group 19">
            <a:extLst>
              <a:ext uri="{FF2B5EF4-FFF2-40B4-BE49-F238E27FC236}">
                <a16:creationId xmlns:a16="http://schemas.microsoft.com/office/drawing/2014/main" id="{CB7E2177-8C01-91F8-58BB-B9909314D66A}"/>
              </a:ext>
            </a:extLst>
          </p:cNvPr>
          <p:cNvGrpSpPr>
            <a:grpSpLocks/>
          </p:cNvGrpSpPr>
          <p:nvPr/>
        </p:nvGrpSpPr>
        <p:grpSpPr bwMode="auto">
          <a:xfrm>
            <a:off x="7434036" y="5827016"/>
            <a:ext cx="1930400" cy="814387"/>
            <a:chOff x="4059" y="3189"/>
            <a:chExt cx="1216" cy="513"/>
          </a:xfrm>
        </p:grpSpPr>
        <p:sp>
          <p:nvSpPr>
            <p:cNvPr id="41" name="Oval 20">
              <a:extLst>
                <a:ext uri="{FF2B5EF4-FFF2-40B4-BE49-F238E27FC236}">
                  <a16:creationId xmlns:a16="http://schemas.microsoft.com/office/drawing/2014/main" id="{760DD37A-8B2D-7186-D5BF-A06B9BC43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3212"/>
              <a:ext cx="737" cy="4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state</a:t>
              </a:r>
            </a:p>
          </p:txBody>
        </p:sp>
        <p:sp>
          <p:nvSpPr>
            <p:cNvPr id="42" name="Rectangle 21">
              <a:extLst>
                <a:ext uri="{FF2B5EF4-FFF2-40B4-BE49-F238E27FC236}">
                  <a16:creationId xmlns:a16="http://schemas.microsoft.com/office/drawing/2014/main" id="{FD42D5F0-652D-117B-789C-3434BBA78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3189"/>
              <a:ext cx="423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in/out</a:t>
              </a:r>
            </a:p>
          </p:txBody>
        </p:sp>
        <p:sp>
          <p:nvSpPr>
            <p:cNvPr id="43" name="Line 22">
              <a:extLst>
                <a:ext uri="{FF2B5EF4-FFF2-40B4-BE49-F238E27FC236}">
                  <a16:creationId xmlns:a16="http://schemas.microsoft.com/office/drawing/2014/main" id="{D89AF411-F40A-6F54-1ED1-1A0CA3DF11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7" y="3463"/>
              <a:ext cx="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729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8E742-BCBD-06A2-5A38-986A0D96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示例：两段式米里型</a:t>
            </a:r>
            <a:r>
              <a:rPr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CA28E0-4BE3-8254-7F65-6264961E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312944" cy="5947119"/>
          </a:xfrm>
        </p:spPr>
        <p:txBody>
          <a:bodyPr/>
          <a:lstStyle/>
          <a:p>
            <a:r>
              <a:rPr lang="zh-CN" altLang="en-US" sz="2000" dirty="0"/>
              <a:t>将输入序列中每次出现的第一个</a:t>
            </a:r>
            <a:r>
              <a:rPr lang="en-US" altLang="zh-CN" sz="2000" dirty="0"/>
              <a:t>1</a:t>
            </a:r>
            <a:r>
              <a:rPr lang="zh-CN" altLang="en-US" sz="2000" dirty="0"/>
              <a:t>替换为</a:t>
            </a:r>
            <a:r>
              <a:rPr lang="en-US" altLang="zh-CN" sz="2000" dirty="0"/>
              <a:t>0</a:t>
            </a:r>
            <a:r>
              <a:rPr lang="zh-CN" altLang="en-US" sz="2000" dirty="0"/>
              <a:t>，其他不变，然后输出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583201-F2B9-53EB-E648-507D2F592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B173E6-7A21-9EE7-19D8-D03C18B6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组合 75">
            <a:extLst>
              <a:ext uri="{FF2B5EF4-FFF2-40B4-BE49-F238E27FC236}">
                <a16:creationId xmlns:a16="http://schemas.microsoft.com/office/drawing/2014/main" id="{D619E587-3A0C-28C8-80AA-BD1FCAD2EFBB}"/>
              </a:ext>
            </a:extLst>
          </p:cNvPr>
          <p:cNvGrpSpPr>
            <a:grpSpLocks/>
          </p:cNvGrpSpPr>
          <p:nvPr/>
        </p:nvGrpSpPr>
        <p:grpSpPr bwMode="auto">
          <a:xfrm>
            <a:off x="6403749" y="585759"/>
            <a:ext cx="2954337" cy="1684338"/>
            <a:chOff x="5565775" y="4440238"/>
            <a:chExt cx="2954338" cy="1684337"/>
          </a:xfrm>
        </p:grpSpPr>
        <p:grpSp>
          <p:nvGrpSpPr>
            <p:cNvPr id="7" name="组合 73">
              <a:extLst>
                <a:ext uri="{FF2B5EF4-FFF2-40B4-BE49-F238E27FC236}">
                  <a16:creationId xmlns:a16="http://schemas.microsoft.com/office/drawing/2014/main" id="{B2BE58B6-FD65-1E09-6491-3FE32C2C1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5775" y="4440238"/>
              <a:ext cx="2954338" cy="1684337"/>
              <a:chOff x="5217578" y="1962481"/>
              <a:chExt cx="2954426" cy="1684007"/>
            </a:xfrm>
          </p:grpSpPr>
          <p:sp>
            <p:nvSpPr>
              <p:cNvPr id="10" name="TextBox 34">
                <a:extLst>
                  <a:ext uri="{FF2B5EF4-FFF2-40B4-BE49-F238E27FC236}">
                    <a16:creationId xmlns:a16="http://schemas.microsoft.com/office/drawing/2014/main" id="{DA231C98-D574-8FD8-960A-6D75BE44677F}"/>
                  </a:ext>
                </a:extLst>
              </p:cNvPr>
              <p:cNvSpPr txBox="1"/>
              <p:nvPr/>
            </p:nvSpPr>
            <p:spPr bwMode="auto">
              <a:xfrm>
                <a:off x="7184549" y="2729093"/>
                <a:ext cx="466739" cy="68725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" name="TextBox 35">
                <a:extLst>
                  <a:ext uri="{FF2B5EF4-FFF2-40B4-BE49-F238E27FC236}">
                    <a16:creationId xmlns:a16="http://schemas.microsoft.com/office/drawing/2014/main" id="{D6607341-4554-E5A9-852F-55A184DCC7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36">
                <a:extLst>
                  <a:ext uri="{FF2B5EF4-FFF2-40B4-BE49-F238E27FC236}">
                    <a16:creationId xmlns:a16="http://schemas.microsoft.com/office/drawing/2014/main" id="{E55C7D46-6147-CA46-B487-9DE8E1CF9B5D}"/>
                  </a:ext>
                </a:extLst>
              </p:cNvPr>
              <p:cNvSpPr txBox="1"/>
              <p:nvPr/>
            </p:nvSpPr>
            <p:spPr bwMode="auto">
              <a:xfrm>
                <a:off x="5911336" y="2202147"/>
                <a:ext cx="520716" cy="1214198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CL</a:t>
                </a:r>
                <a:endParaRPr lang="en-US" altLang="zh-CN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3" name="直接箭头连接符 83">
                <a:extLst>
                  <a:ext uri="{FF2B5EF4-FFF2-40B4-BE49-F238E27FC236}">
                    <a16:creationId xmlns:a16="http://schemas.microsoft.com/office/drawing/2014/main" id="{7B6AEACE-11B2-39C6-1711-1540F22927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368311" cy="15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84">
                <a:extLst>
                  <a:ext uri="{FF2B5EF4-FFF2-40B4-BE49-F238E27FC236}">
                    <a16:creationId xmlns:a16="http://schemas.microsoft.com/office/drawing/2014/main" id="{7706B016-9529-64C8-425C-B0BED9E596C0}"/>
                  </a:ext>
                </a:extLst>
              </p:cNvPr>
              <p:cNvCxnSpPr/>
              <p:nvPr/>
            </p:nvCxnSpPr>
            <p:spPr bwMode="auto">
              <a:xfrm>
                <a:off x="7651288" y="3102082"/>
                <a:ext cx="369899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85">
                <a:extLst>
                  <a:ext uri="{FF2B5EF4-FFF2-40B4-BE49-F238E27FC236}">
                    <a16:creationId xmlns:a16="http://schemas.microsoft.com/office/drawing/2014/main" id="{D0DD973A-D247-B825-1967-B74C992D15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5950" y="3100495"/>
                <a:ext cx="0" cy="54599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86">
                <a:extLst>
                  <a:ext uri="{FF2B5EF4-FFF2-40B4-BE49-F238E27FC236}">
                    <a16:creationId xmlns:a16="http://schemas.microsoft.com/office/drawing/2014/main" id="{102C6685-2313-5528-8475-A8698370AC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25" y="3646488"/>
                <a:ext cx="247816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87">
                <a:extLst>
                  <a:ext uri="{FF2B5EF4-FFF2-40B4-BE49-F238E27FC236}">
                    <a16:creationId xmlns:a16="http://schemas.microsoft.com/office/drawing/2014/main" id="{397AD50C-7B60-C63F-5BE5-8340B7B2175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0" cy="446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88">
                <a:extLst>
                  <a:ext uri="{FF2B5EF4-FFF2-40B4-BE49-F238E27FC236}">
                    <a16:creationId xmlns:a16="http://schemas.microsoft.com/office/drawing/2014/main" id="{FCB6C544-773C-9CC3-3095-EB51DF3257F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2421179"/>
                <a:ext cx="159548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89">
                <a:extLst>
                  <a:ext uri="{FF2B5EF4-FFF2-40B4-BE49-F238E27FC236}">
                    <a16:creationId xmlns:a16="http://schemas.microsoft.com/office/drawing/2014/main" id="{3B2323CF-BBD0-0F30-98FB-AF1548A3CAE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3100495"/>
                <a:ext cx="75249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58">
                <a:extLst>
                  <a:ext uri="{FF2B5EF4-FFF2-40B4-BE49-F238E27FC236}">
                    <a16:creationId xmlns:a16="http://schemas.microsoft.com/office/drawing/2014/main" id="{644B230E-1194-C0A8-60A6-D177C6A43F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962481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Box 60">
                <a:extLst>
                  <a:ext uri="{FF2B5EF4-FFF2-40B4-BE49-F238E27FC236}">
                    <a16:creationId xmlns:a16="http://schemas.microsoft.com/office/drawing/2014/main" id="{0D621BDA-C56C-0E61-2109-17BA68D78E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46523" y="1962671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61">
                <a:extLst>
                  <a:ext uri="{FF2B5EF4-FFF2-40B4-BE49-F238E27FC236}">
                    <a16:creationId xmlns:a16="http://schemas.microsoft.com/office/drawing/2014/main" id="{30FC6E14-29B2-2B51-D390-316CB6402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94947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62">
                <a:extLst>
                  <a:ext uri="{FF2B5EF4-FFF2-40B4-BE49-F238E27FC236}">
                    <a16:creationId xmlns:a16="http://schemas.microsoft.com/office/drawing/2014/main" id="{C43415B9-C8D1-9711-F034-BC78A7E85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4060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" name="直接箭头连接符 100">
                <a:extLst>
                  <a:ext uri="{FF2B5EF4-FFF2-40B4-BE49-F238E27FC236}">
                    <a16:creationId xmlns:a16="http://schemas.microsoft.com/office/drawing/2014/main" id="{54C2B5F8-556A-4F68-2C57-556B21C369A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2" y="2413242"/>
                <a:ext cx="64772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矩形: 圆角 78">
              <a:extLst>
                <a:ext uri="{FF2B5EF4-FFF2-40B4-BE49-F238E27FC236}">
                  <a16:creationId xmlns:a16="http://schemas.microsoft.com/office/drawing/2014/main" id="{6D4794F1-2AA7-2212-3999-B2E236AF194A}"/>
                </a:ext>
              </a:extLst>
            </p:cNvPr>
            <p:cNvSpPr/>
            <p:nvPr/>
          </p:nvSpPr>
          <p:spPr bwMode="auto">
            <a:xfrm>
              <a:off x="6072187" y="4556126"/>
              <a:ext cx="874713" cy="1466849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: 圆角 79">
              <a:extLst>
                <a:ext uri="{FF2B5EF4-FFF2-40B4-BE49-F238E27FC236}">
                  <a16:creationId xmlns:a16="http://schemas.microsoft.com/office/drawing/2014/main" id="{9676832A-0387-C0B0-8C92-D2B3B3842D74}"/>
                </a:ext>
              </a:extLst>
            </p:cNvPr>
            <p:cNvSpPr/>
            <p:nvPr/>
          </p:nvSpPr>
          <p:spPr bwMode="auto">
            <a:xfrm>
              <a:off x="7358063" y="5103813"/>
              <a:ext cx="796925" cy="919162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26" name="Group 4">
            <a:extLst>
              <a:ext uri="{FF2B5EF4-FFF2-40B4-BE49-F238E27FC236}">
                <a16:creationId xmlns:a16="http://schemas.microsoft.com/office/drawing/2014/main" id="{9F2D5B5C-F980-6314-C6B7-157F627329CB}"/>
              </a:ext>
            </a:extLst>
          </p:cNvPr>
          <p:cNvGrpSpPr>
            <a:grpSpLocks/>
          </p:cNvGrpSpPr>
          <p:nvPr/>
        </p:nvGrpSpPr>
        <p:grpSpPr bwMode="auto">
          <a:xfrm>
            <a:off x="7110186" y="3256853"/>
            <a:ext cx="1946275" cy="2138363"/>
            <a:chOff x="3855" y="1570"/>
            <a:chExt cx="1226" cy="1347"/>
          </a:xfrm>
        </p:grpSpPr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9B17010C-9AAA-B110-B94C-42C60223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4" y="2098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1/0</a:t>
              </a:r>
            </a:p>
          </p:txBody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6DB9DE7E-6C80-FDC0-B9E3-A58885B06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2182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0/0</a:t>
              </a: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70393650-E604-82D7-E8FF-0FB9ADADE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1706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0/0</a:t>
              </a:r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9BD386F4-279C-EC85-6E6B-C29DA2ABC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568"/>
              <a:ext cx="22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1/1</a:t>
              </a:r>
            </a:p>
          </p:txBody>
        </p:sp>
        <p:sp>
          <p:nvSpPr>
            <p:cNvPr id="31" name="Oval 9">
              <a:extLst>
                <a:ext uri="{FF2B5EF4-FFF2-40B4-BE49-F238E27FC236}">
                  <a16:creationId xmlns:a16="http://schemas.microsoft.com/office/drawing/2014/main" id="{E729FD20-1F8D-3E9C-2ECA-D0A1EDFF0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1570"/>
              <a:ext cx="737" cy="4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zero</a:t>
              </a:r>
            </a:p>
          </p:txBody>
        </p:sp>
        <p:sp>
          <p:nvSpPr>
            <p:cNvPr id="32" name="Oval 10">
              <a:extLst>
                <a:ext uri="{FF2B5EF4-FFF2-40B4-BE49-F238E27FC236}">
                  <a16:creationId xmlns:a16="http://schemas.microsoft.com/office/drawing/2014/main" id="{E3DAFCEE-0061-64A8-97FC-71D1C2E62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427"/>
              <a:ext cx="737" cy="4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one</a:t>
              </a:r>
            </a:p>
          </p:txBody>
        </p:sp>
        <p:cxnSp>
          <p:nvCxnSpPr>
            <p:cNvPr id="33" name="AutoShape 11">
              <a:extLst>
                <a:ext uri="{FF2B5EF4-FFF2-40B4-BE49-F238E27FC236}">
                  <a16:creationId xmlns:a16="http://schemas.microsoft.com/office/drawing/2014/main" id="{2FA5E015-6461-2843-6771-D513644532E9}"/>
                </a:ext>
              </a:extLst>
            </p:cNvPr>
            <p:cNvCxnSpPr>
              <a:cxnSpLocks noChangeShapeType="1"/>
              <a:stCxn id="31" idx="4"/>
              <a:endCxn id="32" idx="0"/>
            </p:cNvCxnSpPr>
            <p:nvPr/>
          </p:nvCxnSpPr>
          <p:spPr bwMode="auto">
            <a:xfrm>
              <a:off x="4428" y="2071"/>
              <a:ext cx="0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AutoShape 12">
              <a:extLst>
                <a:ext uri="{FF2B5EF4-FFF2-40B4-BE49-F238E27FC236}">
                  <a16:creationId xmlns:a16="http://schemas.microsoft.com/office/drawing/2014/main" id="{6B89E221-AAD2-98AD-A2D4-E06C63F90494}"/>
                </a:ext>
              </a:extLst>
            </p:cNvPr>
            <p:cNvCxnSpPr>
              <a:cxnSpLocks noChangeShapeType="1"/>
              <a:stCxn id="32" idx="2"/>
              <a:endCxn id="31" idx="2"/>
            </p:cNvCxnSpPr>
            <p:nvPr/>
          </p:nvCxnSpPr>
          <p:spPr bwMode="auto">
            <a:xfrm rot="10800000" flipH="1">
              <a:off x="4047" y="1815"/>
              <a:ext cx="1" cy="857"/>
            </a:xfrm>
            <a:prstGeom prst="curvedConnector3">
              <a:avLst>
                <a:gd name="adj1" fmla="val -27600009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AutoShape 13">
              <a:extLst>
                <a:ext uri="{FF2B5EF4-FFF2-40B4-BE49-F238E27FC236}">
                  <a16:creationId xmlns:a16="http://schemas.microsoft.com/office/drawing/2014/main" id="{85B74FB0-CDE9-AC4A-A7F7-ABF01EC98D7C}"/>
                </a:ext>
              </a:extLst>
            </p:cNvPr>
            <p:cNvCxnSpPr>
              <a:cxnSpLocks noChangeShapeType="1"/>
              <a:stCxn id="31" idx="5"/>
              <a:endCxn id="31" idx="7"/>
            </p:cNvCxnSpPr>
            <p:nvPr/>
          </p:nvCxnSpPr>
          <p:spPr bwMode="auto">
            <a:xfrm rot="5400000" flipH="1" flipV="1">
              <a:off x="4504" y="1814"/>
              <a:ext cx="369" cy="1"/>
            </a:xfrm>
            <a:prstGeom prst="curvedConnector5">
              <a:avLst>
                <a:gd name="adj1" fmla="val -25204"/>
                <a:gd name="adj2" fmla="val 49300014"/>
                <a:gd name="adj3" fmla="val 141731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14">
              <a:extLst>
                <a:ext uri="{FF2B5EF4-FFF2-40B4-BE49-F238E27FC236}">
                  <a16:creationId xmlns:a16="http://schemas.microsoft.com/office/drawing/2014/main" id="{E44D4FAC-25BC-1CAF-1DC0-E8417EE890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4487" y="2684"/>
              <a:ext cx="369" cy="1"/>
            </a:xfrm>
            <a:prstGeom prst="curvedConnector5">
              <a:avLst>
                <a:gd name="adj1" fmla="val -36046"/>
                <a:gd name="adj2" fmla="val 47000014"/>
                <a:gd name="adj3" fmla="val 143898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Group 16">
            <a:extLst>
              <a:ext uri="{FF2B5EF4-FFF2-40B4-BE49-F238E27FC236}">
                <a16:creationId xmlns:a16="http://schemas.microsoft.com/office/drawing/2014/main" id="{16ED68BD-A440-4325-F7A6-6D799F671663}"/>
              </a:ext>
            </a:extLst>
          </p:cNvPr>
          <p:cNvGrpSpPr>
            <a:grpSpLocks/>
          </p:cNvGrpSpPr>
          <p:nvPr/>
        </p:nvGrpSpPr>
        <p:grpSpPr bwMode="auto">
          <a:xfrm>
            <a:off x="7746773" y="2356741"/>
            <a:ext cx="558800" cy="900112"/>
            <a:chOff x="4256" y="1003"/>
            <a:chExt cx="352" cy="567"/>
          </a:xfrm>
        </p:grpSpPr>
        <p:cxnSp>
          <p:nvCxnSpPr>
            <p:cNvPr id="38" name="AutoShape 17">
              <a:extLst>
                <a:ext uri="{FF2B5EF4-FFF2-40B4-BE49-F238E27FC236}">
                  <a16:creationId xmlns:a16="http://schemas.microsoft.com/office/drawing/2014/main" id="{580C0D27-F7DA-56F6-4DCF-E12E70737548}"/>
                </a:ext>
              </a:extLst>
            </p:cNvPr>
            <p:cNvCxnSpPr>
              <a:cxnSpLocks noChangeShapeType="1"/>
              <a:stCxn id="39" idx="2"/>
              <a:endCxn id="31" idx="0"/>
            </p:cNvCxnSpPr>
            <p:nvPr/>
          </p:nvCxnSpPr>
          <p:spPr bwMode="auto">
            <a:xfrm flipH="1">
              <a:off x="4428" y="1203"/>
              <a:ext cx="4" cy="36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D7534B98-1C6C-A504-4EDC-D575C8AE4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1003"/>
              <a:ext cx="35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reset</a:t>
              </a:r>
            </a:p>
          </p:txBody>
        </p:sp>
      </p:grpSp>
      <p:grpSp>
        <p:nvGrpSpPr>
          <p:cNvPr id="40" name="Group 19">
            <a:extLst>
              <a:ext uri="{FF2B5EF4-FFF2-40B4-BE49-F238E27FC236}">
                <a16:creationId xmlns:a16="http://schemas.microsoft.com/office/drawing/2014/main" id="{CB7E2177-8C01-91F8-58BB-B9909314D66A}"/>
              </a:ext>
            </a:extLst>
          </p:cNvPr>
          <p:cNvGrpSpPr>
            <a:grpSpLocks/>
          </p:cNvGrpSpPr>
          <p:nvPr/>
        </p:nvGrpSpPr>
        <p:grpSpPr bwMode="auto">
          <a:xfrm>
            <a:off x="7434036" y="5827016"/>
            <a:ext cx="1930400" cy="814387"/>
            <a:chOff x="4059" y="3189"/>
            <a:chExt cx="1216" cy="513"/>
          </a:xfrm>
        </p:grpSpPr>
        <p:sp>
          <p:nvSpPr>
            <p:cNvPr id="41" name="Oval 20">
              <a:extLst>
                <a:ext uri="{FF2B5EF4-FFF2-40B4-BE49-F238E27FC236}">
                  <a16:creationId xmlns:a16="http://schemas.microsoft.com/office/drawing/2014/main" id="{760DD37A-8B2D-7186-D5BF-A06B9BC43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3212"/>
              <a:ext cx="737" cy="4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state</a:t>
              </a:r>
            </a:p>
          </p:txBody>
        </p:sp>
        <p:sp>
          <p:nvSpPr>
            <p:cNvPr id="42" name="Rectangle 21">
              <a:extLst>
                <a:ext uri="{FF2B5EF4-FFF2-40B4-BE49-F238E27FC236}">
                  <a16:creationId xmlns:a16="http://schemas.microsoft.com/office/drawing/2014/main" id="{FD42D5F0-652D-117B-789C-3434BBA78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3189"/>
              <a:ext cx="423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in/out</a:t>
              </a:r>
            </a:p>
          </p:txBody>
        </p:sp>
        <p:sp>
          <p:nvSpPr>
            <p:cNvPr id="43" name="Line 22">
              <a:extLst>
                <a:ext uri="{FF2B5EF4-FFF2-40B4-BE49-F238E27FC236}">
                  <a16:creationId xmlns:a16="http://schemas.microsoft.com/office/drawing/2014/main" id="{D89AF411-F40A-6F54-1ED1-1A0CA3DF11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7" y="3463"/>
              <a:ext cx="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Rectangle 3">
            <a:extLst>
              <a:ext uri="{FF2B5EF4-FFF2-40B4-BE49-F238E27FC236}">
                <a16:creationId xmlns:a16="http://schemas.microsoft.com/office/drawing/2014/main" id="{7356C352-92F0-4AC2-825C-F13708057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92" y="1318564"/>
            <a:ext cx="6076032" cy="539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92" tIns="26621" rIns="18792" bIns="26621"/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，组合逻辑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always  @(in or current_ state)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en-US" altLang="zh-CN" sz="16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=zero; 	</a:t>
            </a:r>
            <a:r>
              <a:rPr lang="en-US" altLang="zh-CN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本例中可以不要</a:t>
            </a:r>
            <a:endParaRPr lang="en-US" altLang="zh-CN" sz="1600" b="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out=0;		</a:t>
            </a:r>
            <a:r>
              <a:rPr lang="en-US" altLang="zh-CN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//</a:t>
            </a:r>
            <a:r>
              <a:rPr lang="zh-CN" altLang="en-US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本例中可以不要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case (current_ state)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zero: begin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out = 0; 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if  (in)   </a:t>
            </a:r>
            <a:r>
              <a:rPr lang="en-US" altLang="zh-CN" sz="16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one;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else    </a:t>
            </a:r>
            <a:r>
              <a:rPr lang="en-US" altLang="zh-CN" sz="16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zero;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end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one: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if  (in)  begin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		  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 = 1;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-US" altLang="zh-CN" sz="16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one;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       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else  begin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		     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  = 0;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16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zero;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</a:t>
            </a:r>
            <a:r>
              <a:rPr lang="zh-CN" altLang="en-US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</a:t>
            </a:r>
            <a:b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6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en-US" altLang="zh-CN" sz="16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endcase</a:t>
            </a:r>
            <a:endParaRPr lang="en-US" altLang="zh-CN" sz="16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endmodule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别忘了</a:t>
            </a:r>
            <a:r>
              <a:rPr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</a:t>
            </a:r>
            <a:r>
              <a:rPr lang="zh-CN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结束</a:t>
            </a:r>
            <a:endParaRPr lang="en-US" altLang="zh-CN" sz="1800" b="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666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A033E-5F46-A760-14B4-A865C376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两段式</a:t>
            </a:r>
            <a:r>
              <a:rPr lang="en-US" altLang="zh-CN" dirty="0"/>
              <a:t>FSM</a:t>
            </a:r>
            <a:r>
              <a:rPr lang="zh-CN" altLang="en-US" dirty="0"/>
              <a:t>时序图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94AAA3-5A02-7BBE-83C1-41AB7EA8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DA094C-A872-9C32-E967-B3B9D34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0EC30453-17D0-6F48-D2E0-DE3B4721A90E}"/>
              </a:ext>
            </a:extLst>
          </p:cNvPr>
          <p:cNvGrpSpPr>
            <a:grpSpLocks/>
          </p:cNvGrpSpPr>
          <p:nvPr/>
        </p:nvGrpSpPr>
        <p:grpSpPr bwMode="auto">
          <a:xfrm>
            <a:off x="698500" y="2487613"/>
            <a:ext cx="6873875" cy="3352800"/>
            <a:chOff x="457200" y="1386275"/>
            <a:chExt cx="6873875" cy="33519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495A283-78CA-6234-DEC0-313515708AA5}"/>
                </a:ext>
              </a:extLst>
            </p:cNvPr>
            <p:cNvSpPr/>
            <p:nvPr/>
          </p:nvSpPr>
          <p:spPr>
            <a:xfrm>
              <a:off x="1233488" y="2833720"/>
              <a:ext cx="6061075" cy="353925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858EA88-36A1-8958-6785-8B24D7D9638B}"/>
                </a:ext>
              </a:extLst>
            </p:cNvPr>
            <p:cNvSpPr/>
            <p:nvPr/>
          </p:nvSpPr>
          <p:spPr>
            <a:xfrm>
              <a:off x="1233488" y="3606643"/>
              <a:ext cx="6061075" cy="35392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3634FA-6196-459B-33BF-1DB9306E783F}"/>
                </a:ext>
              </a:extLst>
            </p:cNvPr>
            <p:cNvSpPr/>
            <p:nvPr/>
          </p:nvSpPr>
          <p:spPr>
            <a:xfrm>
              <a:off x="1233488" y="4377978"/>
              <a:ext cx="6061075" cy="35392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2A3B61D-91FA-FD20-8CC3-462A744ABF6A}"/>
                </a:ext>
              </a:extLst>
            </p:cNvPr>
            <p:cNvSpPr/>
            <p:nvPr/>
          </p:nvSpPr>
          <p:spPr>
            <a:xfrm>
              <a:off x="1233488" y="2062384"/>
              <a:ext cx="6061075" cy="3539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cxnSp>
          <p:nvCxnSpPr>
            <p:cNvPr id="11" name="直接连接符 6">
              <a:extLst>
                <a:ext uri="{FF2B5EF4-FFF2-40B4-BE49-F238E27FC236}">
                  <a16:creationId xmlns:a16="http://schemas.microsoft.com/office/drawing/2014/main" id="{695B1C06-5DEA-95DF-1D69-8744EA58A1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1646912" y="1719151"/>
              <a:ext cx="257414" cy="158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8">
              <a:extLst>
                <a:ext uri="{FF2B5EF4-FFF2-40B4-BE49-F238E27FC236}">
                  <a16:creationId xmlns:a16="http://schemas.microsoft.com/office/drawing/2014/main" id="{2334CA50-47CB-D2F5-EF01-8D452BF3E9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776413" y="1591238"/>
              <a:ext cx="2195512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1">
              <a:extLst>
                <a:ext uri="{FF2B5EF4-FFF2-40B4-BE49-F238E27FC236}">
                  <a16:creationId xmlns:a16="http://schemas.microsoft.com/office/drawing/2014/main" id="{FB4D166F-2782-A8AE-0C3E-319A4A2876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27138" y="2060588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2">
              <a:extLst>
                <a:ext uri="{FF2B5EF4-FFF2-40B4-BE49-F238E27FC236}">
                  <a16:creationId xmlns:a16="http://schemas.microsoft.com/office/drawing/2014/main" id="{6E82149C-5123-390C-55A6-4C58348433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844012" y="1719151"/>
              <a:ext cx="257414" cy="158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EA5B83B-83D3-FC2F-7161-FC30F03899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019978" y="1692987"/>
              <a:ext cx="285394" cy="635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FEDEBD2-8725-ABA0-AEE1-40EB253ECA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64263" y="1553465"/>
              <a:ext cx="1152525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连接符 17">
              <a:extLst>
                <a:ext uri="{FF2B5EF4-FFF2-40B4-BE49-F238E27FC236}">
                  <a16:creationId xmlns:a16="http://schemas.microsoft.com/office/drawing/2014/main" id="{901DACC6-D5D2-AF09-C85E-AAAE043B5A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27138" y="2414532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DB12B52-ADD7-0E50-4536-DD5538D0B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473723"/>
              <a:ext cx="577850" cy="407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clk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823FC82-4CB4-24CE-CFF1-15F2E0B73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50" y="2041002"/>
              <a:ext cx="441325" cy="407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in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20" name="TextBox 23">
              <a:extLst>
                <a:ext uri="{FF2B5EF4-FFF2-40B4-BE49-F238E27FC236}">
                  <a16:creationId xmlns:a16="http://schemas.microsoft.com/office/drawing/2014/main" id="{9C866B7B-26CA-5C7C-3FFC-4286AA0D5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50" y="2781067"/>
              <a:ext cx="441325" cy="407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cs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21" name="Line 33">
              <a:extLst>
                <a:ext uri="{FF2B5EF4-FFF2-40B4-BE49-F238E27FC236}">
                  <a16:creationId xmlns:a16="http://schemas.microsoft.com/office/drawing/2014/main" id="{BB117A5A-9DDC-AA23-CA9E-318CD13C77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7200" y="1386275"/>
              <a:ext cx="42863" cy="3346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49">
              <a:extLst>
                <a:ext uri="{FF2B5EF4-FFF2-40B4-BE49-F238E27FC236}">
                  <a16:creationId xmlns:a16="http://schemas.microsoft.com/office/drawing/2014/main" id="{B91D2760-3F73-A3D7-037E-A633080AB0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9813" y="1386275"/>
              <a:ext cx="42862" cy="3346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组合 50">
              <a:extLst>
                <a:ext uri="{FF2B5EF4-FFF2-40B4-BE49-F238E27FC236}">
                  <a16:creationId xmlns:a16="http://schemas.microsoft.com/office/drawing/2014/main" id="{BEC40081-9F84-930D-F35B-CEE1B11D4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3213" y="2064784"/>
              <a:ext cx="396875" cy="349747"/>
              <a:chOff x="2917825" y="1916113"/>
              <a:chExt cx="396875" cy="396875"/>
            </a:xfrm>
          </p:grpSpPr>
          <p:sp>
            <p:nvSpPr>
              <p:cNvPr id="74" name="Line 52">
                <a:extLst>
                  <a:ext uri="{FF2B5EF4-FFF2-40B4-BE49-F238E27FC236}">
                    <a16:creationId xmlns:a16="http://schemas.microsoft.com/office/drawing/2014/main" id="{37DA32FF-C532-8E2D-851B-F6CA82262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825" y="1916992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5" name="Line 53">
                <a:extLst>
                  <a:ext uri="{FF2B5EF4-FFF2-40B4-BE49-F238E27FC236}">
                    <a16:creationId xmlns:a16="http://schemas.microsoft.com/office/drawing/2014/main" id="{42A35281-541A-9E1C-7869-8F8F602FA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825" y="1916992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4" name="Line 54">
              <a:extLst>
                <a:ext uri="{FF2B5EF4-FFF2-40B4-BE49-F238E27FC236}">
                  <a16:creationId xmlns:a16="http://schemas.microsoft.com/office/drawing/2014/main" id="{3950427C-0233-2E40-0912-29FE2C282F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1900" y="1838859"/>
              <a:ext cx="5397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5" name="直接箭头连接符 66">
              <a:extLst>
                <a:ext uri="{FF2B5EF4-FFF2-40B4-BE49-F238E27FC236}">
                  <a16:creationId xmlns:a16="http://schemas.microsoft.com/office/drawing/2014/main" id="{E8D004B5-B3DF-9C94-E924-54E4351602BD}"/>
                </a:ext>
              </a:extLst>
            </p:cNvPr>
            <p:cNvCxnSpPr/>
            <p:nvPr/>
          </p:nvCxnSpPr>
          <p:spPr>
            <a:xfrm>
              <a:off x="1781175" y="2703577"/>
              <a:ext cx="328613" cy="158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49">
              <a:extLst>
                <a:ext uri="{FF2B5EF4-FFF2-40B4-BE49-F238E27FC236}">
                  <a16:creationId xmlns:a16="http://schemas.microsoft.com/office/drawing/2014/main" id="{C1023CB6-B162-90D2-F90A-3B4138534ECF}"/>
                </a:ext>
              </a:extLst>
            </p:cNvPr>
            <p:cNvCxnSpPr>
              <a:endCxn id="9" idx="0"/>
            </p:cNvCxnSpPr>
            <p:nvPr/>
          </p:nvCxnSpPr>
          <p:spPr>
            <a:xfrm rot="5400000">
              <a:off x="3119722" y="3206687"/>
              <a:ext cx="2315594" cy="2698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67">
              <a:extLst>
                <a:ext uri="{FF2B5EF4-FFF2-40B4-BE49-F238E27FC236}">
                  <a16:creationId xmlns:a16="http://schemas.microsoft.com/office/drawing/2014/main" id="{CAE4CD0A-F45A-34B9-5707-63F88A93DF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33488" y="2834228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直接连接符 70">
              <a:extLst>
                <a:ext uri="{FF2B5EF4-FFF2-40B4-BE49-F238E27FC236}">
                  <a16:creationId xmlns:a16="http://schemas.microsoft.com/office/drawing/2014/main" id="{31B5F260-CE7F-97A3-645F-38C6147EFC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33488" y="3188173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9" name="组合 71">
              <a:extLst>
                <a:ext uri="{FF2B5EF4-FFF2-40B4-BE49-F238E27FC236}">
                  <a16:creationId xmlns:a16="http://schemas.microsoft.com/office/drawing/2014/main" id="{98340744-7C73-84ED-444F-2194A79C2A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225" y="2838426"/>
              <a:ext cx="396875" cy="349747"/>
              <a:chOff x="2917825" y="1916113"/>
              <a:chExt cx="396875" cy="396875"/>
            </a:xfrm>
          </p:grpSpPr>
          <p:sp>
            <p:nvSpPr>
              <p:cNvPr id="72" name="Line 52">
                <a:extLst>
                  <a:ext uri="{FF2B5EF4-FFF2-40B4-BE49-F238E27FC236}">
                    <a16:creationId xmlns:a16="http://schemas.microsoft.com/office/drawing/2014/main" id="{AEBD4882-9095-FD34-EA35-5EA3DF922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825" y="1916175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3" name="Line 53">
                <a:extLst>
                  <a:ext uri="{FF2B5EF4-FFF2-40B4-BE49-F238E27FC236}">
                    <a16:creationId xmlns:a16="http://schemas.microsoft.com/office/drawing/2014/main" id="{C946ED5A-F873-EB57-645E-E47CD6B3CF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825" y="1916175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30" name="直接连接符 76">
              <a:extLst>
                <a:ext uri="{FF2B5EF4-FFF2-40B4-BE49-F238E27FC236}">
                  <a16:creationId xmlns:a16="http://schemas.microsoft.com/office/drawing/2014/main" id="{CE4E31A2-D9C9-7F65-0774-C3A68AE9D8FA}"/>
                </a:ext>
              </a:extLst>
            </p:cNvPr>
            <p:cNvCxnSpPr/>
            <p:nvPr/>
          </p:nvCxnSpPr>
          <p:spPr>
            <a:xfrm rot="5400000">
              <a:off x="1124985" y="3391588"/>
              <a:ext cx="1961669" cy="1111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81">
              <a:extLst>
                <a:ext uri="{FF2B5EF4-FFF2-40B4-BE49-F238E27FC236}">
                  <a16:creationId xmlns:a16="http://schemas.microsoft.com/office/drawing/2014/main" id="{E1425F2B-F7EA-AFDC-B933-A1C208780C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35075" y="3612066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直接连接符 82">
              <a:extLst>
                <a:ext uri="{FF2B5EF4-FFF2-40B4-BE49-F238E27FC236}">
                  <a16:creationId xmlns:a16="http://schemas.microsoft.com/office/drawing/2014/main" id="{E702F927-33B4-7F84-7708-2798663510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35075" y="3966011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3" name="组合 90">
              <a:extLst>
                <a:ext uri="{FF2B5EF4-FFF2-40B4-BE49-F238E27FC236}">
                  <a16:creationId xmlns:a16="http://schemas.microsoft.com/office/drawing/2014/main" id="{AC4A9E3B-8D4E-C794-BBED-B2CD3C3E1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1613" y="3612066"/>
              <a:ext cx="396875" cy="349747"/>
              <a:chOff x="2917825" y="1916113"/>
              <a:chExt cx="396875" cy="396875"/>
            </a:xfrm>
          </p:grpSpPr>
          <p:sp>
            <p:nvSpPr>
              <p:cNvPr id="70" name="Line 52">
                <a:extLst>
                  <a:ext uri="{FF2B5EF4-FFF2-40B4-BE49-F238E27FC236}">
                    <a16:creationId xmlns:a16="http://schemas.microsoft.com/office/drawing/2014/main" id="{684911C7-40A6-62A0-B2C7-32545C31A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825" y="1915362"/>
                <a:ext cx="396875" cy="3980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1" name="Line 53">
                <a:extLst>
                  <a:ext uri="{FF2B5EF4-FFF2-40B4-BE49-F238E27FC236}">
                    <a16:creationId xmlns:a16="http://schemas.microsoft.com/office/drawing/2014/main" id="{A5533BBE-AFAE-D6D1-F1B9-BF1D43036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825" y="1915362"/>
                <a:ext cx="396875" cy="3980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34" name="直接连接符 93">
              <a:extLst>
                <a:ext uri="{FF2B5EF4-FFF2-40B4-BE49-F238E27FC236}">
                  <a16:creationId xmlns:a16="http://schemas.microsoft.com/office/drawing/2014/main" id="{D1C667FB-A4B9-8AAC-3BC1-93BDC77640CD}"/>
                </a:ext>
              </a:extLst>
            </p:cNvPr>
            <p:cNvCxnSpPr/>
            <p:nvPr/>
          </p:nvCxnSpPr>
          <p:spPr>
            <a:xfrm rot="5400000">
              <a:off x="5107868" y="3572520"/>
              <a:ext cx="707851" cy="476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94">
              <a:extLst>
                <a:ext uri="{FF2B5EF4-FFF2-40B4-BE49-F238E27FC236}">
                  <a16:creationId xmlns:a16="http://schemas.microsoft.com/office/drawing/2014/main" id="{37C4617B-4E27-B3D6-428D-D955FD23C7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41425" y="4382910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直接连接符 95">
              <a:extLst>
                <a:ext uri="{FF2B5EF4-FFF2-40B4-BE49-F238E27FC236}">
                  <a16:creationId xmlns:a16="http://schemas.microsoft.com/office/drawing/2014/main" id="{E82C88DC-E032-5434-AE2E-7DB318E920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41425" y="4736854"/>
              <a:ext cx="6089650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7" name="组合 96">
              <a:extLst>
                <a:ext uri="{FF2B5EF4-FFF2-40B4-BE49-F238E27FC236}">
                  <a16:creationId xmlns:a16="http://schemas.microsoft.com/office/drawing/2014/main" id="{5658FCF5-595F-A34C-471F-7ED25F9B9C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8663" y="4387106"/>
              <a:ext cx="396875" cy="349747"/>
              <a:chOff x="2917825" y="1916113"/>
              <a:chExt cx="396875" cy="396875"/>
            </a:xfrm>
          </p:grpSpPr>
          <p:sp>
            <p:nvSpPr>
              <p:cNvPr id="68" name="Line 52">
                <a:extLst>
                  <a:ext uri="{FF2B5EF4-FFF2-40B4-BE49-F238E27FC236}">
                    <a16:creationId xmlns:a16="http://schemas.microsoft.com/office/drawing/2014/main" id="{FE60D9A8-5E3E-4CCD-6F19-0E1DB18DB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825" y="1916561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69" name="Line 53">
                <a:extLst>
                  <a:ext uri="{FF2B5EF4-FFF2-40B4-BE49-F238E27FC236}">
                    <a16:creationId xmlns:a16="http://schemas.microsoft.com/office/drawing/2014/main" id="{C7C9EEC5-5A75-9FE3-3150-96D412D19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825" y="1916561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38" name="直接连接符 99">
              <a:extLst>
                <a:ext uri="{FF2B5EF4-FFF2-40B4-BE49-F238E27FC236}">
                  <a16:creationId xmlns:a16="http://schemas.microsoft.com/office/drawing/2014/main" id="{8E7E03A2-EC26-C8DD-7456-EEE71BA238A0}"/>
                </a:ext>
              </a:extLst>
            </p:cNvPr>
            <p:cNvCxnSpPr/>
            <p:nvPr/>
          </p:nvCxnSpPr>
          <p:spPr>
            <a:xfrm rot="5400000">
              <a:off x="3071114" y="4340680"/>
              <a:ext cx="771336" cy="1111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100">
              <a:extLst>
                <a:ext uri="{FF2B5EF4-FFF2-40B4-BE49-F238E27FC236}">
                  <a16:creationId xmlns:a16="http://schemas.microsoft.com/office/drawing/2014/main" id="{C66F0946-B29D-C752-15F8-1F3279E000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3000" y="4382910"/>
              <a:ext cx="396875" cy="349747"/>
              <a:chOff x="2917825" y="1916113"/>
              <a:chExt cx="396875" cy="396875"/>
            </a:xfrm>
          </p:grpSpPr>
          <p:sp>
            <p:nvSpPr>
              <p:cNvPr id="66" name="Line 52">
                <a:extLst>
                  <a:ext uri="{FF2B5EF4-FFF2-40B4-BE49-F238E27FC236}">
                    <a16:creationId xmlns:a16="http://schemas.microsoft.com/office/drawing/2014/main" id="{CC088C13-9968-038B-42CB-48F5162D8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825" y="1915920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67" name="Line 53">
                <a:extLst>
                  <a:ext uri="{FF2B5EF4-FFF2-40B4-BE49-F238E27FC236}">
                    <a16:creationId xmlns:a16="http://schemas.microsoft.com/office/drawing/2014/main" id="{DE3C5508-B8A4-07E7-10A1-2016648095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825" y="1915920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40" name="直接连接符 103">
              <a:extLst>
                <a:ext uri="{FF2B5EF4-FFF2-40B4-BE49-F238E27FC236}">
                  <a16:creationId xmlns:a16="http://schemas.microsoft.com/office/drawing/2014/main" id="{58A4E7F9-4B41-8EE7-ECBF-F38C5189D0A2}"/>
                </a:ext>
              </a:extLst>
            </p:cNvPr>
            <p:cNvCxnSpPr/>
            <p:nvPr/>
          </p:nvCxnSpPr>
          <p:spPr>
            <a:xfrm rot="16200000" flipH="1">
              <a:off x="4745132" y="4346237"/>
              <a:ext cx="77133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105">
              <a:extLst>
                <a:ext uri="{FF2B5EF4-FFF2-40B4-BE49-F238E27FC236}">
                  <a16:creationId xmlns:a16="http://schemas.microsoft.com/office/drawing/2014/main" id="{DB01C4A4-7DC5-9AB9-C2FC-A3FF56C08912}"/>
                </a:ext>
              </a:extLst>
            </p:cNvPr>
            <p:cNvCxnSpPr/>
            <p:nvPr/>
          </p:nvCxnSpPr>
          <p:spPr>
            <a:xfrm>
              <a:off x="2109788" y="3476499"/>
              <a:ext cx="803275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23">
              <a:extLst>
                <a:ext uri="{FF2B5EF4-FFF2-40B4-BE49-F238E27FC236}">
                  <a16:creationId xmlns:a16="http://schemas.microsoft.com/office/drawing/2014/main" id="{A1AADFDF-591A-8D9A-DAA4-D3DC3D43A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638" y="3553309"/>
              <a:ext cx="476250" cy="407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ns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43" name="TextBox 23">
              <a:extLst>
                <a:ext uri="{FF2B5EF4-FFF2-40B4-BE49-F238E27FC236}">
                  <a16:creationId xmlns:a16="http://schemas.microsoft.com/office/drawing/2014/main" id="{12D8AE1A-953A-2E3D-F233-E4E765914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325551"/>
              <a:ext cx="612775" cy="407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out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grpSp>
          <p:nvGrpSpPr>
            <p:cNvPr id="44" name="组合 119">
              <a:extLst>
                <a:ext uri="{FF2B5EF4-FFF2-40B4-BE49-F238E27FC236}">
                  <a16:creationId xmlns:a16="http://schemas.microsoft.com/office/drawing/2014/main" id="{59F47CA5-6730-2BC4-EBDA-F02365F96C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0975" y="3610668"/>
              <a:ext cx="396875" cy="349747"/>
              <a:chOff x="2917825" y="1916113"/>
              <a:chExt cx="396875" cy="396875"/>
            </a:xfrm>
          </p:grpSpPr>
          <p:sp>
            <p:nvSpPr>
              <p:cNvPr id="64" name="Line 52">
                <a:extLst>
                  <a:ext uri="{FF2B5EF4-FFF2-40B4-BE49-F238E27FC236}">
                    <a16:creationId xmlns:a16="http://schemas.microsoft.com/office/drawing/2014/main" id="{DE950181-283E-72A7-2378-9A131020C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825" y="1916949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65" name="Line 53">
                <a:extLst>
                  <a:ext uri="{FF2B5EF4-FFF2-40B4-BE49-F238E27FC236}">
                    <a16:creationId xmlns:a16="http://schemas.microsoft.com/office/drawing/2014/main" id="{9FC909DE-8FBB-9330-CF83-207B1C2BD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825" y="1916949"/>
                <a:ext cx="396875" cy="3962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45" name="直接连接符 122">
              <a:extLst>
                <a:ext uri="{FF2B5EF4-FFF2-40B4-BE49-F238E27FC236}">
                  <a16:creationId xmlns:a16="http://schemas.microsoft.com/office/drawing/2014/main" id="{03E8CAC7-6264-F8D1-F761-E521F86DF89A}"/>
                </a:ext>
              </a:extLst>
            </p:cNvPr>
            <p:cNvCxnSpPr/>
            <p:nvPr/>
          </p:nvCxnSpPr>
          <p:spPr>
            <a:xfrm rot="5400000">
              <a:off x="2523426" y="3569345"/>
              <a:ext cx="771336" cy="1111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127">
              <a:extLst>
                <a:ext uri="{FF2B5EF4-FFF2-40B4-BE49-F238E27FC236}">
                  <a16:creationId xmlns:a16="http://schemas.microsoft.com/office/drawing/2014/main" id="{F601F1B3-BC14-7BBF-1921-DF42D24315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71925" y="1848652"/>
              <a:ext cx="2195513" cy="1399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直接箭头连接符 143">
              <a:extLst>
                <a:ext uri="{FF2B5EF4-FFF2-40B4-BE49-F238E27FC236}">
                  <a16:creationId xmlns:a16="http://schemas.microsoft.com/office/drawing/2014/main" id="{5E4DA848-8CB1-899C-B330-D898FDBF18ED}"/>
                </a:ext>
              </a:extLst>
            </p:cNvPr>
            <p:cNvCxnSpPr/>
            <p:nvPr/>
          </p:nvCxnSpPr>
          <p:spPr>
            <a:xfrm>
              <a:off x="4291013" y="3478087"/>
              <a:ext cx="1168400" cy="158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147">
              <a:extLst>
                <a:ext uri="{FF2B5EF4-FFF2-40B4-BE49-F238E27FC236}">
                  <a16:creationId xmlns:a16="http://schemas.microsoft.com/office/drawing/2014/main" id="{C92E64CE-3C47-3480-ABFC-72A32B4075D1}"/>
                </a:ext>
              </a:extLst>
            </p:cNvPr>
            <p:cNvCxnSpPr/>
            <p:nvPr/>
          </p:nvCxnSpPr>
          <p:spPr>
            <a:xfrm>
              <a:off x="4291013" y="4263706"/>
              <a:ext cx="839787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组合 152">
              <a:extLst>
                <a:ext uri="{FF2B5EF4-FFF2-40B4-BE49-F238E27FC236}">
                  <a16:creationId xmlns:a16="http://schemas.microsoft.com/office/drawing/2014/main" id="{0BDC7F96-A74A-BBF3-BC74-C9A290E337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8725" y="2834228"/>
              <a:ext cx="396875" cy="349747"/>
              <a:chOff x="2917825" y="1916113"/>
              <a:chExt cx="396875" cy="396875"/>
            </a:xfrm>
          </p:grpSpPr>
          <p:sp>
            <p:nvSpPr>
              <p:cNvPr id="62" name="Line 52">
                <a:extLst>
                  <a:ext uri="{FF2B5EF4-FFF2-40B4-BE49-F238E27FC236}">
                    <a16:creationId xmlns:a16="http://schemas.microsoft.com/office/drawing/2014/main" id="{A95664FA-6CC7-6A38-560A-5AB85CB80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825" y="1915537"/>
                <a:ext cx="396875" cy="3980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63" name="Line 53">
                <a:extLst>
                  <a:ext uri="{FF2B5EF4-FFF2-40B4-BE49-F238E27FC236}">
                    <a16:creationId xmlns:a16="http://schemas.microsoft.com/office/drawing/2014/main" id="{B4DD825E-F702-798C-66F9-759B5C99D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825" y="1915537"/>
                <a:ext cx="396875" cy="39801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50" name="直接箭头连接符 169">
              <a:extLst>
                <a:ext uri="{FF2B5EF4-FFF2-40B4-BE49-F238E27FC236}">
                  <a16:creationId xmlns:a16="http://schemas.microsoft.com/office/drawing/2014/main" id="{698EE4EE-3CB5-CC10-D1B1-0B407DDC5388}"/>
                </a:ext>
              </a:extLst>
            </p:cNvPr>
            <p:cNvCxnSpPr/>
            <p:nvPr/>
          </p:nvCxnSpPr>
          <p:spPr>
            <a:xfrm>
              <a:off x="2136775" y="4281165"/>
              <a:ext cx="1314450" cy="158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23">
              <a:extLst>
                <a:ext uri="{FF2B5EF4-FFF2-40B4-BE49-F238E27FC236}">
                  <a16:creationId xmlns:a16="http://schemas.microsoft.com/office/drawing/2014/main" id="{3F5CDEDA-65C1-84C3-E0A6-B36075756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500" y="3638648"/>
              <a:ext cx="271463" cy="27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S1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2" name="TextBox 23">
              <a:extLst>
                <a:ext uri="{FF2B5EF4-FFF2-40B4-BE49-F238E27FC236}">
                  <a16:creationId xmlns:a16="http://schemas.microsoft.com/office/drawing/2014/main" id="{C8E9247E-F446-0D2E-A131-6C02F981C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4925" y="2866406"/>
              <a:ext cx="271463" cy="27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S1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CEC2CB9D-A498-052B-82E9-F5B4C23ED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1688" y="3638648"/>
              <a:ext cx="271462" cy="27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S2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4" name="TextBox 23">
              <a:extLst>
                <a:ext uri="{FF2B5EF4-FFF2-40B4-BE49-F238E27FC236}">
                  <a16:creationId xmlns:a16="http://schemas.microsoft.com/office/drawing/2014/main" id="{195FD339-D99A-EA4A-043C-953355B08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8025" y="3638648"/>
              <a:ext cx="271463" cy="27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S3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5" name="TextBox 23">
              <a:extLst>
                <a:ext uri="{FF2B5EF4-FFF2-40B4-BE49-F238E27FC236}">
                  <a16:creationId xmlns:a16="http://schemas.microsoft.com/office/drawing/2014/main" id="{7FB82728-3403-AF85-D8AB-5E1F81D49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6888" y="2866406"/>
              <a:ext cx="271462" cy="27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S3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6" name="TextBox 23">
              <a:extLst>
                <a:ext uri="{FF2B5EF4-FFF2-40B4-BE49-F238E27FC236}">
                  <a16:creationId xmlns:a16="http://schemas.microsoft.com/office/drawing/2014/main" id="{EB1049A5-6F50-E226-B01D-B025D5D2D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3563" y="2462097"/>
              <a:ext cx="230187" cy="243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rPr>
                <a:t>①</a:t>
              </a:r>
            </a:p>
          </p:txBody>
        </p:sp>
        <p:sp>
          <p:nvSpPr>
            <p:cNvPr id="57" name="TextBox 23">
              <a:extLst>
                <a:ext uri="{FF2B5EF4-FFF2-40B4-BE49-F238E27FC236}">
                  <a16:creationId xmlns:a16="http://schemas.microsoft.com/office/drawing/2014/main" id="{9646FA39-0BC8-34EA-5722-946466E60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363" y="3252527"/>
              <a:ext cx="230187" cy="243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rPr>
                <a:t>②</a:t>
              </a:r>
            </a:p>
          </p:txBody>
        </p:sp>
        <p:sp>
          <p:nvSpPr>
            <p:cNvPr id="58" name="TextBox 23">
              <a:extLst>
                <a:ext uri="{FF2B5EF4-FFF2-40B4-BE49-F238E27FC236}">
                  <a16:creationId xmlns:a16="http://schemas.microsoft.com/office/drawing/2014/main" id="{4568F883-7C5A-DADC-52E6-21648976C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438" y="4056945"/>
              <a:ext cx="230187" cy="243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rPr>
                <a:t>③</a:t>
              </a:r>
            </a:p>
          </p:txBody>
        </p:sp>
        <p:sp>
          <p:nvSpPr>
            <p:cNvPr id="59" name="TextBox 23">
              <a:extLst>
                <a:ext uri="{FF2B5EF4-FFF2-40B4-BE49-F238E27FC236}">
                  <a16:creationId xmlns:a16="http://schemas.microsoft.com/office/drawing/2014/main" id="{D06BE8C3-D7E0-9B8E-6F7C-6110F5A9E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050" y="3252527"/>
              <a:ext cx="230188" cy="243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rPr>
                <a:t>④</a:t>
              </a:r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4D5FDC01-7265-2162-66BB-2C025CD99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513" y="4038758"/>
              <a:ext cx="230187" cy="243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</a:rPr>
                <a:t>⑤</a:t>
              </a:r>
            </a:p>
          </p:txBody>
        </p:sp>
        <p:sp>
          <p:nvSpPr>
            <p:cNvPr id="61" name="TextBox 23">
              <a:extLst>
                <a:ext uri="{FF2B5EF4-FFF2-40B4-BE49-F238E27FC236}">
                  <a16:creationId xmlns:a16="http://schemas.microsoft.com/office/drawing/2014/main" id="{BBB9AEE6-B9B9-5A72-8C9C-C1CD75474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25" y="2866406"/>
              <a:ext cx="271463" cy="271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S0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03864D6D-73E9-589B-2397-15EAD45352C5}"/>
              </a:ext>
            </a:extLst>
          </p:cNvPr>
          <p:cNvGrpSpPr>
            <a:grpSpLocks/>
          </p:cNvGrpSpPr>
          <p:nvPr/>
        </p:nvGrpSpPr>
        <p:grpSpPr bwMode="auto">
          <a:xfrm>
            <a:off x="6403749" y="585759"/>
            <a:ext cx="2954337" cy="1684338"/>
            <a:chOff x="5565775" y="4440238"/>
            <a:chExt cx="2954338" cy="1684337"/>
          </a:xfrm>
        </p:grpSpPr>
        <p:grpSp>
          <p:nvGrpSpPr>
            <p:cNvPr id="77" name="组合 73">
              <a:extLst>
                <a:ext uri="{FF2B5EF4-FFF2-40B4-BE49-F238E27FC236}">
                  <a16:creationId xmlns:a16="http://schemas.microsoft.com/office/drawing/2014/main" id="{C50B2543-D40A-63E9-B9E1-931F6892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5775" y="4440238"/>
              <a:ext cx="2954338" cy="1684337"/>
              <a:chOff x="5217578" y="1962481"/>
              <a:chExt cx="2954426" cy="1684007"/>
            </a:xfrm>
          </p:grpSpPr>
          <p:sp>
            <p:nvSpPr>
              <p:cNvPr id="80" name="TextBox 34">
                <a:extLst>
                  <a:ext uri="{FF2B5EF4-FFF2-40B4-BE49-F238E27FC236}">
                    <a16:creationId xmlns:a16="http://schemas.microsoft.com/office/drawing/2014/main" id="{E0189834-45B4-D54E-A515-DE97362C4732}"/>
                  </a:ext>
                </a:extLst>
              </p:cNvPr>
              <p:cNvSpPr txBox="1"/>
              <p:nvPr/>
            </p:nvSpPr>
            <p:spPr bwMode="auto">
              <a:xfrm>
                <a:off x="7184549" y="2729093"/>
                <a:ext cx="466739" cy="68725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1" name="TextBox 35">
                <a:extLst>
                  <a:ext uri="{FF2B5EF4-FFF2-40B4-BE49-F238E27FC236}">
                    <a16:creationId xmlns:a16="http://schemas.microsoft.com/office/drawing/2014/main" id="{23B5D92B-6CCA-CD89-2B89-0DB02D2C2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TextBox 36">
                <a:extLst>
                  <a:ext uri="{FF2B5EF4-FFF2-40B4-BE49-F238E27FC236}">
                    <a16:creationId xmlns:a16="http://schemas.microsoft.com/office/drawing/2014/main" id="{12BB98E5-3447-5959-80EE-22CD89CD67F3}"/>
                  </a:ext>
                </a:extLst>
              </p:cNvPr>
              <p:cNvSpPr txBox="1"/>
              <p:nvPr/>
            </p:nvSpPr>
            <p:spPr bwMode="auto">
              <a:xfrm>
                <a:off x="5911336" y="2202147"/>
                <a:ext cx="520716" cy="1214198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CL</a:t>
                </a:r>
                <a:endParaRPr lang="en-US" altLang="zh-CN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83" name="直接箭头连接符 83">
                <a:extLst>
                  <a:ext uri="{FF2B5EF4-FFF2-40B4-BE49-F238E27FC236}">
                    <a16:creationId xmlns:a16="http://schemas.microsoft.com/office/drawing/2014/main" id="{857C8A99-78AF-160A-4FEE-68A15510E6A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368311" cy="15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直接箭头连接符 84">
                <a:extLst>
                  <a:ext uri="{FF2B5EF4-FFF2-40B4-BE49-F238E27FC236}">
                    <a16:creationId xmlns:a16="http://schemas.microsoft.com/office/drawing/2014/main" id="{9E4F28A2-5DF3-0A1B-8C0D-2A04BE68900D}"/>
                  </a:ext>
                </a:extLst>
              </p:cNvPr>
              <p:cNvCxnSpPr/>
              <p:nvPr/>
            </p:nvCxnSpPr>
            <p:spPr bwMode="auto">
              <a:xfrm>
                <a:off x="7651288" y="3102082"/>
                <a:ext cx="369899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85">
                <a:extLst>
                  <a:ext uri="{FF2B5EF4-FFF2-40B4-BE49-F238E27FC236}">
                    <a16:creationId xmlns:a16="http://schemas.microsoft.com/office/drawing/2014/main" id="{105A7D85-69B1-D1E3-D5EA-93D565D87AB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5950" y="3100495"/>
                <a:ext cx="0" cy="54599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6">
                <a:extLst>
                  <a:ext uri="{FF2B5EF4-FFF2-40B4-BE49-F238E27FC236}">
                    <a16:creationId xmlns:a16="http://schemas.microsoft.com/office/drawing/2014/main" id="{9AB30C67-81D6-165C-28EA-FF9A545D85F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25" y="3646488"/>
                <a:ext cx="247816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直接箭头连接符 87">
                <a:extLst>
                  <a:ext uri="{FF2B5EF4-FFF2-40B4-BE49-F238E27FC236}">
                    <a16:creationId xmlns:a16="http://schemas.microsoft.com/office/drawing/2014/main" id="{FDABB088-7CAA-0C63-B102-F7939D81DF8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0" cy="446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直接箭头连接符 88">
                <a:extLst>
                  <a:ext uri="{FF2B5EF4-FFF2-40B4-BE49-F238E27FC236}">
                    <a16:creationId xmlns:a16="http://schemas.microsoft.com/office/drawing/2014/main" id="{1817DEE8-2083-0A67-F2D3-EB3120AE764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2421179"/>
                <a:ext cx="159548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直接箭头连接符 89">
                <a:extLst>
                  <a:ext uri="{FF2B5EF4-FFF2-40B4-BE49-F238E27FC236}">
                    <a16:creationId xmlns:a16="http://schemas.microsoft.com/office/drawing/2014/main" id="{C4AA748E-1DA0-D8DD-8FFA-1B863DD7C7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3100495"/>
                <a:ext cx="75249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Box 58">
                <a:extLst>
                  <a:ext uri="{FF2B5EF4-FFF2-40B4-BE49-F238E27FC236}">
                    <a16:creationId xmlns:a16="http://schemas.microsoft.com/office/drawing/2014/main" id="{1964E13D-DE9D-637C-A565-43E05D0539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962481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TextBox 60">
                <a:extLst>
                  <a:ext uri="{FF2B5EF4-FFF2-40B4-BE49-F238E27FC236}">
                    <a16:creationId xmlns:a16="http://schemas.microsoft.com/office/drawing/2014/main" id="{4627BCE8-0A96-9838-B46C-1DD40C89FA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46523" y="1962671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TextBox 61">
                <a:extLst>
                  <a:ext uri="{FF2B5EF4-FFF2-40B4-BE49-F238E27FC236}">
                    <a16:creationId xmlns:a16="http://schemas.microsoft.com/office/drawing/2014/main" id="{D1EBBF63-4AE0-DEFB-52CF-340ED5C5B7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94947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TextBox 62">
                <a:extLst>
                  <a:ext uri="{FF2B5EF4-FFF2-40B4-BE49-F238E27FC236}">
                    <a16:creationId xmlns:a16="http://schemas.microsoft.com/office/drawing/2014/main" id="{4626109C-0868-1810-7B36-2B9FD2074D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4060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4" name="直接箭头连接符 100">
                <a:extLst>
                  <a:ext uri="{FF2B5EF4-FFF2-40B4-BE49-F238E27FC236}">
                    <a16:creationId xmlns:a16="http://schemas.microsoft.com/office/drawing/2014/main" id="{8BDBD139-2147-06A1-B863-20F47E4C1B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2" y="2413242"/>
                <a:ext cx="64772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8" name="矩形: 圆角 78">
              <a:extLst>
                <a:ext uri="{FF2B5EF4-FFF2-40B4-BE49-F238E27FC236}">
                  <a16:creationId xmlns:a16="http://schemas.microsoft.com/office/drawing/2014/main" id="{F3F2036D-EF48-369F-03F7-B46DFB3B9C23}"/>
                </a:ext>
              </a:extLst>
            </p:cNvPr>
            <p:cNvSpPr/>
            <p:nvPr/>
          </p:nvSpPr>
          <p:spPr bwMode="auto">
            <a:xfrm>
              <a:off x="6072187" y="4556126"/>
              <a:ext cx="874713" cy="1466849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9" name="矩形: 圆角 79">
              <a:extLst>
                <a:ext uri="{FF2B5EF4-FFF2-40B4-BE49-F238E27FC236}">
                  <a16:creationId xmlns:a16="http://schemas.microsoft.com/office/drawing/2014/main" id="{E2DABE1C-BD52-D656-B019-CE6C761EDC74}"/>
                </a:ext>
              </a:extLst>
            </p:cNvPr>
            <p:cNvSpPr/>
            <p:nvPr/>
          </p:nvSpPr>
          <p:spPr bwMode="auto">
            <a:xfrm>
              <a:off x="7358063" y="5103813"/>
              <a:ext cx="796925" cy="919162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7194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DA76D-0A12-4243-3BAF-E673E58B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cs typeface="Times New Roman" panose="02020603050405020304" pitchFamily="18" charset="0"/>
              </a:rPr>
              <a:t>两段式</a:t>
            </a:r>
            <a:r>
              <a:rPr lang="en-US" altLang="zh-CN" dirty="0">
                <a:cs typeface="Times New Roman" panose="02020603050405020304" pitchFamily="18" charset="0"/>
              </a:rPr>
              <a:t>FSM</a:t>
            </a:r>
            <a:r>
              <a:rPr lang="zh-CN" altLang="en-US" dirty="0">
                <a:cs typeface="Times New Roman" panose="02020603050405020304" pitchFamily="18" charset="0"/>
              </a:rPr>
              <a:t>的另</a:t>
            </a:r>
            <a:r>
              <a:rPr lang="zh-CN" altLang="en-US" strike="sngStrike" dirty="0">
                <a:solidFill>
                  <a:schemeClr val="bg2">
                    <a:lumMod val="90000"/>
                  </a:schemeClr>
                </a:solidFill>
                <a:cs typeface="Times New Roman" panose="02020603050405020304" pitchFamily="18" charset="0"/>
              </a:rPr>
              <a:t>两</a:t>
            </a:r>
            <a:r>
              <a:rPr lang="zh-CN" altLang="en-US" dirty="0">
                <a:cs typeface="Times New Roman" panose="02020603050405020304" pitchFamily="18" charset="0"/>
              </a:rPr>
              <a:t>一种写法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D0A60-57F7-6E08-3AB0-4B8E8EA4F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090920" cy="5947119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不推荐：一个组合加时序过程描述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CS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ns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不再在过程中传递，时序组合搅合在一起较混乱）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kumimoji="1" lang="en-US" altLang="zh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kumimoji="1" lang="zh-CN" altLang="en-US" sz="2400" dirty="0"/>
              <a:t>可以：保留一个时序过程描述</a:t>
            </a:r>
            <a:r>
              <a:rPr kumimoji="1" lang="en-US" altLang="zh-CN" sz="2400" dirty="0"/>
              <a:t>CS</a:t>
            </a:r>
            <a:r>
              <a:rPr kumimoji="1" lang="zh-CN" altLang="en-US" sz="2400" dirty="0"/>
              <a:t>，组合过程拆成若干个，分别用以表述</a:t>
            </a:r>
            <a:r>
              <a:rPr kumimoji="1" lang="en-US" altLang="zh-CN" sz="2400" dirty="0"/>
              <a:t>ns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out</a:t>
            </a:r>
            <a:r>
              <a:rPr kumimoji="1" lang="zh-CN" altLang="en-US" sz="2400" dirty="0"/>
              <a:t>（可有若干）</a:t>
            </a:r>
            <a:endParaRPr kumimoji="1" lang="en-US" altLang="zh-CN" sz="2400" dirty="0"/>
          </a:p>
          <a:p>
            <a:pPr lvl="1"/>
            <a:r>
              <a:rPr kumimoji="1" lang="zh-CN" altLang="en-US" sz="2000" dirty="0">
                <a:solidFill>
                  <a:schemeClr val="accent1"/>
                </a:solidFill>
              </a:rPr>
              <a:t>仍然保持时序一个，组合过程虽然很多，仍然可以看作一个，所以仍被称为两段式</a:t>
            </a:r>
            <a:r>
              <a:rPr kumimoji="1" lang="en-US" altLang="zh-CN" sz="2000" dirty="0">
                <a:solidFill>
                  <a:schemeClr val="accent1"/>
                </a:solidFill>
              </a:rPr>
              <a:t>FSM</a:t>
            </a:r>
            <a:endParaRPr kumimoji="1"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F361B2-E650-BD68-D8A5-2431777C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BDF2C0-5A56-9C71-45FA-DDB659C7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C657F3E-A67D-B303-B4B7-C885FF2D6DB6}"/>
              </a:ext>
            </a:extLst>
          </p:cNvPr>
          <p:cNvGrpSpPr/>
          <p:nvPr/>
        </p:nvGrpSpPr>
        <p:grpSpPr>
          <a:xfrm>
            <a:off x="1535339" y="1658463"/>
            <a:ext cx="2954338" cy="2065337"/>
            <a:chOff x="1535339" y="1658463"/>
            <a:chExt cx="2954338" cy="2065337"/>
          </a:xfrm>
        </p:grpSpPr>
        <p:grpSp>
          <p:nvGrpSpPr>
            <p:cNvPr id="6" name="组合 105">
              <a:extLst>
                <a:ext uri="{FF2B5EF4-FFF2-40B4-BE49-F238E27FC236}">
                  <a16:creationId xmlns:a16="http://schemas.microsoft.com/office/drawing/2014/main" id="{E4FE414B-F33C-4BA3-FB6F-948EC9A18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339" y="1658463"/>
              <a:ext cx="2954338" cy="2065337"/>
              <a:chOff x="5217578" y="1581868"/>
              <a:chExt cx="2954426" cy="2064620"/>
            </a:xfrm>
          </p:grpSpPr>
          <p:sp>
            <p:nvSpPr>
              <p:cNvPr id="7" name="TextBox 34">
                <a:extLst>
                  <a:ext uri="{FF2B5EF4-FFF2-40B4-BE49-F238E27FC236}">
                    <a16:creationId xmlns:a16="http://schemas.microsoft.com/office/drawing/2014/main" id="{02A55DDA-5346-D40A-FB8F-2C9EB4F6EAD4}"/>
                  </a:ext>
                </a:extLst>
              </p:cNvPr>
              <p:cNvSpPr txBox="1"/>
              <p:nvPr/>
            </p:nvSpPr>
            <p:spPr bwMode="auto">
              <a:xfrm>
                <a:off x="7184550" y="2729232"/>
                <a:ext cx="466739" cy="687149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" name="TextBox 35">
                <a:extLst>
                  <a:ext uri="{FF2B5EF4-FFF2-40B4-BE49-F238E27FC236}">
                    <a16:creationId xmlns:a16="http://schemas.microsoft.com/office/drawing/2014/main" id="{17D0C3B2-24B0-488F-5A41-A1AFCBA59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36">
                <a:extLst>
                  <a:ext uri="{FF2B5EF4-FFF2-40B4-BE49-F238E27FC236}">
                    <a16:creationId xmlns:a16="http://schemas.microsoft.com/office/drawing/2014/main" id="{C5875886-5E87-E26D-6C68-B112E7740D77}"/>
                  </a:ext>
                </a:extLst>
              </p:cNvPr>
              <p:cNvSpPr txBox="1"/>
              <p:nvPr/>
            </p:nvSpPr>
            <p:spPr bwMode="auto">
              <a:xfrm>
                <a:off x="5911337" y="2726058"/>
                <a:ext cx="520716" cy="69032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0" name="直接箭头连接符 109">
                <a:extLst>
                  <a:ext uri="{FF2B5EF4-FFF2-40B4-BE49-F238E27FC236}">
                    <a16:creationId xmlns:a16="http://schemas.microsoft.com/office/drawing/2014/main" id="{3A108D7B-9A14-1D1C-1DC2-3044C61785F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6" y="3200556"/>
                <a:ext cx="368311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10">
                <a:extLst>
                  <a:ext uri="{FF2B5EF4-FFF2-40B4-BE49-F238E27FC236}">
                    <a16:creationId xmlns:a16="http://schemas.microsoft.com/office/drawing/2014/main" id="{6D79D515-8A1C-CCF8-3874-8D2084E1C7BB}"/>
                  </a:ext>
                </a:extLst>
              </p:cNvPr>
              <p:cNvCxnSpPr/>
              <p:nvPr/>
            </p:nvCxnSpPr>
            <p:spPr bwMode="auto">
              <a:xfrm>
                <a:off x="7651288" y="3102165"/>
                <a:ext cx="369898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1">
                <a:extLst>
                  <a:ext uri="{FF2B5EF4-FFF2-40B4-BE49-F238E27FC236}">
                    <a16:creationId xmlns:a16="http://schemas.microsoft.com/office/drawing/2014/main" id="{2E4B0F68-9475-5803-0B02-57FA67834D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5950" y="3100578"/>
                <a:ext cx="0" cy="5459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12">
                <a:extLst>
                  <a:ext uri="{FF2B5EF4-FFF2-40B4-BE49-F238E27FC236}">
                    <a16:creationId xmlns:a16="http://schemas.microsoft.com/office/drawing/2014/main" id="{61EFAD8C-6DC7-711F-8A0D-707BD82FF21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26" y="3646488"/>
                <a:ext cx="247816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13">
                <a:extLst>
                  <a:ext uri="{FF2B5EF4-FFF2-40B4-BE49-F238E27FC236}">
                    <a16:creationId xmlns:a16="http://schemas.microsoft.com/office/drawing/2014/main" id="{8AB834D5-D8ED-48E8-EB68-9CF5AE63FB7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6" y="2311864"/>
                <a:ext cx="0" cy="13346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14">
                <a:extLst>
                  <a:ext uri="{FF2B5EF4-FFF2-40B4-BE49-F238E27FC236}">
                    <a16:creationId xmlns:a16="http://schemas.microsoft.com/office/drawing/2014/main" id="{E46B72E9-1390-BDD3-7DE7-FA07F0DE260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2148408"/>
                <a:ext cx="159548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15">
                <a:extLst>
                  <a:ext uri="{FF2B5EF4-FFF2-40B4-BE49-F238E27FC236}">
                    <a16:creationId xmlns:a16="http://schemas.microsoft.com/office/drawing/2014/main" id="{5B92AB7F-1795-A28E-5B6D-854BF7A8241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3100578"/>
                <a:ext cx="75249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58">
                <a:extLst>
                  <a:ext uri="{FF2B5EF4-FFF2-40B4-BE49-F238E27FC236}">
                    <a16:creationId xmlns:a16="http://schemas.microsoft.com/office/drawing/2014/main" id="{B39659CD-7575-269F-A198-19B636321D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581868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TextBox 60">
                <a:extLst>
                  <a:ext uri="{FF2B5EF4-FFF2-40B4-BE49-F238E27FC236}">
                    <a16:creationId xmlns:a16="http://schemas.microsoft.com/office/drawing/2014/main" id="{709C3262-CC7D-D744-1387-F5B4DF2E9E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77727" y="1689880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TextBox 61">
                <a:extLst>
                  <a:ext uri="{FF2B5EF4-FFF2-40B4-BE49-F238E27FC236}">
                    <a16:creationId xmlns:a16="http://schemas.microsoft.com/office/drawing/2014/main" id="{70B3F187-24FD-35EA-177E-BC460AEEAC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94947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" name="直接箭头连接符 120">
                <a:extLst>
                  <a:ext uri="{FF2B5EF4-FFF2-40B4-BE49-F238E27FC236}">
                    <a16:creationId xmlns:a16="http://schemas.microsoft.com/office/drawing/2014/main" id="{7A7252BB-DF7F-E508-9FB1-135172E903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3" y="2050017"/>
                <a:ext cx="64771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36">
                <a:extLst>
                  <a:ext uri="{FF2B5EF4-FFF2-40B4-BE49-F238E27FC236}">
                    <a16:creationId xmlns:a16="http://schemas.microsoft.com/office/drawing/2014/main" id="{56162A6E-2757-175D-FC6B-19584786E829}"/>
                  </a:ext>
                </a:extLst>
              </p:cNvPr>
              <p:cNvSpPr txBox="1"/>
              <p:nvPr/>
            </p:nvSpPr>
            <p:spPr bwMode="auto">
              <a:xfrm>
                <a:off x="5922449" y="1813563"/>
                <a:ext cx="520716" cy="69032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2" name="直接箭头连接符 127">
                <a:extLst>
                  <a:ext uri="{FF2B5EF4-FFF2-40B4-BE49-F238E27FC236}">
                    <a16:creationId xmlns:a16="http://schemas.microsoft.com/office/drawing/2014/main" id="{31E0A3A3-8487-D3FF-4E56-15625FEF62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0963" y="2311864"/>
                <a:ext cx="368311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129">
                <a:extLst>
                  <a:ext uri="{FF2B5EF4-FFF2-40B4-BE49-F238E27FC236}">
                    <a16:creationId xmlns:a16="http://schemas.microsoft.com/office/drawing/2014/main" id="{70BF0995-CD65-8250-BB4F-453EDF6C565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0" y="2930775"/>
                <a:ext cx="46832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131">
                <a:extLst>
                  <a:ext uri="{FF2B5EF4-FFF2-40B4-BE49-F238E27FC236}">
                    <a16:creationId xmlns:a16="http://schemas.microsoft.com/office/drawing/2014/main" id="{C8787C1C-2E49-CC8E-E487-228912B3A9B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0" y="2050017"/>
                <a:ext cx="0" cy="88075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TextBox 61">
                <a:extLst>
                  <a:ext uri="{FF2B5EF4-FFF2-40B4-BE49-F238E27FC236}">
                    <a16:creationId xmlns:a16="http://schemas.microsoft.com/office/drawing/2014/main" id="{6AB650BB-F355-79F7-474A-D1B2C076A9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44768" y="2642116"/>
                <a:ext cx="458794" cy="4615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 dirty="0">
                    <a:cs typeface="Times New Roman" panose="02020603050405020304" pitchFamily="18" charset="0"/>
                  </a:rPr>
                  <a:t>ns</a:t>
                </a:r>
                <a:endParaRPr lang="zh-CN" altLang="en-US" sz="2400" b="0" dirty="0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矩形: 圆角 121">
              <a:extLst>
                <a:ext uri="{FF2B5EF4-FFF2-40B4-BE49-F238E27FC236}">
                  <a16:creationId xmlns:a16="http://schemas.microsoft.com/office/drawing/2014/main" id="{4F227624-0327-5006-95BA-9302E0A431EE}"/>
                </a:ext>
              </a:extLst>
            </p:cNvPr>
            <p:cNvSpPr/>
            <p:nvPr/>
          </p:nvSpPr>
          <p:spPr bwMode="auto">
            <a:xfrm>
              <a:off x="2041752" y="1742600"/>
              <a:ext cx="901700" cy="906463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矩形: 圆角 122">
              <a:extLst>
                <a:ext uri="{FF2B5EF4-FFF2-40B4-BE49-F238E27FC236}">
                  <a16:creationId xmlns:a16="http://schemas.microsoft.com/office/drawing/2014/main" id="{5F8FD523-3F8F-D56C-0E55-21320E1DB5B1}"/>
                </a:ext>
              </a:extLst>
            </p:cNvPr>
            <p:cNvSpPr/>
            <p:nvPr/>
          </p:nvSpPr>
          <p:spPr bwMode="auto">
            <a:xfrm>
              <a:off x="2025877" y="2730025"/>
              <a:ext cx="2098675" cy="892175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8" name="矩形 196">
              <a:extLst>
                <a:ext uri="{FF2B5EF4-FFF2-40B4-BE49-F238E27FC236}">
                  <a16:creationId xmlns:a16="http://schemas.microsoft.com/office/drawing/2014/main" id="{CBC67C9C-975A-E776-EF39-0E3A28882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014" y="2266475"/>
              <a:ext cx="9540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lvl="1" algn="ctr">
                <a:spcAft>
                  <a:spcPts val="600"/>
                </a:spcAft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不推荐！</a:t>
              </a:r>
              <a:endPara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组合 75">
            <a:extLst>
              <a:ext uri="{FF2B5EF4-FFF2-40B4-BE49-F238E27FC236}">
                <a16:creationId xmlns:a16="http://schemas.microsoft.com/office/drawing/2014/main" id="{0E7B0FE5-271C-EE1D-DC10-0388F23AA4D4}"/>
              </a:ext>
            </a:extLst>
          </p:cNvPr>
          <p:cNvGrpSpPr>
            <a:grpSpLocks/>
          </p:cNvGrpSpPr>
          <p:nvPr/>
        </p:nvGrpSpPr>
        <p:grpSpPr bwMode="auto">
          <a:xfrm>
            <a:off x="6403749" y="585759"/>
            <a:ext cx="2954337" cy="1684338"/>
            <a:chOff x="5565775" y="4440238"/>
            <a:chExt cx="2954338" cy="1684337"/>
          </a:xfrm>
        </p:grpSpPr>
        <p:grpSp>
          <p:nvGrpSpPr>
            <p:cNvPr id="30" name="组合 73">
              <a:extLst>
                <a:ext uri="{FF2B5EF4-FFF2-40B4-BE49-F238E27FC236}">
                  <a16:creationId xmlns:a16="http://schemas.microsoft.com/office/drawing/2014/main" id="{225315FD-57AC-132D-776A-E38C217DD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5775" y="4440238"/>
              <a:ext cx="2954338" cy="1684337"/>
              <a:chOff x="5217578" y="1962481"/>
              <a:chExt cx="2954426" cy="1684007"/>
            </a:xfrm>
          </p:grpSpPr>
          <p:sp>
            <p:nvSpPr>
              <p:cNvPr id="33" name="TextBox 34">
                <a:extLst>
                  <a:ext uri="{FF2B5EF4-FFF2-40B4-BE49-F238E27FC236}">
                    <a16:creationId xmlns:a16="http://schemas.microsoft.com/office/drawing/2014/main" id="{54429D4B-6B07-4034-40EA-69AE4133B36B}"/>
                  </a:ext>
                </a:extLst>
              </p:cNvPr>
              <p:cNvSpPr txBox="1"/>
              <p:nvPr/>
            </p:nvSpPr>
            <p:spPr bwMode="auto">
              <a:xfrm>
                <a:off x="7184549" y="2729093"/>
                <a:ext cx="466739" cy="68725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TextBox 35">
                <a:extLst>
                  <a:ext uri="{FF2B5EF4-FFF2-40B4-BE49-F238E27FC236}">
                    <a16:creationId xmlns:a16="http://schemas.microsoft.com/office/drawing/2014/main" id="{59697E3F-B0A9-7CFA-7EC2-27500EB6B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Box 36">
                <a:extLst>
                  <a:ext uri="{FF2B5EF4-FFF2-40B4-BE49-F238E27FC236}">
                    <a16:creationId xmlns:a16="http://schemas.microsoft.com/office/drawing/2014/main" id="{E09FAFBB-7853-BA29-6A35-54887250FCF3}"/>
                  </a:ext>
                </a:extLst>
              </p:cNvPr>
              <p:cNvSpPr txBox="1"/>
              <p:nvPr/>
            </p:nvSpPr>
            <p:spPr bwMode="auto">
              <a:xfrm>
                <a:off x="5911336" y="2202147"/>
                <a:ext cx="520716" cy="1214198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CL</a:t>
                </a:r>
                <a:endParaRPr lang="en-US" altLang="zh-CN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6" name="直接箭头连接符 83">
                <a:extLst>
                  <a:ext uri="{FF2B5EF4-FFF2-40B4-BE49-F238E27FC236}">
                    <a16:creationId xmlns:a16="http://schemas.microsoft.com/office/drawing/2014/main" id="{BC4B4149-BF11-C8AC-900C-F217BA5BC35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368311" cy="15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84">
                <a:extLst>
                  <a:ext uri="{FF2B5EF4-FFF2-40B4-BE49-F238E27FC236}">
                    <a16:creationId xmlns:a16="http://schemas.microsoft.com/office/drawing/2014/main" id="{46095A2D-D07C-19C0-FC88-1EF2040EE410}"/>
                  </a:ext>
                </a:extLst>
              </p:cNvPr>
              <p:cNvCxnSpPr/>
              <p:nvPr/>
            </p:nvCxnSpPr>
            <p:spPr bwMode="auto">
              <a:xfrm>
                <a:off x="7651288" y="3102082"/>
                <a:ext cx="369899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85">
                <a:extLst>
                  <a:ext uri="{FF2B5EF4-FFF2-40B4-BE49-F238E27FC236}">
                    <a16:creationId xmlns:a16="http://schemas.microsoft.com/office/drawing/2014/main" id="{EC99E6E3-3836-5F7E-1EF5-8FAFC60062F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5950" y="3100495"/>
                <a:ext cx="0" cy="54599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86">
                <a:extLst>
                  <a:ext uri="{FF2B5EF4-FFF2-40B4-BE49-F238E27FC236}">
                    <a16:creationId xmlns:a16="http://schemas.microsoft.com/office/drawing/2014/main" id="{FBF889EF-F211-FB9C-044F-F1EEF49C448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25" y="3646488"/>
                <a:ext cx="247816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87">
                <a:extLst>
                  <a:ext uri="{FF2B5EF4-FFF2-40B4-BE49-F238E27FC236}">
                    <a16:creationId xmlns:a16="http://schemas.microsoft.com/office/drawing/2014/main" id="{3E807B69-36B1-B01F-C7D6-A469D1628E4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25" y="3200488"/>
                <a:ext cx="0" cy="446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88">
                <a:extLst>
                  <a:ext uri="{FF2B5EF4-FFF2-40B4-BE49-F238E27FC236}">
                    <a16:creationId xmlns:a16="http://schemas.microsoft.com/office/drawing/2014/main" id="{E29B0C6B-B7D1-974E-F15E-852C8DE4A4A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2421179"/>
                <a:ext cx="159548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89">
                <a:extLst>
                  <a:ext uri="{FF2B5EF4-FFF2-40B4-BE49-F238E27FC236}">
                    <a16:creationId xmlns:a16="http://schemas.microsoft.com/office/drawing/2014/main" id="{DBE1784E-BECB-9EB1-4D82-D16AE24AAD4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52" y="3100495"/>
                <a:ext cx="75249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58">
                <a:extLst>
                  <a:ext uri="{FF2B5EF4-FFF2-40B4-BE49-F238E27FC236}">
                    <a16:creationId xmlns:a16="http://schemas.microsoft.com/office/drawing/2014/main" id="{7D6961E3-C1C7-2954-714A-A98BA55F8B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962481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TextBox 60">
                <a:extLst>
                  <a:ext uri="{FF2B5EF4-FFF2-40B4-BE49-F238E27FC236}">
                    <a16:creationId xmlns:a16="http://schemas.microsoft.com/office/drawing/2014/main" id="{AE888F8B-5E80-F1C2-FA1F-B0C8D5FE0D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46523" y="1962671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TextBox 61">
                <a:extLst>
                  <a:ext uri="{FF2B5EF4-FFF2-40B4-BE49-F238E27FC236}">
                    <a16:creationId xmlns:a16="http://schemas.microsoft.com/office/drawing/2014/main" id="{B551306E-6D23-6179-1C9C-75F2A59007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94947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TextBox 62">
                <a:extLst>
                  <a:ext uri="{FF2B5EF4-FFF2-40B4-BE49-F238E27FC236}">
                    <a16:creationId xmlns:a16="http://schemas.microsoft.com/office/drawing/2014/main" id="{FA655372-EA09-CFE6-9A7E-FA5EA4E034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4060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直接箭头连接符 100">
                <a:extLst>
                  <a:ext uri="{FF2B5EF4-FFF2-40B4-BE49-F238E27FC236}">
                    <a16:creationId xmlns:a16="http://schemas.microsoft.com/office/drawing/2014/main" id="{8E224C45-135E-00FD-BE94-31D8662F905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2" y="2413242"/>
                <a:ext cx="64772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矩形: 圆角 78">
              <a:extLst>
                <a:ext uri="{FF2B5EF4-FFF2-40B4-BE49-F238E27FC236}">
                  <a16:creationId xmlns:a16="http://schemas.microsoft.com/office/drawing/2014/main" id="{34AAAB5B-1587-37D0-C606-2F9DC7C63183}"/>
                </a:ext>
              </a:extLst>
            </p:cNvPr>
            <p:cNvSpPr/>
            <p:nvPr/>
          </p:nvSpPr>
          <p:spPr bwMode="auto">
            <a:xfrm>
              <a:off x="6072187" y="4556126"/>
              <a:ext cx="874713" cy="1466849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2" name="矩形: 圆角 79">
              <a:extLst>
                <a:ext uri="{FF2B5EF4-FFF2-40B4-BE49-F238E27FC236}">
                  <a16:creationId xmlns:a16="http://schemas.microsoft.com/office/drawing/2014/main" id="{5402010C-37B4-B872-F91A-B65370658ED4}"/>
                </a:ext>
              </a:extLst>
            </p:cNvPr>
            <p:cNvSpPr/>
            <p:nvPr/>
          </p:nvSpPr>
          <p:spPr bwMode="auto">
            <a:xfrm>
              <a:off x="7358063" y="5103813"/>
              <a:ext cx="796925" cy="919162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2DF2A16-E77B-51E7-8636-21E8FE75498D}"/>
              </a:ext>
            </a:extLst>
          </p:cNvPr>
          <p:cNvGrpSpPr/>
          <p:nvPr/>
        </p:nvGrpSpPr>
        <p:grpSpPr>
          <a:xfrm>
            <a:off x="6319597" y="2840236"/>
            <a:ext cx="2906713" cy="3227982"/>
            <a:chOff x="6319597" y="2840236"/>
            <a:chExt cx="2906713" cy="3227982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651B372B-D458-EA73-5EF8-267A4303F7ED}"/>
                </a:ext>
              </a:extLst>
            </p:cNvPr>
            <p:cNvGrpSpPr/>
            <p:nvPr/>
          </p:nvGrpSpPr>
          <p:grpSpPr>
            <a:xfrm>
              <a:off x="6319597" y="4002881"/>
              <a:ext cx="2906713" cy="2065337"/>
              <a:chOff x="6319597" y="4002881"/>
              <a:chExt cx="2906713" cy="2065337"/>
            </a:xfrm>
          </p:grpSpPr>
          <p:grpSp>
            <p:nvGrpSpPr>
              <p:cNvPr id="48" name="组合 168">
                <a:extLst>
                  <a:ext uri="{FF2B5EF4-FFF2-40B4-BE49-F238E27FC236}">
                    <a16:creationId xmlns:a16="http://schemas.microsoft.com/office/drawing/2014/main" id="{6958CB53-4520-1869-3B26-300B7B729D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19597" y="4002881"/>
                <a:ext cx="2906713" cy="2065337"/>
                <a:chOff x="5534574" y="4086288"/>
                <a:chExt cx="2906871" cy="2064620"/>
              </a:xfrm>
            </p:grpSpPr>
            <p:grpSp>
              <p:nvGrpSpPr>
                <p:cNvPr id="49" name="组合 169">
                  <a:extLst>
                    <a:ext uri="{FF2B5EF4-FFF2-40B4-BE49-F238E27FC236}">
                      <a16:creationId xmlns:a16="http://schemas.microsoft.com/office/drawing/2014/main" id="{5BE3119D-E611-FEF0-9C2B-99EFBF42FD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34574" y="4086288"/>
                  <a:ext cx="2906871" cy="2064620"/>
                  <a:chOff x="5217578" y="1581868"/>
                  <a:chExt cx="2906871" cy="2064620"/>
                </a:xfrm>
              </p:grpSpPr>
              <p:sp>
                <p:nvSpPr>
                  <p:cNvPr id="53" name="TextBox 34">
                    <a:extLst>
                      <a:ext uri="{FF2B5EF4-FFF2-40B4-BE49-F238E27FC236}">
                        <a16:creationId xmlns:a16="http://schemas.microsoft.com/office/drawing/2014/main" id="{CBE30ACE-E036-9E4F-C972-45FCE6258A5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184598" y="2729232"/>
                    <a:ext cx="466750" cy="687149"/>
                  </a:xfrm>
                  <a:prstGeom prst="rect">
                    <a:avLst/>
                  </a:prstGeom>
                  <a:ln w="2857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anchor="ctr" anchorCtr="1"/>
                  <a:lstStyle/>
                  <a:p>
                    <a:pPr eaLnBrk="1" hangingPunct="1">
                      <a:defRPr/>
                    </a:pPr>
                    <a:r>
                      <a:rPr lang="en-US" altLang="zh-CN" sz="2000" dirty="0">
                        <a:latin typeface="Times New Roman" pitchFamily="18" charset="0"/>
                        <a:cs typeface="Times New Roman" pitchFamily="18" charset="0"/>
                      </a:rPr>
                      <a:t>SR</a:t>
                    </a:r>
                    <a:endParaRPr lang="zh-CN" altLang="en-US" sz="2000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4" name="TextBox 35">
                    <a:extLst>
                      <a:ext uri="{FF2B5EF4-FFF2-40B4-BE49-F238E27FC236}">
                        <a16:creationId xmlns:a16="http://schemas.microsoft.com/office/drawing/2014/main" id="{BADFDED6-148C-E518-1ADF-3395928EC81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47926" y="3236812"/>
                    <a:ext cx="420460" cy="19167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eaVert"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altLang="zh-CN" sz="2000" b="0">
                        <a:cs typeface="Times New Roman" panose="02020603050405020304" pitchFamily="18" charset="0"/>
                      </a:rPr>
                      <a:t>&lt;</a:t>
                    </a:r>
                    <a:endParaRPr lang="zh-CN" altLang="en-US" sz="2000" b="0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5" name="TextBox 36">
                    <a:extLst>
                      <a:ext uri="{FF2B5EF4-FFF2-40B4-BE49-F238E27FC236}">
                        <a16:creationId xmlns:a16="http://schemas.microsoft.com/office/drawing/2014/main" id="{BFC447D6-0DC2-0C08-3365-AFF69A34AF8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911354" y="2726058"/>
                    <a:ext cx="520728" cy="690323"/>
                  </a:xfrm>
                  <a:prstGeom prst="rect">
                    <a:avLst/>
                  </a:prstGeom>
                  <a:ln w="2857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anchor="ctr" anchorCtr="1"/>
                  <a:lstStyle/>
                  <a:p>
                    <a:pPr algn="ctr" eaLnBrk="1" hangingPunct="1">
                      <a:defRPr/>
                    </a:pPr>
                    <a:r>
                      <a:rPr lang="en-US" altLang="zh-CN" dirty="0" err="1">
                        <a:latin typeface="Times New Roman" pitchFamily="18" charset="0"/>
                        <a:cs typeface="Times New Roman" pitchFamily="18" charset="0"/>
                      </a:rPr>
                      <a:t>CL</a:t>
                    </a:r>
                    <a:r>
                      <a:rPr lang="en-US" altLang="zh-CN" sz="2000" dirty="0" err="1">
                        <a:latin typeface="Times New Roman" pitchFamily="18" charset="0"/>
                        <a:cs typeface="Times New Roman" pitchFamily="18" charset="0"/>
                      </a:rPr>
                      <a:t>n</a:t>
                    </a:r>
                    <a:endParaRPr lang="en-US" altLang="zh-CN" sz="2000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56" name="直接箭头连接符 176">
                    <a:extLst>
                      <a:ext uri="{FF2B5EF4-FFF2-40B4-BE49-F238E27FC236}">
                        <a16:creationId xmlns:a16="http://schemas.microsoft.com/office/drawing/2014/main" id="{2AE0266C-1DB2-5D6B-73D2-389A1A094C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555734" y="3200556"/>
                    <a:ext cx="368320" cy="158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oval"/>
                    <a:tailEnd type="triangl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箭头连接符 177">
                    <a:extLst>
                      <a:ext uri="{FF2B5EF4-FFF2-40B4-BE49-F238E27FC236}">
                        <a16:creationId xmlns:a16="http://schemas.microsoft.com/office/drawing/2014/main" id="{63B9194C-AC48-AB6D-F68A-B9E9AC42FDF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7651348" y="3102165"/>
                    <a:ext cx="369907" cy="3174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non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箭头连接符 178">
                    <a:extLst>
                      <a:ext uri="{FF2B5EF4-FFF2-40B4-BE49-F238E27FC236}">
                        <a16:creationId xmlns:a16="http://schemas.microsoft.com/office/drawing/2014/main" id="{CD6A04EF-3C67-6352-6EB5-44ED060D7D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8026019" y="3100578"/>
                    <a:ext cx="0" cy="54591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non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接箭头连接符 179">
                    <a:extLst>
                      <a:ext uri="{FF2B5EF4-FFF2-40B4-BE49-F238E27FC236}">
                        <a16:creationId xmlns:a16="http://schemas.microsoft.com/office/drawing/2014/main" id="{700A5BF2-FB35-E079-1D16-0F5511162A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543034" y="3646488"/>
                    <a:ext cx="2478222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non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接箭头连接符 180">
                    <a:extLst>
                      <a:ext uri="{FF2B5EF4-FFF2-40B4-BE49-F238E27FC236}">
                        <a16:creationId xmlns:a16="http://schemas.microsoft.com/office/drawing/2014/main" id="{7F3FCE8C-3E23-AA73-E037-1ECD5548A9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555734" y="2311864"/>
                    <a:ext cx="0" cy="1334624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non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箭头连接符 181">
                    <a:extLst>
                      <a:ext uri="{FF2B5EF4-FFF2-40B4-BE49-F238E27FC236}">
                        <a16:creationId xmlns:a16="http://schemas.microsoft.com/office/drawing/2014/main" id="{972CD46C-FC07-6AD4-38FC-F9BDA90D60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432082" y="2148408"/>
                    <a:ext cx="1595524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箭头连接符 182">
                    <a:extLst>
                      <a:ext uri="{FF2B5EF4-FFF2-40B4-BE49-F238E27FC236}">
                        <a16:creationId xmlns:a16="http://schemas.microsoft.com/office/drawing/2014/main" id="{10CA7F1F-78BB-6AD7-B623-09AA0E8D34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6432082" y="3100578"/>
                    <a:ext cx="752516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3" name="TextBox 58">
                    <a:extLst>
                      <a:ext uri="{FF2B5EF4-FFF2-40B4-BE49-F238E27FC236}">
                        <a16:creationId xmlns:a16="http://schemas.microsoft.com/office/drawing/2014/main" id="{16BE1CB6-C64E-427E-41D9-E4E8815FB1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17578" y="1581868"/>
                    <a:ext cx="362138" cy="3743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altLang="zh-CN" sz="2400" b="0">
                        <a:cs typeface="Times New Roman" panose="02020603050405020304" pitchFamily="18" charset="0"/>
                      </a:rPr>
                      <a:t>in</a:t>
                    </a:r>
                    <a:endParaRPr lang="zh-CN" altLang="en-US" sz="2400" b="0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" name="TextBox 60">
                    <a:extLst>
                      <a:ext uri="{FF2B5EF4-FFF2-40B4-BE49-F238E27FC236}">
                        <a16:creationId xmlns:a16="http://schemas.microsoft.com/office/drawing/2014/main" id="{5A2C896A-EB81-FC28-3E46-41ED80D3B2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577727" y="1689880"/>
                    <a:ext cx="493701" cy="3743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altLang="zh-CN" sz="2400" b="0">
                        <a:cs typeface="Times New Roman" panose="02020603050405020304" pitchFamily="18" charset="0"/>
                      </a:rPr>
                      <a:t>out</a:t>
                    </a:r>
                    <a:endParaRPr lang="zh-CN" altLang="en-US" sz="2400" b="0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" name="TextBox 61">
                    <a:extLst>
                      <a:ext uri="{FF2B5EF4-FFF2-40B4-BE49-F238E27FC236}">
                        <a16:creationId xmlns:a16="http://schemas.microsoft.com/office/drawing/2014/main" id="{8F71F44B-C28A-7E74-467A-98DFAFD2413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747392" y="2660620"/>
                    <a:ext cx="377057" cy="3743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altLang="zh-CN" sz="2400" b="0">
                        <a:cs typeface="Times New Roman" panose="02020603050405020304" pitchFamily="18" charset="0"/>
                      </a:rPr>
                      <a:t>cs</a:t>
                    </a:r>
                    <a:endParaRPr lang="zh-CN" altLang="en-US" sz="2400" b="0"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" name="TextBox 62">
                    <a:extLst>
                      <a:ext uri="{FF2B5EF4-FFF2-40B4-BE49-F238E27FC236}">
                        <a16:creationId xmlns:a16="http://schemas.microsoft.com/office/drawing/2014/main" id="{E51C0680-B845-6AA7-DF9B-77B9615F7FA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91895" y="2660620"/>
                    <a:ext cx="391977" cy="3743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altLang="zh-CN" sz="2400" b="0">
                        <a:cs typeface="Times New Roman" panose="02020603050405020304" pitchFamily="18" charset="0"/>
                      </a:rPr>
                      <a:t>ns</a:t>
                    </a:r>
                    <a:endParaRPr lang="zh-CN" altLang="en-US" sz="2400" b="0"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7" name="直接箭头连接符 187">
                    <a:extLst>
                      <a:ext uri="{FF2B5EF4-FFF2-40B4-BE49-F238E27FC236}">
                        <a16:creationId xmlns:a16="http://schemas.microsoft.com/office/drawing/2014/main" id="{DDA35D22-6346-FDE9-D636-52CEB438A3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292195" y="2050017"/>
                    <a:ext cx="647735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8" name="TextBox 36">
                    <a:extLst>
                      <a:ext uri="{FF2B5EF4-FFF2-40B4-BE49-F238E27FC236}">
                        <a16:creationId xmlns:a16="http://schemas.microsoft.com/office/drawing/2014/main" id="{AFC49BC9-F27B-4B6F-F175-6009019F215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5922466" y="1813563"/>
                    <a:ext cx="520728" cy="690322"/>
                  </a:xfrm>
                  <a:prstGeom prst="rect">
                    <a:avLst/>
                  </a:prstGeom>
                  <a:ln w="2857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 lIns="0" tIns="0" rIns="0" bIns="0" anchor="ctr" anchorCtr="1"/>
                  <a:lstStyle/>
                  <a:p>
                    <a:pPr algn="ctr" eaLnBrk="1" hangingPunct="1">
                      <a:defRPr/>
                    </a:pPr>
                    <a:r>
                      <a:rPr lang="en-US" altLang="zh-CN" dirty="0" err="1">
                        <a:latin typeface="Times New Roman" pitchFamily="18" charset="0"/>
                        <a:cs typeface="Times New Roman" pitchFamily="18" charset="0"/>
                      </a:rPr>
                      <a:t>CL</a:t>
                    </a:r>
                    <a:r>
                      <a:rPr lang="en-US" altLang="zh-CN" sz="2000" dirty="0" err="1">
                        <a:latin typeface="Times New Roman" pitchFamily="18" charset="0"/>
                        <a:cs typeface="Times New Roman" pitchFamily="18" charset="0"/>
                      </a:rPr>
                      <a:t>o</a:t>
                    </a:r>
                    <a:endParaRPr lang="en-US" altLang="zh-CN" sz="2000" dirty="0"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cxnSp>
                <p:nvCxnSpPr>
                  <p:cNvPr id="69" name="直接箭头连接符 189">
                    <a:extLst>
                      <a:ext uri="{FF2B5EF4-FFF2-40B4-BE49-F238E27FC236}">
                        <a16:creationId xmlns:a16="http://schemas.microsoft.com/office/drawing/2014/main" id="{A548B6C7-8BDB-0001-5A16-2065439A2D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550971" y="2311864"/>
                    <a:ext cx="368320" cy="1586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190">
                    <a:extLst>
                      <a:ext uri="{FF2B5EF4-FFF2-40B4-BE49-F238E27FC236}">
                        <a16:creationId xmlns:a16="http://schemas.microsoft.com/office/drawing/2014/main" id="{C846F10A-B36A-8D32-6D4A-C11251FA2B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443015" y="2930775"/>
                    <a:ext cx="468338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接箭头连接符 191">
                    <a:extLst>
                      <a:ext uri="{FF2B5EF4-FFF2-40B4-BE49-F238E27FC236}">
                        <a16:creationId xmlns:a16="http://schemas.microsoft.com/office/drawing/2014/main" id="{A744AB85-BDA2-F783-8264-A4944BFDA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5443015" y="2050017"/>
                    <a:ext cx="0" cy="88075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headEnd type="oval"/>
                    <a:tailEnd type="none" w="med" len="lg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矩形: 圆角 170">
                  <a:extLst>
                    <a:ext uri="{FF2B5EF4-FFF2-40B4-BE49-F238E27FC236}">
                      <a16:creationId xmlns:a16="http://schemas.microsoft.com/office/drawing/2014/main" id="{88FF2D84-EC88-ED4D-CBC4-13D72BBBD8AB}"/>
                    </a:ext>
                  </a:extLst>
                </p:cNvPr>
                <p:cNvSpPr/>
                <p:nvPr/>
              </p:nvSpPr>
              <p:spPr bwMode="auto">
                <a:xfrm>
                  <a:off x="6041015" y="4170396"/>
                  <a:ext cx="906511" cy="906148"/>
                </a:xfrm>
                <a:prstGeom prst="roundRect">
                  <a:avLst/>
                </a:prstGeom>
                <a:noFill/>
                <a:ln w="19050">
                  <a:solidFill>
                    <a:srgbClr val="CC3300"/>
                  </a:solidFill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51" name="矩形: 圆角 171">
                  <a:extLst>
                    <a:ext uri="{FF2B5EF4-FFF2-40B4-BE49-F238E27FC236}">
                      <a16:creationId xmlns:a16="http://schemas.microsoft.com/office/drawing/2014/main" id="{41DCF0FA-D2B0-C2D9-AB46-1C6A90B087C1}"/>
                    </a:ext>
                  </a:extLst>
                </p:cNvPr>
                <p:cNvSpPr/>
                <p:nvPr/>
              </p:nvSpPr>
              <p:spPr bwMode="auto">
                <a:xfrm>
                  <a:off x="7307908" y="5157478"/>
                  <a:ext cx="781092" cy="891865"/>
                </a:xfrm>
                <a:prstGeom prst="roundRect">
                  <a:avLst/>
                </a:prstGeom>
                <a:noFill/>
                <a:ln w="19050">
                  <a:solidFill>
                    <a:srgbClr val="0000FF"/>
                  </a:solidFill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52" name="矩形: 圆角 172">
                  <a:extLst>
                    <a:ext uri="{FF2B5EF4-FFF2-40B4-BE49-F238E27FC236}">
                      <a16:creationId xmlns:a16="http://schemas.microsoft.com/office/drawing/2014/main" id="{2ABA5C65-C63F-9B83-FD58-B38EF0FAE7B3}"/>
                    </a:ext>
                  </a:extLst>
                </p:cNvPr>
                <p:cNvSpPr/>
                <p:nvPr/>
              </p:nvSpPr>
              <p:spPr bwMode="auto">
                <a:xfrm>
                  <a:off x="6041015" y="5157478"/>
                  <a:ext cx="885873" cy="891865"/>
                </a:xfrm>
                <a:prstGeom prst="roundRect">
                  <a:avLst/>
                </a:prstGeom>
                <a:noFill/>
                <a:ln w="19050">
                  <a:solidFill>
                    <a:srgbClr val="9900FF"/>
                  </a:solidFill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72" name="矩形 196">
                <a:extLst>
                  <a:ext uri="{FF2B5EF4-FFF2-40B4-BE49-F238E27FC236}">
                    <a16:creationId xmlns:a16="http://schemas.microsoft.com/office/drawing/2014/main" id="{044BC7AD-BD87-BA6F-F63D-131E066D7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25649" y="4630130"/>
                <a:ext cx="954088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lvl="1" algn="ctr">
                  <a:spcAft>
                    <a:spcPts val="600"/>
                  </a:spcAft>
                  <a:buFontTx/>
                  <a:buNone/>
                </a:pPr>
                <a:r>
                  <a:rPr lang="zh-CN" alt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可可可！</a:t>
                </a:r>
                <a:endPara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3" name="矩形 193">
              <a:extLst>
                <a:ext uri="{FF2B5EF4-FFF2-40B4-BE49-F238E27FC236}">
                  <a16:creationId xmlns:a16="http://schemas.microsoft.com/office/drawing/2014/main" id="{E235EF29-CBA5-0DA3-1115-7F9D5F736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5271" y="2840236"/>
              <a:ext cx="1597025" cy="632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342900" indent="-3429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lvl="1" algn="ctr">
                <a:spcAft>
                  <a:spcPts val="600"/>
                </a:spcAft>
                <a:buFontTx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Arial" panose="020B0604020202020204" pitchFamily="34" charset="0"/>
                </a:rPr>
                <a:t>拆分组合逻辑</a:t>
              </a:r>
              <a:endPara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</a:endParaRPr>
            </a:p>
            <a:p>
              <a:pPr marL="0" lvl="1" algn="ctr">
                <a:spcAft>
                  <a:spcPts val="600"/>
                </a:spcAft>
                <a:buFontTx/>
                <a:buNone/>
              </a:pPr>
              <a:r>
                <a:rPr lang="zh-CN" altLang="en-US" sz="2000" b="1" dirty="0">
                  <a:solidFill>
                    <a:srgbClr val="0070C0"/>
                  </a:solidFill>
                  <a:latin typeface="Arial" panose="020B0604020202020204" pitchFamily="34" charset="0"/>
                </a:rPr>
                <a:t>描述方式等价</a:t>
              </a:r>
              <a:endParaRPr lang="en-US" altLang="zh-CN" sz="2000" b="1" dirty="0">
                <a:solidFill>
                  <a:srgbClr val="0070C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箭头: 上下 1">
              <a:extLst>
                <a:ext uri="{FF2B5EF4-FFF2-40B4-BE49-F238E27FC236}">
                  <a16:creationId xmlns:a16="http://schemas.microsoft.com/office/drawing/2014/main" id="{947BC9E3-AF3C-2E01-EAE1-05F2CC8CF391}"/>
                </a:ext>
              </a:extLst>
            </p:cNvPr>
            <p:cNvSpPr/>
            <p:nvPr/>
          </p:nvSpPr>
          <p:spPr bwMode="auto">
            <a:xfrm>
              <a:off x="7049770" y="2911446"/>
              <a:ext cx="336550" cy="488950"/>
            </a:xfrm>
            <a:prstGeom prst="upDownArrow">
              <a:avLst>
                <a:gd name="adj1" fmla="val 45881"/>
                <a:gd name="adj2" fmla="val 4794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82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F6913-F4A2-F567-B75B-C9DFB8562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坚决要避免</a:t>
            </a:r>
            <a:r>
              <a:rPr kumimoji="1" lang="zh-CN" altLang="en-US" dirty="0"/>
              <a:t>：一段式</a:t>
            </a:r>
            <a:r>
              <a:rPr kumimoji="1"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EE0398-6E8E-1965-4557-7D71C89EA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011545" cy="5947119"/>
          </a:xfrm>
        </p:spPr>
        <p:txBody>
          <a:bodyPr/>
          <a:lstStyle/>
          <a:p>
            <a:r>
              <a:rPr lang="zh-CN" altLang="en-US" sz="2400" dirty="0"/>
              <a:t>一个时序过程描述</a:t>
            </a:r>
            <a:r>
              <a:rPr lang="en-US" altLang="zh-CN" sz="2400" dirty="0"/>
              <a:t>cs</a:t>
            </a:r>
            <a:r>
              <a:rPr lang="zh-CN" altLang="en-US" sz="2400" dirty="0"/>
              <a:t>和</a:t>
            </a:r>
            <a:r>
              <a:rPr lang="en-US" altLang="zh-CN" sz="2400" dirty="0"/>
              <a:t>out</a:t>
            </a:r>
            <a:r>
              <a:rPr lang="zh-CN" altLang="en-US" sz="2400" dirty="0"/>
              <a:t>，所有的组合和时序逻辑都混在一起 </a:t>
            </a:r>
            <a:endParaRPr lang="en-US" altLang="zh-CN" sz="2400" dirty="0"/>
          </a:p>
          <a:p>
            <a:pPr lvl="1"/>
            <a:r>
              <a:rPr lang="zh-CN" altLang="en-US" sz="2000" dirty="0"/>
              <a:t>初学者最容易这么写，坚决避免</a:t>
            </a:r>
            <a:endParaRPr lang="en-US" altLang="zh-CN" sz="20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D7146E-80B0-F48D-741B-282CF7F3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ED6BA8-F6EF-9698-3ADB-643A12C9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22" name="组合 52">
            <a:extLst>
              <a:ext uri="{FF2B5EF4-FFF2-40B4-BE49-F238E27FC236}">
                <a16:creationId xmlns:a16="http://schemas.microsoft.com/office/drawing/2014/main" id="{6176AF1C-3FD8-AC08-A0D2-71156ABF9A7F}"/>
              </a:ext>
            </a:extLst>
          </p:cNvPr>
          <p:cNvGrpSpPr>
            <a:grpSpLocks/>
          </p:cNvGrpSpPr>
          <p:nvPr/>
        </p:nvGrpSpPr>
        <p:grpSpPr bwMode="auto">
          <a:xfrm>
            <a:off x="6521450" y="838729"/>
            <a:ext cx="3017837" cy="1857375"/>
            <a:chOff x="5217578" y="1679810"/>
            <a:chExt cx="3018050" cy="1966678"/>
          </a:xfrm>
        </p:grpSpPr>
        <p:sp>
          <p:nvSpPr>
            <p:cNvPr id="23" name="TextBox 34">
              <a:extLst>
                <a:ext uri="{FF2B5EF4-FFF2-40B4-BE49-F238E27FC236}">
                  <a16:creationId xmlns:a16="http://schemas.microsoft.com/office/drawing/2014/main" id="{5312F015-A768-6548-C29A-CA2CB8C91F9F}"/>
                </a:ext>
              </a:extLst>
            </p:cNvPr>
            <p:cNvSpPr txBox="1"/>
            <p:nvPr/>
          </p:nvSpPr>
          <p:spPr bwMode="auto">
            <a:xfrm>
              <a:off x="7184629" y="2730385"/>
              <a:ext cx="466758" cy="685816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SR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TextBox 35">
              <a:extLst>
                <a:ext uri="{FF2B5EF4-FFF2-40B4-BE49-F238E27FC236}">
                  <a16:creationId xmlns:a16="http://schemas.microsoft.com/office/drawing/2014/main" id="{B6E09BB3-463C-FE95-A6BD-369DBA90E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7926" y="3236812"/>
              <a:ext cx="420460" cy="191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  <p:sp>
          <p:nvSpPr>
            <p:cNvPr id="25" name="TextBox 36">
              <a:extLst>
                <a:ext uri="{FF2B5EF4-FFF2-40B4-BE49-F238E27FC236}">
                  <a16:creationId xmlns:a16="http://schemas.microsoft.com/office/drawing/2014/main" id="{AD1D5A1E-4650-7002-7092-523D358195DE}"/>
                </a:ext>
              </a:extLst>
            </p:cNvPr>
            <p:cNvSpPr txBox="1"/>
            <p:nvPr/>
          </p:nvSpPr>
          <p:spPr bwMode="auto">
            <a:xfrm>
              <a:off x="5911364" y="1814284"/>
              <a:ext cx="520737" cy="1601918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CL</a:t>
              </a:r>
              <a:endParaRPr lang="en-US" altLang="zh-CN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6" name="直接箭头连接符 61">
              <a:extLst>
                <a:ext uri="{FF2B5EF4-FFF2-40B4-BE49-F238E27FC236}">
                  <a16:creationId xmlns:a16="http://schemas.microsoft.com/office/drawing/2014/main" id="{735D2A40-392B-E25D-0A7F-96F836987E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739" y="3116997"/>
              <a:ext cx="368326" cy="168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69">
              <a:extLst>
                <a:ext uri="{FF2B5EF4-FFF2-40B4-BE49-F238E27FC236}">
                  <a16:creationId xmlns:a16="http://schemas.microsoft.com/office/drawing/2014/main" id="{E1380359-2221-B61F-529C-482F5E99A6CC}"/>
                </a:ext>
              </a:extLst>
            </p:cNvPr>
            <p:cNvCxnSpPr/>
            <p:nvPr/>
          </p:nvCxnSpPr>
          <p:spPr bwMode="auto">
            <a:xfrm>
              <a:off x="7651387" y="3101869"/>
              <a:ext cx="369914" cy="33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70">
              <a:extLst>
                <a:ext uri="{FF2B5EF4-FFF2-40B4-BE49-F238E27FC236}">
                  <a16:creationId xmlns:a16="http://schemas.microsoft.com/office/drawing/2014/main" id="{9507A6E9-9321-F403-D00C-80DF63FEF5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26063" y="3100188"/>
              <a:ext cx="0" cy="5463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71">
              <a:extLst>
                <a:ext uri="{FF2B5EF4-FFF2-40B4-BE49-F238E27FC236}">
                  <a16:creationId xmlns:a16="http://schemas.microsoft.com/office/drawing/2014/main" id="{737CF295-2BE0-08DB-7060-99998E87EA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43038" y="3646488"/>
              <a:ext cx="247826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72">
              <a:extLst>
                <a:ext uri="{FF2B5EF4-FFF2-40B4-BE49-F238E27FC236}">
                  <a16:creationId xmlns:a16="http://schemas.microsoft.com/office/drawing/2014/main" id="{7E1665DA-C587-6947-A94B-97908BE8444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739" y="3116997"/>
              <a:ext cx="0" cy="52949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75">
              <a:extLst>
                <a:ext uri="{FF2B5EF4-FFF2-40B4-BE49-F238E27FC236}">
                  <a16:creationId xmlns:a16="http://schemas.microsoft.com/office/drawing/2014/main" id="{B79E4D4C-543A-98ED-E58B-0EA08A0A81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2101" y="2148787"/>
              <a:ext cx="17304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76">
              <a:extLst>
                <a:ext uri="{FF2B5EF4-FFF2-40B4-BE49-F238E27FC236}">
                  <a16:creationId xmlns:a16="http://schemas.microsoft.com/office/drawing/2014/main" id="{E0260015-A2F0-11E0-7F38-E00A40FC15C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2101" y="3100188"/>
              <a:ext cx="75252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58">
              <a:extLst>
                <a:ext uri="{FF2B5EF4-FFF2-40B4-BE49-F238E27FC236}">
                  <a16:creationId xmlns:a16="http://schemas.microsoft.com/office/drawing/2014/main" id="{3CA96937-58CD-491D-F41E-B05666FF7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578" y="1679810"/>
              <a:ext cx="362138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in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34" name="TextBox 60">
              <a:extLst>
                <a:ext uri="{FF2B5EF4-FFF2-40B4-BE49-F238E27FC236}">
                  <a16:creationId xmlns:a16="http://schemas.microsoft.com/office/drawing/2014/main" id="{6F2292DB-D647-B70B-3D7F-67A97CFE8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1927" y="1689880"/>
              <a:ext cx="493701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out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35" name="TextBox 61">
              <a:extLst>
                <a:ext uri="{FF2B5EF4-FFF2-40B4-BE49-F238E27FC236}">
                  <a16:creationId xmlns:a16="http://schemas.microsoft.com/office/drawing/2014/main" id="{DA1005C5-69C6-7F89-5555-DB7FEB933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7392" y="2660620"/>
              <a:ext cx="37705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cs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36" name="TextBox 62">
              <a:extLst>
                <a:ext uri="{FF2B5EF4-FFF2-40B4-BE49-F238E27FC236}">
                  <a16:creationId xmlns:a16="http://schemas.microsoft.com/office/drawing/2014/main" id="{A1BA766F-A7AD-3DBA-A8C3-E51F54A8CC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7705" y="2660620"/>
              <a:ext cx="39197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ns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箭头连接符 83">
              <a:extLst>
                <a:ext uri="{FF2B5EF4-FFF2-40B4-BE49-F238E27FC236}">
                  <a16:creationId xmlns:a16="http://schemas.microsoft.com/office/drawing/2014/main" id="{ABD5C1DF-84C6-8DBB-14D5-A10516894F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92195" y="2147106"/>
              <a:ext cx="64774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矩形: 圆角 86">
            <a:extLst>
              <a:ext uri="{FF2B5EF4-FFF2-40B4-BE49-F238E27FC236}">
                <a16:creationId xmlns:a16="http://schemas.microsoft.com/office/drawing/2014/main" id="{B2EE07C2-73A4-6A21-EEDB-ED755ACE98B4}"/>
              </a:ext>
            </a:extLst>
          </p:cNvPr>
          <p:cNvSpPr/>
          <p:nvPr/>
        </p:nvSpPr>
        <p:spPr bwMode="auto">
          <a:xfrm>
            <a:off x="7034212" y="848254"/>
            <a:ext cx="2054225" cy="1746250"/>
          </a:xfrm>
          <a:prstGeom prst="roundRect">
            <a:avLst/>
          </a:prstGeom>
          <a:noFill/>
          <a:ln w="19050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9" name="矩形 7">
            <a:extLst>
              <a:ext uri="{FF2B5EF4-FFF2-40B4-BE49-F238E27FC236}">
                <a16:creationId xmlns:a16="http://schemas.microsoft.com/office/drawing/2014/main" id="{EEEA07D1-D8DF-5930-44E6-0C3E28685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025" y="1291166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>
              <a:spcAft>
                <a:spcPts val="600"/>
              </a:spcAft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不推荐！</a:t>
            </a:r>
            <a:endParaRPr lang="en-US" altLang="zh-CN" sz="20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4BB89A27-CEF4-02A2-24AB-54A9259D1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2" y="2309197"/>
            <a:ext cx="3473450" cy="410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always @(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posedge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) begin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……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case (cs)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  S0: begin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      if (in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条件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) begin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          cs &lt;= Si;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          out &lt;=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表达式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      end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      ……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   end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………</a:t>
            </a:r>
          </a:p>
          <a:p>
            <a:pPr>
              <a:spcAft>
                <a:spcPts val="20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799003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FB603-0172-931E-FE0B-5D2C997B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kumimoji="1" lang="zh-CN" altLang="en-US" dirty="0"/>
              <a:t>示例：</a:t>
            </a:r>
            <a:r>
              <a:rPr lang="zh-CN" altLang="en-US" dirty="0"/>
              <a:t>两段式摩尔型</a:t>
            </a:r>
            <a:r>
              <a:rPr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812892-CDBE-FCC4-9931-95C9E151E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626228" cy="1011639"/>
          </a:xfrm>
        </p:spPr>
        <p:txBody>
          <a:bodyPr/>
          <a:lstStyle/>
          <a:p>
            <a:r>
              <a:rPr lang="zh-CN" altLang="en-US" sz="2400" dirty="0"/>
              <a:t>将输入序列中每次出现的第一个</a:t>
            </a:r>
            <a:r>
              <a:rPr lang="en-US" altLang="zh-CN" sz="2400" dirty="0"/>
              <a:t>1</a:t>
            </a:r>
            <a:r>
              <a:rPr lang="zh-CN" altLang="en-US" sz="2400" dirty="0"/>
              <a:t>替换为</a:t>
            </a:r>
            <a:r>
              <a:rPr lang="en-US" altLang="zh-CN" sz="2400" dirty="0"/>
              <a:t>0</a:t>
            </a:r>
            <a:r>
              <a:rPr lang="zh-CN" altLang="en-US" sz="2400" dirty="0"/>
              <a:t>，其他不变，然后输出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9B217A-E622-B6C3-51F0-18F3C400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C2D521-B147-5970-FBCE-2DDB1788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3089A714-998D-69C2-E068-666BD3AAA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024" y="3595222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75653225-D9AE-4329-91C9-9180DDF27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261" y="4721301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9359F173-3A19-8E50-1082-78661B796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724" y="3752442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48B555E4-4FF4-969F-DA5A-52C40A48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024" y="3050767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49DCE48-FA7D-69A9-AE92-D12FF8561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024" y="5188026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66A5FDC1-562C-E49D-9942-1C311A87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024" y="4653904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9F35D998-656C-62F1-3777-85F1A8EF6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2879317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zero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2D1874A9-E773-BABD-F418-CFD65063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3915506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one1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3ED87B9F-3F32-122B-0A25-28719892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4968951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two1s</a:t>
            </a:r>
          </a:p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/1</a:t>
            </a:r>
          </a:p>
        </p:txBody>
      </p:sp>
      <p:cxnSp>
        <p:nvCxnSpPr>
          <p:cNvPr id="45" name="AutoShape 13">
            <a:extLst>
              <a:ext uri="{FF2B5EF4-FFF2-40B4-BE49-F238E27FC236}">
                <a16:creationId xmlns:a16="http://schemas.microsoft.com/office/drawing/2014/main" id="{8C48E104-077E-C001-8B67-4D77BB840562}"/>
              </a:ext>
            </a:extLst>
          </p:cNvPr>
          <p:cNvCxnSpPr>
            <a:cxnSpLocks noChangeShapeType="1"/>
            <a:stCxn id="42" idx="4"/>
            <a:endCxn id="43" idx="0"/>
          </p:cNvCxnSpPr>
          <p:nvPr/>
        </p:nvCxnSpPr>
        <p:spPr bwMode="auto">
          <a:xfrm>
            <a:off x="8462580" y="3598454"/>
            <a:ext cx="0" cy="31705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14">
            <a:extLst>
              <a:ext uri="{FF2B5EF4-FFF2-40B4-BE49-F238E27FC236}">
                <a16:creationId xmlns:a16="http://schemas.microsoft.com/office/drawing/2014/main" id="{E8E57152-7B5D-F6E3-8844-80274A95BE3D}"/>
              </a:ext>
            </a:extLst>
          </p:cNvPr>
          <p:cNvCxnSpPr>
            <a:cxnSpLocks noChangeShapeType="1"/>
            <a:stCxn id="43" idx="4"/>
            <a:endCxn id="44" idx="0"/>
          </p:cNvCxnSpPr>
          <p:nvPr/>
        </p:nvCxnSpPr>
        <p:spPr bwMode="auto">
          <a:xfrm>
            <a:off x="8462580" y="4634643"/>
            <a:ext cx="0" cy="33430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15">
            <a:extLst>
              <a:ext uri="{FF2B5EF4-FFF2-40B4-BE49-F238E27FC236}">
                <a16:creationId xmlns:a16="http://schemas.microsoft.com/office/drawing/2014/main" id="{1E0F208C-F0CB-134C-ACB4-C8A65BFFFDF6}"/>
              </a:ext>
            </a:extLst>
          </p:cNvPr>
          <p:cNvCxnSpPr>
            <a:cxnSpLocks noChangeShapeType="1"/>
            <a:stCxn id="43" idx="2"/>
            <a:endCxn id="42" idx="2"/>
          </p:cNvCxnSpPr>
          <p:nvPr/>
        </p:nvCxnSpPr>
        <p:spPr bwMode="auto">
          <a:xfrm rot="10800000">
            <a:off x="7877586" y="3238887"/>
            <a:ext cx="12700" cy="1036189"/>
          </a:xfrm>
          <a:prstGeom prst="curvedConnector3">
            <a:avLst>
              <a:gd name="adj1" fmla="val 180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16">
            <a:extLst>
              <a:ext uri="{FF2B5EF4-FFF2-40B4-BE49-F238E27FC236}">
                <a16:creationId xmlns:a16="http://schemas.microsoft.com/office/drawing/2014/main" id="{8B16D408-F5D7-448A-6284-E9C33B3FD438}"/>
              </a:ext>
            </a:extLst>
          </p:cNvPr>
          <p:cNvCxnSpPr>
            <a:cxnSpLocks noChangeShapeType="1"/>
            <a:stCxn id="44" idx="2"/>
            <a:endCxn id="42" idx="2"/>
          </p:cNvCxnSpPr>
          <p:nvPr/>
        </p:nvCxnSpPr>
        <p:spPr bwMode="auto">
          <a:xfrm rot="10800000">
            <a:off x="7877586" y="3238886"/>
            <a:ext cx="12700" cy="2089634"/>
          </a:xfrm>
          <a:prstGeom prst="curvedConnector3">
            <a:avLst>
              <a:gd name="adj1" fmla="val 3905661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17">
            <a:extLst>
              <a:ext uri="{FF2B5EF4-FFF2-40B4-BE49-F238E27FC236}">
                <a16:creationId xmlns:a16="http://schemas.microsoft.com/office/drawing/2014/main" id="{80CF128A-607B-7976-9741-B5A69F8EA080}"/>
              </a:ext>
            </a:extLst>
          </p:cNvPr>
          <p:cNvCxnSpPr>
            <a:cxnSpLocks noChangeShapeType="1"/>
            <a:stCxn id="42" idx="5"/>
            <a:endCxn id="42" idx="7"/>
          </p:cNvCxnSpPr>
          <p:nvPr/>
        </p:nvCxnSpPr>
        <p:spPr bwMode="auto">
          <a:xfrm rot="5400000" flipH="1" flipV="1">
            <a:off x="8606249" y="3238092"/>
            <a:ext cx="541337" cy="1588"/>
          </a:xfrm>
          <a:prstGeom prst="curvedConnector5">
            <a:avLst>
              <a:gd name="adj1" fmla="val -25745"/>
              <a:gd name="adj2" fmla="val 41300014"/>
              <a:gd name="adj3" fmla="val 146069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18">
            <a:extLst>
              <a:ext uri="{FF2B5EF4-FFF2-40B4-BE49-F238E27FC236}">
                <a16:creationId xmlns:a16="http://schemas.microsoft.com/office/drawing/2014/main" id="{57337A3F-CE9F-03D7-B75E-541BA8DD7002}"/>
              </a:ext>
            </a:extLst>
          </p:cNvPr>
          <p:cNvCxnSpPr>
            <a:cxnSpLocks noChangeShapeType="1"/>
            <a:stCxn id="44" idx="5"/>
            <a:endCxn id="44" idx="7"/>
          </p:cNvCxnSpPr>
          <p:nvPr/>
        </p:nvCxnSpPr>
        <p:spPr bwMode="auto">
          <a:xfrm rot="5400000" flipH="1" flipV="1">
            <a:off x="8606249" y="5327726"/>
            <a:ext cx="541337" cy="1588"/>
          </a:xfrm>
          <a:prstGeom prst="curvedConnector5">
            <a:avLst>
              <a:gd name="adj1" fmla="val -36046"/>
              <a:gd name="adj2" fmla="val 42100014"/>
              <a:gd name="adj3" fmla="val 143898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1" name="Group 21">
            <a:extLst>
              <a:ext uri="{FF2B5EF4-FFF2-40B4-BE49-F238E27FC236}">
                <a16:creationId xmlns:a16="http://schemas.microsoft.com/office/drawing/2014/main" id="{E824E153-EB5B-B80E-DA57-B233776797EA}"/>
              </a:ext>
            </a:extLst>
          </p:cNvPr>
          <p:cNvGrpSpPr>
            <a:grpSpLocks/>
          </p:cNvGrpSpPr>
          <p:nvPr/>
        </p:nvGrpSpPr>
        <p:grpSpPr bwMode="auto">
          <a:xfrm>
            <a:off x="7872824" y="5819719"/>
            <a:ext cx="1781175" cy="720725"/>
            <a:chOff x="4201" y="3498"/>
            <a:chExt cx="1122" cy="454"/>
          </a:xfrm>
        </p:grpSpPr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id="{E5C8D1C6-A997-CC25-2FC7-060B7F4D9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" y="3498"/>
              <a:ext cx="157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in</a:t>
              </a:r>
            </a:p>
          </p:txBody>
        </p:sp>
        <p:sp>
          <p:nvSpPr>
            <p:cNvPr id="53" name="Line 23">
              <a:extLst>
                <a:ext uri="{FF2B5EF4-FFF2-40B4-BE49-F238E27FC236}">
                  <a16:creationId xmlns:a16="http://schemas.microsoft.com/office/drawing/2014/main" id="{018B0E94-1C48-18F5-6E8C-25F736B5B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" y="3725"/>
              <a:ext cx="3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Oval 24">
              <a:extLst>
                <a:ext uri="{FF2B5EF4-FFF2-40B4-BE49-F238E27FC236}">
                  <a16:creationId xmlns:a16="http://schemas.microsoft.com/office/drawing/2014/main" id="{FBCCB1B2-8FDC-96ED-B1F8-230F38961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3499"/>
              <a:ext cx="737" cy="4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state</a:t>
              </a:r>
            </a:p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/out</a:t>
              </a:r>
            </a:p>
          </p:txBody>
        </p:sp>
      </p:grpSp>
      <p:grpSp>
        <p:nvGrpSpPr>
          <p:cNvPr id="55" name="Group 25">
            <a:extLst>
              <a:ext uri="{FF2B5EF4-FFF2-40B4-BE49-F238E27FC236}">
                <a16:creationId xmlns:a16="http://schemas.microsoft.com/office/drawing/2014/main" id="{EC54F68B-EECE-A064-18F1-215CFA77D49D}"/>
              </a:ext>
            </a:extLst>
          </p:cNvPr>
          <p:cNvGrpSpPr>
            <a:grpSpLocks/>
          </p:cNvGrpSpPr>
          <p:nvPr/>
        </p:nvGrpSpPr>
        <p:grpSpPr bwMode="auto">
          <a:xfrm>
            <a:off x="7769636" y="2374494"/>
            <a:ext cx="715963" cy="492126"/>
            <a:chOff x="4144" y="935"/>
            <a:chExt cx="451" cy="310"/>
          </a:xfrm>
        </p:grpSpPr>
        <p:cxnSp>
          <p:nvCxnSpPr>
            <p:cNvPr id="56" name="AutoShape 26">
              <a:extLst>
                <a:ext uri="{FF2B5EF4-FFF2-40B4-BE49-F238E27FC236}">
                  <a16:creationId xmlns:a16="http://schemas.microsoft.com/office/drawing/2014/main" id="{483A64A4-C6DA-4B5F-3BCB-335F6E7BC8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4" y="981"/>
              <a:ext cx="1" cy="2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Rectangle 27">
              <a:extLst>
                <a:ext uri="{FF2B5EF4-FFF2-40B4-BE49-F238E27FC236}">
                  <a16:creationId xmlns:a16="http://schemas.microsoft.com/office/drawing/2014/main" id="{DA263493-E78D-B159-3F0A-DF7FED15C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935"/>
              <a:ext cx="35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</a:rPr>
                <a:t>!</a:t>
              </a:r>
              <a:r>
                <a:rPr lang="en-US" altLang="zh-CN" sz="2000" dirty="0" err="1">
                  <a:solidFill>
                    <a:srgbClr val="000000"/>
                  </a:solidFill>
                </a:rPr>
                <a:t>nrst</a:t>
              </a:r>
              <a:endParaRPr lang="en-US" altLang="zh-CN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1088C4E1-A8C2-2B3E-9B32-B6501EDEC318}"/>
              </a:ext>
            </a:extLst>
          </p:cNvPr>
          <p:cNvSpPr/>
          <p:nvPr/>
        </p:nvSpPr>
        <p:spPr>
          <a:xfrm>
            <a:off x="6793232" y="0"/>
            <a:ext cx="3112768" cy="2029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9" name="组合 168">
            <a:extLst>
              <a:ext uri="{FF2B5EF4-FFF2-40B4-BE49-F238E27FC236}">
                <a16:creationId xmlns:a16="http://schemas.microsoft.com/office/drawing/2014/main" id="{6D4D27B4-297B-1855-E029-14CB6B17B27F}"/>
              </a:ext>
            </a:extLst>
          </p:cNvPr>
          <p:cNvGrpSpPr>
            <a:grpSpLocks/>
          </p:cNvGrpSpPr>
          <p:nvPr/>
        </p:nvGrpSpPr>
        <p:grpSpPr bwMode="auto">
          <a:xfrm>
            <a:off x="6875079" y="-58120"/>
            <a:ext cx="2906713" cy="2065337"/>
            <a:chOff x="5534574" y="4086288"/>
            <a:chExt cx="2906871" cy="2064620"/>
          </a:xfrm>
        </p:grpSpPr>
        <p:grpSp>
          <p:nvGrpSpPr>
            <p:cNvPr id="60" name="组合 169">
              <a:extLst>
                <a:ext uri="{FF2B5EF4-FFF2-40B4-BE49-F238E27FC236}">
                  <a16:creationId xmlns:a16="http://schemas.microsoft.com/office/drawing/2014/main" id="{1BA79C1C-981C-09BA-10F6-98EB87CCF9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34574" y="4086288"/>
              <a:ext cx="2906871" cy="2064620"/>
              <a:chOff x="5217578" y="1581868"/>
              <a:chExt cx="2906871" cy="2064620"/>
            </a:xfrm>
          </p:grpSpPr>
          <p:sp>
            <p:nvSpPr>
              <p:cNvPr id="64" name="TextBox 34">
                <a:extLst>
                  <a:ext uri="{FF2B5EF4-FFF2-40B4-BE49-F238E27FC236}">
                    <a16:creationId xmlns:a16="http://schemas.microsoft.com/office/drawing/2014/main" id="{F4FB0BC1-6A25-7F02-92CA-975E54057CE1}"/>
                  </a:ext>
                </a:extLst>
              </p:cNvPr>
              <p:cNvSpPr txBox="1"/>
              <p:nvPr/>
            </p:nvSpPr>
            <p:spPr bwMode="auto">
              <a:xfrm>
                <a:off x="7184598" y="2729232"/>
                <a:ext cx="466750" cy="687149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TextBox 35">
                <a:extLst>
                  <a:ext uri="{FF2B5EF4-FFF2-40B4-BE49-F238E27FC236}">
                    <a16:creationId xmlns:a16="http://schemas.microsoft.com/office/drawing/2014/main" id="{FA2F5D22-4654-72BE-6D56-5ED8BDEAD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36">
                <a:extLst>
                  <a:ext uri="{FF2B5EF4-FFF2-40B4-BE49-F238E27FC236}">
                    <a16:creationId xmlns:a16="http://schemas.microsoft.com/office/drawing/2014/main" id="{0CC67573-C82F-4416-027F-533A7CE77738}"/>
                  </a:ext>
                </a:extLst>
              </p:cNvPr>
              <p:cNvSpPr txBox="1"/>
              <p:nvPr/>
            </p:nvSpPr>
            <p:spPr bwMode="auto">
              <a:xfrm>
                <a:off x="5911354" y="2726058"/>
                <a:ext cx="520728" cy="69032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67" name="直接箭头连接符 176">
                <a:extLst>
                  <a:ext uri="{FF2B5EF4-FFF2-40B4-BE49-F238E27FC236}">
                    <a16:creationId xmlns:a16="http://schemas.microsoft.com/office/drawing/2014/main" id="{58191A67-01BB-61E7-858D-A035C7D7B2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3200556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177">
                <a:extLst>
                  <a:ext uri="{FF2B5EF4-FFF2-40B4-BE49-F238E27FC236}">
                    <a16:creationId xmlns:a16="http://schemas.microsoft.com/office/drawing/2014/main" id="{60F7F0FB-A804-0BFE-3E47-C6DE7F2AB110}"/>
                  </a:ext>
                </a:extLst>
              </p:cNvPr>
              <p:cNvCxnSpPr/>
              <p:nvPr/>
            </p:nvCxnSpPr>
            <p:spPr bwMode="auto">
              <a:xfrm>
                <a:off x="7651348" y="3102165"/>
                <a:ext cx="369907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178">
                <a:extLst>
                  <a:ext uri="{FF2B5EF4-FFF2-40B4-BE49-F238E27FC236}">
                    <a16:creationId xmlns:a16="http://schemas.microsoft.com/office/drawing/2014/main" id="{1EE0E5DE-7824-05D0-4FCA-8A53460B34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6019" y="3100578"/>
                <a:ext cx="0" cy="5459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接箭头连接符 179">
                <a:extLst>
                  <a:ext uri="{FF2B5EF4-FFF2-40B4-BE49-F238E27FC236}">
                    <a16:creationId xmlns:a16="http://schemas.microsoft.com/office/drawing/2014/main" id="{0A23F7C4-81EF-8A62-1188-784404DDE4A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34" y="3646488"/>
                <a:ext cx="24782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180">
                <a:extLst>
                  <a:ext uri="{FF2B5EF4-FFF2-40B4-BE49-F238E27FC236}">
                    <a16:creationId xmlns:a16="http://schemas.microsoft.com/office/drawing/2014/main" id="{B8D4E406-FFEB-CCF1-9754-1D659F7C82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2311864"/>
                <a:ext cx="0" cy="13346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181">
                <a:extLst>
                  <a:ext uri="{FF2B5EF4-FFF2-40B4-BE49-F238E27FC236}">
                    <a16:creationId xmlns:a16="http://schemas.microsoft.com/office/drawing/2014/main" id="{148F5B9C-25CE-2BC7-BB07-A4CD599363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2148408"/>
                <a:ext cx="159552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182">
                <a:extLst>
                  <a:ext uri="{FF2B5EF4-FFF2-40B4-BE49-F238E27FC236}">
                    <a16:creationId xmlns:a16="http://schemas.microsoft.com/office/drawing/2014/main" id="{95610F57-D272-1263-D7FF-31E1D67C2E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3100578"/>
                <a:ext cx="7525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TextBox 58">
                <a:extLst>
                  <a:ext uri="{FF2B5EF4-FFF2-40B4-BE49-F238E27FC236}">
                    <a16:creationId xmlns:a16="http://schemas.microsoft.com/office/drawing/2014/main" id="{5F008CBD-278C-CB83-1123-D3B432939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581868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Box 60">
                <a:extLst>
                  <a:ext uri="{FF2B5EF4-FFF2-40B4-BE49-F238E27FC236}">
                    <a16:creationId xmlns:a16="http://schemas.microsoft.com/office/drawing/2014/main" id="{CDDACB2A-09B5-E596-43E3-9E7BCF2FB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77727" y="1689880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TextBox 61">
                <a:extLst>
                  <a:ext uri="{FF2B5EF4-FFF2-40B4-BE49-F238E27FC236}">
                    <a16:creationId xmlns:a16="http://schemas.microsoft.com/office/drawing/2014/main" id="{455E4681-76D3-50A5-CA44-E8472A69D0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47392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62">
                <a:extLst>
                  <a:ext uri="{FF2B5EF4-FFF2-40B4-BE49-F238E27FC236}">
                    <a16:creationId xmlns:a16="http://schemas.microsoft.com/office/drawing/2014/main" id="{7C5E2F12-A72E-D9EB-45F6-7C8D3BB52C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91895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8" name="直接箭头连接符 187">
                <a:extLst>
                  <a:ext uri="{FF2B5EF4-FFF2-40B4-BE49-F238E27FC236}">
                    <a16:creationId xmlns:a16="http://schemas.microsoft.com/office/drawing/2014/main" id="{17AA6054-6FB8-4C9B-D03F-8095830E95D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5" y="2050017"/>
                <a:ext cx="64773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TextBox 36">
                <a:extLst>
                  <a:ext uri="{FF2B5EF4-FFF2-40B4-BE49-F238E27FC236}">
                    <a16:creationId xmlns:a16="http://schemas.microsoft.com/office/drawing/2014/main" id="{B87E632F-82D4-1EF8-A808-D43DBF83793E}"/>
                  </a:ext>
                </a:extLst>
              </p:cNvPr>
              <p:cNvSpPr txBox="1"/>
              <p:nvPr/>
            </p:nvSpPr>
            <p:spPr bwMode="auto">
              <a:xfrm>
                <a:off x="5922466" y="1813563"/>
                <a:ext cx="520728" cy="69032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80" name="直接箭头连接符 189">
                <a:extLst>
                  <a:ext uri="{FF2B5EF4-FFF2-40B4-BE49-F238E27FC236}">
                    <a16:creationId xmlns:a16="http://schemas.microsoft.com/office/drawing/2014/main" id="{5E0D4680-9B5B-436F-9F90-61E17FAD4B9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0971" y="2311864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接箭头连接符 190">
                <a:extLst>
                  <a:ext uri="{FF2B5EF4-FFF2-40B4-BE49-F238E27FC236}">
                    <a16:creationId xmlns:a16="http://schemas.microsoft.com/office/drawing/2014/main" id="{746A31E7-37CC-83A3-DA7B-575C6321BB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930775"/>
                <a:ext cx="46833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191">
                <a:extLst>
                  <a:ext uri="{FF2B5EF4-FFF2-40B4-BE49-F238E27FC236}">
                    <a16:creationId xmlns:a16="http://schemas.microsoft.com/office/drawing/2014/main" id="{317C121D-87E2-ADC0-EB4E-10C77CC580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050017"/>
                <a:ext cx="0" cy="88075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1" name="矩形: 圆角 170">
              <a:extLst>
                <a:ext uri="{FF2B5EF4-FFF2-40B4-BE49-F238E27FC236}">
                  <a16:creationId xmlns:a16="http://schemas.microsoft.com/office/drawing/2014/main" id="{43BF6412-047F-5C13-6E82-183B1DCC6FAB}"/>
                </a:ext>
              </a:extLst>
            </p:cNvPr>
            <p:cNvSpPr/>
            <p:nvPr/>
          </p:nvSpPr>
          <p:spPr bwMode="auto">
            <a:xfrm>
              <a:off x="6041015" y="4170396"/>
              <a:ext cx="906511" cy="906148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2" name="矩形: 圆角 171">
              <a:extLst>
                <a:ext uri="{FF2B5EF4-FFF2-40B4-BE49-F238E27FC236}">
                  <a16:creationId xmlns:a16="http://schemas.microsoft.com/office/drawing/2014/main" id="{90FA98E0-2A7C-1690-7F97-2B4E3FD170A5}"/>
                </a:ext>
              </a:extLst>
            </p:cNvPr>
            <p:cNvSpPr/>
            <p:nvPr/>
          </p:nvSpPr>
          <p:spPr bwMode="auto">
            <a:xfrm>
              <a:off x="7307908" y="5157478"/>
              <a:ext cx="781092" cy="891865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矩形: 圆角 172">
              <a:extLst>
                <a:ext uri="{FF2B5EF4-FFF2-40B4-BE49-F238E27FC236}">
                  <a16:creationId xmlns:a16="http://schemas.microsoft.com/office/drawing/2014/main" id="{AFF9954B-DBAC-847C-D474-6631D8F7125A}"/>
                </a:ext>
              </a:extLst>
            </p:cNvPr>
            <p:cNvSpPr/>
            <p:nvPr/>
          </p:nvSpPr>
          <p:spPr bwMode="auto">
            <a:xfrm>
              <a:off x="6041015" y="5157478"/>
              <a:ext cx="885873" cy="891865"/>
            </a:xfrm>
            <a:prstGeom prst="roundRect">
              <a:avLst/>
            </a:prstGeom>
            <a:noFill/>
            <a:ln w="19050">
              <a:solidFill>
                <a:srgbClr val="99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84" name="Rectangle 19">
            <a:extLst>
              <a:ext uri="{FF2B5EF4-FFF2-40B4-BE49-F238E27FC236}">
                <a16:creationId xmlns:a16="http://schemas.microsoft.com/office/drawing/2014/main" id="{8CE7E1EC-0FA3-6A3E-82A0-BEF73D89D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70" y="1597399"/>
            <a:ext cx="6415484" cy="494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92" tIns="26621" rIns="18792" bIns="26621"/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定义接口和变量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rgbClr val="000000"/>
              </a:solidFill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 reduce (out,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nrst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in);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output  out;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input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nrst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in;</a:t>
            </a:r>
          </a:p>
          <a:p>
            <a:pPr>
              <a:spcAft>
                <a:spcPct val="0"/>
              </a:spcAft>
              <a:buFontTx/>
              <a:buNone/>
            </a:pP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parameter  zero= 0, one1= 1, two1s= 2;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reg   out;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reg [1:0]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 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，时序逻辑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always  @(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if (!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nrst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&lt;= zero;  //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同步复位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else current_ state &lt;=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94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FB603-0172-931E-FE0B-5D2C997B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kumimoji="1" lang="zh-CN" altLang="en-US" dirty="0"/>
              <a:t>示例：</a:t>
            </a:r>
            <a:r>
              <a:rPr lang="zh-CN" altLang="en-US" dirty="0"/>
              <a:t>两段式摩尔型</a:t>
            </a:r>
            <a:r>
              <a:rPr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812892-CDBE-FCC4-9931-95C9E151E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626228" cy="1011639"/>
          </a:xfrm>
        </p:spPr>
        <p:txBody>
          <a:bodyPr/>
          <a:lstStyle/>
          <a:p>
            <a:r>
              <a:rPr lang="zh-CN" altLang="en-US" sz="2400" dirty="0"/>
              <a:t>将输入序列中每次出现的第一个</a:t>
            </a:r>
            <a:r>
              <a:rPr lang="en-US" altLang="zh-CN" sz="2400" dirty="0"/>
              <a:t>1</a:t>
            </a:r>
            <a:r>
              <a:rPr lang="zh-CN" altLang="en-US" sz="2400" dirty="0"/>
              <a:t>替换为</a:t>
            </a:r>
            <a:r>
              <a:rPr lang="en-US" altLang="zh-CN" sz="2400" dirty="0"/>
              <a:t>0</a:t>
            </a:r>
            <a:r>
              <a:rPr lang="zh-CN" altLang="en-US" sz="2400" dirty="0"/>
              <a:t>，其他不变，然后输出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9B217A-E622-B6C3-51F0-18F3C400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C2D521-B147-5970-FBCE-2DDB1788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3089A714-998D-69C2-E068-666BD3AAA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024" y="3595222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75653225-D9AE-4329-91C9-9180DDF27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261" y="4721301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9359F173-3A19-8E50-1082-78661B796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724" y="3752442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48B555E4-4FF4-969F-DA5A-52C40A48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024" y="3050767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49DCE48-FA7D-69A9-AE92-D12FF8561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024" y="5188026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66A5FDC1-562C-E49D-9942-1C311A87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024" y="4653904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9F35D998-656C-62F1-3777-85F1A8EF6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2879317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zero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2D1874A9-E773-BABD-F418-CFD65063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3915506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one1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3ED87B9F-3F32-122B-0A25-28719892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4968951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two1s</a:t>
            </a:r>
          </a:p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/1</a:t>
            </a:r>
          </a:p>
        </p:txBody>
      </p:sp>
      <p:cxnSp>
        <p:nvCxnSpPr>
          <p:cNvPr id="45" name="AutoShape 13">
            <a:extLst>
              <a:ext uri="{FF2B5EF4-FFF2-40B4-BE49-F238E27FC236}">
                <a16:creationId xmlns:a16="http://schemas.microsoft.com/office/drawing/2014/main" id="{8C48E104-077E-C001-8B67-4D77BB840562}"/>
              </a:ext>
            </a:extLst>
          </p:cNvPr>
          <p:cNvCxnSpPr>
            <a:cxnSpLocks noChangeShapeType="1"/>
            <a:stCxn id="42" idx="4"/>
            <a:endCxn id="43" idx="0"/>
          </p:cNvCxnSpPr>
          <p:nvPr/>
        </p:nvCxnSpPr>
        <p:spPr bwMode="auto">
          <a:xfrm>
            <a:off x="8462580" y="3598454"/>
            <a:ext cx="0" cy="31705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14">
            <a:extLst>
              <a:ext uri="{FF2B5EF4-FFF2-40B4-BE49-F238E27FC236}">
                <a16:creationId xmlns:a16="http://schemas.microsoft.com/office/drawing/2014/main" id="{E8E57152-7B5D-F6E3-8844-80274A95BE3D}"/>
              </a:ext>
            </a:extLst>
          </p:cNvPr>
          <p:cNvCxnSpPr>
            <a:cxnSpLocks noChangeShapeType="1"/>
            <a:stCxn id="43" idx="4"/>
            <a:endCxn id="44" idx="0"/>
          </p:cNvCxnSpPr>
          <p:nvPr/>
        </p:nvCxnSpPr>
        <p:spPr bwMode="auto">
          <a:xfrm>
            <a:off x="8462580" y="4634643"/>
            <a:ext cx="0" cy="33430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15">
            <a:extLst>
              <a:ext uri="{FF2B5EF4-FFF2-40B4-BE49-F238E27FC236}">
                <a16:creationId xmlns:a16="http://schemas.microsoft.com/office/drawing/2014/main" id="{1E0F208C-F0CB-134C-ACB4-C8A65BFFFDF6}"/>
              </a:ext>
            </a:extLst>
          </p:cNvPr>
          <p:cNvCxnSpPr>
            <a:cxnSpLocks noChangeShapeType="1"/>
            <a:stCxn id="43" idx="2"/>
            <a:endCxn id="42" idx="2"/>
          </p:cNvCxnSpPr>
          <p:nvPr/>
        </p:nvCxnSpPr>
        <p:spPr bwMode="auto">
          <a:xfrm rot="10800000">
            <a:off x="7877586" y="3238887"/>
            <a:ext cx="12700" cy="1036189"/>
          </a:xfrm>
          <a:prstGeom prst="curvedConnector3">
            <a:avLst>
              <a:gd name="adj1" fmla="val 180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16">
            <a:extLst>
              <a:ext uri="{FF2B5EF4-FFF2-40B4-BE49-F238E27FC236}">
                <a16:creationId xmlns:a16="http://schemas.microsoft.com/office/drawing/2014/main" id="{8B16D408-F5D7-448A-6284-E9C33B3FD438}"/>
              </a:ext>
            </a:extLst>
          </p:cNvPr>
          <p:cNvCxnSpPr>
            <a:cxnSpLocks noChangeShapeType="1"/>
            <a:stCxn id="44" idx="2"/>
            <a:endCxn id="42" idx="2"/>
          </p:cNvCxnSpPr>
          <p:nvPr/>
        </p:nvCxnSpPr>
        <p:spPr bwMode="auto">
          <a:xfrm rot="10800000">
            <a:off x="7877586" y="3238886"/>
            <a:ext cx="12700" cy="2089634"/>
          </a:xfrm>
          <a:prstGeom prst="curvedConnector3">
            <a:avLst>
              <a:gd name="adj1" fmla="val 3905661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17">
            <a:extLst>
              <a:ext uri="{FF2B5EF4-FFF2-40B4-BE49-F238E27FC236}">
                <a16:creationId xmlns:a16="http://schemas.microsoft.com/office/drawing/2014/main" id="{80CF128A-607B-7976-9741-B5A69F8EA080}"/>
              </a:ext>
            </a:extLst>
          </p:cNvPr>
          <p:cNvCxnSpPr>
            <a:cxnSpLocks noChangeShapeType="1"/>
            <a:stCxn id="42" idx="5"/>
            <a:endCxn id="42" idx="7"/>
          </p:cNvCxnSpPr>
          <p:nvPr/>
        </p:nvCxnSpPr>
        <p:spPr bwMode="auto">
          <a:xfrm rot="5400000" flipH="1" flipV="1">
            <a:off x="8606249" y="3238092"/>
            <a:ext cx="541337" cy="1588"/>
          </a:xfrm>
          <a:prstGeom prst="curvedConnector5">
            <a:avLst>
              <a:gd name="adj1" fmla="val -25745"/>
              <a:gd name="adj2" fmla="val 41300014"/>
              <a:gd name="adj3" fmla="val 146069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18">
            <a:extLst>
              <a:ext uri="{FF2B5EF4-FFF2-40B4-BE49-F238E27FC236}">
                <a16:creationId xmlns:a16="http://schemas.microsoft.com/office/drawing/2014/main" id="{57337A3F-CE9F-03D7-B75E-541BA8DD7002}"/>
              </a:ext>
            </a:extLst>
          </p:cNvPr>
          <p:cNvCxnSpPr>
            <a:cxnSpLocks noChangeShapeType="1"/>
            <a:stCxn id="44" idx="5"/>
            <a:endCxn id="44" idx="7"/>
          </p:cNvCxnSpPr>
          <p:nvPr/>
        </p:nvCxnSpPr>
        <p:spPr bwMode="auto">
          <a:xfrm rot="5400000" flipH="1" flipV="1">
            <a:off x="8606249" y="5327726"/>
            <a:ext cx="541337" cy="1588"/>
          </a:xfrm>
          <a:prstGeom prst="curvedConnector5">
            <a:avLst>
              <a:gd name="adj1" fmla="val -36046"/>
              <a:gd name="adj2" fmla="val 42100014"/>
              <a:gd name="adj3" fmla="val 143898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1" name="Group 21">
            <a:extLst>
              <a:ext uri="{FF2B5EF4-FFF2-40B4-BE49-F238E27FC236}">
                <a16:creationId xmlns:a16="http://schemas.microsoft.com/office/drawing/2014/main" id="{E824E153-EB5B-B80E-DA57-B233776797EA}"/>
              </a:ext>
            </a:extLst>
          </p:cNvPr>
          <p:cNvGrpSpPr>
            <a:grpSpLocks/>
          </p:cNvGrpSpPr>
          <p:nvPr/>
        </p:nvGrpSpPr>
        <p:grpSpPr bwMode="auto">
          <a:xfrm>
            <a:off x="7872824" y="5819719"/>
            <a:ext cx="1781175" cy="720725"/>
            <a:chOff x="4201" y="3498"/>
            <a:chExt cx="1122" cy="454"/>
          </a:xfrm>
        </p:grpSpPr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id="{E5C8D1C6-A997-CC25-2FC7-060B7F4D9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" y="3498"/>
              <a:ext cx="157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in</a:t>
              </a:r>
            </a:p>
          </p:txBody>
        </p:sp>
        <p:sp>
          <p:nvSpPr>
            <p:cNvPr id="53" name="Line 23">
              <a:extLst>
                <a:ext uri="{FF2B5EF4-FFF2-40B4-BE49-F238E27FC236}">
                  <a16:creationId xmlns:a16="http://schemas.microsoft.com/office/drawing/2014/main" id="{018B0E94-1C48-18F5-6E8C-25F736B5B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" y="3725"/>
              <a:ext cx="3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Oval 24">
              <a:extLst>
                <a:ext uri="{FF2B5EF4-FFF2-40B4-BE49-F238E27FC236}">
                  <a16:creationId xmlns:a16="http://schemas.microsoft.com/office/drawing/2014/main" id="{FBCCB1B2-8FDC-96ED-B1F8-230F38961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3499"/>
              <a:ext cx="737" cy="4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state</a:t>
              </a:r>
            </a:p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/out</a:t>
              </a:r>
            </a:p>
          </p:txBody>
        </p:sp>
      </p:grpSp>
      <p:grpSp>
        <p:nvGrpSpPr>
          <p:cNvPr id="55" name="Group 25">
            <a:extLst>
              <a:ext uri="{FF2B5EF4-FFF2-40B4-BE49-F238E27FC236}">
                <a16:creationId xmlns:a16="http://schemas.microsoft.com/office/drawing/2014/main" id="{EC54F68B-EECE-A064-18F1-215CFA77D49D}"/>
              </a:ext>
            </a:extLst>
          </p:cNvPr>
          <p:cNvGrpSpPr>
            <a:grpSpLocks/>
          </p:cNvGrpSpPr>
          <p:nvPr/>
        </p:nvGrpSpPr>
        <p:grpSpPr bwMode="auto">
          <a:xfrm>
            <a:off x="7769636" y="2374494"/>
            <a:ext cx="715963" cy="492126"/>
            <a:chOff x="4144" y="935"/>
            <a:chExt cx="451" cy="310"/>
          </a:xfrm>
        </p:grpSpPr>
        <p:cxnSp>
          <p:nvCxnSpPr>
            <p:cNvPr id="56" name="AutoShape 26">
              <a:extLst>
                <a:ext uri="{FF2B5EF4-FFF2-40B4-BE49-F238E27FC236}">
                  <a16:creationId xmlns:a16="http://schemas.microsoft.com/office/drawing/2014/main" id="{483A64A4-C6DA-4B5F-3BCB-335F6E7BC8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4" y="981"/>
              <a:ext cx="1" cy="2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Rectangle 27">
              <a:extLst>
                <a:ext uri="{FF2B5EF4-FFF2-40B4-BE49-F238E27FC236}">
                  <a16:creationId xmlns:a16="http://schemas.microsoft.com/office/drawing/2014/main" id="{DA263493-E78D-B159-3F0A-DF7FED15C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935"/>
              <a:ext cx="35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</a:rPr>
                <a:t>!</a:t>
              </a:r>
              <a:r>
                <a:rPr lang="en-US" altLang="zh-CN" sz="2000" dirty="0" err="1">
                  <a:solidFill>
                    <a:srgbClr val="000000"/>
                  </a:solidFill>
                </a:rPr>
                <a:t>nrst</a:t>
              </a:r>
              <a:endParaRPr lang="en-US" altLang="zh-CN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1088C4E1-A8C2-2B3E-9B32-B6501EDEC318}"/>
              </a:ext>
            </a:extLst>
          </p:cNvPr>
          <p:cNvSpPr/>
          <p:nvPr/>
        </p:nvSpPr>
        <p:spPr>
          <a:xfrm>
            <a:off x="6793232" y="0"/>
            <a:ext cx="3112768" cy="2029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9" name="组合 168">
            <a:extLst>
              <a:ext uri="{FF2B5EF4-FFF2-40B4-BE49-F238E27FC236}">
                <a16:creationId xmlns:a16="http://schemas.microsoft.com/office/drawing/2014/main" id="{6D4D27B4-297B-1855-E029-14CB6B17B27F}"/>
              </a:ext>
            </a:extLst>
          </p:cNvPr>
          <p:cNvGrpSpPr>
            <a:grpSpLocks/>
          </p:cNvGrpSpPr>
          <p:nvPr/>
        </p:nvGrpSpPr>
        <p:grpSpPr bwMode="auto">
          <a:xfrm>
            <a:off x="6875079" y="-58120"/>
            <a:ext cx="2906713" cy="2065337"/>
            <a:chOff x="5534574" y="4086288"/>
            <a:chExt cx="2906871" cy="2064620"/>
          </a:xfrm>
        </p:grpSpPr>
        <p:grpSp>
          <p:nvGrpSpPr>
            <p:cNvPr id="60" name="组合 169">
              <a:extLst>
                <a:ext uri="{FF2B5EF4-FFF2-40B4-BE49-F238E27FC236}">
                  <a16:creationId xmlns:a16="http://schemas.microsoft.com/office/drawing/2014/main" id="{1BA79C1C-981C-09BA-10F6-98EB87CCF9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34574" y="4086288"/>
              <a:ext cx="2906871" cy="2064620"/>
              <a:chOff x="5217578" y="1581868"/>
              <a:chExt cx="2906871" cy="2064620"/>
            </a:xfrm>
          </p:grpSpPr>
          <p:sp>
            <p:nvSpPr>
              <p:cNvPr id="64" name="TextBox 34">
                <a:extLst>
                  <a:ext uri="{FF2B5EF4-FFF2-40B4-BE49-F238E27FC236}">
                    <a16:creationId xmlns:a16="http://schemas.microsoft.com/office/drawing/2014/main" id="{F4FB0BC1-6A25-7F02-92CA-975E54057CE1}"/>
                  </a:ext>
                </a:extLst>
              </p:cNvPr>
              <p:cNvSpPr txBox="1"/>
              <p:nvPr/>
            </p:nvSpPr>
            <p:spPr bwMode="auto">
              <a:xfrm>
                <a:off x="7184598" y="2729232"/>
                <a:ext cx="466750" cy="687149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TextBox 35">
                <a:extLst>
                  <a:ext uri="{FF2B5EF4-FFF2-40B4-BE49-F238E27FC236}">
                    <a16:creationId xmlns:a16="http://schemas.microsoft.com/office/drawing/2014/main" id="{FA2F5D22-4654-72BE-6D56-5ED8BDEAD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36">
                <a:extLst>
                  <a:ext uri="{FF2B5EF4-FFF2-40B4-BE49-F238E27FC236}">
                    <a16:creationId xmlns:a16="http://schemas.microsoft.com/office/drawing/2014/main" id="{0CC67573-C82F-4416-027F-533A7CE77738}"/>
                  </a:ext>
                </a:extLst>
              </p:cNvPr>
              <p:cNvSpPr txBox="1"/>
              <p:nvPr/>
            </p:nvSpPr>
            <p:spPr bwMode="auto">
              <a:xfrm>
                <a:off x="5911354" y="2726058"/>
                <a:ext cx="520728" cy="69032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67" name="直接箭头连接符 176">
                <a:extLst>
                  <a:ext uri="{FF2B5EF4-FFF2-40B4-BE49-F238E27FC236}">
                    <a16:creationId xmlns:a16="http://schemas.microsoft.com/office/drawing/2014/main" id="{58191A67-01BB-61E7-858D-A035C7D7B2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3200556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177">
                <a:extLst>
                  <a:ext uri="{FF2B5EF4-FFF2-40B4-BE49-F238E27FC236}">
                    <a16:creationId xmlns:a16="http://schemas.microsoft.com/office/drawing/2014/main" id="{60F7F0FB-A804-0BFE-3E47-C6DE7F2AB110}"/>
                  </a:ext>
                </a:extLst>
              </p:cNvPr>
              <p:cNvCxnSpPr/>
              <p:nvPr/>
            </p:nvCxnSpPr>
            <p:spPr bwMode="auto">
              <a:xfrm>
                <a:off x="7651348" y="3102165"/>
                <a:ext cx="369907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178">
                <a:extLst>
                  <a:ext uri="{FF2B5EF4-FFF2-40B4-BE49-F238E27FC236}">
                    <a16:creationId xmlns:a16="http://schemas.microsoft.com/office/drawing/2014/main" id="{1EE0E5DE-7824-05D0-4FCA-8A53460B34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6019" y="3100578"/>
                <a:ext cx="0" cy="5459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接箭头连接符 179">
                <a:extLst>
                  <a:ext uri="{FF2B5EF4-FFF2-40B4-BE49-F238E27FC236}">
                    <a16:creationId xmlns:a16="http://schemas.microsoft.com/office/drawing/2014/main" id="{0A23F7C4-81EF-8A62-1188-784404DDE4A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34" y="3646488"/>
                <a:ext cx="24782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180">
                <a:extLst>
                  <a:ext uri="{FF2B5EF4-FFF2-40B4-BE49-F238E27FC236}">
                    <a16:creationId xmlns:a16="http://schemas.microsoft.com/office/drawing/2014/main" id="{B8D4E406-FFEB-CCF1-9754-1D659F7C82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2311864"/>
                <a:ext cx="0" cy="13346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181">
                <a:extLst>
                  <a:ext uri="{FF2B5EF4-FFF2-40B4-BE49-F238E27FC236}">
                    <a16:creationId xmlns:a16="http://schemas.microsoft.com/office/drawing/2014/main" id="{148F5B9C-25CE-2BC7-BB07-A4CD599363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2148408"/>
                <a:ext cx="159552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182">
                <a:extLst>
                  <a:ext uri="{FF2B5EF4-FFF2-40B4-BE49-F238E27FC236}">
                    <a16:creationId xmlns:a16="http://schemas.microsoft.com/office/drawing/2014/main" id="{95610F57-D272-1263-D7FF-31E1D67C2E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3100578"/>
                <a:ext cx="7525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TextBox 58">
                <a:extLst>
                  <a:ext uri="{FF2B5EF4-FFF2-40B4-BE49-F238E27FC236}">
                    <a16:creationId xmlns:a16="http://schemas.microsoft.com/office/drawing/2014/main" id="{5F008CBD-278C-CB83-1123-D3B432939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581868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Box 60">
                <a:extLst>
                  <a:ext uri="{FF2B5EF4-FFF2-40B4-BE49-F238E27FC236}">
                    <a16:creationId xmlns:a16="http://schemas.microsoft.com/office/drawing/2014/main" id="{CDDACB2A-09B5-E596-43E3-9E7BCF2FB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77727" y="1689880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TextBox 61">
                <a:extLst>
                  <a:ext uri="{FF2B5EF4-FFF2-40B4-BE49-F238E27FC236}">
                    <a16:creationId xmlns:a16="http://schemas.microsoft.com/office/drawing/2014/main" id="{455E4681-76D3-50A5-CA44-E8472A69D0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47392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62">
                <a:extLst>
                  <a:ext uri="{FF2B5EF4-FFF2-40B4-BE49-F238E27FC236}">
                    <a16:creationId xmlns:a16="http://schemas.microsoft.com/office/drawing/2014/main" id="{7C5E2F12-A72E-D9EB-45F6-7C8D3BB52C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91895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8" name="直接箭头连接符 187">
                <a:extLst>
                  <a:ext uri="{FF2B5EF4-FFF2-40B4-BE49-F238E27FC236}">
                    <a16:creationId xmlns:a16="http://schemas.microsoft.com/office/drawing/2014/main" id="{17AA6054-6FB8-4C9B-D03F-8095830E95D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5" y="2050017"/>
                <a:ext cx="64773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TextBox 36">
                <a:extLst>
                  <a:ext uri="{FF2B5EF4-FFF2-40B4-BE49-F238E27FC236}">
                    <a16:creationId xmlns:a16="http://schemas.microsoft.com/office/drawing/2014/main" id="{B87E632F-82D4-1EF8-A808-D43DBF83793E}"/>
                  </a:ext>
                </a:extLst>
              </p:cNvPr>
              <p:cNvSpPr txBox="1"/>
              <p:nvPr/>
            </p:nvSpPr>
            <p:spPr bwMode="auto">
              <a:xfrm>
                <a:off x="5922466" y="1813563"/>
                <a:ext cx="520728" cy="69032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80" name="直接箭头连接符 189">
                <a:extLst>
                  <a:ext uri="{FF2B5EF4-FFF2-40B4-BE49-F238E27FC236}">
                    <a16:creationId xmlns:a16="http://schemas.microsoft.com/office/drawing/2014/main" id="{5E0D4680-9B5B-436F-9F90-61E17FAD4B9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0971" y="2311864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接箭头连接符 190">
                <a:extLst>
                  <a:ext uri="{FF2B5EF4-FFF2-40B4-BE49-F238E27FC236}">
                    <a16:creationId xmlns:a16="http://schemas.microsoft.com/office/drawing/2014/main" id="{746A31E7-37CC-83A3-DA7B-575C6321BB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930775"/>
                <a:ext cx="46833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191">
                <a:extLst>
                  <a:ext uri="{FF2B5EF4-FFF2-40B4-BE49-F238E27FC236}">
                    <a16:creationId xmlns:a16="http://schemas.microsoft.com/office/drawing/2014/main" id="{317C121D-87E2-ADC0-EB4E-10C77CC580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050017"/>
                <a:ext cx="0" cy="88075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1" name="矩形: 圆角 170">
              <a:extLst>
                <a:ext uri="{FF2B5EF4-FFF2-40B4-BE49-F238E27FC236}">
                  <a16:creationId xmlns:a16="http://schemas.microsoft.com/office/drawing/2014/main" id="{43BF6412-047F-5C13-6E82-183B1DCC6FAB}"/>
                </a:ext>
              </a:extLst>
            </p:cNvPr>
            <p:cNvSpPr/>
            <p:nvPr/>
          </p:nvSpPr>
          <p:spPr bwMode="auto">
            <a:xfrm>
              <a:off x="6041015" y="4170396"/>
              <a:ext cx="906511" cy="906148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2" name="矩形: 圆角 171">
              <a:extLst>
                <a:ext uri="{FF2B5EF4-FFF2-40B4-BE49-F238E27FC236}">
                  <a16:creationId xmlns:a16="http://schemas.microsoft.com/office/drawing/2014/main" id="{90FA98E0-2A7C-1690-7F97-2B4E3FD170A5}"/>
                </a:ext>
              </a:extLst>
            </p:cNvPr>
            <p:cNvSpPr/>
            <p:nvPr/>
          </p:nvSpPr>
          <p:spPr bwMode="auto">
            <a:xfrm>
              <a:off x="7307908" y="5157478"/>
              <a:ext cx="781092" cy="891865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矩形: 圆角 172">
              <a:extLst>
                <a:ext uri="{FF2B5EF4-FFF2-40B4-BE49-F238E27FC236}">
                  <a16:creationId xmlns:a16="http://schemas.microsoft.com/office/drawing/2014/main" id="{AFF9954B-DBAC-847C-D474-6631D8F7125A}"/>
                </a:ext>
              </a:extLst>
            </p:cNvPr>
            <p:cNvSpPr/>
            <p:nvPr/>
          </p:nvSpPr>
          <p:spPr bwMode="auto">
            <a:xfrm>
              <a:off x="6041015" y="5157478"/>
              <a:ext cx="885873" cy="891865"/>
            </a:xfrm>
            <a:prstGeom prst="roundRect">
              <a:avLst/>
            </a:prstGeom>
            <a:noFill/>
            <a:ln w="19050">
              <a:solidFill>
                <a:srgbClr val="99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84" name="Rectangle 19">
            <a:extLst>
              <a:ext uri="{FF2B5EF4-FFF2-40B4-BE49-F238E27FC236}">
                <a16:creationId xmlns:a16="http://schemas.microsoft.com/office/drawing/2014/main" id="{8CE7E1EC-0FA3-6A3E-82A0-BEF73D89D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10" y="1465880"/>
            <a:ext cx="6415484" cy="494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92" tIns="26621" rIns="18792" bIns="26621"/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，组合逻辑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always  @(in or current_ state)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zero;  	//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保证不进入未知状态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case (current_ state)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	zero: begin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if  (in)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one1;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else 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zero;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end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	one1: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if  (in)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two1s;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else 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zero;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end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two1s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			if  (in)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two1s;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else 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zero;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	end</a:t>
            </a:r>
            <a:b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endcase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5428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FB603-0172-931E-FE0B-5D2C997B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kumimoji="1" lang="zh-CN" altLang="en-US" dirty="0"/>
              <a:t>示例：</a:t>
            </a:r>
            <a:r>
              <a:rPr lang="zh-CN" altLang="en-US" dirty="0"/>
              <a:t>两段式摩尔型</a:t>
            </a:r>
            <a:r>
              <a:rPr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812892-CDBE-FCC4-9931-95C9E151E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626228" cy="1011639"/>
          </a:xfrm>
        </p:spPr>
        <p:txBody>
          <a:bodyPr/>
          <a:lstStyle/>
          <a:p>
            <a:r>
              <a:rPr lang="zh-CN" altLang="en-US" sz="2400" dirty="0"/>
              <a:t>将输入序列中每次出现的第一个</a:t>
            </a:r>
            <a:r>
              <a:rPr lang="en-US" altLang="zh-CN" sz="2400" dirty="0"/>
              <a:t>1</a:t>
            </a:r>
            <a:r>
              <a:rPr lang="zh-CN" altLang="en-US" sz="2400" dirty="0"/>
              <a:t>替换为</a:t>
            </a:r>
            <a:r>
              <a:rPr lang="en-US" altLang="zh-CN" sz="2400" dirty="0"/>
              <a:t>0</a:t>
            </a:r>
            <a:r>
              <a:rPr lang="zh-CN" altLang="en-US" sz="2400" dirty="0"/>
              <a:t>，其他不变，然后输出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9B217A-E622-B6C3-51F0-18F3C400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C2D521-B147-5970-FBCE-2DDB1788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3089A714-998D-69C2-E068-666BD3AAA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024" y="3595222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75653225-D9AE-4329-91C9-9180DDF27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261" y="4721301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9359F173-3A19-8E50-1082-78661B796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724" y="3752442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48B555E4-4FF4-969F-DA5A-52C40A48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024" y="3050767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49DCE48-FA7D-69A9-AE92-D12FF8561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024" y="5188026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66A5FDC1-562C-E49D-9942-1C311A87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024" y="4653904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9F35D998-656C-62F1-3777-85F1A8EF6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2879317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zero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2D1874A9-E773-BABD-F418-CFD65063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3915506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one1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3ED87B9F-3F32-122B-0A25-28719892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586" y="4968951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two1s</a:t>
            </a:r>
          </a:p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/1</a:t>
            </a:r>
          </a:p>
        </p:txBody>
      </p:sp>
      <p:cxnSp>
        <p:nvCxnSpPr>
          <p:cNvPr id="45" name="AutoShape 13">
            <a:extLst>
              <a:ext uri="{FF2B5EF4-FFF2-40B4-BE49-F238E27FC236}">
                <a16:creationId xmlns:a16="http://schemas.microsoft.com/office/drawing/2014/main" id="{8C48E104-077E-C001-8B67-4D77BB840562}"/>
              </a:ext>
            </a:extLst>
          </p:cNvPr>
          <p:cNvCxnSpPr>
            <a:cxnSpLocks noChangeShapeType="1"/>
            <a:stCxn id="42" idx="4"/>
            <a:endCxn id="43" idx="0"/>
          </p:cNvCxnSpPr>
          <p:nvPr/>
        </p:nvCxnSpPr>
        <p:spPr bwMode="auto">
          <a:xfrm>
            <a:off x="8462580" y="3598454"/>
            <a:ext cx="0" cy="31705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14">
            <a:extLst>
              <a:ext uri="{FF2B5EF4-FFF2-40B4-BE49-F238E27FC236}">
                <a16:creationId xmlns:a16="http://schemas.microsoft.com/office/drawing/2014/main" id="{E8E57152-7B5D-F6E3-8844-80274A95BE3D}"/>
              </a:ext>
            </a:extLst>
          </p:cNvPr>
          <p:cNvCxnSpPr>
            <a:cxnSpLocks noChangeShapeType="1"/>
            <a:stCxn id="43" idx="4"/>
            <a:endCxn id="44" idx="0"/>
          </p:cNvCxnSpPr>
          <p:nvPr/>
        </p:nvCxnSpPr>
        <p:spPr bwMode="auto">
          <a:xfrm>
            <a:off x="8462580" y="4634643"/>
            <a:ext cx="0" cy="33430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15">
            <a:extLst>
              <a:ext uri="{FF2B5EF4-FFF2-40B4-BE49-F238E27FC236}">
                <a16:creationId xmlns:a16="http://schemas.microsoft.com/office/drawing/2014/main" id="{1E0F208C-F0CB-134C-ACB4-C8A65BFFFDF6}"/>
              </a:ext>
            </a:extLst>
          </p:cNvPr>
          <p:cNvCxnSpPr>
            <a:cxnSpLocks noChangeShapeType="1"/>
            <a:stCxn id="43" idx="2"/>
            <a:endCxn id="42" idx="2"/>
          </p:cNvCxnSpPr>
          <p:nvPr/>
        </p:nvCxnSpPr>
        <p:spPr bwMode="auto">
          <a:xfrm rot="10800000">
            <a:off x="7877586" y="3238887"/>
            <a:ext cx="12700" cy="1036189"/>
          </a:xfrm>
          <a:prstGeom prst="curvedConnector3">
            <a:avLst>
              <a:gd name="adj1" fmla="val 180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16">
            <a:extLst>
              <a:ext uri="{FF2B5EF4-FFF2-40B4-BE49-F238E27FC236}">
                <a16:creationId xmlns:a16="http://schemas.microsoft.com/office/drawing/2014/main" id="{8B16D408-F5D7-448A-6284-E9C33B3FD438}"/>
              </a:ext>
            </a:extLst>
          </p:cNvPr>
          <p:cNvCxnSpPr>
            <a:cxnSpLocks noChangeShapeType="1"/>
            <a:stCxn id="44" idx="2"/>
            <a:endCxn id="42" idx="2"/>
          </p:cNvCxnSpPr>
          <p:nvPr/>
        </p:nvCxnSpPr>
        <p:spPr bwMode="auto">
          <a:xfrm rot="10800000">
            <a:off x="7877586" y="3238886"/>
            <a:ext cx="12700" cy="2089634"/>
          </a:xfrm>
          <a:prstGeom prst="curvedConnector3">
            <a:avLst>
              <a:gd name="adj1" fmla="val 3905661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17">
            <a:extLst>
              <a:ext uri="{FF2B5EF4-FFF2-40B4-BE49-F238E27FC236}">
                <a16:creationId xmlns:a16="http://schemas.microsoft.com/office/drawing/2014/main" id="{80CF128A-607B-7976-9741-B5A69F8EA080}"/>
              </a:ext>
            </a:extLst>
          </p:cNvPr>
          <p:cNvCxnSpPr>
            <a:cxnSpLocks noChangeShapeType="1"/>
            <a:stCxn id="42" idx="5"/>
            <a:endCxn id="42" idx="7"/>
          </p:cNvCxnSpPr>
          <p:nvPr/>
        </p:nvCxnSpPr>
        <p:spPr bwMode="auto">
          <a:xfrm rot="5400000" flipH="1" flipV="1">
            <a:off x="8606249" y="3238092"/>
            <a:ext cx="541337" cy="1588"/>
          </a:xfrm>
          <a:prstGeom prst="curvedConnector5">
            <a:avLst>
              <a:gd name="adj1" fmla="val -25745"/>
              <a:gd name="adj2" fmla="val 41300014"/>
              <a:gd name="adj3" fmla="val 146069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18">
            <a:extLst>
              <a:ext uri="{FF2B5EF4-FFF2-40B4-BE49-F238E27FC236}">
                <a16:creationId xmlns:a16="http://schemas.microsoft.com/office/drawing/2014/main" id="{57337A3F-CE9F-03D7-B75E-541BA8DD7002}"/>
              </a:ext>
            </a:extLst>
          </p:cNvPr>
          <p:cNvCxnSpPr>
            <a:cxnSpLocks noChangeShapeType="1"/>
            <a:stCxn id="44" idx="5"/>
            <a:endCxn id="44" idx="7"/>
          </p:cNvCxnSpPr>
          <p:nvPr/>
        </p:nvCxnSpPr>
        <p:spPr bwMode="auto">
          <a:xfrm rot="5400000" flipH="1" flipV="1">
            <a:off x="8606249" y="5327726"/>
            <a:ext cx="541337" cy="1588"/>
          </a:xfrm>
          <a:prstGeom prst="curvedConnector5">
            <a:avLst>
              <a:gd name="adj1" fmla="val -36046"/>
              <a:gd name="adj2" fmla="val 42100014"/>
              <a:gd name="adj3" fmla="val 143898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1" name="Group 21">
            <a:extLst>
              <a:ext uri="{FF2B5EF4-FFF2-40B4-BE49-F238E27FC236}">
                <a16:creationId xmlns:a16="http://schemas.microsoft.com/office/drawing/2014/main" id="{E824E153-EB5B-B80E-DA57-B233776797EA}"/>
              </a:ext>
            </a:extLst>
          </p:cNvPr>
          <p:cNvGrpSpPr>
            <a:grpSpLocks/>
          </p:cNvGrpSpPr>
          <p:nvPr/>
        </p:nvGrpSpPr>
        <p:grpSpPr bwMode="auto">
          <a:xfrm>
            <a:off x="7872824" y="5819719"/>
            <a:ext cx="1781175" cy="720725"/>
            <a:chOff x="4201" y="3498"/>
            <a:chExt cx="1122" cy="454"/>
          </a:xfrm>
        </p:grpSpPr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id="{E5C8D1C6-A997-CC25-2FC7-060B7F4D9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" y="3498"/>
              <a:ext cx="157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in</a:t>
              </a:r>
            </a:p>
          </p:txBody>
        </p:sp>
        <p:sp>
          <p:nvSpPr>
            <p:cNvPr id="53" name="Line 23">
              <a:extLst>
                <a:ext uri="{FF2B5EF4-FFF2-40B4-BE49-F238E27FC236}">
                  <a16:creationId xmlns:a16="http://schemas.microsoft.com/office/drawing/2014/main" id="{018B0E94-1C48-18F5-6E8C-25F736B5B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" y="3725"/>
              <a:ext cx="3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Oval 24">
              <a:extLst>
                <a:ext uri="{FF2B5EF4-FFF2-40B4-BE49-F238E27FC236}">
                  <a16:creationId xmlns:a16="http://schemas.microsoft.com/office/drawing/2014/main" id="{FBCCB1B2-8FDC-96ED-B1F8-230F38961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3499"/>
              <a:ext cx="737" cy="4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state</a:t>
              </a:r>
            </a:p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/out</a:t>
              </a:r>
            </a:p>
          </p:txBody>
        </p:sp>
      </p:grpSp>
      <p:grpSp>
        <p:nvGrpSpPr>
          <p:cNvPr id="55" name="Group 25">
            <a:extLst>
              <a:ext uri="{FF2B5EF4-FFF2-40B4-BE49-F238E27FC236}">
                <a16:creationId xmlns:a16="http://schemas.microsoft.com/office/drawing/2014/main" id="{EC54F68B-EECE-A064-18F1-215CFA77D49D}"/>
              </a:ext>
            </a:extLst>
          </p:cNvPr>
          <p:cNvGrpSpPr>
            <a:grpSpLocks/>
          </p:cNvGrpSpPr>
          <p:nvPr/>
        </p:nvGrpSpPr>
        <p:grpSpPr bwMode="auto">
          <a:xfrm>
            <a:off x="7769636" y="2374494"/>
            <a:ext cx="715963" cy="492126"/>
            <a:chOff x="4144" y="935"/>
            <a:chExt cx="451" cy="310"/>
          </a:xfrm>
        </p:grpSpPr>
        <p:cxnSp>
          <p:nvCxnSpPr>
            <p:cNvPr id="56" name="AutoShape 26">
              <a:extLst>
                <a:ext uri="{FF2B5EF4-FFF2-40B4-BE49-F238E27FC236}">
                  <a16:creationId xmlns:a16="http://schemas.microsoft.com/office/drawing/2014/main" id="{483A64A4-C6DA-4B5F-3BCB-335F6E7BC8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4" y="981"/>
              <a:ext cx="1" cy="2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Rectangle 27">
              <a:extLst>
                <a:ext uri="{FF2B5EF4-FFF2-40B4-BE49-F238E27FC236}">
                  <a16:creationId xmlns:a16="http://schemas.microsoft.com/office/drawing/2014/main" id="{DA263493-E78D-B159-3F0A-DF7FED15C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935"/>
              <a:ext cx="35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</a:rPr>
                <a:t>!</a:t>
              </a:r>
              <a:r>
                <a:rPr lang="en-US" altLang="zh-CN" sz="2000" dirty="0" err="1">
                  <a:solidFill>
                    <a:srgbClr val="000000"/>
                  </a:solidFill>
                </a:rPr>
                <a:t>nrst</a:t>
              </a:r>
              <a:endParaRPr lang="en-US" altLang="zh-CN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1088C4E1-A8C2-2B3E-9B32-B6501EDEC318}"/>
              </a:ext>
            </a:extLst>
          </p:cNvPr>
          <p:cNvSpPr/>
          <p:nvPr/>
        </p:nvSpPr>
        <p:spPr>
          <a:xfrm>
            <a:off x="6793232" y="0"/>
            <a:ext cx="3112768" cy="2029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9" name="组合 168">
            <a:extLst>
              <a:ext uri="{FF2B5EF4-FFF2-40B4-BE49-F238E27FC236}">
                <a16:creationId xmlns:a16="http://schemas.microsoft.com/office/drawing/2014/main" id="{6D4D27B4-297B-1855-E029-14CB6B17B27F}"/>
              </a:ext>
            </a:extLst>
          </p:cNvPr>
          <p:cNvGrpSpPr>
            <a:grpSpLocks/>
          </p:cNvGrpSpPr>
          <p:nvPr/>
        </p:nvGrpSpPr>
        <p:grpSpPr bwMode="auto">
          <a:xfrm>
            <a:off x="6875079" y="-58120"/>
            <a:ext cx="2906713" cy="2065337"/>
            <a:chOff x="5534574" y="4086288"/>
            <a:chExt cx="2906871" cy="2064620"/>
          </a:xfrm>
        </p:grpSpPr>
        <p:grpSp>
          <p:nvGrpSpPr>
            <p:cNvPr id="60" name="组合 169">
              <a:extLst>
                <a:ext uri="{FF2B5EF4-FFF2-40B4-BE49-F238E27FC236}">
                  <a16:creationId xmlns:a16="http://schemas.microsoft.com/office/drawing/2014/main" id="{1BA79C1C-981C-09BA-10F6-98EB87CCF9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34574" y="4086288"/>
              <a:ext cx="2906871" cy="2064620"/>
              <a:chOff x="5217578" y="1581868"/>
              <a:chExt cx="2906871" cy="2064620"/>
            </a:xfrm>
          </p:grpSpPr>
          <p:sp>
            <p:nvSpPr>
              <p:cNvPr id="64" name="TextBox 34">
                <a:extLst>
                  <a:ext uri="{FF2B5EF4-FFF2-40B4-BE49-F238E27FC236}">
                    <a16:creationId xmlns:a16="http://schemas.microsoft.com/office/drawing/2014/main" id="{F4FB0BC1-6A25-7F02-92CA-975E54057CE1}"/>
                  </a:ext>
                </a:extLst>
              </p:cNvPr>
              <p:cNvSpPr txBox="1"/>
              <p:nvPr/>
            </p:nvSpPr>
            <p:spPr bwMode="auto">
              <a:xfrm>
                <a:off x="7184598" y="2729232"/>
                <a:ext cx="466750" cy="687149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TextBox 35">
                <a:extLst>
                  <a:ext uri="{FF2B5EF4-FFF2-40B4-BE49-F238E27FC236}">
                    <a16:creationId xmlns:a16="http://schemas.microsoft.com/office/drawing/2014/main" id="{FA2F5D22-4654-72BE-6D56-5ED8BDEAD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36">
                <a:extLst>
                  <a:ext uri="{FF2B5EF4-FFF2-40B4-BE49-F238E27FC236}">
                    <a16:creationId xmlns:a16="http://schemas.microsoft.com/office/drawing/2014/main" id="{0CC67573-C82F-4416-027F-533A7CE77738}"/>
                  </a:ext>
                </a:extLst>
              </p:cNvPr>
              <p:cNvSpPr txBox="1"/>
              <p:nvPr/>
            </p:nvSpPr>
            <p:spPr bwMode="auto">
              <a:xfrm>
                <a:off x="5911354" y="2726058"/>
                <a:ext cx="520728" cy="69032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67" name="直接箭头连接符 176">
                <a:extLst>
                  <a:ext uri="{FF2B5EF4-FFF2-40B4-BE49-F238E27FC236}">
                    <a16:creationId xmlns:a16="http://schemas.microsoft.com/office/drawing/2014/main" id="{58191A67-01BB-61E7-858D-A035C7D7B2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3200556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177">
                <a:extLst>
                  <a:ext uri="{FF2B5EF4-FFF2-40B4-BE49-F238E27FC236}">
                    <a16:creationId xmlns:a16="http://schemas.microsoft.com/office/drawing/2014/main" id="{60F7F0FB-A804-0BFE-3E47-C6DE7F2AB110}"/>
                  </a:ext>
                </a:extLst>
              </p:cNvPr>
              <p:cNvCxnSpPr/>
              <p:nvPr/>
            </p:nvCxnSpPr>
            <p:spPr bwMode="auto">
              <a:xfrm>
                <a:off x="7651348" y="3102165"/>
                <a:ext cx="369907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178">
                <a:extLst>
                  <a:ext uri="{FF2B5EF4-FFF2-40B4-BE49-F238E27FC236}">
                    <a16:creationId xmlns:a16="http://schemas.microsoft.com/office/drawing/2014/main" id="{1EE0E5DE-7824-05D0-4FCA-8A53460B34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6019" y="3100578"/>
                <a:ext cx="0" cy="5459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接箭头连接符 179">
                <a:extLst>
                  <a:ext uri="{FF2B5EF4-FFF2-40B4-BE49-F238E27FC236}">
                    <a16:creationId xmlns:a16="http://schemas.microsoft.com/office/drawing/2014/main" id="{0A23F7C4-81EF-8A62-1188-784404DDE4A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34" y="3646488"/>
                <a:ext cx="24782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180">
                <a:extLst>
                  <a:ext uri="{FF2B5EF4-FFF2-40B4-BE49-F238E27FC236}">
                    <a16:creationId xmlns:a16="http://schemas.microsoft.com/office/drawing/2014/main" id="{B8D4E406-FFEB-CCF1-9754-1D659F7C82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2311864"/>
                <a:ext cx="0" cy="13346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181">
                <a:extLst>
                  <a:ext uri="{FF2B5EF4-FFF2-40B4-BE49-F238E27FC236}">
                    <a16:creationId xmlns:a16="http://schemas.microsoft.com/office/drawing/2014/main" id="{148F5B9C-25CE-2BC7-BB07-A4CD599363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2148408"/>
                <a:ext cx="159552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182">
                <a:extLst>
                  <a:ext uri="{FF2B5EF4-FFF2-40B4-BE49-F238E27FC236}">
                    <a16:creationId xmlns:a16="http://schemas.microsoft.com/office/drawing/2014/main" id="{95610F57-D272-1263-D7FF-31E1D67C2E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3100578"/>
                <a:ext cx="7525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TextBox 58">
                <a:extLst>
                  <a:ext uri="{FF2B5EF4-FFF2-40B4-BE49-F238E27FC236}">
                    <a16:creationId xmlns:a16="http://schemas.microsoft.com/office/drawing/2014/main" id="{5F008CBD-278C-CB83-1123-D3B432939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581868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Box 60">
                <a:extLst>
                  <a:ext uri="{FF2B5EF4-FFF2-40B4-BE49-F238E27FC236}">
                    <a16:creationId xmlns:a16="http://schemas.microsoft.com/office/drawing/2014/main" id="{CDDACB2A-09B5-E596-43E3-9E7BCF2FB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77727" y="1689880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TextBox 61">
                <a:extLst>
                  <a:ext uri="{FF2B5EF4-FFF2-40B4-BE49-F238E27FC236}">
                    <a16:creationId xmlns:a16="http://schemas.microsoft.com/office/drawing/2014/main" id="{455E4681-76D3-50A5-CA44-E8472A69D0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47392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62">
                <a:extLst>
                  <a:ext uri="{FF2B5EF4-FFF2-40B4-BE49-F238E27FC236}">
                    <a16:creationId xmlns:a16="http://schemas.microsoft.com/office/drawing/2014/main" id="{7C5E2F12-A72E-D9EB-45F6-7C8D3BB52C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91895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8" name="直接箭头连接符 187">
                <a:extLst>
                  <a:ext uri="{FF2B5EF4-FFF2-40B4-BE49-F238E27FC236}">
                    <a16:creationId xmlns:a16="http://schemas.microsoft.com/office/drawing/2014/main" id="{17AA6054-6FB8-4C9B-D03F-8095830E95D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5" y="2050017"/>
                <a:ext cx="64773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TextBox 36">
                <a:extLst>
                  <a:ext uri="{FF2B5EF4-FFF2-40B4-BE49-F238E27FC236}">
                    <a16:creationId xmlns:a16="http://schemas.microsoft.com/office/drawing/2014/main" id="{B87E632F-82D4-1EF8-A808-D43DBF83793E}"/>
                  </a:ext>
                </a:extLst>
              </p:cNvPr>
              <p:cNvSpPr txBox="1"/>
              <p:nvPr/>
            </p:nvSpPr>
            <p:spPr bwMode="auto">
              <a:xfrm>
                <a:off x="5922466" y="1813563"/>
                <a:ext cx="520728" cy="69032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80" name="直接箭头连接符 189">
                <a:extLst>
                  <a:ext uri="{FF2B5EF4-FFF2-40B4-BE49-F238E27FC236}">
                    <a16:creationId xmlns:a16="http://schemas.microsoft.com/office/drawing/2014/main" id="{5E0D4680-9B5B-436F-9F90-61E17FAD4B9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0971" y="2311864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接箭头连接符 190">
                <a:extLst>
                  <a:ext uri="{FF2B5EF4-FFF2-40B4-BE49-F238E27FC236}">
                    <a16:creationId xmlns:a16="http://schemas.microsoft.com/office/drawing/2014/main" id="{746A31E7-37CC-83A3-DA7B-575C6321BB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930775"/>
                <a:ext cx="46833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191">
                <a:extLst>
                  <a:ext uri="{FF2B5EF4-FFF2-40B4-BE49-F238E27FC236}">
                    <a16:creationId xmlns:a16="http://schemas.microsoft.com/office/drawing/2014/main" id="{317C121D-87E2-ADC0-EB4E-10C77CC580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050017"/>
                <a:ext cx="0" cy="88075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1" name="矩形: 圆角 170">
              <a:extLst>
                <a:ext uri="{FF2B5EF4-FFF2-40B4-BE49-F238E27FC236}">
                  <a16:creationId xmlns:a16="http://schemas.microsoft.com/office/drawing/2014/main" id="{43BF6412-047F-5C13-6E82-183B1DCC6FAB}"/>
                </a:ext>
              </a:extLst>
            </p:cNvPr>
            <p:cNvSpPr/>
            <p:nvPr/>
          </p:nvSpPr>
          <p:spPr bwMode="auto">
            <a:xfrm>
              <a:off x="6041015" y="4170396"/>
              <a:ext cx="906511" cy="906148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2" name="矩形: 圆角 171">
              <a:extLst>
                <a:ext uri="{FF2B5EF4-FFF2-40B4-BE49-F238E27FC236}">
                  <a16:creationId xmlns:a16="http://schemas.microsoft.com/office/drawing/2014/main" id="{90FA98E0-2A7C-1690-7F97-2B4E3FD170A5}"/>
                </a:ext>
              </a:extLst>
            </p:cNvPr>
            <p:cNvSpPr/>
            <p:nvPr/>
          </p:nvSpPr>
          <p:spPr bwMode="auto">
            <a:xfrm>
              <a:off x="7307908" y="5157478"/>
              <a:ext cx="781092" cy="891865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矩形: 圆角 172">
              <a:extLst>
                <a:ext uri="{FF2B5EF4-FFF2-40B4-BE49-F238E27FC236}">
                  <a16:creationId xmlns:a16="http://schemas.microsoft.com/office/drawing/2014/main" id="{AFF9954B-DBAC-847C-D474-6631D8F7125A}"/>
                </a:ext>
              </a:extLst>
            </p:cNvPr>
            <p:cNvSpPr/>
            <p:nvPr/>
          </p:nvSpPr>
          <p:spPr bwMode="auto">
            <a:xfrm>
              <a:off x="6041015" y="5157478"/>
              <a:ext cx="885873" cy="891865"/>
            </a:xfrm>
            <a:prstGeom prst="roundRect">
              <a:avLst/>
            </a:prstGeom>
            <a:noFill/>
            <a:ln w="19050">
              <a:solidFill>
                <a:srgbClr val="99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84" name="Rectangle 19">
            <a:extLst>
              <a:ext uri="{FF2B5EF4-FFF2-40B4-BE49-F238E27FC236}">
                <a16:creationId xmlns:a16="http://schemas.microsoft.com/office/drawing/2014/main" id="{8CE7E1EC-0FA3-6A3E-82A0-BEF73D89D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10" y="1465880"/>
            <a:ext cx="6415484" cy="494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92" tIns="26621" rIns="18792" bIns="26621"/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一段描述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，组合逻辑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assign out = (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==two1s?1:0);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None/>
            </a:pP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endmodule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别忘了</a:t>
            </a:r>
            <a:r>
              <a:rPr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module</a:t>
            </a:r>
            <a:r>
              <a:rPr lang="zh-CN" alt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结束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8963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D204C-5DF0-BDEE-8898-B7B4D948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三段式</a:t>
            </a:r>
            <a:r>
              <a:rPr kumimoji="1"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C254F2-0287-1EA1-1018-2910739A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1" y="585760"/>
            <a:ext cx="5341064" cy="594711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三段过程：一个组合，两个时序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一个时序过程描述</a:t>
            </a:r>
            <a:r>
              <a:rPr lang="en-US" altLang="zh-CN" sz="2000" dirty="0"/>
              <a:t>CS</a:t>
            </a:r>
          </a:p>
          <a:p>
            <a:pPr lvl="1">
              <a:spcBef>
                <a:spcPts val="600"/>
              </a:spcBef>
            </a:pPr>
            <a:r>
              <a:rPr lang="zh-CN" altLang="en-US" sz="2000" dirty="0"/>
              <a:t>一个组合过程描述</a:t>
            </a:r>
            <a:r>
              <a:rPr lang="en-US" altLang="zh-CN" sz="2000" dirty="0"/>
              <a:t>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一个时序过程描述</a:t>
            </a:r>
            <a:r>
              <a:rPr lang="en-US" altLang="zh-CN" sz="2000" dirty="0"/>
              <a:t>OUT</a:t>
            </a:r>
          </a:p>
          <a:p>
            <a:pPr lvl="2">
              <a:spcBef>
                <a:spcPts val="0"/>
              </a:spcBef>
            </a:pPr>
            <a:r>
              <a:rPr lang="en-US" altLang="zh-CN" sz="1600" dirty="0"/>
              <a:t>OUT</a:t>
            </a:r>
            <a:r>
              <a:rPr lang="zh-CN" altLang="en-US" sz="1600" dirty="0"/>
              <a:t>经寄存后输出，而不是直接组合输出</a:t>
            </a:r>
            <a:endParaRPr lang="en-US" altLang="zh-CN" sz="1600" dirty="0"/>
          </a:p>
          <a:p>
            <a:pPr lvl="2">
              <a:spcBef>
                <a:spcPts val="0"/>
              </a:spcBef>
            </a:pPr>
            <a:r>
              <a:rPr lang="en-US" altLang="zh-CN" sz="1600" dirty="0"/>
              <a:t>OUT</a:t>
            </a:r>
            <a:r>
              <a:rPr lang="zh-CN" altLang="en-US" sz="1600" dirty="0"/>
              <a:t>是仅与状态有关，而与</a:t>
            </a:r>
            <a:r>
              <a:rPr lang="en-US" altLang="zh-CN" sz="1600" dirty="0"/>
              <a:t>IN</a:t>
            </a:r>
            <a:r>
              <a:rPr lang="zh-CN" altLang="en-US" sz="1600" dirty="0"/>
              <a:t>无关（摩尔型）</a:t>
            </a:r>
            <a:endParaRPr lang="en-US" altLang="zh-CN" sz="1600" dirty="0"/>
          </a:p>
          <a:p>
            <a:pPr lvl="2">
              <a:spcBef>
                <a:spcPts val="0"/>
              </a:spcBef>
            </a:pPr>
            <a:r>
              <a:rPr lang="zh-CN" altLang="en-US" sz="1600" dirty="0"/>
              <a:t>由于对</a:t>
            </a:r>
            <a:r>
              <a:rPr lang="en-US" altLang="zh-CN" sz="1600" dirty="0"/>
              <a:t>out</a:t>
            </a:r>
            <a:r>
              <a:rPr lang="zh-CN" altLang="en-US" sz="1600" dirty="0"/>
              <a:t>加了一层寄存，因此</a:t>
            </a:r>
            <a:r>
              <a:rPr lang="zh-CN" altLang="en-US" sz="1600" dirty="0">
                <a:solidFill>
                  <a:srgbClr val="FF0000"/>
                </a:solidFill>
              </a:rPr>
              <a:t>必须使用</a:t>
            </a:r>
            <a:r>
              <a:rPr lang="en-US" altLang="zh-CN" sz="1600" dirty="0">
                <a:solidFill>
                  <a:srgbClr val="FF0000"/>
                </a:solidFill>
              </a:rPr>
              <a:t>ns</a:t>
            </a:r>
            <a:r>
              <a:rPr lang="zh-CN" altLang="en-US" sz="1600" dirty="0">
                <a:solidFill>
                  <a:srgbClr val="FF0000"/>
                </a:solidFill>
              </a:rPr>
              <a:t>而不是</a:t>
            </a:r>
            <a:r>
              <a:rPr lang="en-US" altLang="zh-CN" sz="1600" dirty="0">
                <a:solidFill>
                  <a:srgbClr val="FF0000"/>
                </a:solidFill>
              </a:rPr>
              <a:t>cs</a:t>
            </a:r>
            <a:r>
              <a:rPr lang="zh-CN" altLang="en-US" sz="1600" dirty="0">
                <a:solidFill>
                  <a:srgbClr val="FF0000"/>
                </a:solidFill>
              </a:rPr>
              <a:t>为条件</a:t>
            </a:r>
            <a:r>
              <a:rPr lang="zh-CN" altLang="en-US" sz="1600" dirty="0"/>
              <a:t>，否则会延迟一个时钟周期</a:t>
            </a:r>
            <a:endParaRPr lang="en-US" altLang="zh-CN" sz="16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36C7DA-4CE1-08F7-8659-EBDD646E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996768-0B13-53E2-37F9-F880F312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组合 47">
            <a:extLst>
              <a:ext uri="{FF2B5EF4-FFF2-40B4-BE49-F238E27FC236}">
                <a16:creationId xmlns:a16="http://schemas.microsoft.com/office/drawing/2014/main" id="{C937A9CE-8BB9-93D8-94D1-34CBFE2D47C0}"/>
              </a:ext>
            </a:extLst>
          </p:cNvPr>
          <p:cNvGrpSpPr>
            <a:grpSpLocks/>
          </p:cNvGrpSpPr>
          <p:nvPr/>
        </p:nvGrpSpPr>
        <p:grpSpPr bwMode="auto">
          <a:xfrm>
            <a:off x="6104027" y="608429"/>
            <a:ext cx="2989263" cy="2065338"/>
            <a:chOff x="5217578" y="1581868"/>
            <a:chExt cx="2988332" cy="2064620"/>
          </a:xfrm>
        </p:grpSpPr>
        <p:cxnSp>
          <p:nvCxnSpPr>
            <p:cNvPr id="7" name="直接箭头连接符 51">
              <a:extLst>
                <a:ext uri="{FF2B5EF4-FFF2-40B4-BE49-F238E27FC236}">
                  <a16:creationId xmlns:a16="http://schemas.microsoft.com/office/drawing/2014/main" id="{E9A93B5D-9BD5-5E52-C324-1C05EE47E2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611" y="3240229"/>
              <a:ext cx="368185" cy="158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箭头连接符 52">
              <a:extLst>
                <a:ext uri="{FF2B5EF4-FFF2-40B4-BE49-F238E27FC236}">
                  <a16:creationId xmlns:a16="http://schemas.microsoft.com/office/drawing/2014/main" id="{E8C499CE-BF17-58E9-3B0C-BBE8E3941171}"/>
                </a:ext>
              </a:extLst>
            </p:cNvPr>
            <p:cNvCxnSpPr/>
            <p:nvPr/>
          </p:nvCxnSpPr>
          <p:spPr bwMode="auto">
            <a:xfrm>
              <a:off x="7652045" y="3102164"/>
              <a:ext cx="369773" cy="31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53">
              <a:extLst>
                <a:ext uri="{FF2B5EF4-FFF2-40B4-BE49-F238E27FC236}">
                  <a16:creationId xmlns:a16="http://schemas.microsoft.com/office/drawing/2014/main" id="{70C2DDC3-CAF7-67DD-9089-7DBF4171CA5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26578" y="3100578"/>
              <a:ext cx="0" cy="5459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54">
              <a:extLst>
                <a:ext uri="{FF2B5EF4-FFF2-40B4-BE49-F238E27FC236}">
                  <a16:creationId xmlns:a16="http://schemas.microsoft.com/office/drawing/2014/main" id="{A7C90CAA-A1C6-17EE-6BA3-B7EFAAFFC3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44501" y="3646488"/>
              <a:ext cx="247731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55">
              <a:extLst>
                <a:ext uri="{FF2B5EF4-FFF2-40B4-BE49-F238E27FC236}">
                  <a16:creationId xmlns:a16="http://schemas.microsoft.com/office/drawing/2014/main" id="{DE4187CC-BFDE-0E69-6557-270650E547E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611" y="3240229"/>
              <a:ext cx="0" cy="4062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56">
              <a:extLst>
                <a:ext uri="{FF2B5EF4-FFF2-40B4-BE49-F238E27FC236}">
                  <a16:creationId xmlns:a16="http://schemas.microsoft.com/office/drawing/2014/main" id="{2EE0B391-4D19-32BA-FBDC-EDA1F0E8140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1638" y="2040497"/>
              <a:ext cx="159652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57">
              <a:extLst>
                <a:ext uri="{FF2B5EF4-FFF2-40B4-BE49-F238E27FC236}">
                  <a16:creationId xmlns:a16="http://schemas.microsoft.com/office/drawing/2014/main" id="{8D7E78A6-793B-DB75-F19E-8749B8AE0E3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1638" y="3100578"/>
              <a:ext cx="75382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58">
              <a:extLst>
                <a:ext uri="{FF2B5EF4-FFF2-40B4-BE49-F238E27FC236}">
                  <a16:creationId xmlns:a16="http://schemas.microsoft.com/office/drawing/2014/main" id="{0F3AA13A-7975-D001-C484-C06BF54D9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578" y="2503658"/>
              <a:ext cx="362138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in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15" name="TextBox 60">
              <a:extLst>
                <a:ext uri="{FF2B5EF4-FFF2-40B4-BE49-F238E27FC236}">
                  <a16:creationId xmlns:a16="http://schemas.microsoft.com/office/drawing/2014/main" id="{9EFD1DC0-6EC7-93EC-4AD5-584EAC206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2209" y="1581868"/>
              <a:ext cx="493701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out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16" name="TextBox 61">
              <a:extLst>
                <a:ext uri="{FF2B5EF4-FFF2-40B4-BE49-F238E27FC236}">
                  <a16:creationId xmlns:a16="http://schemas.microsoft.com/office/drawing/2014/main" id="{364F6879-374B-F68B-C71C-59C45969D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7392" y="2660620"/>
              <a:ext cx="37705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cs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17" name="TextBox 62">
              <a:extLst>
                <a:ext uri="{FF2B5EF4-FFF2-40B4-BE49-F238E27FC236}">
                  <a16:creationId xmlns:a16="http://schemas.microsoft.com/office/drawing/2014/main" id="{3F1232FC-DD21-CAC5-AE15-26703294F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1895" y="2660620"/>
              <a:ext cx="39197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ns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62">
              <a:extLst>
                <a:ext uri="{FF2B5EF4-FFF2-40B4-BE49-F238E27FC236}">
                  <a16:creationId xmlns:a16="http://schemas.microsoft.com/office/drawing/2014/main" id="{A4C25DB0-1B2C-2E91-4EDB-28746575BB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92168" y="2949817"/>
              <a:ext cx="64749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36">
              <a:extLst>
                <a:ext uri="{FF2B5EF4-FFF2-40B4-BE49-F238E27FC236}">
                  <a16:creationId xmlns:a16="http://schemas.microsoft.com/office/drawing/2014/main" id="{5228EF5A-FF1A-F313-3B18-42C5C1B4C95B}"/>
                </a:ext>
              </a:extLst>
            </p:cNvPr>
            <p:cNvSpPr txBox="1"/>
            <p:nvPr/>
          </p:nvSpPr>
          <p:spPr bwMode="auto">
            <a:xfrm>
              <a:off x="5920622" y="1705650"/>
              <a:ext cx="520538" cy="63954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dirty="0" err="1">
                  <a:latin typeface="Times New Roman" pitchFamily="18" charset="0"/>
                  <a:cs typeface="Times New Roman" pitchFamily="18" charset="0"/>
                </a:rPr>
                <a:t>CL</a:t>
              </a:r>
              <a:r>
                <a:rPr lang="en-US" altLang="zh-CN" sz="2000" dirty="0" err="1">
                  <a:latin typeface="Times New Roman" pitchFamily="18" charset="0"/>
                  <a:cs typeface="Times New Roman" pitchFamily="18" charset="0"/>
                </a:rPr>
                <a:t>o</a:t>
              </a:r>
              <a:endParaRPr lang="en-US" altLang="zh-CN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0" name="直接箭头连接符 64">
              <a:extLst>
                <a:ext uri="{FF2B5EF4-FFF2-40B4-BE49-F238E27FC236}">
                  <a16:creationId xmlns:a16="http://schemas.microsoft.com/office/drawing/2014/main" id="{C29DBEDC-22D7-D190-F29F-BE378288B3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051605"/>
              <a:ext cx="30470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69">
              <a:extLst>
                <a:ext uri="{FF2B5EF4-FFF2-40B4-BE49-F238E27FC236}">
                  <a16:creationId xmlns:a16="http://schemas.microsoft.com/office/drawing/2014/main" id="{F4FE56BF-98E3-EEDA-6A38-CA807EFA6AE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631600" y="2545146"/>
              <a:ext cx="0" cy="55543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/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71">
              <a:extLst>
                <a:ext uri="{FF2B5EF4-FFF2-40B4-BE49-F238E27FC236}">
                  <a16:creationId xmlns:a16="http://schemas.microsoft.com/office/drawing/2014/main" id="{5B7C9E76-B397-B96C-04C9-684FC6D66EB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545146"/>
              <a:ext cx="101568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74">
              <a:extLst>
                <a:ext uri="{FF2B5EF4-FFF2-40B4-BE49-F238E27FC236}">
                  <a16:creationId xmlns:a16="http://schemas.microsoft.com/office/drawing/2014/main" id="{B3C9667A-9CF4-045C-E97A-4A2DFF2E9C4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051605"/>
              <a:ext cx="0" cy="49354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34">
              <a:extLst>
                <a:ext uri="{FF2B5EF4-FFF2-40B4-BE49-F238E27FC236}">
                  <a16:creationId xmlns:a16="http://schemas.microsoft.com/office/drawing/2014/main" id="{5E016F84-1B89-A5C8-11C7-0D0D16FEEABA}"/>
                </a:ext>
              </a:extLst>
            </p:cNvPr>
            <p:cNvSpPr txBox="1"/>
            <p:nvPr/>
          </p:nvSpPr>
          <p:spPr bwMode="auto">
            <a:xfrm>
              <a:off x="7198161" y="1705650"/>
              <a:ext cx="466580" cy="634779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OR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TextBox 35">
              <a:extLst>
                <a:ext uri="{FF2B5EF4-FFF2-40B4-BE49-F238E27FC236}">
                  <a16:creationId xmlns:a16="http://schemas.microsoft.com/office/drawing/2014/main" id="{BB837D20-BE99-62F2-AFE1-A9B5B948A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0699" y="2148575"/>
              <a:ext cx="420460" cy="191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  <p:sp>
          <p:nvSpPr>
            <p:cNvPr id="26" name="TextBox 36">
              <a:extLst>
                <a:ext uri="{FF2B5EF4-FFF2-40B4-BE49-F238E27FC236}">
                  <a16:creationId xmlns:a16="http://schemas.microsoft.com/office/drawing/2014/main" id="{BC67E86E-1FAD-2063-FF32-3A1AC9BD0279}"/>
                </a:ext>
              </a:extLst>
            </p:cNvPr>
            <p:cNvSpPr txBox="1"/>
            <p:nvPr/>
          </p:nvSpPr>
          <p:spPr bwMode="auto">
            <a:xfrm>
              <a:off x="5903164" y="2773667"/>
              <a:ext cx="520538" cy="63795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dirty="0" err="1">
                  <a:latin typeface="Times New Roman" pitchFamily="18" charset="0"/>
                  <a:cs typeface="Times New Roman" pitchFamily="18" charset="0"/>
                </a:rPr>
                <a:t>CLn</a:t>
              </a:r>
              <a:endParaRPr lang="en-US" altLang="zh-CN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34">
              <a:extLst>
                <a:ext uri="{FF2B5EF4-FFF2-40B4-BE49-F238E27FC236}">
                  <a16:creationId xmlns:a16="http://schemas.microsoft.com/office/drawing/2014/main" id="{BBD4EA0A-E528-D271-499F-AF0FB5988E0B}"/>
                </a:ext>
              </a:extLst>
            </p:cNvPr>
            <p:cNvSpPr txBox="1"/>
            <p:nvPr/>
          </p:nvSpPr>
          <p:spPr bwMode="auto">
            <a:xfrm>
              <a:off x="7180704" y="2773667"/>
              <a:ext cx="466580" cy="63477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SR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TextBox 35">
              <a:extLst>
                <a:ext uri="{FF2B5EF4-FFF2-40B4-BE49-F238E27FC236}">
                  <a16:creationId xmlns:a16="http://schemas.microsoft.com/office/drawing/2014/main" id="{7B3BD40B-1B9D-BE22-4F91-9D96A6AC9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3164" y="3216454"/>
              <a:ext cx="420460" cy="191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矩形: 圆角 67">
            <a:extLst>
              <a:ext uri="{FF2B5EF4-FFF2-40B4-BE49-F238E27FC236}">
                <a16:creationId xmlns:a16="http://schemas.microsoft.com/office/drawing/2014/main" id="{32285385-3863-5CC2-DCFF-7C6C2E4C8F3C}"/>
              </a:ext>
            </a:extLst>
          </p:cNvPr>
          <p:cNvSpPr/>
          <p:nvPr/>
        </p:nvSpPr>
        <p:spPr bwMode="auto">
          <a:xfrm>
            <a:off x="6618377" y="643354"/>
            <a:ext cx="2039938" cy="838200"/>
          </a:xfrm>
          <a:prstGeom prst="roundRect">
            <a:avLst/>
          </a:prstGeom>
          <a:noFill/>
          <a:ln w="19050">
            <a:solidFill>
              <a:srgbClr val="008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矩形: 圆角 68">
            <a:extLst>
              <a:ext uri="{FF2B5EF4-FFF2-40B4-BE49-F238E27FC236}">
                <a16:creationId xmlns:a16="http://schemas.microsoft.com/office/drawing/2014/main" id="{55D191C5-0055-3B15-61DF-B15A799E6565}"/>
              </a:ext>
            </a:extLst>
          </p:cNvPr>
          <p:cNvSpPr/>
          <p:nvPr/>
        </p:nvSpPr>
        <p:spPr bwMode="auto">
          <a:xfrm>
            <a:off x="7878852" y="1710154"/>
            <a:ext cx="779463" cy="846138"/>
          </a:xfrm>
          <a:prstGeom prst="roundRect">
            <a:avLst/>
          </a:prstGeom>
          <a:noFill/>
          <a:ln w="19050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1" name="矩形: 圆角 75">
            <a:extLst>
              <a:ext uri="{FF2B5EF4-FFF2-40B4-BE49-F238E27FC236}">
                <a16:creationId xmlns:a16="http://schemas.microsoft.com/office/drawing/2014/main" id="{8DF56116-AA6C-D304-DA9C-019CB77ABDB6}"/>
              </a:ext>
            </a:extLst>
          </p:cNvPr>
          <p:cNvSpPr/>
          <p:nvPr/>
        </p:nvSpPr>
        <p:spPr bwMode="auto">
          <a:xfrm>
            <a:off x="6618377" y="1710154"/>
            <a:ext cx="803275" cy="846138"/>
          </a:xfrm>
          <a:prstGeom prst="roundRect">
            <a:avLst/>
          </a:prstGeom>
          <a:noFill/>
          <a:ln w="19050">
            <a:solidFill>
              <a:srgbClr val="99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ECA4E713-22D3-02D9-F605-54EAC2540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964" y="2933468"/>
            <a:ext cx="4070263" cy="334986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//cs</a:t>
            </a:r>
            <a:r>
              <a:rPr lang="zh-CN" altLang="en-US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lang="zh-CN" altLang="en-US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过程与两段式相同</a:t>
            </a:r>
            <a:endParaRPr lang="en-US" altLang="zh-CN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时序过程描述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 @(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begin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if (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rst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 out &lt;= </a:t>
            </a:r>
            <a:r>
              <a:rPr lang="zh-CN" altLang="en-US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复位值；</a:t>
            </a:r>
            <a:endParaRPr lang="en-US" altLang="zh-CN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else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			case (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		S0: out &lt;= </a:t>
            </a:r>
            <a:r>
              <a:rPr lang="zh-CN" altLang="en-US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表达式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 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		S1: out &lt;= </a:t>
            </a:r>
            <a:r>
              <a:rPr lang="zh-CN" altLang="en-US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表达式</a:t>
            </a: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  <a:p>
            <a:pPr>
              <a:lnSpc>
                <a:spcPts val="1800"/>
              </a:lnSpc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		……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			</a:t>
            </a:r>
            <a:r>
              <a:rPr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endcase</a:t>
            </a:r>
            <a:endParaRPr lang="en-US" altLang="zh-CN" sz="20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C724386-4E3C-5C83-463F-D0EE9753D857}"/>
              </a:ext>
            </a:extLst>
          </p:cNvPr>
          <p:cNvSpPr/>
          <p:nvPr/>
        </p:nvSpPr>
        <p:spPr>
          <a:xfrm>
            <a:off x="256609" y="5071911"/>
            <a:ext cx="453967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CL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：组合逻辑（</a:t>
            </a:r>
            <a:r>
              <a:rPr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combination logic)</a:t>
            </a: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OL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：输出逻辑（</a:t>
            </a:r>
            <a:r>
              <a:rPr lang="en-US" altLang="ja-JP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output logic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ja-JP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SR,OR: state register, output register</a:t>
            </a:r>
          </a:p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cs/ns: current/next state</a:t>
            </a:r>
          </a:p>
        </p:txBody>
      </p:sp>
    </p:spTree>
    <p:extLst>
      <p:ext uri="{BB962C8B-B14F-4D97-AF65-F5344CB8AC3E}">
        <p14:creationId xmlns:p14="http://schemas.microsoft.com/office/powerpoint/2010/main" val="213883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FB603-0172-931E-FE0B-5D2C997B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kumimoji="1" lang="zh-CN" altLang="en-US" dirty="0"/>
              <a:t>示例：两段式</a:t>
            </a:r>
            <a:r>
              <a:rPr kumimoji="1" lang="en-US" altLang="zh-CN" dirty="0"/>
              <a:t>FSM</a:t>
            </a:r>
            <a:r>
              <a:rPr kumimoji="1" lang="zh-CN" altLang="en-US" dirty="0"/>
              <a:t>改为三</a:t>
            </a:r>
            <a:r>
              <a:rPr lang="zh-CN" altLang="en-US" dirty="0"/>
              <a:t>段式（摩尔型）</a:t>
            </a:r>
            <a:r>
              <a:rPr lang="en-US" altLang="zh-CN" dirty="0"/>
              <a:t>FSM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812892-CDBE-FCC4-9931-95C9E151E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499444" cy="1011639"/>
          </a:xfrm>
        </p:spPr>
        <p:txBody>
          <a:bodyPr/>
          <a:lstStyle/>
          <a:p>
            <a:r>
              <a:rPr lang="zh-CN" altLang="en-US" sz="2000" dirty="0"/>
              <a:t>将输入序列中每次出现的第一个</a:t>
            </a:r>
            <a:r>
              <a:rPr lang="en-US" altLang="zh-CN" sz="2000" dirty="0"/>
              <a:t>1</a:t>
            </a:r>
            <a:r>
              <a:rPr lang="zh-CN" altLang="en-US" sz="2000" dirty="0"/>
              <a:t>替换为</a:t>
            </a:r>
            <a:r>
              <a:rPr lang="en-US" altLang="zh-CN" sz="2000" dirty="0"/>
              <a:t>0</a:t>
            </a:r>
            <a:r>
              <a:rPr lang="zh-CN" altLang="en-US" sz="2000" dirty="0"/>
              <a:t>，其他不变，然后输出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9B217A-E622-B6C3-51F0-18F3C400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C2D521-B147-5970-FBCE-2DDB1788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/25</a:t>
            </a:r>
            <a:endParaRPr lang="en-US" dirty="0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3089A714-998D-69C2-E068-666BD3AAA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059" y="3247571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75653225-D9AE-4329-91C9-9180DDF27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237" y="4404248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9359F173-3A19-8E50-1082-78661B796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6700" y="3435389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48B555E4-4FF4-969F-DA5A-52C40A48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7059" y="2703116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49DCE48-FA7D-69A9-AE92-D12FF8561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7059" y="4840375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66A5FDC1-562C-E49D-9942-1C311A87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059" y="4306253"/>
            <a:ext cx="1651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792" tIns="26621" rIns="18792" bIns="26621">
            <a:spAutoFit/>
          </a:bodyPr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75"/>
              </a:lnSpc>
              <a:spcAft>
                <a:spcPct val="0"/>
              </a:spcAft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9F35D998-656C-62F1-3777-85F1A8EF6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621" y="2531666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zero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3" name="Oval 11">
            <a:extLst>
              <a:ext uri="{FF2B5EF4-FFF2-40B4-BE49-F238E27FC236}">
                <a16:creationId xmlns:a16="http://schemas.microsoft.com/office/drawing/2014/main" id="{2D1874A9-E773-BABD-F418-CFD65063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621" y="3567855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 dirty="0"/>
              <a:t>one1</a:t>
            </a:r>
            <a:br>
              <a:rPr lang="en-US" altLang="zh-CN" sz="2000" dirty="0"/>
            </a:br>
            <a:r>
              <a:rPr lang="en-US" altLang="zh-CN" sz="2000" dirty="0"/>
              <a:t>/0</a:t>
            </a:r>
          </a:p>
        </p:txBody>
      </p:sp>
      <p:sp>
        <p:nvSpPr>
          <p:cNvPr id="44" name="Oval 12">
            <a:extLst>
              <a:ext uri="{FF2B5EF4-FFF2-40B4-BE49-F238E27FC236}">
                <a16:creationId xmlns:a16="http://schemas.microsoft.com/office/drawing/2014/main" id="{3ED87B9F-3F32-122B-0A25-28719892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621" y="4621300"/>
            <a:ext cx="1169988" cy="7191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199" tIns="45098" rIns="90199" bIns="45098" anchor="ctr"/>
          <a:lstStyle>
            <a:lvl1pPr defTabSz="9017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two1s</a:t>
            </a:r>
          </a:p>
          <a:p>
            <a:pPr algn="ctr">
              <a:lnSpc>
                <a:spcPct val="90000"/>
              </a:lnSpc>
              <a:spcAft>
                <a:spcPct val="0"/>
              </a:spcAft>
              <a:buFontTx/>
              <a:buNone/>
            </a:pPr>
            <a:r>
              <a:rPr lang="en-US" altLang="zh-CN" sz="2000"/>
              <a:t>/1</a:t>
            </a:r>
          </a:p>
        </p:txBody>
      </p:sp>
      <p:cxnSp>
        <p:nvCxnSpPr>
          <p:cNvPr id="45" name="AutoShape 13">
            <a:extLst>
              <a:ext uri="{FF2B5EF4-FFF2-40B4-BE49-F238E27FC236}">
                <a16:creationId xmlns:a16="http://schemas.microsoft.com/office/drawing/2014/main" id="{8C48E104-077E-C001-8B67-4D77BB840562}"/>
              </a:ext>
            </a:extLst>
          </p:cNvPr>
          <p:cNvCxnSpPr>
            <a:cxnSpLocks noChangeShapeType="1"/>
            <a:stCxn id="42" idx="4"/>
            <a:endCxn id="43" idx="0"/>
          </p:cNvCxnSpPr>
          <p:nvPr/>
        </p:nvCxnSpPr>
        <p:spPr bwMode="auto">
          <a:xfrm>
            <a:off x="8620615" y="3250803"/>
            <a:ext cx="0" cy="31705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14">
            <a:extLst>
              <a:ext uri="{FF2B5EF4-FFF2-40B4-BE49-F238E27FC236}">
                <a16:creationId xmlns:a16="http://schemas.microsoft.com/office/drawing/2014/main" id="{E8E57152-7B5D-F6E3-8844-80274A95BE3D}"/>
              </a:ext>
            </a:extLst>
          </p:cNvPr>
          <p:cNvCxnSpPr>
            <a:cxnSpLocks noChangeShapeType="1"/>
            <a:stCxn id="43" idx="4"/>
            <a:endCxn id="44" idx="0"/>
          </p:cNvCxnSpPr>
          <p:nvPr/>
        </p:nvCxnSpPr>
        <p:spPr bwMode="auto">
          <a:xfrm>
            <a:off x="8620615" y="4286992"/>
            <a:ext cx="0" cy="33430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15">
            <a:extLst>
              <a:ext uri="{FF2B5EF4-FFF2-40B4-BE49-F238E27FC236}">
                <a16:creationId xmlns:a16="http://schemas.microsoft.com/office/drawing/2014/main" id="{1E0F208C-F0CB-134C-ACB4-C8A65BFFFDF6}"/>
              </a:ext>
            </a:extLst>
          </p:cNvPr>
          <p:cNvCxnSpPr>
            <a:cxnSpLocks noChangeShapeType="1"/>
            <a:stCxn id="43" idx="2"/>
            <a:endCxn id="42" idx="2"/>
          </p:cNvCxnSpPr>
          <p:nvPr/>
        </p:nvCxnSpPr>
        <p:spPr bwMode="auto">
          <a:xfrm rot="10800000">
            <a:off x="8035621" y="2891236"/>
            <a:ext cx="12700" cy="1036189"/>
          </a:xfrm>
          <a:prstGeom prst="curvedConnector3">
            <a:avLst>
              <a:gd name="adj1" fmla="val 180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16">
            <a:extLst>
              <a:ext uri="{FF2B5EF4-FFF2-40B4-BE49-F238E27FC236}">
                <a16:creationId xmlns:a16="http://schemas.microsoft.com/office/drawing/2014/main" id="{8B16D408-F5D7-448A-6284-E9C33B3FD438}"/>
              </a:ext>
            </a:extLst>
          </p:cNvPr>
          <p:cNvCxnSpPr>
            <a:cxnSpLocks noChangeShapeType="1"/>
            <a:stCxn id="44" idx="2"/>
            <a:endCxn id="42" idx="2"/>
          </p:cNvCxnSpPr>
          <p:nvPr/>
        </p:nvCxnSpPr>
        <p:spPr bwMode="auto">
          <a:xfrm rot="10800000">
            <a:off x="8035621" y="2891235"/>
            <a:ext cx="12700" cy="2089634"/>
          </a:xfrm>
          <a:prstGeom prst="curvedConnector3">
            <a:avLst>
              <a:gd name="adj1" fmla="val 3905661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17">
            <a:extLst>
              <a:ext uri="{FF2B5EF4-FFF2-40B4-BE49-F238E27FC236}">
                <a16:creationId xmlns:a16="http://schemas.microsoft.com/office/drawing/2014/main" id="{80CF128A-607B-7976-9741-B5A69F8EA080}"/>
              </a:ext>
            </a:extLst>
          </p:cNvPr>
          <p:cNvCxnSpPr>
            <a:cxnSpLocks noChangeShapeType="1"/>
            <a:stCxn id="42" idx="5"/>
            <a:endCxn id="42" idx="7"/>
          </p:cNvCxnSpPr>
          <p:nvPr/>
        </p:nvCxnSpPr>
        <p:spPr bwMode="auto">
          <a:xfrm rot="5400000" flipH="1" flipV="1">
            <a:off x="8764284" y="2890441"/>
            <a:ext cx="541337" cy="1588"/>
          </a:xfrm>
          <a:prstGeom prst="curvedConnector5">
            <a:avLst>
              <a:gd name="adj1" fmla="val -25745"/>
              <a:gd name="adj2" fmla="val 41300014"/>
              <a:gd name="adj3" fmla="val 146069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18">
            <a:extLst>
              <a:ext uri="{FF2B5EF4-FFF2-40B4-BE49-F238E27FC236}">
                <a16:creationId xmlns:a16="http://schemas.microsoft.com/office/drawing/2014/main" id="{57337A3F-CE9F-03D7-B75E-541BA8DD7002}"/>
              </a:ext>
            </a:extLst>
          </p:cNvPr>
          <p:cNvCxnSpPr>
            <a:cxnSpLocks noChangeShapeType="1"/>
            <a:stCxn id="44" idx="5"/>
            <a:endCxn id="44" idx="7"/>
          </p:cNvCxnSpPr>
          <p:nvPr/>
        </p:nvCxnSpPr>
        <p:spPr bwMode="auto">
          <a:xfrm rot="5400000" flipH="1" flipV="1">
            <a:off x="8764284" y="4980075"/>
            <a:ext cx="541337" cy="1588"/>
          </a:xfrm>
          <a:prstGeom prst="curvedConnector5">
            <a:avLst>
              <a:gd name="adj1" fmla="val -36046"/>
              <a:gd name="adj2" fmla="val 42100014"/>
              <a:gd name="adj3" fmla="val 143898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1" name="Group 21">
            <a:extLst>
              <a:ext uri="{FF2B5EF4-FFF2-40B4-BE49-F238E27FC236}">
                <a16:creationId xmlns:a16="http://schemas.microsoft.com/office/drawing/2014/main" id="{E824E153-EB5B-B80E-DA57-B233776797EA}"/>
              </a:ext>
            </a:extLst>
          </p:cNvPr>
          <p:cNvGrpSpPr>
            <a:grpSpLocks/>
          </p:cNvGrpSpPr>
          <p:nvPr/>
        </p:nvGrpSpPr>
        <p:grpSpPr bwMode="auto">
          <a:xfrm>
            <a:off x="8030859" y="5472068"/>
            <a:ext cx="1781175" cy="720725"/>
            <a:chOff x="4201" y="3498"/>
            <a:chExt cx="1122" cy="454"/>
          </a:xfrm>
        </p:grpSpPr>
        <p:sp>
          <p:nvSpPr>
            <p:cNvPr id="52" name="Rectangle 22">
              <a:extLst>
                <a:ext uri="{FF2B5EF4-FFF2-40B4-BE49-F238E27FC236}">
                  <a16:creationId xmlns:a16="http://schemas.microsoft.com/office/drawing/2014/main" id="{E5C8D1C6-A997-CC25-2FC7-060B7F4D9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0" y="3498"/>
              <a:ext cx="157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</a:rPr>
                <a:t>in</a:t>
              </a:r>
            </a:p>
          </p:txBody>
        </p:sp>
        <p:sp>
          <p:nvSpPr>
            <p:cNvPr id="53" name="Line 23">
              <a:extLst>
                <a:ext uri="{FF2B5EF4-FFF2-40B4-BE49-F238E27FC236}">
                  <a16:creationId xmlns:a16="http://schemas.microsoft.com/office/drawing/2014/main" id="{018B0E94-1C48-18F5-6E8C-25F736B5B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" y="3725"/>
              <a:ext cx="3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Oval 24">
              <a:extLst>
                <a:ext uri="{FF2B5EF4-FFF2-40B4-BE49-F238E27FC236}">
                  <a16:creationId xmlns:a16="http://schemas.microsoft.com/office/drawing/2014/main" id="{FBCCB1B2-8FDC-96ED-B1F8-230F38961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" y="3499"/>
              <a:ext cx="737" cy="4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199" tIns="45098" rIns="90199" bIns="45098" anchor="ctr"/>
            <a:lstStyle>
              <a:lvl1pPr defTabSz="901700"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state</a:t>
              </a:r>
            </a:p>
            <a:p>
              <a:pPr algn="ctr">
                <a:lnSpc>
                  <a:spcPct val="900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/>
                <a:t>/out</a:t>
              </a:r>
            </a:p>
          </p:txBody>
        </p:sp>
      </p:grpSp>
      <p:grpSp>
        <p:nvGrpSpPr>
          <p:cNvPr id="55" name="Group 25">
            <a:extLst>
              <a:ext uri="{FF2B5EF4-FFF2-40B4-BE49-F238E27FC236}">
                <a16:creationId xmlns:a16="http://schemas.microsoft.com/office/drawing/2014/main" id="{EC54F68B-EECE-A064-18F1-215CFA77D49D}"/>
              </a:ext>
            </a:extLst>
          </p:cNvPr>
          <p:cNvGrpSpPr>
            <a:grpSpLocks/>
          </p:cNvGrpSpPr>
          <p:nvPr/>
        </p:nvGrpSpPr>
        <p:grpSpPr bwMode="auto">
          <a:xfrm>
            <a:off x="7927671" y="2026843"/>
            <a:ext cx="715963" cy="492126"/>
            <a:chOff x="4144" y="935"/>
            <a:chExt cx="451" cy="310"/>
          </a:xfrm>
        </p:grpSpPr>
        <p:cxnSp>
          <p:nvCxnSpPr>
            <p:cNvPr id="56" name="AutoShape 26">
              <a:extLst>
                <a:ext uri="{FF2B5EF4-FFF2-40B4-BE49-F238E27FC236}">
                  <a16:creationId xmlns:a16="http://schemas.microsoft.com/office/drawing/2014/main" id="{483A64A4-C6DA-4B5F-3BCB-335F6E7BC8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4" y="981"/>
              <a:ext cx="1" cy="2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Rectangle 27">
              <a:extLst>
                <a:ext uri="{FF2B5EF4-FFF2-40B4-BE49-F238E27FC236}">
                  <a16:creationId xmlns:a16="http://schemas.microsoft.com/office/drawing/2014/main" id="{DA263493-E78D-B159-3F0A-DF7FED15C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935"/>
              <a:ext cx="35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792" tIns="26621" rIns="18792" bIns="26621">
              <a:spAutoFit/>
            </a:bodyPr>
            <a:lstStyle>
              <a:lvl1pPr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901700">
                <a:spcAft>
                  <a:spcPct val="20000"/>
                </a:spcAft>
                <a:buChar char="•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901700">
                <a:spcAft>
                  <a:spcPct val="20000"/>
                </a:spcAft>
                <a:buChar char="–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901700"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9017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tabLst>
                  <a:tab pos="450850" algn="l"/>
                  <a:tab pos="901700" algn="l"/>
                  <a:tab pos="1350963" algn="l"/>
                </a:tabLs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075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</a:rPr>
                <a:t>!</a:t>
              </a:r>
              <a:r>
                <a:rPr lang="en-US" altLang="zh-CN" sz="2000" dirty="0" err="1">
                  <a:solidFill>
                    <a:srgbClr val="000000"/>
                  </a:solidFill>
                </a:rPr>
                <a:t>nrst</a:t>
              </a:r>
              <a:endParaRPr lang="en-US" altLang="zh-CN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1088C4E1-A8C2-2B3E-9B32-B6501EDEC318}"/>
              </a:ext>
            </a:extLst>
          </p:cNvPr>
          <p:cNvSpPr/>
          <p:nvPr/>
        </p:nvSpPr>
        <p:spPr>
          <a:xfrm>
            <a:off x="12119" y="1154687"/>
            <a:ext cx="3112768" cy="2029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59" name="组合 168">
            <a:extLst>
              <a:ext uri="{FF2B5EF4-FFF2-40B4-BE49-F238E27FC236}">
                <a16:creationId xmlns:a16="http://schemas.microsoft.com/office/drawing/2014/main" id="{6D4D27B4-297B-1855-E029-14CB6B17B27F}"/>
              </a:ext>
            </a:extLst>
          </p:cNvPr>
          <p:cNvGrpSpPr>
            <a:grpSpLocks/>
          </p:cNvGrpSpPr>
          <p:nvPr/>
        </p:nvGrpSpPr>
        <p:grpSpPr bwMode="auto">
          <a:xfrm>
            <a:off x="93966" y="1096567"/>
            <a:ext cx="2906713" cy="2065337"/>
            <a:chOff x="5534574" y="4086288"/>
            <a:chExt cx="2906871" cy="2064620"/>
          </a:xfrm>
        </p:grpSpPr>
        <p:grpSp>
          <p:nvGrpSpPr>
            <p:cNvPr id="60" name="组合 169">
              <a:extLst>
                <a:ext uri="{FF2B5EF4-FFF2-40B4-BE49-F238E27FC236}">
                  <a16:creationId xmlns:a16="http://schemas.microsoft.com/office/drawing/2014/main" id="{1BA79C1C-981C-09BA-10F6-98EB87CCF9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34574" y="4086288"/>
              <a:ext cx="2906871" cy="2064620"/>
              <a:chOff x="5217578" y="1581868"/>
              <a:chExt cx="2906871" cy="2064620"/>
            </a:xfrm>
          </p:grpSpPr>
          <p:sp>
            <p:nvSpPr>
              <p:cNvPr id="64" name="TextBox 34">
                <a:extLst>
                  <a:ext uri="{FF2B5EF4-FFF2-40B4-BE49-F238E27FC236}">
                    <a16:creationId xmlns:a16="http://schemas.microsoft.com/office/drawing/2014/main" id="{F4FB0BC1-6A25-7F02-92CA-975E54057CE1}"/>
                  </a:ext>
                </a:extLst>
              </p:cNvPr>
              <p:cNvSpPr txBox="1"/>
              <p:nvPr/>
            </p:nvSpPr>
            <p:spPr bwMode="auto">
              <a:xfrm>
                <a:off x="7184598" y="2729232"/>
                <a:ext cx="466750" cy="687149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eaLnBrk="1" hangingPunct="1">
                  <a:defRPr/>
                </a:pPr>
                <a:r>
                  <a:rPr lang="en-US" altLang="zh-CN" sz="2000" dirty="0">
                    <a:latin typeface="Times New Roman" pitchFamily="18" charset="0"/>
                    <a:cs typeface="Times New Roman" pitchFamily="18" charset="0"/>
                  </a:rPr>
                  <a:t>SR</a:t>
                </a:r>
                <a:endParaRPr lang="zh-CN" alt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TextBox 35">
                <a:extLst>
                  <a:ext uri="{FF2B5EF4-FFF2-40B4-BE49-F238E27FC236}">
                    <a16:creationId xmlns:a16="http://schemas.microsoft.com/office/drawing/2014/main" id="{FA2F5D22-4654-72BE-6D56-5ED8BDEAD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7926" y="3236812"/>
                <a:ext cx="420460" cy="191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000" b="0">
                    <a:cs typeface="Times New Roman" panose="02020603050405020304" pitchFamily="18" charset="0"/>
                  </a:rPr>
                  <a:t>&lt;</a:t>
                </a:r>
                <a:endParaRPr lang="zh-CN" altLang="en-US" sz="20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TextBox 36">
                <a:extLst>
                  <a:ext uri="{FF2B5EF4-FFF2-40B4-BE49-F238E27FC236}">
                    <a16:creationId xmlns:a16="http://schemas.microsoft.com/office/drawing/2014/main" id="{0CC67573-C82F-4416-027F-533A7CE77738}"/>
                  </a:ext>
                </a:extLst>
              </p:cNvPr>
              <p:cNvSpPr txBox="1"/>
              <p:nvPr/>
            </p:nvSpPr>
            <p:spPr bwMode="auto">
              <a:xfrm>
                <a:off x="5911354" y="2726058"/>
                <a:ext cx="520728" cy="690323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67" name="直接箭头连接符 176">
                <a:extLst>
                  <a:ext uri="{FF2B5EF4-FFF2-40B4-BE49-F238E27FC236}">
                    <a16:creationId xmlns:a16="http://schemas.microsoft.com/office/drawing/2014/main" id="{58191A67-01BB-61E7-858D-A035C7D7B2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3200556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177">
                <a:extLst>
                  <a:ext uri="{FF2B5EF4-FFF2-40B4-BE49-F238E27FC236}">
                    <a16:creationId xmlns:a16="http://schemas.microsoft.com/office/drawing/2014/main" id="{60F7F0FB-A804-0BFE-3E47-C6DE7F2AB110}"/>
                  </a:ext>
                </a:extLst>
              </p:cNvPr>
              <p:cNvCxnSpPr/>
              <p:nvPr/>
            </p:nvCxnSpPr>
            <p:spPr bwMode="auto">
              <a:xfrm>
                <a:off x="7651348" y="3102165"/>
                <a:ext cx="369907" cy="31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178">
                <a:extLst>
                  <a:ext uri="{FF2B5EF4-FFF2-40B4-BE49-F238E27FC236}">
                    <a16:creationId xmlns:a16="http://schemas.microsoft.com/office/drawing/2014/main" id="{1EE0E5DE-7824-05D0-4FCA-8A53460B34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026019" y="3100578"/>
                <a:ext cx="0" cy="5459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直接箭头连接符 179">
                <a:extLst>
                  <a:ext uri="{FF2B5EF4-FFF2-40B4-BE49-F238E27FC236}">
                    <a16:creationId xmlns:a16="http://schemas.microsoft.com/office/drawing/2014/main" id="{0A23F7C4-81EF-8A62-1188-784404DDE4A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43034" y="3646488"/>
                <a:ext cx="24782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180">
                <a:extLst>
                  <a:ext uri="{FF2B5EF4-FFF2-40B4-BE49-F238E27FC236}">
                    <a16:creationId xmlns:a16="http://schemas.microsoft.com/office/drawing/2014/main" id="{B8D4E406-FFEB-CCF1-9754-1D659F7C82A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5734" y="2311864"/>
                <a:ext cx="0" cy="13346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181">
                <a:extLst>
                  <a:ext uri="{FF2B5EF4-FFF2-40B4-BE49-F238E27FC236}">
                    <a16:creationId xmlns:a16="http://schemas.microsoft.com/office/drawing/2014/main" id="{148F5B9C-25CE-2BC7-BB07-A4CD599363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2148408"/>
                <a:ext cx="159552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182">
                <a:extLst>
                  <a:ext uri="{FF2B5EF4-FFF2-40B4-BE49-F238E27FC236}">
                    <a16:creationId xmlns:a16="http://schemas.microsoft.com/office/drawing/2014/main" id="{95610F57-D272-1263-D7FF-31E1D67C2E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432082" y="3100578"/>
                <a:ext cx="7525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TextBox 58">
                <a:extLst>
                  <a:ext uri="{FF2B5EF4-FFF2-40B4-BE49-F238E27FC236}">
                    <a16:creationId xmlns:a16="http://schemas.microsoft.com/office/drawing/2014/main" id="{5F008CBD-278C-CB83-1123-D3B432939A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7578" y="1581868"/>
                <a:ext cx="362138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in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Box 60">
                <a:extLst>
                  <a:ext uri="{FF2B5EF4-FFF2-40B4-BE49-F238E27FC236}">
                    <a16:creationId xmlns:a16="http://schemas.microsoft.com/office/drawing/2014/main" id="{CDDACB2A-09B5-E596-43E3-9E7BCF2FB4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77727" y="1689880"/>
                <a:ext cx="493701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out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TextBox 61">
                <a:extLst>
                  <a:ext uri="{FF2B5EF4-FFF2-40B4-BE49-F238E27FC236}">
                    <a16:creationId xmlns:a16="http://schemas.microsoft.com/office/drawing/2014/main" id="{455E4681-76D3-50A5-CA44-E8472A69D0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47392" y="2660620"/>
                <a:ext cx="37705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cs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TextBox 62">
                <a:extLst>
                  <a:ext uri="{FF2B5EF4-FFF2-40B4-BE49-F238E27FC236}">
                    <a16:creationId xmlns:a16="http://schemas.microsoft.com/office/drawing/2014/main" id="{7C5E2F12-A72E-D9EB-45F6-7C8D3BB52C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91895" y="2660620"/>
                <a:ext cx="391977" cy="37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cs typeface="Times New Roman" panose="02020603050405020304" pitchFamily="18" charset="0"/>
                  </a:rPr>
                  <a:t>ns</a:t>
                </a:r>
                <a:endParaRPr lang="zh-CN" altLang="en-US" sz="2400" b="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8" name="直接箭头连接符 187">
                <a:extLst>
                  <a:ext uri="{FF2B5EF4-FFF2-40B4-BE49-F238E27FC236}">
                    <a16:creationId xmlns:a16="http://schemas.microsoft.com/office/drawing/2014/main" id="{17AA6054-6FB8-4C9B-D03F-8095830E95D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292195" y="2050017"/>
                <a:ext cx="64773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9" name="TextBox 36">
                <a:extLst>
                  <a:ext uri="{FF2B5EF4-FFF2-40B4-BE49-F238E27FC236}">
                    <a16:creationId xmlns:a16="http://schemas.microsoft.com/office/drawing/2014/main" id="{B87E632F-82D4-1EF8-A808-D43DBF83793E}"/>
                  </a:ext>
                </a:extLst>
              </p:cNvPr>
              <p:cNvSpPr txBox="1"/>
              <p:nvPr/>
            </p:nvSpPr>
            <p:spPr bwMode="auto">
              <a:xfrm>
                <a:off x="5922466" y="1813563"/>
                <a:ext cx="520728" cy="690322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anchor="ctr" anchorCtr="1"/>
              <a:lstStyle/>
              <a:p>
                <a:pPr algn="ctr" eaLnBrk="1" hangingPunct="1">
                  <a:defRPr/>
                </a:pPr>
                <a:r>
                  <a:rPr lang="en-US" altLang="zh-CN" dirty="0" err="1">
                    <a:latin typeface="Times New Roman" pitchFamily="18" charset="0"/>
                    <a:cs typeface="Times New Roman" pitchFamily="18" charset="0"/>
                  </a:rPr>
                  <a:t>CL</a:t>
                </a:r>
                <a:r>
                  <a:rPr lang="en-US" altLang="zh-CN" sz="2000" dirty="0" err="1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80" name="直接箭头连接符 189">
                <a:extLst>
                  <a:ext uri="{FF2B5EF4-FFF2-40B4-BE49-F238E27FC236}">
                    <a16:creationId xmlns:a16="http://schemas.microsoft.com/office/drawing/2014/main" id="{5E0D4680-9B5B-436F-9F90-61E17FAD4B9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550971" y="2311864"/>
                <a:ext cx="368320" cy="15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接箭头连接符 190">
                <a:extLst>
                  <a:ext uri="{FF2B5EF4-FFF2-40B4-BE49-F238E27FC236}">
                    <a16:creationId xmlns:a16="http://schemas.microsoft.com/office/drawing/2014/main" id="{746A31E7-37CC-83A3-DA7B-575C6321BB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930775"/>
                <a:ext cx="46833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191">
                <a:extLst>
                  <a:ext uri="{FF2B5EF4-FFF2-40B4-BE49-F238E27FC236}">
                    <a16:creationId xmlns:a16="http://schemas.microsoft.com/office/drawing/2014/main" id="{317C121D-87E2-ADC0-EB4E-10C77CC580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43015" y="2050017"/>
                <a:ext cx="0" cy="88075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non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1" name="矩形: 圆角 170">
              <a:extLst>
                <a:ext uri="{FF2B5EF4-FFF2-40B4-BE49-F238E27FC236}">
                  <a16:creationId xmlns:a16="http://schemas.microsoft.com/office/drawing/2014/main" id="{43BF6412-047F-5C13-6E82-183B1DCC6FAB}"/>
                </a:ext>
              </a:extLst>
            </p:cNvPr>
            <p:cNvSpPr/>
            <p:nvPr/>
          </p:nvSpPr>
          <p:spPr bwMode="auto">
            <a:xfrm>
              <a:off x="6041015" y="4170396"/>
              <a:ext cx="906511" cy="906148"/>
            </a:xfrm>
            <a:prstGeom prst="roundRect">
              <a:avLst/>
            </a:prstGeom>
            <a:noFill/>
            <a:ln w="19050">
              <a:solidFill>
                <a:srgbClr val="CC33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2" name="矩形: 圆角 171">
              <a:extLst>
                <a:ext uri="{FF2B5EF4-FFF2-40B4-BE49-F238E27FC236}">
                  <a16:creationId xmlns:a16="http://schemas.microsoft.com/office/drawing/2014/main" id="{90FA98E0-2A7C-1690-7F97-2B4E3FD170A5}"/>
                </a:ext>
              </a:extLst>
            </p:cNvPr>
            <p:cNvSpPr/>
            <p:nvPr/>
          </p:nvSpPr>
          <p:spPr bwMode="auto">
            <a:xfrm>
              <a:off x="7307908" y="5157478"/>
              <a:ext cx="781092" cy="891865"/>
            </a:xfrm>
            <a:prstGeom prst="roundRect">
              <a:avLst/>
            </a:prstGeom>
            <a:noFill/>
            <a:ln w="19050">
              <a:solidFill>
                <a:srgbClr val="00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矩形: 圆角 172">
              <a:extLst>
                <a:ext uri="{FF2B5EF4-FFF2-40B4-BE49-F238E27FC236}">
                  <a16:creationId xmlns:a16="http://schemas.microsoft.com/office/drawing/2014/main" id="{AFF9954B-DBAC-847C-D474-6631D8F7125A}"/>
                </a:ext>
              </a:extLst>
            </p:cNvPr>
            <p:cNvSpPr/>
            <p:nvPr/>
          </p:nvSpPr>
          <p:spPr bwMode="auto">
            <a:xfrm>
              <a:off x="6041015" y="5157478"/>
              <a:ext cx="885873" cy="891865"/>
            </a:xfrm>
            <a:prstGeom prst="roundRect">
              <a:avLst/>
            </a:prstGeom>
            <a:noFill/>
            <a:ln w="19050">
              <a:solidFill>
                <a:srgbClr val="9900FF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84" name="Rectangle 19">
            <a:extLst>
              <a:ext uri="{FF2B5EF4-FFF2-40B4-BE49-F238E27FC236}">
                <a16:creationId xmlns:a16="http://schemas.microsoft.com/office/drawing/2014/main" id="{8CE7E1EC-0FA3-6A3E-82A0-BEF73D89D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359" y="1932725"/>
            <a:ext cx="4753262" cy="494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92" tIns="26621" rIns="18792" bIns="26621"/>
          <a:lstStyle>
            <a:lvl1pPr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spcAft>
                <a:spcPct val="20000"/>
              </a:spcAft>
              <a:buChar char="•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spcAft>
                <a:spcPct val="20000"/>
              </a:spcAft>
              <a:buChar char="–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tabLst>
                <a:tab pos="450850" algn="l"/>
                <a:tab pos="901700" algn="l"/>
                <a:tab pos="1350963" algn="l"/>
                <a:tab pos="26416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两段式：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逻辑描述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为条件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assign out = (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==two1s?1:0);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strike="sngStrike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strike="sngStrike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None/>
            </a:pPr>
            <a:endParaRPr lang="en-US" altLang="zh-CN" sz="1800" b="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None/>
            </a:pPr>
            <a:endParaRPr lang="en-US" altLang="zh-CN" sz="1800" b="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None/>
            </a:pPr>
            <a:endParaRPr lang="en-US" altLang="zh-CN" sz="1800" b="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// 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三段式：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逻辑描述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以且仅以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为条件</a:t>
            </a: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always  @(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posedge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clk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if (!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nrst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out &lt;= 0;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else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	out&lt;=(</a:t>
            </a:r>
            <a:r>
              <a:rPr lang="en-US" altLang="zh-CN" sz="1800" b="0" dirty="0" err="1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next_state</a:t>
            </a: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==two1s)?1:0;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1800" b="0" dirty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solidFill>
                <a:schemeClr val="accent1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34" name="组合 47">
            <a:extLst>
              <a:ext uri="{FF2B5EF4-FFF2-40B4-BE49-F238E27FC236}">
                <a16:creationId xmlns:a16="http://schemas.microsoft.com/office/drawing/2014/main" id="{B61D6241-E9CF-B36E-62AB-E38F83D86036}"/>
              </a:ext>
            </a:extLst>
          </p:cNvPr>
          <p:cNvGrpSpPr>
            <a:grpSpLocks/>
          </p:cNvGrpSpPr>
          <p:nvPr/>
        </p:nvGrpSpPr>
        <p:grpSpPr bwMode="auto">
          <a:xfrm>
            <a:off x="135624" y="4170082"/>
            <a:ext cx="2989263" cy="2065338"/>
            <a:chOff x="5217578" y="1581868"/>
            <a:chExt cx="2988332" cy="2064620"/>
          </a:xfrm>
        </p:grpSpPr>
        <p:cxnSp>
          <p:nvCxnSpPr>
            <p:cNvPr id="35" name="直接箭头连接符 51">
              <a:extLst>
                <a:ext uri="{FF2B5EF4-FFF2-40B4-BE49-F238E27FC236}">
                  <a16:creationId xmlns:a16="http://schemas.microsoft.com/office/drawing/2014/main" id="{2434F2DF-2D24-5D5F-2AD0-8CCC7B9ED5B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611" y="3240229"/>
              <a:ext cx="368185" cy="158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52">
              <a:extLst>
                <a:ext uri="{FF2B5EF4-FFF2-40B4-BE49-F238E27FC236}">
                  <a16:creationId xmlns:a16="http://schemas.microsoft.com/office/drawing/2014/main" id="{1CBCE508-D8DA-F88F-7353-471E4AF44B25}"/>
                </a:ext>
              </a:extLst>
            </p:cNvPr>
            <p:cNvCxnSpPr/>
            <p:nvPr/>
          </p:nvCxnSpPr>
          <p:spPr bwMode="auto">
            <a:xfrm>
              <a:off x="7652045" y="3102164"/>
              <a:ext cx="369773" cy="31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箭头连接符 53">
              <a:extLst>
                <a:ext uri="{FF2B5EF4-FFF2-40B4-BE49-F238E27FC236}">
                  <a16:creationId xmlns:a16="http://schemas.microsoft.com/office/drawing/2014/main" id="{823D79EA-E29E-83BB-FCF2-BAE418B14E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26578" y="3100578"/>
              <a:ext cx="0" cy="5459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箭头连接符 54">
              <a:extLst>
                <a:ext uri="{FF2B5EF4-FFF2-40B4-BE49-F238E27FC236}">
                  <a16:creationId xmlns:a16="http://schemas.microsoft.com/office/drawing/2014/main" id="{0C80CBBC-D610-09A3-9ACC-6CCC0118161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44501" y="3646488"/>
              <a:ext cx="247731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箭头连接符 55">
              <a:extLst>
                <a:ext uri="{FF2B5EF4-FFF2-40B4-BE49-F238E27FC236}">
                  <a16:creationId xmlns:a16="http://schemas.microsoft.com/office/drawing/2014/main" id="{DF8D5ABF-2267-1CC3-B98C-F6DF305155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611" y="3240229"/>
              <a:ext cx="0" cy="4062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接箭头连接符 56">
              <a:extLst>
                <a:ext uri="{FF2B5EF4-FFF2-40B4-BE49-F238E27FC236}">
                  <a16:creationId xmlns:a16="http://schemas.microsoft.com/office/drawing/2014/main" id="{F450F68D-F74E-AADD-8DC7-06B4EF097A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1638" y="2040497"/>
              <a:ext cx="159652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57">
              <a:extLst>
                <a:ext uri="{FF2B5EF4-FFF2-40B4-BE49-F238E27FC236}">
                  <a16:creationId xmlns:a16="http://schemas.microsoft.com/office/drawing/2014/main" id="{93E6744C-F0F5-F1D4-E640-FA46595C9CA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1638" y="3100578"/>
              <a:ext cx="75382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TextBox 58">
              <a:extLst>
                <a:ext uri="{FF2B5EF4-FFF2-40B4-BE49-F238E27FC236}">
                  <a16:creationId xmlns:a16="http://schemas.microsoft.com/office/drawing/2014/main" id="{F3DFAEA3-11FD-A3DE-51A2-C9B84E5C1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578" y="2503658"/>
              <a:ext cx="362138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in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91" name="TextBox 60">
              <a:extLst>
                <a:ext uri="{FF2B5EF4-FFF2-40B4-BE49-F238E27FC236}">
                  <a16:creationId xmlns:a16="http://schemas.microsoft.com/office/drawing/2014/main" id="{39A5B14B-7366-B3F4-2B94-C6C3C5456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2209" y="1581868"/>
              <a:ext cx="493701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out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92" name="TextBox 61">
              <a:extLst>
                <a:ext uri="{FF2B5EF4-FFF2-40B4-BE49-F238E27FC236}">
                  <a16:creationId xmlns:a16="http://schemas.microsoft.com/office/drawing/2014/main" id="{072F2722-7E4E-6845-AE10-16AF10386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7392" y="2660620"/>
              <a:ext cx="37705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cs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93" name="TextBox 62">
              <a:extLst>
                <a:ext uri="{FF2B5EF4-FFF2-40B4-BE49-F238E27FC236}">
                  <a16:creationId xmlns:a16="http://schemas.microsoft.com/office/drawing/2014/main" id="{22BDF499-CE21-2B82-BF35-7B0AFF1AF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1895" y="2660620"/>
              <a:ext cx="39197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ns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cxnSp>
          <p:nvCxnSpPr>
            <p:cNvPr id="94" name="直接箭头连接符 62">
              <a:extLst>
                <a:ext uri="{FF2B5EF4-FFF2-40B4-BE49-F238E27FC236}">
                  <a16:creationId xmlns:a16="http://schemas.microsoft.com/office/drawing/2014/main" id="{30F192F0-C96B-BD27-FBB4-6E7EAB33E9E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92168" y="2949817"/>
              <a:ext cx="64749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36">
              <a:extLst>
                <a:ext uri="{FF2B5EF4-FFF2-40B4-BE49-F238E27FC236}">
                  <a16:creationId xmlns:a16="http://schemas.microsoft.com/office/drawing/2014/main" id="{22B65653-B67A-1EC2-3AD0-8B8FCA01D15F}"/>
                </a:ext>
              </a:extLst>
            </p:cNvPr>
            <p:cNvSpPr txBox="1"/>
            <p:nvPr/>
          </p:nvSpPr>
          <p:spPr bwMode="auto">
            <a:xfrm>
              <a:off x="5920622" y="1705650"/>
              <a:ext cx="520538" cy="63954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dirty="0" err="1">
                  <a:latin typeface="Times New Roman" pitchFamily="18" charset="0"/>
                  <a:cs typeface="Times New Roman" pitchFamily="18" charset="0"/>
                </a:rPr>
                <a:t>CL</a:t>
              </a:r>
              <a:r>
                <a:rPr lang="en-US" altLang="zh-CN" sz="2000" dirty="0" err="1">
                  <a:latin typeface="Times New Roman" pitchFamily="18" charset="0"/>
                  <a:cs typeface="Times New Roman" pitchFamily="18" charset="0"/>
                </a:rPr>
                <a:t>o</a:t>
              </a:r>
              <a:endParaRPr lang="en-US" altLang="zh-CN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6" name="直接箭头连接符 64">
              <a:extLst>
                <a:ext uri="{FF2B5EF4-FFF2-40B4-BE49-F238E27FC236}">
                  <a16:creationId xmlns:a16="http://schemas.microsoft.com/office/drawing/2014/main" id="{E7DEDADD-A239-4C2C-11F0-D32A029D18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051605"/>
              <a:ext cx="30470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箭头连接符 69">
              <a:extLst>
                <a:ext uri="{FF2B5EF4-FFF2-40B4-BE49-F238E27FC236}">
                  <a16:creationId xmlns:a16="http://schemas.microsoft.com/office/drawing/2014/main" id="{759F8831-B491-62B5-7822-262F19AE5B1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631600" y="2545146"/>
              <a:ext cx="0" cy="55543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/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接箭头连接符 71">
              <a:extLst>
                <a:ext uri="{FF2B5EF4-FFF2-40B4-BE49-F238E27FC236}">
                  <a16:creationId xmlns:a16="http://schemas.microsoft.com/office/drawing/2014/main" id="{8CAC1EC9-0170-009F-29A9-BC2DADCC8B2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545146"/>
              <a:ext cx="101568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箭头连接符 74">
              <a:extLst>
                <a:ext uri="{FF2B5EF4-FFF2-40B4-BE49-F238E27FC236}">
                  <a16:creationId xmlns:a16="http://schemas.microsoft.com/office/drawing/2014/main" id="{F2B68E37-D5A7-4EA2-BDB0-63752E48F4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051605"/>
              <a:ext cx="0" cy="49354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34">
              <a:extLst>
                <a:ext uri="{FF2B5EF4-FFF2-40B4-BE49-F238E27FC236}">
                  <a16:creationId xmlns:a16="http://schemas.microsoft.com/office/drawing/2014/main" id="{DFA55D50-BC09-75F3-F3EF-13AD4277762E}"/>
                </a:ext>
              </a:extLst>
            </p:cNvPr>
            <p:cNvSpPr txBox="1"/>
            <p:nvPr/>
          </p:nvSpPr>
          <p:spPr bwMode="auto">
            <a:xfrm>
              <a:off x="7198161" y="1705650"/>
              <a:ext cx="466580" cy="634779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OR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TextBox 35">
              <a:extLst>
                <a:ext uri="{FF2B5EF4-FFF2-40B4-BE49-F238E27FC236}">
                  <a16:creationId xmlns:a16="http://schemas.microsoft.com/office/drawing/2014/main" id="{DE870E90-1491-01C9-CE91-F6CADD8F3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0699" y="2148575"/>
              <a:ext cx="420460" cy="191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  <p:sp>
          <p:nvSpPr>
            <p:cNvPr id="102" name="TextBox 36">
              <a:extLst>
                <a:ext uri="{FF2B5EF4-FFF2-40B4-BE49-F238E27FC236}">
                  <a16:creationId xmlns:a16="http://schemas.microsoft.com/office/drawing/2014/main" id="{32A48ECB-5A49-9D51-CD9A-D23EA08E0914}"/>
                </a:ext>
              </a:extLst>
            </p:cNvPr>
            <p:cNvSpPr txBox="1"/>
            <p:nvPr/>
          </p:nvSpPr>
          <p:spPr bwMode="auto">
            <a:xfrm>
              <a:off x="5903164" y="2773667"/>
              <a:ext cx="520538" cy="63795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dirty="0" err="1">
                  <a:latin typeface="Times New Roman" pitchFamily="18" charset="0"/>
                  <a:cs typeface="Times New Roman" pitchFamily="18" charset="0"/>
                </a:rPr>
                <a:t>CLn</a:t>
              </a:r>
              <a:endParaRPr lang="en-US" altLang="zh-CN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TextBox 34">
              <a:extLst>
                <a:ext uri="{FF2B5EF4-FFF2-40B4-BE49-F238E27FC236}">
                  <a16:creationId xmlns:a16="http://schemas.microsoft.com/office/drawing/2014/main" id="{19A8E4A7-7062-C10B-C547-A76751A898B6}"/>
                </a:ext>
              </a:extLst>
            </p:cNvPr>
            <p:cNvSpPr txBox="1"/>
            <p:nvPr/>
          </p:nvSpPr>
          <p:spPr bwMode="auto">
            <a:xfrm>
              <a:off x="7180704" y="2773667"/>
              <a:ext cx="466580" cy="63477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SR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TextBox 35">
              <a:extLst>
                <a:ext uri="{FF2B5EF4-FFF2-40B4-BE49-F238E27FC236}">
                  <a16:creationId xmlns:a16="http://schemas.microsoft.com/office/drawing/2014/main" id="{C50507A9-ED9C-654D-F2D4-C82AEE57C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3164" y="3216454"/>
              <a:ext cx="420460" cy="191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</p:grpSp>
      <p:sp>
        <p:nvSpPr>
          <p:cNvPr id="105" name="矩形: 圆角 67">
            <a:extLst>
              <a:ext uri="{FF2B5EF4-FFF2-40B4-BE49-F238E27FC236}">
                <a16:creationId xmlns:a16="http://schemas.microsoft.com/office/drawing/2014/main" id="{0D328825-EF1E-FADB-E3AB-A87B93B77828}"/>
              </a:ext>
            </a:extLst>
          </p:cNvPr>
          <p:cNvSpPr/>
          <p:nvPr/>
        </p:nvSpPr>
        <p:spPr bwMode="auto">
          <a:xfrm>
            <a:off x="649974" y="4205007"/>
            <a:ext cx="2039938" cy="838200"/>
          </a:xfrm>
          <a:prstGeom prst="roundRect">
            <a:avLst/>
          </a:prstGeom>
          <a:noFill/>
          <a:ln w="19050">
            <a:solidFill>
              <a:srgbClr val="008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6" name="矩形: 圆角 68">
            <a:extLst>
              <a:ext uri="{FF2B5EF4-FFF2-40B4-BE49-F238E27FC236}">
                <a16:creationId xmlns:a16="http://schemas.microsoft.com/office/drawing/2014/main" id="{97930EB8-E6C0-9BF2-FF14-4EEE808508D5}"/>
              </a:ext>
            </a:extLst>
          </p:cNvPr>
          <p:cNvSpPr/>
          <p:nvPr/>
        </p:nvSpPr>
        <p:spPr bwMode="auto">
          <a:xfrm>
            <a:off x="1910449" y="5271807"/>
            <a:ext cx="779463" cy="846138"/>
          </a:xfrm>
          <a:prstGeom prst="roundRect">
            <a:avLst/>
          </a:prstGeom>
          <a:noFill/>
          <a:ln w="19050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7" name="矩形: 圆角 75">
            <a:extLst>
              <a:ext uri="{FF2B5EF4-FFF2-40B4-BE49-F238E27FC236}">
                <a16:creationId xmlns:a16="http://schemas.microsoft.com/office/drawing/2014/main" id="{37E90CAC-D2B0-A77D-2E34-49E1EE9A5004}"/>
              </a:ext>
            </a:extLst>
          </p:cNvPr>
          <p:cNvSpPr/>
          <p:nvPr/>
        </p:nvSpPr>
        <p:spPr bwMode="auto">
          <a:xfrm>
            <a:off x="649974" y="5271807"/>
            <a:ext cx="803275" cy="846138"/>
          </a:xfrm>
          <a:prstGeom prst="roundRect">
            <a:avLst/>
          </a:prstGeom>
          <a:noFill/>
          <a:ln w="19050">
            <a:solidFill>
              <a:srgbClr val="99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07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CF7B-4173-3603-9B4A-ACEE2503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cs typeface="Times New Roman" panose="02020603050405020304" pitchFamily="18" charset="0"/>
              </a:rPr>
              <a:t>三段式</a:t>
            </a:r>
            <a:r>
              <a:rPr lang="en-US" altLang="zh-CN" dirty="0">
                <a:cs typeface="Times New Roman" panose="02020603050405020304" pitchFamily="18" charset="0"/>
              </a:rPr>
              <a:t>FSM</a:t>
            </a:r>
            <a:r>
              <a:rPr lang="zh-CN" altLang="en-US" dirty="0">
                <a:cs typeface="Times New Roman" panose="02020603050405020304" pitchFamily="18" charset="0"/>
              </a:rPr>
              <a:t>时序图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9AB385-C44A-0718-99A9-23A76162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536D87-C687-73CE-FB84-7317733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24</a:t>
            </a:fld>
            <a:r>
              <a:rPr lang="en-US" altLang="zh-CN" dirty="0"/>
              <a:t>/25</a:t>
            </a:r>
            <a:endParaRPr lang="en-US" dirty="0"/>
          </a:p>
        </p:txBody>
      </p:sp>
      <p:grpSp>
        <p:nvGrpSpPr>
          <p:cNvPr id="6" name="组合 7">
            <a:extLst>
              <a:ext uri="{FF2B5EF4-FFF2-40B4-BE49-F238E27FC236}">
                <a16:creationId xmlns:a16="http://schemas.microsoft.com/office/drawing/2014/main" id="{A82A5698-C6C5-3435-B118-C19B1976E78F}"/>
              </a:ext>
            </a:extLst>
          </p:cNvPr>
          <p:cNvGrpSpPr>
            <a:grpSpLocks/>
          </p:cNvGrpSpPr>
          <p:nvPr/>
        </p:nvGrpSpPr>
        <p:grpSpPr bwMode="auto">
          <a:xfrm>
            <a:off x="3434307" y="2345704"/>
            <a:ext cx="6329363" cy="3919537"/>
            <a:chOff x="456988" y="1376772"/>
            <a:chExt cx="6329921" cy="391956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57028FE-3B14-8E90-DCDC-A74B9DDADF79}"/>
                </a:ext>
              </a:extLst>
            </p:cNvPr>
            <p:cNvSpPr/>
            <p:nvPr/>
          </p:nvSpPr>
          <p:spPr>
            <a:xfrm>
              <a:off x="1111096" y="2756320"/>
              <a:ext cx="5642472" cy="360366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CE8C224-1C12-2449-5B2F-117416F45D29}"/>
                </a:ext>
              </a:extLst>
            </p:cNvPr>
            <p:cNvSpPr/>
            <p:nvPr/>
          </p:nvSpPr>
          <p:spPr>
            <a:xfrm>
              <a:off x="1111096" y="3543726"/>
              <a:ext cx="5642472" cy="36036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95C19BA-331C-02DC-E7BF-DB74F3443AC9}"/>
                </a:ext>
              </a:extLst>
            </p:cNvPr>
            <p:cNvSpPr/>
            <p:nvPr/>
          </p:nvSpPr>
          <p:spPr>
            <a:xfrm>
              <a:off x="1111096" y="4331132"/>
              <a:ext cx="5642472" cy="36036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271A016-649C-C9BE-D61F-248E92A65065}"/>
                </a:ext>
              </a:extLst>
            </p:cNvPr>
            <p:cNvSpPr/>
            <p:nvPr/>
          </p:nvSpPr>
          <p:spPr>
            <a:xfrm>
              <a:off x="1111096" y="4923274"/>
              <a:ext cx="5642472" cy="360365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B1E83BA-EA48-CF14-5F4B-23186DA51CFE}"/>
                </a:ext>
              </a:extLst>
            </p:cNvPr>
            <p:cNvSpPr/>
            <p:nvPr/>
          </p:nvSpPr>
          <p:spPr>
            <a:xfrm>
              <a:off x="1111096" y="1968914"/>
              <a:ext cx="5642472" cy="36195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cxnSp>
          <p:nvCxnSpPr>
            <p:cNvPr id="12" name="直接连接符 6">
              <a:extLst>
                <a:ext uri="{FF2B5EF4-FFF2-40B4-BE49-F238E27FC236}">
                  <a16:creationId xmlns:a16="http://schemas.microsoft.com/office/drawing/2014/main" id="{74B58340-CDDC-A231-F305-077E919E83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1484739" y="1627023"/>
              <a:ext cx="262399" cy="147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8">
              <a:extLst>
                <a:ext uri="{FF2B5EF4-FFF2-40B4-BE49-F238E27FC236}">
                  <a16:creationId xmlns:a16="http://schemas.microsoft.com/office/drawing/2014/main" id="{4A7CD9C0-6A84-4805-07F6-CF9DD501B9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16677" y="1496563"/>
              <a:ext cx="2043564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1">
              <a:extLst>
                <a:ext uri="{FF2B5EF4-FFF2-40B4-BE49-F238E27FC236}">
                  <a16:creationId xmlns:a16="http://schemas.microsoft.com/office/drawing/2014/main" id="{69004772-F223-E52D-3375-D3B355B177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5417" y="1967910"/>
              <a:ext cx="5668194" cy="1427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12">
              <a:extLst>
                <a:ext uri="{FF2B5EF4-FFF2-40B4-BE49-F238E27FC236}">
                  <a16:creationId xmlns:a16="http://schemas.microsoft.com/office/drawing/2014/main" id="{3A5B6E93-D648-A0AC-7069-633EAF3BAC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529781" y="1627023"/>
              <a:ext cx="262399" cy="147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14">
              <a:extLst>
                <a:ext uri="{FF2B5EF4-FFF2-40B4-BE49-F238E27FC236}">
                  <a16:creationId xmlns:a16="http://schemas.microsoft.com/office/drawing/2014/main" id="{09FF541A-AC1A-905D-4F75-859A7DFE13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553912" y="1600564"/>
              <a:ext cx="290921" cy="5911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连接符 15">
              <a:extLst>
                <a:ext uri="{FF2B5EF4-FFF2-40B4-BE49-F238E27FC236}">
                  <a16:creationId xmlns:a16="http://schemas.microsoft.com/office/drawing/2014/main" id="{70617B77-0681-9DAC-3412-89FEDC193F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00850" y="1458059"/>
              <a:ext cx="1072760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E54F794-D968-1296-63C9-0717914915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5417" y="2328709"/>
              <a:ext cx="5668194" cy="142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6222D6-8D38-936F-5BE7-97FE2ED1F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88" y="1376772"/>
              <a:ext cx="537858" cy="414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clk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7FC156-E15E-751C-2821-6550E4A0F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4" y="1947945"/>
              <a:ext cx="410782" cy="414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in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21" name="TextBox 23">
              <a:extLst>
                <a:ext uri="{FF2B5EF4-FFF2-40B4-BE49-F238E27FC236}">
                  <a16:creationId xmlns:a16="http://schemas.microsoft.com/office/drawing/2014/main" id="{88C0A100-FD14-77DD-ADDD-1BE46BBC9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4" y="2702342"/>
              <a:ext cx="410782" cy="414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cs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22" name="Line 33">
              <a:extLst>
                <a:ext uri="{FF2B5EF4-FFF2-40B4-BE49-F238E27FC236}">
                  <a16:creationId xmlns:a16="http://schemas.microsoft.com/office/drawing/2014/main" id="{F5EB4E7A-221B-5BCA-DDF4-0729C8BAF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3722" y="1496562"/>
              <a:ext cx="0" cy="37997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9">
              <a:extLst>
                <a:ext uri="{FF2B5EF4-FFF2-40B4-BE49-F238E27FC236}">
                  <a16:creationId xmlns:a16="http://schemas.microsoft.com/office/drawing/2014/main" id="{B8A229D3-5BBD-D31A-B245-21236FD1D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2328" y="1496562"/>
              <a:ext cx="0" cy="3783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组合 50">
              <a:extLst>
                <a:ext uri="{FF2B5EF4-FFF2-40B4-BE49-F238E27FC236}">
                  <a16:creationId xmlns:a16="http://schemas.microsoft.com/office/drawing/2014/main" id="{A12BA288-BFEA-FD69-7E6E-48FE1A1B7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906" y="1972189"/>
              <a:ext cx="369408" cy="356520"/>
              <a:chOff x="2917825" y="1916113"/>
              <a:chExt cx="396875" cy="396875"/>
            </a:xfrm>
          </p:grpSpPr>
          <p:sp>
            <p:nvSpPr>
              <p:cNvPr id="85" name="Line 52">
                <a:extLst>
                  <a:ext uri="{FF2B5EF4-FFF2-40B4-BE49-F238E27FC236}">
                    <a16:creationId xmlns:a16="http://schemas.microsoft.com/office/drawing/2014/main" id="{837775BB-14AA-9E3C-0C9F-0BD977B3D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978" y="1916002"/>
                <a:ext cx="397426" cy="397622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86" name="Line 53">
                <a:extLst>
                  <a:ext uri="{FF2B5EF4-FFF2-40B4-BE49-F238E27FC236}">
                    <a16:creationId xmlns:a16="http://schemas.microsoft.com/office/drawing/2014/main" id="{C281A28C-12BD-9EC3-6AB6-33E89B3BE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978" y="1916002"/>
                <a:ext cx="397426" cy="397622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5" name="Line 54">
              <a:extLst>
                <a:ext uri="{FF2B5EF4-FFF2-40B4-BE49-F238E27FC236}">
                  <a16:creationId xmlns:a16="http://schemas.microsoft.com/office/drawing/2014/main" id="{E2069A93-E78C-423D-A6B3-0CD4094CE0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9849" y="1748980"/>
              <a:ext cx="5023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6" name="直接箭头连接符 66">
              <a:extLst>
                <a:ext uri="{FF2B5EF4-FFF2-40B4-BE49-F238E27FC236}">
                  <a16:creationId xmlns:a16="http://schemas.microsoft.com/office/drawing/2014/main" id="{44B6D1EF-EB3E-A7A7-091B-F8F4A263BF93}"/>
                </a:ext>
              </a:extLst>
            </p:cNvPr>
            <p:cNvCxnSpPr/>
            <p:nvPr/>
          </p:nvCxnSpPr>
          <p:spPr>
            <a:xfrm>
              <a:off x="1620729" y="2559468"/>
              <a:ext cx="306414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49">
              <a:extLst>
                <a:ext uri="{FF2B5EF4-FFF2-40B4-BE49-F238E27FC236}">
                  <a16:creationId xmlns:a16="http://schemas.microsoft.com/office/drawing/2014/main" id="{696B259A-2998-3305-41EB-251D1AEBC23C}"/>
                </a:ext>
              </a:extLst>
            </p:cNvPr>
            <p:cNvCxnSpPr/>
            <p:nvPr/>
          </p:nvCxnSpPr>
          <p:spPr>
            <a:xfrm rot="16200000" flipH="1">
              <a:off x="2498756" y="2756320"/>
              <a:ext cx="157481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67">
              <a:extLst>
                <a:ext uri="{FF2B5EF4-FFF2-40B4-BE49-F238E27FC236}">
                  <a16:creationId xmlns:a16="http://schemas.microsoft.com/office/drawing/2014/main" id="{362AF2EF-B053-0FF5-F5D3-33448FCF8D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1327" y="2756533"/>
              <a:ext cx="5668194" cy="142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直接连接符 70">
              <a:extLst>
                <a:ext uri="{FF2B5EF4-FFF2-40B4-BE49-F238E27FC236}">
                  <a16:creationId xmlns:a16="http://schemas.microsoft.com/office/drawing/2014/main" id="{8BEA7B2E-0FE4-94C8-F904-D7A770CA4F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1327" y="3117331"/>
              <a:ext cx="5668194" cy="1427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0" name="组合 71">
              <a:extLst>
                <a:ext uri="{FF2B5EF4-FFF2-40B4-BE49-F238E27FC236}">
                  <a16:creationId xmlns:a16="http://schemas.microsoft.com/office/drawing/2014/main" id="{22F81651-7522-2CF3-74D1-BF42AAF4C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7052" y="2760811"/>
              <a:ext cx="369408" cy="356520"/>
              <a:chOff x="2917825" y="1916113"/>
              <a:chExt cx="396875" cy="396875"/>
            </a:xfrm>
          </p:grpSpPr>
          <p:sp>
            <p:nvSpPr>
              <p:cNvPr id="83" name="Line 52">
                <a:extLst>
                  <a:ext uri="{FF2B5EF4-FFF2-40B4-BE49-F238E27FC236}">
                    <a16:creationId xmlns:a16="http://schemas.microsoft.com/office/drawing/2014/main" id="{0FD2ACA3-273E-36D4-C418-8A29D8FCA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8055" y="1916416"/>
                <a:ext cx="397425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84" name="Line 53">
                <a:extLst>
                  <a:ext uri="{FF2B5EF4-FFF2-40B4-BE49-F238E27FC236}">
                    <a16:creationId xmlns:a16="http://schemas.microsoft.com/office/drawing/2014/main" id="{37B9AC9A-2059-B9A7-AF90-A223A36B9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8055" y="1916416"/>
                <a:ext cx="397425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31" name="直接连接符 76">
              <a:extLst>
                <a:ext uri="{FF2B5EF4-FFF2-40B4-BE49-F238E27FC236}">
                  <a16:creationId xmlns:a16="http://schemas.microsoft.com/office/drawing/2014/main" id="{E19B6BC1-3A1F-13AD-6D6D-2CAB5C330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8731" y="2330866"/>
              <a:ext cx="0" cy="296547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81">
              <a:extLst>
                <a:ext uri="{FF2B5EF4-FFF2-40B4-BE49-F238E27FC236}">
                  <a16:creationId xmlns:a16="http://schemas.microsoft.com/office/drawing/2014/main" id="{FBE8F6FA-28DC-9664-F941-040E118BE4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2804" y="3549434"/>
              <a:ext cx="5668194" cy="142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连接符 82">
              <a:extLst>
                <a:ext uri="{FF2B5EF4-FFF2-40B4-BE49-F238E27FC236}">
                  <a16:creationId xmlns:a16="http://schemas.microsoft.com/office/drawing/2014/main" id="{DD3C5265-8A47-B6F9-03F1-EA83381686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2804" y="3910233"/>
              <a:ext cx="5668194" cy="1427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4" name="组合 90">
              <a:extLst>
                <a:ext uri="{FF2B5EF4-FFF2-40B4-BE49-F238E27FC236}">
                  <a16:creationId xmlns:a16="http://schemas.microsoft.com/office/drawing/2014/main" id="{4477E47F-F06C-6EFF-0717-80A797D08F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125" y="3549434"/>
              <a:ext cx="369408" cy="356520"/>
              <a:chOff x="2917825" y="1916113"/>
              <a:chExt cx="396875" cy="396875"/>
            </a:xfrm>
          </p:grpSpPr>
          <p:sp>
            <p:nvSpPr>
              <p:cNvPr id="81" name="Line 52">
                <a:extLst>
                  <a:ext uri="{FF2B5EF4-FFF2-40B4-BE49-F238E27FC236}">
                    <a16:creationId xmlns:a16="http://schemas.microsoft.com/office/drawing/2014/main" id="{89AA5539-3AB1-1176-C6B2-065CAF02F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8047" y="1916828"/>
                <a:ext cx="397425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82" name="Line 53">
                <a:extLst>
                  <a:ext uri="{FF2B5EF4-FFF2-40B4-BE49-F238E27FC236}">
                    <a16:creationId xmlns:a16="http://schemas.microsoft.com/office/drawing/2014/main" id="{9F07CE24-D8B5-B333-82A3-B45A4A336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8047" y="1916828"/>
                <a:ext cx="397425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35" name="直接连接符 93">
              <a:extLst>
                <a:ext uri="{FF2B5EF4-FFF2-40B4-BE49-F238E27FC236}">
                  <a16:creationId xmlns:a16="http://schemas.microsoft.com/office/drawing/2014/main" id="{BA9D373D-4331-B2D5-8272-A35051624B1E}"/>
                </a:ext>
              </a:extLst>
            </p:cNvPr>
            <p:cNvCxnSpPr/>
            <p:nvPr/>
          </p:nvCxnSpPr>
          <p:spPr>
            <a:xfrm rot="16200000" flipH="1">
              <a:off x="3331471" y="3920760"/>
              <a:ext cx="154147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94">
              <a:extLst>
                <a:ext uri="{FF2B5EF4-FFF2-40B4-BE49-F238E27FC236}">
                  <a16:creationId xmlns:a16="http://schemas.microsoft.com/office/drawing/2014/main" id="{999E4711-DFE9-E7BE-FBB2-784BDFE39D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8715" y="4335205"/>
              <a:ext cx="5668194" cy="1427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直接连接符 95">
              <a:extLst>
                <a:ext uri="{FF2B5EF4-FFF2-40B4-BE49-F238E27FC236}">
                  <a16:creationId xmlns:a16="http://schemas.microsoft.com/office/drawing/2014/main" id="{680B9E6D-EA42-6704-5E21-E29AF77FD2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8715" y="4696004"/>
              <a:ext cx="5668194" cy="142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8" name="组合 96">
              <a:extLst>
                <a:ext uri="{FF2B5EF4-FFF2-40B4-BE49-F238E27FC236}">
                  <a16:creationId xmlns:a16="http://schemas.microsoft.com/office/drawing/2014/main" id="{17CA11D4-FBC4-963D-AFC1-9162FEB19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2790" y="4339483"/>
              <a:ext cx="369408" cy="356520"/>
              <a:chOff x="2917825" y="1916113"/>
              <a:chExt cx="396875" cy="396875"/>
            </a:xfrm>
          </p:grpSpPr>
          <p:sp>
            <p:nvSpPr>
              <p:cNvPr id="79" name="Line 52">
                <a:extLst>
                  <a:ext uri="{FF2B5EF4-FFF2-40B4-BE49-F238E27FC236}">
                    <a16:creationId xmlns:a16="http://schemas.microsoft.com/office/drawing/2014/main" id="{081D3B8E-B3D9-D80F-408E-D804FFDBCB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551" y="1915653"/>
                <a:ext cx="397425" cy="397621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80" name="Line 53">
                <a:extLst>
                  <a:ext uri="{FF2B5EF4-FFF2-40B4-BE49-F238E27FC236}">
                    <a16:creationId xmlns:a16="http://schemas.microsoft.com/office/drawing/2014/main" id="{E7E88A8D-03A2-9310-C6A3-F62A9820A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551" y="1915653"/>
                <a:ext cx="397425" cy="397621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39" name="直接连接符 99">
              <a:extLst>
                <a:ext uri="{FF2B5EF4-FFF2-40B4-BE49-F238E27FC236}">
                  <a16:creationId xmlns:a16="http://schemas.microsoft.com/office/drawing/2014/main" id="{946963F4-0584-29B6-F245-0F544F45D1CC}"/>
                </a:ext>
              </a:extLst>
            </p:cNvPr>
            <p:cNvCxnSpPr/>
            <p:nvPr/>
          </p:nvCxnSpPr>
          <p:spPr>
            <a:xfrm rot="5400000">
              <a:off x="3174266" y="4292237"/>
              <a:ext cx="787406" cy="1111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组合 100">
              <a:extLst>
                <a:ext uri="{FF2B5EF4-FFF2-40B4-BE49-F238E27FC236}">
                  <a16:creationId xmlns:a16="http://schemas.microsoft.com/office/drawing/2014/main" id="{694A818D-F1BF-420F-4981-55E300DB5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0182" y="4335205"/>
              <a:ext cx="369408" cy="356520"/>
              <a:chOff x="2917825" y="1916113"/>
              <a:chExt cx="396875" cy="396875"/>
            </a:xfrm>
          </p:grpSpPr>
          <p:sp>
            <p:nvSpPr>
              <p:cNvPr id="77" name="Line 52">
                <a:extLst>
                  <a:ext uri="{FF2B5EF4-FFF2-40B4-BE49-F238E27FC236}">
                    <a16:creationId xmlns:a16="http://schemas.microsoft.com/office/drawing/2014/main" id="{245242AA-54E7-519D-ACC8-0F3AAE400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7439" y="1916881"/>
                <a:ext cx="397426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8" name="Line 53">
                <a:extLst>
                  <a:ext uri="{FF2B5EF4-FFF2-40B4-BE49-F238E27FC236}">
                    <a16:creationId xmlns:a16="http://schemas.microsoft.com/office/drawing/2014/main" id="{63389A57-C963-5771-8B34-44EE09031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7439" y="1916881"/>
                <a:ext cx="397426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41" name="直接连接符 103">
              <a:extLst>
                <a:ext uri="{FF2B5EF4-FFF2-40B4-BE49-F238E27FC236}">
                  <a16:creationId xmlns:a16="http://schemas.microsoft.com/office/drawing/2014/main" id="{DE642F05-5B91-CFD6-B321-0C92F62D535C}"/>
                </a:ext>
              </a:extLst>
            </p:cNvPr>
            <p:cNvCxnSpPr/>
            <p:nvPr/>
          </p:nvCxnSpPr>
          <p:spPr>
            <a:xfrm rot="16200000" flipH="1">
              <a:off x="4591234" y="4297794"/>
              <a:ext cx="78740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105">
              <a:extLst>
                <a:ext uri="{FF2B5EF4-FFF2-40B4-BE49-F238E27FC236}">
                  <a16:creationId xmlns:a16="http://schemas.microsoft.com/office/drawing/2014/main" id="{EB735C2C-2F7E-069D-1BBA-97E1394BC42E}"/>
                </a:ext>
              </a:extLst>
            </p:cNvPr>
            <p:cNvCxnSpPr/>
            <p:nvPr/>
          </p:nvCxnSpPr>
          <p:spPr>
            <a:xfrm>
              <a:off x="1927143" y="3313537"/>
              <a:ext cx="747779" cy="1587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106">
              <a:extLst>
                <a:ext uri="{FF2B5EF4-FFF2-40B4-BE49-F238E27FC236}">
                  <a16:creationId xmlns:a16="http://schemas.microsoft.com/office/drawing/2014/main" id="{50E0B74C-CE14-9799-529B-1AE3AE6EAB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1327" y="4923351"/>
              <a:ext cx="5668194" cy="142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连接符 107">
              <a:extLst>
                <a:ext uri="{FF2B5EF4-FFF2-40B4-BE49-F238E27FC236}">
                  <a16:creationId xmlns:a16="http://schemas.microsoft.com/office/drawing/2014/main" id="{FA61B91C-10CC-3002-26E4-3CEE6C9FE3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1327" y="5284149"/>
              <a:ext cx="5668194" cy="1427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5" name="组合 108">
              <a:extLst>
                <a:ext uri="{FF2B5EF4-FFF2-40B4-BE49-F238E27FC236}">
                  <a16:creationId xmlns:a16="http://schemas.microsoft.com/office/drawing/2014/main" id="{65D86B4E-32B4-C0A2-82D9-FE5CED473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7052" y="4927629"/>
              <a:ext cx="369408" cy="356520"/>
              <a:chOff x="2917825" y="1916113"/>
              <a:chExt cx="396875" cy="396875"/>
            </a:xfrm>
          </p:grpSpPr>
          <p:sp>
            <p:nvSpPr>
              <p:cNvPr id="75" name="Line 52">
                <a:extLst>
                  <a:ext uri="{FF2B5EF4-FFF2-40B4-BE49-F238E27FC236}">
                    <a16:creationId xmlns:a16="http://schemas.microsoft.com/office/drawing/2014/main" id="{2007EB67-87DB-97C6-1E41-15080E187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8055" y="1916566"/>
                <a:ext cx="397425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6" name="Line 53">
                <a:extLst>
                  <a:ext uri="{FF2B5EF4-FFF2-40B4-BE49-F238E27FC236}">
                    <a16:creationId xmlns:a16="http://schemas.microsoft.com/office/drawing/2014/main" id="{A89AF825-884D-0271-FAAE-91CDAF4AE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8055" y="1916566"/>
                <a:ext cx="397425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46" name="TextBox 23">
              <a:extLst>
                <a:ext uri="{FF2B5EF4-FFF2-40B4-BE49-F238E27FC236}">
                  <a16:creationId xmlns:a16="http://schemas.microsoft.com/office/drawing/2014/main" id="{04B73D20-5804-8442-C030-7D6B9439D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482" y="3489539"/>
              <a:ext cx="443289" cy="414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ns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47" name="TextBox 23">
              <a:extLst>
                <a:ext uri="{FF2B5EF4-FFF2-40B4-BE49-F238E27FC236}">
                  <a16:creationId xmlns:a16="http://schemas.microsoft.com/office/drawing/2014/main" id="{14FA7D50-9CBF-6228-14E1-9459A8A48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88" y="4276736"/>
              <a:ext cx="586620" cy="414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nso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sp>
          <p:nvSpPr>
            <p:cNvPr id="48" name="TextBox 23">
              <a:extLst>
                <a:ext uri="{FF2B5EF4-FFF2-40B4-BE49-F238E27FC236}">
                  <a16:creationId xmlns:a16="http://schemas.microsoft.com/office/drawing/2014/main" id="{F24EB537-7DB1-4BFD-B248-3D0EF2DB1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88" y="4869160"/>
              <a:ext cx="570366" cy="414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cs typeface="Times New Roman" panose="02020603050405020304" pitchFamily="18" charset="0"/>
                </a:rPr>
                <a:t>out</a:t>
              </a:r>
              <a:endParaRPr lang="zh-CN" altLang="en-US" sz="2400">
                <a:cs typeface="Times New Roman" panose="02020603050405020304" pitchFamily="18" charset="0"/>
              </a:endParaRPr>
            </a:p>
          </p:txBody>
        </p:sp>
        <p:grpSp>
          <p:nvGrpSpPr>
            <p:cNvPr id="49" name="组合 119">
              <a:extLst>
                <a:ext uri="{FF2B5EF4-FFF2-40B4-BE49-F238E27FC236}">
                  <a16:creationId xmlns:a16="http://schemas.microsoft.com/office/drawing/2014/main" id="{91FE56AA-BF8B-7530-56F6-A1E24FA9BB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9167" y="3548008"/>
              <a:ext cx="369408" cy="356520"/>
              <a:chOff x="2917825" y="1916113"/>
              <a:chExt cx="396875" cy="396875"/>
            </a:xfrm>
          </p:grpSpPr>
          <p:sp>
            <p:nvSpPr>
              <p:cNvPr id="73" name="Line 52">
                <a:extLst>
                  <a:ext uri="{FF2B5EF4-FFF2-40B4-BE49-F238E27FC236}">
                    <a16:creationId xmlns:a16="http://schemas.microsoft.com/office/drawing/2014/main" id="{18A9900A-0C4C-A5E2-7D1D-931B9FAF6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8513" y="1916648"/>
                <a:ext cx="395720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4" name="Line 53">
                <a:extLst>
                  <a:ext uri="{FF2B5EF4-FFF2-40B4-BE49-F238E27FC236}">
                    <a16:creationId xmlns:a16="http://schemas.microsoft.com/office/drawing/2014/main" id="{4F6D8D5B-7600-3DA2-7917-102C101DA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8513" y="1916648"/>
                <a:ext cx="395720" cy="395854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50" name="直接连接符 122">
              <a:extLst>
                <a:ext uri="{FF2B5EF4-FFF2-40B4-BE49-F238E27FC236}">
                  <a16:creationId xmlns:a16="http://schemas.microsoft.com/office/drawing/2014/main" id="{28ADB87E-6C89-C2B7-C2BF-87A68A2CD0E2}"/>
                </a:ext>
              </a:extLst>
            </p:cNvPr>
            <p:cNvCxnSpPr/>
            <p:nvPr/>
          </p:nvCxnSpPr>
          <p:spPr>
            <a:xfrm rot="5400000">
              <a:off x="2085161" y="3708033"/>
              <a:ext cx="1181109" cy="158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127">
              <a:extLst>
                <a:ext uri="{FF2B5EF4-FFF2-40B4-BE49-F238E27FC236}">
                  <a16:creationId xmlns:a16="http://schemas.microsoft.com/office/drawing/2014/main" id="{BBF10AA0-84ED-39A5-AB23-AD7BBD5B1A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60241" y="1758962"/>
              <a:ext cx="2043565" cy="1427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直接箭头连接符 143">
              <a:extLst>
                <a:ext uri="{FF2B5EF4-FFF2-40B4-BE49-F238E27FC236}">
                  <a16:creationId xmlns:a16="http://schemas.microsoft.com/office/drawing/2014/main" id="{B4767E7E-DD24-49E2-9CB4-46AC0815067C}"/>
                </a:ext>
              </a:extLst>
            </p:cNvPr>
            <p:cNvCxnSpPr/>
            <p:nvPr/>
          </p:nvCxnSpPr>
          <p:spPr>
            <a:xfrm>
              <a:off x="3286162" y="3346874"/>
              <a:ext cx="816047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152">
              <a:extLst>
                <a:ext uri="{FF2B5EF4-FFF2-40B4-BE49-F238E27FC236}">
                  <a16:creationId xmlns:a16="http://schemas.microsoft.com/office/drawing/2014/main" id="{6924BC3B-D6A0-7E25-B8A3-BF6D0F6633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5314" y="2756533"/>
              <a:ext cx="369408" cy="356520"/>
              <a:chOff x="2917825" y="1916113"/>
              <a:chExt cx="396875" cy="396875"/>
            </a:xfrm>
          </p:grpSpPr>
          <p:sp>
            <p:nvSpPr>
              <p:cNvPr id="71" name="Line 52">
                <a:extLst>
                  <a:ext uri="{FF2B5EF4-FFF2-40B4-BE49-F238E27FC236}">
                    <a16:creationId xmlns:a16="http://schemas.microsoft.com/office/drawing/2014/main" id="{9DD2A22C-CE7B-5CEF-E7B6-0FBBFD9DC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8468" y="1915876"/>
                <a:ext cx="395720" cy="397622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2" name="Line 53">
                <a:extLst>
                  <a:ext uri="{FF2B5EF4-FFF2-40B4-BE49-F238E27FC236}">
                    <a16:creationId xmlns:a16="http://schemas.microsoft.com/office/drawing/2014/main" id="{0B747B21-5CBB-B656-245C-7A5D0FAF6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8468" y="1915876"/>
                <a:ext cx="395720" cy="397622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grpSp>
          <p:nvGrpSpPr>
            <p:cNvPr id="54" name="组合 156">
              <a:extLst>
                <a:ext uri="{FF2B5EF4-FFF2-40B4-BE49-F238E27FC236}">
                  <a16:creationId xmlns:a16="http://schemas.microsoft.com/office/drawing/2014/main" id="{CEF4064B-77DB-2516-D5E7-0B35027F0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5314" y="4923351"/>
              <a:ext cx="369408" cy="356520"/>
              <a:chOff x="2917825" y="1916113"/>
              <a:chExt cx="396875" cy="396875"/>
            </a:xfrm>
          </p:grpSpPr>
          <p:sp>
            <p:nvSpPr>
              <p:cNvPr id="69" name="Line 52">
                <a:extLst>
                  <a:ext uri="{FF2B5EF4-FFF2-40B4-BE49-F238E27FC236}">
                    <a16:creationId xmlns:a16="http://schemas.microsoft.com/office/drawing/2014/main" id="{C0FC06E6-6985-763D-0AE0-D39558826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8468" y="1916027"/>
                <a:ext cx="395720" cy="397621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70" name="Line 53">
                <a:extLst>
                  <a:ext uri="{FF2B5EF4-FFF2-40B4-BE49-F238E27FC236}">
                    <a16:creationId xmlns:a16="http://schemas.microsoft.com/office/drawing/2014/main" id="{B39D00E3-0508-44F0-C17C-6D1D9CC00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18468" y="1916027"/>
                <a:ext cx="395720" cy="397621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cxnSp>
          <p:nvCxnSpPr>
            <p:cNvPr id="55" name="直接箭头连接符 169">
              <a:extLst>
                <a:ext uri="{FF2B5EF4-FFF2-40B4-BE49-F238E27FC236}">
                  <a16:creationId xmlns:a16="http://schemas.microsoft.com/office/drawing/2014/main" id="{5A6F6B98-96B0-2F36-9AAD-4512D69C73BD}"/>
                </a:ext>
              </a:extLst>
            </p:cNvPr>
            <p:cNvCxnSpPr/>
            <p:nvPr/>
          </p:nvCxnSpPr>
          <p:spPr>
            <a:xfrm>
              <a:off x="2674922" y="4134280"/>
              <a:ext cx="882728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23">
              <a:extLst>
                <a:ext uri="{FF2B5EF4-FFF2-40B4-BE49-F238E27FC236}">
                  <a16:creationId xmlns:a16="http://schemas.microsoft.com/office/drawing/2014/main" id="{6FFC2146-D1C2-7AC6-C549-5ADD00AB2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969" y="2789333"/>
              <a:ext cx="252675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S1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7" name="TextBox 23">
              <a:extLst>
                <a:ext uri="{FF2B5EF4-FFF2-40B4-BE49-F238E27FC236}">
                  <a16:creationId xmlns:a16="http://schemas.microsoft.com/office/drawing/2014/main" id="{68CF5054-70E6-2F27-E557-83C0D4683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6232" y="2789333"/>
              <a:ext cx="252675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S3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8" name="TextBox 23">
              <a:extLst>
                <a:ext uri="{FF2B5EF4-FFF2-40B4-BE49-F238E27FC236}">
                  <a16:creationId xmlns:a16="http://schemas.microsoft.com/office/drawing/2014/main" id="{6D4A40E0-91F9-19DB-3ED6-1C6796804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9641" y="2789333"/>
              <a:ext cx="252675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S0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59" name="TextBox 23">
              <a:extLst>
                <a:ext uri="{FF2B5EF4-FFF2-40B4-BE49-F238E27FC236}">
                  <a16:creationId xmlns:a16="http://schemas.microsoft.com/office/drawing/2014/main" id="{73DDEC39-F425-B43E-0B54-4890ABD90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418" y="3576530"/>
              <a:ext cx="252675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S1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5BBCEDDE-E4D7-179A-2CD9-FBB07FC72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622" y="3576530"/>
              <a:ext cx="252675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S2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1" name="TextBox 23">
              <a:extLst>
                <a:ext uri="{FF2B5EF4-FFF2-40B4-BE49-F238E27FC236}">
                  <a16:creationId xmlns:a16="http://schemas.microsoft.com/office/drawing/2014/main" id="{EDB43248-59A9-C16A-D05F-F6AEF3C1D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028" y="3576530"/>
              <a:ext cx="252675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S3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2" name="TextBox 23">
              <a:extLst>
                <a:ext uri="{FF2B5EF4-FFF2-40B4-BE49-F238E27FC236}">
                  <a16:creationId xmlns:a16="http://schemas.microsoft.com/office/drawing/2014/main" id="{B954312D-524B-45F3-C93C-7B5C66DE3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969" y="4956150"/>
              <a:ext cx="304392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O1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3" name="TextBox 23">
              <a:extLst>
                <a:ext uri="{FF2B5EF4-FFF2-40B4-BE49-F238E27FC236}">
                  <a16:creationId xmlns:a16="http://schemas.microsoft.com/office/drawing/2014/main" id="{19DC8A1E-761D-0F44-2BC4-3300C9960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0217" y="4956150"/>
              <a:ext cx="304392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O3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4" name="TextBox 23">
              <a:extLst>
                <a:ext uri="{FF2B5EF4-FFF2-40B4-BE49-F238E27FC236}">
                  <a16:creationId xmlns:a16="http://schemas.microsoft.com/office/drawing/2014/main" id="{33CB3656-3BBD-10B5-2402-058560A98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3627" y="4956150"/>
              <a:ext cx="304392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O0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5" name="TextBox 23">
              <a:extLst>
                <a:ext uri="{FF2B5EF4-FFF2-40B4-BE49-F238E27FC236}">
                  <a16:creationId xmlns:a16="http://schemas.microsoft.com/office/drawing/2014/main" id="{F957656B-CB31-ED45-92F0-59109A085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4809" y="4363726"/>
              <a:ext cx="304392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O2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6" name="TextBox 23">
              <a:extLst>
                <a:ext uri="{FF2B5EF4-FFF2-40B4-BE49-F238E27FC236}">
                  <a16:creationId xmlns:a16="http://schemas.microsoft.com/office/drawing/2014/main" id="{3C158F6B-C570-958A-9498-E67E6F876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8695" y="4363726"/>
              <a:ext cx="304392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O3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sp>
          <p:nvSpPr>
            <p:cNvPr id="67" name="TextBox 23">
              <a:extLst>
                <a:ext uri="{FF2B5EF4-FFF2-40B4-BE49-F238E27FC236}">
                  <a16:creationId xmlns:a16="http://schemas.microsoft.com/office/drawing/2014/main" id="{DB0F374F-64AD-750F-6B2B-D3CF9B60B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418" y="4363726"/>
              <a:ext cx="304392" cy="276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cs typeface="Times New Roman" panose="02020603050405020304" pitchFamily="18" charset="0"/>
                </a:rPr>
                <a:t>O1</a:t>
              </a:r>
              <a:endParaRPr lang="zh-CN" altLang="en-US" sz="2000">
                <a:cs typeface="Times New Roman" panose="02020603050405020304" pitchFamily="18" charset="0"/>
              </a:endParaRPr>
            </a:p>
          </p:txBody>
        </p:sp>
        <p:cxnSp>
          <p:nvCxnSpPr>
            <p:cNvPr id="68" name="直接箭头连接符 88">
              <a:extLst>
                <a:ext uri="{FF2B5EF4-FFF2-40B4-BE49-F238E27FC236}">
                  <a16:creationId xmlns:a16="http://schemas.microsoft.com/office/drawing/2014/main" id="{055B34D1-74D5-3F78-6F7C-EFF83B54A97A}"/>
                </a:ext>
              </a:extLst>
            </p:cNvPr>
            <p:cNvCxnSpPr/>
            <p:nvPr/>
          </p:nvCxnSpPr>
          <p:spPr>
            <a:xfrm>
              <a:off x="4092683" y="4134280"/>
              <a:ext cx="884316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组合 47">
            <a:extLst>
              <a:ext uri="{FF2B5EF4-FFF2-40B4-BE49-F238E27FC236}">
                <a16:creationId xmlns:a16="http://schemas.microsoft.com/office/drawing/2014/main" id="{F8EBDD5C-B004-EE34-102D-546027F28411}"/>
              </a:ext>
            </a:extLst>
          </p:cNvPr>
          <p:cNvGrpSpPr>
            <a:grpSpLocks/>
          </p:cNvGrpSpPr>
          <p:nvPr/>
        </p:nvGrpSpPr>
        <p:grpSpPr bwMode="auto">
          <a:xfrm>
            <a:off x="135624" y="4170082"/>
            <a:ext cx="2989263" cy="2065338"/>
            <a:chOff x="5217578" y="1581868"/>
            <a:chExt cx="2988332" cy="2064620"/>
          </a:xfrm>
        </p:grpSpPr>
        <p:cxnSp>
          <p:nvCxnSpPr>
            <p:cNvPr id="114" name="直接箭头连接符 51">
              <a:extLst>
                <a:ext uri="{FF2B5EF4-FFF2-40B4-BE49-F238E27FC236}">
                  <a16:creationId xmlns:a16="http://schemas.microsoft.com/office/drawing/2014/main" id="{4CEE905F-D660-665C-D99D-D1A7ACA0C0E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611" y="3240229"/>
              <a:ext cx="368185" cy="158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/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接箭头连接符 52">
              <a:extLst>
                <a:ext uri="{FF2B5EF4-FFF2-40B4-BE49-F238E27FC236}">
                  <a16:creationId xmlns:a16="http://schemas.microsoft.com/office/drawing/2014/main" id="{B58FA615-E3C4-FD67-8CA6-29217119D3F4}"/>
                </a:ext>
              </a:extLst>
            </p:cNvPr>
            <p:cNvCxnSpPr/>
            <p:nvPr/>
          </p:nvCxnSpPr>
          <p:spPr bwMode="auto">
            <a:xfrm>
              <a:off x="7652045" y="3102164"/>
              <a:ext cx="369773" cy="31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接箭头连接符 53">
              <a:extLst>
                <a:ext uri="{FF2B5EF4-FFF2-40B4-BE49-F238E27FC236}">
                  <a16:creationId xmlns:a16="http://schemas.microsoft.com/office/drawing/2014/main" id="{B218FA7A-A3DF-FBFF-B49C-7409D18922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26578" y="3100578"/>
              <a:ext cx="0" cy="5459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直接箭头连接符 54">
              <a:extLst>
                <a:ext uri="{FF2B5EF4-FFF2-40B4-BE49-F238E27FC236}">
                  <a16:creationId xmlns:a16="http://schemas.microsoft.com/office/drawing/2014/main" id="{024DDFA7-F8C6-C0C4-CF3F-DFD2E58946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44501" y="3646488"/>
              <a:ext cx="247731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接箭头连接符 55">
              <a:extLst>
                <a:ext uri="{FF2B5EF4-FFF2-40B4-BE49-F238E27FC236}">
                  <a16:creationId xmlns:a16="http://schemas.microsoft.com/office/drawing/2014/main" id="{C83E8CF3-EA5E-8ED7-81BE-92D0FAC7A7F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55611" y="3240229"/>
              <a:ext cx="0" cy="40625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接箭头连接符 56">
              <a:extLst>
                <a:ext uri="{FF2B5EF4-FFF2-40B4-BE49-F238E27FC236}">
                  <a16:creationId xmlns:a16="http://schemas.microsoft.com/office/drawing/2014/main" id="{2EFED68D-3739-F11E-06FB-F8E866FBFE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1638" y="2040497"/>
              <a:ext cx="159652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接箭头连接符 57">
              <a:extLst>
                <a:ext uri="{FF2B5EF4-FFF2-40B4-BE49-F238E27FC236}">
                  <a16:creationId xmlns:a16="http://schemas.microsoft.com/office/drawing/2014/main" id="{22963C64-C21F-3A9A-4887-A56DD6FDC1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31638" y="3100578"/>
              <a:ext cx="75382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TextBox 58">
              <a:extLst>
                <a:ext uri="{FF2B5EF4-FFF2-40B4-BE49-F238E27FC236}">
                  <a16:creationId xmlns:a16="http://schemas.microsoft.com/office/drawing/2014/main" id="{DA59C212-CB8D-043F-D9E6-5CBCD8715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7578" y="2503658"/>
              <a:ext cx="362138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in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122" name="TextBox 60">
              <a:extLst>
                <a:ext uri="{FF2B5EF4-FFF2-40B4-BE49-F238E27FC236}">
                  <a16:creationId xmlns:a16="http://schemas.microsoft.com/office/drawing/2014/main" id="{361AEDB1-EAF7-E7D1-1CED-7349A6264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2209" y="1581868"/>
              <a:ext cx="493701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 dirty="0">
                  <a:cs typeface="Times New Roman" panose="02020603050405020304" pitchFamily="18" charset="0"/>
                </a:rPr>
                <a:t>out</a:t>
              </a:r>
              <a:endParaRPr lang="zh-CN" altLang="en-US" sz="2400" b="0" dirty="0">
                <a:cs typeface="Times New Roman" panose="02020603050405020304" pitchFamily="18" charset="0"/>
              </a:endParaRPr>
            </a:p>
          </p:txBody>
        </p:sp>
        <p:sp>
          <p:nvSpPr>
            <p:cNvPr id="123" name="TextBox 61">
              <a:extLst>
                <a:ext uri="{FF2B5EF4-FFF2-40B4-BE49-F238E27FC236}">
                  <a16:creationId xmlns:a16="http://schemas.microsoft.com/office/drawing/2014/main" id="{A9CDB0C4-D514-6202-7A90-DB9E0F51B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7392" y="2660620"/>
              <a:ext cx="37705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cs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sp>
          <p:nvSpPr>
            <p:cNvPr id="124" name="TextBox 62">
              <a:extLst>
                <a:ext uri="{FF2B5EF4-FFF2-40B4-BE49-F238E27FC236}">
                  <a16:creationId xmlns:a16="http://schemas.microsoft.com/office/drawing/2014/main" id="{6B3099B6-FC61-14A8-4660-C2E04330B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1895" y="2660620"/>
              <a:ext cx="391977" cy="374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cs typeface="Times New Roman" panose="02020603050405020304" pitchFamily="18" charset="0"/>
                </a:rPr>
                <a:t>ns</a:t>
              </a:r>
              <a:endParaRPr lang="zh-CN" altLang="en-US" sz="2400" b="0">
                <a:cs typeface="Times New Roman" panose="02020603050405020304" pitchFamily="18" charset="0"/>
              </a:endParaRPr>
            </a:p>
          </p:txBody>
        </p:sp>
        <p:cxnSp>
          <p:nvCxnSpPr>
            <p:cNvPr id="125" name="直接箭头连接符 62">
              <a:extLst>
                <a:ext uri="{FF2B5EF4-FFF2-40B4-BE49-F238E27FC236}">
                  <a16:creationId xmlns:a16="http://schemas.microsoft.com/office/drawing/2014/main" id="{5A4CB426-BD76-653A-5B4D-8B01CE4287C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92168" y="2949817"/>
              <a:ext cx="64749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TextBox 36">
              <a:extLst>
                <a:ext uri="{FF2B5EF4-FFF2-40B4-BE49-F238E27FC236}">
                  <a16:creationId xmlns:a16="http://schemas.microsoft.com/office/drawing/2014/main" id="{2B519EC9-A1C5-C8B3-9882-562821C68E82}"/>
                </a:ext>
              </a:extLst>
            </p:cNvPr>
            <p:cNvSpPr txBox="1"/>
            <p:nvPr/>
          </p:nvSpPr>
          <p:spPr bwMode="auto">
            <a:xfrm>
              <a:off x="5920622" y="1705650"/>
              <a:ext cx="520538" cy="639541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dirty="0" err="1">
                  <a:latin typeface="Times New Roman" pitchFamily="18" charset="0"/>
                  <a:cs typeface="Times New Roman" pitchFamily="18" charset="0"/>
                </a:rPr>
                <a:t>CL</a:t>
              </a:r>
              <a:r>
                <a:rPr lang="en-US" altLang="zh-CN" sz="2000" dirty="0" err="1">
                  <a:latin typeface="Times New Roman" pitchFamily="18" charset="0"/>
                  <a:cs typeface="Times New Roman" pitchFamily="18" charset="0"/>
                </a:rPr>
                <a:t>o</a:t>
              </a:r>
              <a:endParaRPr lang="en-US" altLang="zh-CN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27" name="直接箭头连接符 64">
              <a:extLst>
                <a:ext uri="{FF2B5EF4-FFF2-40B4-BE49-F238E27FC236}">
                  <a16:creationId xmlns:a16="http://schemas.microsoft.com/office/drawing/2014/main" id="{23BDAE2F-8208-CFD4-4EB2-1A11FDD28D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051605"/>
              <a:ext cx="30470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接箭头连接符 69">
              <a:extLst>
                <a:ext uri="{FF2B5EF4-FFF2-40B4-BE49-F238E27FC236}">
                  <a16:creationId xmlns:a16="http://schemas.microsoft.com/office/drawing/2014/main" id="{ACD9B717-6777-C50D-6CF8-93AB17E3F57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631600" y="2545146"/>
              <a:ext cx="0" cy="55543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/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接箭头连接符 71">
              <a:extLst>
                <a:ext uri="{FF2B5EF4-FFF2-40B4-BE49-F238E27FC236}">
                  <a16:creationId xmlns:a16="http://schemas.microsoft.com/office/drawing/2014/main" id="{5A5D9AF8-23DD-E200-D057-A9BC1FC331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545146"/>
              <a:ext cx="101568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直接箭头连接符 74">
              <a:extLst>
                <a:ext uri="{FF2B5EF4-FFF2-40B4-BE49-F238E27FC236}">
                  <a16:creationId xmlns:a16="http://schemas.microsoft.com/office/drawing/2014/main" id="{53DA1629-27F0-AB64-DE10-0B99BB0E08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14329" y="2051605"/>
              <a:ext cx="0" cy="49354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none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TextBox 34">
              <a:extLst>
                <a:ext uri="{FF2B5EF4-FFF2-40B4-BE49-F238E27FC236}">
                  <a16:creationId xmlns:a16="http://schemas.microsoft.com/office/drawing/2014/main" id="{F53A072D-ACB0-A0A2-1237-165955F26B76}"/>
                </a:ext>
              </a:extLst>
            </p:cNvPr>
            <p:cNvSpPr txBox="1"/>
            <p:nvPr/>
          </p:nvSpPr>
          <p:spPr bwMode="auto">
            <a:xfrm>
              <a:off x="7198161" y="1705650"/>
              <a:ext cx="466580" cy="634779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OR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2" name="TextBox 35">
              <a:extLst>
                <a:ext uri="{FF2B5EF4-FFF2-40B4-BE49-F238E27FC236}">
                  <a16:creationId xmlns:a16="http://schemas.microsoft.com/office/drawing/2014/main" id="{7060F122-03EB-687B-D8A8-6845D2779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0699" y="2148575"/>
              <a:ext cx="420460" cy="191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  <p:sp>
          <p:nvSpPr>
            <p:cNvPr id="133" name="TextBox 36">
              <a:extLst>
                <a:ext uri="{FF2B5EF4-FFF2-40B4-BE49-F238E27FC236}">
                  <a16:creationId xmlns:a16="http://schemas.microsoft.com/office/drawing/2014/main" id="{6EFF91DA-6361-EF7F-5E77-26A53764A05D}"/>
                </a:ext>
              </a:extLst>
            </p:cNvPr>
            <p:cNvSpPr txBox="1"/>
            <p:nvPr/>
          </p:nvSpPr>
          <p:spPr bwMode="auto">
            <a:xfrm>
              <a:off x="5903164" y="2773667"/>
              <a:ext cx="520538" cy="63795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altLang="zh-CN" dirty="0" err="1">
                  <a:latin typeface="Times New Roman" pitchFamily="18" charset="0"/>
                  <a:cs typeface="Times New Roman" pitchFamily="18" charset="0"/>
                </a:rPr>
                <a:t>CLn</a:t>
              </a:r>
              <a:endParaRPr lang="en-US" altLang="zh-CN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4" name="TextBox 34">
              <a:extLst>
                <a:ext uri="{FF2B5EF4-FFF2-40B4-BE49-F238E27FC236}">
                  <a16:creationId xmlns:a16="http://schemas.microsoft.com/office/drawing/2014/main" id="{1564192B-2764-9433-8AC9-1E7D1C626D70}"/>
                </a:ext>
              </a:extLst>
            </p:cNvPr>
            <p:cNvSpPr txBox="1"/>
            <p:nvPr/>
          </p:nvSpPr>
          <p:spPr bwMode="auto">
            <a:xfrm>
              <a:off x="7180704" y="2773667"/>
              <a:ext cx="466580" cy="634779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eaLnBrk="1" hangingPunct="1">
                <a:defRPr/>
              </a:pPr>
              <a:r>
                <a:rPr lang="en-US" altLang="zh-CN" sz="2000" dirty="0">
                  <a:latin typeface="Times New Roman" pitchFamily="18" charset="0"/>
                  <a:cs typeface="Times New Roman" pitchFamily="18" charset="0"/>
                </a:rPr>
                <a:t>SR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5" name="TextBox 35">
              <a:extLst>
                <a:ext uri="{FF2B5EF4-FFF2-40B4-BE49-F238E27FC236}">
                  <a16:creationId xmlns:a16="http://schemas.microsoft.com/office/drawing/2014/main" id="{74D790E5-DCD5-D6E2-5C63-4439CB384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3164" y="3216454"/>
              <a:ext cx="420460" cy="191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cs typeface="Times New Roman" panose="02020603050405020304" pitchFamily="18" charset="0"/>
                </a:rPr>
                <a:t>&lt;</a:t>
              </a:r>
              <a:endParaRPr lang="zh-CN" altLang="en-US" sz="2000" b="0">
                <a:cs typeface="Times New Roman" panose="02020603050405020304" pitchFamily="18" charset="0"/>
              </a:endParaRPr>
            </a:p>
          </p:txBody>
        </p:sp>
      </p:grpSp>
      <p:sp>
        <p:nvSpPr>
          <p:cNvPr id="136" name="矩形: 圆角 67">
            <a:extLst>
              <a:ext uri="{FF2B5EF4-FFF2-40B4-BE49-F238E27FC236}">
                <a16:creationId xmlns:a16="http://schemas.microsoft.com/office/drawing/2014/main" id="{7835E471-0A37-2963-8405-E3C09564DC6C}"/>
              </a:ext>
            </a:extLst>
          </p:cNvPr>
          <p:cNvSpPr/>
          <p:nvPr/>
        </p:nvSpPr>
        <p:spPr bwMode="auto">
          <a:xfrm>
            <a:off x="649974" y="4205007"/>
            <a:ext cx="2039938" cy="838200"/>
          </a:xfrm>
          <a:prstGeom prst="roundRect">
            <a:avLst/>
          </a:prstGeom>
          <a:noFill/>
          <a:ln w="19050">
            <a:solidFill>
              <a:srgbClr val="008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7" name="矩形: 圆角 68">
            <a:extLst>
              <a:ext uri="{FF2B5EF4-FFF2-40B4-BE49-F238E27FC236}">
                <a16:creationId xmlns:a16="http://schemas.microsoft.com/office/drawing/2014/main" id="{958F43F0-7AAA-8E73-E697-975D7F56CD47}"/>
              </a:ext>
            </a:extLst>
          </p:cNvPr>
          <p:cNvSpPr/>
          <p:nvPr/>
        </p:nvSpPr>
        <p:spPr bwMode="auto">
          <a:xfrm>
            <a:off x="1910449" y="5271807"/>
            <a:ext cx="779463" cy="846138"/>
          </a:xfrm>
          <a:prstGeom prst="roundRect">
            <a:avLst/>
          </a:prstGeom>
          <a:noFill/>
          <a:ln w="19050">
            <a:solidFill>
              <a:srgbClr val="00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8" name="矩形: 圆角 75">
            <a:extLst>
              <a:ext uri="{FF2B5EF4-FFF2-40B4-BE49-F238E27FC236}">
                <a16:creationId xmlns:a16="http://schemas.microsoft.com/office/drawing/2014/main" id="{7BEA681A-0076-27F6-44D2-EB14A75C8DD0}"/>
              </a:ext>
            </a:extLst>
          </p:cNvPr>
          <p:cNvSpPr/>
          <p:nvPr/>
        </p:nvSpPr>
        <p:spPr bwMode="auto">
          <a:xfrm>
            <a:off x="649974" y="5271807"/>
            <a:ext cx="803275" cy="846138"/>
          </a:xfrm>
          <a:prstGeom prst="roundRect">
            <a:avLst/>
          </a:prstGeom>
          <a:noFill/>
          <a:ln w="19050">
            <a:solidFill>
              <a:srgbClr val="9900F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9" name="内容占位符 2">
            <a:extLst>
              <a:ext uri="{FF2B5EF4-FFF2-40B4-BE49-F238E27FC236}">
                <a16:creationId xmlns:a16="http://schemas.microsoft.com/office/drawing/2014/main" id="{05C629D8-1042-D6A3-A16D-836B3234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9" y="585760"/>
            <a:ext cx="9541996" cy="1819409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优点：</a:t>
            </a:r>
            <a:r>
              <a:rPr kumimoji="1" lang="en-US" altLang="zh-CN" sz="2400" dirty="0"/>
              <a:t>cs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out</a:t>
            </a:r>
            <a:r>
              <a:rPr kumimoji="1" lang="zh-CN" altLang="en-US" sz="2400" dirty="0"/>
              <a:t>相对于时钟仅包含一个触发器造成的门延迟，不会因为组合逻辑复杂程度影响延迟大小，易与后级电路搭配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想想如果你（后级电路）在等校车，是否希望校车（前级电路输出）到来时间和校车表上的时间（全局时钟）完全一致，而不是因为路上堵不堵（因为别的车造成的前级内部延迟）而有时早有时晚</a:t>
            </a:r>
            <a:endParaRPr kumimoji="1" lang="zh-CN" altLang="en-US" dirty="0"/>
          </a:p>
        </p:txBody>
      </p:sp>
      <p:sp>
        <p:nvSpPr>
          <p:cNvPr id="140" name="圆角矩形 139">
            <a:extLst>
              <a:ext uri="{FF2B5EF4-FFF2-40B4-BE49-F238E27FC236}">
                <a16:creationId xmlns:a16="http://schemas.microsoft.com/office/drawing/2014/main" id="{FBC1520C-1ED0-1E97-4E45-8D3CE378E280}"/>
              </a:ext>
            </a:extLst>
          </p:cNvPr>
          <p:cNvSpPr/>
          <p:nvPr/>
        </p:nvSpPr>
        <p:spPr>
          <a:xfrm>
            <a:off x="8529957" y="2034862"/>
            <a:ext cx="817058" cy="450817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TextBox 60">
            <a:extLst>
              <a:ext uri="{FF2B5EF4-FFF2-40B4-BE49-F238E27FC236}">
                <a16:creationId xmlns:a16="http://schemas.microsoft.com/office/drawing/2014/main" id="{D19DEC51-0150-7268-70B3-E785B6346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315" y="4207349"/>
            <a:ext cx="6126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 dirty="0" err="1">
                <a:cs typeface="Times New Roman" panose="02020603050405020304" pitchFamily="18" charset="0"/>
              </a:rPr>
              <a:t>nso</a:t>
            </a:r>
            <a:endParaRPr lang="zh-CN" altLang="en-US" sz="2400" b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58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9D9A0-9830-289A-BAC3-E6BE6B11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FSM</a:t>
            </a:r>
            <a:r>
              <a:rPr kumimoji="1" lang="zh-CN" altLang="en-US" dirty="0"/>
              <a:t>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85760-6235-82C4-E2F9-EF9F8036C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推荐设计状态时就选择摩尔式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减少毛刺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推荐二段式或者三段式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结构清晰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特别推荐三段式</a:t>
            </a:r>
            <a:r>
              <a:rPr kumimoji="1" lang="zh-CN" altLang="en-US" dirty="0"/>
              <a:t>：所有输出与时钟同步，避免了额外组合逻辑带来的延迟，在同等硬件条件下，可以支持的时钟频率更高，运算速度更快</a:t>
            </a:r>
            <a:endParaRPr kumimoji="1"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109918-80D2-0F5E-BF88-DE79F314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AFCCE3-2B2C-171B-BF84-E3D84C3F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25</a:t>
            </a:fld>
            <a:r>
              <a:rPr lang="en-US" altLang="zh-CN" dirty="0"/>
              <a:t>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779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2E8F6-8144-DD35-DB17-566D5244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B04F6-2A66-3332-23CA-0076BCDAA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P257-258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5.6.3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5.6.4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P331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6.7.5(1)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6.7.8(1-3)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95FD63-65B8-E082-C5B8-5C4B8D92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15. Verilog HDL 2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1E0ACD-3D0D-6245-E970-F0111928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26</a:t>
            </a:fld>
            <a:r>
              <a:rPr lang="en-US" altLang="zh-CN" dirty="0"/>
              <a:t>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530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19733</TotalTime>
  <Words>3365</Words>
  <Application>Microsoft Macintosh PowerPoint</Application>
  <PresentationFormat>A4 纸张(210x297 毫米)</PresentationFormat>
  <Paragraphs>725</Paragraphs>
  <Slides>26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等线</vt:lpstr>
      <vt:lpstr>黑体</vt:lpstr>
      <vt:lpstr>宋体</vt:lpstr>
      <vt:lpstr>Microsoft YaHei</vt:lpstr>
      <vt:lpstr>Microsoft YaHei</vt:lpstr>
      <vt:lpstr>Arial</vt:lpstr>
      <vt:lpstr>Arial Black</vt:lpstr>
      <vt:lpstr>Times New Roman</vt:lpstr>
      <vt:lpstr>Office-Design</vt:lpstr>
      <vt:lpstr>位图图像</vt:lpstr>
      <vt:lpstr>  模拟与数字电路 Analog and Digital Circuits</vt:lpstr>
      <vt:lpstr>内容提纲</vt:lpstr>
      <vt:lpstr>Verilog过程赋值语句</vt:lpstr>
      <vt:lpstr>Verilog描述D锁存器和触发器</vt:lpstr>
      <vt:lpstr>异步或同步复位D触发器</vt:lpstr>
      <vt:lpstr>示例：阻塞赋值语句</vt:lpstr>
      <vt:lpstr>示例：非阻塞赋值语句</vt:lpstr>
      <vt:lpstr>示例：两种赋值语句比较</vt:lpstr>
      <vt:lpstr>示例：两种赋值语句比较(续)</vt:lpstr>
      <vt:lpstr>回顾：时序电路的描述方式</vt:lpstr>
      <vt:lpstr>Verilog描述有限状态机（FSM）</vt:lpstr>
      <vt:lpstr>FSM描述方式（二段式）</vt:lpstr>
      <vt:lpstr>FSM描述方式（二段式）</vt:lpstr>
      <vt:lpstr>示例：两段式米里型FSM</vt:lpstr>
      <vt:lpstr>示例：两段式米里型FSM</vt:lpstr>
      <vt:lpstr>两段式FSM时序图</vt:lpstr>
      <vt:lpstr>两段式FSM的另两一种写法</vt:lpstr>
      <vt:lpstr>坚决要避免：一段式FSM</vt:lpstr>
      <vt:lpstr>示例：两段式摩尔型FSM</vt:lpstr>
      <vt:lpstr>示例：两段式摩尔型FSM</vt:lpstr>
      <vt:lpstr>示例：两段式摩尔型FSM</vt:lpstr>
      <vt:lpstr>三段式FSM</vt:lpstr>
      <vt:lpstr>示例：两段式FSM改为三段式（摩尔型）FSM</vt:lpstr>
      <vt:lpstr>三段式FSM时序图</vt:lpstr>
      <vt:lpstr>FSM描述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2565</cp:revision>
  <cp:lastPrinted>2020-05-26T13:24:01Z</cp:lastPrinted>
  <dcterms:created xsi:type="dcterms:W3CDTF">2020-04-07T12:23:01Z</dcterms:created>
  <dcterms:modified xsi:type="dcterms:W3CDTF">2024-10-09T23:20:27Z</dcterms:modified>
</cp:coreProperties>
</file>