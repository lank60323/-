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444" r:id="rId3"/>
    <p:sldId id="512" r:id="rId4"/>
    <p:sldId id="513" r:id="rId5"/>
    <p:sldId id="514" r:id="rId6"/>
    <p:sldId id="515" r:id="rId7"/>
    <p:sldId id="516" r:id="rId8"/>
    <p:sldId id="517" r:id="rId9"/>
    <p:sldId id="518" r:id="rId10"/>
    <p:sldId id="519" r:id="rId11"/>
    <p:sldId id="520" r:id="rId12"/>
    <p:sldId id="521" r:id="rId13"/>
    <p:sldId id="522" r:id="rId14"/>
    <p:sldId id="523" r:id="rId15"/>
    <p:sldId id="524" r:id="rId16"/>
    <p:sldId id="525" r:id="rId17"/>
    <p:sldId id="541" r:id="rId18"/>
    <p:sldId id="527" r:id="rId19"/>
    <p:sldId id="528" r:id="rId20"/>
    <p:sldId id="529" r:id="rId21"/>
    <p:sldId id="530" r:id="rId22"/>
    <p:sldId id="531" r:id="rId23"/>
    <p:sldId id="532" r:id="rId24"/>
    <p:sldId id="533" r:id="rId25"/>
    <p:sldId id="534" r:id="rId26"/>
    <p:sldId id="535" r:id="rId27"/>
    <p:sldId id="536" r:id="rId28"/>
    <p:sldId id="537" r:id="rId29"/>
    <p:sldId id="511" r:id="rId30"/>
  </p:sldIdLst>
  <p:sldSz cx="9906000" cy="6858000" type="A4"/>
  <p:notesSz cx="9144000" cy="6858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26"/>
    <p:restoredTop sz="87896"/>
  </p:normalViewPr>
  <p:slideViewPr>
    <p:cSldViewPr snapToGrid="0" snapToObjects="1">
      <p:cViewPr varScale="1">
        <p:scale>
          <a:sx n="90" d="100"/>
          <a:sy n="90" d="100"/>
        </p:scale>
        <p:origin x="1736" y="200"/>
      </p:cViewPr>
      <p:guideLst>
        <p:guide orient="horz" pos="2160"/>
        <p:guide pos="288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1" d="100"/>
          <a:sy n="111" d="100"/>
        </p:scale>
        <p:origin x="160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8FAB7-9DA6-42E2-BB80-6EB4D83E2AE8}" type="datetimeFigureOut">
              <a:rPr lang="zh-CN" altLang="en-US" smtClean="0"/>
              <a:t>2024/10/17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D08B7-D15B-4122-BED5-76961CE891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715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6F516-474B-49E6-8B3A-4C2D69386E26}" type="datetimeFigureOut">
              <a:rPr lang="zh-CN" altLang="en-US" smtClean="0"/>
              <a:t>2024/10/17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7EB77-94AC-4128-8DFB-759E46F1AD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672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023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1200" dirty="0"/>
              <a:t>1</a:t>
            </a:r>
            <a:r>
              <a:rPr lang="zh-CN" altLang="en-US" sz="1200" dirty="0"/>
              <a:t>、熟练掌握时序逻辑电路的描述方式及其相互转换。</a:t>
            </a:r>
          </a:p>
          <a:p>
            <a:pPr eaLnBrk="1" hangingPunct="1"/>
            <a:r>
              <a:rPr lang="en-US" altLang="zh-CN" sz="1200" dirty="0"/>
              <a:t>2</a:t>
            </a:r>
            <a:r>
              <a:rPr lang="zh-CN" altLang="en-US" sz="1200" dirty="0"/>
              <a:t>、熟练掌握时序逻辑电路的分析方法</a:t>
            </a:r>
          </a:p>
          <a:p>
            <a:pPr eaLnBrk="1" hangingPunct="1"/>
            <a:r>
              <a:rPr lang="en-US" altLang="zh-CN" sz="1200" dirty="0"/>
              <a:t>3</a:t>
            </a:r>
            <a:r>
              <a:rPr lang="zh-CN" altLang="en-US" sz="1200" dirty="0"/>
              <a:t>、熟练掌握时序逻辑电路的设计方法</a:t>
            </a:r>
          </a:p>
          <a:p>
            <a:pPr eaLnBrk="1" hangingPunct="1"/>
            <a:r>
              <a:rPr lang="en-US" altLang="zh-CN" sz="1200" dirty="0"/>
              <a:t>4</a:t>
            </a:r>
            <a:r>
              <a:rPr lang="zh-CN" altLang="en-US" sz="1200" dirty="0"/>
              <a:t>、熟练掌握典型时序逻辑电路寄存器、移位寄存器、计数器的逻辑功能及其应用</a:t>
            </a:r>
          </a:p>
          <a:p>
            <a:pPr eaLnBrk="1" hangingPunct="1"/>
            <a:r>
              <a:rPr lang="en-US" altLang="zh-CN" sz="1200" dirty="0"/>
              <a:t>5</a:t>
            </a:r>
            <a:r>
              <a:rPr lang="zh-CN" altLang="en-US" sz="1200" dirty="0"/>
              <a:t>、理解时序可编程逻辑器件的原理及其应用</a:t>
            </a:r>
          </a:p>
          <a:p>
            <a:pPr eaLnBrk="1" hangingPunct="1"/>
            <a:r>
              <a:rPr lang="en-US" altLang="zh-CN" sz="1200" dirty="0"/>
              <a:t>6</a:t>
            </a:r>
            <a:r>
              <a:rPr lang="zh-CN" altLang="en-US" sz="1200" dirty="0"/>
              <a:t>、学会用</a:t>
            </a:r>
            <a:r>
              <a:rPr lang="en-US" altLang="zh-CN" sz="1200" dirty="0"/>
              <a:t>Verilog HDL</a:t>
            </a:r>
            <a:r>
              <a:rPr lang="zh-CN" altLang="en-US" sz="1200" dirty="0"/>
              <a:t>设计时序逻辑电路的方法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821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为了克服门控（或称同步）锁存器的空翻现象，希望在每个时钟周期里输出端的状态只能改变一次，这样就在同步锁存器的基础上发展了主从结构的触发器。</a:t>
            </a:r>
            <a:endParaRPr kumimoji="1" lang="en-US" altLang="zh-CN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dirty="0"/>
              <a:t>“┐”表示“延迟输出”，即</a:t>
            </a:r>
            <a:r>
              <a:rPr lang="en-US" altLang="zh-CN" dirty="0"/>
              <a:t>C</a:t>
            </a:r>
            <a:r>
              <a:rPr lang="zh-CN" altLang="en-US" dirty="0"/>
              <a:t>返回</a:t>
            </a:r>
            <a:r>
              <a:rPr lang="en-US" altLang="zh-CN" dirty="0"/>
              <a:t>0</a:t>
            </a:r>
            <a:r>
              <a:rPr lang="zh-CN" altLang="en-US" dirty="0"/>
              <a:t>以后输出状态才改变。触发器状态的变化发生在</a:t>
            </a:r>
            <a:r>
              <a:rPr lang="en-US" altLang="zh-CN" dirty="0"/>
              <a:t>C</a:t>
            </a:r>
            <a:r>
              <a:rPr lang="zh-CN" altLang="en-US" dirty="0"/>
              <a:t>的下降沿。</a:t>
            </a:r>
            <a:endParaRPr kumimoji="1"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676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163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下面两图相等，即：右图</a:t>
            </a:r>
            <a:r>
              <a:rPr kumimoji="1" lang="en-US" altLang="zh-CN" dirty="0"/>
              <a:t>/</a:t>
            </a:r>
            <a:r>
              <a:rPr kumimoji="1" lang="zh-CN" altLang="en-US" dirty="0"/>
              <a:t>（</a:t>
            </a:r>
            <a:r>
              <a:rPr kumimoji="1" lang="en-US" altLang="zh-CN" dirty="0"/>
              <a:t>/T/Q + TQ</a:t>
            </a:r>
            <a:r>
              <a:rPr kumimoji="1" lang="zh-CN" altLang="en-US" dirty="0"/>
              <a:t>）</a:t>
            </a:r>
            <a:r>
              <a:rPr kumimoji="1" lang="en-US" altLang="zh-CN" dirty="0"/>
              <a:t> = /(/T/Q)*/TQ = (T+Q)*(/T+/Q) = T/Q+/TQ</a:t>
            </a:r>
            <a:r>
              <a:rPr kumimoji="1" lang="zh-CN" altLang="en-US" dirty="0"/>
              <a:t> 左图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085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除包含类似门电路的直流参数，如输入</a:t>
            </a:r>
            <a:r>
              <a:rPr lang="en-US" altLang="zh-CN" dirty="0"/>
              <a:t>/</a:t>
            </a:r>
            <a:r>
              <a:rPr lang="zh-CN" altLang="en-US" dirty="0"/>
              <a:t>输出电平、输入</a:t>
            </a:r>
            <a:r>
              <a:rPr lang="en-US" altLang="zh-CN" dirty="0"/>
              <a:t>/</a:t>
            </a:r>
            <a:r>
              <a:rPr lang="zh-CN" altLang="en-US" dirty="0"/>
              <a:t>输出电流外，还有与定时有关的动态参数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为使触发器做好触发准备，要求输入信号在</a:t>
            </a:r>
            <a:r>
              <a:rPr kumimoji="1" lang="en-US" altLang="zh-CN" dirty="0">
                <a:solidFill>
                  <a:srgbClr val="000000"/>
                </a:solidFill>
              </a:rPr>
              <a:t>CP</a:t>
            </a:r>
            <a:r>
              <a:rPr kumimoji="1" lang="zh-CN" altLang="en-US" dirty="0">
                <a:solidFill>
                  <a:srgbClr val="000000"/>
                </a:solidFill>
              </a:rPr>
              <a:t>触发沿来到之前，提前一段时间来到，这段提前时间称为建立时间</a:t>
            </a:r>
            <a:r>
              <a:rPr kumimoji="1" lang="en-US" altLang="zh-CN" dirty="0" err="1">
                <a:solidFill>
                  <a:srgbClr val="000000"/>
                </a:solidFill>
              </a:rPr>
              <a:t>t</a:t>
            </a:r>
            <a:r>
              <a:rPr kumimoji="1" lang="en-US" altLang="zh-CN" baseline="-25000" dirty="0" err="1">
                <a:solidFill>
                  <a:srgbClr val="000000"/>
                </a:solidFill>
              </a:rPr>
              <a:t>set</a:t>
            </a:r>
            <a:r>
              <a:rPr kumimoji="1" lang="zh-CN" altLang="en-US" dirty="0">
                <a:solidFill>
                  <a:srgbClr val="000000"/>
                </a:solidFill>
              </a:rPr>
              <a:t>。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在</a:t>
            </a:r>
            <a:r>
              <a:rPr kumimoji="1" lang="en-US" altLang="zh-CN" dirty="0">
                <a:solidFill>
                  <a:srgbClr val="000000"/>
                </a:solidFill>
              </a:rPr>
              <a:t>CP</a:t>
            </a:r>
            <a:r>
              <a:rPr kumimoji="1" lang="zh-CN" altLang="en-US" dirty="0">
                <a:solidFill>
                  <a:srgbClr val="000000"/>
                </a:solidFill>
              </a:rPr>
              <a:t>触发沿到达后，为保证触发器正确翻转，需要输入信号再保持一段时间，这段时间称为保持时间</a:t>
            </a:r>
            <a:r>
              <a:rPr kumimoji="1" lang="en-US" altLang="zh-CN" dirty="0" err="1">
                <a:solidFill>
                  <a:srgbClr val="000000"/>
                </a:solidFill>
              </a:rPr>
              <a:t>t</a:t>
            </a:r>
            <a:r>
              <a:rPr kumimoji="1" lang="en-US" altLang="zh-CN" baseline="-25000" dirty="0" err="1">
                <a:solidFill>
                  <a:srgbClr val="000000"/>
                </a:solidFill>
              </a:rPr>
              <a:t>H</a:t>
            </a:r>
            <a:r>
              <a:rPr kumimoji="1" lang="zh-CN" altLang="en-US" dirty="0">
                <a:solidFill>
                  <a:srgbClr val="000000"/>
                </a:solidFill>
              </a:rPr>
              <a:t>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406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例如，</a:t>
            </a:r>
            <a:r>
              <a:rPr lang="en-US" altLang="zh-CN" dirty="0"/>
              <a:t>TI</a:t>
            </a:r>
            <a:r>
              <a:rPr lang="zh-CN" altLang="en-US" dirty="0"/>
              <a:t>的</a:t>
            </a:r>
            <a:r>
              <a:rPr lang="en-US" altLang="zh-CN" dirty="0"/>
              <a:t>8</a:t>
            </a:r>
            <a:r>
              <a:rPr lang="zh-CN" altLang="en-US" dirty="0"/>
              <a:t>位锁存器芯片</a:t>
            </a:r>
            <a:r>
              <a:rPr lang="en-US" altLang="zh-CN" dirty="0"/>
              <a:t>SN74ALVCH373</a:t>
            </a:r>
            <a:r>
              <a:rPr lang="zh-CN" altLang="en-US" dirty="0"/>
              <a:t>参数如下</a:t>
            </a:r>
            <a:r>
              <a:rPr lang="zh-CN" altLang="en-US" dirty="0">
                <a:sym typeface="Wingdings" panose="05000000000000000000" pitchFamily="2" charset="2"/>
              </a:rPr>
              <a:t>：（单位</a:t>
            </a:r>
            <a:r>
              <a:rPr lang="en-US" altLang="zh-CN" dirty="0">
                <a:sym typeface="Wingdings" panose="05000000000000000000" pitchFamily="2" charset="2"/>
              </a:rPr>
              <a:t>ns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  <a:endParaRPr lang="zh-CN" altLang="en-US" dirty="0"/>
          </a:p>
          <a:p>
            <a:pPr eaLnBrk="1" hangingPunct="1"/>
            <a:r>
              <a:rPr lang="en-US" altLang="zh-CN" dirty="0" err="1"/>
              <a:t>tsu</a:t>
            </a:r>
            <a:r>
              <a:rPr lang="en-US" altLang="zh-CN" dirty="0"/>
              <a:t> =0.5</a:t>
            </a:r>
            <a:r>
              <a:rPr lang="zh-CN" altLang="en-US" dirty="0"/>
              <a:t>， </a:t>
            </a:r>
            <a:r>
              <a:rPr lang="en-US" altLang="zh-CN" dirty="0" err="1"/>
              <a:t>th</a:t>
            </a:r>
            <a:r>
              <a:rPr lang="en-US" altLang="zh-CN" dirty="0"/>
              <a:t> =1.2</a:t>
            </a:r>
            <a:r>
              <a:rPr lang="zh-CN" altLang="en-US" dirty="0"/>
              <a:t>， </a:t>
            </a:r>
            <a:r>
              <a:rPr lang="en-US" altLang="zh-CN" dirty="0" err="1"/>
              <a:t>tw</a:t>
            </a:r>
            <a:r>
              <a:rPr lang="en-US" altLang="zh-CN" dirty="0"/>
              <a:t>=3.3</a:t>
            </a:r>
            <a:r>
              <a:rPr lang="zh-CN" altLang="en-US" dirty="0"/>
              <a:t>，</a:t>
            </a:r>
          </a:p>
          <a:p>
            <a:pPr eaLnBrk="1" hangingPunct="1"/>
            <a:r>
              <a:rPr lang="en-US" altLang="zh-CN" dirty="0" err="1"/>
              <a:t>tcp</a:t>
            </a:r>
            <a:r>
              <a:rPr lang="en-US" altLang="zh-CN" dirty="0"/>
              <a:t>-q=1.0</a:t>
            </a:r>
            <a:r>
              <a:rPr lang="zh-CN" altLang="en-US" dirty="0"/>
              <a:t>～</a:t>
            </a:r>
            <a:r>
              <a:rPr lang="en-US" altLang="zh-CN" dirty="0"/>
              <a:t>3.3</a:t>
            </a:r>
            <a:r>
              <a:rPr lang="zh-CN" altLang="en-US" dirty="0"/>
              <a:t>，</a:t>
            </a:r>
            <a:r>
              <a:rPr lang="en-US" altLang="zh-CN" dirty="0"/>
              <a:t>td-q=1.0</a:t>
            </a:r>
            <a:r>
              <a:rPr lang="zh-CN" altLang="en-US" dirty="0"/>
              <a:t>～</a:t>
            </a:r>
            <a:r>
              <a:rPr lang="en-US" altLang="zh-CN" dirty="0"/>
              <a:t>3.6</a:t>
            </a:r>
            <a:r>
              <a:rPr lang="zh-CN" altLang="en-US" dirty="0"/>
              <a:t>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470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err="1"/>
              <a:t>twh</a:t>
            </a:r>
            <a:r>
              <a:rPr lang="en-US" altLang="zh-CN" dirty="0"/>
              <a:t>=</a:t>
            </a:r>
            <a:r>
              <a:rPr lang="en-US" altLang="zh-CN" dirty="0" err="1"/>
              <a:t>tpd</a:t>
            </a:r>
            <a:r>
              <a:rPr lang="zh-CN" altLang="en-US" dirty="0"/>
              <a:t>，</a:t>
            </a:r>
            <a:r>
              <a:rPr lang="en-US" altLang="zh-CN" dirty="0" err="1"/>
              <a:t>twl</a:t>
            </a:r>
            <a:r>
              <a:rPr lang="en-US" altLang="zh-CN" dirty="0"/>
              <a:t>=</a:t>
            </a:r>
            <a:r>
              <a:rPr lang="en-US" altLang="zh-CN" dirty="0" err="1"/>
              <a:t>tset+td</a:t>
            </a:r>
            <a:r>
              <a:rPr lang="zh-CN" altLang="en-US" dirty="0"/>
              <a:t>，最高时钟频率：</a:t>
            </a:r>
            <a:r>
              <a:rPr lang="en-US" altLang="zh-CN" dirty="0"/>
              <a:t>f = 1/6tpd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为什么</a:t>
            </a:r>
            <a:r>
              <a:rPr lang="en-US" altLang="ja-JP" dirty="0" err="1"/>
              <a:t>tpd</a:t>
            </a:r>
            <a:r>
              <a:rPr lang="zh-CN" altLang="en-US" dirty="0"/>
              <a:t>是</a:t>
            </a:r>
            <a:r>
              <a:rPr lang="en-US" altLang="ja-JP" dirty="0"/>
              <a:t>3td</a:t>
            </a:r>
            <a:r>
              <a:rPr lang="zh-CN" altLang="en-US" dirty="0"/>
              <a:t>而不是</a:t>
            </a:r>
            <a:r>
              <a:rPr lang="en-US" altLang="ja-JP" dirty="0"/>
              <a:t>2td?</a:t>
            </a:r>
          </a:p>
          <a:p>
            <a:pPr eaLnBrk="1" hangingPunct="1"/>
            <a:r>
              <a:rPr lang="zh-CN" altLang="en-US" dirty="0"/>
              <a:t>参见</a:t>
            </a:r>
            <a:r>
              <a:rPr lang="en-US" altLang="zh-CN" dirty="0"/>
              <a:t>P9,P10 </a:t>
            </a:r>
            <a:r>
              <a:rPr lang="zh-CN" altLang="en-US" dirty="0"/>
              <a:t>工作原理，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ja-JP" dirty="0"/>
              <a:t>C  0-&gt;1</a:t>
            </a:r>
            <a:r>
              <a:rPr lang="zh-CN" altLang="en-US" dirty="0"/>
              <a:t>，</a:t>
            </a:r>
            <a:endParaRPr lang="en-US" altLang="ja-JP" dirty="0"/>
          </a:p>
          <a:p>
            <a:endParaRPr lang="en-US" altLang="zh-CN" dirty="0"/>
          </a:p>
          <a:p>
            <a:r>
              <a:rPr lang="zh-CN" altLang="en-US" dirty="0"/>
              <a:t>如果</a:t>
            </a:r>
            <a:r>
              <a:rPr lang="cs-CZ" altLang="ja-JP" dirty="0" err="1"/>
              <a:t>Q</a:t>
            </a:r>
            <a:r>
              <a:rPr lang="en-US" altLang="ja-JP" dirty="0"/>
              <a:t>4=1, Q1=0, </a:t>
            </a:r>
            <a:r>
              <a:rPr lang="zh-CN" altLang="en-US" dirty="0"/>
              <a:t>则需要经过以下三步</a:t>
            </a:r>
            <a:endParaRPr lang="en-US" altLang="ja-JP" dirty="0"/>
          </a:p>
          <a:p>
            <a:r>
              <a:rPr lang="en-US" altLang="zh-CN" dirty="0"/>
              <a:t>1. C</a:t>
            </a:r>
            <a:r>
              <a:rPr lang="zh-CN" altLang="en-US" dirty="0"/>
              <a:t>通过</a:t>
            </a:r>
            <a:r>
              <a:rPr lang="en-US" altLang="ja-JP" dirty="0"/>
              <a:t>G3, Q3</a:t>
            </a:r>
            <a:r>
              <a:rPr lang="zh-CN" altLang="en-US" dirty="0"/>
              <a:t>更新；</a:t>
            </a:r>
            <a:r>
              <a:rPr lang="en-US" altLang="ja-JP" dirty="0"/>
              <a:t>C</a:t>
            </a:r>
            <a:r>
              <a:rPr lang="zh-CN" altLang="en-US" dirty="0"/>
              <a:t>通过</a:t>
            </a:r>
            <a:r>
              <a:rPr lang="en-US" altLang="ja-JP" dirty="0"/>
              <a:t>G2</a:t>
            </a:r>
            <a:r>
              <a:rPr lang="zh-CN" altLang="en-US" dirty="0"/>
              <a:t>，</a:t>
            </a:r>
            <a:r>
              <a:rPr lang="en-US" altLang="ja-JP" dirty="0"/>
              <a:t>Q2</a:t>
            </a:r>
            <a:r>
              <a:rPr lang="zh-CN" altLang="en-US" dirty="0"/>
              <a:t>更新</a:t>
            </a:r>
            <a:endParaRPr lang="en-US" altLang="ja-JP" dirty="0"/>
          </a:p>
          <a:p>
            <a:r>
              <a:rPr lang="en-US" altLang="zh-CN" dirty="0"/>
              <a:t>2. Q3</a:t>
            </a:r>
            <a:r>
              <a:rPr lang="zh-CN" altLang="en-US" dirty="0"/>
              <a:t>通过</a:t>
            </a:r>
            <a:r>
              <a:rPr lang="en-US" altLang="ja-JP" dirty="0"/>
              <a:t>G6, /Q</a:t>
            </a:r>
            <a:r>
              <a:rPr lang="zh-CN" altLang="en-US" dirty="0"/>
              <a:t>更新，</a:t>
            </a:r>
            <a:endParaRPr lang="en-US" altLang="ja-JP" dirty="0"/>
          </a:p>
          <a:p>
            <a:r>
              <a:rPr lang="en-US" altLang="zh-CN" dirty="0"/>
              <a:t>3. /Q</a:t>
            </a:r>
            <a:r>
              <a:rPr lang="zh-CN" altLang="en-US" dirty="0"/>
              <a:t>通过</a:t>
            </a:r>
            <a:r>
              <a:rPr lang="en-US" altLang="ja-JP" dirty="0"/>
              <a:t>G5, Q</a:t>
            </a:r>
            <a:r>
              <a:rPr lang="zh-CN" altLang="en-US" dirty="0"/>
              <a:t>更新</a:t>
            </a:r>
            <a:endParaRPr lang="en-US" altLang="ja-JP" dirty="0"/>
          </a:p>
          <a:p>
            <a:endParaRPr lang="en-US" altLang="zh-CN" dirty="0"/>
          </a:p>
          <a:p>
            <a:r>
              <a:rPr lang="zh-CN" altLang="en-US" dirty="0"/>
              <a:t>如果</a:t>
            </a:r>
            <a:r>
              <a:rPr lang="cs-CZ" altLang="ja-JP" dirty="0" err="1"/>
              <a:t>Q</a:t>
            </a:r>
            <a:r>
              <a:rPr lang="en-US" altLang="ja-JP" dirty="0"/>
              <a:t>4=0, Q1=1, </a:t>
            </a:r>
            <a:r>
              <a:rPr lang="zh-CN" altLang="en-US" dirty="0"/>
              <a:t>则需要经过以下三步</a:t>
            </a:r>
            <a:endParaRPr lang="en-US" altLang="ja-JP" dirty="0"/>
          </a:p>
          <a:p>
            <a:r>
              <a:rPr lang="en-US" altLang="zh-CN" dirty="0"/>
              <a:t>1. C</a:t>
            </a:r>
            <a:r>
              <a:rPr lang="zh-CN" altLang="en-US" dirty="0"/>
              <a:t>通</a:t>
            </a:r>
            <a:r>
              <a:rPr lang="en-US" altLang="ja-JP" dirty="0"/>
              <a:t>G2, Q2</a:t>
            </a:r>
            <a:r>
              <a:rPr lang="zh-CN" altLang="en-US" dirty="0"/>
              <a:t>更新，</a:t>
            </a:r>
            <a:endParaRPr lang="en-US" altLang="ja-JP" dirty="0"/>
          </a:p>
          <a:p>
            <a:r>
              <a:rPr lang="en-US" altLang="zh-CN" dirty="0"/>
              <a:t>2. Q2</a:t>
            </a:r>
            <a:r>
              <a:rPr lang="zh-CN" altLang="en-US" dirty="0"/>
              <a:t>通过</a:t>
            </a:r>
            <a:r>
              <a:rPr lang="en-US" altLang="ja-JP" dirty="0"/>
              <a:t>G3, Q3</a:t>
            </a:r>
            <a:r>
              <a:rPr lang="zh-CN" altLang="en-US" dirty="0"/>
              <a:t>更新；</a:t>
            </a:r>
            <a:r>
              <a:rPr lang="en-US" altLang="ja-JP" dirty="0"/>
              <a:t>Q2</a:t>
            </a:r>
            <a:r>
              <a:rPr lang="zh-CN" altLang="en-US" dirty="0"/>
              <a:t>通过</a:t>
            </a:r>
            <a:r>
              <a:rPr lang="en-US" altLang="ja-JP" dirty="0"/>
              <a:t>G5, Q</a:t>
            </a:r>
            <a:r>
              <a:rPr lang="zh-CN" altLang="en-US" dirty="0"/>
              <a:t>更新</a:t>
            </a:r>
            <a:endParaRPr lang="en-US" altLang="ja-JP" dirty="0"/>
          </a:p>
          <a:p>
            <a:r>
              <a:rPr lang="en-US" altLang="zh-CN" dirty="0"/>
              <a:t>3. Q3, Q</a:t>
            </a:r>
            <a:r>
              <a:rPr lang="zh-CN" altLang="en-US" dirty="0"/>
              <a:t>通过</a:t>
            </a:r>
            <a:r>
              <a:rPr lang="en-US" altLang="ja-JP" dirty="0"/>
              <a:t>G5, /Q</a:t>
            </a:r>
            <a:r>
              <a:rPr lang="zh-CN" altLang="en-US" dirty="0"/>
              <a:t>更新</a:t>
            </a:r>
            <a:endParaRPr lang="en-US" altLang="ja-JP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每个门更新需要</a:t>
            </a:r>
            <a:r>
              <a:rPr lang="en-US" altLang="zh-CN" dirty="0"/>
              <a:t>td, </a:t>
            </a:r>
            <a:r>
              <a:rPr lang="zh-CN" altLang="en-US" dirty="0"/>
              <a:t>所以是</a:t>
            </a:r>
            <a:r>
              <a:rPr lang="en-US" altLang="zh-CN" dirty="0"/>
              <a:t>3td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769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err="1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Tsu,D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必须在时钟沿前多长时间准备好，对于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G3,D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经过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G4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，需要提前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td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，对于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G2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经过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G4,G1,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因此需要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2td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，取最大值，因此需要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2td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zh-CN" altLang="zh-CN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effectLst/>
              <a:latin typeface="宋体" panose="02010600030101010101" pitchFamily="2" charset="-122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Th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，在时钟沿后多长时间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需要保持不变。【翻到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P10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zh-CN" sz="1200" u="sng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1200" u="sng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Q3</a:t>
            </a:r>
            <a:r>
              <a:rPr lang="zh-CN" altLang="zh-CN" sz="1200" u="sng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1200" u="sng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200" u="sng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变为</a:t>
            </a:r>
            <a:r>
              <a:rPr lang="en-US" altLang="zh-CN" sz="1200" u="sng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200" u="sng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，时钟信号需要经过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G3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才能封锁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G4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，之后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再变化不影响电路，</a:t>
            </a:r>
            <a:r>
              <a:rPr lang="zh-CN" altLang="zh-CN" sz="1200" u="sng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</a:t>
            </a:r>
            <a:r>
              <a:rPr lang="en-US" altLang="zh-CN" sz="1200" u="sng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1200" u="sng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需要保持</a:t>
            </a:r>
            <a:r>
              <a:rPr lang="en-US" altLang="zh-CN" sz="1200" u="sng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td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；【翻到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P11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zh-CN" sz="1200" u="sng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1200" u="sng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Q2</a:t>
            </a:r>
            <a:r>
              <a:rPr lang="zh-CN" altLang="zh-CN" sz="1200" u="sng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1200" u="sng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200" u="sng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变为</a:t>
            </a:r>
            <a:r>
              <a:rPr lang="en-US" altLang="zh-CN" sz="1200" u="sng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200" u="sng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，时钟信号需要经过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G2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才能封锁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G3,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而实际上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也需要经过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G4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才能到达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G3,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因此对这一路，</a:t>
            </a:r>
            <a:r>
              <a:rPr lang="zh-CN" altLang="zh-CN" sz="1200" u="sng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需要的保持时间为</a:t>
            </a:r>
            <a:r>
              <a:rPr lang="en-US" altLang="zh-CN" sz="1200" u="sng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；同样对于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G1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，时钟信号需要经过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G2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才能封锁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G1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，而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需要经过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G4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才能到达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G1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，因此</a:t>
            </a:r>
            <a:r>
              <a:rPr lang="zh-CN" altLang="zh-CN" sz="1200" u="sng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需要的保持时间为</a:t>
            </a:r>
            <a:r>
              <a:rPr lang="en-US" altLang="zh-CN" sz="1200" u="sng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，综合这两种情况，需要保持时间为</a:t>
            </a:r>
            <a:r>
              <a:rPr lang="en-US" altLang="zh-CN" sz="12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td</a:t>
            </a:r>
            <a:endParaRPr lang="zh-CN" altLang="zh-CN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922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Master-Untertitelformat bearbeiten</a:t>
            </a:r>
            <a:endParaRPr lang="en-US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AD0EE8D-9D56-A393-A0B6-B1D464FF8959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906000" cy="5106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/>
              <a:t>计算机科学与技术学院本科课程</a:t>
            </a:r>
            <a:endParaRPr lang="en-US" altLang="zh-CN" sz="280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2A6DDD0-4B5B-3901-545E-2EAC257EF17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21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9906000" cy="510639"/>
          </a:xfrm>
          <a:solidFill>
            <a:schemeClr val="accent1"/>
          </a:solidFill>
          <a:ln>
            <a:noFill/>
          </a:ln>
        </p:spPr>
        <p:txBody>
          <a:bodyPr>
            <a:normAutofit/>
          </a:bodyPr>
          <a:lstStyle>
            <a:lvl1pPr algn="ctr">
              <a:defRPr sz="3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7780" y="585760"/>
            <a:ext cx="9888220" cy="5947119"/>
          </a:xfrm>
        </p:spPr>
        <p:txBody>
          <a:bodyPr/>
          <a:lstStyle>
            <a:lvl1pPr>
              <a:defRPr sz="28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2pPr>
            <a:lvl3pPr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 err="1"/>
              <a:t>Mastertextformat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altLang="zh-CN" dirty="0"/>
          </a:p>
          <a:p>
            <a:pPr lvl="1"/>
            <a:r>
              <a:rPr lang="en-US" altLang="zh-CN" dirty="0" err="1"/>
              <a:t>Zweite</a:t>
            </a:r>
            <a:r>
              <a:rPr lang="en-US" altLang="zh-CN" dirty="0"/>
              <a:t> Ebene</a:t>
            </a:r>
          </a:p>
          <a:p>
            <a:pPr lvl="2"/>
            <a:r>
              <a:rPr lang="en-US" altLang="zh-CN" dirty="0" err="1"/>
              <a:t>Dritte</a:t>
            </a:r>
            <a:r>
              <a:rPr lang="en-US" altLang="zh-CN" dirty="0"/>
              <a:t> Ebene</a:t>
            </a:r>
          </a:p>
          <a:p>
            <a:pPr lvl="3"/>
            <a:r>
              <a:rPr lang="en-US" altLang="zh-CN" dirty="0" err="1"/>
              <a:t>Vierte</a:t>
            </a:r>
            <a:r>
              <a:rPr lang="en-US" altLang="zh-CN" dirty="0"/>
              <a:t> Ebene</a:t>
            </a:r>
          </a:p>
          <a:p>
            <a:pPr lvl="4"/>
            <a:r>
              <a:rPr lang="en-US" altLang="zh-CN" dirty="0" err="1"/>
              <a:t>Fünfte</a:t>
            </a:r>
            <a:r>
              <a:rPr lang="en-US" altLang="zh-CN" dirty="0"/>
              <a:t> Ebene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384550" y="6532880"/>
            <a:ext cx="31369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7475220" y="6543040"/>
            <a:ext cx="23114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fld id="{9E260BC5-5BF3-8746-862B-DC45E9CAA88B}" type="slidenum">
              <a:rPr lang="en-US" smtClean="0"/>
              <a:pPr/>
              <a:t>‹#›</a:t>
            </a:fld>
            <a:r>
              <a:rPr lang="en-US" altLang="zh-CN" dirty="0"/>
              <a:t>/</a:t>
            </a:r>
            <a:endParaRPr lang="en-US" dirty="0"/>
          </a:p>
        </p:txBody>
      </p:sp>
      <p:pic>
        <p:nvPicPr>
          <p:cNvPr id="7" name="Bild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58354" y="575599"/>
            <a:ext cx="629866" cy="574907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8A49508E-0CBC-36CF-BE0A-9CFE928D505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6482FF6C-9411-92E7-7DED-EBDB23C92E35}"/>
              </a:ext>
            </a:extLst>
          </p:cNvPr>
          <p:cNvSpPr txBox="1">
            <a:spLocks/>
          </p:cNvSpPr>
          <p:nvPr userDrawn="1"/>
        </p:nvSpPr>
        <p:spPr>
          <a:xfrm>
            <a:off x="17780" y="6522719"/>
            <a:ext cx="1684560" cy="208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457200" rtl="0" eaLnBrk="1" latinLnBrk="0" hangingPunct="1">
              <a:defRPr sz="10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2024</a:t>
            </a:r>
            <a:r>
              <a:rPr lang="zh-CN" altLang="en-US"/>
              <a:t>年</a:t>
            </a:r>
            <a:r>
              <a:rPr lang="zh-CN" altLang="en-US" dirty="0"/>
              <a:t>秋季学期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37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70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07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0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2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65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35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3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57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3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0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6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8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5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3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1077976"/>
            <a:ext cx="8420100" cy="1470025"/>
          </a:xfrm>
        </p:spPr>
        <p:txBody>
          <a:bodyPr>
            <a:normAutofit fontScale="90000"/>
          </a:bodyPr>
          <a:lstStyle/>
          <a:p>
            <a:br>
              <a:rPr lang="en-US" altLang="zh-CN" sz="2400" b="1" dirty="0">
                <a:latin typeface="黑体"/>
                <a:ea typeface="黑体"/>
                <a:cs typeface="黑体"/>
              </a:rPr>
            </a:br>
            <a:br>
              <a:rPr lang="en-US" altLang="zh-CN" b="1" dirty="0">
                <a:latin typeface="黑体"/>
                <a:ea typeface="黑体"/>
                <a:cs typeface="黑体"/>
              </a:rPr>
            </a:br>
            <a: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  <a:t>模拟与数字电路</a:t>
            </a:r>
            <a:b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CN" sz="2200" dirty="0">
                <a:solidFill>
                  <a:schemeClr val="accent1">
                    <a:lumMod val="50000"/>
                  </a:schemeClr>
                </a:solidFill>
                <a:latin typeface="+mj-ea"/>
              </a:rPr>
              <a:t>Analog and Digital Circuits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2546991"/>
            <a:ext cx="6934200" cy="2269558"/>
          </a:xfrm>
        </p:spPr>
        <p:txBody>
          <a:bodyPr>
            <a:noAutofit/>
          </a:bodyPr>
          <a:lstStyle/>
          <a:p>
            <a:endParaRPr lang="en-US" altLang="zh-CN" sz="16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br>
              <a:rPr lang="en-US" altLang="zh-CN" sz="16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12_</a:t>
            </a:r>
            <a:r>
              <a:rPr lang="zh-CN" altLang="en-US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锁存器和触发器（</a:t>
            </a:r>
            <a:r>
              <a:rPr lang="en-US" altLang="zh-CN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36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（数电</a:t>
            </a:r>
            <a:r>
              <a:rPr lang="en-US" altLang="zh-CN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P232-244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br>
              <a:rPr lang="en-US" sz="2000" dirty="0">
                <a:solidFill>
                  <a:srgbClr val="0070C0"/>
                </a:solidFill>
              </a:rPr>
            </a:b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4" name="Bil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004" y="5093353"/>
            <a:ext cx="1727992" cy="157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77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7DBC4C-9640-AD61-0F3B-5CF87397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内容提纲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06375B-3C17-2170-48EE-3E1111080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ct val="50000"/>
              </a:spcAft>
            </a:pPr>
            <a:r>
              <a:rPr lang="zh-CN" altLang="en-US" dirty="0"/>
              <a:t>触发器的实现和功能描述</a:t>
            </a:r>
          </a:p>
          <a:p>
            <a:pPr eaLnBrk="1" hangingPunct="1">
              <a:spcAft>
                <a:spcPct val="50000"/>
              </a:spcAft>
            </a:pPr>
            <a:r>
              <a:rPr lang="zh-CN" altLang="en-US" dirty="0"/>
              <a:t>触发器的逻辑功能转换</a:t>
            </a:r>
            <a:endParaRPr lang="en-US" altLang="zh-CN" dirty="0"/>
          </a:p>
          <a:p>
            <a:pPr>
              <a:spcAft>
                <a:spcPct val="50000"/>
              </a:spcAft>
            </a:pPr>
            <a:r>
              <a:rPr lang="zh-CN" altLang="en-US" dirty="0"/>
              <a:t>锁存器和触发器的动态特性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B087B8-46F4-E8D4-8B30-EF3E7278E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7B7386-9DB7-80F6-203E-055AF101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</a:t>
            </a:fld>
            <a:r>
              <a:rPr lang="en-US" altLang="zh-CN" dirty="0"/>
              <a:t>/29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300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50CEBA-3D1E-5D6C-494E-0BD5CB3AD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</a:t>
            </a:r>
            <a:r>
              <a:rPr lang="zh-CN" altLang="en-US" dirty="0"/>
              <a:t>触发器</a:t>
            </a:r>
            <a:r>
              <a:rPr lang="en-US" altLang="zh-CN" dirty="0"/>
              <a:t>(Flip-Flop)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6D08C8-8B3C-3E93-C5AA-A97093C5D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415587" cy="5947119"/>
          </a:xfrm>
        </p:spPr>
        <p:txBody>
          <a:bodyPr/>
          <a:lstStyle/>
          <a:p>
            <a:r>
              <a:rPr lang="zh-CN" altLang="en-US" sz="2400" dirty="0"/>
              <a:t>只在时钟信号的上升沿或下降沿变化瞬间，根据输入信号更新状态</a:t>
            </a:r>
          </a:p>
          <a:p>
            <a:pPr lvl="1"/>
            <a:r>
              <a:rPr lang="zh-CN" altLang="en-US" dirty="0"/>
              <a:t>最多一次翻转</a:t>
            </a:r>
          </a:p>
          <a:p>
            <a:r>
              <a:rPr lang="zh-CN" altLang="en-US" sz="2400" dirty="0"/>
              <a:t>在其他时间状态保持不变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900F26-0FCB-89F4-47AB-14DB2C8D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7B15CF-D6D1-77ED-C361-19A322D03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</a:t>
            </a:fld>
            <a:r>
              <a:rPr lang="en-US" altLang="zh-CN" dirty="0"/>
              <a:t>/29</a:t>
            </a:r>
            <a:endParaRPr lang="en-US" dirty="0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9EF035D3-E968-BF64-95A3-E3C33050D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4991" y="1568322"/>
            <a:ext cx="1692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逻辑符号</a:t>
            </a: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E3B680EB-10EE-D3D8-A4F0-02EA1F33F44F}"/>
              </a:ext>
            </a:extLst>
          </p:cNvPr>
          <p:cNvGrpSpPr>
            <a:grpSpLocks/>
          </p:cNvGrpSpPr>
          <p:nvPr/>
        </p:nvGrpSpPr>
        <p:grpSpPr bwMode="auto">
          <a:xfrm>
            <a:off x="4256649" y="2136905"/>
            <a:ext cx="2222500" cy="1223962"/>
            <a:chOff x="2314" y="1502"/>
            <a:chExt cx="1400" cy="771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72C07A47-E1C5-C013-C47E-077C50B4B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" y="1502"/>
              <a:ext cx="527" cy="77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7E062DC2-7729-75F5-330D-6171F2A9AD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4" y="1685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E16A0840-9E54-AA89-FA91-71072A9535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4" y="206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8B1A05F1-F90C-0BAE-C988-23319FA218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1" y="1685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8D49C315-EF17-D8F1-9A2A-2AB4A8DA6E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1" y="206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F08A2D54-3457-257B-4201-D6FA58073B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1" y="1531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D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0571AA1F-8012-6F8C-F8C7-835CE51AE6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0" y="1922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C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15" name="Text Box 12">
              <a:extLst>
                <a:ext uri="{FF2B5EF4-FFF2-40B4-BE49-F238E27FC236}">
                  <a16:creationId xmlns:a16="http://schemas.microsoft.com/office/drawing/2014/main" id="{3138A2BA-3A98-460C-6333-E6253DA49F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9" y="1531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16" name="Text Box 13">
              <a:extLst>
                <a:ext uri="{FF2B5EF4-FFF2-40B4-BE49-F238E27FC236}">
                  <a16:creationId xmlns:a16="http://schemas.microsoft.com/office/drawing/2014/main" id="{0A7095BD-761F-EE94-0D61-3B9DCAB747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9" y="1909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DAE428E4-526D-9482-E121-5D4A0EF1BC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0" y="1955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Oval 15">
              <a:extLst>
                <a:ext uri="{FF2B5EF4-FFF2-40B4-BE49-F238E27FC236}">
                  <a16:creationId xmlns:a16="http://schemas.microsoft.com/office/drawing/2014/main" id="{765F4FE1-98BD-FEEA-36B3-83162188A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" y="2023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A6417E40-3C54-E7E3-52F7-C833D97FAE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2" y="1974"/>
              <a:ext cx="9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194FDADD-5F6D-B08F-68CD-BBDD700AA1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2" y="2064"/>
              <a:ext cx="9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" name="Rectangle 18">
            <a:extLst>
              <a:ext uri="{FF2B5EF4-FFF2-40B4-BE49-F238E27FC236}">
                <a16:creationId xmlns:a16="http://schemas.microsoft.com/office/drawing/2014/main" id="{7635195B-0618-7E11-AB20-EF6E382E6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3349" y="1997205"/>
            <a:ext cx="1801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C    D    Q</a:t>
            </a:r>
            <a:r>
              <a:rPr kumimoji="1" lang="en-US" altLang="zh-CN" sz="2400" baseline="30000">
                <a:ea typeface="楷体_GB2312" pitchFamily="49" charset="-122"/>
              </a:rPr>
              <a:t>n+1</a:t>
            </a:r>
            <a:endParaRPr kumimoji="1" lang="zh-CN" altLang="en-US" sz="2400">
              <a:ea typeface="楷体_GB2312" pitchFamily="49" charset="-122"/>
            </a:endParaRPr>
          </a:p>
        </p:txBody>
      </p:sp>
      <p:sp>
        <p:nvSpPr>
          <p:cNvPr id="22" name="Text Box 19">
            <a:extLst>
              <a:ext uri="{FF2B5EF4-FFF2-40B4-BE49-F238E27FC236}">
                <a16:creationId xmlns:a16="http://schemas.microsoft.com/office/drawing/2014/main" id="{AE2607F4-DB45-EBDE-60F4-97C210C25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0324" y="2600455"/>
            <a:ext cx="162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        x      D</a:t>
            </a:r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5B5891C1-ED47-169D-24B1-40E9C8061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69824" y="1895605"/>
            <a:ext cx="0" cy="1784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54205F41-6E83-3440-DA9C-2C983092D73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0324" y="2527430"/>
            <a:ext cx="1917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1F3C59D9-02C0-A615-3AED-53C1CDD1D9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0324" y="1895605"/>
            <a:ext cx="1917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4FCBD634-9C10-F5E0-40EC-1E44B4A76EDF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9849" y="3679955"/>
            <a:ext cx="1917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Box 24">
            <a:extLst>
              <a:ext uri="{FF2B5EF4-FFF2-40B4-BE49-F238E27FC236}">
                <a16:creationId xmlns:a16="http://schemas.microsoft.com/office/drawing/2014/main" id="{DBC6D6B6-F25F-7ACE-E881-83609ADE1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812" y="1351092"/>
            <a:ext cx="158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/>
              <a:t>特性表</a:t>
            </a:r>
            <a:r>
              <a:rPr lang="en-US" altLang="zh-CN" sz="2400"/>
              <a:t>(a)</a:t>
            </a:r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F36D3D15-8255-AA65-63EB-9BAC0EC269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2737" y="2706817"/>
            <a:ext cx="0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Box 26">
            <a:extLst>
              <a:ext uri="{FF2B5EF4-FFF2-40B4-BE49-F238E27FC236}">
                <a16:creationId xmlns:a16="http://schemas.microsoft.com/office/drawing/2014/main" id="{BEB4F5E8-3566-4BBE-92AA-353E6345E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0324" y="3140205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 x     x      Q</a:t>
            </a:r>
            <a:r>
              <a:rPr kumimoji="1" lang="en-US" altLang="zh-CN" sz="2400" baseline="30000">
                <a:ea typeface="楷体_GB2312" pitchFamily="49" charset="-122"/>
              </a:rPr>
              <a:t>n</a:t>
            </a:r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70BF7111-F899-FB4D-40D2-DB52E1C488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0324" y="3103692"/>
            <a:ext cx="1917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Rectangle 29">
            <a:extLst>
              <a:ext uri="{FF2B5EF4-FFF2-40B4-BE49-F238E27FC236}">
                <a16:creationId xmlns:a16="http://schemas.microsoft.com/office/drawing/2014/main" id="{70EB89C6-6C39-722F-7463-2F77B9791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6249" y="3382299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dirty="0"/>
              <a:t>(a)</a:t>
            </a:r>
            <a:endParaRPr lang="zh-CN" altLang="en-US" sz="2400" dirty="0"/>
          </a:p>
        </p:txBody>
      </p:sp>
      <p:grpSp>
        <p:nvGrpSpPr>
          <p:cNvPr id="32" name="Group 30">
            <a:extLst>
              <a:ext uri="{FF2B5EF4-FFF2-40B4-BE49-F238E27FC236}">
                <a16:creationId xmlns:a16="http://schemas.microsoft.com/office/drawing/2014/main" id="{057E52FE-0B27-9D2A-D89A-A5F32B5F8990}"/>
              </a:ext>
            </a:extLst>
          </p:cNvPr>
          <p:cNvGrpSpPr>
            <a:grpSpLocks/>
          </p:cNvGrpSpPr>
          <p:nvPr/>
        </p:nvGrpSpPr>
        <p:grpSpPr bwMode="auto">
          <a:xfrm>
            <a:off x="4298950" y="4671621"/>
            <a:ext cx="2222500" cy="1682750"/>
            <a:chOff x="2290" y="2546"/>
            <a:chExt cx="1400" cy="1060"/>
          </a:xfrm>
        </p:grpSpPr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59A4EDEC-8BD4-7F4C-CCC4-B63F1F516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8" y="2546"/>
              <a:ext cx="529" cy="74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4" name="Line 32">
              <a:extLst>
                <a:ext uri="{FF2B5EF4-FFF2-40B4-BE49-F238E27FC236}">
                  <a16:creationId xmlns:a16="http://schemas.microsoft.com/office/drawing/2014/main" id="{C299DC33-1E63-1939-485E-3D7A7F47F9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2729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33">
              <a:extLst>
                <a:ext uri="{FF2B5EF4-FFF2-40B4-BE49-F238E27FC236}">
                  <a16:creationId xmlns:a16="http://schemas.microsoft.com/office/drawing/2014/main" id="{B7111BBD-7EE7-98A9-E2C2-1BB128360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3111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34">
              <a:extLst>
                <a:ext uri="{FF2B5EF4-FFF2-40B4-BE49-F238E27FC236}">
                  <a16:creationId xmlns:a16="http://schemas.microsoft.com/office/drawing/2014/main" id="{D8F6F20C-898D-3EEB-F0D8-455F6DECA2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2729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14BE8E1D-05A3-25FB-6A1C-5D177318F6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3111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 Box 36">
              <a:extLst>
                <a:ext uri="{FF2B5EF4-FFF2-40B4-BE49-F238E27FC236}">
                  <a16:creationId xmlns:a16="http://schemas.microsoft.com/office/drawing/2014/main" id="{C39F8FBA-33A6-6E04-CB9A-C70A3AC5E4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7" y="2575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D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39" name="Text Box 37">
              <a:extLst>
                <a:ext uri="{FF2B5EF4-FFF2-40B4-BE49-F238E27FC236}">
                  <a16:creationId xmlns:a16="http://schemas.microsoft.com/office/drawing/2014/main" id="{1EA327CD-5799-AD5A-AEB7-189939F577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6" y="296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C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40" name="Text Box 38">
              <a:extLst>
                <a:ext uri="{FF2B5EF4-FFF2-40B4-BE49-F238E27FC236}">
                  <a16:creationId xmlns:a16="http://schemas.microsoft.com/office/drawing/2014/main" id="{369E3B85-BCE4-B4E0-8231-1602430DA2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5" y="2575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41" name="Text Box 39">
              <a:extLst>
                <a:ext uri="{FF2B5EF4-FFF2-40B4-BE49-F238E27FC236}">
                  <a16:creationId xmlns:a16="http://schemas.microsoft.com/office/drawing/2014/main" id="{FBED3E0B-1364-A9A3-F09D-747106BFC8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5" y="2953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42" name="Line 40">
              <a:extLst>
                <a:ext uri="{FF2B5EF4-FFF2-40B4-BE49-F238E27FC236}">
                  <a16:creationId xmlns:a16="http://schemas.microsoft.com/office/drawing/2014/main" id="{CC4117E1-5F24-5F49-2868-0ED7B73220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6" y="2999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Oval 41">
              <a:extLst>
                <a:ext uri="{FF2B5EF4-FFF2-40B4-BE49-F238E27FC236}">
                  <a16:creationId xmlns:a16="http://schemas.microsoft.com/office/drawing/2014/main" id="{A13C15A9-E49C-EEF1-EF83-A85C111A60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8" y="3067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4" name="Line 42">
              <a:extLst>
                <a:ext uri="{FF2B5EF4-FFF2-40B4-BE49-F238E27FC236}">
                  <a16:creationId xmlns:a16="http://schemas.microsoft.com/office/drawing/2014/main" id="{29514138-1F1F-C7E6-4E24-4AA93E80F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8" y="3018"/>
              <a:ext cx="9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43">
              <a:extLst>
                <a:ext uri="{FF2B5EF4-FFF2-40B4-BE49-F238E27FC236}">
                  <a16:creationId xmlns:a16="http://schemas.microsoft.com/office/drawing/2014/main" id="{8D9BD30C-8D30-AF8A-52CB-C09975DB43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78" y="3108"/>
              <a:ext cx="9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C1F793AE-E81F-9FF5-F7A4-DAFC3BC73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3" y="3067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7" name="Rectangle 45">
              <a:extLst>
                <a:ext uri="{FF2B5EF4-FFF2-40B4-BE49-F238E27FC236}">
                  <a16:creationId xmlns:a16="http://schemas.microsoft.com/office/drawing/2014/main" id="{50EAE30C-5101-05AB-DBD1-97EE8E6B2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5" y="3318"/>
              <a:ext cx="35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(b)</a:t>
              </a:r>
              <a:endParaRPr lang="zh-CN" altLang="en-US" sz="2400"/>
            </a:p>
          </p:txBody>
        </p:sp>
      </p:grpSp>
      <p:grpSp>
        <p:nvGrpSpPr>
          <p:cNvPr id="48" name="Group 46">
            <a:extLst>
              <a:ext uri="{FF2B5EF4-FFF2-40B4-BE49-F238E27FC236}">
                <a16:creationId xmlns:a16="http://schemas.microsoft.com/office/drawing/2014/main" id="{0BE13D3D-2F2C-A3D8-8DDE-DAC56C7A2E72}"/>
              </a:ext>
            </a:extLst>
          </p:cNvPr>
          <p:cNvGrpSpPr>
            <a:grpSpLocks/>
          </p:cNvGrpSpPr>
          <p:nvPr/>
        </p:nvGrpSpPr>
        <p:grpSpPr bwMode="auto">
          <a:xfrm>
            <a:off x="6980799" y="4003012"/>
            <a:ext cx="1927225" cy="2257425"/>
            <a:chOff x="4036" y="2507"/>
            <a:chExt cx="1214" cy="1422"/>
          </a:xfrm>
        </p:grpSpPr>
        <p:sp>
          <p:nvSpPr>
            <p:cNvPr id="49" name="Line 47">
              <a:extLst>
                <a:ext uri="{FF2B5EF4-FFF2-40B4-BE49-F238E27FC236}">
                  <a16:creationId xmlns:a16="http://schemas.microsoft.com/office/drawing/2014/main" id="{890B6288-9F0D-F20C-1604-1745F498D6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4" y="3295"/>
              <a:ext cx="0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Rectangle 48">
              <a:extLst>
                <a:ext uri="{FF2B5EF4-FFF2-40B4-BE49-F238E27FC236}">
                  <a16:creationId xmlns:a16="http://schemas.microsoft.com/office/drawing/2014/main" id="{620A6877-5B31-9B06-DA0A-99311BD0C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2" y="2869"/>
              <a:ext cx="113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C    D    Q</a:t>
              </a:r>
              <a:r>
                <a:rPr kumimoji="1" lang="en-US" altLang="zh-CN" sz="2400" baseline="30000">
                  <a:ea typeface="楷体_GB2312" pitchFamily="49" charset="-122"/>
                </a:rPr>
                <a:t>n+1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51" name="Text Box 49">
              <a:extLst>
                <a:ext uri="{FF2B5EF4-FFF2-40B4-BE49-F238E27FC236}">
                  <a16:creationId xmlns:a16="http://schemas.microsoft.com/office/drawing/2014/main" id="{9003373D-F169-F13C-A4D3-4746C3445A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6" y="3249"/>
              <a:ext cx="10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        x      D</a:t>
              </a:r>
            </a:p>
          </p:txBody>
        </p:sp>
        <p:sp>
          <p:nvSpPr>
            <p:cNvPr id="52" name="Line 50">
              <a:extLst>
                <a:ext uri="{FF2B5EF4-FFF2-40B4-BE49-F238E27FC236}">
                  <a16:creationId xmlns:a16="http://schemas.microsoft.com/office/drawing/2014/main" id="{4ECCEEF3-0833-1B73-F1BB-283558E2E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6" y="2805"/>
              <a:ext cx="0" cy="11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51">
              <a:extLst>
                <a:ext uri="{FF2B5EF4-FFF2-40B4-BE49-F238E27FC236}">
                  <a16:creationId xmlns:a16="http://schemas.microsoft.com/office/drawing/2014/main" id="{C76B1816-93AA-D995-0ED5-33AA8E887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3203"/>
              <a:ext cx="12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52">
              <a:extLst>
                <a:ext uri="{FF2B5EF4-FFF2-40B4-BE49-F238E27FC236}">
                  <a16:creationId xmlns:a16="http://schemas.microsoft.com/office/drawing/2014/main" id="{AE05CEC6-EFCC-04AC-F5D6-A7B0124BD7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2805"/>
              <a:ext cx="12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53">
              <a:extLst>
                <a:ext uri="{FF2B5EF4-FFF2-40B4-BE49-F238E27FC236}">
                  <a16:creationId xmlns:a16="http://schemas.microsoft.com/office/drawing/2014/main" id="{7E0D2FB9-AE4C-0939-A083-68FF07EBF9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2" y="3929"/>
              <a:ext cx="12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Text Box 54">
              <a:extLst>
                <a:ext uri="{FF2B5EF4-FFF2-40B4-BE49-F238E27FC236}">
                  <a16:creationId xmlns:a16="http://schemas.microsoft.com/office/drawing/2014/main" id="{8C08607B-FA30-B936-9CA9-63F65D4786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6" y="3589"/>
              <a:ext cx="11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 x     x      Q</a:t>
              </a:r>
              <a:r>
                <a:rPr kumimoji="1" lang="en-US" altLang="zh-CN" sz="2400" baseline="30000">
                  <a:ea typeface="楷体_GB2312" pitchFamily="49" charset="-122"/>
                </a:rPr>
                <a:t>n</a:t>
              </a:r>
            </a:p>
          </p:txBody>
        </p:sp>
        <p:sp>
          <p:nvSpPr>
            <p:cNvPr id="57" name="Line 55">
              <a:extLst>
                <a:ext uri="{FF2B5EF4-FFF2-40B4-BE49-F238E27FC236}">
                  <a16:creationId xmlns:a16="http://schemas.microsoft.com/office/drawing/2014/main" id="{AA061921-B548-1A92-E3DE-FA5AD38044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3566"/>
              <a:ext cx="12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 Box 56">
              <a:extLst>
                <a:ext uri="{FF2B5EF4-FFF2-40B4-BE49-F238E27FC236}">
                  <a16:creationId xmlns:a16="http://schemas.microsoft.com/office/drawing/2014/main" id="{093BE672-56E2-FD06-D06A-42815D0E5A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" y="2507"/>
              <a:ext cx="99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/>
                <a:t>特性表</a:t>
              </a:r>
              <a:r>
                <a:rPr lang="en-US" altLang="zh-CN" sz="2400"/>
                <a:t>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4450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0E5FEA-F682-2DB6-56A8-4F73F2757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</a:t>
            </a:r>
            <a:r>
              <a:rPr lang="zh-CN" altLang="en-US" dirty="0"/>
              <a:t>触发器</a:t>
            </a:r>
            <a:r>
              <a:rPr lang="en-US" altLang="zh-CN" dirty="0"/>
              <a:t>: </a:t>
            </a:r>
            <a:r>
              <a:rPr lang="zh-CN" altLang="en-US" dirty="0"/>
              <a:t>主从结构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7B59E9-FCD8-D79F-651A-348B02A65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79" y="510640"/>
            <a:ext cx="9195669" cy="6022240"/>
          </a:xfrm>
        </p:spPr>
        <p:txBody>
          <a:bodyPr/>
          <a:lstStyle/>
          <a:p>
            <a:pPr algn="just"/>
            <a:r>
              <a:rPr kumimoji="1" lang="zh-CN" altLang="en-US" sz="2400" dirty="0"/>
              <a:t>当</a:t>
            </a:r>
            <a:r>
              <a:rPr kumimoji="1" lang="en-US" altLang="zh-CN" sz="2400" dirty="0"/>
              <a:t>C=1</a:t>
            </a:r>
            <a:r>
              <a:rPr kumimoji="1" lang="zh-CN" altLang="en-US" sz="2400" dirty="0"/>
              <a:t>时，主锁存器</a:t>
            </a:r>
            <a:r>
              <a:rPr kumimoji="1" lang="en-US" altLang="zh-CN" sz="2400" dirty="0"/>
              <a:t>M (master)</a:t>
            </a:r>
            <a:r>
              <a:rPr kumimoji="1" lang="zh-CN" altLang="en-US" sz="2400" dirty="0"/>
              <a:t>随</a:t>
            </a:r>
            <a:r>
              <a:rPr kumimoji="1" lang="en-US" altLang="zh-CN" sz="2400" dirty="0"/>
              <a:t>D</a:t>
            </a:r>
            <a:r>
              <a:rPr kumimoji="1" lang="zh-CN" altLang="en-US" sz="2400" dirty="0"/>
              <a:t>变化而变化，从锁存器</a:t>
            </a:r>
            <a:r>
              <a:rPr kumimoji="1" lang="en-US" altLang="zh-CN" sz="2400" dirty="0"/>
              <a:t>S (slave)</a:t>
            </a:r>
            <a:r>
              <a:rPr kumimoji="1" lang="zh-CN" altLang="en-US" sz="2400" dirty="0"/>
              <a:t>保持原先状态不变</a:t>
            </a:r>
            <a:endParaRPr kumimoji="1" lang="en-US" altLang="zh-CN" sz="2400" dirty="0"/>
          </a:p>
          <a:p>
            <a:pPr algn="just"/>
            <a:endParaRPr kumimoji="1" lang="en-US" altLang="zh-CN" sz="2400" dirty="0"/>
          </a:p>
          <a:p>
            <a:pPr algn="just">
              <a:spcBef>
                <a:spcPct val="30000"/>
              </a:spcBef>
            </a:pPr>
            <a:r>
              <a:rPr kumimoji="1" lang="zh-CN" altLang="en-US" sz="2400" dirty="0"/>
              <a:t>当</a:t>
            </a:r>
            <a:r>
              <a:rPr kumimoji="1" lang="en-US" altLang="zh-CN" sz="2400" dirty="0"/>
              <a:t>C</a:t>
            </a:r>
            <a:r>
              <a:rPr kumimoji="1" lang="zh-CN" altLang="en-US" sz="2400" dirty="0"/>
              <a:t>从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变为</a:t>
            </a:r>
            <a:r>
              <a:rPr kumimoji="1" lang="en-US" altLang="zh-CN" sz="2400" dirty="0"/>
              <a:t>0(</a:t>
            </a:r>
            <a:r>
              <a:rPr kumimoji="1" lang="zh-CN" altLang="en-US" sz="2400" dirty="0"/>
              <a:t>下降沿</a:t>
            </a:r>
            <a:r>
              <a:rPr kumimoji="1" lang="en-US" altLang="zh-CN" sz="2400" dirty="0"/>
              <a:t>)</a:t>
            </a:r>
            <a:r>
              <a:rPr kumimoji="1" lang="zh-CN" altLang="en-US" sz="2400" dirty="0"/>
              <a:t>时，主锁存器</a:t>
            </a:r>
            <a:r>
              <a:rPr kumimoji="1" lang="en-US" altLang="zh-CN" sz="2400" dirty="0"/>
              <a:t>M</a:t>
            </a:r>
            <a:r>
              <a:rPr kumimoji="1" lang="zh-CN" altLang="en-US" sz="2400" dirty="0"/>
              <a:t>锁存此时</a:t>
            </a:r>
            <a:r>
              <a:rPr kumimoji="1" lang="en-US" altLang="zh-CN" sz="2400" dirty="0"/>
              <a:t>D</a:t>
            </a:r>
            <a:r>
              <a:rPr kumimoji="1" lang="zh-CN" altLang="en-US" sz="2400" dirty="0"/>
              <a:t>的值，从锁存器</a:t>
            </a:r>
            <a:r>
              <a:rPr kumimoji="1" lang="en-US" altLang="zh-CN" sz="2400" dirty="0"/>
              <a:t>S</a:t>
            </a:r>
            <a:r>
              <a:rPr kumimoji="1" lang="zh-CN" altLang="en-US" sz="2400" dirty="0"/>
              <a:t>按</a:t>
            </a:r>
            <a:r>
              <a:rPr kumimoji="1" lang="en-US" altLang="zh-CN" sz="2400" dirty="0"/>
              <a:t>M</a:t>
            </a:r>
            <a:r>
              <a:rPr kumimoji="1" lang="zh-CN" altLang="en-US" sz="2400" dirty="0"/>
              <a:t>状态更新</a:t>
            </a:r>
            <a:endParaRPr kumimoji="1" lang="en-US" altLang="zh-CN" sz="2400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9B2FCB-C254-76FE-6014-B8B4B4A4E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02238F-5B2C-62E3-4179-E720D11A4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4</a:t>
            </a:fld>
            <a:r>
              <a:rPr lang="en-US" altLang="zh-CN" dirty="0"/>
              <a:t>/29</a:t>
            </a:r>
            <a:endParaRPr lang="en-US" dirty="0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282714B6-DC8E-C82B-67F0-A062FB9BF543}"/>
              </a:ext>
            </a:extLst>
          </p:cNvPr>
          <p:cNvGrpSpPr>
            <a:grpSpLocks/>
          </p:cNvGrpSpPr>
          <p:nvPr/>
        </p:nvGrpSpPr>
        <p:grpSpPr bwMode="auto">
          <a:xfrm>
            <a:off x="610163" y="3765823"/>
            <a:ext cx="4870450" cy="2243137"/>
            <a:chOff x="2541" y="2516"/>
            <a:chExt cx="3068" cy="1413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C594BD48-938C-B3F5-D511-01FF5335F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6" y="2629"/>
              <a:ext cx="567" cy="8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48BEF132-43C1-DEB7-5C41-0505829DB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4" y="2858"/>
              <a:ext cx="4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BE3C151F-B3C6-635B-7B74-E552C5651A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240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6DF42390-C3BB-222A-6B34-7E539BBF5A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3" y="2858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9C98A7A3-416D-DA40-F4DF-2137E54A76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0" y="2704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D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B181EA9D-9000-E5EB-BAC6-C587028F7C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0" y="3095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E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BA7F9E3F-BC33-47B9-13A0-23AA43C7B7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7" y="2516"/>
              <a:ext cx="3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2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14" name="Oval 11">
              <a:extLst>
                <a:ext uri="{FF2B5EF4-FFF2-40B4-BE49-F238E27FC236}">
                  <a16:creationId xmlns:a16="http://schemas.microsoft.com/office/drawing/2014/main" id="{434AF387-9B3B-E8A8-3A01-11E47382D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" y="3196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F59B50DC-A860-F840-8F48-2D5561EA3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" y="2629"/>
              <a:ext cx="567" cy="8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5ADC7D78-2A67-10AF-6D97-24BB73F05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1" y="2858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6C6674AF-9C57-973F-C5E2-22F014013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1" y="3240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75049225-6276-2DB7-78CB-C6C5B6FDBC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2" y="2858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8D19CD8A-B0AF-5F72-199A-AC942ADBA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2" y="3240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0E9F43BE-8B21-9573-FB92-01658428F4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9" y="2704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D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5C67BBA1-FE11-3713-C248-5E89C3A46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9" y="3095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E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D0282D5F-712C-E238-6EDC-0F2DC7F3C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6" y="2697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8E341004-D95E-EBE6-DC1A-0E228C1B1B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4" y="3082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C0D2A09D-85BF-1566-B81A-DA824C80C2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5" y="3128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Oval 22">
              <a:extLst>
                <a:ext uri="{FF2B5EF4-FFF2-40B4-BE49-F238E27FC236}">
                  <a16:creationId xmlns:a16="http://schemas.microsoft.com/office/drawing/2014/main" id="{32D25290-DAD1-0194-B2E6-993D582A8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3196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2696632D-C2BD-B7C5-80CA-543ED452269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40" y="3521"/>
              <a:ext cx="5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B6452E64-36BB-64E5-DBCE-C9009DA557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1" y="3793"/>
              <a:ext cx="13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223B9594-8D0D-D19A-A991-8A211AC8059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806" y="3521"/>
              <a:ext cx="5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9" name="Group 26">
              <a:extLst>
                <a:ext uri="{FF2B5EF4-FFF2-40B4-BE49-F238E27FC236}">
                  <a16:creationId xmlns:a16="http://schemas.microsoft.com/office/drawing/2014/main" id="{C8064FA3-2DF3-057D-A4A9-66F2D11440A7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4074" y="3401"/>
              <a:ext cx="272" cy="239"/>
              <a:chOff x="4536" y="2556"/>
              <a:chExt cx="272" cy="239"/>
            </a:xfrm>
          </p:grpSpPr>
          <p:sp>
            <p:nvSpPr>
              <p:cNvPr id="32" name="AutoShape 27">
                <a:extLst>
                  <a:ext uri="{FF2B5EF4-FFF2-40B4-BE49-F238E27FC236}">
                    <a16:creationId xmlns:a16="http://schemas.microsoft.com/office/drawing/2014/main" id="{3BAB0361-040D-6415-21C4-670BD08FF4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524" y="2568"/>
                <a:ext cx="239" cy="215"/>
              </a:xfrm>
              <a:prstGeom prst="flowChartMerg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33" name="Oval 28">
                <a:extLst>
                  <a:ext uri="{FF2B5EF4-FFF2-40B4-BE49-F238E27FC236}">
                    <a16:creationId xmlns:a16="http://schemas.microsoft.com/office/drawing/2014/main" id="{3E6B2EC3-B34F-0385-7DB4-AAC2E2AEE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717" y="2636"/>
                <a:ext cx="91" cy="91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0" name="Text Box 29">
              <a:extLst>
                <a:ext uri="{FF2B5EF4-FFF2-40B4-BE49-F238E27FC236}">
                  <a16:creationId xmlns:a16="http://schemas.microsoft.com/office/drawing/2014/main" id="{DA199640-89B2-C068-ECD9-5A22DA0A01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7" y="2704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D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31" name="Text Box 30">
              <a:extLst>
                <a:ext uri="{FF2B5EF4-FFF2-40B4-BE49-F238E27FC236}">
                  <a16:creationId xmlns:a16="http://schemas.microsoft.com/office/drawing/2014/main" id="{E9C982FE-50BB-40DD-CE51-34A8DC8F88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1" y="3641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C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</p:grpSp>
      <p:sp>
        <p:nvSpPr>
          <p:cNvPr id="34" name="Rectangle 32">
            <a:extLst>
              <a:ext uri="{FF2B5EF4-FFF2-40B4-BE49-F238E27FC236}">
                <a16:creationId xmlns:a16="http://schemas.microsoft.com/office/drawing/2014/main" id="{CC8E3010-ED3D-4569-26AE-E4D5A266C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801" y="3092723"/>
            <a:ext cx="14097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zh-CN" altLang="en-US" sz="2400"/>
              <a:t>主锁存器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/>
              <a:t>M</a:t>
            </a:r>
          </a:p>
        </p:txBody>
      </p:sp>
      <p:sp>
        <p:nvSpPr>
          <p:cNvPr id="35" name="Rectangle 33">
            <a:extLst>
              <a:ext uri="{FF2B5EF4-FFF2-40B4-BE49-F238E27FC236}">
                <a16:creationId xmlns:a16="http://schemas.microsoft.com/office/drawing/2014/main" id="{ABA18269-5032-51DB-9E6C-270C6E1FB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7026" y="3099073"/>
            <a:ext cx="14097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zh-CN" altLang="en-US" sz="2400"/>
              <a:t>从锁存器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/>
              <a:t>S</a:t>
            </a:r>
          </a:p>
        </p:txBody>
      </p:sp>
      <p:grpSp>
        <p:nvGrpSpPr>
          <p:cNvPr id="36" name="Group 34">
            <a:extLst>
              <a:ext uri="{FF2B5EF4-FFF2-40B4-BE49-F238E27FC236}">
                <a16:creationId xmlns:a16="http://schemas.microsoft.com/office/drawing/2014/main" id="{253FB68B-04A3-44B8-FB55-62762FB5026D}"/>
              </a:ext>
            </a:extLst>
          </p:cNvPr>
          <p:cNvGrpSpPr>
            <a:grpSpLocks/>
          </p:cNvGrpSpPr>
          <p:nvPr/>
        </p:nvGrpSpPr>
        <p:grpSpPr bwMode="auto">
          <a:xfrm>
            <a:off x="6990948" y="3720822"/>
            <a:ext cx="2222500" cy="1223963"/>
            <a:chOff x="3340" y="1094"/>
            <a:chExt cx="1400" cy="771"/>
          </a:xfrm>
        </p:grpSpPr>
        <p:sp>
          <p:nvSpPr>
            <p:cNvPr id="37" name="Rectangle 35">
              <a:extLst>
                <a:ext uri="{FF2B5EF4-FFF2-40B4-BE49-F238E27FC236}">
                  <a16:creationId xmlns:a16="http://schemas.microsoft.com/office/drawing/2014/main" id="{A8C0561C-4D06-D228-7EAE-2FC6FA5A0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8" y="1094"/>
              <a:ext cx="527" cy="77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3FCB9405-B1F3-1B7F-00B5-E227656D97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0" y="127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37">
              <a:extLst>
                <a:ext uri="{FF2B5EF4-FFF2-40B4-BE49-F238E27FC236}">
                  <a16:creationId xmlns:a16="http://schemas.microsoft.com/office/drawing/2014/main" id="{A13678A9-C11D-C7A3-BD6C-A5F52BBC33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0" y="1659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A95D3EE2-0988-6FB4-19F4-7D3AB1A4B4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7" y="127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78A46F59-354E-8BB1-BF1B-5DD6B3588A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7" y="1659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 Box 40">
              <a:extLst>
                <a:ext uri="{FF2B5EF4-FFF2-40B4-BE49-F238E27FC236}">
                  <a16:creationId xmlns:a16="http://schemas.microsoft.com/office/drawing/2014/main" id="{6F72D42C-F064-C59D-B8A8-E090CDED31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7" y="1123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D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43" name="Text Box 41">
              <a:extLst>
                <a:ext uri="{FF2B5EF4-FFF2-40B4-BE49-F238E27FC236}">
                  <a16:creationId xmlns:a16="http://schemas.microsoft.com/office/drawing/2014/main" id="{38CD94D9-EC43-B8C3-3774-A5E2A99809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514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C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44" name="Text Box 42">
              <a:extLst>
                <a:ext uri="{FF2B5EF4-FFF2-40B4-BE49-F238E27FC236}">
                  <a16:creationId xmlns:a16="http://schemas.microsoft.com/office/drawing/2014/main" id="{7767243B-C937-8A59-5A02-CAF19A6A9D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5" y="1123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45" name="Text Box 43">
              <a:extLst>
                <a:ext uri="{FF2B5EF4-FFF2-40B4-BE49-F238E27FC236}">
                  <a16:creationId xmlns:a16="http://schemas.microsoft.com/office/drawing/2014/main" id="{48AB2136-B270-E315-D01A-651250C0C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5" y="1501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46" name="Line 44">
              <a:extLst>
                <a:ext uri="{FF2B5EF4-FFF2-40B4-BE49-F238E27FC236}">
                  <a16:creationId xmlns:a16="http://schemas.microsoft.com/office/drawing/2014/main" id="{689588A8-D5BE-4E94-B2D6-7EC3483E88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6" y="1547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F56B75A7-4B42-2B83-ADF8-755F80E61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8" y="1615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8" name="Line 46">
              <a:extLst>
                <a:ext uri="{FF2B5EF4-FFF2-40B4-BE49-F238E27FC236}">
                  <a16:creationId xmlns:a16="http://schemas.microsoft.com/office/drawing/2014/main" id="{1F33B25D-9A73-3F4D-C331-343C68F16B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8" y="1566"/>
              <a:ext cx="9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47">
              <a:extLst>
                <a:ext uri="{FF2B5EF4-FFF2-40B4-BE49-F238E27FC236}">
                  <a16:creationId xmlns:a16="http://schemas.microsoft.com/office/drawing/2014/main" id="{C52A83C5-7B52-FB92-35D5-E818B452E1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28" y="1656"/>
              <a:ext cx="9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Oval 48">
              <a:extLst>
                <a:ext uri="{FF2B5EF4-FFF2-40B4-BE49-F238E27FC236}">
                  <a16:creationId xmlns:a16="http://schemas.microsoft.com/office/drawing/2014/main" id="{E5B45491-B777-6367-3058-3D4EEB7CD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4" y="1616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sp>
        <p:nvSpPr>
          <p:cNvPr id="51" name="右箭头 50">
            <a:extLst>
              <a:ext uri="{FF2B5EF4-FFF2-40B4-BE49-F238E27FC236}">
                <a16:creationId xmlns:a16="http://schemas.microsoft.com/office/drawing/2014/main" id="{8137C7E1-9B5E-90C5-4E67-F67C2EC41691}"/>
              </a:ext>
            </a:extLst>
          </p:cNvPr>
          <p:cNvSpPr/>
          <p:nvPr/>
        </p:nvSpPr>
        <p:spPr>
          <a:xfrm>
            <a:off x="6041985" y="4114279"/>
            <a:ext cx="479465" cy="31829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5330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8265A-CE46-38DE-BD3D-DFA84C48C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触发器：</a:t>
            </a:r>
            <a:r>
              <a:rPr kumimoji="1" lang="en-US" altLang="zh-CN" dirty="0"/>
              <a:t>Flip-Flop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411F567-C286-5E3E-F784-31F49CE7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FB4849-3D4A-CEE4-01B9-BFB2EB2C0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5</a:t>
            </a:fld>
            <a:r>
              <a:rPr lang="en-US" altLang="zh-CN" dirty="0"/>
              <a:t>/29</a:t>
            </a:r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D3AADD6-DDA4-3764-0A3C-F639010DAE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4"/>
          <a:stretch/>
        </p:blipFill>
        <p:spPr>
          <a:xfrm>
            <a:off x="6152593" y="1714500"/>
            <a:ext cx="3160038" cy="3429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404A47B-3595-BB92-6037-D7FD284D9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90" y="1696481"/>
            <a:ext cx="5334000" cy="22352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E7E181C-23FA-B29F-76BC-A6D3E11C5618}"/>
              </a:ext>
            </a:extLst>
          </p:cNvPr>
          <p:cNvSpPr txBox="1"/>
          <p:nvPr/>
        </p:nvSpPr>
        <p:spPr>
          <a:xfrm>
            <a:off x="1070767" y="1012661"/>
            <a:ext cx="44678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锁存器：</a:t>
            </a:r>
            <a:r>
              <a:rPr kumimoji="1" lang="en-US" altLang="zh-CN" dirty="0"/>
              <a:t>Latch</a:t>
            </a:r>
            <a:endParaRPr kumimoji="1" lang="zh-CN" altLang="en-US" dirty="0"/>
          </a:p>
          <a:p>
            <a:r>
              <a:rPr kumimoji="1" lang="zh-CN" altLang="en-US" dirty="0"/>
              <a:t>触发器：</a:t>
            </a:r>
            <a:r>
              <a:rPr kumimoji="1" lang="en-US" altLang="zh-CN" dirty="0"/>
              <a:t>Flip-Flop</a:t>
            </a:r>
            <a:r>
              <a:rPr kumimoji="1" lang="zh-CN" altLang="en-US" dirty="0"/>
              <a:t>（例：</a:t>
            </a:r>
            <a:r>
              <a:rPr kumimoji="1" lang="en-US" altLang="zh-CN" dirty="0"/>
              <a:t>DFF</a:t>
            </a:r>
            <a:r>
              <a:rPr kumimoji="1" lang="zh-CN" altLang="en-US" dirty="0"/>
              <a:t>，</a:t>
            </a:r>
            <a:r>
              <a:rPr kumimoji="1" lang="en-US" altLang="zh-CN" dirty="0"/>
              <a:t>D</a:t>
            </a:r>
            <a:r>
              <a:rPr kumimoji="1" lang="zh-CN" altLang="en-US" dirty="0"/>
              <a:t>触发器）</a:t>
            </a:r>
            <a:endParaRPr kumimoji="1" lang="en-US" altLang="zh-CN" dirty="0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808930D4-8859-E1FD-25BF-DD1DF1E22597}"/>
              </a:ext>
            </a:extLst>
          </p:cNvPr>
          <p:cNvGrpSpPr>
            <a:grpSpLocks/>
          </p:cNvGrpSpPr>
          <p:nvPr/>
        </p:nvGrpSpPr>
        <p:grpSpPr bwMode="auto">
          <a:xfrm>
            <a:off x="1070767" y="4075773"/>
            <a:ext cx="3160038" cy="1728738"/>
            <a:chOff x="2541" y="2516"/>
            <a:chExt cx="3068" cy="1413"/>
          </a:xfrm>
        </p:grpSpPr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94988898-C678-2E33-40E8-A829B5595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6" y="2629"/>
              <a:ext cx="567" cy="8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BF7AF88B-598D-2C3F-0F0A-D1CE1FB24F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4" y="2858"/>
              <a:ext cx="4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3B54D35E-C8FA-F191-F5E9-D07DFBAA2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240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7">
              <a:extLst>
                <a:ext uri="{FF2B5EF4-FFF2-40B4-BE49-F238E27FC236}">
                  <a16:creationId xmlns:a16="http://schemas.microsoft.com/office/drawing/2014/main" id="{6FCEFBBD-34DF-33F9-8B41-A757323CC7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3" y="2858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Box 8">
              <a:extLst>
                <a:ext uri="{FF2B5EF4-FFF2-40B4-BE49-F238E27FC236}">
                  <a16:creationId xmlns:a16="http://schemas.microsoft.com/office/drawing/2014/main" id="{6BA77397-779F-4B79-B38C-68CA611EF8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0" y="2704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D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15" name="Text Box 9">
              <a:extLst>
                <a:ext uri="{FF2B5EF4-FFF2-40B4-BE49-F238E27FC236}">
                  <a16:creationId xmlns:a16="http://schemas.microsoft.com/office/drawing/2014/main" id="{A85C7789-74EE-599E-8D76-47286A736B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0" y="3095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E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16" name="Text Box 10">
              <a:extLst>
                <a:ext uri="{FF2B5EF4-FFF2-40B4-BE49-F238E27FC236}">
                  <a16:creationId xmlns:a16="http://schemas.microsoft.com/office/drawing/2014/main" id="{4B90DAC5-73A1-E33F-B9BD-91D5B41C2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7" y="2516"/>
              <a:ext cx="3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dirty="0">
                  <a:ea typeface="楷体_GB2312" pitchFamily="49" charset="-122"/>
                </a:rPr>
                <a:t>Q</a:t>
              </a:r>
              <a:r>
                <a:rPr kumimoji="1" lang="en-US" altLang="zh-CN" sz="2400" baseline="-25000" dirty="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17" name="Oval 11">
              <a:extLst>
                <a:ext uri="{FF2B5EF4-FFF2-40B4-BE49-F238E27FC236}">
                  <a16:creationId xmlns:a16="http://schemas.microsoft.com/office/drawing/2014/main" id="{B36663D6-B5AA-CCE6-745E-0BBB2B94F3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" y="3196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8" name="Rectangle 12">
              <a:extLst>
                <a:ext uri="{FF2B5EF4-FFF2-40B4-BE49-F238E27FC236}">
                  <a16:creationId xmlns:a16="http://schemas.microsoft.com/office/drawing/2014/main" id="{CAFC5D16-3FF4-B22A-F41F-AAB0B666A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" y="2629"/>
              <a:ext cx="567" cy="8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9" name="Line 13">
              <a:extLst>
                <a:ext uri="{FF2B5EF4-FFF2-40B4-BE49-F238E27FC236}">
                  <a16:creationId xmlns:a16="http://schemas.microsoft.com/office/drawing/2014/main" id="{527786DE-E437-A411-2244-2B5C13FD75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1" y="2858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4">
              <a:extLst>
                <a:ext uri="{FF2B5EF4-FFF2-40B4-BE49-F238E27FC236}">
                  <a16:creationId xmlns:a16="http://schemas.microsoft.com/office/drawing/2014/main" id="{108DD67A-3731-A650-CEC5-71BDC04DD6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1" y="3240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5">
              <a:extLst>
                <a:ext uri="{FF2B5EF4-FFF2-40B4-BE49-F238E27FC236}">
                  <a16:creationId xmlns:a16="http://schemas.microsoft.com/office/drawing/2014/main" id="{A851BA5C-A182-8E66-9C19-F093C5C0DA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2" y="2858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D0F0D525-1F90-0B3F-AE89-E1D57BCC8B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2" y="3240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 Box 17">
              <a:extLst>
                <a:ext uri="{FF2B5EF4-FFF2-40B4-BE49-F238E27FC236}">
                  <a16:creationId xmlns:a16="http://schemas.microsoft.com/office/drawing/2014/main" id="{EC4B2E0C-7EFD-CB16-2F6C-369B3E536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9" y="2704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D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24" name="Text Box 18">
              <a:extLst>
                <a:ext uri="{FF2B5EF4-FFF2-40B4-BE49-F238E27FC236}">
                  <a16:creationId xmlns:a16="http://schemas.microsoft.com/office/drawing/2014/main" id="{B1EA690F-4952-92F3-7FCA-E576083754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9" y="3095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E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25" name="Text Box 19">
              <a:extLst>
                <a:ext uri="{FF2B5EF4-FFF2-40B4-BE49-F238E27FC236}">
                  <a16:creationId xmlns:a16="http://schemas.microsoft.com/office/drawing/2014/main" id="{D6E7CE8D-B142-57DF-BECA-3416BCEB8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6" y="2697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26" name="Text Box 20">
              <a:extLst>
                <a:ext uri="{FF2B5EF4-FFF2-40B4-BE49-F238E27FC236}">
                  <a16:creationId xmlns:a16="http://schemas.microsoft.com/office/drawing/2014/main" id="{E1375B89-BE42-25AC-4BAB-2D2583CB5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4" y="3082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27" name="Line 21">
              <a:extLst>
                <a:ext uri="{FF2B5EF4-FFF2-40B4-BE49-F238E27FC236}">
                  <a16:creationId xmlns:a16="http://schemas.microsoft.com/office/drawing/2014/main" id="{4F08F380-97E7-7C05-1B76-48F32B572A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5" y="3128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Oval 22">
              <a:extLst>
                <a:ext uri="{FF2B5EF4-FFF2-40B4-BE49-F238E27FC236}">
                  <a16:creationId xmlns:a16="http://schemas.microsoft.com/office/drawing/2014/main" id="{7B02C7DF-412B-D01B-25A8-9D7CACBF2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3196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9" name="Line 23">
              <a:extLst>
                <a:ext uri="{FF2B5EF4-FFF2-40B4-BE49-F238E27FC236}">
                  <a16:creationId xmlns:a16="http://schemas.microsoft.com/office/drawing/2014/main" id="{611E995F-0F4C-4A7D-0DF3-32F81282CBC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40" y="3521"/>
              <a:ext cx="5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24">
              <a:extLst>
                <a:ext uri="{FF2B5EF4-FFF2-40B4-BE49-F238E27FC236}">
                  <a16:creationId xmlns:a16="http://schemas.microsoft.com/office/drawing/2014/main" id="{D1295666-D1A0-E97B-D4BD-9ADDAAF680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1" y="3793"/>
              <a:ext cx="13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25">
              <a:extLst>
                <a:ext uri="{FF2B5EF4-FFF2-40B4-BE49-F238E27FC236}">
                  <a16:creationId xmlns:a16="http://schemas.microsoft.com/office/drawing/2014/main" id="{619A2A03-F0D1-57D4-D890-369D547C9E3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806" y="3521"/>
              <a:ext cx="5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2" name="Group 26">
              <a:extLst>
                <a:ext uri="{FF2B5EF4-FFF2-40B4-BE49-F238E27FC236}">
                  <a16:creationId xmlns:a16="http://schemas.microsoft.com/office/drawing/2014/main" id="{53B2168F-7612-B558-CBDA-FA2A3B55B532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4074" y="3401"/>
              <a:ext cx="272" cy="239"/>
              <a:chOff x="4536" y="2556"/>
              <a:chExt cx="272" cy="239"/>
            </a:xfrm>
          </p:grpSpPr>
          <p:sp>
            <p:nvSpPr>
              <p:cNvPr id="35" name="AutoShape 27">
                <a:extLst>
                  <a:ext uri="{FF2B5EF4-FFF2-40B4-BE49-F238E27FC236}">
                    <a16:creationId xmlns:a16="http://schemas.microsoft.com/office/drawing/2014/main" id="{148ABD7B-C68C-E2E2-ADE8-D08463AA3D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524" y="2568"/>
                <a:ext cx="239" cy="215"/>
              </a:xfrm>
              <a:prstGeom prst="flowChartMerg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36" name="Oval 28">
                <a:extLst>
                  <a:ext uri="{FF2B5EF4-FFF2-40B4-BE49-F238E27FC236}">
                    <a16:creationId xmlns:a16="http://schemas.microsoft.com/office/drawing/2014/main" id="{35A7509B-CD25-124E-20E4-5B3E8561B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717" y="2636"/>
                <a:ext cx="91" cy="91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3" name="Text Box 29">
              <a:extLst>
                <a:ext uri="{FF2B5EF4-FFF2-40B4-BE49-F238E27FC236}">
                  <a16:creationId xmlns:a16="http://schemas.microsoft.com/office/drawing/2014/main" id="{5055A8A8-4333-E75C-7A35-1E57BB0AAB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7" y="2704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D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34" name="Text Box 30">
              <a:extLst>
                <a:ext uri="{FF2B5EF4-FFF2-40B4-BE49-F238E27FC236}">
                  <a16:creationId xmlns:a16="http://schemas.microsoft.com/office/drawing/2014/main" id="{9F9566A4-DF3E-13B0-6D99-A04B1F09A6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1" y="3641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C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71BD4A5A-142F-9D34-DFAC-984EBA146ED2}"/>
              </a:ext>
            </a:extLst>
          </p:cNvPr>
          <p:cNvSpPr txBox="1"/>
          <p:nvPr/>
        </p:nvSpPr>
        <p:spPr>
          <a:xfrm>
            <a:off x="5777850" y="5311698"/>
            <a:ext cx="35401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+mj-ea"/>
                <a:ea typeface="+mj-ea"/>
              </a:rPr>
              <a:t>两个相同模块，状态按节奏切换</a:t>
            </a:r>
          </a:p>
        </p:txBody>
      </p:sp>
    </p:spTree>
    <p:extLst>
      <p:ext uri="{BB962C8B-B14F-4D97-AF65-F5344CB8AC3E}">
        <p14:creationId xmlns:p14="http://schemas.microsoft.com/office/powerpoint/2010/main" val="1088954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C081C6-BF3B-AE7D-72D1-96ABD9D98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示例：</a:t>
            </a:r>
            <a:r>
              <a:rPr lang="en-US" altLang="zh-CN" dirty="0"/>
              <a:t>D</a:t>
            </a:r>
            <a:r>
              <a:rPr lang="zh-CN" altLang="en-US" dirty="0"/>
              <a:t>触发器</a:t>
            </a:r>
            <a:r>
              <a:rPr kumimoji="1" lang="en-US" altLang="zh-CN" dirty="0" err="1"/>
              <a:t>波形图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0037EF-E25E-DFF6-E536-0B038C2E3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如果在</a:t>
            </a:r>
            <a:r>
              <a:rPr lang="en-US" altLang="zh-CN" dirty="0">
                <a:latin typeface="Arial" panose="020B0604020202020204" pitchFamily="34" charset="0"/>
              </a:rPr>
              <a:t>C</a:t>
            </a:r>
            <a:r>
              <a:rPr lang="zh-CN" altLang="en-US" dirty="0">
                <a:latin typeface="Arial" panose="020B0604020202020204" pitchFamily="34" charset="0"/>
              </a:rPr>
              <a:t>高电平期间</a:t>
            </a:r>
            <a:r>
              <a:rPr lang="en-US" altLang="zh-CN" dirty="0">
                <a:latin typeface="Arial" panose="020B0604020202020204" pitchFamily="34" charset="0"/>
              </a:rPr>
              <a:t>D</a:t>
            </a:r>
            <a:r>
              <a:rPr lang="zh-CN" altLang="en-US" dirty="0">
                <a:latin typeface="Arial" panose="020B0604020202020204" pitchFamily="34" charset="0"/>
              </a:rPr>
              <a:t>不变化，则两者行为相同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B1398C-D8D5-4B1F-1AFC-3AF138D04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D97EF4-4B15-6B3F-6912-DA7AB8658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6</a:t>
            </a:fld>
            <a:r>
              <a:rPr lang="en-US" altLang="zh-CN" dirty="0"/>
              <a:t>/29</a:t>
            </a:r>
            <a:endParaRPr lang="en-US" dirty="0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EB024CEA-A739-CFE6-A1FA-A3D324DCD82E}"/>
              </a:ext>
            </a:extLst>
          </p:cNvPr>
          <p:cNvGrpSpPr>
            <a:grpSpLocks/>
          </p:cNvGrpSpPr>
          <p:nvPr/>
        </p:nvGrpSpPr>
        <p:grpSpPr bwMode="auto">
          <a:xfrm>
            <a:off x="1606550" y="1916113"/>
            <a:ext cx="3757613" cy="2678112"/>
            <a:chOff x="2462" y="1380"/>
            <a:chExt cx="2367" cy="561"/>
          </a:xfrm>
        </p:grpSpPr>
        <p:sp>
          <p:nvSpPr>
            <p:cNvPr id="7" name="Line 3">
              <a:extLst>
                <a:ext uri="{FF2B5EF4-FFF2-40B4-BE49-F238E27FC236}">
                  <a16:creationId xmlns:a16="http://schemas.microsoft.com/office/drawing/2014/main" id="{585B10E1-3052-88F1-2197-C455554E03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2" y="1380"/>
              <a:ext cx="0" cy="56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4">
              <a:extLst>
                <a:ext uri="{FF2B5EF4-FFF2-40B4-BE49-F238E27FC236}">
                  <a16:creationId xmlns:a16="http://schemas.microsoft.com/office/drawing/2014/main" id="{F290F0FD-BD70-D209-DED8-2B3928A44F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35" y="1380"/>
              <a:ext cx="0" cy="56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5">
              <a:extLst>
                <a:ext uri="{FF2B5EF4-FFF2-40B4-BE49-F238E27FC236}">
                  <a16:creationId xmlns:a16="http://schemas.microsoft.com/office/drawing/2014/main" id="{1F6FD63A-5CC2-CC82-ACAC-DE9452BE01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9" y="1380"/>
              <a:ext cx="0" cy="56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284B4BA7-B8BE-215A-C394-53DE00C36D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2" y="1380"/>
              <a:ext cx="0" cy="56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45923C0C-2483-0A06-D1B5-C07E8BAD27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6" y="1380"/>
              <a:ext cx="0" cy="56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56C18802-4F46-22F5-7A39-486E551308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29" y="1380"/>
              <a:ext cx="0" cy="56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" name="Line 11">
            <a:extLst>
              <a:ext uri="{FF2B5EF4-FFF2-40B4-BE49-F238E27FC236}">
                <a16:creationId xmlns:a16="http://schemas.microsoft.com/office/drawing/2014/main" id="{89EBA077-91B9-04D2-5AF6-AA4889DC0E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0313" y="2997200"/>
            <a:ext cx="2206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C2E650FC-F10B-04E2-F301-96F5D89359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54150" y="2674938"/>
            <a:ext cx="0" cy="322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D36CDC0C-BF99-4C10-915E-A9F7637BEE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9388" y="2674938"/>
            <a:ext cx="14176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72052701-91BE-9944-14C1-BF82FFE2341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7500" y="2674938"/>
            <a:ext cx="0" cy="322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72969F68-F28B-C507-8AB3-28123227B7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4325" y="2997200"/>
            <a:ext cx="1608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884FE550-135F-01E1-D3EC-B0666733AD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62463" y="2674938"/>
            <a:ext cx="0" cy="322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1AF95913-E66C-9F62-F5C8-7F7370BB62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2463" y="2674938"/>
            <a:ext cx="300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56ACCED0-B07F-0B3B-32EA-D3012A5F1B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2500" y="2674938"/>
            <a:ext cx="0" cy="322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5979FC35-B060-A8A3-CEC6-369445B91B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2500" y="2997200"/>
            <a:ext cx="6762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A0E7E437-BABF-ABC6-2868-71BC301DF5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38775" y="2674938"/>
            <a:ext cx="0" cy="322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4F567246-0F39-E698-BA11-C79E15C798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8775" y="2674938"/>
            <a:ext cx="1508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32F92E35-A9B8-6F2F-940E-1FEDB79075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9588" y="2674938"/>
            <a:ext cx="0" cy="322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C0025613-FF0E-E8E7-87CF-316B66598F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9588" y="2997200"/>
            <a:ext cx="525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" name="Group 24">
            <a:extLst>
              <a:ext uri="{FF2B5EF4-FFF2-40B4-BE49-F238E27FC236}">
                <a16:creationId xmlns:a16="http://schemas.microsoft.com/office/drawing/2014/main" id="{549C1EC4-4359-29D3-AFB5-08F137C34F07}"/>
              </a:ext>
            </a:extLst>
          </p:cNvPr>
          <p:cNvGrpSpPr>
            <a:grpSpLocks/>
          </p:cNvGrpSpPr>
          <p:nvPr/>
        </p:nvGrpSpPr>
        <p:grpSpPr bwMode="auto">
          <a:xfrm>
            <a:off x="1230313" y="1879600"/>
            <a:ext cx="4884737" cy="319088"/>
            <a:chOff x="2169" y="1672"/>
            <a:chExt cx="3077" cy="142"/>
          </a:xfrm>
        </p:grpSpPr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CEB4F832-5F8C-4242-EFF9-F04CDBC98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9" y="1814"/>
              <a:ext cx="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1158D0EF-3B3B-CEC6-4200-548693B6B7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6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226ED05D-BEAD-0541-B9DA-A69B9C7479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6" y="1672"/>
              <a:ext cx="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ED7666C7-58F4-EE38-A8C8-76BDCEA19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29">
              <a:extLst>
                <a:ext uri="{FF2B5EF4-FFF2-40B4-BE49-F238E27FC236}">
                  <a16:creationId xmlns:a16="http://schemas.microsoft.com/office/drawing/2014/main" id="{4F0748EE-4AB6-2A2C-8AF7-00F78DA212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1814"/>
              <a:ext cx="2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30">
              <a:extLst>
                <a:ext uri="{FF2B5EF4-FFF2-40B4-BE49-F238E27FC236}">
                  <a16:creationId xmlns:a16="http://schemas.microsoft.com/office/drawing/2014/main" id="{86C1D1CB-8C5A-CEE3-1E07-2C80681012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79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A793D16A-AA2D-C796-FD1A-905D8FEB43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9" y="1672"/>
              <a:ext cx="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32">
              <a:extLst>
                <a:ext uri="{FF2B5EF4-FFF2-40B4-BE49-F238E27FC236}">
                  <a16:creationId xmlns:a16="http://schemas.microsoft.com/office/drawing/2014/main" id="{2AF7B419-BD7B-C10B-149D-E81AC0BDD3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33">
              <a:extLst>
                <a:ext uri="{FF2B5EF4-FFF2-40B4-BE49-F238E27FC236}">
                  <a16:creationId xmlns:a16="http://schemas.microsoft.com/office/drawing/2014/main" id="{F04C207F-7EF5-93F1-5E7F-561C225A1B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1814"/>
              <a:ext cx="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34">
              <a:extLst>
                <a:ext uri="{FF2B5EF4-FFF2-40B4-BE49-F238E27FC236}">
                  <a16:creationId xmlns:a16="http://schemas.microsoft.com/office/drawing/2014/main" id="{3FE7009E-C356-EB05-2C36-BDF5FA37E0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3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E3F687A4-013D-E0FF-831F-DC71ED2065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3" y="1672"/>
              <a:ext cx="2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91F3AD39-1F69-7547-5B24-03D1B8CDE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9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37">
              <a:extLst>
                <a:ext uri="{FF2B5EF4-FFF2-40B4-BE49-F238E27FC236}">
                  <a16:creationId xmlns:a16="http://schemas.microsoft.com/office/drawing/2014/main" id="{89DEC1A1-91D1-FBE6-5669-DA79416BC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9" y="1814"/>
              <a:ext cx="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9659D9A2-526F-CDF3-FB45-76F46F2F12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26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02AF2BC2-9DCB-DCE4-B5BF-C6B80517E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6" y="1672"/>
              <a:ext cx="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Line 40">
              <a:extLst>
                <a:ext uri="{FF2B5EF4-FFF2-40B4-BE49-F238E27FC236}">
                  <a16:creationId xmlns:a16="http://schemas.microsoft.com/office/drawing/2014/main" id="{D73CCF01-A7F9-1C74-A9C0-A03BCB5D07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3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41">
              <a:extLst>
                <a:ext uri="{FF2B5EF4-FFF2-40B4-BE49-F238E27FC236}">
                  <a16:creationId xmlns:a16="http://schemas.microsoft.com/office/drawing/2014/main" id="{1A5A2484-0D70-9D5A-F371-BA811919C7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3" y="1814"/>
              <a:ext cx="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42">
              <a:extLst>
                <a:ext uri="{FF2B5EF4-FFF2-40B4-BE49-F238E27FC236}">
                  <a16:creationId xmlns:a16="http://schemas.microsoft.com/office/drawing/2014/main" id="{BA2903D6-A14D-697B-6A15-42B0090E01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00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43">
              <a:extLst>
                <a:ext uri="{FF2B5EF4-FFF2-40B4-BE49-F238E27FC236}">
                  <a16:creationId xmlns:a16="http://schemas.microsoft.com/office/drawing/2014/main" id="{25910099-17EC-0249-1CB9-CD7C652084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1672"/>
              <a:ext cx="2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44">
              <a:extLst>
                <a:ext uri="{FF2B5EF4-FFF2-40B4-BE49-F238E27FC236}">
                  <a16:creationId xmlns:a16="http://schemas.microsoft.com/office/drawing/2014/main" id="{0A200BD0-536F-A7E2-537F-67C01C70A2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45">
              <a:extLst>
                <a:ext uri="{FF2B5EF4-FFF2-40B4-BE49-F238E27FC236}">
                  <a16:creationId xmlns:a16="http://schemas.microsoft.com/office/drawing/2014/main" id="{5A34840E-0AEE-C590-71AF-16C6B8AF7E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" y="1814"/>
              <a:ext cx="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Line 46">
              <a:extLst>
                <a:ext uri="{FF2B5EF4-FFF2-40B4-BE49-F238E27FC236}">
                  <a16:creationId xmlns:a16="http://schemas.microsoft.com/office/drawing/2014/main" id="{CAA7B19B-C60A-B30D-C75C-D4A8BA2634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3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Line 47">
              <a:extLst>
                <a:ext uri="{FF2B5EF4-FFF2-40B4-BE49-F238E27FC236}">
                  <a16:creationId xmlns:a16="http://schemas.microsoft.com/office/drawing/2014/main" id="{DA072E3C-925E-B2F8-2D26-174CF6626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3" y="1672"/>
              <a:ext cx="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Line 48">
              <a:extLst>
                <a:ext uri="{FF2B5EF4-FFF2-40B4-BE49-F238E27FC236}">
                  <a16:creationId xmlns:a16="http://schemas.microsoft.com/office/drawing/2014/main" id="{E8046294-9E1B-DFC8-6069-F286AA9515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0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Line 49">
              <a:extLst>
                <a:ext uri="{FF2B5EF4-FFF2-40B4-BE49-F238E27FC236}">
                  <a16:creationId xmlns:a16="http://schemas.microsoft.com/office/drawing/2014/main" id="{B871E63E-0369-9957-BE27-96EB99D210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0" y="1814"/>
              <a:ext cx="2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2" name="Group 50">
            <a:extLst>
              <a:ext uri="{FF2B5EF4-FFF2-40B4-BE49-F238E27FC236}">
                <a16:creationId xmlns:a16="http://schemas.microsoft.com/office/drawing/2014/main" id="{42FA963C-D470-34EA-43AC-47C6FFBF2684}"/>
              </a:ext>
            </a:extLst>
          </p:cNvPr>
          <p:cNvGrpSpPr>
            <a:grpSpLocks/>
          </p:cNvGrpSpPr>
          <p:nvPr/>
        </p:nvGrpSpPr>
        <p:grpSpPr bwMode="auto">
          <a:xfrm>
            <a:off x="1155700" y="3503613"/>
            <a:ext cx="4884738" cy="319087"/>
            <a:chOff x="2169" y="2768"/>
            <a:chExt cx="3077" cy="142"/>
          </a:xfrm>
        </p:grpSpPr>
        <p:sp>
          <p:nvSpPr>
            <p:cNvPr id="53" name="Line 51">
              <a:extLst>
                <a:ext uri="{FF2B5EF4-FFF2-40B4-BE49-F238E27FC236}">
                  <a16:creationId xmlns:a16="http://schemas.microsoft.com/office/drawing/2014/main" id="{DB6C8568-19E4-0FDE-F959-2BCA21FBF0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9" y="2910"/>
              <a:ext cx="2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52">
              <a:extLst>
                <a:ext uri="{FF2B5EF4-FFF2-40B4-BE49-F238E27FC236}">
                  <a16:creationId xmlns:a16="http://schemas.microsoft.com/office/drawing/2014/main" id="{965D4C2B-C417-B6F0-ACD5-2EAE404C6D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53" y="2768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Line 53">
              <a:extLst>
                <a:ext uri="{FF2B5EF4-FFF2-40B4-BE49-F238E27FC236}">
                  <a16:creationId xmlns:a16="http://schemas.microsoft.com/office/drawing/2014/main" id="{2C95C075-27F0-B7B6-D9E4-C6CEB77D92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3" y="2768"/>
              <a:ext cx="94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Line 54">
              <a:extLst>
                <a:ext uri="{FF2B5EF4-FFF2-40B4-BE49-F238E27FC236}">
                  <a16:creationId xmlns:a16="http://schemas.microsoft.com/office/drawing/2014/main" id="{251785A0-0614-5D26-B0DB-60CAC132B3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0" y="2768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Line 55">
              <a:extLst>
                <a:ext uri="{FF2B5EF4-FFF2-40B4-BE49-F238E27FC236}">
                  <a16:creationId xmlns:a16="http://schemas.microsoft.com/office/drawing/2014/main" id="{E717DD8D-FDAF-96F3-B8D1-88D0FA3C9C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0" y="2910"/>
              <a:ext cx="94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Line 56">
              <a:extLst>
                <a:ext uri="{FF2B5EF4-FFF2-40B4-BE49-F238E27FC236}">
                  <a16:creationId xmlns:a16="http://schemas.microsoft.com/office/drawing/2014/main" id="{FA4F4BC9-8C8F-EB6B-401C-9A88F1F88E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7" y="2768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Line 57">
              <a:extLst>
                <a:ext uri="{FF2B5EF4-FFF2-40B4-BE49-F238E27FC236}">
                  <a16:creationId xmlns:a16="http://schemas.microsoft.com/office/drawing/2014/main" id="{74E1CFB6-5E7C-B7D8-F9B0-24EA39FA47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7" y="2768"/>
              <a:ext cx="47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Line 58">
              <a:extLst>
                <a:ext uri="{FF2B5EF4-FFF2-40B4-BE49-F238E27FC236}">
                  <a16:creationId xmlns:a16="http://schemas.microsoft.com/office/drawing/2014/main" id="{06139927-D1E4-17E9-CF8C-9654FB2DB2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0" y="2768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Line 59">
              <a:extLst>
                <a:ext uri="{FF2B5EF4-FFF2-40B4-BE49-F238E27FC236}">
                  <a16:creationId xmlns:a16="http://schemas.microsoft.com/office/drawing/2014/main" id="{ECE44BC2-1C99-737F-29A2-E00C74E140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0" y="2910"/>
              <a:ext cx="4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2" name="Group 60">
            <a:extLst>
              <a:ext uri="{FF2B5EF4-FFF2-40B4-BE49-F238E27FC236}">
                <a16:creationId xmlns:a16="http://schemas.microsoft.com/office/drawing/2014/main" id="{3E223457-0EFE-DACE-2F7E-A168176E7BB0}"/>
              </a:ext>
            </a:extLst>
          </p:cNvPr>
          <p:cNvGrpSpPr>
            <a:grpSpLocks/>
          </p:cNvGrpSpPr>
          <p:nvPr/>
        </p:nvGrpSpPr>
        <p:grpSpPr bwMode="auto">
          <a:xfrm>
            <a:off x="1152525" y="4292600"/>
            <a:ext cx="4960938" cy="319088"/>
            <a:chOff x="2169" y="3242"/>
            <a:chExt cx="3125" cy="142"/>
          </a:xfrm>
        </p:grpSpPr>
        <p:sp>
          <p:nvSpPr>
            <p:cNvPr id="63" name="Line 61">
              <a:extLst>
                <a:ext uri="{FF2B5EF4-FFF2-40B4-BE49-F238E27FC236}">
                  <a16:creationId xmlns:a16="http://schemas.microsoft.com/office/drawing/2014/main" id="{55C67869-68C9-F1C8-1AA9-8B791FF146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9" y="3384"/>
              <a:ext cx="2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62">
              <a:extLst>
                <a:ext uri="{FF2B5EF4-FFF2-40B4-BE49-F238E27FC236}">
                  <a16:creationId xmlns:a16="http://schemas.microsoft.com/office/drawing/2014/main" id="{88FFACAF-BA64-5796-30F4-A296AD56A4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53" y="324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Line 63">
              <a:extLst>
                <a:ext uri="{FF2B5EF4-FFF2-40B4-BE49-F238E27FC236}">
                  <a16:creationId xmlns:a16="http://schemas.microsoft.com/office/drawing/2014/main" id="{91C8E33B-273C-9676-F4FC-8D3A625193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3" y="3242"/>
              <a:ext cx="94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64">
              <a:extLst>
                <a:ext uri="{FF2B5EF4-FFF2-40B4-BE49-F238E27FC236}">
                  <a16:creationId xmlns:a16="http://schemas.microsoft.com/office/drawing/2014/main" id="{4AE47409-25BC-08FC-2235-C5BEDCE782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0" y="324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65">
              <a:extLst>
                <a:ext uri="{FF2B5EF4-FFF2-40B4-BE49-F238E27FC236}">
                  <a16:creationId xmlns:a16="http://schemas.microsoft.com/office/drawing/2014/main" id="{8DD03B52-48FA-4FB0-D9D7-04720445F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0" y="3384"/>
              <a:ext cx="94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66">
              <a:extLst>
                <a:ext uri="{FF2B5EF4-FFF2-40B4-BE49-F238E27FC236}">
                  <a16:creationId xmlns:a16="http://schemas.microsoft.com/office/drawing/2014/main" id="{C26F0C2A-B32E-C1F3-AB3B-F408CB98EB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7" y="324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67">
              <a:extLst>
                <a:ext uri="{FF2B5EF4-FFF2-40B4-BE49-F238E27FC236}">
                  <a16:creationId xmlns:a16="http://schemas.microsoft.com/office/drawing/2014/main" id="{054E40FE-5E76-BC7F-6CD6-9A9F7940C6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7" y="3242"/>
              <a:ext cx="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Line 68">
              <a:extLst>
                <a:ext uri="{FF2B5EF4-FFF2-40B4-BE49-F238E27FC236}">
                  <a16:creationId xmlns:a16="http://schemas.microsoft.com/office/drawing/2014/main" id="{0CCA5514-8841-CDBB-0F29-1499B9DA1F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2" y="324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Line 69">
              <a:extLst>
                <a:ext uri="{FF2B5EF4-FFF2-40B4-BE49-F238E27FC236}">
                  <a16:creationId xmlns:a16="http://schemas.microsoft.com/office/drawing/2014/main" id="{F564E57A-E5F8-B4D8-7ABA-2DF1C90635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2" y="3384"/>
              <a:ext cx="4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Line 70">
              <a:extLst>
                <a:ext uri="{FF2B5EF4-FFF2-40B4-BE49-F238E27FC236}">
                  <a16:creationId xmlns:a16="http://schemas.microsoft.com/office/drawing/2014/main" id="{2005796B-766E-6703-57A4-5168B82E9D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8" y="324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Line 71">
              <a:extLst>
                <a:ext uri="{FF2B5EF4-FFF2-40B4-BE49-F238E27FC236}">
                  <a16:creationId xmlns:a16="http://schemas.microsoft.com/office/drawing/2014/main" id="{D80B55E8-D9F9-AD04-75AC-F9248BB76D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8" y="3242"/>
              <a:ext cx="9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Line 72">
              <a:extLst>
                <a:ext uri="{FF2B5EF4-FFF2-40B4-BE49-F238E27FC236}">
                  <a16:creationId xmlns:a16="http://schemas.microsoft.com/office/drawing/2014/main" id="{4AD85C2B-44BA-2620-2E63-E9E7DC91D9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2" y="324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Line 73">
              <a:extLst>
                <a:ext uri="{FF2B5EF4-FFF2-40B4-BE49-F238E27FC236}">
                  <a16:creationId xmlns:a16="http://schemas.microsoft.com/office/drawing/2014/main" id="{588CE592-3D3A-D1D3-ADAD-F4B03DE8D1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2" y="3384"/>
              <a:ext cx="3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6" name="Group 74">
            <a:extLst>
              <a:ext uri="{FF2B5EF4-FFF2-40B4-BE49-F238E27FC236}">
                <a16:creationId xmlns:a16="http://schemas.microsoft.com/office/drawing/2014/main" id="{94031EBB-9097-3B39-CB06-1A16F1406805}"/>
              </a:ext>
            </a:extLst>
          </p:cNvPr>
          <p:cNvGrpSpPr>
            <a:grpSpLocks/>
          </p:cNvGrpSpPr>
          <p:nvPr/>
        </p:nvGrpSpPr>
        <p:grpSpPr bwMode="auto">
          <a:xfrm>
            <a:off x="6438900" y="3616325"/>
            <a:ext cx="2357438" cy="1152525"/>
            <a:chOff x="253" y="1185"/>
            <a:chExt cx="1485" cy="726"/>
          </a:xfrm>
        </p:grpSpPr>
        <p:sp>
          <p:nvSpPr>
            <p:cNvPr id="77" name="Line 75">
              <a:extLst>
                <a:ext uri="{FF2B5EF4-FFF2-40B4-BE49-F238E27FC236}">
                  <a16:creationId xmlns:a16="http://schemas.microsoft.com/office/drawing/2014/main" id="{08B08410-4D0E-D9D6-FDC3-A86E1B39B7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2" y="1684"/>
              <a:ext cx="19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Rectangle 76">
              <a:extLst>
                <a:ext uri="{FF2B5EF4-FFF2-40B4-BE49-F238E27FC236}">
                  <a16:creationId xmlns:a16="http://schemas.microsoft.com/office/drawing/2014/main" id="{1AD1DCD6-578D-255D-222C-D92C62893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185"/>
              <a:ext cx="528" cy="7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79" name="Text Box 77">
              <a:extLst>
                <a:ext uri="{FF2B5EF4-FFF2-40B4-BE49-F238E27FC236}">
                  <a16:creationId xmlns:a16="http://schemas.microsoft.com/office/drawing/2014/main" id="{CE861287-E0B0-5B23-96F3-CA0DAE1132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" y="1291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D</a:t>
              </a:r>
            </a:p>
          </p:txBody>
        </p:sp>
        <p:sp>
          <p:nvSpPr>
            <p:cNvPr id="80" name="Oval 78">
              <a:extLst>
                <a:ext uri="{FF2B5EF4-FFF2-40B4-BE49-F238E27FC236}">
                  <a16:creationId xmlns:a16="http://schemas.microsoft.com/office/drawing/2014/main" id="{22B088E1-68E7-060F-98B8-9A22B93AA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4" y="1647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81" name="Line 79">
              <a:extLst>
                <a:ext uri="{FF2B5EF4-FFF2-40B4-BE49-F238E27FC236}">
                  <a16:creationId xmlns:a16="http://schemas.microsoft.com/office/drawing/2014/main" id="{44A2D26E-2CA0-1E57-E201-943B3B1AAB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" y="1412"/>
              <a:ext cx="1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80">
              <a:extLst>
                <a:ext uri="{FF2B5EF4-FFF2-40B4-BE49-F238E27FC236}">
                  <a16:creationId xmlns:a16="http://schemas.microsoft.com/office/drawing/2014/main" id="{33B06BA0-6FF1-E043-8256-F8F1E22C5F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" y="1682"/>
              <a:ext cx="1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81">
              <a:extLst>
                <a:ext uri="{FF2B5EF4-FFF2-40B4-BE49-F238E27FC236}">
                  <a16:creationId xmlns:a16="http://schemas.microsoft.com/office/drawing/2014/main" id="{21306536-281C-E461-9608-7342667C4B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2" y="1412"/>
              <a:ext cx="19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Text Box 82">
              <a:extLst>
                <a:ext uri="{FF2B5EF4-FFF2-40B4-BE49-F238E27FC236}">
                  <a16:creationId xmlns:a16="http://schemas.microsoft.com/office/drawing/2014/main" id="{58F9B305-587A-578F-5213-A0E1F6F4BF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0" y="1563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E</a:t>
              </a:r>
            </a:p>
          </p:txBody>
        </p:sp>
        <p:sp>
          <p:nvSpPr>
            <p:cNvPr id="85" name="Text Box 83">
              <a:extLst>
                <a:ext uri="{FF2B5EF4-FFF2-40B4-BE49-F238E27FC236}">
                  <a16:creationId xmlns:a16="http://schemas.microsoft.com/office/drawing/2014/main" id="{18E51EDB-F9E8-1251-3448-22E473C3B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" y="1563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C</a:t>
              </a:r>
            </a:p>
          </p:txBody>
        </p:sp>
        <p:sp>
          <p:nvSpPr>
            <p:cNvPr id="86" name="Text Box 84">
              <a:extLst>
                <a:ext uri="{FF2B5EF4-FFF2-40B4-BE49-F238E27FC236}">
                  <a16:creationId xmlns:a16="http://schemas.microsoft.com/office/drawing/2014/main" id="{7466B351-01F2-EB6A-6657-ADE06AA03A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" y="1291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D</a:t>
              </a:r>
            </a:p>
          </p:txBody>
        </p:sp>
        <p:sp>
          <p:nvSpPr>
            <p:cNvPr id="87" name="Text Box 85">
              <a:extLst>
                <a:ext uri="{FF2B5EF4-FFF2-40B4-BE49-F238E27FC236}">
                  <a16:creationId xmlns:a16="http://schemas.microsoft.com/office/drawing/2014/main" id="{166401AA-BC1B-70ED-E558-9E65A26646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9" y="1268"/>
              <a:ext cx="3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25000">
                  <a:ea typeface="楷体_GB2312" pitchFamily="49" charset="-122"/>
                </a:rPr>
                <a:t>L</a:t>
              </a:r>
            </a:p>
          </p:txBody>
        </p:sp>
      </p:grpSp>
      <p:grpSp>
        <p:nvGrpSpPr>
          <p:cNvPr id="88" name="Group 86">
            <a:extLst>
              <a:ext uri="{FF2B5EF4-FFF2-40B4-BE49-F238E27FC236}">
                <a16:creationId xmlns:a16="http://schemas.microsoft.com/office/drawing/2014/main" id="{60AB5BEB-2FA6-8908-897F-D342FFF94BB9}"/>
              </a:ext>
            </a:extLst>
          </p:cNvPr>
          <p:cNvGrpSpPr>
            <a:grpSpLocks/>
          </p:cNvGrpSpPr>
          <p:nvPr/>
        </p:nvGrpSpPr>
        <p:grpSpPr bwMode="auto">
          <a:xfrm>
            <a:off x="6442075" y="1912938"/>
            <a:ext cx="2349500" cy="1152525"/>
            <a:chOff x="255" y="2228"/>
            <a:chExt cx="1480" cy="726"/>
          </a:xfrm>
        </p:grpSpPr>
        <p:sp>
          <p:nvSpPr>
            <p:cNvPr id="89" name="Rectangle 87">
              <a:extLst>
                <a:ext uri="{FF2B5EF4-FFF2-40B4-BE49-F238E27FC236}">
                  <a16:creationId xmlns:a16="http://schemas.microsoft.com/office/drawing/2014/main" id="{B65CE1E3-7764-1E44-6284-499DCAC68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" y="2228"/>
              <a:ext cx="528" cy="7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90" name="Line 88">
              <a:extLst>
                <a:ext uri="{FF2B5EF4-FFF2-40B4-BE49-F238E27FC236}">
                  <a16:creationId xmlns:a16="http://schemas.microsoft.com/office/drawing/2014/main" id="{3C05E32C-F04E-8268-A1F8-B9DFCCA99A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" y="2455"/>
              <a:ext cx="1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89">
              <a:extLst>
                <a:ext uri="{FF2B5EF4-FFF2-40B4-BE49-F238E27FC236}">
                  <a16:creationId xmlns:a16="http://schemas.microsoft.com/office/drawing/2014/main" id="{78F1AE08-0CBB-35D7-57E4-C033C5259C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" y="2725"/>
              <a:ext cx="1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Text Box 90">
              <a:extLst>
                <a:ext uri="{FF2B5EF4-FFF2-40B4-BE49-F238E27FC236}">
                  <a16:creationId xmlns:a16="http://schemas.microsoft.com/office/drawing/2014/main" id="{BC98B1BF-2BFE-3110-0EA9-A73644D0D4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" y="2334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D</a:t>
              </a:r>
            </a:p>
          </p:txBody>
        </p:sp>
        <p:sp>
          <p:nvSpPr>
            <p:cNvPr id="93" name="AutoShape 91">
              <a:extLst>
                <a:ext uri="{FF2B5EF4-FFF2-40B4-BE49-F238E27FC236}">
                  <a16:creationId xmlns:a16="http://schemas.microsoft.com/office/drawing/2014/main" id="{90E3FF6B-A083-52F2-3A17-0DB8C292F6F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90" y="2672"/>
              <a:ext cx="136" cy="110"/>
            </a:xfrm>
            <a:prstGeom prst="flowChartExtra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94" name="Line 92">
              <a:extLst>
                <a:ext uri="{FF2B5EF4-FFF2-40B4-BE49-F238E27FC236}">
                  <a16:creationId xmlns:a16="http://schemas.microsoft.com/office/drawing/2014/main" id="{8709C085-C1EA-4D8C-52DE-4652375B34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8" y="2455"/>
              <a:ext cx="19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Line 93">
              <a:extLst>
                <a:ext uri="{FF2B5EF4-FFF2-40B4-BE49-F238E27FC236}">
                  <a16:creationId xmlns:a16="http://schemas.microsoft.com/office/drawing/2014/main" id="{A9A8803A-B921-6791-C0C0-AD3140689C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8" y="2727"/>
              <a:ext cx="19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Oval 94">
              <a:extLst>
                <a:ext uri="{FF2B5EF4-FFF2-40B4-BE49-F238E27FC236}">
                  <a16:creationId xmlns:a16="http://schemas.microsoft.com/office/drawing/2014/main" id="{01133281-379B-C1FC-1CA0-0A78775A4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0" y="2690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97" name="Text Box 95">
              <a:extLst>
                <a:ext uri="{FF2B5EF4-FFF2-40B4-BE49-F238E27FC236}">
                  <a16:creationId xmlns:a16="http://schemas.microsoft.com/office/drawing/2014/main" id="{700AF913-3412-7350-BA3C-D23008E003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" y="2613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C</a:t>
              </a:r>
            </a:p>
          </p:txBody>
        </p:sp>
        <p:sp>
          <p:nvSpPr>
            <p:cNvPr id="98" name="Text Box 96">
              <a:extLst>
                <a:ext uri="{FF2B5EF4-FFF2-40B4-BE49-F238E27FC236}">
                  <a16:creationId xmlns:a16="http://schemas.microsoft.com/office/drawing/2014/main" id="{363576B7-B088-054F-794C-DF769FCDCC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" y="2341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D</a:t>
              </a:r>
            </a:p>
          </p:txBody>
        </p:sp>
        <p:sp>
          <p:nvSpPr>
            <p:cNvPr id="99" name="Text Box 97">
              <a:extLst>
                <a:ext uri="{FF2B5EF4-FFF2-40B4-BE49-F238E27FC236}">
                  <a16:creationId xmlns:a16="http://schemas.microsoft.com/office/drawing/2014/main" id="{C1645CF9-415F-647B-358B-8EBB4E8FB2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1" y="2318"/>
              <a:ext cx="3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25000">
                  <a:ea typeface="楷体_GB2312" pitchFamily="49" charset="-122"/>
                </a:rPr>
                <a:t>F</a:t>
              </a:r>
            </a:p>
          </p:txBody>
        </p:sp>
      </p:grpSp>
      <p:sp>
        <p:nvSpPr>
          <p:cNvPr id="100" name="Text Box 98">
            <a:extLst>
              <a:ext uri="{FF2B5EF4-FFF2-40B4-BE49-F238E27FC236}">
                <a16:creationId xmlns:a16="http://schemas.microsoft.com/office/drawing/2014/main" id="{B86A07C7-54B5-C29B-4D96-5273F2F19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5" y="180816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C</a:t>
            </a:r>
          </a:p>
        </p:txBody>
      </p:sp>
      <p:sp>
        <p:nvSpPr>
          <p:cNvPr id="101" name="Text Box 99">
            <a:extLst>
              <a:ext uri="{FF2B5EF4-FFF2-40B4-BE49-F238E27FC236}">
                <a16:creationId xmlns:a16="http://schemas.microsoft.com/office/drawing/2014/main" id="{8A6595FD-9C10-CC9B-9074-69EE021BD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260032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D</a:t>
            </a:r>
          </a:p>
        </p:txBody>
      </p:sp>
      <p:sp>
        <p:nvSpPr>
          <p:cNvPr id="103" name="Text Box 101">
            <a:extLst>
              <a:ext uri="{FF2B5EF4-FFF2-40B4-BE49-F238E27FC236}">
                <a16:creationId xmlns:a16="http://schemas.microsoft.com/office/drawing/2014/main" id="{DFC9D85D-FBDA-4329-6FF1-62EFF255E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038" y="4219575"/>
            <a:ext cx="490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25000">
                <a:ea typeface="楷体_GB2312" pitchFamily="49" charset="-122"/>
              </a:rPr>
              <a:t>L</a:t>
            </a:r>
          </a:p>
        </p:txBody>
      </p:sp>
      <p:sp>
        <p:nvSpPr>
          <p:cNvPr id="104" name="Text Box 102">
            <a:extLst>
              <a:ext uri="{FF2B5EF4-FFF2-40B4-BE49-F238E27FC236}">
                <a16:creationId xmlns:a16="http://schemas.microsoft.com/office/drawing/2014/main" id="{286AD28E-999B-F906-39D2-5095EBD63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75" y="3392488"/>
            <a:ext cx="48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25000">
                <a:ea typeface="楷体_GB2312" pitchFamily="49" charset="-122"/>
              </a:rPr>
              <a:t>F</a:t>
            </a:r>
          </a:p>
        </p:txBody>
      </p:sp>
      <p:sp>
        <p:nvSpPr>
          <p:cNvPr id="105" name="Text Box 103">
            <a:extLst>
              <a:ext uri="{FF2B5EF4-FFF2-40B4-BE49-F238E27FC236}">
                <a16:creationId xmlns:a16="http://schemas.microsoft.com/office/drawing/2014/main" id="{0FB85DBB-C695-3A67-966B-39C6BC966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2787" y="5617566"/>
            <a:ext cx="6029315" cy="5397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ct val="0"/>
              </a:spcAft>
              <a:buNone/>
            </a:pP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如果改成低电平和下降沿有效的器件，波形如何？</a:t>
            </a:r>
          </a:p>
        </p:txBody>
      </p:sp>
    </p:spTree>
    <p:extLst>
      <p:ext uri="{BB962C8B-B14F-4D97-AF65-F5344CB8AC3E}">
        <p14:creationId xmlns:p14="http://schemas.microsoft.com/office/powerpoint/2010/main" val="2887554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7BF551-722A-DB88-B660-B35A1E17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主从结构</a:t>
            </a:r>
            <a:r>
              <a:rPr kumimoji="1" lang="en-US" altLang="zh-CN" dirty="0"/>
              <a:t>SR</a:t>
            </a:r>
            <a:r>
              <a:rPr kumimoji="1" lang="zh-CN" altLang="en-US" dirty="0"/>
              <a:t>触发器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DCF833-9497-434A-AAAF-99FD2C3AE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主锁存器按输入信号</a:t>
            </a:r>
            <a:r>
              <a:rPr lang="en-US" altLang="zh-CN" dirty="0"/>
              <a:t>S</a:t>
            </a:r>
            <a:r>
              <a:rPr lang="zh-CN" altLang="en-US" dirty="0"/>
              <a:t>、</a:t>
            </a:r>
            <a:r>
              <a:rPr lang="en-US" altLang="zh-CN" dirty="0"/>
              <a:t>R</a:t>
            </a:r>
            <a:r>
              <a:rPr lang="zh-CN" altLang="en-US" dirty="0"/>
              <a:t>更新时，从锁存器保持</a:t>
            </a:r>
          </a:p>
          <a:p>
            <a:r>
              <a:rPr lang="zh-CN" altLang="en-US" dirty="0"/>
              <a:t>主锁存器保持时，从锁存器按主锁存器状态更新</a:t>
            </a:r>
          </a:p>
          <a:p>
            <a:pPr lvl="1"/>
            <a:r>
              <a:rPr lang="zh-CN" altLang="en-US" dirty="0"/>
              <a:t>主锁存器可能翻转多次，但从锁存器只能翻转一次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F3E3E20-3606-989F-B3F0-880F6327B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8177E2-2736-B38E-058D-C9B64DC28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7</a:t>
            </a:fld>
            <a:r>
              <a:rPr lang="en-US" altLang="zh-CN" dirty="0"/>
              <a:t>/29</a:t>
            </a:r>
            <a:endParaRPr lang="en-US" dirty="0"/>
          </a:p>
        </p:txBody>
      </p:sp>
      <p:sp>
        <p:nvSpPr>
          <p:cNvPr id="6" name="Line 2">
            <a:extLst>
              <a:ext uri="{FF2B5EF4-FFF2-40B4-BE49-F238E27FC236}">
                <a16:creationId xmlns:a16="http://schemas.microsoft.com/office/drawing/2014/main" id="{FBD75D30-83EB-E0A0-A60B-4C383C1DDD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81137" y="3474837"/>
            <a:ext cx="8905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B32AC14-F4CC-F0D0-37DE-6E9581F37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75" y="3225599"/>
            <a:ext cx="914400" cy="133191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endParaRPr kumimoji="1" lang="zh-CN" altLang="en-US">
              <a:ea typeface="楷体_GB2312" pitchFamily="49" charset="-122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EC5DEAB2-1C66-7D6F-2788-6A5143049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400" y="3258937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S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0BE63915-C99C-4328-0531-2E9BD016B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9412" y="3641524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C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DAE17F66-14CB-55BA-0ACB-F8D758E92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8462" y="4035224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R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7637B85-B33B-9BAB-51DF-EB8B68C64E9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1275" y="3478012"/>
            <a:ext cx="428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DC544798-4A8C-F4A5-4D5F-5B2AA56A6C1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7475" y="4282874"/>
            <a:ext cx="352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8600BF9A-FDA6-BA4C-58DC-1904ED423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9950" y="3258937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</a:p>
        </p:txBody>
      </p:sp>
      <p:sp>
        <p:nvSpPr>
          <p:cNvPr id="14" name="Oval 12">
            <a:extLst>
              <a:ext uri="{FF2B5EF4-FFF2-40B4-BE49-F238E27FC236}">
                <a16:creationId xmlns:a16="http://schemas.microsoft.com/office/drawing/2014/main" id="{11554F58-1A5F-E4E6-6C5B-62805F841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1275" y="4241599"/>
            <a:ext cx="76200" cy="76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7BE2FD5A-1700-D195-62AF-6A45A71AC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6512" y="4230487"/>
            <a:ext cx="130175" cy="1301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16" name="Group 14">
            <a:extLst>
              <a:ext uri="{FF2B5EF4-FFF2-40B4-BE49-F238E27FC236}">
                <a16:creationId xmlns:a16="http://schemas.microsoft.com/office/drawing/2014/main" id="{9E35CDB0-636F-0EDF-BAEF-F0BB2D387A8C}"/>
              </a:ext>
            </a:extLst>
          </p:cNvPr>
          <p:cNvGrpSpPr>
            <a:grpSpLocks/>
          </p:cNvGrpSpPr>
          <p:nvPr/>
        </p:nvGrpSpPr>
        <p:grpSpPr bwMode="auto">
          <a:xfrm>
            <a:off x="4699000" y="4017762"/>
            <a:ext cx="420687" cy="457200"/>
            <a:chOff x="1872" y="2955"/>
            <a:chExt cx="265" cy="288"/>
          </a:xfrm>
        </p:grpSpPr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2833DD1B-43FC-9213-8684-115AFBDFA9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955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FD1DC517-6980-F3AF-1F3D-70476F2EA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3" y="300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" name="Rectangle 17">
            <a:extLst>
              <a:ext uri="{FF2B5EF4-FFF2-40B4-BE49-F238E27FC236}">
                <a16:creationId xmlns:a16="http://schemas.microsoft.com/office/drawing/2014/main" id="{71F02B03-BBCE-9F45-446B-CE798AF67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1725" y="3225599"/>
            <a:ext cx="914400" cy="133191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endParaRPr kumimoji="1" lang="zh-CN" altLang="en-US">
              <a:ea typeface="楷体_GB2312" pitchFamily="49" charset="-122"/>
            </a:endParaRPr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D6DA09B9-9813-8B0B-8940-9E352A2C5F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14525" y="3890762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9C17709E-DB3E-CC4F-46C3-8184E0AA58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81137" y="4284462"/>
            <a:ext cx="8905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A4C65DB4-F6B5-052A-8D7A-4BF1B213A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250" y="3273224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S</a:t>
            </a:r>
          </a:p>
        </p:txBody>
      </p:sp>
      <p:sp>
        <p:nvSpPr>
          <p:cNvPr id="23" name="Text Box 21">
            <a:extLst>
              <a:ext uri="{FF2B5EF4-FFF2-40B4-BE49-F238E27FC236}">
                <a16:creationId xmlns:a16="http://schemas.microsoft.com/office/drawing/2014/main" id="{89EF6460-675E-674E-B470-364F4D032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4262" y="3655812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C</a:t>
            </a:r>
          </a:p>
        </p:txBody>
      </p:sp>
      <p:sp>
        <p:nvSpPr>
          <p:cNvPr id="24" name="Text Box 22">
            <a:extLst>
              <a:ext uri="{FF2B5EF4-FFF2-40B4-BE49-F238E27FC236}">
                <a16:creationId xmlns:a16="http://schemas.microsoft.com/office/drawing/2014/main" id="{8A43A639-469A-988B-3F84-5A2D79DC9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3312" y="4049512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R</a:t>
            </a:r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60AE0180-7848-3A71-5D3B-ED5FE70A56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6125" y="3474837"/>
            <a:ext cx="9318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AB4FCE98-EC52-6417-89EA-38A5CF6667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2325" y="4289224"/>
            <a:ext cx="8556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Box 25">
            <a:extLst>
              <a:ext uri="{FF2B5EF4-FFF2-40B4-BE49-F238E27FC236}">
                <a16:creationId xmlns:a16="http://schemas.microsoft.com/office/drawing/2014/main" id="{53D7A403-564D-6F07-035F-92895A1F0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3273224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</a:p>
        </p:txBody>
      </p:sp>
      <p:sp>
        <p:nvSpPr>
          <p:cNvPr id="28" name="Oval 26">
            <a:extLst>
              <a:ext uri="{FF2B5EF4-FFF2-40B4-BE49-F238E27FC236}">
                <a16:creationId xmlns:a16="http://schemas.microsoft.com/office/drawing/2014/main" id="{416018CB-3327-344F-D4C2-645334931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125" y="4241599"/>
            <a:ext cx="76200" cy="76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9" name="Oval 27">
            <a:extLst>
              <a:ext uri="{FF2B5EF4-FFF2-40B4-BE49-F238E27FC236}">
                <a16:creationId xmlns:a16="http://schemas.microsoft.com/office/drawing/2014/main" id="{33D7F838-110B-BEED-3D16-C3D5F9FF2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1362" y="4217787"/>
            <a:ext cx="130175" cy="1301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30" name="Group 28">
            <a:extLst>
              <a:ext uri="{FF2B5EF4-FFF2-40B4-BE49-F238E27FC236}">
                <a16:creationId xmlns:a16="http://schemas.microsoft.com/office/drawing/2014/main" id="{F8604D00-05CC-1627-C3D9-61F38F9CC5FF}"/>
              </a:ext>
            </a:extLst>
          </p:cNvPr>
          <p:cNvGrpSpPr>
            <a:grpSpLocks/>
          </p:cNvGrpSpPr>
          <p:nvPr/>
        </p:nvGrpSpPr>
        <p:grpSpPr bwMode="auto">
          <a:xfrm>
            <a:off x="2863850" y="4032049"/>
            <a:ext cx="420687" cy="457200"/>
            <a:chOff x="1872" y="2955"/>
            <a:chExt cx="265" cy="288"/>
          </a:xfrm>
        </p:grpSpPr>
        <p:sp>
          <p:nvSpPr>
            <p:cNvPr id="31" name="Text Box 29">
              <a:extLst>
                <a:ext uri="{FF2B5EF4-FFF2-40B4-BE49-F238E27FC236}">
                  <a16:creationId xmlns:a16="http://schemas.microsoft.com/office/drawing/2014/main" id="{D8C3BA9F-28B2-7C42-805A-2893BF3BCD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955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32" name="Line 30">
              <a:extLst>
                <a:ext uri="{FF2B5EF4-FFF2-40B4-BE49-F238E27FC236}">
                  <a16:creationId xmlns:a16="http://schemas.microsoft.com/office/drawing/2014/main" id="{811D6618-BEAE-83F9-133E-4C1D7C70FF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3" y="300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" name="Line 31">
            <a:extLst>
              <a:ext uri="{FF2B5EF4-FFF2-40B4-BE49-F238E27FC236}">
                <a16:creationId xmlns:a16="http://schemas.microsoft.com/office/drawing/2014/main" id="{D1947F55-E0BC-6CDA-C95B-FC81E50025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1137" y="5097262"/>
            <a:ext cx="22685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4" name="Group 32">
            <a:extLst>
              <a:ext uri="{FF2B5EF4-FFF2-40B4-BE49-F238E27FC236}">
                <a16:creationId xmlns:a16="http://schemas.microsoft.com/office/drawing/2014/main" id="{8D23B3A3-27C2-69CE-DC08-15D9FE3A2554}"/>
              </a:ext>
            </a:extLst>
          </p:cNvPr>
          <p:cNvGrpSpPr>
            <a:grpSpLocks/>
          </p:cNvGrpSpPr>
          <p:nvPr/>
        </p:nvGrpSpPr>
        <p:grpSpPr bwMode="auto">
          <a:xfrm>
            <a:off x="2670175" y="4825799"/>
            <a:ext cx="539750" cy="523875"/>
            <a:chOff x="1565" y="3123"/>
            <a:chExt cx="340" cy="330"/>
          </a:xfrm>
        </p:grpSpPr>
        <p:sp>
          <p:nvSpPr>
            <p:cNvPr id="35" name="AutoShape 33">
              <a:extLst>
                <a:ext uri="{FF2B5EF4-FFF2-40B4-BE49-F238E27FC236}">
                  <a16:creationId xmlns:a16="http://schemas.microsoft.com/office/drawing/2014/main" id="{77203ED1-470F-F381-B586-E3876627C81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8" y="3150"/>
              <a:ext cx="330" cy="275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6" name="Oval 34">
              <a:extLst>
                <a:ext uri="{FF2B5EF4-FFF2-40B4-BE49-F238E27FC236}">
                  <a16:creationId xmlns:a16="http://schemas.microsoft.com/office/drawing/2014/main" id="{20010A05-23F0-CADA-D919-388E0282E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4" y="3248"/>
              <a:ext cx="91" cy="9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sp>
        <p:nvSpPr>
          <p:cNvPr id="37" name="Line 35">
            <a:extLst>
              <a:ext uri="{FF2B5EF4-FFF2-40B4-BE49-F238E27FC236}">
                <a16:creationId xmlns:a16="http://schemas.microsoft.com/office/drawing/2014/main" id="{13BC48D0-5C0E-E39D-F582-00C9E2686F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49675" y="3884412"/>
            <a:ext cx="0" cy="12144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Line 36">
            <a:extLst>
              <a:ext uri="{FF2B5EF4-FFF2-40B4-BE49-F238E27FC236}">
                <a16:creationId xmlns:a16="http://schemas.microsoft.com/office/drawing/2014/main" id="{6320F630-6C05-6A1A-57C6-90384B1F8E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14525" y="3884412"/>
            <a:ext cx="0" cy="12144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Line 37">
            <a:extLst>
              <a:ext uri="{FF2B5EF4-FFF2-40B4-BE49-F238E27FC236}">
                <a16:creationId xmlns:a16="http://schemas.microsoft.com/office/drawing/2014/main" id="{0AFACA62-C251-1E99-7811-546EB1DB43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59200" y="3884412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Text Box 38">
            <a:extLst>
              <a:ext uri="{FF2B5EF4-FFF2-40B4-BE49-F238E27FC236}">
                <a16:creationId xmlns:a16="http://schemas.microsoft.com/office/drawing/2014/main" id="{4D635F41-24EE-69D6-2E4E-34A720AC5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412" y="3258937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S</a:t>
            </a:r>
          </a:p>
        </p:txBody>
      </p:sp>
      <p:sp>
        <p:nvSpPr>
          <p:cNvPr id="41" name="Text Box 39">
            <a:extLst>
              <a:ext uri="{FF2B5EF4-FFF2-40B4-BE49-F238E27FC236}">
                <a16:creationId xmlns:a16="http://schemas.microsoft.com/office/drawing/2014/main" id="{A46AD33C-B97D-2F11-A826-17C302FFD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425" y="4855962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C</a:t>
            </a:r>
          </a:p>
        </p:txBody>
      </p:sp>
      <p:sp>
        <p:nvSpPr>
          <p:cNvPr id="42" name="Text Box 40">
            <a:extLst>
              <a:ext uri="{FF2B5EF4-FFF2-40B4-BE49-F238E27FC236}">
                <a16:creationId xmlns:a16="http://schemas.microsoft.com/office/drawing/2014/main" id="{A3E1F7F1-02AD-3FF1-53DE-EA40030CB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475" y="4073324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R</a:t>
            </a:r>
          </a:p>
        </p:txBody>
      </p:sp>
      <p:sp>
        <p:nvSpPr>
          <p:cNvPr id="43" name="Text Box 41">
            <a:extLst>
              <a:ext uri="{FF2B5EF4-FFF2-40B4-BE49-F238E27FC236}">
                <a16:creationId xmlns:a16="http://schemas.microsoft.com/office/drawing/2014/main" id="{7A35FDD6-AA8D-93C0-6B28-6C5E8965E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2925" y="3258937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</a:p>
        </p:txBody>
      </p:sp>
      <p:grpSp>
        <p:nvGrpSpPr>
          <p:cNvPr id="44" name="Group 42">
            <a:extLst>
              <a:ext uri="{FF2B5EF4-FFF2-40B4-BE49-F238E27FC236}">
                <a16:creationId xmlns:a16="http://schemas.microsoft.com/office/drawing/2014/main" id="{CD064C65-4DD5-7247-3845-F27C92F22435}"/>
              </a:ext>
            </a:extLst>
          </p:cNvPr>
          <p:cNvGrpSpPr>
            <a:grpSpLocks/>
          </p:cNvGrpSpPr>
          <p:nvPr/>
        </p:nvGrpSpPr>
        <p:grpSpPr bwMode="auto">
          <a:xfrm>
            <a:off x="5641975" y="4017762"/>
            <a:ext cx="420687" cy="457200"/>
            <a:chOff x="1872" y="2955"/>
            <a:chExt cx="265" cy="288"/>
          </a:xfrm>
        </p:grpSpPr>
        <p:sp>
          <p:nvSpPr>
            <p:cNvPr id="45" name="Text Box 43">
              <a:extLst>
                <a:ext uri="{FF2B5EF4-FFF2-40B4-BE49-F238E27FC236}">
                  <a16:creationId xmlns:a16="http://schemas.microsoft.com/office/drawing/2014/main" id="{BE62F31E-0FAC-EB5F-68E0-90C554B33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955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46" name="Line 44">
              <a:extLst>
                <a:ext uri="{FF2B5EF4-FFF2-40B4-BE49-F238E27FC236}">
                  <a16:creationId xmlns:a16="http://schemas.microsoft.com/office/drawing/2014/main" id="{EB1289E3-090A-C266-6892-A245739FFD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3" y="300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" name="Text Box 45">
            <a:extLst>
              <a:ext uri="{FF2B5EF4-FFF2-40B4-BE49-F238E27FC236}">
                <a16:creationId xmlns:a16="http://schemas.microsoft.com/office/drawing/2014/main" id="{DAD15578-EB28-4E12-A20A-68FA9BFF8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9100" y="4773412"/>
            <a:ext cx="1450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逻辑符号</a:t>
            </a:r>
          </a:p>
        </p:txBody>
      </p:sp>
      <p:sp>
        <p:nvSpPr>
          <p:cNvPr id="48" name="Text Box 46">
            <a:extLst>
              <a:ext uri="{FF2B5EF4-FFF2-40B4-BE49-F238E27FC236}">
                <a16:creationId xmlns:a16="http://schemas.microsoft.com/office/drawing/2014/main" id="{6F020581-87C0-0472-DB26-0AD2475FF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4387" y="2515987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主锁存器</a:t>
            </a:r>
          </a:p>
        </p:txBody>
      </p:sp>
      <p:sp>
        <p:nvSpPr>
          <p:cNvPr id="49" name="Text Box 47">
            <a:extLst>
              <a:ext uri="{FF2B5EF4-FFF2-40B4-BE49-F238E27FC236}">
                <a16:creationId xmlns:a16="http://schemas.microsoft.com/office/drawing/2014/main" id="{88D305CD-BE2F-D259-7A67-6F64E32D4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5887" y="2515987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从锁存器</a:t>
            </a:r>
          </a:p>
        </p:txBody>
      </p:sp>
      <p:sp>
        <p:nvSpPr>
          <p:cNvPr id="50" name="Text Box 48">
            <a:extLst>
              <a:ext uri="{FF2B5EF4-FFF2-40B4-BE49-F238E27FC236}">
                <a16:creationId xmlns:a16="http://schemas.microsoft.com/office/drawing/2014/main" id="{765CB850-009C-BE91-4AE2-93531A01B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2337" y="2949374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  <a:r>
              <a:rPr kumimoji="1" lang="en-US" altLang="zh-CN" sz="2400" baseline="-15000">
                <a:ea typeface="楷体_GB2312" pitchFamily="49" charset="-122"/>
              </a:rPr>
              <a:t>m</a:t>
            </a:r>
            <a:endParaRPr kumimoji="1" lang="en-US" altLang="zh-CN" sz="2400">
              <a:ea typeface="楷体_GB2312" pitchFamily="49" charset="-122"/>
            </a:endParaRPr>
          </a:p>
        </p:txBody>
      </p:sp>
      <p:grpSp>
        <p:nvGrpSpPr>
          <p:cNvPr id="51" name="Group 73">
            <a:extLst>
              <a:ext uri="{FF2B5EF4-FFF2-40B4-BE49-F238E27FC236}">
                <a16:creationId xmlns:a16="http://schemas.microsoft.com/office/drawing/2014/main" id="{ADED05AC-B9B3-0D1A-730F-797C8AADF03F}"/>
              </a:ext>
            </a:extLst>
          </p:cNvPr>
          <p:cNvGrpSpPr>
            <a:grpSpLocks/>
          </p:cNvGrpSpPr>
          <p:nvPr/>
        </p:nvGrpSpPr>
        <p:grpSpPr bwMode="auto">
          <a:xfrm>
            <a:off x="6521450" y="3225599"/>
            <a:ext cx="2184400" cy="1333500"/>
            <a:chOff x="3991" y="1434"/>
            <a:chExt cx="1376" cy="840"/>
          </a:xfrm>
        </p:grpSpPr>
        <p:sp>
          <p:nvSpPr>
            <p:cNvPr id="52" name="Line 50">
              <a:extLst>
                <a:ext uri="{FF2B5EF4-FFF2-40B4-BE49-F238E27FC236}">
                  <a16:creationId xmlns:a16="http://schemas.microsoft.com/office/drawing/2014/main" id="{551C7C56-B8BB-0308-D740-A115277C06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" y="2104"/>
              <a:ext cx="27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Rectangle 51">
              <a:extLst>
                <a:ext uri="{FF2B5EF4-FFF2-40B4-BE49-F238E27FC236}">
                  <a16:creationId xmlns:a16="http://schemas.microsoft.com/office/drawing/2014/main" id="{706F5F28-C6D0-B394-2ADB-41AFB5484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" y="1434"/>
              <a:ext cx="543" cy="8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endParaRPr kumimoji="1" lang="zh-CN" altLang="en-US">
                <a:ea typeface="楷体_GB2312" pitchFamily="49" charset="-122"/>
              </a:endParaRPr>
            </a:p>
          </p:txBody>
        </p:sp>
        <p:sp>
          <p:nvSpPr>
            <p:cNvPr id="54" name="Line 52">
              <a:extLst>
                <a:ext uri="{FF2B5EF4-FFF2-40B4-BE49-F238E27FC236}">
                  <a16:creationId xmlns:a16="http://schemas.microsoft.com/office/drawing/2014/main" id="{1255D37C-7308-D5E3-A971-5B7ED55F5E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1" y="160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53">
              <a:extLst>
                <a:ext uri="{FF2B5EF4-FFF2-40B4-BE49-F238E27FC236}">
                  <a16:creationId xmlns:a16="http://schemas.microsoft.com/office/drawing/2014/main" id="{6E8B2807-47F9-5B67-207D-5B6A75165D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1" y="186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54">
              <a:extLst>
                <a:ext uri="{FF2B5EF4-FFF2-40B4-BE49-F238E27FC236}">
                  <a16:creationId xmlns:a16="http://schemas.microsoft.com/office/drawing/2014/main" id="{D368C31D-46DB-DD8E-42DB-3F169E9669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1" y="2115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 Box 55">
              <a:extLst>
                <a:ext uri="{FF2B5EF4-FFF2-40B4-BE49-F238E27FC236}">
                  <a16:creationId xmlns:a16="http://schemas.microsoft.com/office/drawing/2014/main" id="{D8214B66-1462-1412-8E1F-D741A62E8B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5" y="1464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</a:p>
          </p:txBody>
        </p:sp>
        <p:sp>
          <p:nvSpPr>
            <p:cNvPr id="58" name="Text Box 56">
              <a:extLst>
                <a:ext uri="{FF2B5EF4-FFF2-40B4-BE49-F238E27FC236}">
                  <a16:creationId xmlns:a16="http://schemas.microsoft.com/office/drawing/2014/main" id="{674605E3-8AB2-D4DF-E210-68FA3F9B2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1" y="1714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C</a:t>
              </a:r>
            </a:p>
          </p:txBody>
        </p:sp>
        <p:sp>
          <p:nvSpPr>
            <p:cNvPr id="59" name="Text Box 57">
              <a:extLst>
                <a:ext uri="{FF2B5EF4-FFF2-40B4-BE49-F238E27FC236}">
                  <a16:creationId xmlns:a16="http://schemas.microsoft.com/office/drawing/2014/main" id="{C85869E8-497A-878A-33D7-E10035084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0" y="1967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R</a:t>
              </a:r>
            </a:p>
          </p:txBody>
        </p:sp>
        <p:sp>
          <p:nvSpPr>
            <p:cNvPr id="60" name="Line 58">
              <a:extLst>
                <a:ext uri="{FF2B5EF4-FFF2-40B4-BE49-F238E27FC236}">
                  <a16:creationId xmlns:a16="http://schemas.microsoft.com/office/drawing/2014/main" id="{D1051C83-15C2-42D8-747C-D923518767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5" y="1602"/>
              <a:ext cx="27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 Box 59">
              <a:extLst>
                <a:ext uri="{FF2B5EF4-FFF2-40B4-BE49-F238E27FC236}">
                  <a16:creationId xmlns:a16="http://schemas.microsoft.com/office/drawing/2014/main" id="{92A0E5FF-1557-53F0-03C6-401B8C7AB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2" y="1464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62" name="Oval 60">
              <a:extLst>
                <a:ext uri="{FF2B5EF4-FFF2-40B4-BE49-F238E27FC236}">
                  <a16:creationId xmlns:a16="http://schemas.microsoft.com/office/drawing/2014/main" id="{381FB7BD-4397-8A60-FAA0-3B712932E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2" y="2068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grpSp>
          <p:nvGrpSpPr>
            <p:cNvPr id="63" name="Group 61">
              <a:extLst>
                <a:ext uri="{FF2B5EF4-FFF2-40B4-BE49-F238E27FC236}">
                  <a16:creationId xmlns:a16="http://schemas.microsoft.com/office/drawing/2014/main" id="{494B91B5-A776-809D-8452-998393AC09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98" y="1956"/>
              <a:ext cx="265" cy="288"/>
              <a:chOff x="5244" y="1729"/>
              <a:chExt cx="265" cy="288"/>
            </a:xfrm>
          </p:grpSpPr>
          <p:sp>
            <p:nvSpPr>
              <p:cNvPr id="71" name="Text Box 62">
                <a:extLst>
                  <a:ext uri="{FF2B5EF4-FFF2-40B4-BE49-F238E27FC236}">
                    <a16:creationId xmlns:a16="http://schemas.microsoft.com/office/drawing/2014/main" id="{61B0B515-8A9E-5B5E-6034-A9DA4DCD42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44" y="1729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</a:p>
            </p:txBody>
          </p:sp>
          <p:sp>
            <p:nvSpPr>
              <p:cNvPr id="72" name="Line 63">
                <a:extLst>
                  <a:ext uri="{FF2B5EF4-FFF2-40B4-BE49-F238E27FC236}">
                    <a16:creationId xmlns:a16="http://schemas.microsoft.com/office/drawing/2014/main" id="{C1034C90-3887-5EC1-31DD-7D160E012E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03" y="1778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" name="Oval 66">
              <a:extLst>
                <a:ext uri="{FF2B5EF4-FFF2-40B4-BE49-F238E27FC236}">
                  <a16:creationId xmlns:a16="http://schemas.microsoft.com/office/drawing/2014/main" id="{8DD46218-6179-FC76-051A-DFD1273BD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6" y="1822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grpSp>
          <p:nvGrpSpPr>
            <p:cNvPr id="65" name="Group 67">
              <a:extLst>
                <a:ext uri="{FF2B5EF4-FFF2-40B4-BE49-F238E27FC236}">
                  <a16:creationId xmlns:a16="http://schemas.microsoft.com/office/drawing/2014/main" id="{5AA3ADDB-CA64-E56A-DC62-B21EB72EBA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5" y="1546"/>
              <a:ext cx="88" cy="128"/>
              <a:chOff x="5124" y="1074"/>
              <a:chExt cx="88" cy="128"/>
            </a:xfrm>
          </p:grpSpPr>
          <p:sp>
            <p:nvSpPr>
              <p:cNvPr id="69" name="Line 68">
                <a:extLst>
                  <a:ext uri="{FF2B5EF4-FFF2-40B4-BE49-F238E27FC236}">
                    <a16:creationId xmlns:a16="http://schemas.microsoft.com/office/drawing/2014/main" id="{EEC698AD-508B-A623-7234-F6245FC332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4" y="1081"/>
                <a:ext cx="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" name="Line 69">
                <a:extLst>
                  <a:ext uri="{FF2B5EF4-FFF2-40B4-BE49-F238E27FC236}">
                    <a16:creationId xmlns:a16="http://schemas.microsoft.com/office/drawing/2014/main" id="{E73D75FE-AFC6-A748-53FF-381AA8BAA4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12" y="1074"/>
                <a:ext cx="0" cy="1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6" name="Group 70">
              <a:extLst>
                <a:ext uri="{FF2B5EF4-FFF2-40B4-BE49-F238E27FC236}">
                  <a16:creationId xmlns:a16="http://schemas.microsoft.com/office/drawing/2014/main" id="{74BCFB62-22DA-ED4B-5400-E7927742F3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3" y="2047"/>
              <a:ext cx="88" cy="128"/>
              <a:chOff x="5124" y="1074"/>
              <a:chExt cx="88" cy="128"/>
            </a:xfrm>
          </p:grpSpPr>
          <p:sp>
            <p:nvSpPr>
              <p:cNvPr id="67" name="Line 71">
                <a:extLst>
                  <a:ext uri="{FF2B5EF4-FFF2-40B4-BE49-F238E27FC236}">
                    <a16:creationId xmlns:a16="http://schemas.microsoft.com/office/drawing/2014/main" id="{991F5334-E1C1-833C-7925-096B5B3A17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4" y="1081"/>
                <a:ext cx="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Line 72">
                <a:extLst>
                  <a:ext uri="{FF2B5EF4-FFF2-40B4-BE49-F238E27FC236}">
                    <a16:creationId xmlns:a16="http://schemas.microsoft.com/office/drawing/2014/main" id="{BBB35424-9BBE-BA8F-4E80-50C4F178E9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12" y="1074"/>
                <a:ext cx="0" cy="1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23795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4E940A-6D0F-252A-DB66-709D2514A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主从结构</a:t>
            </a:r>
            <a:r>
              <a:rPr kumimoji="1" lang="en-US" altLang="zh-CN" dirty="0"/>
              <a:t>SR</a:t>
            </a:r>
            <a:r>
              <a:rPr kumimoji="1" lang="zh-CN" altLang="en-US" dirty="0"/>
              <a:t>触发器波形图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66943C-9712-C748-69AF-71DA5C0F7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988EDA-CE73-87B6-4423-97FF0AF49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8</a:t>
            </a:fld>
            <a:r>
              <a:rPr lang="en-US" altLang="zh-CN" dirty="0"/>
              <a:t>/29</a:t>
            </a:r>
            <a:endParaRPr lang="en-US" dirty="0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F9F7878E-A419-1C2E-D9D1-D852B0687953}"/>
              </a:ext>
            </a:extLst>
          </p:cNvPr>
          <p:cNvGrpSpPr>
            <a:grpSpLocks/>
          </p:cNvGrpSpPr>
          <p:nvPr/>
        </p:nvGrpSpPr>
        <p:grpSpPr bwMode="auto">
          <a:xfrm>
            <a:off x="1747108" y="1359584"/>
            <a:ext cx="3781425" cy="4430713"/>
            <a:chOff x="1292" y="913"/>
            <a:chExt cx="2382" cy="2451"/>
          </a:xfrm>
        </p:grpSpPr>
        <p:sp>
          <p:nvSpPr>
            <p:cNvPr id="7" name="Line 3">
              <a:extLst>
                <a:ext uri="{FF2B5EF4-FFF2-40B4-BE49-F238E27FC236}">
                  <a16:creationId xmlns:a16="http://schemas.microsoft.com/office/drawing/2014/main" id="{23938295-B345-1F6F-B2F6-6FD82F242B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913"/>
              <a:ext cx="0" cy="24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4">
              <a:extLst>
                <a:ext uri="{FF2B5EF4-FFF2-40B4-BE49-F238E27FC236}">
                  <a16:creationId xmlns:a16="http://schemas.microsoft.com/office/drawing/2014/main" id="{33673255-9C8A-4D28-2784-F529AF0D03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9" y="913"/>
              <a:ext cx="0" cy="245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5">
              <a:extLst>
                <a:ext uri="{FF2B5EF4-FFF2-40B4-BE49-F238E27FC236}">
                  <a16:creationId xmlns:a16="http://schemas.microsoft.com/office/drawing/2014/main" id="{C4CB3856-3440-CE59-A575-6C11BAB746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5" y="913"/>
              <a:ext cx="0" cy="24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2F2EBF4D-55FF-DB93-49AC-7D49DC64CA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" y="913"/>
              <a:ext cx="0" cy="245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3FBCDF36-BC6B-A6E6-A76E-823AB95882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913"/>
              <a:ext cx="0" cy="24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DBEF7C85-EF77-EEE5-87A7-AA5FD4CE5A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4" y="913"/>
              <a:ext cx="0" cy="245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" name="Line 10">
            <a:extLst>
              <a:ext uri="{FF2B5EF4-FFF2-40B4-BE49-F238E27FC236}">
                <a16:creationId xmlns:a16="http://schemas.microsoft.com/office/drawing/2014/main" id="{7333649D-DB97-2B2C-C2A6-8FBC3EF18CC3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2504346" y="1721534"/>
            <a:ext cx="7556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6FC97758-ADD0-05B3-F773-82816A786624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2504346" y="1326247"/>
            <a:ext cx="0" cy="3952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7AE08A83-0283-19F1-D965-A5D7194CFB6B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1747108" y="1326247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2474127F-CFAB-192E-9BD7-2E105A924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446" y="1253222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C</a:t>
            </a: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02950361-D8FC-BDB0-DB42-F514DFC1B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271" y="2070784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S</a:t>
            </a:r>
          </a:p>
        </p:txBody>
      </p:sp>
      <p:sp>
        <p:nvSpPr>
          <p:cNvPr id="18" name="Text Box 15">
            <a:extLst>
              <a:ext uri="{FF2B5EF4-FFF2-40B4-BE49-F238E27FC236}">
                <a16:creationId xmlns:a16="http://schemas.microsoft.com/office/drawing/2014/main" id="{6545AE85-20B6-4F8E-2586-68B039A28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758" y="2888347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R</a:t>
            </a:r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DA727E87-3FB5-A588-9472-0F4E6D360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733" y="3597959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  <a:r>
              <a:rPr kumimoji="1" lang="en-US" altLang="zh-CN" sz="2400" baseline="-25000">
                <a:ea typeface="楷体_GB2312" pitchFamily="49" charset="-122"/>
              </a:rPr>
              <a:t>m</a:t>
            </a:r>
            <a:endParaRPr kumimoji="1" lang="en-US" altLang="zh-CN" sz="2400">
              <a:ea typeface="楷体_GB2312" pitchFamily="49" charset="-122"/>
            </a:endParaRP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5303025D-601E-109E-B110-B456BBE84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271" y="4767947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2AEB6C69-B054-7E1C-EF4F-A59183DD6624}"/>
              </a:ext>
            </a:extLst>
          </p:cNvPr>
          <p:cNvSpPr>
            <a:spLocks noChangeShapeType="1"/>
          </p:cNvSpPr>
          <p:nvPr/>
        </p:nvSpPr>
        <p:spPr bwMode="auto">
          <a:xfrm>
            <a:off x="991458" y="3305859"/>
            <a:ext cx="25558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19">
            <a:extLst>
              <a:ext uri="{FF2B5EF4-FFF2-40B4-BE49-F238E27FC236}">
                <a16:creationId xmlns:a16="http://schemas.microsoft.com/office/drawing/2014/main" id="{BEB0E9E8-4163-366B-8C36-3639BCADD9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47333" y="2915334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8BC0D56D-4FCF-EB19-0F4A-1F96C29F61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6121" y="3305859"/>
            <a:ext cx="10080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7C10DE12-BC3C-1DF1-FE54-A674A86F6D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7333" y="2910572"/>
            <a:ext cx="2524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86EE851B-9E18-11A8-ACCD-DEB298EBE5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99746" y="2915334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40624CD0-0181-2A62-AEAF-7DBD6F20D0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9746" y="3305859"/>
            <a:ext cx="12239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7516DA33-6061-7189-3ED7-3EDFB8D0E4C7}"/>
              </a:ext>
            </a:extLst>
          </p:cNvPr>
          <p:cNvSpPr>
            <a:spLocks noChangeShapeType="1"/>
          </p:cNvSpPr>
          <p:nvPr/>
        </p:nvSpPr>
        <p:spPr bwMode="auto">
          <a:xfrm>
            <a:off x="981933" y="2513697"/>
            <a:ext cx="3698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CF98E956-66AB-EFFD-FE39-F7D90ADC9D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51821" y="2118409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ECA698BE-A466-02DF-DE61-DBDAC35416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51821" y="2118409"/>
            <a:ext cx="15478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DF4B4C97-0EFB-55D7-69C0-C9161B95575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9633" y="2118409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F71BC76E-572E-57EE-FC66-19146E3F9C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5758" y="2512109"/>
            <a:ext cx="1368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29">
            <a:extLst>
              <a:ext uri="{FF2B5EF4-FFF2-40B4-BE49-F238E27FC236}">
                <a16:creationId xmlns:a16="http://schemas.microsoft.com/office/drawing/2014/main" id="{0AEF5E0B-10CB-71D5-BAAA-3FB94A80CB8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9633" y="2515284"/>
            <a:ext cx="17637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5D1656EC-43DF-69AE-43E5-EE62E0B96C96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2455" y="2539414"/>
            <a:ext cx="428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Rectangle 32">
            <a:extLst>
              <a:ext uri="{FF2B5EF4-FFF2-40B4-BE49-F238E27FC236}">
                <a16:creationId xmlns:a16="http://schemas.microsoft.com/office/drawing/2014/main" id="{29B89A93-D7CB-8C3F-81BB-BCF00A6DC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3930" y="1475789"/>
            <a:ext cx="862013" cy="13335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endParaRPr kumimoji="1" lang="zh-CN" altLang="en-US">
              <a:ea typeface="楷体_GB2312" pitchFamily="49" charset="-122"/>
            </a:endParaRPr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E8C97C4B-4D44-C721-4622-5E03C1E1BA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26730" y="1742489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34">
            <a:extLst>
              <a:ext uri="{FF2B5EF4-FFF2-40B4-BE49-F238E27FC236}">
                <a16:creationId xmlns:a16="http://schemas.microsoft.com/office/drawing/2014/main" id="{BA57D26E-7BD1-77F1-7904-BC6515EF60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26730" y="2155239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Line 35">
            <a:extLst>
              <a:ext uri="{FF2B5EF4-FFF2-40B4-BE49-F238E27FC236}">
                <a16:creationId xmlns:a16="http://schemas.microsoft.com/office/drawing/2014/main" id="{E871C044-E19F-5D35-8826-2CDD357CA3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26730" y="2556876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Text Box 36">
            <a:extLst>
              <a:ext uri="{FF2B5EF4-FFF2-40B4-BE49-F238E27FC236}">
                <a16:creationId xmlns:a16="http://schemas.microsoft.com/office/drawing/2014/main" id="{6778045B-5100-1297-6C90-93CBDA7FA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3455" y="1523414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S</a:t>
            </a:r>
          </a:p>
        </p:txBody>
      </p:sp>
      <p:sp>
        <p:nvSpPr>
          <p:cNvPr id="39" name="Text Box 37">
            <a:extLst>
              <a:ext uri="{FF2B5EF4-FFF2-40B4-BE49-F238E27FC236}">
                <a16:creationId xmlns:a16="http://schemas.microsoft.com/office/drawing/2014/main" id="{F9EEA98C-5669-A003-1CA5-E1B6FE4DA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518" y="1920289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C</a:t>
            </a:r>
          </a:p>
        </p:txBody>
      </p:sp>
      <p:sp>
        <p:nvSpPr>
          <p:cNvPr id="40" name="Text Box 38">
            <a:extLst>
              <a:ext uri="{FF2B5EF4-FFF2-40B4-BE49-F238E27FC236}">
                <a16:creationId xmlns:a16="http://schemas.microsoft.com/office/drawing/2014/main" id="{7460A8F3-3E1D-EBA1-7F3D-9EA45876A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518" y="2321926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R</a:t>
            </a:r>
          </a:p>
        </p:txBody>
      </p:sp>
      <p:sp>
        <p:nvSpPr>
          <p:cNvPr id="41" name="Line 39">
            <a:extLst>
              <a:ext uri="{FF2B5EF4-FFF2-40B4-BE49-F238E27FC236}">
                <a16:creationId xmlns:a16="http://schemas.microsoft.com/office/drawing/2014/main" id="{59EC108A-DE32-1545-84ED-99B6DEF1040F}"/>
              </a:ext>
            </a:extLst>
          </p:cNvPr>
          <p:cNvSpPr>
            <a:spLocks noChangeShapeType="1"/>
          </p:cNvSpPr>
          <p:nvPr/>
        </p:nvSpPr>
        <p:spPr bwMode="auto">
          <a:xfrm>
            <a:off x="8850705" y="1742489"/>
            <a:ext cx="428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Text Box 40">
            <a:extLst>
              <a:ext uri="{FF2B5EF4-FFF2-40B4-BE49-F238E27FC236}">
                <a16:creationId xmlns:a16="http://schemas.microsoft.com/office/drawing/2014/main" id="{B9289DB4-A965-AF39-EE64-05DF8A30A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0443" y="1523414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</a:p>
        </p:txBody>
      </p:sp>
      <p:sp>
        <p:nvSpPr>
          <p:cNvPr id="43" name="Oval 41">
            <a:extLst>
              <a:ext uri="{FF2B5EF4-FFF2-40B4-BE49-F238E27FC236}">
                <a16:creationId xmlns:a16="http://schemas.microsoft.com/office/drawing/2014/main" id="{36A1FCBA-E526-262E-5072-FD74424F0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5943" y="2482264"/>
            <a:ext cx="130175" cy="1301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44" name="Group 42">
            <a:extLst>
              <a:ext uri="{FF2B5EF4-FFF2-40B4-BE49-F238E27FC236}">
                <a16:creationId xmlns:a16="http://schemas.microsoft.com/office/drawing/2014/main" id="{680DFC0E-05E7-9B0B-5838-88543160894D}"/>
              </a:ext>
            </a:extLst>
          </p:cNvPr>
          <p:cNvGrpSpPr>
            <a:grpSpLocks/>
          </p:cNvGrpSpPr>
          <p:nvPr/>
        </p:nvGrpSpPr>
        <p:grpSpPr bwMode="auto">
          <a:xfrm>
            <a:off x="9284093" y="2304464"/>
            <a:ext cx="420687" cy="457200"/>
            <a:chOff x="5244" y="1729"/>
            <a:chExt cx="265" cy="288"/>
          </a:xfrm>
        </p:grpSpPr>
        <p:sp>
          <p:nvSpPr>
            <p:cNvPr id="45" name="Text Box 43">
              <a:extLst>
                <a:ext uri="{FF2B5EF4-FFF2-40B4-BE49-F238E27FC236}">
                  <a16:creationId xmlns:a16="http://schemas.microsoft.com/office/drawing/2014/main" id="{B3BB008D-CF27-A65D-9F9B-DCFE97AB5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4" y="1729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46" name="Line 44">
              <a:extLst>
                <a:ext uri="{FF2B5EF4-FFF2-40B4-BE49-F238E27FC236}">
                  <a16:creationId xmlns:a16="http://schemas.microsoft.com/office/drawing/2014/main" id="{DFD7276E-3C26-0644-FB56-8D28816DE0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3" y="1778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" name="Oval 47">
            <a:extLst>
              <a:ext uri="{FF2B5EF4-FFF2-40B4-BE49-F238E27FC236}">
                <a16:creationId xmlns:a16="http://schemas.microsoft.com/office/drawing/2014/main" id="{17D217CF-D2EB-36D6-2D6B-550C6CCC9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2168" y="2091739"/>
            <a:ext cx="130175" cy="1301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48" name="Group 48">
            <a:extLst>
              <a:ext uri="{FF2B5EF4-FFF2-40B4-BE49-F238E27FC236}">
                <a16:creationId xmlns:a16="http://schemas.microsoft.com/office/drawing/2014/main" id="{8138280B-E5FF-7D48-C4A7-A299520DABB7}"/>
              </a:ext>
            </a:extLst>
          </p:cNvPr>
          <p:cNvGrpSpPr>
            <a:grpSpLocks/>
          </p:cNvGrpSpPr>
          <p:nvPr/>
        </p:nvGrpSpPr>
        <p:grpSpPr bwMode="auto">
          <a:xfrm>
            <a:off x="8580830" y="1653589"/>
            <a:ext cx="139700" cy="203200"/>
            <a:chOff x="5124" y="1074"/>
            <a:chExt cx="88" cy="128"/>
          </a:xfrm>
        </p:grpSpPr>
        <p:sp>
          <p:nvSpPr>
            <p:cNvPr id="49" name="Line 49">
              <a:extLst>
                <a:ext uri="{FF2B5EF4-FFF2-40B4-BE49-F238E27FC236}">
                  <a16:creationId xmlns:a16="http://schemas.microsoft.com/office/drawing/2014/main" id="{2B7587F6-4E07-A82D-DE6F-5A218CDE9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4" y="1081"/>
              <a:ext cx="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50">
              <a:extLst>
                <a:ext uri="{FF2B5EF4-FFF2-40B4-BE49-F238E27FC236}">
                  <a16:creationId xmlns:a16="http://schemas.microsoft.com/office/drawing/2014/main" id="{462DA3C9-ED97-BCD2-6C2A-605D61EB5F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12" y="1074"/>
              <a:ext cx="0" cy="1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1FBB4613-1EE8-E575-3DA5-660C248FBC21}"/>
              </a:ext>
            </a:extLst>
          </p:cNvPr>
          <p:cNvGrpSpPr>
            <a:grpSpLocks/>
          </p:cNvGrpSpPr>
          <p:nvPr/>
        </p:nvGrpSpPr>
        <p:grpSpPr bwMode="auto">
          <a:xfrm>
            <a:off x="8593530" y="2448926"/>
            <a:ext cx="139700" cy="203200"/>
            <a:chOff x="5124" y="1074"/>
            <a:chExt cx="88" cy="128"/>
          </a:xfrm>
        </p:grpSpPr>
        <p:sp>
          <p:nvSpPr>
            <p:cNvPr id="52" name="Line 52">
              <a:extLst>
                <a:ext uri="{FF2B5EF4-FFF2-40B4-BE49-F238E27FC236}">
                  <a16:creationId xmlns:a16="http://schemas.microsoft.com/office/drawing/2014/main" id="{04C3910A-9C16-60A0-9235-AD95562188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4" y="1081"/>
              <a:ext cx="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53">
              <a:extLst>
                <a:ext uri="{FF2B5EF4-FFF2-40B4-BE49-F238E27FC236}">
                  <a16:creationId xmlns:a16="http://schemas.microsoft.com/office/drawing/2014/main" id="{440758B0-262E-6D20-17C8-81ED96D0CB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12" y="1074"/>
              <a:ext cx="0" cy="1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4" name="Line 54">
            <a:extLst>
              <a:ext uri="{FF2B5EF4-FFF2-40B4-BE49-F238E27FC236}">
                <a16:creationId xmlns:a16="http://schemas.microsoft.com/office/drawing/2014/main" id="{5266BD9C-AD56-CB33-AE91-C9671E4D21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63346" y="2123172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Line 55">
            <a:extLst>
              <a:ext uri="{FF2B5EF4-FFF2-40B4-BE49-F238E27FC236}">
                <a16:creationId xmlns:a16="http://schemas.microsoft.com/office/drawing/2014/main" id="{DD7D874D-86AA-4717-5743-3E218F8DE1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3346" y="2118409"/>
            <a:ext cx="2524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Line 56">
            <a:extLst>
              <a:ext uri="{FF2B5EF4-FFF2-40B4-BE49-F238E27FC236}">
                <a16:creationId xmlns:a16="http://schemas.microsoft.com/office/drawing/2014/main" id="{541D1B4B-EEAA-EE91-307A-9E9426C61D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15758" y="2123172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Line 57">
            <a:extLst>
              <a:ext uri="{FF2B5EF4-FFF2-40B4-BE49-F238E27FC236}">
                <a16:creationId xmlns:a16="http://schemas.microsoft.com/office/drawing/2014/main" id="{975651F0-3085-6C0B-D55B-550F346CAF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3708" y="2915334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Line 58">
            <a:extLst>
              <a:ext uri="{FF2B5EF4-FFF2-40B4-BE49-F238E27FC236}">
                <a16:creationId xmlns:a16="http://schemas.microsoft.com/office/drawing/2014/main" id="{FBD02244-D87A-ADEF-2048-F4721BA2C69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3708" y="2910572"/>
            <a:ext cx="2524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Line 59">
            <a:extLst>
              <a:ext uri="{FF2B5EF4-FFF2-40B4-BE49-F238E27FC236}">
                <a16:creationId xmlns:a16="http://schemas.microsoft.com/office/drawing/2014/main" id="{32EFDC2A-3077-36BA-6EC6-1A12447841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76121" y="2915334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Line 60">
            <a:extLst>
              <a:ext uri="{FF2B5EF4-FFF2-40B4-BE49-F238E27FC236}">
                <a16:creationId xmlns:a16="http://schemas.microsoft.com/office/drawing/2014/main" id="{A45B5355-93DB-A47E-9969-5603AEFACF44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1748696" y="1326247"/>
            <a:ext cx="7556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Line 61">
            <a:extLst>
              <a:ext uri="{FF2B5EF4-FFF2-40B4-BE49-F238E27FC236}">
                <a16:creationId xmlns:a16="http://schemas.microsoft.com/office/drawing/2014/main" id="{479E80DF-4856-2012-1C64-648114ADF104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991458" y="1721534"/>
            <a:ext cx="7556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Line 62">
            <a:extLst>
              <a:ext uri="{FF2B5EF4-FFF2-40B4-BE49-F238E27FC236}">
                <a16:creationId xmlns:a16="http://schemas.microsoft.com/office/drawing/2014/main" id="{F077F5C5-F38A-6363-446F-4EE784DCCECA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4015646" y="1721534"/>
            <a:ext cx="7556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Line 63">
            <a:extLst>
              <a:ext uri="{FF2B5EF4-FFF2-40B4-BE49-F238E27FC236}">
                <a16:creationId xmlns:a16="http://schemas.microsoft.com/office/drawing/2014/main" id="{6EA15F12-FA4C-E7B3-5938-4575D1B67C41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4015646" y="1326247"/>
            <a:ext cx="0" cy="3952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Line 64">
            <a:extLst>
              <a:ext uri="{FF2B5EF4-FFF2-40B4-BE49-F238E27FC236}">
                <a16:creationId xmlns:a16="http://schemas.microsoft.com/office/drawing/2014/main" id="{81320178-2FA1-6E09-0BBD-9BA0EFB3EB2E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3258408" y="1340534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Line 65">
            <a:extLst>
              <a:ext uri="{FF2B5EF4-FFF2-40B4-BE49-F238E27FC236}">
                <a16:creationId xmlns:a16="http://schemas.microsoft.com/office/drawing/2014/main" id="{7FD20721-C56E-7729-DF5E-D697ECC7F9FA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259996" y="1326247"/>
            <a:ext cx="7556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Line 66">
            <a:extLst>
              <a:ext uri="{FF2B5EF4-FFF2-40B4-BE49-F238E27FC236}">
                <a16:creationId xmlns:a16="http://schemas.microsoft.com/office/drawing/2014/main" id="{74CB1BAA-0D41-7462-E1F6-82BDAB3CEC82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5530121" y="1721534"/>
            <a:ext cx="7556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Line 67">
            <a:extLst>
              <a:ext uri="{FF2B5EF4-FFF2-40B4-BE49-F238E27FC236}">
                <a16:creationId xmlns:a16="http://schemas.microsoft.com/office/drawing/2014/main" id="{436809D7-7F98-751E-4F3C-78A9211F86DA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5530121" y="1326247"/>
            <a:ext cx="0" cy="3952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Line 68">
            <a:extLst>
              <a:ext uri="{FF2B5EF4-FFF2-40B4-BE49-F238E27FC236}">
                <a16:creationId xmlns:a16="http://schemas.microsoft.com/office/drawing/2014/main" id="{7A614BCF-D28B-634F-0B7C-E776E1CCAA36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4772883" y="1326247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Line 69">
            <a:extLst>
              <a:ext uri="{FF2B5EF4-FFF2-40B4-BE49-F238E27FC236}">
                <a16:creationId xmlns:a16="http://schemas.microsoft.com/office/drawing/2014/main" id="{904E3647-C050-2B46-9FA6-E1FD60D900D0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4774471" y="1326247"/>
            <a:ext cx="7556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0" name="Group 70">
            <a:extLst>
              <a:ext uri="{FF2B5EF4-FFF2-40B4-BE49-F238E27FC236}">
                <a16:creationId xmlns:a16="http://schemas.microsoft.com/office/drawing/2014/main" id="{C5579EC3-54D6-45EC-D9AF-632BFAB0B984}"/>
              </a:ext>
            </a:extLst>
          </p:cNvPr>
          <p:cNvGrpSpPr>
            <a:grpSpLocks/>
          </p:cNvGrpSpPr>
          <p:nvPr/>
        </p:nvGrpSpPr>
        <p:grpSpPr bwMode="auto">
          <a:xfrm>
            <a:off x="991458" y="3697972"/>
            <a:ext cx="5292725" cy="400050"/>
            <a:chOff x="816" y="2543"/>
            <a:chExt cx="3334" cy="252"/>
          </a:xfrm>
        </p:grpSpPr>
        <p:sp>
          <p:nvSpPr>
            <p:cNvPr id="71" name="Line 71">
              <a:extLst>
                <a:ext uri="{FF2B5EF4-FFF2-40B4-BE49-F238E27FC236}">
                  <a16:creationId xmlns:a16="http://schemas.microsoft.com/office/drawing/2014/main" id="{349FE453-E536-3E47-CF92-08292B409B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2" y="254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72">
              <a:extLst>
                <a:ext uri="{FF2B5EF4-FFF2-40B4-BE49-F238E27FC236}">
                  <a16:creationId xmlns:a16="http://schemas.microsoft.com/office/drawing/2014/main" id="{A150AC53-240E-F880-B371-BC16055400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2546"/>
              <a:ext cx="11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73">
              <a:extLst>
                <a:ext uri="{FF2B5EF4-FFF2-40B4-BE49-F238E27FC236}">
                  <a16:creationId xmlns:a16="http://schemas.microsoft.com/office/drawing/2014/main" id="{548980B4-0642-E9F4-6B02-B1A78ECBF1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6" y="254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74">
              <a:extLst>
                <a:ext uri="{FF2B5EF4-FFF2-40B4-BE49-F238E27FC236}">
                  <a16:creationId xmlns:a16="http://schemas.microsoft.com/office/drawing/2014/main" id="{39346C3C-43AA-9894-586D-9FB8060513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6" y="254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75">
              <a:extLst>
                <a:ext uri="{FF2B5EF4-FFF2-40B4-BE49-F238E27FC236}">
                  <a16:creationId xmlns:a16="http://schemas.microsoft.com/office/drawing/2014/main" id="{F7C4C2AA-903D-564D-A375-F798A2FF2E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8" y="254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76">
              <a:extLst>
                <a:ext uri="{FF2B5EF4-FFF2-40B4-BE49-F238E27FC236}">
                  <a16:creationId xmlns:a16="http://schemas.microsoft.com/office/drawing/2014/main" id="{606DBBD2-9C9A-E24F-3154-D5BC4295B4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2792"/>
              <a:ext cx="7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77">
              <a:extLst>
                <a:ext uri="{FF2B5EF4-FFF2-40B4-BE49-F238E27FC236}">
                  <a16:creationId xmlns:a16="http://schemas.microsoft.com/office/drawing/2014/main" id="{4E9216C0-D1ED-A0DC-F6B3-E9DB2B3A1F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2543"/>
              <a:ext cx="1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78">
              <a:extLst>
                <a:ext uri="{FF2B5EF4-FFF2-40B4-BE49-F238E27FC236}">
                  <a16:creationId xmlns:a16="http://schemas.microsoft.com/office/drawing/2014/main" id="{69FFD8A8-CB35-A967-B020-48B3C935C14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816" y="2795"/>
              <a:ext cx="4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79">
              <a:extLst>
                <a:ext uri="{FF2B5EF4-FFF2-40B4-BE49-F238E27FC236}">
                  <a16:creationId xmlns:a16="http://schemas.microsoft.com/office/drawing/2014/main" id="{9FA6DFDB-8292-F019-7731-1DE05EB00A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6" y="2795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80">
              <a:extLst>
                <a:ext uri="{FF2B5EF4-FFF2-40B4-BE49-F238E27FC236}">
                  <a16:creationId xmlns:a16="http://schemas.microsoft.com/office/drawing/2014/main" id="{D3D29452-A016-76C1-3426-BF05B52E17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3" y="2795"/>
              <a:ext cx="5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1" name="Group 81">
            <a:extLst>
              <a:ext uri="{FF2B5EF4-FFF2-40B4-BE49-F238E27FC236}">
                <a16:creationId xmlns:a16="http://schemas.microsoft.com/office/drawing/2014/main" id="{34AE0B22-C754-C016-935D-98197D9772D0}"/>
              </a:ext>
            </a:extLst>
          </p:cNvPr>
          <p:cNvGrpSpPr>
            <a:grpSpLocks/>
          </p:cNvGrpSpPr>
          <p:nvPr/>
        </p:nvGrpSpPr>
        <p:grpSpPr bwMode="auto">
          <a:xfrm>
            <a:off x="991458" y="4761597"/>
            <a:ext cx="5292725" cy="381000"/>
            <a:chOff x="816" y="3213"/>
            <a:chExt cx="3334" cy="240"/>
          </a:xfrm>
        </p:grpSpPr>
        <p:sp>
          <p:nvSpPr>
            <p:cNvPr id="82" name="Line 82">
              <a:extLst>
                <a:ext uri="{FF2B5EF4-FFF2-40B4-BE49-F238E27FC236}">
                  <a16:creationId xmlns:a16="http://schemas.microsoft.com/office/drawing/2014/main" id="{E6C10407-7572-6886-3793-64F6D32359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453"/>
              <a:ext cx="9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83">
              <a:extLst>
                <a:ext uri="{FF2B5EF4-FFF2-40B4-BE49-F238E27FC236}">
                  <a16:creationId xmlns:a16="http://schemas.microsoft.com/office/drawing/2014/main" id="{AC30F323-1EAB-458B-E9E7-7F00D2C95A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9" y="3213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84">
              <a:extLst>
                <a:ext uri="{FF2B5EF4-FFF2-40B4-BE49-F238E27FC236}">
                  <a16:creationId xmlns:a16="http://schemas.microsoft.com/office/drawing/2014/main" id="{7894D688-432E-C087-D0DE-7CC97E9B18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9" y="3213"/>
              <a:ext cx="9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85">
              <a:extLst>
                <a:ext uri="{FF2B5EF4-FFF2-40B4-BE49-F238E27FC236}">
                  <a16:creationId xmlns:a16="http://schemas.microsoft.com/office/drawing/2014/main" id="{6B2B188A-2A40-22FA-4181-C5050C3798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" y="3213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86">
              <a:extLst>
                <a:ext uri="{FF2B5EF4-FFF2-40B4-BE49-F238E27FC236}">
                  <a16:creationId xmlns:a16="http://schemas.microsoft.com/office/drawing/2014/main" id="{7BB051AD-C6B1-08C3-813E-4177DAD68D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" y="3453"/>
              <a:ext cx="9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87">
              <a:extLst>
                <a:ext uri="{FF2B5EF4-FFF2-40B4-BE49-F238E27FC236}">
                  <a16:creationId xmlns:a16="http://schemas.microsoft.com/office/drawing/2014/main" id="{FCB8F22F-A38F-C9A6-39E2-8B99472DFE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4" y="3453"/>
              <a:ext cx="4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8" name="Group 88">
            <a:extLst>
              <a:ext uri="{FF2B5EF4-FFF2-40B4-BE49-F238E27FC236}">
                <a16:creationId xmlns:a16="http://schemas.microsoft.com/office/drawing/2014/main" id="{819ECCA2-4694-09D2-47A9-1B2A3D94FFEE}"/>
              </a:ext>
            </a:extLst>
          </p:cNvPr>
          <p:cNvGrpSpPr>
            <a:grpSpLocks/>
          </p:cNvGrpSpPr>
          <p:nvPr/>
        </p:nvGrpSpPr>
        <p:grpSpPr bwMode="auto">
          <a:xfrm>
            <a:off x="316771" y="5285472"/>
            <a:ext cx="5969000" cy="457200"/>
            <a:chOff x="391" y="3543"/>
            <a:chExt cx="3760" cy="288"/>
          </a:xfrm>
        </p:grpSpPr>
        <p:sp>
          <p:nvSpPr>
            <p:cNvPr id="89" name="Rectangle 89">
              <a:extLst>
                <a:ext uri="{FF2B5EF4-FFF2-40B4-BE49-F238E27FC236}">
                  <a16:creationId xmlns:a16="http://schemas.microsoft.com/office/drawing/2014/main" id="{464D4BF0-C69D-2290-F9FE-AB1C03CD7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" y="3543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b="0">
                  <a:latin typeface="宋体" panose="02010600030101010101" pitchFamily="2" charset="-122"/>
                </a:rPr>
                <a:t>保持</a:t>
              </a:r>
            </a:p>
          </p:txBody>
        </p:sp>
        <p:sp>
          <p:nvSpPr>
            <p:cNvPr id="90" name="Rectangle 90">
              <a:extLst>
                <a:ext uri="{FF2B5EF4-FFF2-40B4-BE49-F238E27FC236}">
                  <a16:creationId xmlns:a16="http://schemas.microsoft.com/office/drawing/2014/main" id="{37F511B4-8868-3F89-86C0-73662901B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3543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b="0">
                  <a:latin typeface="宋体" panose="02010600030101010101" pitchFamily="2" charset="-122"/>
                </a:rPr>
                <a:t>更新</a:t>
              </a:r>
            </a:p>
          </p:txBody>
        </p:sp>
        <p:sp>
          <p:nvSpPr>
            <p:cNvPr id="91" name="Rectangle 91">
              <a:extLst>
                <a:ext uri="{FF2B5EF4-FFF2-40B4-BE49-F238E27FC236}">
                  <a16:creationId xmlns:a16="http://schemas.microsoft.com/office/drawing/2014/main" id="{4F2D577B-6866-A44A-C09E-FC04F4E83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2" y="3543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b="0">
                  <a:latin typeface="宋体" panose="02010600030101010101" pitchFamily="2" charset="-122"/>
                </a:rPr>
                <a:t>保持</a:t>
              </a:r>
            </a:p>
          </p:txBody>
        </p:sp>
        <p:sp>
          <p:nvSpPr>
            <p:cNvPr id="92" name="Rectangle 92">
              <a:extLst>
                <a:ext uri="{FF2B5EF4-FFF2-40B4-BE49-F238E27FC236}">
                  <a16:creationId xmlns:a16="http://schemas.microsoft.com/office/drawing/2014/main" id="{6E2E8D62-AFEC-C58D-0180-8092A7317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3543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b="0">
                  <a:latin typeface="宋体" panose="02010600030101010101" pitchFamily="2" charset="-122"/>
                </a:rPr>
                <a:t>更新</a:t>
              </a:r>
            </a:p>
          </p:txBody>
        </p:sp>
        <p:sp>
          <p:nvSpPr>
            <p:cNvPr id="93" name="Rectangle 93">
              <a:extLst>
                <a:ext uri="{FF2B5EF4-FFF2-40B4-BE49-F238E27FC236}">
                  <a16:creationId xmlns:a16="http://schemas.microsoft.com/office/drawing/2014/main" id="{A5B7187B-4461-2BF5-D27B-822E8E9AC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" y="3543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b="0">
                  <a:latin typeface="宋体" panose="02010600030101010101" pitchFamily="2" charset="-122"/>
                </a:rPr>
                <a:t>保持</a:t>
              </a:r>
            </a:p>
          </p:txBody>
        </p:sp>
        <p:sp>
          <p:nvSpPr>
            <p:cNvPr id="94" name="Rectangle 94">
              <a:extLst>
                <a:ext uri="{FF2B5EF4-FFF2-40B4-BE49-F238E27FC236}">
                  <a16:creationId xmlns:a16="http://schemas.microsoft.com/office/drawing/2014/main" id="{09AEE7F8-A2B9-8D68-C127-009B6E898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9" y="3543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b="0">
                  <a:latin typeface="宋体" panose="02010600030101010101" pitchFamily="2" charset="-122"/>
                </a:rPr>
                <a:t>更新</a:t>
              </a:r>
            </a:p>
          </p:txBody>
        </p:sp>
        <p:sp>
          <p:nvSpPr>
            <p:cNvPr id="95" name="Rectangle 95">
              <a:extLst>
                <a:ext uri="{FF2B5EF4-FFF2-40B4-BE49-F238E27FC236}">
                  <a16:creationId xmlns:a16="http://schemas.microsoft.com/office/drawing/2014/main" id="{14767CBA-1233-8947-1C82-51CC9C243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3543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b="0">
                  <a:latin typeface="宋体" panose="02010600030101010101" pitchFamily="2" charset="-122"/>
                </a:rPr>
                <a:t>更新</a:t>
              </a:r>
            </a:p>
          </p:txBody>
        </p:sp>
        <p:sp>
          <p:nvSpPr>
            <p:cNvPr id="96" name="Rectangle 96">
              <a:extLst>
                <a:ext uri="{FF2B5EF4-FFF2-40B4-BE49-F238E27FC236}">
                  <a16:creationId xmlns:a16="http://schemas.microsoft.com/office/drawing/2014/main" id="{4DD340AA-4F7C-8929-D7D1-C4EB2AA5E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" y="3543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b="0">
                  <a:latin typeface="宋体" panose="02010600030101010101" pitchFamily="2" charset="-122"/>
                </a:rPr>
                <a:t>从</a:t>
              </a:r>
            </a:p>
          </p:txBody>
        </p:sp>
      </p:grpSp>
      <p:grpSp>
        <p:nvGrpSpPr>
          <p:cNvPr id="97" name="Group 97">
            <a:extLst>
              <a:ext uri="{FF2B5EF4-FFF2-40B4-BE49-F238E27FC236}">
                <a16:creationId xmlns:a16="http://schemas.microsoft.com/office/drawing/2014/main" id="{78120AD8-30F6-D2C4-0A51-678E6A37A6A3}"/>
              </a:ext>
            </a:extLst>
          </p:cNvPr>
          <p:cNvGrpSpPr>
            <a:grpSpLocks/>
          </p:cNvGrpSpPr>
          <p:nvPr/>
        </p:nvGrpSpPr>
        <p:grpSpPr bwMode="auto">
          <a:xfrm>
            <a:off x="316771" y="4205972"/>
            <a:ext cx="5969000" cy="457200"/>
            <a:chOff x="391" y="2863"/>
            <a:chExt cx="3760" cy="288"/>
          </a:xfrm>
        </p:grpSpPr>
        <p:sp>
          <p:nvSpPr>
            <p:cNvPr id="98" name="Rectangle 98">
              <a:extLst>
                <a:ext uri="{FF2B5EF4-FFF2-40B4-BE49-F238E27FC236}">
                  <a16:creationId xmlns:a16="http://schemas.microsoft.com/office/drawing/2014/main" id="{B3159DB3-F339-35DA-4B4D-048E93700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2863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b="0">
                  <a:latin typeface="宋体" panose="02010600030101010101" pitchFamily="2" charset="-122"/>
                </a:rPr>
                <a:t>保持</a:t>
              </a:r>
            </a:p>
          </p:txBody>
        </p:sp>
        <p:sp>
          <p:nvSpPr>
            <p:cNvPr id="99" name="Rectangle 99">
              <a:extLst>
                <a:ext uri="{FF2B5EF4-FFF2-40B4-BE49-F238E27FC236}">
                  <a16:creationId xmlns:a16="http://schemas.microsoft.com/office/drawing/2014/main" id="{C1FB23A5-4C29-2653-8E7A-F5DEC872A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5" y="2863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b="0">
                  <a:latin typeface="宋体" panose="02010600030101010101" pitchFamily="2" charset="-122"/>
                </a:rPr>
                <a:t>保持</a:t>
              </a:r>
            </a:p>
          </p:txBody>
        </p:sp>
        <p:sp>
          <p:nvSpPr>
            <p:cNvPr id="100" name="Rectangle 100">
              <a:extLst>
                <a:ext uri="{FF2B5EF4-FFF2-40B4-BE49-F238E27FC236}">
                  <a16:creationId xmlns:a16="http://schemas.microsoft.com/office/drawing/2014/main" id="{7D88B0BC-AF6F-BEEC-3C4B-CF1071AC4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9" y="2863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b="0">
                  <a:latin typeface="宋体" panose="02010600030101010101" pitchFamily="2" charset="-122"/>
                </a:rPr>
                <a:t>更新</a:t>
              </a:r>
            </a:p>
          </p:txBody>
        </p:sp>
        <p:sp>
          <p:nvSpPr>
            <p:cNvPr id="101" name="Rectangle 101">
              <a:extLst>
                <a:ext uri="{FF2B5EF4-FFF2-40B4-BE49-F238E27FC236}">
                  <a16:creationId xmlns:a16="http://schemas.microsoft.com/office/drawing/2014/main" id="{CE3DAF58-C797-8831-943E-CABD41087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9" y="2863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b="0">
                  <a:latin typeface="宋体" panose="02010600030101010101" pitchFamily="2" charset="-122"/>
                </a:rPr>
                <a:t>保持</a:t>
              </a:r>
            </a:p>
          </p:txBody>
        </p:sp>
        <p:sp>
          <p:nvSpPr>
            <p:cNvPr id="102" name="Rectangle 102">
              <a:extLst>
                <a:ext uri="{FF2B5EF4-FFF2-40B4-BE49-F238E27FC236}">
                  <a16:creationId xmlns:a16="http://schemas.microsoft.com/office/drawing/2014/main" id="{333A02E1-00B4-0BAD-9A67-58998CAE2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2" y="2863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b="0">
                  <a:latin typeface="宋体" panose="02010600030101010101" pitchFamily="2" charset="-122"/>
                </a:rPr>
                <a:t>更新</a:t>
              </a:r>
            </a:p>
          </p:txBody>
        </p:sp>
        <p:sp>
          <p:nvSpPr>
            <p:cNvPr id="103" name="Rectangle 103">
              <a:extLst>
                <a:ext uri="{FF2B5EF4-FFF2-40B4-BE49-F238E27FC236}">
                  <a16:creationId xmlns:a16="http://schemas.microsoft.com/office/drawing/2014/main" id="{BFEAFC9A-CCED-45B2-97B2-907107BD5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2863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b="0">
                  <a:latin typeface="宋体" panose="02010600030101010101" pitchFamily="2" charset="-122"/>
                </a:rPr>
                <a:t>保持</a:t>
              </a:r>
            </a:p>
          </p:txBody>
        </p:sp>
        <p:sp>
          <p:nvSpPr>
            <p:cNvPr id="104" name="Rectangle 104">
              <a:extLst>
                <a:ext uri="{FF2B5EF4-FFF2-40B4-BE49-F238E27FC236}">
                  <a16:creationId xmlns:a16="http://schemas.microsoft.com/office/drawing/2014/main" id="{E102B6DF-0C0E-99D6-9F08-E442ECC50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4" y="2863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b="0">
                  <a:latin typeface="宋体" panose="02010600030101010101" pitchFamily="2" charset="-122"/>
                </a:rPr>
                <a:t>更新</a:t>
              </a:r>
            </a:p>
          </p:txBody>
        </p:sp>
        <p:sp>
          <p:nvSpPr>
            <p:cNvPr id="105" name="Rectangle 105">
              <a:extLst>
                <a:ext uri="{FF2B5EF4-FFF2-40B4-BE49-F238E27FC236}">
                  <a16:creationId xmlns:a16="http://schemas.microsoft.com/office/drawing/2014/main" id="{A5A942CF-5F80-805C-48A6-CBC9F24E5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" y="2863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b="0">
                  <a:latin typeface="宋体" panose="02010600030101010101" pitchFamily="2" charset="-122"/>
                </a:rPr>
                <a:t>主</a:t>
              </a:r>
            </a:p>
          </p:txBody>
        </p:sp>
      </p:grpSp>
      <p:sp>
        <p:nvSpPr>
          <p:cNvPr id="106" name="Line 106">
            <a:extLst>
              <a:ext uri="{FF2B5EF4-FFF2-40B4-BE49-F238E27FC236}">
                <a16:creationId xmlns:a16="http://schemas.microsoft.com/office/drawing/2014/main" id="{2B1D4B44-F4D9-E4C1-64E5-E6F76AE61294}"/>
              </a:ext>
            </a:extLst>
          </p:cNvPr>
          <p:cNvSpPr>
            <a:spLocks noChangeShapeType="1"/>
          </p:cNvSpPr>
          <p:nvPr/>
        </p:nvSpPr>
        <p:spPr bwMode="auto">
          <a:xfrm>
            <a:off x="991458" y="4098022"/>
            <a:ext cx="3698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Line 107">
            <a:extLst>
              <a:ext uri="{FF2B5EF4-FFF2-40B4-BE49-F238E27FC236}">
                <a16:creationId xmlns:a16="http://schemas.microsoft.com/office/drawing/2014/main" id="{04E0522C-DDFE-4FB2-CE1E-3DFFBB707C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91458" y="5142597"/>
            <a:ext cx="3698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8" name="图片 107">
            <a:extLst>
              <a:ext uri="{FF2B5EF4-FFF2-40B4-BE49-F238E27FC236}">
                <a16:creationId xmlns:a16="http://schemas.microsoft.com/office/drawing/2014/main" id="{784EF2F7-3368-05EE-484F-98D569BCF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712" y="3141421"/>
            <a:ext cx="3131702" cy="17570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17217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EEDFD2-48FD-E921-18A4-AA0125AB4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维持阻塞结构</a:t>
            </a:r>
            <a:r>
              <a:rPr lang="en-US" altLang="zh-CN" dirty="0"/>
              <a:t>D</a:t>
            </a:r>
            <a:r>
              <a:rPr lang="zh-CN" altLang="en-US" dirty="0"/>
              <a:t>触发器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9B13A5-C7B0-F7F2-AF0A-171E181DF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3136900" cy="5947119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zh-CN" altLang="en-US" sz="3200" dirty="0"/>
              <a:t>当</a:t>
            </a:r>
            <a:r>
              <a:rPr lang="en-US" altLang="zh-CN" sz="3200" dirty="0"/>
              <a:t>C=0</a:t>
            </a:r>
            <a:r>
              <a:rPr lang="zh-CN" altLang="en-US" sz="3200" dirty="0"/>
              <a:t>时</a:t>
            </a:r>
          </a:p>
          <a:p>
            <a:pPr lvl="1">
              <a:lnSpc>
                <a:spcPct val="110000"/>
              </a:lnSpc>
              <a:spcBef>
                <a:spcPct val="30000"/>
              </a:spcBef>
            </a:pPr>
            <a:r>
              <a:rPr lang="en-US" altLang="zh-CN" dirty="0"/>
              <a:t>Q</a:t>
            </a:r>
            <a:r>
              <a:rPr lang="en-US" altLang="zh-CN" baseline="-25000" dirty="0"/>
              <a:t>2</a:t>
            </a:r>
            <a:r>
              <a:rPr lang="en-US" altLang="zh-CN" dirty="0"/>
              <a:t>=1</a:t>
            </a:r>
            <a:r>
              <a:rPr lang="zh-CN" altLang="en-US" dirty="0"/>
              <a:t>，</a:t>
            </a:r>
            <a:r>
              <a:rPr lang="en-US" altLang="zh-CN" dirty="0"/>
              <a:t>Q</a:t>
            </a:r>
            <a:r>
              <a:rPr lang="en-US" altLang="zh-CN" baseline="-25000" dirty="0"/>
              <a:t>3</a:t>
            </a:r>
            <a:r>
              <a:rPr lang="en-US" altLang="zh-CN" dirty="0"/>
              <a:t>=1</a:t>
            </a:r>
            <a:r>
              <a:rPr lang="zh-CN" altLang="en-US" dirty="0"/>
              <a:t>，</a:t>
            </a:r>
            <a:r>
              <a:rPr lang="en-US" altLang="zh-CN" dirty="0"/>
              <a:t>Q</a:t>
            </a:r>
            <a:r>
              <a:rPr lang="zh-CN" altLang="en-US" dirty="0"/>
              <a:t>、</a:t>
            </a:r>
            <a:r>
              <a:rPr lang="en-US" altLang="zh-CN" dirty="0"/>
              <a:t>Q</a:t>
            </a:r>
            <a:r>
              <a:rPr lang="zh-CN" altLang="en-US" dirty="0"/>
              <a:t>保持</a:t>
            </a:r>
          </a:p>
          <a:p>
            <a:pPr lvl="1">
              <a:lnSpc>
                <a:spcPct val="110000"/>
              </a:lnSpc>
              <a:spcBef>
                <a:spcPct val="30000"/>
              </a:spcBef>
            </a:pPr>
            <a:r>
              <a:rPr lang="en-US" altLang="zh-CN" dirty="0"/>
              <a:t>Q</a:t>
            </a:r>
            <a:r>
              <a:rPr lang="en-US" altLang="zh-CN" baseline="-25000" dirty="0"/>
              <a:t>4</a:t>
            </a:r>
            <a:r>
              <a:rPr lang="en-US" altLang="zh-CN" dirty="0"/>
              <a:t>=D</a:t>
            </a:r>
            <a:r>
              <a:rPr lang="zh-CN" altLang="en-US" dirty="0"/>
              <a:t>，</a:t>
            </a:r>
            <a:r>
              <a:rPr lang="en-US" altLang="zh-CN" dirty="0"/>
              <a:t>Q</a:t>
            </a:r>
            <a:r>
              <a:rPr lang="en-US" altLang="zh-CN" baseline="-25000" dirty="0"/>
              <a:t>1</a:t>
            </a:r>
            <a:r>
              <a:rPr lang="en-US" altLang="zh-CN" dirty="0"/>
              <a:t>=D</a:t>
            </a:r>
          </a:p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zh-CN" altLang="en-US" sz="3200" dirty="0"/>
              <a:t>触发器为状态更新作好准备</a:t>
            </a:r>
            <a:endParaRPr lang="en-US" altLang="zh-CN" sz="3200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26E0E66-DA45-3A41-5C73-74950ED0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2C8D43-22FF-FF1E-9171-5CD29866E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9</a:t>
            </a:fld>
            <a:r>
              <a:rPr lang="en-US" altLang="zh-CN" dirty="0"/>
              <a:t>/29</a:t>
            </a:r>
            <a:endParaRPr lang="en-US" dirty="0"/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8F7B3636-7361-1B15-48B3-1F59F3DFBC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2024063"/>
          <a:ext cx="4806950" cy="440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2250246" imgH="2058541" progId="Word.Picture.8">
                  <p:embed/>
                </p:oleObj>
              </mc:Choice>
              <mc:Fallback>
                <p:oleObj name="图片" r:id="rId2" imgW="2250246" imgH="2058541" progId="Word.Picture.8">
                  <p:embed/>
                  <p:pic>
                    <p:nvPicPr>
                      <p:cNvPr id="163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2024063"/>
                        <a:ext cx="4806950" cy="440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>
            <a:extLst>
              <a:ext uri="{FF2B5EF4-FFF2-40B4-BE49-F238E27FC236}">
                <a16:creationId xmlns:a16="http://schemas.microsoft.com/office/drawing/2014/main" id="{E739271D-8D83-771B-7787-F5F81BB0F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3608388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E2F1D21E-2E9B-E157-C6D8-6128F1BB8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4868863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42F6F894-9800-5AD5-B2BE-C277C76CC0D7}"/>
              </a:ext>
            </a:extLst>
          </p:cNvPr>
          <p:cNvGrpSpPr>
            <a:grpSpLocks/>
          </p:cNvGrpSpPr>
          <p:nvPr/>
        </p:nvGrpSpPr>
        <p:grpSpPr bwMode="auto">
          <a:xfrm>
            <a:off x="6372225" y="5624513"/>
            <a:ext cx="404813" cy="457200"/>
            <a:chOff x="4014" y="3543"/>
            <a:chExt cx="255" cy="288"/>
          </a:xfrm>
        </p:grpSpPr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1B70CBE4-2DE1-4D82-FC3B-960FD01EBB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3543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C1DFC60C-071C-B583-7EF5-829CBFA985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" y="3566"/>
              <a:ext cx="15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" name="Text Box 12">
            <a:extLst>
              <a:ext uri="{FF2B5EF4-FFF2-40B4-BE49-F238E27FC236}">
                <a16:creationId xmlns:a16="http://schemas.microsoft.com/office/drawing/2014/main" id="{DFFED2CD-09F7-A2BD-3CC0-656C4D838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23955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46695D93-DEF4-3EED-D0BA-DB4B6BFD2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4138" y="4437063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0</a:t>
            </a: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E2F6EC9-27C6-5D30-A22E-B6D0E8856F64}"/>
              </a:ext>
            </a:extLst>
          </p:cNvPr>
          <p:cNvGrpSpPr>
            <a:grpSpLocks/>
          </p:cNvGrpSpPr>
          <p:nvPr/>
        </p:nvGrpSpPr>
        <p:grpSpPr bwMode="auto">
          <a:xfrm>
            <a:off x="5002213" y="2600325"/>
            <a:ext cx="901700" cy="828675"/>
            <a:chOff x="3151" y="1638"/>
            <a:chExt cx="568" cy="522"/>
          </a:xfrm>
        </p:grpSpPr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C5883A97-9EE8-6DAC-42C3-72FC14C565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9" y="1638"/>
              <a:ext cx="0" cy="204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C5C421BB-836B-CDE6-F63C-EB8649DFE9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82" y="1638"/>
              <a:ext cx="137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3C21D61C-FD07-FD00-2325-B37FEB5F48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52" y="1842"/>
              <a:ext cx="567" cy="182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23982287-6327-4EAE-80F4-D98B49A732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52" y="2024"/>
              <a:ext cx="0" cy="136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15628504-0EF8-D76C-65BC-29E378368C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51" y="2160"/>
              <a:ext cx="183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7F48534C-5C65-E309-FF97-6B2C62927A24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5013325"/>
            <a:ext cx="973138" cy="863600"/>
            <a:chOff x="3152" y="3158"/>
            <a:chExt cx="613" cy="544"/>
          </a:xfrm>
        </p:grpSpPr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2EB3B01A-8137-3FEB-C529-A1D6BF1E54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65" y="3475"/>
              <a:ext cx="0" cy="227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3C46C61F-7698-3DD1-94CB-669478B8A1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52" y="3294"/>
              <a:ext cx="613" cy="182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6D1220BE-2D8A-6AC5-A9BF-2EAE954EE0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52" y="3158"/>
              <a:ext cx="0" cy="136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C6CA8307-0BDA-4E92-B961-FA42049DB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52" y="3158"/>
              <a:ext cx="182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E9BB60D4-D494-3279-8D2C-739D812F54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82" y="3702"/>
              <a:ext cx="183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361DDA63-5615-8B28-7C62-39C917507E47}"/>
              </a:ext>
            </a:extLst>
          </p:cNvPr>
          <p:cNvGrpSpPr>
            <a:grpSpLocks/>
          </p:cNvGrpSpPr>
          <p:nvPr/>
        </p:nvGrpSpPr>
        <p:grpSpPr bwMode="auto">
          <a:xfrm>
            <a:off x="6888163" y="1481138"/>
            <a:ext cx="2005012" cy="989012"/>
            <a:chOff x="2314" y="1502"/>
            <a:chExt cx="1436" cy="781"/>
          </a:xfrm>
        </p:grpSpPr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CFFDC4C1-F8E2-3DE2-FD02-6762FEBDD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" y="1502"/>
              <a:ext cx="527" cy="77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21462639-4920-C8AD-5F8C-52E58EC476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4" y="1685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A66A3108-2549-36A6-74C9-80A694D87C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4" y="206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>
              <a:extLst>
                <a:ext uri="{FF2B5EF4-FFF2-40B4-BE49-F238E27FC236}">
                  <a16:creationId xmlns:a16="http://schemas.microsoft.com/office/drawing/2014/main" id="{1E7405F4-C65F-3185-503C-36F924A36A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1" y="1685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31">
              <a:extLst>
                <a:ext uri="{FF2B5EF4-FFF2-40B4-BE49-F238E27FC236}">
                  <a16:creationId xmlns:a16="http://schemas.microsoft.com/office/drawing/2014/main" id="{AFB8194E-423E-4817-CC9E-4DF7C57FBA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1" y="206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 Box 32">
              <a:extLst>
                <a:ext uri="{FF2B5EF4-FFF2-40B4-BE49-F238E27FC236}">
                  <a16:creationId xmlns:a16="http://schemas.microsoft.com/office/drawing/2014/main" id="{6901D60A-522F-DFF8-AD7C-49A07E7DD8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1" y="1532"/>
              <a:ext cx="255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D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33" name="Text Box 33">
              <a:extLst>
                <a:ext uri="{FF2B5EF4-FFF2-40B4-BE49-F238E27FC236}">
                  <a16:creationId xmlns:a16="http://schemas.microsoft.com/office/drawing/2014/main" id="{28C35020-F156-A032-9BD9-80713823F8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0" y="1922"/>
              <a:ext cx="290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C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34" name="Text Box 34">
              <a:extLst>
                <a:ext uri="{FF2B5EF4-FFF2-40B4-BE49-F238E27FC236}">
                  <a16:creationId xmlns:a16="http://schemas.microsoft.com/office/drawing/2014/main" id="{420CD35C-3458-9E20-288B-CB4F7681DF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8" y="1532"/>
              <a:ext cx="302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35" name="Text Box 35">
              <a:extLst>
                <a:ext uri="{FF2B5EF4-FFF2-40B4-BE49-F238E27FC236}">
                  <a16:creationId xmlns:a16="http://schemas.microsoft.com/office/drawing/2014/main" id="{5DF405D6-0E5B-3671-03A6-3B1E532E2C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9" y="1909"/>
              <a:ext cx="301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36" name="Line 36">
              <a:extLst>
                <a:ext uri="{FF2B5EF4-FFF2-40B4-BE49-F238E27FC236}">
                  <a16:creationId xmlns:a16="http://schemas.microsoft.com/office/drawing/2014/main" id="{ED434923-1839-D435-9154-8DEBE46C2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0" y="1955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Oval 37">
              <a:extLst>
                <a:ext uri="{FF2B5EF4-FFF2-40B4-BE49-F238E27FC236}">
                  <a16:creationId xmlns:a16="http://schemas.microsoft.com/office/drawing/2014/main" id="{7266126A-6A29-7EDC-5892-8AEB13A43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" y="2023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4C730748-DBE0-35BC-C94F-B9D5116FC5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2" y="1974"/>
              <a:ext cx="9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39">
              <a:extLst>
                <a:ext uri="{FF2B5EF4-FFF2-40B4-BE49-F238E27FC236}">
                  <a16:creationId xmlns:a16="http://schemas.microsoft.com/office/drawing/2014/main" id="{5C8A1403-3E4D-DE9A-CB75-77790A408D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2" y="2064"/>
              <a:ext cx="9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" name="Line 5">
            <a:extLst>
              <a:ext uri="{FF2B5EF4-FFF2-40B4-BE49-F238E27FC236}">
                <a16:creationId xmlns:a16="http://schemas.microsoft.com/office/drawing/2014/main" id="{F088F8AD-FF8E-24A8-05D2-8CC601EDD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2162" y="1714199"/>
            <a:ext cx="252413" cy="0"/>
          </a:xfrm>
          <a:prstGeom prst="line">
            <a:avLst/>
          </a:prstGeom>
          <a:noFill/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5">
            <a:extLst>
              <a:ext uri="{FF2B5EF4-FFF2-40B4-BE49-F238E27FC236}">
                <a16:creationId xmlns:a16="http://schemas.microsoft.com/office/drawing/2014/main" id="{78A2ABFD-B56C-3917-4BC5-6BDDBC2DCA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31964" y="2225413"/>
            <a:ext cx="252413" cy="0"/>
          </a:xfrm>
          <a:prstGeom prst="line">
            <a:avLst/>
          </a:prstGeom>
          <a:noFill/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83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  <p:bldP spid="40" grpId="0" animBg="1"/>
      <p:bldP spid="4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C64F4C-7306-C09C-BFF9-D39D3D203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维持阻塞结构</a:t>
            </a:r>
            <a:r>
              <a:rPr lang="en-US" altLang="zh-CN" dirty="0"/>
              <a:t>D</a:t>
            </a:r>
            <a:r>
              <a:rPr lang="zh-CN" altLang="en-US" dirty="0"/>
              <a:t>触发器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1)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715AB7-FAB3-FAC4-C23D-87FEB5DF3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3269430" cy="5947119"/>
          </a:xfrm>
        </p:spPr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由</a:t>
            </a:r>
            <a:r>
              <a:rPr lang="en-US" altLang="zh-CN" dirty="0"/>
              <a:t>0</a:t>
            </a:r>
            <a:r>
              <a:rPr lang="zh-CN" altLang="en-US" dirty="0"/>
              <a:t>变为</a:t>
            </a:r>
            <a:r>
              <a:rPr lang="en-US" altLang="zh-CN" dirty="0"/>
              <a:t>1</a:t>
            </a:r>
            <a:r>
              <a:rPr lang="zh-CN" altLang="en-US" dirty="0"/>
              <a:t>时</a:t>
            </a:r>
          </a:p>
          <a:p>
            <a:r>
              <a:rPr lang="zh-CN" altLang="en-US" dirty="0"/>
              <a:t>若</a:t>
            </a:r>
            <a:r>
              <a:rPr lang="en-US" altLang="zh-CN" dirty="0"/>
              <a:t>Q4=1</a:t>
            </a:r>
            <a:r>
              <a:rPr lang="zh-CN" altLang="en-US" dirty="0"/>
              <a:t>，</a:t>
            </a:r>
            <a:r>
              <a:rPr lang="en-US" altLang="zh-CN" dirty="0"/>
              <a:t>Q1=0</a:t>
            </a:r>
            <a:r>
              <a:rPr lang="zh-CN" altLang="en-US" dirty="0"/>
              <a:t>，即</a:t>
            </a:r>
            <a:r>
              <a:rPr lang="en-US" altLang="zh-CN" dirty="0"/>
              <a:t>D=0</a:t>
            </a:r>
            <a:r>
              <a:rPr lang="zh-CN" altLang="en-US" dirty="0"/>
              <a:t>，则</a:t>
            </a:r>
          </a:p>
          <a:p>
            <a:pPr lvl="1"/>
            <a:r>
              <a:rPr lang="en-US" altLang="zh-CN" dirty="0"/>
              <a:t>Q3=0, Q2=1</a:t>
            </a:r>
          </a:p>
          <a:p>
            <a:pPr lvl="1" algn="just"/>
            <a:r>
              <a:rPr lang="en-US" altLang="zh-CN" dirty="0"/>
              <a:t>Q3=0, </a:t>
            </a:r>
            <a:r>
              <a:rPr lang="zh-CN" altLang="en-US" dirty="0"/>
              <a:t>将</a:t>
            </a:r>
            <a:r>
              <a:rPr lang="en-US" altLang="zh-CN" dirty="0"/>
              <a:t>Q</a:t>
            </a:r>
            <a:r>
              <a:rPr lang="zh-CN" altLang="en-US" dirty="0"/>
              <a:t>置</a:t>
            </a:r>
            <a:r>
              <a:rPr lang="en-US" altLang="zh-CN" dirty="0"/>
              <a:t>0</a:t>
            </a:r>
            <a:r>
              <a:rPr lang="zh-CN" altLang="en-US" dirty="0"/>
              <a:t>，封锁</a:t>
            </a:r>
            <a:r>
              <a:rPr lang="en-US" altLang="zh-CN" dirty="0"/>
              <a:t>G4</a:t>
            </a:r>
            <a:r>
              <a:rPr lang="zh-CN" altLang="en-US" dirty="0"/>
              <a:t>，随后</a:t>
            </a:r>
            <a:r>
              <a:rPr lang="en-US" altLang="zh-CN" dirty="0"/>
              <a:t>D</a:t>
            </a:r>
            <a:r>
              <a:rPr lang="zh-CN" altLang="en-US" dirty="0"/>
              <a:t>的变化不影响</a:t>
            </a:r>
            <a:r>
              <a:rPr lang="en-US" altLang="zh-CN" dirty="0"/>
              <a:t>Q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FE06EF6-5933-BF69-EDA6-50D0A360C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C145A4-FFC1-C93E-F216-6B4E88447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10</a:t>
            </a:fld>
            <a:r>
              <a:rPr lang="en-US" altLang="zh-CN" dirty="0"/>
              <a:t>/29</a:t>
            </a:r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0D11F72F-4845-69B5-4970-E0C31047A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75" y="4868863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EE949D5B-6486-CE69-EFB0-AD8AC1C1B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7788" y="4437063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47532DB8-6704-F59B-5FC5-5DE1A47DB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3608388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B170D52F-D745-28DB-AC15-F40FAEF65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4905375"/>
            <a:ext cx="277812" cy="365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0" rIns="5400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2CCA5C19-C49C-D640-7784-67426A6EF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2395538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0</a:t>
            </a:r>
          </a:p>
        </p:txBody>
      </p:sp>
      <p:grpSp>
        <p:nvGrpSpPr>
          <p:cNvPr id="11" name="Group 9">
            <a:extLst>
              <a:ext uri="{FF2B5EF4-FFF2-40B4-BE49-F238E27FC236}">
                <a16:creationId xmlns:a16="http://schemas.microsoft.com/office/drawing/2014/main" id="{41723124-1E1E-4B77-7173-855CBA9100E5}"/>
              </a:ext>
            </a:extLst>
          </p:cNvPr>
          <p:cNvGrpSpPr>
            <a:grpSpLocks/>
          </p:cNvGrpSpPr>
          <p:nvPr/>
        </p:nvGrpSpPr>
        <p:grpSpPr bwMode="auto">
          <a:xfrm>
            <a:off x="4997450" y="4905375"/>
            <a:ext cx="979488" cy="803275"/>
            <a:chOff x="2259" y="2781"/>
            <a:chExt cx="662" cy="506"/>
          </a:xfrm>
        </p:grpSpPr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51F9D513-9234-2D88-CAF4-721350976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3" y="2781"/>
              <a:ext cx="0" cy="199"/>
            </a:xfrm>
            <a:prstGeom prst="line">
              <a:avLst/>
            </a:prstGeom>
            <a:noFill/>
            <a:ln w="57150">
              <a:solidFill>
                <a:srgbClr val="33CC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98D78494-1A32-BE3C-71C8-E5B50CA633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60" y="2962"/>
              <a:ext cx="661" cy="199"/>
            </a:xfrm>
            <a:prstGeom prst="line">
              <a:avLst/>
            </a:prstGeom>
            <a:noFill/>
            <a:ln w="57150">
              <a:solidFill>
                <a:srgbClr val="33CC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A85A44A6-C378-DBDB-5D51-8360AD5968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0" y="3161"/>
              <a:ext cx="0" cy="126"/>
            </a:xfrm>
            <a:prstGeom prst="line">
              <a:avLst/>
            </a:prstGeom>
            <a:noFill/>
            <a:ln w="57150">
              <a:solidFill>
                <a:srgbClr val="33CC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D1979FDA-0403-4AB7-9AC4-B0D00B6BF6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9" y="3287"/>
              <a:ext cx="195" cy="0"/>
            </a:xfrm>
            <a:prstGeom prst="line">
              <a:avLst/>
            </a:prstGeom>
            <a:noFill/>
            <a:ln w="57150">
              <a:solidFill>
                <a:srgbClr val="33CC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" name="Text Box 14">
            <a:extLst>
              <a:ext uri="{FF2B5EF4-FFF2-40B4-BE49-F238E27FC236}">
                <a16:creationId xmlns:a16="http://schemas.microsoft.com/office/drawing/2014/main" id="{C610F1B6-D47B-6C1E-0FB8-E6E626BF0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598487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120689F4-04E2-296C-1F30-97EF4767B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5624513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8" name="AutoShape 16">
            <a:extLst>
              <a:ext uri="{FF2B5EF4-FFF2-40B4-BE49-F238E27FC236}">
                <a16:creationId xmlns:a16="http://schemas.microsoft.com/office/drawing/2014/main" id="{2E6BABA8-90C6-5798-650B-DD77DBA5B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5589588"/>
            <a:ext cx="1476375" cy="503237"/>
          </a:xfrm>
          <a:prstGeom prst="wedgeRoundRectCallout">
            <a:avLst>
              <a:gd name="adj1" fmla="val -116773"/>
              <a:gd name="adj2" fmla="val -119718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latin typeface="Arial" panose="020B0604020202020204" pitchFamily="34" charset="0"/>
              </a:rPr>
              <a:t>置</a:t>
            </a:r>
            <a:r>
              <a:rPr lang="en-US" altLang="zh-CN" sz="2000">
                <a:latin typeface="Arial" panose="020B0604020202020204" pitchFamily="34" charset="0"/>
              </a:rPr>
              <a:t>0</a:t>
            </a:r>
            <a:r>
              <a:rPr lang="zh-CN" altLang="en-US" sz="2000">
                <a:latin typeface="Arial" panose="020B0604020202020204" pitchFamily="34" charset="0"/>
              </a:rPr>
              <a:t>维持线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DECE229E-C6D2-70F3-72F1-32DBB491F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307975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0</a:t>
            </a:r>
          </a:p>
        </p:txBody>
      </p:sp>
      <p:grpSp>
        <p:nvGrpSpPr>
          <p:cNvPr id="20" name="Group 18">
            <a:extLst>
              <a:ext uri="{FF2B5EF4-FFF2-40B4-BE49-F238E27FC236}">
                <a16:creationId xmlns:a16="http://schemas.microsoft.com/office/drawing/2014/main" id="{BD95B382-2D48-4B1B-133E-D36BABE244D3}"/>
              </a:ext>
            </a:extLst>
          </p:cNvPr>
          <p:cNvGrpSpPr>
            <a:grpSpLocks/>
          </p:cNvGrpSpPr>
          <p:nvPr/>
        </p:nvGrpSpPr>
        <p:grpSpPr bwMode="auto">
          <a:xfrm>
            <a:off x="6888163" y="1481138"/>
            <a:ext cx="2005012" cy="989012"/>
            <a:chOff x="2314" y="1502"/>
            <a:chExt cx="1436" cy="781"/>
          </a:xfrm>
        </p:grpSpPr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C502208B-DB49-2B66-4717-9F8C8F3C1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" y="1502"/>
              <a:ext cx="527" cy="77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EBD1A44D-F566-D809-426D-6E9D265522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4" y="1685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4D5B635E-C5AD-DADB-8AF8-152C023676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4" y="206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A69F0880-7B5D-3EBA-D8B2-14F24C543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1" y="1685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180BDC9A-E62D-AF76-C52A-6BF85035E4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1" y="206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 Box 24">
              <a:extLst>
                <a:ext uri="{FF2B5EF4-FFF2-40B4-BE49-F238E27FC236}">
                  <a16:creationId xmlns:a16="http://schemas.microsoft.com/office/drawing/2014/main" id="{938B3194-90F8-A092-37C8-C915B85FFA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1" y="1532"/>
              <a:ext cx="255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D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27" name="Text Box 25">
              <a:extLst>
                <a:ext uri="{FF2B5EF4-FFF2-40B4-BE49-F238E27FC236}">
                  <a16:creationId xmlns:a16="http://schemas.microsoft.com/office/drawing/2014/main" id="{34FDE15B-10CA-1C42-EE0D-5A03FD9CFF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0" y="1922"/>
              <a:ext cx="290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C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28" name="Text Box 26">
              <a:extLst>
                <a:ext uri="{FF2B5EF4-FFF2-40B4-BE49-F238E27FC236}">
                  <a16:creationId xmlns:a16="http://schemas.microsoft.com/office/drawing/2014/main" id="{15C19421-4553-404F-8BBE-430D26F48B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8" y="1532"/>
              <a:ext cx="302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29" name="Text Box 27">
              <a:extLst>
                <a:ext uri="{FF2B5EF4-FFF2-40B4-BE49-F238E27FC236}">
                  <a16:creationId xmlns:a16="http://schemas.microsoft.com/office/drawing/2014/main" id="{7ECEF3D1-0F02-EC78-D9B6-72E535583B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9" y="1909"/>
              <a:ext cx="301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246D2454-72D4-80A8-813B-1A77F10063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0" y="1955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Oval 29">
              <a:extLst>
                <a:ext uri="{FF2B5EF4-FFF2-40B4-BE49-F238E27FC236}">
                  <a16:creationId xmlns:a16="http://schemas.microsoft.com/office/drawing/2014/main" id="{DFB57AA1-D663-E1B5-492A-8E49B1AB1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" y="2023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2" name="Line 30">
              <a:extLst>
                <a:ext uri="{FF2B5EF4-FFF2-40B4-BE49-F238E27FC236}">
                  <a16:creationId xmlns:a16="http://schemas.microsoft.com/office/drawing/2014/main" id="{48C504BB-1BC3-BAAC-3389-0BA075B87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2" y="1974"/>
              <a:ext cx="9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69FEB2CE-FDF6-151F-69ED-15F11CA72E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2" y="2064"/>
              <a:ext cx="9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" name="Text Box 32">
            <a:extLst>
              <a:ext uri="{FF2B5EF4-FFF2-40B4-BE49-F238E27FC236}">
                <a16:creationId xmlns:a16="http://schemas.microsoft.com/office/drawing/2014/main" id="{89AFB221-F3F2-7BFE-4CE0-7B9A1039E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3608388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35" name="Group 33">
            <a:extLst>
              <a:ext uri="{FF2B5EF4-FFF2-40B4-BE49-F238E27FC236}">
                <a16:creationId xmlns:a16="http://schemas.microsoft.com/office/drawing/2014/main" id="{AE550D72-B46A-4199-C6FE-AD4695196EF8}"/>
              </a:ext>
            </a:extLst>
          </p:cNvPr>
          <p:cNvGrpSpPr>
            <a:grpSpLocks/>
          </p:cNvGrpSpPr>
          <p:nvPr/>
        </p:nvGrpSpPr>
        <p:grpSpPr bwMode="auto">
          <a:xfrm>
            <a:off x="3887788" y="4508500"/>
            <a:ext cx="360362" cy="358775"/>
            <a:chOff x="1497" y="3884"/>
            <a:chExt cx="227" cy="226"/>
          </a:xfrm>
        </p:grpSpPr>
        <p:sp>
          <p:nvSpPr>
            <p:cNvPr id="36" name="Rectangle 34">
              <a:extLst>
                <a:ext uri="{FF2B5EF4-FFF2-40B4-BE49-F238E27FC236}">
                  <a16:creationId xmlns:a16="http://schemas.microsoft.com/office/drawing/2014/main" id="{84D9CABE-E1DA-0769-F14D-90D49590F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" y="3884"/>
              <a:ext cx="227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E06C17D1-7F89-85FB-A2D6-3195E1542A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0" y="3906"/>
              <a:ext cx="0" cy="18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8" name="Object 2">
            <a:extLst>
              <a:ext uri="{FF2B5EF4-FFF2-40B4-BE49-F238E27FC236}">
                <a16:creationId xmlns:a16="http://schemas.microsoft.com/office/drawing/2014/main" id="{B4577BAC-6990-69B3-69A1-27D479F5A1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2024063"/>
          <a:ext cx="4806950" cy="440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2250246" imgH="2058541" progId="Word.Picture.8">
                  <p:embed/>
                </p:oleObj>
              </mc:Choice>
              <mc:Fallback>
                <p:oleObj name="Picture" r:id="rId2" imgW="2250246" imgH="2058541" progId="Word.Picture.8">
                  <p:embed/>
                  <p:pic>
                    <p:nvPicPr>
                      <p:cNvPr id="1845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2024063"/>
                        <a:ext cx="4806950" cy="440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309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8" grpId="0" animBg="1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2EDD7E-754B-8226-CC23-68921A55C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维持阻塞结构</a:t>
            </a:r>
            <a:r>
              <a:rPr lang="en-US" altLang="zh-CN" dirty="0"/>
              <a:t>D</a:t>
            </a:r>
            <a:r>
              <a:rPr lang="zh-CN" altLang="en-US" dirty="0"/>
              <a:t>触发器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2)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3C5EDB-133E-CE8A-ED23-DBE3A9A06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3558797" cy="5947119"/>
          </a:xfrm>
        </p:spPr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由</a:t>
            </a:r>
            <a:r>
              <a:rPr lang="en-US" altLang="zh-CN" dirty="0"/>
              <a:t>0</a:t>
            </a:r>
            <a:r>
              <a:rPr lang="zh-CN" altLang="en-US" dirty="0"/>
              <a:t>变为</a:t>
            </a:r>
            <a:r>
              <a:rPr lang="en-US" altLang="zh-CN" dirty="0"/>
              <a:t>1</a:t>
            </a:r>
            <a:r>
              <a:rPr lang="zh-CN" altLang="en-US" dirty="0"/>
              <a:t>时</a:t>
            </a:r>
          </a:p>
          <a:p>
            <a:r>
              <a:rPr lang="zh-CN" altLang="en-US" dirty="0"/>
              <a:t>若</a:t>
            </a:r>
            <a:r>
              <a:rPr lang="en-US" altLang="zh-CN" dirty="0"/>
              <a:t>Q4=0</a:t>
            </a:r>
            <a:r>
              <a:rPr lang="zh-CN" altLang="en-US" dirty="0"/>
              <a:t>，</a:t>
            </a:r>
            <a:r>
              <a:rPr lang="en-US" altLang="zh-CN" dirty="0"/>
              <a:t>Q1=1</a:t>
            </a:r>
            <a:r>
              <a:rPr lang="zh-CN" altLang="en-US" dirty="0"/>
              <a:t>，即</a:t>
            </a:r>
            <a:r>
              <a:rPr lang="en-US" altLang="zh-CN" dirty="0"/>
              <a:t>D=1</a:t>
            </a:r>
            <a:r>
              <a:rPr lang="zh-CN" altLang="en-US" dirty="0"/>
              <a:t>，则</a:t>
            </a:r>
          </a:p>
          <a:p>
            <a:pPr lvl="1" algn="just"/>
            <a:r>
              <a:rPr lang="en-US" altLang="zh-CN" dirty="0"/>
              <a:t>Q3=1, Q2=0</a:t>
            </a:r>
          </a:p>
          <a:p>
            <a:pPr lvl="1" algn="just"/>
            <a:r>
              <a:rPr lang="en-US" altLang="zh-CN" dirty="0"/>
              <a:t>Q2=0, </a:t>
            </a:r>
            <a:r>
              <a:rPr lang="zh-CN" altLang="en-US" dirty="0"/>
              <a:t>将</a:t>
            </a:r>
            <a:r>
              <a:rPr lang="en-US" altLang="zh-CN" dirty="0"/>
              <a:t>Q</a:t>
            </a:r>
            <a:r>
              <a:rPr lang="zh-CN" altLang="en-US" dirty="0"/>
              <a:t>置</a:t>
            </a:r>
            <a:r>
              <a:rPr lang="en-US" altLang="zh-CN" dirty="0"/>
              <a:t>1</a:t>
            </a:r>
            <a:r>
              <a:rPr lang="zh-CN" altLang="en-US" dirty="0"/>
              <a:t>，封锁</a:t>
            </a:r>
            <a:r>
              <a:rPr lang="en-US" altLang="zh-CN" dirty="0"/>
              <a:t>G1</a:t>
            </a:r>
            <a:r>
              <a:rPr lang="zh-CN" altLang="en-US" dirty="0"/>
              <a:t>、</a:t>
            </a:r>
            <a:r>
              <a:rPr lang="en-US" altLang="zh-CN" dirty="0"/>
              <a:t>G3 </a:t>
            </a:r>
            <a:r>
              <a:rPr lang="zh-CN" altLang="en-US" dirty="0"/>
              <a:t>，维持</a:t>
            </a:r>
            <a:r>
              <a:rPr lang="en-US" altLang="zh-CN" dirty="0"/>
              <a:t>Q</a:t>
            </a:r>
            <a:r>
              <a:rPr lang="zh-CN" altLang="en-US" dirty="0"/>
              <a:t>，阻止随后</a:t>
            </a:r>
            <a:r>
              <a:rPr lang="en-US" altLang="zh-CN" dirty="0"/>
              <a:t>D</a:t>
            </a:r>
            <a:r>
              <a:rPr lang="zh-CN" altLang="en-US" dirty="0"/>
              <a:t>的变化影响</a:t>
            </a:r>
            <a:r>
              <a:rPr lang="en-US" altLang="zh-CN" dirty="0"/>
              <a:t>Q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99E0D8-974A-1DFC-6A1F-1BC2FDAE5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36B473-BEC6-E7E4-E56D-EABCB2E1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11</a:t>
            </a:fld>
            <a:r>
              <a:rPr lang="en-US" altLang="zh-CN" dirty="0"/>
              <a:t>/29</a:t>
            </a:r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A1ADFEAD-1AF2-4B4C-7D7F-1AA119F41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3608388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D48B4748-07FB-0B60-4554-844BE4CAA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3608388"/>
            <a:ext cx="354012" cy="365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DBF10BDA-337F-0B9B-4986-0AD75C11C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75" y="4868863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113988D0-2C41-473E-CB05-B1986D933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2395538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1381908A-4BD9-C93F-1CE5-88DCCA844394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3533775"/>
            <a:ext cx="936625" cy="1155700"/>
            <a:chOff x="453" y="2341"/>
            <a:chExt cx="748" cy="862"/>
          </a:xfrm>
        </p:grpSpPr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8700EA54-76E5-7A8B-6628-F21ABAFDFD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1" y="2341"/>
              <a:ext cx="0" cy="295"/>
            </a:xfrm>
            <a:prstGeom prst="line">
              <a:avLst/>
            </a:prstGeom>
            <a:noFill/>
            <a:ln w="57150">
              <a:solidFill>
                <a:srgbClr val="CC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7F8F3507-C90B-DE3A-48DC-F64B60BE73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" y="2635"/>
              <a:ext cx="748" cy="318"/>
            </a:xfrm>
            <a:prstGeom prst="line">
              <a:avLst/>
            </a:prstGeom>
            <a:noFill/>
            <a:ln w="57150">
              <a:solidFill>
                <a:srgbClr val="CC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75A670DA-6319-F1CD-5A84-5F45E1F69B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" y="2931"/>
              <a:ext cx="0" cy="272"/>
            </a:xfrm>
            <a:prstGeom prst="line">
              <a:avLst/>
            </a:prstGeom>
            <a:noFill/>
            <a:ln w="57150">
              <a:solidFill>
                <a:srgbClr val="CC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863919CF-4691-CF08-0F07-24F0833E81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" y="3203"/>
              <a:ext cx="204" cy="0"/>
            </a:xfrm>
            <a:prstGeom prst="line">
              <a:avLst/>
            </a:prstGeom>
            <a:noFill/>
            <a:ln w="57150">
              <a:solidFill>
                <a:srgbClr val="CC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13">
            <a:extLst>
              <a:ext uri="{FF2B5EF4-FFF2-40B4-BE49-F238E27FC236}">
                <a16:creationId xmlns:a16="http://schemas.microsoft.com/office/drawing/2014/main" id="{DF3B256A-0750-2A0F-3B2A-3AB4B5A153DD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2708275"/>
            <a:ext cx="936625" cy="828675"/>
            <a:chOff x="453" y="1411"/>
            <a:chExt cx="748" cy="590"/>
          </a:xfrm>
        </p:grpSpPr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E07D0AAB-41E9-AAC4-9298-3A5F448F64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1" y="1774"/>
              <a:ext cx="0" cy="227"/>
            </a:xfrm>
            <a:prstGeom prst="line">
              <a:avLst/>
            </a:prstGeom>
            <a:noFill/>
            <a:ln w="57150">
              <a:solidFill>
                <a:srgbClr val="33CC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8702F7D7-DBC3-9290-D546-2BBA9F7C2C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3" y="1547"/>
              <a:ext cx="748" cy="227"/>
            </a:xfrm>
            <a:prstGeom prst="line">
              <a:avLst/>
            </a:prstGeom>
            <a:noFill/>
            <a:ln w="57150">
              <a:solidFill>
                <a:srgbClr val="33CC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4EFAAFD3-FF24-DF51-D5EB-38956019F9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" y="1411"/>
              <a:ext cx="250" cy="0"/>
            </a:xfrm>
            <a:prstGeom prst="line">
              <a:avLst/>
            </a:prstGeom>
            <a:noFill/>
            <a:ln w="57150">
              <a:solidFill>
                <a:srgbClr val="33CC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CC136C2D-A6C2-FAC5-443E-6866981566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" y="1412"/>
              <a:ext cx="0" cy="136"/>
            </a:xfrm>
            <a:prstGeom prst="line">
              <a:avLst/>
            </a:prstGeom>
            <a:noFill/>
            <a:ln w="57150">
              <a:solidFill>
                <a:srgbClr val="33CC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" name="Text Box 18">
            <a:extLst>
              <a:ext uri="{FF2B5EF4-FFF2-40B4-BE49-F238E27FC236}">
                <a16:creationId xmlns:a16="http://schemas.microsoft.com/office/drawing/2014/main" id="{F73BB9BC-0E2B-8AFC-559A-887F66946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598487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21FB6B9F-2B21-97CF-164F-642E000FB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5624513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868ACB39-58CF-D6E9-F600-21B1E0CE5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2600325"/>
            <a:ext cx="1476375" cy="503238"/>
          </a:xfrm>
          <a:prstGeom prst="wedgeRoundRectCallout">
            <a:avLst>
              <a:gd name="adj1" fmla="val -108065"/>
              <a:gd name="adj2" fmla="val 72398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latin typeface="Arial" panose="020B0604020202020204" pitchFamily="34" charset="0"/>
              </a:rPr>
              <a:t>置</a:t>
            </a:r>
            <a:r>
              <a:rPr lang="en-US" altLang="zh-CN" sz="2000">
                <a:latin typeface="Arial" panose="020B0604020202020204" pitchFamily="34" charset="0"/>
              </a:rPr>
              <a:t>1</a:t>
            </a:r>
            <a:r>
              <a:rPr lang="zh-CN" altLang="en-US" sz="2000">
                <a:latin typeface="Arial" panose="020B0604020202020204" pitchFamily="34" charset="0"/>
              </a:rPr>
              <a:t>维持线</a:t>
            </a:r>
          </a:p>
        </p:txBody>
      </p:sp>
      <p:sp>
        <p:nvSpPr>
          <p:cNvPr id="23" name="Text Box 21">
            <a:extLst>
              <a:ext uri="{FF2B5EF4-FFF2-40B4-BE49-F238E27FC236}">
                <a16:creationId xmlns:a16="http://schemas.microsoft.com/office/drawing/2014/main" id="{95F06478-2B9F-66F1-8F69-AFD0F1A12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307975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4" name="AutoShape 22">
            <a:extLst>
              <a:ext uri="{FF2B5EF4-FFF2-40B4-BE49-F238E27FC236}">
                <a16:creationId xmlns:a16="http://schemas.microsoft.com/office/drawing/2014/main" id="{2A07884B-BA67-B174-A583-6A510F2F7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024063"/>
            <a:ext cx="576263" cy="1441450"/>
          </a:xfrm>
          <a:prstGeom prst="wedgeRoundRectCallout">
            <a:avLst>
              <a:gd name="adj1" fmla="val 158815"/>
              <a:gd name="adj2" fmla="val 109032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latin typeface="Arial" panose="020B0604020202020204" pitchFamily="34" charset="0"/>
              </a:rPr>
              <a:t>置</a:t>
            </a:r>
            <a:r>
              <a:rPr lang="en-US" altLang="zh-CN" sz="2000">
                <a:latin typeface="Arial" panose="020B0604020202020204" pitchFamily="34" charset="0"/>
              </a:rPr>
              <a:t>0</a:t>
            </a:r>
            <a:r>
              <a:rPr lang="zh-CN" altLang="en-US" sz="2000">
                <a:latin typeface="Arial" panose="020B0604020202020204" pitchFamily="34" charset="0"/>
              </a:rPr>
              <a:t>阻塞线</a:t>
            </a:r>
          </a:p>
        </p:txBody>
      </p:sp>
      <p:grpSp>
        <p:nvGrpSpPr>
          <p:cNvPr id="25" name="Group 23">
            <a:extLst>
              <a:ext uri="{FF2B5EF4-FFF2-40B4-BE49-F238E27FC236}">
                <a16:creationId xmlns:a16="http://schemas.microsoft.com/office/drawing/2014/main" id="{2BD62539-DA63-9C1A-8E79-BE983AA80E02}"/>
              </a:ext>
            </a:extLst>
          </p:cNvPr>
          <p:cNvGrpSpPr>
            <a:grpSpLocks/>
          </p:cNvGrpSpPr>
          <p:nvPr/>
        </p:nvGrpSpPr>
        <p:grpSpPr bwMode="auto">
          <a:xfrm>
            <a:off x="6888163" y="1481138"/>
            <a:ext cx="2005012" cy="989012"/>
            <a:chOff x="2314" y="1502"/>
            <a:chExt cx="1436" cy="781"/>
          </a:xfrm>
        </p:grpSpPr>
        <p:sp>
          <p:nvSpPr>
            <p:cNvPr id="26" name="Rectangle 24">
              <a:extLst>
                <a:ext uri="{FF2B5EF4-FFF2-40B4-BE49-F238E27FC236}">
                  <a16:creationId xmlns:a16="http://schemas.microsoft.com/office/drawing/2014/main" id="{6A71D079-E562-0ED2-9D15-10C116FA1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" y="1502"/>
              <a:ext cx="527" cy="77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7CB48E97-24B8-ECC0-9A6B-829A6F5BDD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4" y="1685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69CE24B5-0EA8-4663-4F45-C6FED1027F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4" y="206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BD87E11D-4D2D-A535-AE83-6AF748ED41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1" y="1685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9DB4A2A0-6FBA-7B79-E9E4-FF5E58C1B6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1" y="206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 Box 29">
              <a:extLst>
                <a:ext uri="{FF2B5EF4-FFF2-40B4-BE49-F238E27FC236}">
                  <a16:creationId xmlns:a16="http://schemas.microsoft.com/office/drawing/2014/main" id="{E9CB9EDB-F9EC-1C6A-1E99-897C1CDA2C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1" y="1532"/>
              <a:ext cx="255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D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32" name="Text Box 30">
              <a:extLst>
                <a:ext uri="{FF2B5EF4-FFF2-40B4-BE49-F238E27FC236}">
                  <a16:creationId xmlns:a16="http://schemas.microsoft.com/office/drawing/2014/main" id="{2BCC6AA0-CA84-D27D-574B-A64CE6DB3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0" y="1922"/>
              <a:ext cx="290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C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33" name="Text Box 31">
              <a:extLst>
                <a:ext uri="{FF2B5EF4-FFF2-40B4-BE49-F238E27FC236}">
                  <a16:creationId xmlns:a16="http://schemas.microsoft.com/office/drawing/2014/main" id="{45DD6DE7-2018-68AC-9F86-99172EBEE5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8" y="1532"/>
              <a:ext cx="302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34" name="Text Box 32">
              <a:extLst>
                <a:ext uri="{FF2B5EF4-FFF2-40B4-BE49-F238E27FC236}">
                  <a16:creationId xmlns:a16="http://schemas.microsoft.com/office/drawing/2014/main" id="{875C4414-1813-D5A6-E1DD-AB9C98B6BF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9" y="1909"/>
              <a:ext cx="301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35" name="Line 33">
              <a:extLst>
                <a:ext uri="{FF2B5EF4-FFF2-40B4-BE49-F238E27FC236}">
                  <a16:creationId xmlns:a16="http://schemas.microsoft.com/office/drawing/2014/main" id="{367DB23F-B1A8-6F9D-99CF-64BF663527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0" y="1955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Oval 34">
              <a:extLst>
                <a:ext uri="{FF2B5EF4-FFF2-40B4-BE49-F238E27FC236}">
                  <a16:creationId xmlns:a16="http://schemas.microsoft.com/office/drawing/2014/main" id="{5FD56B38-443B-D55A-586D-0DB225C38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" y="2023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A3F2E0EF-7E02-4DF6-8CA0-DD7F083557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2" y="1974"/>
              <a:ext cx="9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B44BE940-7FCD-25F5-1E1A-1BE1E59C06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2" y="2064"/>
              <a:ext cx="9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" name="Text Box 37">
            <a:extLst>
              <a:ext uri="{FF2B5EF4-FFF2-40B4-BE49-F238E27FC236}">
                <a16:creationId xmlns:a16="http://schemas.microsoft.com/office/drawing/2014/main" id="{6CE65194-92A6-4427-2CBC-3E1CFB8F4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7788" y="4437063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0</a:t>
            </a:r>
          </a:p>
        </p:txBody>
      </p:sp>
      <p:grpSp>
        <p:nvGrpSpPr>
          <p:cNvPr id="40" name="Group 38">
            <a:extLst>
              <a:ext uri="{FF2B5EF4-FFF2-40B4-BE49-F238E27FC236}">
                <a16:creationId xmlns:a16="http://schemas.microsoft.com/office/drawing/2014/main" id="{5199F77E-A0D4-5822-4AFF-F79DC7C77BB1}"/>
              </a:ext>
            </a:extLst>
          </p:cNvPr>
          <p:cNvGrpSpPr>
            <a:grpSpLocks/>
          </p:cNvGrpSpPr>
          <p:nvPr/>
        </p:nvGrpSpPr>
        <p:grpSpPr bwMode="auto">
          <a:xfrm>
            <a:off x="3887788" y="4508500"/>
            <a:ext cx="360362" cy="358775"/>
            <a:chOff x="1497" y="3884"/>
            <a:chExt cx="227" cy="226"/>
          </a:xfrm>
        </p:grpSpPr>
        <p:sp>
          <p:nvSpPr>
            <p:cNvPr id="41" name="Rectangle 39">
              <a:extLst>
                <a:ext uri="{FF2B5EF4-FFF2-40B4-BE49-F238E27FC236}">
                  <a16:creationId xmlns:a16="http://schemas.microsoft.com/office/drawing/2014/main" id="{93C8EB9E-C143-92B6-033D-FBD687C10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" y="3884"/>
              <a:ext cx="227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2" name="Line 40">
              <a:extLst>
                <a:ext uri="{FF2B5EF4-FFF2-40B4-BE49-F238E27FC236}">
                  <a16:creationId xmlns:a16="http://schemas.microsoft.com/office/drawing/2014/main" id="{912841C8-266B-5C95-FE28-58731B2F25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0" y="3906"/>
              <a:ext cx="0" cy="18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3" name="Object 2">
            <a:extLst>
              <a:ext uri="{FF2B5EF4-FFF2-40B4-BE49-F238E27FC236}">
                <a16:creationId xmlns:a16="http://schemas.microsoft.com/office/drawing/2014/main" id="{E84F942D-CF18-753B-2E3D-2D3B312C22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2024063"/>
          <a:ext cx="4806950" cy="440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2250246" imgH="2058541" progId="Word.Picture.8">
                  <p:embed/>
                </p:oleObj>
              </mc:Choice>
              <mc:Fallback>
                <p:oleObj name="图片" r:id="rId2" imgW="2250246" imgH="2058541" progId="Word.Picture.8">
                  <p:embed/>
                  <p:pic>
                    <p:nvPicPr>
                      <p:cNvPr id="2050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2024063"/>
                        <a:ext cx="4806950" cy="440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147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2" grpId="0" animBg="1"/>
      <p:bldP spid="23" grpId="0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ACB6D-DD68-0BAE-A22C-2909A88D8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维持阻塞结构</a:t>
            </a:r>
            <a:r>
              <a:rPr lang="en-US" altLang="zh-CN" dirty="0"/>
              <a:t>D</a:t>
            </a:r>
            <a:r>
              <a:rPr lang="zh-CN" altLang="en-US" dirty="0"/>
              <a:t>触发器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3)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996F79-B26A-C9CE-89EC-3A0382790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3616671" cy="5947119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综合：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当</a:t>
            </a:r>
            <a:r>
              <a:rPr lang="en-US" altLang="zh-CN" dirty="0"/>
              <a:t>C=0</a:t>
            </a:r>
            <a:r>
              <a:rPr lang="zh-CN" altLang="en-US" dirty="0"/>
              <a:t>时：</a:t>
            </a:r>
            <a:endParaRPr lang="en-US" altLang="zh-CN" dirty="0"/>
          </a:p>
          <a:p>
            <a:pPr lvl="2">
              <a:defRPr/>
            </a:pPr>
            <a:r>
              <a:rPr lang="zh-CN" altLang="en-US" dirty="0"/>
              <a:t>触发器保持原先状态，为更新做好准备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当</a:t>
            </a:r>
            <a:r>
              <a:rPr lang="en-US" altLang="zh-CN" dirty="0"/>
              <a:t>C</a:t>
            </a:r>
            <a:r>
              <a:rPr lang="zh-CN" altLang="en-US" dirty="0"/>
              <a:t>从</a:t>
            </a:r>
            <a:r>
              <a:rPr lang="en-US" altLang="zh-CN" dirty="0"/>
              <a:t>0</a:t>
            </a:r>
            <a:r>
              <a:rPr lang="zh-CN" altLang="en-US" dirty="0"/>
              <a:t>变</a:t>
            </a:r>
            <a:r>
              <a:rPr lang="en-US" altLang="zh-CN" dirty="0"/>
              <a:t>1</a:t>
            </a:r>
            <a:r>
              <a:rPr lang="zh-CN" altLang="en-US" dirty="0"/>
              <a:t>时：</a:t>
            </a:r>
            <a:endParaRPr lang="en-US" altLang="zh-CN" dirty="0"/>
          </a:p>
          <a:p>
            <a:pPr lvl="2">
              <a:defRPr/>
            </a:pPr>
            <a:r>
              <a:rPr lang="en-US" altLang="zh-CN" dirty="0"/>
              <a:t>Q</a:t>
            </a:r>
            <a:r>
              <a:rPr lang="zh-CN" altLang="en-US" dirty="0"/>
              <a:t>变为</a:t>
            </a:r>
            <a:r>
              <a:rPr lang="en-US" altLang="zh-CN" dirty="0"/>
              <a:t>D</a:t>
            </a:r>
            <a:r>
              <a:rPr lang="zh-CN" altLang="en-US" dirty="0"/>
              <a:t>值，且随后封锁输入端的更新，保持这个</a:t>
            </a:r>
            <a:r>
              <a:rPr lang="en-US" altLang="zh-CN" dirty="0"/>
              <a:t>D</a:t>
            </a:r>
            <a:r>
              <a:rPr lang="zh-CN" altLang="en-US" dirty="0"/>
              <a:t>值不变</a:t>
            </a:r>
            <a:endParaRPr lang="en-US" altLang="zh-CN" dirty="0"/>
          </a:p>
          <a:p>
            <a:pPr lvl="2">
              <a:defRPr/>
            </a:pPr>
            <a:endParaRPr lang="en-US" altLang="zh-CN" dirty="0"/>
          </a:p>
          <a:p>
            <a:pPr marL="0" indent="0">
              <a:buFontTx/>
              <a:buNone/>
              <a:defRPr/>
            </a:pPr>
            <a:r>
              <a:rPr lang="en-US" altLang="zh-CN" sz="2400" dirty="0">
                <a:sym typeface="Wingdings" panose="05000000000000000000" pitchFamily="2" charset="2"/>
              </a:rPr>
              <a:t></a:t>
            </a:r>
            <a:r>
              <a:rPr lang="zh-CN" altLang="en-US" sz="2400" dirty="0"/>
              <a:t>上升沿有效</a:t>
            </a:r>
            <a:r>
              <a:rPr lang="en-US" altLang="zh-CN" sz="2400" dirty="0"/>
              <a:t>D</a:t>
            </a:r>
            <a:r>
              <a:rPr lang="zh-CN" altLang="en-US" sz="2400" dirty="0"/>
              <a:t>触发器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C15E40-95FC-52CE-E24D-C3536CBF6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55CE27-441D-EF05-394A-5939753DC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12</a:t>
            </a:fld>
            <a:r>
              <a:rPr lang="en-US" altLang="zh-CN" dirty="0"/>
              <a:t>/29</a:t>
            </a:r>
            <a:endParaRPr lang="en-US" dirty="0"/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0B589B8C-67BF-A7BE-7001-330CF8E3F5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2024063"/>
          <a:ext cx="4806950" cy="440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2250246" imgH="2058541" progId="Word.Picture.8">
                  <p:embed/>
                </p:oleObj>
              </mc:Choice>
              <mc:Fallback>
                <p:oleObj name="图片" r:id="rId2" imgW="2250246" imgH="2058541" progId="Word.Picture.8">
                  <p:embed/>
                  <p:pic>
                    <p:nvPicPr>
                      <p:cNvPr id="2253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2024063"/>
                        <a:ext cx="4806950" cy="440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6">
            <a:extLst>
              <a:ext uri="{FF2B5EF4-FFF2-40B4-BE49-F238E27FC236}">
                <a16:creationId xmlns:a16="http://schemas.microsoft.com/office/drawing/2014/main" id="{A0F30074-5C38-A9B9-0422-D965967442A5}"/>
              </a:ext>
            </a:extLst>
          </p:cNvPr>
          <p:cNvGrpSpPr>
            <a:grpSpLocks/>
          </p:cNvGrpSpPr>
          <p:nvPr/>
        </p:nvGrpSpPr>
        <p:grpSpPr bwMode="auto">
          <a:xfrm>
            <a:off x="6888163" y="1481138"/>
            <a:ext cx="2005012" cy="989012"/>
            <a:chOff x="2314" y="1502"/>
            <a:chExt cx="1436" cy="781"/>
          </a:xfrm>
        </p:grpSpPr>
        <p:sp>
          <p:nvSpPr>
            <p:cNvPr id="8" name="Rectangle 27">
              <a:extLst>
                <a:ext uri="{FF2B5EF4-FFF2-40B4-BE49-F238E27FC236}">
                  <a16:creationId xmlns:a16="http://schemas.microsoft.com/office/drawing/2014/main" id="{E37BA830-89D8-CBF9-7D03-26430E302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" y="1502"/>
              <a:ext cx="527" cy="77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9" name="Line 28">
              <a:extLst>
                <a:ext uri="{FF2B5EF4-FFF2-40B4-BE49-F238E27FC236}">
                  <a16:creationId xmlns:a16="http://schemas.microsoft.com/office/drawing/2014/main" id="{FF1CC324-E393-E4D6-1A3E-F73B44FED3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4" y="1685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29">
              <a:extLst>
                <a:ext uri="{FF2B5EF4-FFF2-40B4-BE49-F238E27FC236}">
                  <a16:creationId xmlns:a16="http://schemas.microsoft.com/office/drawing/2014/main" id="{DFBBF7D1-A281-1294-FEAD-3927A35543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4" y="206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30">
              <a:extLst>
                <a:ext uri="{FF2B5EF4-FFF2-40B4-BE49-F238E27FC236}">
                  <a16:creationId xmlns:a16="http://schemas.microsoft.com/office/drawing/2014/main" id="{D9B38910-79E9-12C0-DDBE-BD9639D3E3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1" y="1685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31">
              <a:extLst>
                <a:ext uri="{FF2B5EF4-FFF2-40B4-BE49-F238E27FC236}">
                  <a16:creationId xmlns:a16="http://schemas.microsoft.com/office/drawing/2014/main" id="{5E33B7AC-4A00-DF81-CA6E-D4138F141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1" y="206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Box 32">
              <a:extLst>
                <a:ext uri="{FF2B5EF4-FFF2-40B4-BE49-F238E27FC236}">
                  <a16:creationId xmlns:a16="http://schemas.microsoft.com/office/drawing/2014/main" id="{5802042E-1F2C-A5B4-3469-5CBF316A97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1" y="1532"/>
              <a:ext cx="255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D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14" name="Text Box 33">
              <a:extLst>
                <a:ext uri="{FF2B5EF4-FFF2-40B4-BE49-F238E27FC236}">
                  <a16:creationId xmlns:a16="http://schemas.microsoft.com/office/drawing/2014/main" id="{40260960-F2EE-073E-DE06-9A6340EC76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0" y="1922"/>
              <a:ext cx="290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C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15" name="Text Box 34">
              <a:extLst>
                <a:ext uri="{FF2B5EF4-FFF2-40B4-BE49-F238E27FC236}">
                  <a16:creationId xmlns:a16="http://schemas.microsoft.com/office/drawing/2014/main" id="{1E5A8951-FCAA-D62B-D51F-7547FA288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8" y="1532"/>
              <a:ext cx="302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16" name="Text Box 35">
              <a:extLst>
                <a:ext uri="{FF2B5EF4-FFF2-40B4-BE49-F238E27FC236}">
                  <a16:creationId xmlns:a16="http://schemas.microsoft.com/office/drawing/2014/main" id="{5DE5B792-A113-BF4D-E5F3-89585F89E7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9" y="1909"/>
              <a:ext cx="301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17" name="Line 36">
              <a:extLst>
                <a:ext uri="{FF2B5EF4-FFF2-40B4-BE49-F238E27FC236}">
                  <a16:creationId xmlns:a16="http://schemas.microsoft.com/office/drawing/2014/main" id="{845A621E-3463-774B-AD38-D6E20A41D6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0" y="1955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Oval 37">
              <a:extLst>
                <a:ext uri="{FF2B5EF4-FFF2-40B4-BE49-F238E27FC236}">
                  <a16:creationId xmlns:a16="http://schemas.microsoft.com/office/drawing/2014/main" id="{C87A98A1-E64F-0843-2DE1-E4C44AE42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" y="2023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9" name="Line 38">
              <a:extLst>
                <a:ext uri="{FF2B5EF4-FFF2-40B4-BE49-F238E27FC236}">
                  <a16:creationId xmlns:a16="http://schemas.microsoft.com/office/drawing/2014/main" id="{03F301B6-42DA-B1A1-B957-7BD4BC1810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2" y="1974"/>
              <a:ext cx="9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39">
              <a:extLst>
                <a:ext uri="{FF2B5EF4-FFF2-40B4-BE49-F238E27FC236}">
                  <a16:creationId xmlns:a16="http://schemas.microsoft.com/office/drawing/2014/main" id="{7A6873F3-84D5-4BE9-F0B6-2A752A7E76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2" y="2064"/>
              <a:ext cx="9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0837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76CA77-61B7-27E0-9F42-41E36C17A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触发器逻辑功能描述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EF6510-9C95-A5A1-6C89-18103278C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在时钟信号有效边沿</a:t>
            </a:r>
            <a:r>
              <a:rPr lang="en-US" altLang="zh-CN" dirty="0"/>
              <a:t>(</a:t>
            </a:r>
            <a:r>
              <a:rPr lang="zh-CN" altLang="en-US" dirty="0"/>
              <a:t>上升沿或下降沿</a:t>
            </a:r>
            <a:r>
              <a:rPr lang="en-US" altLang="zh-CN" dirty="0"/>
              <a:t>)</a:t>
            </a:r>
            <a:r>
              <a:rPr lang="zh-CN" altLang="en-US" dirty="0"/>
              <a:t>，触发器根据输入信号更新状态</a:t>
            </a:r>
          </a:p>
          <a:p>
            <a:pPr lvl="1"/>
            <a:r>
              <a:rPr lang="zh-CN" altLang="en-US" dirty="0"/>
              <a:t>现态：时钟信号有效边沿前触发器的状态，记为</a:t>
            </a:r>
            <a:r>
              <a:rPr lang="en-US" altLang="zh-CN" dirty="0" err="1"/>
              <a:t>Q</a:t>
            </a:r>
            <a:r>
              <a:rPr lang="en-US" altLang="zh-CN" sz="2800" baseline="40000" dirty="0" err="1"/>
              <a:t>n</a:t>
            </a:r>
            <a:endParaRPr lang="en-US" altLang="zh-CN" sz="2800" baseline="40000" dirty="0"/>
          </a:p>
          <a:p>
            <a:pPr lvl="1"/>
            <a:r>
              <a:rPr lang="zh-CN" altLang="en-US" dirty="0"/>
              <a:t>次态：时钟信号有效边沿后触发器的状态，记为</a:t>
            </a:r>
            <a:r>
              <a:rPr lang="en-US" altLang="zh-CN" dirty="0"/>
              <a:t>Q</a:t>
            </a:r>
            <a:r>
              <a:rPr lang="en-US" altLang="zh-CN" sz="2800" baseline="40000" dirty="0"/>
              <a:t>n+1</a:t>
            </a:r>
            <a:endParaRPr lang="zh-CN" altLang="en-US" dirty="0"/>
          </a:p>
          <a:p>
            <a:r>
              <a:rPr lang="zh-CN" altLang="en-US" dirty="0"/>
              <a:t>触发器的逻辑功能是指次态与现态和输入信号之间的逻辑关系</a:t>
            </a:r>
          </a:p>
          <a:p>
            <a:pPr lvl="1"/>
            <a:r>
              <a:rPr lang="zh-CN" altLang="en-US" dirty="0"/>
              <a:t>描述方法：特性表</a:t>
            </a:r>
            <a:r>
              <a:rPr lang="en-US" altLang="zh-CN" dirty="0"/>
              <a:t>(</a:t>
            </a:r>
            <a:r>
              <a:rPr lang="zh-CN" altLang="en-US" dirty="0"/>
              <a:t>真值表</a:t>
            </a:r>
            <a:r>
              <a:rPr lang="en-US" altLang="zh-CN" dirty="0"/>
              <a:t>)</a:t>
            </a:r>
            <a:r>
              <a:rPr lang="zh-CN" altLang="en-US" dirty="0"/>
              <a:t>、特性方程</a:t>
            </a:r>
            <a:r>
              <a:rPr lang="en-US" altLang="zh-CN" dirty="0"/>
              <a:t>(</a:t>
            </a:r>
            <a:r>
              <a:rPr lang="zh-CN" altLang="en-US" dirty="0"/>
              <a:t>逻辑表达式</a:t>
            </a:r>
            <a:r>
              <a:rPr lang="en-US" altLang="zh-CN" dirty="0"/>
              <a:t>)</a:t>
            </a:r>
            <a:r>
              <a:rPr lang="zh-CN" altLang="en-US" dirty="0"/>
              <a:t> 、状态图</a:t>
            </a:r>
            <a:r>
              <a:rPr lang="en-US" altLang="zh-CN" dirty="0"/>
              <a:t>(</a:t>
            </a:r>
            <a:r>
              <a:rPr lang="zh-CN" altLang="en-US" dirty="0"/>
              <a:t>状态转换图</a:t>
            </a:r>
            <a:r>
              <a:rPr lang="en-US" altLang="zh-CN" dirty="0"/>
              <a:t>)</a:t>
            </a:r>
            <a:r>
              <a:rPr lang="zh-CN" altLang="en-US" dirty="0"/>
              <a:t> 、硬件描述语言（</a:t>
            </a:r>
            <a:r>
              <a:rPr lang="en-US" altLang="zh-CN" dirty="0"/>
              <a:t>HDL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触发器按逻辑功能分类：</a:t>
            </a:r>
            <a:r>
              <a:rPr lang="en-US" altLang="zh-CN" dirty="0"/>
              <a:t>D</a:t>
            </a:r>
            <a:r>
              <a:rPr lang="zh-CN" altLang="en-US" dirty="0"/>
              <a:t>触发器、</a:t>
            </a:r>
            <a:r>
              <a:rPr lang="en-US" altLang="zh-CN" dirty="0"/>
              <a:t>SR</a:t>
            </a:r>
            <a:r>
              <a:rPr lang="zh-CN" altLang="en-US" dirty="0"/>
              <a:t>触发器、</a:t>
            </a:r>
            <a:r>
              <a:rPr lang="en-US" altLang="zh-CN" dirty="0"/>
              <a:t>T</a:t>
            </a:r>
            <a:r>
              <a:rPr lang="zh-CN" altLang="en-US" dirty="0"/>
              <a:t>触发器、</a:t>
            </a:r>
            <a:r>
              <a:rPr lang="en-US" altLang="zh-CN" dirty="0"/>
              <a:t>JK</a:t>
            </a:r>
            <a:r>
              <a:rPr lang="zh-CN" altLang="en-US" dirty="0"/>
              <a:t>触发器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9926EAE-6FFB-A0F4-D712-017B2C5E7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模拟与数字电路：</a:t>
            </a:r>
            <a:r>
              <a:rPr lang="en-US" altLang="zh-CN" dirty="0"/>
              <a:t>12. </a:t>
            </a:r>
            <a:r>
              <a:rPr lang="zh-CN" altLang="en-US" dirty="0"/>
              <a:t>锁存器和触发器</a:t>
            </a:r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CB1624-03E7-BF1D-C145-BFFF2A3D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13</a:t>
            </a:fld>
            <a:r>
              <a:rPr lang="en-US" altLang="zh-CN" dirty="0"/>
              <a:t>/29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308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3CB2B8-B5E4-4201-DE09-5F3FD8961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D</a:t>
            </a:r>
            <a:r>
              <a:rPr kumimoji="1" lang="zh-CN" altLang="en-US" dirty="0"/>
              <a:t>触发器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EF5AE80-65DE-3233-9F55-44F500CEE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7059C2-41D2-05B3-B7F4-16C869C49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14</a:t>
            </a:fld>
            <a:r>
              <a:rPr lang="en-US" altLang="zh-CN" dirty="0"/>
              <a:t>/29</a:t>
            </a:r>
            <a:endParaRPr lang="en-US" dirty="0"/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BD2BEC1F-6C0F-ACA7-4143-FBC74A2C4A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689499"/>
              </p:ext>
            </p:extLst>
          </p:nvPr>
        </p:nvGraphicFramePr>
        <p:xfrm>
          <a:off x="1197478" y="2033206"/>
          <a:ext cx="2952750" cy="2133600"/>
        </p:xfrm>
        <a:graphic>
          <a:graphicData uri="http://schemas.openxmlformats.org/drawingml/2006/table">
            <a:tbl>
              <a:tblPr/>
              <a:tblGrid>
                <a:gridCol w="6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8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>
                          <a:tab pos="5130800" algn="r"/>
                        </a:tabLst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>
                          <a:tab pos="5130800" algn="r"/>
                        </a:tabLst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2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>
                          <a:tab pos="5130800" algn="r"/>
                        </a:tabLst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2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n+1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>
                          <a:tab pos="5130800" algn="r"/>
                        </a:tabLst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>
                          <a:tab pos="5130800" algn="r"/>
                        </a:tabLst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>
                          <a:tab pos="5130800" algn="r"/>
                        </a:tabLst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>
                          <a:tab pos="5130800" algn="r"/>
                        </a:tabLst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>
                          <a:tab pos="5130800" algn="r"/>
                        </a:tabLst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清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>
                          <a:tab pos="5130800" algn="r"/>
                        </a:tabLst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>
                          <a:tab pos="5130800" algn="r"/>
                        </a:tabLst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>
                          <a:tab pos="5130800" algn="r"/>
                        </a:tabLst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>
                          <a:tab pos="5130800" algn="r"/>
                        </a:tabLst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>
                          <a:tab pos="5130800" algn="r"/>
                        </a:tabLst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>
                          <a:tab pos="5130800" algn="r"/>
                        </a:tabLst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>
                          <a:tab pos="5130800" algn="r"/>
                        </a:tabLst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置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8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>
                          <a:tab pos="5130800" algn="r"/>
                        </a:tabLst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>
                          <a:tab pos="5130800" algn="r"/>
                        </a:tabLst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1308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>
                          <a:tab pos="5130800" algn="r"/>
                        </a:tabLst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41">
            <a:extLst>
              <a:ext uri="{FF2B5EF4-FFF2-40B4-BE49-F238E27FC236}">
                <a16:creationId xmlns:a16="http://schemas.microsoft.com/office/drawing/2014/main" id="{36BCBFFC-E89A-4B0B-7009-87DB5D27F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853" y="5020881"/>
            <a:ext cx="1581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dirty="0"/>
              <a:t>Q</a:t>
            </a:r>
            <a:r>
              <a:rPr kumimoji="1" lang="en-US" altLang="zh-CN" baseline="30000" dirty="0"/>
              <a:t>n+1</a:t>
            </a:r>
            <a:r>
              <a:rPr kumimoji="1" lang="en-US" altLang="zh-CN" dirty="0"/>
              <a:t> = D </a:t>
            </a:r>
          </a:p>
        </p:txBody>
      </p:sp>
      <p:sp>
        <p:nvSpPr>
          <p:cNvPr id="8" name="Arc 42">
            <a:extLst>
              <a:ext uri="{FF2B5EF4-FFF2-40B4-BE49-F238E27FC236}">
                <a16:creationId xmlns:a16="http://schemas.microsoft.com/office/drawing/2014/main" id="{3DADF412-0F1F-9240-A430-03BB86842F4D}"/>
              </a:ext>
            </a:extLst>
          </p:cNvPr>
          <p:cNvSpPr>
            <a:spLocks/>
          </p:cNvSpPr>
          <p:nvPr/>
        </p:nvSpPr>
        <p:spPr bwMode="auto">
          <a:xfrm flipV="1">
            <a:off x="6086978" y="4014406"/>
            <a:ext cx="1490662" cy="1152525"/>
          </a:xfrm>
          <a:custGeom>
            <a:avLst/>
            <a:gdLst>
              <a:gd name="T0" fmla="*/ 0 w 28437"/>
              <a:gd name="T1" fmla="*/ 2147483646 h 21600"/>
              <a:gd name="T2" fmla="*/ 2147483646 w 28437"/>
              <a:gd name="T3" fmla="*/ 2147483646 h 21600"/>
              <a:gd name="T4" fmla="*/ 2147483646 w 28437"/>
              <a:gd name="T5" fmla="*/ 2147483646 h 21600"/>
              <a:gd name="T6" fmla="*/ 0 60000 65536"/>
              <a:gd name="T7" fmla="*/ 0 60000 65536"/>
              <a:gd name="T8" fmla="*/ 0 60000 65536"/>
              <a:gd name="T9" fmla="*/ 0 w 28437"/>
              <a:gd name="T10" fmla="*/ 0 h 21600"/>
              <a:gd name="T11" fmla="*/ 28437 w 2843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437" h="21600" fill="none" extrusionOk="0">
                <a:moveTo>
                  <a:pt x="-1" y="5682"/>
                </a:moveTo>
                <a:cubicBezTo>
                  <a:pt x="3984" y="2027"/>
                  <a:pt x="9194" y="-1"/>
                  <a:pt x="14601" y="0"/>
                </a:cubicBezTo>
                <a:cubicBezTo>
                  <a:pt x="19657" y="0"/>
                  <a:pt x="24553" y="1774"/>
                  <a:pt x="28436" y="5013"/>
                </a:cubicBezTo>
              </a:path>
              <a:path w="28437" h="21600" stroke="0" extrusionOk="0">
                <a:moveTo>
                  <a:pt x="-1" y="5682"/>
                </a:moveTo>
                <a:cubicBezTo>
                  <a:pt x="3984" y="2027"/>
                  <a:pt x="9194" y="-1"/>
                  <a:pt x="14601" y="0"/>
                </a:cubicBezTo>
                <a:cubicBezTo>
                  <a:pt x="19657" y="0"/>
                  <a:pt x="24553" y="1774"/>
                  <a:pt x="28436" y="5013"/>
                </a:cubicBezTo>
                <a:lnTo>
                  <a:pt x="14601" y="21600"/>
                </a:lnTo>
                <a:lnTo>
                  <a:pt x="-1" y="5682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rc 43">
            <a:extLst>
              <a:ext uri="{FF2B5EF4-FFF2-40B4-BE49-F238E27FC236}">
                <a16:creationId xmlns:a16="http://schemas.microsoft.com/office/drawing/2014/main" id="{1D7FB8B0-BFEA-F526-189B-0C7591A38C45}"/>
              </a:ext>
            </a:extLst>
          </p:cNvPr>
          <p:cNvSpPr>
            <a:spLocks/>
          </p:cNvSpPr>
          <p:nvPr/>
        </p:nvSpPr>
        <p:spPr bwMode="auto">
          <a:xfrm flipH="1">
            <a:off x="6044115" y="4090606"/>
            <a:ext cx="1544638" cy="1146175"/>
          </a:xfrm>
          <a:custGeom>
            <a:avLst/>
            <a:gdLst>
              <a:gd name="T0" fmla="*/ 0 w 29086"/>
              <a:gd name="T1" fmla="*/ 2147483646 h 21600"/>
              <a:gd name="T2" fmla="*/ 2147483646 w 29086"/>
              <a:gd name="T3" fmla="*/ 2147483646 h 21600"/>
              <a:gd name="T4" fmla="*/ 2147483646 w 29086"/>
              <a:gd name="T5" fmla="*/ 2147483646 h 21600"/>
              <a:gd name="T6" fmla="*/ 0 60000 65536"/>
              <a:gd name="T7" fmla="*/ 0 60000 65536"/>
              <a:gd name="T8" fmla="*/ 0 60000 65536"/>
              <a:gd name="T9" fmla="*/ 0 w 29086"/>
              <a:gd name="T10" fmla="*/ 0 h 21600"/>
              <a:gd name="T11" fmla="*/ 29086 w 29086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086" h="21600" fill="none" extrusionOk="0">
                <a:moveTo>
                  <a:pt x="-1" y="5259"/>
                </a:moveTo>
                <a:cubicBezTo>
                  <a:pt x="3924" y="1866"/>
                  <a:pt x="8938" y="-1"/>
                  <a:pt x="14126" y="0"/>
                </a:cubicBezTo>
                <a:cubicBezTo>
                  <a:pt x="19702" y="0"/>
                  <a:pt x="25063" y="2157"/>
                  <a:pt x="29086" y="6019"/>
                </a:cubicBezTo>
              </a:path>
              <a:path w="29086" h="21600" stroke="0" extrusionOk="0">
                <a:moveTo>
                  <a:pt x="-1" y="5259"/>
                </a:moveTo>
                <a:cubicBezTo>
                  <a:pt x="3924" y="1866"/>
                  <a:pt x="8938" y="-1"/>
                  <a:pt x="14126" y="0"/>
                </a:cubicBezTo>
                <a:cubicBezTo>
                  <a:pt x="19702" y="0"/>
                  <a:pt x="25063" y="2157"/>
                  <a:pt x="29086" y="6019"/>
                </a:cubicBezTo>
                <a:lnTo>
                  <a:pt x="14126" y="21600"/>
                </a:lnTo>
                <a:lnTo>
                  <a:pt x="-1" y="5259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rc 44">
            <a:extLst>
              <a:ext uri="{FF2B5EF4-FFF2-40B4-BE49-F238E27FC236}">
                <a16:creationId xmlns:a16="http://schemas.microsoft.com/office/drawing/2014/main" id="{BF1C2997-7FB1-3503-7D08-8C7847D8425D}"/>
              </a:ext>
            </a:extLst>
          </p:cNvPr>
          <p:cNvSpPr>
            <a:spLocks/>
          </p:cNvSpPr>
          <p:nvPr/>
        </p:nvSpPr>
        <p:spPr bwMode="auto">
          <a:xfrm>
            <a:off x="7841165" y="4323969"/>
            <a:ext cx="503238" cy="695325"/>
          </a:xfrm>
          <a:custGeom>
            <a:avLst/>
            <a:gdLst>
              <a:gd name="T0" fmla="*/ 2147483646 w 41838"/>
              <a:gd name="T1" fmla="*/ 2147483646 h 43200"/>
              <a:gd name="T2" fmla="*/ 0 w 41838"/>
              <a:gd name="T3" fmla="*/ 2147483646 h 43200"/>
              <a:gd name="T4" fmla="*/ 2147483646 w 41838"/>
              <a:gd name="T5" fmla="*/ 2147483646 h 43200"/>
              <a:gd name="T6" fmla="*/ 0 60000 65536"/>
              <a:gd name="T7" fmla="*/ 0 60000 65536"/>
              <a:gd name="T8" fmla="*/ 0 60000 65536"/>
              <a:gd name="T9" fmla="*/ 0 w 41838"/>
              <a:gd name="T10" fmla="*/ 0 h 43200"/>
              <a:gd name="T11" fmla="*/ 41838 w 41838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838" h="43200" fill="none" extrusionOk="0">
                <a:moveTo>
                  <a:pt x="930" y="11915"/>
                </a:moveTo>
                <a:cubicBezTo>
                  <a:pt x="4594" y="4611"/>
                  <a:pt x="12066" y="-1"/>
                  <a:pt x="20238" y="0"/>
                </a:cubicBezTo>
                <a:cubicBezTo>
                  <a:pt x="32167" y="0"/>
                  <a:pt x="41838" y="9670"/>
                  <a:pt x="41838" y="21600"/>
                </a:cubicBezTo>
                <a:cubicBezTo>
                  <a:pt x="41838" y="33529"/>
                  <a:pt x="32167" y="43200"/>
                  <a:pt x="20238" y="43200"/>
                </a:cubicBezTo>
                <a:cubicBezTo>
                  <a:pt x="11220" y="43200"/>
                  <a:pt x="3152" y="37598"/>
                  <a:pt x="0" y="29149"/>
                </a:cubicBezTo>
              </a:path>
              <a:path w="41838" h="43200" stroke="0" extrusionOk="0">
                <a:moveTo>
                  <a:pt x="930" y="11915"/>
                </a:moveTo>
                <a:cubicBezTo>
                  <a:pt x="4594" y="4611"/>
                  <a:pt x="12066" y="-1"/>
                  <a:pt x="20238" y="0"/>
                </a:cubicBezTo>
                <a:cubicBezTo>
                  <a:pt x="32167" y="0"/>
                  <a:pt x="41838" y="9670"/>
                  <a:pt x="41838" y="21600"/>
                </a:cubicBezTo>
                <a:cubicBezTo>
                  <a:pt x="41838" y="33529"/>
                  <a:pt x="32167" y="43200"/>
                  <a:pt x="20238" y="43200"/>
                </a:cubicBezTo>
                <a:cubicBezTo>
                  <a:pt x="11220" y="43200"/>
                  <a:pt x="3152" y="37598"/>
                  <a:pt x="0" y="29149"/>
                </a:cubicBezTo>
                <a:lnTo>
                  <a:pt x="20238" y="21600"/>
                </a:lnTo>
                <a:lnTo>
                  <a:pt x="930" y="11915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rc 45">
            <a:extLst>
              <a:ext uri="{FF2B5EF4-FFF2-40B4-BE49-F238E27FC236}">
                <a16:creationId xmlns:a16="http://schemas.microsoft.com/office/drawing/2014/main" id="{51763690-57A1-9125-46F7-8425AB5472FE}"/>
              </a:ext>
            </a:extLst>
          </p:cNvPr>
          <p:cNvSpPr>
            <a:spLocks/>
          </p:cNvSpPr>
          <p:nvPr/>
        </p:nvSpPr>
        <p:spPr bwMode="auto">
          <a:xfrm rot="10800000">
            <a:off x="5207503" y="4323969"/>
            <a:ext cx="508000" cy="695325"/>
          </a:xfrm>
          <a:custGeom>
            <a:avLst/>
            <a:gdLst>
              <a:gd name="T0" fmla="*/ 0 w 42249"/>
              <a:gd name="T1" fmla="*/ 2147483646 h 43200"/>
              <a:gd name="T2" fmla="*/ 2147483646 w 42249"/>
              <a:gd name="T3" fmla="*/ 2147483646 h 43200"/>
              <a:gd name="T4" fmla="*/ 2147483646 w 42249"/>
              <a:gd name="T5" fmla="*/ 2147483646 h 43200"/>
              <a:gd name="T6" fmla="*/ 0 60000 65536"/>
              <a:gd name="T7" fmla="*/ 0 60000 65536"/>
              <a:gd name="T8" fmla="*/ 0 60000 65536"/>
              <a:gd name="T9" fmla="*/ 0 w 42249"/>
              <a:gd name="T10" fmla="*/ 0 h 43200"/>
              <a:gd name="T11" fmla="*/ 42249 w 42249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249" h="43200" fill="none" extrusionOk="0">
                <a:moveTo>
                  <a:pt x="0" y="15261"/>
                </a:moveTo>
                <a:cubicBezTo>
                  <a:pt x="2784" y="6191"/>
                  <a:pt x="11161" y="-1"/>
                  <a:pt x="20649" y="0"/>
                </a:cubicBezTo>
                <a:cubicBezTo>
                  <a:pt x="32578" y="0"/>
                  <a:pt x="42249" y="9670"/>
                  <a:pt x="42249" y="21600"/>
                </a:cubicBezTo>
                <a:cubicBezTo>
                  <a:pt x="42249" y="33529"/>
                  <a:pt x="32578" y="43200"/>
                  <a:pt x="20649" y="43200"/>
                </a:cubicBezTo>
                <a:cubicBezTo>
                  <a:pt x="11979" y="43200"/>
                  <a:pt x="4149" y="38016"/>
                  <a:pt x="764" y="30034"/>
                </a:cubicBezTo>
              </a:path>
              <a:path w="42249" h="43200" stroke="0" extrusionOk="0">
                <a:moveTo>
                  <a:pt x="0" y="15261"/>
                </a:moveTo>
                <a:cubicBezTo>
                  <a:pt x="2784" y="6191"/>
                  <a:pt x="11161" y="-1"/>
                  <a:pt x="20649" y="0"/>
                </a:cubicBezTo>
                <a:cubicBezTo>
                  <a:pt x="32578" y="0"/>
                  <a:pt x="42249" y="9670"/>
                  <a:pt x="42249" y="21600"/>
                </a:cubicBezTo>
                <a:cubicBezTo>
                  <a:pt x="42249" y="33529"/>
                  <a:pt x="32578" y="43200"/>
                  <a:pt x="20649" y="43200"/>
                </a:cubicBezTo>
                <a:cubicBezTo>
                  <a:pt x="11979" y="43200"/>
                  <a:pt x="4149" y="38016"/>
                  <a:pt x="764" y="30034"/>
                </a:cubicBezTo>
                <a:lnTo>
                  <a:pt x="20649" y="21600"/>
                </a:lnTo>
                <a:lnTo>
                  <a:pt x="0" y="15261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46">
            <a:extLst>
              <a:ext uri="{FF2B5EF4-FFF2-40B4-BE49-F238E27FC236}">
                <a16:creationId xmlns:a16="http://schemas.microsoft.com/office/drawing/2014/main" id="{02E4AD99-BEB1-5863-6E0B-55E22AE88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628" y="3615944"/>
            <a:ext cx="730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D=1</a:t>
            </a:r>
          </a:p>
        </p:txBody>
      </p:sp>
      <p:sp>
        <p:nvSpPr>
          <p:cNvPr id="13" name="Text Box 47">
            <a:extLst>
              <a:ext uri="{FF2B5EF4-FFF2-40B4-BE49-F238E27FC236}">
                <a16:creationId xmlns:a16="http://schemas.microsoft.com/office/drawing/2014/main" id="{13E747B7-2E5C-D26C-CBED-FFF7740DB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5278" y="5200269"/>
            <a:ext cx="887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D=0 </a:t>
            </a:r>
          </a:p>
        </p:txBody>
      </p:sp>
      <p:sp>
        <p:nvSpPr>
          <p:cNvPr id="14" name="Text Box 48">
            <a:extLst>
              <a:ext uri="{FF2B5EF4-FFF2-40B4-BE49-F238E27FC236}">
                <a16:creationId xmlns:a16="http://schemas.microsoft.com/office/drawing/2014/main" id="{59499837-1472-30A9-9732-F9C92C340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1390" y="4470019"/>
            <a:ext cx="730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D=1</a:t>
            </a:r>
          </a:p>
        </p:txBody>
      </p:sp>
      <p:sp>
        <p:nvSpPr>
          <p:cNvPr id="15" name="Text Box 49">
            <a:extLst>
              <a:ext uri="{FF2B5EF4-FFF2-40B4-BE49-F238E27FC236}">
                <a16:creationId xmlns:a16="http://schemas.microsoft.com/office/drawing/2014/main" id="{DFE4ACB2-4473-79A1-A86D-D83FB40AD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4078" y="4458906"/>
            <a:ext cx="730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D=0</a:t>
            </a:r>
          </a:p>
        </p:txBody>
      </p:sp>
      <p:grpSp>
        <p:nvGrpSpPr>
          <p:cNvPr id="16" name="Group 50">
            <a:extLst>
              <a:ext uri="{FF2B5EF4-FFF2-40B4-BE49-F238E27FC236}">
                <a16:creationId xmlns:a16="http://schemas.microsoft.com/office/drawing/2014/main" id="{E8C455FB-CA8F-9B60-2852-0D874774B384}"/>
              </a:ext>
            </a:extLst>
          </p:cNvPr>
          <p:cNvGrpSpPr>
            <a:grpSpLocks/>
          </p:cNvGrpSpPr>
          <p:nvPr/>
        </p:nvGrpSpPr>
        <p:grpSpPr bwMode="auto">
          <a:xfrm>
            <a:off x="5688515" y="4373181"/>
            <a:ext cx="2181225" cy="533400"/>
            <a:chOff x="3350" y="2886"/>
            <a:chExt cx="1374" cy="336"/>
          </a:xfrm>
        </p:grpSpPr>
        <p:sp>
          <p:nvSpPr>
            <p:cNvPr id="17" name="Oval 51">
              <a:extLst>
                <a:ext uri="{FF2B5EF4-FFF2-40B4-BE49-F238E27FC236}">
                  <a16:creationId xmlns:a16="http://schemas.microsoft.com/office/drawing/2014/main" id="{7AE4FB89-A0A5-68AF-1F5D-59EF725DB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0" y="2886"/>
              <a:ext cx="336" cy="3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8" name="Oval 52">
              <a:extLst>
                <a:ext uri="{FF2B5EF4-FFF2-40B4-BE49-F238E27FC236}">
                  <a16:creationId xmlns:a16="http://schemas.microsoft.com/office/drawing/2014/main" id="{42C8C879-C0A1-04D3-DD20-C4B3D5DEA3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8" y="2886"/>
              <a:ext cx="336" cy="3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9" name="Text Box 53">
              <a:extLst>
                <a:ext uri="{FF2B5EF4-FFF2-40B4-BE49-F238E27FC236}">
                  <a16:creationId xmlns:a16="http://schemas.microsoft.com/office/drawing/2014/main" id="{635297EF-BE87-0668-1059-6CD720850C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2" y="290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20" name="Text Box 54">
              <a:extLst>
                <a:ext uri="{FF2B5EF4-FFF2-40B4-BE49-F238E27FC236}">
                  <a16:creationId xmlns:a16="http://schemas.microsoft.com/office/drawing/2014/main" id="{D6ED2395-2A9E-E448-13A7-BB29119904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4" y="291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1</a:t>
              </a:r>
            </a:p>
          </p:txBody>
        </p:sp>
      </p:grpSp>
      <p:sp>
        <p:nvSpPr>
          <p:cNvPr id="21" name="Rectangle 55">
            <a:extLst>
              <a:ext uri="{FF2B5EF4-FFF2-40B4-BE49-F238E27FC236}">
                <a16:creationId xmlns:a16="http://schemas.microsoft.com/office/drawing/2014/main" id="{255CCF37-378B-C77B-53A0-D0BFAD77A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228" y="5649531"/>
            <a:ext cx="1103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状态图</a:t>
            </a:r>
          </a:p>
        </p:txBody>
      </p:sp>
      <p:sp>
        <p:nvSpPr>
          <p:cNvPr id="22" name="Rectangle 56">
            <a:extLst>
              <a:ext uri="{FF2B5EF4-FFF2-40B4-BE49-F238E27FC236}">
                <a16:creationId xmlns:a16="http://schemas.microsoft.com/office/drawing/2014/main" id="{727C920A-D719-9DBB-D1C6-E30F37BB4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603" y="5020881"/>
            <a:ext cx="151130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zh-CN" altLang="en-US" sz="2400"/>
              <a:t>特性方程</a:t>
            </a:r>
          </a:p>
        </p:txBody>
      </p:sp>
      <p:sp>
        <p:nvSpPr>
          <p:cNvPr id="23" name="Text Box 57">
            <a:extLst>
              <a:ext uri="{FF2B5EF4-FFF2-40B4-BE49-F238E27FC236}">
                <a16:creationId xmlns:a16="http://schemas.microsoft.com/office/drawing/2014/main" id="{895FAE90-2C42-F7CB-31DD-75FD48C2E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8203" y="1431544"/>
            <a:ext cx="1271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特性表</a:t>
            </a:r>
          </a:p>
        </p:txBody>
      </p:sp>
      <p:sp>
        <p:nvSpPr>
          <p:cNvPr id="24" name="Text Box 58">
            <a:extLst>
              <a:ext uri="{FF2B5EF4-FFF2-40B4-BE49-F238E27FC236}">
                <a16:creationId xmlns:a16="http://schemas.microsoft.com/office/drawing/2014/main" id="{3F09D9D4-23E9-BB79-560D-229A9163B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5065" y="2933319"/>
            <a:ext cx="1692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逻辑符号</a:t>
            </a:r>
          </a:p>
        </p:txBody>
      </p:sp>
      <p:grpSp>
        <p:nvGrpSpPr>
          <p:cNvPr id="25" name="Group 59">
            <a:extLst>
              <a:ext uri="{FF2B5EF4-FFF2-40B4-BE49-F238E27FC236}">
                <a16:creationId xmlns:a16="http://schemas.microsoft.com/office/drawing/2014/main" id="{1FA687A4-E76A-5BAA-F631-B298A61858B5}"/>
              </a:ext>
            </a:extLst>
          </p:cNvPr>
          <p:cNvGrpSpPr>
            <a:grpSpLocks/>
          </p:cNvGrpSpPr>
          <p:nvPr/>
        </p:nvGrpSpPr>
        <p:grpSpPr bwMode="auto">
          <a:xfrm>
            <a:off x="4729665" y="1780794"/>
            <a:ext cx="1946275" cy="976312"/>
            <a:chOff x="2676" y="1253"/>
            <a:chExt cx="1226" cy="615"/>
          </a:xfrm>
        </p:grpSpPr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5590781B-AC35-B78E-5C8C-FE671872A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9" y="1253"/>
              <a:ext cx="450" cy="61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7" name="Line 61">
              <a:extLst>
                <a:ext uri="{FF2B5EF4-FFF2-40B4-BE49-F238E27FC236}">
                  <a16:creationId xmlns:a16="http://schemas.microsoft.com/office/drawing/2014/main" id="{9156BD0D-24B9-D7EA-2094-66ED94CEF3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6" y="1399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62">
              <a:extLst>
                <a:ext uri="{FF2B5EF4-FFF2-40B4-BE49-F238E27FC236}">
                  <a16:creationId xmlns:a16="http://schemas.microsoft.com/office/drawing/2014/main" id="{61AD0181-3AB9-5771-0CF8-30CDF82DEE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6" y="1704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63">
              <a:extLst>
                <a:ext uri="{FF2B5EF4-FFF2-40B4-BE49-F238E27FC236}">
                  <a16:creationId xmlns:a16="http://schemas.microsoft.com/office/drawing/2014/main" id="{54805CF1-BE88-64A7-AA91-B40ADB0BCD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1399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64">
              <a:extLst>
                <a:ext uri="{FF2B5EF4-FFF2-40B4-BE49-F238E27FC236}">
                  <a16:creationId xmlns:a16="http://schemas.microsoft.com/office/drawing/2014/main" id="{A709072F-A44A-8B11-8AF3-C414210102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5" y="1704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 Box 65">
              <a:extLst>
                <a:ext uri="{FF2B5EF4-FFF2-40B4-BE49-F238E27FC236}">
                  <a16:creationId xmlns:a16="http://schemas.microsoft.com/office/drawing/2014/main" id="{ADC32C79-5671-860C-A35B-9DDB18C18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0" y="1277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D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32" name="Text Box 66">
              <a:extLst>
                <a:ext uri="{FF2B5EF4-FFF2-40B4-BE49-F238E27FC236}">
                  <a16:creationId xmlns:a16="http://schemas.microsoft.com/office/drawing/2014/main" id="{EC750B22-1A32-C00F-1927-0C22819164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8" y="1253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33" name="Text Box 67">
              <a:extLst>
                <a:ext uri="{FF2B5EF4-FFF2-40B4-BE49-F238E27FC236}">
                  <a16:creationId xmlns:a16="http://schemas.microsoft.com/office/drawing/2014/main" id="{34BA5495-A5F4-65FC-5EF7-DC9AB3CB4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7" y="1554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34" name="Line 68">
              <a:extLst>
                <a:ext uri="{FF2B5EF4-FFF2-40B4-BE49-F238E27FC236}">
                  <a16:creationId xmlns:a16="http://schemas.microsoft.com/office/drawing/2014/main" id="{03729745-3477-8EDF-F764-DB170A74C1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1614"/>
              <a:ext cx="1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69">
              <a:extLst>
                <a:ext uri="{FF2B5EF4-FFF2-40B4-BE49-F238E27FC236}">
                  <a16:creationId xmlns:a16="http://schemas.microsoft.com/office/drawing/2014/main" id="{37865665-9D8F-6E27-0205-727717CB1F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9" y="1630"/>
              <a:ext cx="80" cy="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70">
              <a:extLst>
                <a:ext uri="{FF2B5EF4-FFF2-40B4-BE49-F238E27FC236}">
                  <a16:creationId xmlns:a16="http://schemas.microsoft.com/office/drawing/2014/main" id="{D1CD4DC3-4B5A-B11C-671E-6763F741EA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9" y="1701"/>
              <a:ext cx="80" cy="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Oval 71">
              <a:extLst>
                <a:ext uri="{FF2B5EF4-FFF2-40B4-BE49-F238E27FC236}">
                  <a16:creationId xmlns:a16="http://schemas.microsoft.com/office/drawing/2014/main" id="{F97EE0C7-EFFD-2876-44B4-F0EF81241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1661"/>
              <a:ext cx="90" cy="9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72">
            <a:extLst>
              <a:ext uri="{FF2B5EF4-FFF2-40B4-BE49-F238E27FC236}">
                <a16:creationId xmlns:a16="http://schemas.microsoft.com/office/drawing/2014/main" id="{07E7AD1C-44B1-967E-EAE7-A366B5B9FA25}"/>
              </a:ext>
            </a:extLst>
          </p:cNvPr>
          <p:cNvGrpSpPr>
            <a:grpSpLocks/>
          </p:cNvGrpSpPr>
          <p:nvPr/>
        </p:nvGrpSpPr>
        <p:grpSpPr bwMode="auto">
          <a:xfrm>
            <a:off x="7064878" y="1815719"/>
            <a:ext cx="1946275" cy="976312"/>
            <a:chOff x="4147" y="1275"/>
            <a:chExt cx="1226" cy="615"/>
          </a:xfrm>
        </p:grpSpPr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B2011906-0FB9-D4FC-200B-0A9F5651A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" y="1275"/>
              <a:ext cx="450" cy="61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0" name="Line 74">
              <a:extLst>
                <a:ext uri="{FF2B5EF4-FFF2-40B4-BE49-F238E27FC236}">
                  <a16:creationId xmlns:a16="http://schemas.microsoft.com/office/drawing/2014/main" id="{7290125B-4557-F41A-20B2-9E3CD5F385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7" y="1421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75">
              <a:extLst>
                <a:ext uri="{FF2B5EF4-FFF2-40B4-BE49-F238E27FC236}">
                  <a16:creationId xmlns:a16="http://schemas.microsoft.com/office/drawing/2014/main" id="{5DC764F7-A385-F9CB-D599-703D9225A3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7" y="1726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76">
              <a:extLst>
                <a:ext uri="{FF2B5EF4-FFF2-40B4-BE49-F238E27FC236}">
                  <a16:creationId xmlns:a16="http://schemas.microsoft.com/office/drawing/2014/main" id="{46C98F77-8235-49FE-4F63-C0F9958DD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0" y="1421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77">
              <a:extLst>
                <a:ext uri="{FF2B5EF4-FFF2-40B4-BE49-F238E27FC236}">
                  <a16:creationId xmlns:a16="http://schemas.microsoft.com/office/drawing/2014/main" id="{AD2D8B4A-357D-CD3D-2939-40CC9D3509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6" y="1726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 Box 78">
              <a:extLst>
                <a:ext uri="{FF2B5EF4-FFF2-40B4-BE49-F238E27FC236}">
                  <a16:creationId xmlns:a16="http://schemas.microsoft.com/office/drawing/2014/main" id="{D151D466-2B7D-CE2B-8303-38A44FA072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1" y="1299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D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45" name="Text Box 79">
              <a:extLst>
                <a:ext uri="{FF2B5EF4-FFF2-40B4-BE49-F238E27FC236}">
                  <a16:creationId xmlns:a16="http://schemas.microsoft.com/office/drawing/2014/main" id="{B903023A-A1B0-A618-25BE-0A961D4B48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9" y="1275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46" name="Text Box 80">
              <a:extLst>
                <a:ext uri="{FF2B5EF4-FFF2-40B4-BE49-F238E27FC236}">
                  <a16:creationId xmlns:a16="http://schemas.microsoft.com/office/drawing/2014/main" id="{43AEA3B7-A86D-A0EC-9FBC-39FB951E12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8" y="1576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47" name="Line 81">
              <a:extLst>
                <a:ext uri="{FF2B5EF4-FFF2-40B4-BE49-F238E27FC236}">
                  <a16:creationId xmlns:a16="http://schemas.microsoft.com/office/drawing/2014/main" id="{CC923F14-6CA3-D8F8-1A8C-871C8C697D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7" y="1636"/>
              <a:ext cx="1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82">
              <a:extLst>
                <a:ext uri="{FF2B5EF4-FFF2-40B4-BE49-F238E27FC236}">
                  <a16:creationId xmlns:a16="http://schemas.microsoft.com/office/drawing/2014/main" id="{5CA8BE56-DEFD-6063-D46C-0A949F4B4F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0" y="1652"/>
              <a:ext cx="80" cy="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83">
              <a:extLst>
                <a:ext uri="{FF2B5EF4-FFF2-40B4-BE49-F238E27FC236}">
                  <a16:creationId xmlns:a16="http://schemas.microsoft.com/office/drawing/2014/main" id="{EF606D93-C68D-76BC-710E-EEF8A28EFD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0" y="1723"/>
              <a:ext cx="80" cy="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Oval 84">
              <a:extLst>
                <a:ext uri="{FF2B5EF4-FFF2-40B4-BE49-F238E27FC236}">
                  <a16:creationId xmlns:a16="http://schemas.microsoft.com/office/drawing/2014/main" id="{03B83786-254C-6198-140B-01F604C4B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1" y="1683"/>
              <a:ext cx="90" cy="9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1" name="Oval 85">
              <a:extLst>
                <a:ext uri="{FF2B5EF4-FFF2-40B4-BE49-F238E27FC236}">
                  <a16:creationId xmlns:a16="http://schemas.microsoft.com/office/drawing/2014/main" id="{A5BD5B28-B076-EF49-4F3A-842082847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1684"/>
              <a:ext cx="90" cy="9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6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60406-5481-2CE6-5FED-9137AA634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T</a:t>
            </a:r>
            <a:r>
              <a:rPr lang="zh-CN" altLang="en-US" dirty="0"/>
              <a:t>触发器 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85FDE1-583E-2063-0E27-5C86D937B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EECDBC-4A29-6E8B-AC19-A637FE116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15</a:t>
            </a:fld>
            <a:r>
              <a:rPr lang="en-US" altLang="zh-CN" dirty="0"/>
              <a:t>/29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B640FD7-BCB6-CBBC-A883-399E4D9FDF9E}"/>
              </a:ext>
            </a:extLst>
          </p:cNvPr>
          <p:cNvSpPr txBox="1">
            <a:spLocks noChangeArrowheads="1"/>
          </p:cNvSpPr>
          <p:nvPr/>
        </p:nvSpPr>
        <p:spPr>
          <a:xfrm>
            <a:off x="1897062" y="4347520"/>
            <a:ext cx="1584325" cy="51911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 sz="2400"/>
              <a:t>特性方程</a:t>
            </a:r>
          </a:p>
        </p:txBody>
      </p:sp>
      <p:sp>
        <p:nvSpPr>
          <p:cNvPr id="7" name="Arc 4">
            <a:extLst>
              <a:ext uri="{FF2B5EF4-FFF2-40B4-BE49-F238E27FC236}">
                <a16:creationId xmlns:a16="http://schemas.microsoft.com/office/drawing/2014/main" id="{7433DD93-DBED-2651-6820-5A95C2A4037C}"/>
              </a:ext>
            </a:extLst>
          </p:cNvPr>
          <p:cNvSpPr>
            <a:spLocks/>
          </p:cNvSpPr>
          <p:nvPr/>
        </p:nvSpPr>
        <p:spPr bwMode="auto">
          <a:xfrm flipH="1">
            <a:off x="6191250" y="4079232"/>
            <a:ext cx="1519237" cy="1146175"/>
          </a:xfrm>
          <a:custGeom>
            <a:avLst/>
            <a:gdLst>
              <a:gd name="T0" fmla="*/ 0 w 28597"/>
              <a:gd name="T1" fmla="*/ 2147483646 h 21600"/>
              <a:gd name="T2" fmla="*/ 2147483646 w 28597"/>
              <a:gd name="T3" fmla="*/ 2147483646 h 21600"/>
              <a:gd name="T4" fmla="*/ 2147483646 w 28597"/>
              <a:gd name="T5" fmla="*/ 2147483646 h 21600"/>
              <a:gd name="T6" fmla="*/ 0 60000 65536"/>
              <a:gd name="T7" fmla="*/ 0 60000 65536"/>
              <a:gd name="T8" fmla="*/ 0 60000 65536"/>
              <a:gd name="T9" fmla="*/ 0 w 28597"/>
              <a:gd name="T10" fmla="*/ 0 h 21600"/>
              <a:gd name="T11" fmla="*/ 28597 w 2859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597" h="21600" fill="none" extrusionOk="0">
                <a:moveTo>
                  <a:pt x="-1" y="5259"/>
                </a:moveTo>
                <a:cubicBezTo>
                  <a:pt x="3924" y="1866"/>
                  <a:pt x="8938" y="-1"/>
                  <a:pt x="14126" y="0"/>
                </a:cubicBezTo>
                <a:cubicBezTo>
                  <a:pt x="19471" y="0"/>
                  <a:pt x="24628" y="1982"/>
                  <a:pt x="28596" y="5564"/>
                </a:cubicBezTo>
              </a:path>
              <a:path w="28597" h="21600" stroke="0" extrusionOk="0">
                <a:moveTo>
                  <a:pt x="-1" y="5259"/>
                </a:moveTo>
                <a:cubicBezTo>
                  <a:pt x="3924" y="1866"/>
                  <a:pt x="8938" y="-1"/>
                  <a:pt x="14126" y="0"/>
                </a:cubicBezTo>
                <a:cubicBezTo>
                  <a:pt x="19471" y="0"/>
                  <a:pt x="24628" y="1982"/>
                  <a:pt x="28596" y="5564"/>
                </a:cubicBezTo>
                <a:lnTo>
                  <a:pt x="14126" y="21600"/>
                </a:lnTo>
                <a:lnTo>
                  <a:pt x="-1" y="5259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rc 5">
            <a:extLst>
              <a:ext uri="{FF2B5EF4-FFF2-40B4-BE49-F238E27FC236}">
                <a16:creationId xmlns:a16="http://schemas.microsoft.com/office/drawing/2014/main" id="{5E14B113-31C4-09B3-A933-A9EEAEBEA2C5}"/>
              </a:ext>
            </a:extLst>
          </p:cNvPr>
          <p:cNvSpPr>
            <a:spLocks/>
          </p:cNvSpPr>
          <p:nvPr/>
        </p:nvSpPr>
        <p:spPr bwMode="auto">
          <a:xfrm>
            <a:off x="7962900" y="4314182"/>
            <a:ext cx="503237" cy="695325"/>
          </a:xfrm>
          <a:custGeom>
            <a:avLst/>
            <a:gdLst>
              <a:gd name="T0" fmla="*/ 2147483646 w 41838"/>
              <a:gd name="T1" fmla="*/ 2147483646 h 43200"/>
              <a:gd name="T2" fmla="*/ 0 w 41838"/>
              <a:gd name="T3" fmla="*/ 2147483646 h 43200"/>
              <a:gd name="T4" fmla="*/ 2147483646 w 41838"/>
              <a:gd name="T5" fmla="*/ 2147483646 h 43200"/>
              <a:gd name="T6" fmla="*/ 0 60000 65536"/>
              <a:gd name="T7" fmla="*/ 0 60000 65536"/>
              <a:gd name="T8" fmla="*/ 0 60000 65536"/>
              <a:gd name="T9" fmla="*/ 0 w 41838"/>
              <a:gd name="T10" fmla="*/ 0 h 43200"/>
              <a:gd name="T11" fmla="*/ 41838 w 41838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838" h="43200" fill="none" extrusionOk="0">
                <a:moveTo>
                  <a:pt x="930" y="11915"/>
                </a:moveTo>
                <a:cubicBezTo>
                  <a:pt x="4594" y="4611"/>
                  <a:pt x="12066" y="-1"/>
                  <a:pt x="20238" y="0"/>
                </a:cubicBezTo>
                <a:cubicBezTo>
                  <a:pt x="32167" y="0"/>
                  <a:pt x="41838" y="9670"/>
                  <a:pt x="41838" y="21600"/>
                </a:cubicBezTo>
                <a:cubicBezTo>
                  <a:pt x="41838" y="33529"/>
                  <a:pt x="32167" y="43200"/>
                  <a:pt x="20238" y="43200"/>
                </a:cubicBezTo>
                <a:cubicBezTo>
                  <a:pt x="11220" y="43200"/>
                  <a:pt x="3152" y="37598"/>
                  <a:pt x="0" y="29149"/>
                </a:cubicBezTo>
              </a:path>
              <a:path w="41838" h="43200" stroke="0" extrusionOk="0">
                <a:moveTo>
                  <a:pt x="930" y="11915"/>
                </a:moveTo>
                <a:cubicBezTo>
                  <a:pt x="4594" y="4611"/>
                  <a:pt x="12066" y="-1"/>
                  <a:pt x="20238" y="0"/>
                </a:cubicBezTo>
                <a:cubicBezTo>
                  <a:pt x="32167" y="0"/>
                  <a:pt x="41838" y="9670"/>
                  <a:pt x="41838" y="21600"/>
                </a:cubicBezTo>
                <a:cubicBezTo>
                  <a:pt x="41838" y="33529"/>
                  <a:pt x="32167" y="43200"/>
                  <a:pt x="20238" y="43200"/>
                </a:cubicBezTo>
                <a:cubicBezTo>
                  <a:pt x="11220" y="43200"/>
                  <a:pt x="3152" y="37598"/>
                  <a:pt x="0" y="29149"/>
                </a:cubicBezTo>
                <a:lnTo>
                  <a:pt x="20238" y="21600"/>
                </a:lnTo>
                <a:lnTo>
                  <a:pt x="930" y="11915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rc 6">
            <a:extLst>
              <a:ext uri="{FF2B5EF4-FFF2-40B4-BE49-F238E27FC236}">
                <a16:creationId xmlns:a16="http://schemas.microsoft.com/office/drawing/2014/main" id="{B623974C-BDF8-4852-2DAC-63B103E2B7FA}"/>
              </a:ext>
            </a:extLst>
          </p:cNvPr>
          <p:cNvSpPr>
            <a:spLocks/>
          </p:cNvSpPr>
          <p:nvPr/>
        </p:nvSpPr>
        <p:spPr bwMode="auto">
          <a:xfrm rot="10800000">
            <a:off x="5329237" y="4314182"/>
            <a:ext cx="508000" cy="695325"/>
          </a:xfrm>
          <a:custGeom>
            <a:avLst/>
            <a:gdLst>
              <a:gd name="T0" fmla="*/ 0 w 42249"/>
              <a:gd name="T1" fmla="*/ 2147483646 h 43200"/>
              <a:gd name="T2" fmla="*/ 2147483646 w 42249"/>
              <a:gd name="T3" fmla="*/ 2147483646 h 43200"/>
              <a:gd name="T4" fmla="*/ 2147483646 w 42249"/>
              <a:gd name="T5" fmla="*/ 2147483646 h 43200"/>
              <a:gd name="T6" fmla="*/ 0 60000 65536"/>
              <a:gd name="T7" fmla="*/ 0 60000 65536"/>
              <a:gd name="T8" fmla="*/ 0 60000 65536"/>
              <a:gd name="T9" fmla="*/ 0 w 42249"/>
              <a:gd name="T10" fmla="*/ 0 h 43200"/>
              <a:gd name="T11" fmla="*/ 42249 w 42249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249" h="43200" fill="none" extrusionOk="0">
                <a:moveTo>
                  <a:pt x="0" y="15261"/>
                </a:moveTo>
                <a:cubicBezTo>
                  <a:pt x="2784" y="6191"/>
                  <a:pt x="11161" y="-1"/>
                  <a:pt x="20649" y="0"/>
                </a:cubicBezTo>
                <a:cubicBezTo>
                  <a:pt x="32578" y="0"/>
                  <a:pt x="42249" y="9670"/>
                  <a:pt x="42249" y="21600"/>
                </a:cubicBezTo>
                <a:cubicBezTo>
                  <a:pt x="42249" y="33529"/>
                  <a:pt x="32578" y="43200"/>
                  <a:pt x="20649" y="43200"/>
                </a:cubicBezTo>
                <a:cubicBezTo>
                  <a:pt x="11979" y="43200"/>
                  <a:pt x="4149" y="38016"/>
                  <a:pt x="764" y="30034"/>
                </a:cubicBezTo>
              </a:path>
              <a:path w="42249" h="43200" stroke="0" extrusionOk="0">
                <a:moveTo>
                  <a:pt x="0" y="15261"/>
                </a:moveTo>
                <a:cubicBezTo>
                  <a:pt x="2784" y="6191"/>
                  <a:pt x="11161" y="-1"/>
                  <a:pt x="20649" y="0"/>
                </a:cubicBezTo>
                <a:cubicBezTo>
                  <a:pt x="32578" y="0"/>
                  <a:pt x="42249" y="9670"/>
                  <a:pt x="42249" y="21600"/>
                </a:cubicBezTo>
                <a:cubicBezTo>
                  <a:pt x="42249" y="33529"/>
                  <a:pt x="32578" y="43200"/>
                  <a:pt x="20649" y="43200"/>
                </a:cubicBezTo>
                <a:cubicBezTo>
                  <a:pt x="11979" y="43200"/>
                  <a:pt x="4149" y="38016"/>
                  <a:pt x="764" y="30034"/>
                </a:cubicBezTo>
                <a:lnTo>
                  <a:pt x="20649" y="21600"/>
                </a:lnTo>
                <a:lnTo>
                  <a:pt x="0" y="15261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AF080F5D-064F-8F58-2884-6D5A22D3C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3362" y="3606157"/>
            <a:ext cx="712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T=1</a:t>
            </a: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FD1EFE64-B85D-080D-A903-F30D4DD0FB37}"/>
              </a:ext>
            </a:extLst>
          </p:cNvPr>
          <p:cNvGrpSpPr>
            <a:grpSpLocks/>
          </p:cNvGrpSpPr>
          <p:nvPr/>
        </p:nvGrpSpPr>
        <p:grpSpPr bwMode="auto">
          <a:xfrm>
            <a:off x="6234112" y="4001445"/>
            <a:ext cx="1476375" cy="1646237"/>
            <a:chOff x="3616" y="2681"/>
            <a:chExt cx="930" cy="1037"/>
          </a:xfrm>
        </p:grpSpPr>
        <p:sp>
          <p:nvSpPr>
            <p:cNvPr id="12" name="Arc 9">
              <a:extLst>
                <a:ext uri="{FF2B5EF4-FFF2-40B4-BE49-F238E27FC236}">
                  <a16:creationId xmlns:a16="http://schemas.microsoft.com/office/drawing/2014/main" id="{39ECD028-0AD4-11FC-1C92-C91B85BA4EF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16" y="2681"/>
              <a:ext cx="930" cy="726"/>
            </a:xfrm>
            <a:custGeom>
              <a:avLst/>
              <a:gdLst>
                <a:gd name="T0" fmla="*/ 0 w 28187"/>
                <a:gd name="T1" fmla="*/ 0 h 21600"/>
                <a:gd name="T2" fmla="*/ 0 w 28187"/>
                <a:gd name="T3" fmla="*/ 0 h 21600"/>
                <a:gd name="T4" fmla="*/ 0 w 28187"/>
                <a:gd name="T5" fmla="*/ 0 h 21600"/>
                <a:gd name="T6" fmla="*/ 0 60000 65536"/>
                <a:gd name="T7" fmla="*/ 0 60000 65536"/>
                <a:gd name="T8" fmla="*/ 0 60000 65536"/>
                <a:gd name="T9" fmla="*/ 0 w 28187"/>
                <a:gd name="T10" fmla="*/ 0 h 21600"/>
                <a:gd name="T11" fmla="*/ 28187 w 2818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187" h="21600" fill="none" extrusionOk="0">
                  <a:moveTo>
                    <a:pt x="-1" y="5259"/>
                  </a:moveTo>
                  <a:cubicBezTo>
                    <a:pt x="3924" y="1866"/>
                    <a:pt x="8938" y="-1"/>
                    <a:pt x="14126" y="0"/>
                  </a:cubicBezTo>
                  <a:cubicBezTo>
                    <a:pt x="19284" y="0"/>
                    <a:pt x="24271" y="1845"/>
                    <a:pt x="28187" y="5203"/>
                  </a:cubicBezTo>
                </a:path>
                <a:path w="28187" h="21600" stroke="0" extrusionOk="0">
                  <a:moveTo>
                    <a:pt x="-1" y="5259"/>
                  </a:moveTo>
                  <a:cubicBezTo>
                    <a:pt x="3924" y="1866"/>
                    <a:pt x="8938" y="-1"/>
                    <a:pt x="14126" y="0"/>
                  </a:cubicBezTo>
                  <a:cubicBezTo>
                    <a:pt x="19284" y="0"/>
                    <a:pt x="24271" y="1845"/>
                    <a:pt x="28187" y="5203"/>
                  </a:cubicBezTo>
                  <a:lnTo>
                    <a:pt x="14126" y="21600"/>
                  </a:lnTo>
                  <a:lnTo>
                    <a:pt x="-1" y="5259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EC2CEFA4-40B1-E2B9-3D32-73776FC93D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2" y="3430"/>
              <a:ext cx="55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T=1 </a:t>
              </a:r>
            </a:p>
          </p:txBody>
        </p:sp>
      </p:grpSp>
      <p:sp>
        <p:nvSpPr>
          <p:cNvPr id="14" name="Text Box 11">
            <a:extLst>
              <a:ext uri="{FF2B5EF4-FFF2-40B4-BE49-F238E27FC236}">
                <a16:creationId xmlns:a16="http://schemas.microsoft.com/office/drawing/2014/main" id="{0C759B85-0D17-45BD-AA9E-E9913F8EA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125" y="4460232"/>
            <a:ext cx="712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T=0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AD4A8878-B220-A316-90B0-3634B6646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5812" y="4449120"/>
            <a:ext cx="712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T=0</a:t>
            </a:r>
          </a:p>
        </p:txBody>
      </p:sp>
      <p:grpSp>
        <p:nvGrpSpPr>
          <p:cNvPr id="16" name="Group 13">
            <a:extLst>
              <a:ext uri="{FF2B5EF4-FFF2-40B4-BE49-F238E27FC236}">
                <a16:creationId xmlns:a16="http://schemas.microsoft.com/office/drawing/2014/main" id="{88878EF8-1662-2DC1-9DBF-5937D25A40C4}"/>
              </a:ext>
            </a:extLst>
          </p:cNvPr>
          <p:cNvGrpSpPr>
            <a:grpSpLocks/>
          </p:cNvGrpSpPr>
          <p:nvPr/>
        </p:nvGrpSpPr>
        <p:grpSpPr bwMode="auto">
          <a:xfrm>
            <a:off x="5810250" y="4363395"/>
            <a:ext cx="2181225" cy="542925"/>
            <a:chOff x="3349" y="2909"/>
            <a:chExt cx="1374" cy="342"/>
          </a:xfrm>
        </p:grpSpPr>
        <p:sp>
          <p:nvSpPr>
            <p:cNvPr id="17" name="Oval 14">
              <a:extLst>
                <a:ext uri="{FF2B5EF4-FFF2-40B4-BE49-F238E27FC236}">
                  <a16:creationId xmlns:a16="http://schemas.microsoft.com/office/drawing/2014/main" id="{76F232A7-8CE1-9DE7-F765-4FE30F306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9" y="2915"/>
              <a:ext cx="336" cy="3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8" name="Oval 15">
              <a:extLst>
                <a:ext uri="{FF2B5EF4-FFF2-40B4-BE49-F238E27FC236}">
                  <a16:creationId xmlns:a16="http://schemas.microsoft.com/office/drawing/2014/main" id="{9D695203-8977-DA8E-A8E4-EE789A478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7" y="2909"/>
              <a:ext cx="336" cy="3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E73D3750-6E5F-409E-EF29-6027BE104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2" y="293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A79A1085-A6A1-9B7F-A1AD-DAB7FE9B0F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3" y="293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1</a:t>
              </a:r>
            </a:p>
          </p:txBody>
        </p:sp>
      </p:grpSp>
      <p:sp>
        <p:nvSpPr>
          <p:cNvPr id="21" name="Rectangle 18">
            <a:extLst>
              <a:ext uri="{FF2B5EF4-FFF2-40B4-BE49-F238E27FC236}">
                <a16:creationId xmlns:a16="http://schemas.microsoft.com/office/drawing/2014/main" id="{C0B8B1FC-52AD-B464-3265-8C4A0B4D7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0962" y="5639745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状态图</a:t>
            </a:r>
          </a:p>
        </p:txBody>
      </p:sp>
      <p:graphicFrame>
        <p:nvGraphicFramePr>
          <p:cNvPr id="22" name="Group 19">
            <a:extLst>
              <a:ext uri="{FF2B5EF4-FFF2-40B4-BE49-F238E27FC236}">
                <a16:creationId xmlns:a16="http://schemas.microsoft.com/office/drawing/2014/main" id="{E2624226-F47A-3123-5ACA-EB1EF33E5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728590"/>
              </p:ext>
            </p:extLst>
          </p:nvPr>
        </p:nvGraphicFramePr>
        <p:xfrm>
          <a:off x="1335087" y="1950395"/>
          <a:ext cx="2830513" cy="2212975"/>
        </p:xfrm>
        <a:graphic>
          <a:graphicData uri="http://schemas.openxmlformats.org/drawingml/2006/table">
            <a:tbl>
              <a:tblPr/>
              <a:tblGrid>
                <a:gridCol w="554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n</a:t>
                      </a:r>
                      <a:endParaRPr kumimoji="1" lang="zh-CN" altLang="en-US" sz="2400" b="1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n+1</a:t>
                      </a:r>
                      <a:endParaRPr kumimoji="1" lang="zh-CN" altLang="en-US" sz="2400" b="1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说明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7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翻转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 Box 54">
            <a:extLst>
              <a:ext uri="{FF2B5EF4-FFF2-40B4-BE49-F238E27FC236}">
                <a16:creationId xmlns:a16="http://schemas.microsoft.com/office/drawing/2014/main" id="{B006809A-0978-E457-044F-F4426079A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5012" y="1348732"/>
            <a:ext cx="1271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特性表</a:t>
            </a:r>
          </a:p>
        </p:txBody>
      </p:sp>
      <p:sp>
        <p:nvSpPr>
          <p:cNvPr id="24" name="Text Box 55">
            <a:extLst>
              <a:ext uri="{FF2B5EF4-FFF2-40B4-BE49-F238E27FC236}">
                <a16:creationId xmlns:a16="http://schemas.microsoft.com/office/drawing/2014/main" id="{F5AF7EE1-4DE6-25D2-0E59-9E770D4BE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8237" y="2779070"/>
            <a:ext cx="1692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逻辑符号</a:t>
            </a:r>
          </a:p>
        </p:txBody>
      </p:sp>
      <p:grpSp>
        <p:nvGrpSpPr>
          <p:cNvPr id="25" name="Group 56">
            <a:extLst>
              <a:ext uri="{FF2B5EF4-FFF2-40B4-BE49-F238E27FC236}">
                <a16:creationId xmlns:a16="http://schemas.microsoft.com/office/drawing/2014/main" id="{5101E0BC-7BE5-85C6-D690-72BD2B01FA63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1482082"/>
            <a:ext cx="1949450" cy="1152525"/>
            <a:chOff x="2809" y="1094"/>
            <a:chExt cx="1228" cy="726"/>
          </a:xfrm>
        </p:grpSpPr>
        <p:sp>
          <p:nvSpPr>
            <p:cNvPr id="26" name="Rectangle 57">
              <a:extLst>
                <a:ext uri="{FF2B5EF4-FFF2-40B4-BE49-F238E27FC236}">
                  <a16:creationId xmlns:a16="http://schemas.microsoft.com/office/drawing/2014/main" id="{7D684572-9F13-D741-7E34-3FBEDB8027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4" y="1094"/>
              <a:ext cx="450" cy="7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7" name="Line 58">
              <a:extLst>
                <a:ext uri="{FF2B5EF4-FFF2-40B4-BE49-F238E27FC236}">
                  <a16:creationId xmlns:a16="http://schemas.microsoft.com/office/drawing/2014/main" id="{41BC1B87-FD5B-C80B-4271-CFC5DDBC60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1" y="1247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59">
              <a:extLst>
                <a:ext uri="{FF2B5EF4-FFF2-40B4-BE49-F238E27FC236}">
                  <a16:creationId xmlns:a16="http://schemas.microsoft.com/office/drawing/2014/main" id="{43E2B117-D745-850B-427F-3B750C11C0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4" y="1247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60">
              <a:extLst>
                <a:ext uri="{FF2B5EF4-FFF2-40B4-BE49-F238E27FC236}">
                  <a16:creationId xmlns:a16="http://schemas.microsoft.com/office/drawing/2014/main" id="{5982CFA6-4513-178D-A067-C1DDAB36C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0" y="1660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Box 61">
              <a:extLst>
                <a:ext uri="{FF2B5EF4-FFF2-40B4-BE49-F238E27FC236}">
                  <a16:creationId xmlns:a16="http://schemas.microsoft.com/office/drawing/2014/main" id="{AA2F9897-5EDC-9E18-AA42-F4B10E6A25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5" y="1101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T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31" name="Text Box 62">
              <a:extLst>
                <a:ext uri="{FF2B5EF4-FFF2-40B4-BE49-F238E27FC236}">
                  <a16:creationId xmlns:a16="http://schemas.microsoft.com/office/drawing/2014/main" id="{F94295B5-6A83-E11E-16F1-6DFB737205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3" y="1101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32" name="Text Box 63">
              <a:extLst>
                <a:ext uri="{FF2B5EF4-FFF2-40B4-BE49-F238E27FC236}">
                  <a16:creationId xmlns:a16="http://schemas.microsoft.com/office/drawing/2014/main" id="{C3BEDCBB-1480-4748-3C79-E61A992018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2" y="1510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33" name="Line 64">
              <a:extLst>
                <a:ext uri="{FF2B5EF4-FFF2-40B4-BE49-F238E27FC236}">
                  <a16:creationId xmlns:a16="http://schemas.microsoft.com/office/drawing/2014/main" id="{D15D9E78-6468-5ABE-04DE-E3A8603A8E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1" y="1570"/>
              <a:ext cx="1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65">
              <a:extLst>
                <a:ext uri="{FF2B5EF4-FFF2-40B4-BE49-F238E27FC236}">
                  <a16:creationId xmlns:a16="http://schemas.microsoft.com/office/drawing/2014/main" id="{2FCA71D7-25FC-89D8-DDA1-27AD1A3940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4" y="1585"/>
              <a:ext cx="80" cy="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66">
              <a:extLst>
                <a:ext uri="{FF2B5EF4-FFF2-40B4-BE49-F238E27FC236}">
                  <a16:creationId xmlns:a16="http://schemas.microsoft.com/office/drawing/2014/main" id="{40C44568-E769-B743-470B-25E6887F42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4" y="1656"/>
              <a:ext cx="80" cy="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Oval 67">
              <a:extLst>
                <a:ext uri="{FF2B5EF4-FFF2-40B4-BE49-F238E27FC236}">
                  <a16:creationId xmlns:a16="http://schemas.microsoft.com/office/drawing/2014/main" id="{B263BEF4-E16D-72A2-A4EA-0DB2F9CC3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1617"/>
              <a:ext cx="90" cy="9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7" name="Line 68">
              <a:extLst>
                <a:ext uri="{FF2B5EF4-FFF2-40B4-BE49-F238E27FC236}">
                  <a16:creationId xmlns:a16="http://schemas.microsoft.com/office/drawing/2014/main" id="{6180E5F7-62DE-9911-7B61-91D19A393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9" y="1656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" name="Rectangle 69">
            <a:extLst>
              <a:ext uri="{FF2B5EF4-FFF2-40B4-BE49-F238E27FC236}">
                <a16:creationId xmlns:a16="http://schemas.microsoft.com/office/drawing/2014/main" id="{8DA2EACC-5700-D883-CB47-66778CAC3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1275" y="1482082"/>
            <a:ext cx="714375" cy="11525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9" name="Line 70">
            <a:extLst>
              <a:ext uri="{FF2B5EF4-FFF2-40B4-BE49-F238E27FC236}">
                <a16:creationId xmlns:a16="http://schemas.microsoft.com/office/drawing/2014/main" id="{B6C47413-6335-5BF2-B660-4A7D7513D0D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9637" y="1724970"/>
            <a:ext cx="4016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Line 71">
            <a:extLst>
              <a:ext uri="{FF2B5EF4-FFF2-40B4-BE49-F238E27FC236}">
                <a16:creationId xmlns:a16="http://schemas.microsoft.com/office/drawing/2014/main" id="{4808DCEC-32DC-B967-9381-DA803BC000C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9637" y="2379020"/>
            <a:ext cx="4016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72">
            <a:extLst>
              <a:ext uri="{FF2B5EF4-FFF2-40B4-BE49-F238E27FC236}">
                <a16:creationId xmlns:a16="http://schemas.microsoft.com/office/drawing/2014/main" id="{4BB3949D-9105-F334-3E47-0C67ABF4F03E}"/>
              </a:ext>
            </a:extLst>
          </p:cNvPr>
          <p:cNvSpPr>
            <a:spLocks noChangeShapeType="1"/>
          </p:cNvSpPr>
          <p:nvPr/>
        </p:nvSpPr>
        <p:spPr bwMode="auto">
          <a:xfrm>
            <a:off x="8375650" y="1724970"/>
            <a:ext cx="4016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Line 73">
            <a:extLst>
              <a:ext uri="{FF2B5EF4-FFF2-40B4-BE49-F238E27FC236}">
                <a16:creationId xmlns:a16="http://schemas.microsoft.com/office/drawing/2014/main" id="{B3A12B2F-CD4F-699C-C5A2-5E43202ADD16}"/>
              </a:ext>
            </a:extLst>
          </p:cNvPr>
          <p:cNvSpPr>
            <a:spLocks noChangeShapeType="1"/>
          </p:cNvSpPr>
          <p:nvPr/>
        </p:nvSpPr>
        <p:spPr bwMode="auto">
          <a:xfrm>
            <a:off x="8401050" y="2380607"/>
            <a:ext cx="4016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Text Box 74">
            <a:extLst>
              <a:ext uri="{FF2B5EF4-FFF2-40B4-BE49-F238E27FC236}">
                <a16:creationId xmlns:a16="http://schemas.microsoft.com/office/drawing/2014/main" id="{2E8E7A2C-212D-FB66-1B54-8EF5F8FF6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6987" y="1493195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T</a:t>
            </a:r>
            <a:endParaRPr kumimoji="1" lang="en-US" altLang="zh-CN" sz="1600">
              <a:ea typeface="楷体_GB2312" pitchFamily="49" charset="-122"/>
            </a:endParaRPr>
          </a:p>
        </p:txBody>
      </p:sp>
      <p:sp>
        <p:nvSpPr>
          <p:cNvPr id="44" name="Text Box 75">
            <a:extLst>
              <a:ext uri="{FF2B5EF4-FFF2-40B4-BE49-F238E27FC236}">
                <a16:creationId xmlns:a16="http://schemas.microsoft.com/office/drawing/2014/main" id="{51E66F6D-F512-DE44-4E8F-54DD79B3D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0937" y="1493195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</a:p>
        </p:txBody>
      </p:sp>
      <p:sp>
        <p:nvSpPr>
          <p:cNvPr id="45" name="Text Box 76">
            <a:extLst>
              <a:ext uri="{FF2B5EF4-FFF2-40B4-BE49-F238E27FC236}">
                <a16:creationId xmlns:a16="http://schemas.microsoft.com/office/drawing/2014/main" id="{DDFEED5E-2D9B-EB82-1820-09D228299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2142482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</a:p>
        </p:txBody>
      </p:sp>
      <p:sp>
        <p:nvSpPr>
          <p:cNvPr id="46" name="Line 77">
            <a:extLst>
              <a:ext uri="{FF2B5EF4-FFF2-40B4-BE49-F238E27FC236}">
                <a16:creationId xmlns:a16="http://schemas.microsoft.com/office/drawing/2014/main" id="{8269471D-E53E-8BCC-BCD2-4BB89A61894F}"/>
              </a:ext>
            </a:extLst>
          </p:cNvPr>
          <p:cNvSpPr>
            <a:spLocks noChangeShapeType="1"/>
          </p:cNvSpPr>
          <p:nvPr/>
        </p:nvSpPr>
        <p:spPr bwMode="auto">
          <a:xfrm>
            <a:off x="8878887" y="2237732"/>
            <a:ext cx="2524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Line 78">
            <a:extLst>
              <a:ext uri="{FF2B5EF4-FFF2-40B4-BE49-F238E27FC236}">
                <a16:creationId xmlns:a16="http://schemas.microsoft.com/office/drawing/2014/main" id="{199E7A35-02B4-D222-B665-454BDED7BAA6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1275" y="2261545"/>
            <a:ext cx="127000" cy="114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Line 79">
            <a:extLst>
              <a:ext uri="{FF2B5EF4-FFF2-40B4-BE49-F238E27FC236}">
                <a16:creationId xmlns:a16="http://schemas.microsoft.com/office/drawing/2014/main" id="{9AB89B39-8898-FAE9-AA24-19E66B03C4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61275" y="2374257"/>
            <a:ext cx="127000" cy="1158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Oval 80">
            <a:extLst>
              <a:ext uri="{FF2B5EF4-FFF2-40B4-BE49-F238E27FC236}">
                <a16:creationId xmlns:a16="http://schemas.microsoft.com/office/drawing/2014/main" id="{75A8B2C3-A5D5-7CCD-C120-DCDCACEBD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7237" y="2312345"/>
            <a:ext cx="142875" cy="1428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50" name="Oval 81">
            <a:extLst>
              <a:ext uri="{FF2B5EF4-FFF2-40B4-BE49-F238E27FC236}">
                <a16:creationId xmlns:a16="http://schemas.microsoft.com/office/drawing/2014/main" id="{C343D7CC-28E8-BD9D-0B0D-8EB2E351E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6812" y="2310757"/>
            <a:ext cx="142875" cy="1428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aphicFrame>
        <p:nvGraphicFramePr>
          <p:cNvPr id="51" name="Object 82">
            <a:extLst>
              <a:ext uri="{FF2B5EF4-FFF2-40B4-BE49-F238E27FC236}">
                <a16:creationId xmlns:a16="http://schemas.microsoft.com/office/drawing/2014/main" id="{437E7F84-CCA9-DB7D-2099-616B43930A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164425"/>
              </p:ext>
            </p:extLst>
          </p:nvPr>
        </p:nvGraphicFramePr>
        <p:xfrm>
          <a:off x="1320800" y="4865045"/>
          <a:ext cx="2808287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93800" imgH="254000" progId="Equation.3">
                  <p:embed/>
                </p:oleObj>
              </mc:Choice>
              <mc:Fallback>
                <p:oleObj name="公式" r:id="rId2" imgW="1193800" imgH="254000" progId="Equation.3">
                  <p:embed/>
                  <p:pic>
                    <p:nvPicPr>
                      <p:cNvPr id="26682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4865045"/>
                        <a:ext cx="2808287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83">
            <a:extLst>
              <a:ext uri="{FF2B5EF4-FFF2-40B4-BE49-F238E27FC236}">
                <a16:creationId xmlns:a16="http://schemas.microsoft.com/office/drawing/2014/main" id="{9D712101-1F94-682C-C02D-F634C96311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104053"/>
              </p:ext>
            </p:extLst>
          </p:nvPr>
        </p:nvGraphicFramePr>
        <p:xfrm>
          <a:off x="2076450" y="5550845"/>
          <a:ext cx="14351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09600" imgH="228600" progId="Equation.3">
                  <p:embed/>
                </p:oleObj>
              </mc:Choice>
              <mc:Fallback>
                <p:oleObj name="公式" r:id="rId4" imgW="609600" imgH="228600" progId="Equation.3">
                  <p:embed/>
                  <p:pic>
                    <p:nvPicPr>
                      <p:cNvPr id="26683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5550845"/>
                        <a:ext cx="14351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684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99BD77-EAE5-6911-4B0F-7FBCFA4CC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JK</a:t>
            </a:r>
            <a:r>
              <a:rPr lang="zh-CN" altLang="en-US" dirty="0"/>
              <a:t>触发器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F80FB1-3D1E-0CCE-08C8-3DA6B8716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J=1</a:t>
            </a:r>
            <a:r>
              <a:rPr kumimoji="1" lang="zh-CN" altLang="en-US" dirty="0"/>
              <a:t>，置</a:t>
            </a:r>
            <a:r>
              <a:rPr kumimoji="1" lang="en-US" altLang="zh-CN" dirty="0"/>
              <a:t>1</a:t>
            </a:r>
            <a:r>
              <a:rPr kumimoji="1" lang="zh-CN" altLang="en-US" dirty="0"/>
              <a:t>；</a:t>
            </a:r>
            <a:r>
              <a:rPr kumimoji="1" lang="en-US" altLang="zh-CN" dirty="0"/>
              <a:t>K=1</a:t>
            </a:r>
            <a:r>
              <a:rPr kumimoji="1" lang="zh-CN" altLang="en-US" dirty="0"/>
              <a:t>，清</a:t>
            </a:r>
            <a:r>
              <a:rPr kumimoji="1" lang="en-US" altLang="zh-CN" dirty="0"/>
              <a:t>0</a:t>
            </a:r>
            <a:r>
              <a:rPr kumimoji="1" lang="zh-CN" altLang="en-US" dirty="0"/>
              <a:t>；</a:t>
            </a:r>
            <a:r>
              <a:rPr kumimoji="1" lang="en-US" altLang="zh-CN" dirty="0"/>
              <a:t>00</a:t>
            </a:r>
            <a:r>
              <a:rPr kumimoji="1" lang="zh-CN" altLang="en-US" dirty="0"/>
              <a:t>保持，</a:t>
            </a:r>
            <a:r>
              <a:rPr kumimoji="1" lang="en-US" altLang="zh-CN" dirty="0"/>
              <a:t>11</a:t>
            </a:r>
            <a:r>
              <a:rPr kumimoji="1" lang="zh-CN" altLang="en-US" dirty="0"/>
              <a:t>翻转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103625-6063-05EA-A240-CD192BAB3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D6D4DF-FBC6-A334-440E-07B491140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16</a:t>
            </a:fld>
            <a:r>
              <a:rPr lang="en-US" altLang="zh-CN" dirty="0"/>
              <a:t>/29</a:t>
            </a:r>
            <a:endParaRPr lang="en-US" dirty="0"/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F95ACA99-AB3C-CAB6-FBEC-C3331CC790F5}"/>
              </a:ext>
            </a:extLst>
          </p:cNvPr>
          <p:cNvGraphicFramePr>
            <a:graphicFrameLocks/>
          </p:cNvGraphicFramePr>
          <p:nvPr/>
        </p:nvGraphicFramePr>
        <p:xfrm>
          <a:off x="574675" y="2185988"/>
          <a:ext cx="3313113" cy="3906839"/>
        </p:xfrm>
        <a:graphic>
          <a:graphicData uri="http://schemas.openxmlformats.org/drawingml/2006/table">
            <a:tbl>
              <a:tblPr/>
              <a:tblGrid>
                <a:gridCol w="48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n</a:t>
                      </a:r>
                      <a:endParaRPr kumimoji="1" lang="zh-CN" altLang="en-US" sz="2400" b="1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n+1</a:t>
                      </a:r>
                      <a:endParaRPr kumimoji="1" lang="zh-CN" altLang="en-US" sz="2400" b="1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说明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7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清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7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置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8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8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翻转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8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74">
            <a:extLst>
              <a:ext uri="{FF2B5EF4-FFF2-40B4-BE49-F238E27FC236}">
                <a16:creationId xmlns:a16="http://schemas.microsoft.com/office/drawing/2014/main" id="{F1C692B4-B647-0A58-8651-D9A065FCF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325" y="5789640"/>
            <a:ext cx="14398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zh-CN" altLang="en-US" sz="2400"/>
              <a:t>特性方程</a:t>
            </a:r>
          </a:p>
        </p:txBody>
      </p:sp>
      <p:grpSp>
        <p:nvGrpSpPr>
          <p:cNvPr id="8" name="Group 75">
            <a:extLst>
              <a:ext uri="{FF2B5EF4-FFF2-40B4-BE49-F238E27FC236}">
                <a16:creationId xmlns:a16="http://schemas.microsoft.com/office/drawing/2014/main" id="{C7122A0E-60FB-3E05-4113-FFDF65728B3A}"/>
              </a:ext>
            </a:extLst>
          </p:cNvPr>
          <p:cNvGrpSpPr>
            <a:grpSpLocks/>
          </p:cNvGrpSpPr>
          <p:nvPr/>
        </p:nvGrpSpPr>
        <p:grpSpPr bwMode="auto">
          <a:xfrm>
            <a:off x="6145212" y="5753128"/>
            <a:ext cx="2987675" cy="519112"/>
            <a:chOff x="3538" y="3589"/>
            <a:chExt cx="1882" cy="327"/>
          </a:xfrm>
        </p:grpSpPr>
        <p:sp>
          <p:nvSpPr>
            <p:cNvPr id="9" name="Text Box 76">
              <a:extLst>
                <a:ext uri="{FF2B5EF4-FFF2-40B4-BE49-F238E27FC236}">
                  <a16:creationId xmlns:a16="http://schemas.microsoft.com/office/drawing/2014/main" id="{395313BE-1EDB-0655-2A0E-686A4CC8A1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8" y="3589"/>
              <a:ext cx="188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dirty="0"/>
                <a:t>Q</a:t>
              </a:r>
              <a:r>
                <a:rPr kumimoji="1" lang="en-US" altLang="zh-CN" baseline="40000" dirty="0"/>
                <a:t>n+1</a:t>
              </a:r>
              <a:r>
                <a:rPr kumimoji="1" lang="en-US" altLang="zh-CN" dirty="0"/>
                <a:t> = J </a:t>
              </a:r>
              <a:r>
                <a:rPr kumimoji="1" lang="en-US" altLang="zh-CN" dirty="0" err="1"/>
                <a:t>Q</a:t>
              </a:r>
              <a:r>
                <a:rPr kumimoji="1" lang="en-US" altLang="zh-CN" baseline="40000" dirty="0" err="1"/>
                <a:t>n</a:t>
              </a:r>
              <a:r>
                <a:rPr kumimoji="1" lang="en-US" altLang="zh-CN" dirty="0"/>
                <a:t> + </a:t>
              </a:r>
              <a:r>
                <a:rPr kumimoji="1" lang="en-US" altLang="zh-CN" dirty="0" err="1"/>
                <a:t>KQ</a:t>
              </a:r>
              <a:r>
                <a:rPr kumimoji="1" lang="en-US" altLang="zh-CN" baseline="40000" dirty="0" err="1"/>
                <a:t>n</a:t>
              </a:r>
              <a:endParaRPr kumimoji="1" lang="en-US" altLang="zh-CN" baseline="40000" dirty="0"/>
            </a:p>
          </p:txBody>
        </p:sp>
        <p:sp>
          <p:nvSpPr>
            <p:cNvPr id="10" name="Line 77">
              <a:extLst>
                <a:ext uri="{FF2B5EF4-FFF2-40B4-BE49-F238E27FC236}">
                  <a16:creationId xmlns:a16="http://schemas.microsoft.com/office/drawing/2014/main" id="{F1CDEDE0-E959-E825-BA20-6094534327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629"/>
              <a:ext cx="2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78">
              <a:extLst>
                <a:ext uri="{FF2B5EF4-FFF2-40B4-BE49-F238E27FC236}">
                  <a16:creationId xmlns:a16="http://schemas.microsoft.com/office/drawing/2014/main" id="{0AE45297-2400-BDD8-1C6A-761AE605A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8" y="3629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" name="Text Box 79">
            <a:extLst>
              <a:ext uri="{FF2B5EF4-FFF2-40B4-BE49-F238E27FC236}">
                <a16:creationId xmlns:a16="http://schemas.microsoft.com/office/drawing/2014/main" id="{010D57CF-6872-2BD2-32CD-6F1ED473F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162" y="3089303"/>
            <a:ext cx="1692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逻辑符号</a:t>
            </a:r>
          </a:p>
        </p:txBody>
      </p:sp>
      <p:grpSp>
        <p:nvGrpSpPr>
          <p:cNvPr id="13" name="Group 80">
            <a:extLst>
              <a:ext uri="{FF2B5EF4-FFF2-40B4-BE49-F238E27FC236}">
                <a16:creationId xmlns:a16="http://schemas.microsoft.com/office/drawing/2014/main" id="{31E33932-C991-E209-1BEF-96BC1D8901A9}"/>
              </a:ext>
            </a:extLst>
          </p:cNvPr>
          <p:cNvGrpSpPr>
            <a:grpSpLocks/>
          </p:cNvGrpSpPr>
          <p:nvPr/>
        </p:nvGrpSpPr>
        <p:grpSpPr bwMode="auto">
          <a:xfrm>
            <a:off x="4987925" y="1792315"/>
            <a:ext cx="1949450" cy="1152525"/>
            <a:chOff x="2631" y="1162"/>
            <a:chExt cx="1228" cy="726"/>
          </a:xfrm>
        </p:grpSpPr>
        <p:sp>
          <p:nvSpPr>
            <p:cNvPr id="14" name="Rectangle 81">
              <a:extLst>
                <a:ext uri="{FF2B5EF4-FFF2-40B4-BE49-F238E27FC236}">
                  <a16:creationId xmlns:a16="http://schemas.microsoft.com/office/drawing/2014/main" id="{874BA02A-878C-5771-F65A-9573C3F415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6" y="1162"/>
              <a:ext cx="450" cy="7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5" name="Line 82">
              <a:extLst>
                <a:ext uri="{FF2B5EF4-FFF2-40B4-BE49-F238E27FC236}">
                  <a16:creationId xmlns:a16="http://schemas.microsoft.com/office/drawing/2014/main" id="{14C120E6-BA71-A233-20EC-3CEF05FC09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3" y="1315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83">
              <a:extLst>
                <a:ext uri="{FF2B5EF4-FFF2-40B4-BE49-F238E27FC236}">
                  <a16:creationId xmlns:a16="http://schemas.microsoft.com/office/drawing/2014/main" id="{24BB4998-2866-F5E1-10F6-2D73377050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3" y="1523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84">
              <a:extLst>
                <a:ext uri="{FF2B5EF4-FFF2-40B4-BE49-F238E27FC236}">
                  <a16:creationId xmlns:a16="http://schemas.microsoft.com/office/drawing/2014/main" id="{84970FAF-50AE-1488-09C7-EF3B0975F6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1315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85">
              <a:extLst>
                <a:ext uri="{FF2B5EF4-FFF2-40B4-BE49-F238E27FC236}">
                  <a16:creationId xmlns:a16="http://schemas.microsoft.com/office/drawing/2014/main" id="{EC3D6BC3-A47E-35CA-1304-1B8E8FA6FC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" y="1728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Box 86">
              <a:extLst>
                <a:ext uri="{FF2B5EF4-FFF2-40B4-BE49-F238E27FC236}">
                  <a16:creationId xmlns:a16="http://schemas.microsoft.com/office/drawing/2014/main" id="{777A1A17-6B5F-63AD-996A-B58487EE25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7" y="1169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J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20" name="Text Box 87">
              <a:extLst>
                <a:ext uri="{FF2B5EF4-FFF2-40B4-BE49-F238E27FC236}">
                  <a16:creationId xmlns:a16="http://schemas.microsoft.com/office/drawing/2014/main" id="{5746FA54-77A5-3783-9DB5-CA028BD782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5" y="1169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21" name="Text Box 88">
              <a:extLst>
                <a:ext uri="{FF2B5EF4-FFF2-40B4-BE49-F238E27FC236}">
                  <a16:creationId xmlns:a16="http://schemas.microsoft.com/office/drawing/2014/main" id="{BAC69E47-AE07-FB26-27AD-A1F6759FD7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4" y="1578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22" name="Line 89">
              <a:extLst>
                <a:ext uri="{FF2B5EF4-FFF2-40B4-BE49-F238E27FC236}">
                  <a16:creationId xmlns:a16="http://schemas.microsoft.com/office/drawing/2014/main" id="{60EE90EE-57A0-E47E-1254-F9D619538E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3" y="1638"/>
              <a:ext cx="1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90">
              <a:extLst>
                <a:ext uri="{FF2B5EF4-FFF2-40B4-BE49-F238E27FC236}">
                  <a16:creationId xmlns:a16="http://schemas.microsoft.com/office/drawing/2014/main" id="{6A8AE7C2-2ACC-DDF5-DA11-70513B9F4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6" y="1449"/>
              <a:ext cx="80" cy="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91">
              <a:extLst>
                <a:ext uri="{FF2B5EF4-FFF2-40B4-BE49-F238E27FC236}">
                  <a16:creationId xmlns:a16="http://schemas.microsoft.com/office/drawing/2014/main" id="{39738422-E4A5-E0CF-93B3-F1C1831732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6" y="1520"/>
              <a:ext cx="80" cy="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Oval 92">
              <a:extLst>
                <a:ext uri="{FF2B5EF4-FFF2-40B4-BE49-F238E27FC236}">
                  <a16:creationId xmlns:a16="http://schemas.microsoft.com/office/drawing/2014/main" id="{C41DDB3E-CE85-C26B-57EC-8B64E9514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7" y="1685"/>
              <a:ext cx="90" cy="9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6" name="Line 93">
              <a:extLst>
                <a:ext uri="{FF2B5EF4-FFF2-40B4-BE49-F238E27FC236}">
                  <a16:creationId xmlns:a16="http://schemas.microsoft.com/office/drawing/2014/main" id="{85BB8EF9-C5BF-CCF1-AC07-5DA3FE2CAE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1" y="1724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Box 94">
              <a:extLst>
                <a:ext uri="{FF2B5EF4-FFF2-40B4-BE49-F238E27FC236}">
                  <a16:creationId xmlns:a16="http://schemas.microsoft.com/office/drawing/2014/main" id="{84A8160C-D805-6BC8-3596-68EF8404E0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5" y="1578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K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</p:grpSp>
      <p:grpSp>
        <p:nvGrpSpPr>
          <p:cNvPr id="28" name="Group 95">
            <a:extLst>
              <a:ext uri="{FF2B5EF4-FFF2-40B4-BE49-F238E27FC236}">
                <a16:creationId xmlns:a16="http://schemas.microsoft.com/office/drawing/2014/main" id="{6BD51E5D-89A7-6E79-0D20-C9B421C6CB73}"/>
              </a:ext>
            </a:extLst>
          </p:cNvPr>
          <p:cNvGrpSpPr>
            <a:grpSpLocks/>
          </p:cNvGrpSpPr>
          <p:nvPr/>
        </p:nvGrpSpPr>
        <p:grpSpPr bwMode="auto">
          <a:xfrm>
            <a:off x="7291387" y="1792315"/>
            <a:ext cx="1949450" cy="1152525"/>
            <a:chOff x="4077" y="1185"/>
            <a:chExt cx="1228" cy="726"/>
          </a:xfrm>
        </p:grpSpPr>
        <p:sp>
          <p:nvSpPr>
            <p:cNvPr id="29" name="Rectangle 96">
              <a:extLst>
                <a:ext uri="{FF2B5EF4-FFF2-40B4-BE49-F238E27FC236}">
                  <a16:creationId xmlns:a16="http://schemas.microsoft.com/office/drawing/2014/main" id="{73CDD3B0-F4C1-633E-ACB3-3EEF40ECA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1185"/>
              <a:ext cx="450" cy="7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0" name="Line 97">
              <a:extLst>
                <a:ext uri="{FF2B5EF4-FFF2-40B4-BE49-F238E27FC236}">
                  <a16:creationId xmlns:a16="http://schemas.microsoft.com/office/drawing/2014/main" id="{7C053243-5D46-75A5-8611-98DB969565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9" y="1338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98">
              <a:extLst>
                <a:ext uri="{FF2B5EF4-FFF2-40B4-BE49-F238E27FC236}">
                  <a16:creationId xmlns:a16="http://schemas.microsoft.com/office/drawing/2014/main" id="{632F9E8D-F16A-1F84-9560-CBDE44882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9" y="1546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99">
              <a:extLst>
                <a:ext uri="{FF2B5EF4-FFF2-40B4-BE49-F238E27FC236}">
                  <a16:creationId xmlns:a16="http://schemas.microsoft.com/office/drawing/2014/main" id="{1E0D380C-D81C-D289-B7FB-F6B289BCB7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2" y="1338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100">
              <a:extLst>
                <a:ext uri="{FF2B5EF4-FFF2-40B4-BE49-F238E27FC236}">
                  <a16:creationId xmlns:a16="http://schemas.microsoft.com/office/drawing/2014/main" id="{D5423FEA-F83E-B2E8-86AF-D2E3147174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8" y="1751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 Box 101">
              <a:extLst>
                <a:ext uri="{FF2B5EF4-FFF2-40B4-BE49-F238E27FC236}">
                  <a16:creationId xmlns:a16="http://schemas.microsoft.com/office/drawing/2014/main" id="{D3FE7800-1753-E8A1-5E9D-67A76B4A88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3" y="1192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J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35" name="Text Box 102">
              <a:extLst>
                <a:ext uri="{FF2B5EF4-FFF2-40B4-BE49-F238E27FC236}">
                  <a16:creationId xmlns:a16="http://schemas.microsoft.com/office/drawing/2014/main" id="{8D1A79D8-3F6E-BD4A-737A-9AFC0B8B18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1" y="1192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36" name="Text Box 103">
              <a:extLst>
                <a:ext uri="{FF2B5EF4-FFF2-40B4-BE49-F238E27FC236}">
                  <a16:creationId xmlns:a16="http://schemas.microsoft.com/office/drawing/2014/main" id="{312727A7-E707-6EA0-C505-09B026B42F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1601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37" name="Line 104">
              <a:extLst>
                <a:ext uri="{FF2B5EF4-FFF2-40B4-BE49-F238E27FC236}">
                  <a16:creationId xmlns:a16="http://schemas.microsoft.com/office/drawing/2014/main" id="{0832008A-C582-57CE-BCD9-D13DD27472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9" y="1661"/>
              <a:ext cx="1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105">
              <a:extLst>
                <a:ext uri="{FF2B5EF4-FFF2-40B4-BE49-F238E27FC236}">
                  <a16:creationId xmlns:a16="http://schemas.microsoft.com/office/drawing/2014/main" id="{F4678329-B6E1-9CD7-1CF7-782BE76C9D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1472"/>
              <a:ext cx="80" cy="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106">
              <a:extLst>
                <a:ext uri="{FF2B5EF4-FFF2-40B4-BE49-F238E27FC236}">
                  <a16:creationId xmlns:a16="http://schemas.microsoft.com/office/drawing/2014/main" id="{0F9C62F4-CC9E-40C9-CA8D-398FD4AC97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2" y="1543"/>
              <a:ext cx="80" cy="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Oval 107">
              <a:extLst>
                <a:ext uri="{FF2B5EF4-FFF2-40B4-BE49-F238E27FC236}">
                  <a16:creationId xmlns:a16="http://schemas.microsoft.com/office/drawing/2014/main" id="{11602893-9973-72C3-5D43-78625034E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3" y="1708"/>
              <a:ext cx="90" cy="9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1" name="Line 108">
              <a:extLst>
                <a:ext uri="{FF2B5EF4-FFF2-40B4-BE49-F238E27FC236}">
                  <a16:creationId xmlns:a16="http://schemas.microsoft.com/office/drawing/2014/main" id="{E5A3E229-2525-F646-6A98-5417521709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7" y="1747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 Box 109">
              <a:extLst>
                <a:ext uri="{FF2B5EF4-FFF2-40B4-BE49-F238E27FC236}">
                  <a16:creationId xmlns:a16="http://schemas.microsoft.com/office/drawing/2014/main" id="{9DD853FB-1DFD-67C2-85AB-4A26D7758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1" y="1601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K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43" name="Oval 110">
              <a:extLst>
                <a:ext uri="{FF2B5EF4-FFF2-40B4-BE49-F238E27FC236}">
                  <a16:creationId xmlns:a16="http://schemas.microsoft.com/office/drawing/2014/main" id="{8466AA87-EECD-95AD-1133-AB3D5CD7D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1503"/>
              <a:ext cx="90" cy="9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grpSp>
        <p:nvGrpSpPr>
          <p:cNvPr id="44" name="Group 111">
            <a:extLst>
              <a:ext uri="{FF2B5EF4-FFF2-40B4-BE49-F238E27FC236}">
                <a16:creationId xmlns:a16="http://schemas.microsoft.com/office/drawing/2014/main" id="{BFA4F4CA-7D10-A3CC-9537-6544A81BC0A2}"/>
              </a:ext>
            </a:extLst>
          </p:cNvPr>
          <p:cNvGrpSpPr>
            <a:grpSpLocks/>
          </p:cNvGrpSpPr>
          <p:nvPr/>
        </p:nvGrpSpPr>
        <p:grpSpPr bwMode="auto">
          <a:xfrm>
            <a:off x="4781550" y="3556028"/>
            <a:ext cx="3552825" cy="1908175"/>
            <a:chOff x="2679" y="2205"/>
            <a:chExt cx="2238" cy="1202"/>
          </a:xfrm>
        </p:grpSpPr>
        <p:grpSp>
          <p:nvGrpSpPr>
            <p:cNvPr id="45" name="Group 112">
              <a:extLst>
                <a:ext uri="{FF2B5EF4-FFF2-40B4-BE49-F238E27FC236}">
                  <a16:creationId xmlns:a16="http://schemas.microsoft.com/office/drawing/2014/main" id="{D7738D0D-07CD-B4C1-1C95-1F7D3DAFAA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3" y="2273"/>
              <a:ext cx="2014" cy="1134"/>
              <a:chOff x="2905" y="2165"/>
              <a:chExt cx="2014" cy="1134"/>
            </a:xfrm>
          </p:grpSpPr>
          <p:sp>
            <p:nvSpPr>
              <p:cNvPr id="47" name="Text Box 113">
                <a:extLst>
                  <a:ext uri="{FF2B5EF4-FFF2-40B4-BE49-F238E27FC236}">
                    <a16:creationId xmlns:a16="http://schemas.microsoft.com/office/drawing/2014/main" id="{8E7DBE02-C11B-5B6B-5747-0DD4917302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46" y="2640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zh-CN" altLang="en-US" sz="2400" b="0"/>
                  <a:t> </a:t>
                </a:r>
                <a:r>
                  <a:rPr kumimoji="1" lang="en-US" altLang="zh-CN" sz="2400" b="0"/>
                  <a:t>0</a:t>
                </a:r>
                <a:endParaRPr kumimoji="1" lang="en-US" altLang="zh-CN" sz="3600" b="0"/>
              </a:p>
            </p:txBody>
          </p:sp>
          <p:sp>
            <p:nvSpPr>
              <p:cNvPr id="48" name="Text Box 114">
                <a:extLst>
                  <a:ext uri="{FF2B5EF4-FFF2-40B4-BE49-F238E27FC236}">
                    <a16:creationId xmlns:a16="http://schemas.microsoft.com/office/drawing/2014/main" id="{DDC9D3A8-8ED9-8EB1-C4D3-01E7A4D758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0" y="264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 b="0"/>
                  <a:t>0</a:t>
                </a:r>
                <a:endParaRPr kumimoji="1" lang="en-US" altLang="zh-CN" sz="3600" b="0"/>
              </a:p>
            </p:txBody>
          </p:sp>
          <p:sp>
            <p:nvSpPr>
              <p:cNvPr id="49" name="Text Box 115">
                <a:extLst>
                  <a:ext uri="{FF2B5EF4-FFF2-40B4-BE49-F238E27FC236}">
                    <a16:creationId xmlns:a16="http://schemas.microsoft.com/office/drawing/2014/main" id="{DED680CD-3919-8552-3072-BC3F2CC639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94" y="2640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zh-CN" altLang="en-US" sz="2400" b="0"/>
                  <a:t> </a:t>
                </a:r>
                <a:r>
                  <a:rPr kumimoji="1" lang="en-US" altLang="zh-CN" sz="2400" b="0"/>
                  <a:t>1</a:t>
                </a:r>
                <a:endParaRPr kumimoji="1" lang="en-US" altLang="zh-CN" sz="3600" b="0"/>
              </a:p>
            </p:txBody>
          </p:sp>
          <p:sp>
            <p:nvSpPr>
              <p:cNvPr id="50" name="Text Box 116">
                <a:extLst>
                  <a:ext uri="{FF2B5EF4-FFF2-40B4-BE49-F238E27FC236}">
                    <a16:creationId xmlns:a16="http://schemas.microsoft.com/office/drawing/2014/main" id="{BBC87B57-5AAB-B0F5-1526-8441373EBD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1" y="2640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zh-CN" altLang="en-US" sz="2400" b="0"/>
                  <a:t> </a:t>
                </a:r>
                <a:r>
                  <a:rPr kumimoji="1" lang="en-US" altLang="zh-CN" sz="2400" b="0"/>
                  <a:t>1</a:t>
                </a:r>
                <a:endParaRPr kumimoji="1" lang="en-US" altLang="zh-CN" sz="3600" b="0"/>
              </a:p>
            </p:txBody>
          </p:sp>
          <p:sp>
            <p:nvSpPr>
              <p:cNvPr id="51" name="Text Box 117">
                <a:extLst>
                  <a:ext uri="{FF2B5EF4-FFF2-40B4-BE49-F238E27FC236}">
                    <a16:creationId xmlns:a16="http://schemas.microsoft.com/office/drawing/2014/main" id="{523DF05B-D6AD-0506-0065-A8713E9772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46" y="2976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zh-CN" altLang="en-US" sz="2400" b="0"/>
                  <a:t> </a:t>
                </a:r>
                <a:r>
                  <a:rPr kumimoji="1" lang="en-US" altLang="zh-CN" sz="2400" b="0"/>
                  <a:t>1</a:t>
                </a:r>
                <a:endParaRPr kumimoji="1" lang="en-US" altLang="zh-CN" sz="3600" b="0"/>
              </a:p>
            </p:txBody>
          </p:sp>
          <p:sp>
            <p:nvSpPr>
              <p:cNvPr id="52" name="Text Box 118">
                <a:extLst>
                  <a:ext uri="{FF2B5EF4-FFF2-40B4-BE49-F238E27FC236}">
                    <a16:creationId xmlns:a16="http://schemas.microsoft.com/office/drawing/2014/main" id="{B03311F2-C437-9B04-144F-B03AB56167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26" y="2976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zh-CN" altLang="en-US" sz="2400" b="0"/>
                  <a:t> </a:t>
                </a:r>
                <a:r>
                  <a:rPr kumimoji="1" lang="en-US" altLang="zh-CN" sz="2400" b="0"/>
                  <a:t>0</a:t>
                </a:r>
                <a:endParaRPr kumimoji="1" lang="en-US" altLang="zh-CN" sz="3600" b="0"/>
              </a:p>
            </p:txBody>
          </p:sp>
          <p:sp>
            <p:nvSpPr>
              <p:cNvPr id="53" name="Text Box 119">
                <a:extLst>
                  <a:ext uri="{FF2B5EF4-FFF2-40B4-BE49-F238E27FC236}">
                    <a16:creationId xmlns:a16="http://schemas.microsoft.com/office/drawing/2014/main" id="{1ED8D844-6B15-CE52-4540-0DF37EB1A8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94" y="2976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zh-CN" altLang="en-US" sz="2400" b="0"/>
                  <a:t> </a:t>
                </a:r>
                <a:r>
                  <a:rPr kumimoji="1" lang="en-US" altLang="zh-CN" sz="2400" b="0"/>
                  <a:t>1</a:t>
                </a:r>
                <a:endParaRPr kumimoji="1" lang="en-US" altLang="zh-CN" sz="3600" b="0"/>
              </a:p>
            </p:txBody>
          </p:sp>
          <p:sp>
            <p:nvSpPr>
              <p:cNvPr id="54" name="Text Box 120">
                <a:extLst>
                  <a:ext uri="{FF2B5EF4-FFF2-40B4-BE49-F238E27FC236}">
                    <a16:creationId xmlns:a16="http://schemas.microsoft.com/office/drawing/2014/main" id="{BE4CAA7E-C034-A679-1852-AB70770953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4" y="2976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zh-CN" altLang="en-US" sz="2400" b="0"/>
                  <a:t> </a:t>
                </a:r>
                <a:r>
                  <a:rPr kumimoji="1" lang="en-US" altLang="zh-CN" sz="2400" b="0"/>
                  <a:t>0</a:t>
                </a:r>
                <a:endParaRPr kumimoji="1" lang="en-US" altLang="zh-CN" sz="3600" b="0"/>
              </a:p>
            </p:txBody>
          </p:sp>
          <p:sp>
            <p:nvSpPr>
              <p:cNvPr id="55" name="Text Box 121">
                <a:extLst>
                  <a:ext uri="{FF2B5EF4-FFF2-40B4-BE49-F238E27FC236}">
                    <a16:creationId xmlns:a16="http://schemas.microsoft.com/office/drawing/2014/main" id="{F583F141-379C-DBF4-8C88-A144D1C69F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9" y="2989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/>
                  <a:t>1</a:t>
                </a:r>
                <a:endParaRPr kumimoji="1" lang="en-US" altLang="zh-CN" sz="3600"/>
              </a:p>
            </p:txBody>
          </p:sp>
          <p:grpSp>
            <p:nvGrpSpPr>
              <p:cNvPr id="56" name="Group 122">
                <a:extLst>
                  <a:ext uri="{FF2B5EF4-FFF2-40B4-BE49-F238E27FC236}">
                    <a16:creationId xmlns:a16="http://schemas.microsoft.com/office/drawing/2014/main" id="{C65D68BC-5373-5D15-092F-2CA4F7F601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83" y="2627"/>
                <a:ext cx="1536" cy="672"/>
                <a:chOff x="3216" y="1248"/>
                <a:chExt cx="1536" cy="672"/>
              </a:xfrm>
            </p:grpSpPr>
            <p:sp>
              <p:nvSpPr>
                <p:cNvPr id="70" name="Line 123">
                  <a:extLst>
                    <a:ext uri="{FF2B5EF4-FFF2-40B4-BE49-F238E27FC236}">
                      <a16:creationId xmlns:a16="http://schemas.microsoft.com/office/drawing/2014/main" id="{9B627B87-09EA-AC4A-CA17-3958CD3373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1584"/>
                  <a:ext cx="153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71" name="Group 124">
                  <a:extLst>
                    <a:ext uri="{FF2B5EF4-FFF2-40B4-BE49-F238E27FC236}">
                      <a16:creationId xmlns:a16="http://schemas.microsoft.com/office/drawing/2014/main" id="{68096E51-1EE2-2A94-553D-0E4F05E1C0F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16" y="1248"/>
                  <a:ext cx="1536" cy="672"/>
                  <a:chOff x="3243" y="1248"/>
                  <a:chExt cx="1536" cy="672"/>
                </a:xfrm>
              </p:grpSpPr>
              <p:sp>
                <p:nvSpPr>
                  <p:cNvPr id="72" name="Rectangle 125">
                    <a:extLst>
                      <a:ext uri="{FF2B5EF4-FFF2-40B4-BE49-F238E27FC236}">
                        <a16:creationId xmlns:a16="http://schemas.microsoft.com/office/drawing/2014/main" id="{C95CA28F-D5AA-323C-681E-BFD5B530FC0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243" y="1248"/>
                    <a:ext cx="1536" cy="67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Aft>
                        <a:spcPct val="0"/>
                      </a:spcAft>
                      <a:buFontTx/>
                      <a:buNone/>
                    </a:pPr>
                    <a:endParaRPr lang="zh-CN" altLang="en-US" sz="1800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73" name="Line 126">
                    <a:extLst>
                      <a:ext uri="{FF2B5EF4-FFF2-40B4-BE49-F238E27FC236}">
                        <a16:creationId xmlns:a16="http://schemas.microsoft.com/office/drawing/2014/main" id="{113D77EC-DE0F-1145-3FBA-FFF7B84251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27" y="1248"/>
                    <a:ext cx="0" cy="67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4" name="Line 127">
                    <a:extLst>
                      <a:ext uri="{FF2B5EF4-FFF2-40B4-BE49-F238E27FC236}">
                        <a16:creationId xmlns:a16="http://schemas.microsoft.com/office/drawing/2014/main" id="{5BB85552-802D-9E06-A5E1-CC7151BB041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11" y="1248"/>
                    <a:ext cx="0" cy="67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5" name="Line 128">
                    <a:extLst>
                      <a:ext uri="{FF2B5EF4-FFF2-40B4-BE49-F238E27FC236}">
                        <a16:creationId xmlns:a16="http://schemas.microsoft.com/office/drawing/2014/main" id="{87FC4637-C7B7-E878-F954-06ADDFF7569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395" y="1248"/>
                    <a:ext cx="0" cy="67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57" name="Text Box 129">
                <a:extLst>
                  <a:ext uri="{FF2B5EF4-FFF2-40B4-BE49-F238E27FC236}">
                    <a16:creationId xmlns:a16="http://schemas.microsoft.com/office/drawing/2014/main" id="{7A696DA6-BD5D-FA26-10C2-D21F5E6C65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9" y="2653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/>
                  <a:t>0</a:t>
                </a:r>
                <a:endParaRPr kumimoji="1" lang="en-US" altLang="zh-CN" sz="3600"/>
              </a:p>
            </p:txBody>
          </p:sp>
          <p:sp>
            <p:nvSpPr>
              <p:cNvPr id="58" name="Text Box 130">
                <a:extLst>
                  <a:ext uri="{FF2B5EF4-FFF2-40B4-BE49-F238E27FC236}">
                    <a16:creationId xmlns:a16="http://schemas.microsoft.com/office/drawing/2014/main" id="{6601F573-F537-EF4F-7B99-FD981DBCCD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10" y="2359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/>
                  <a:t>00</a:t>
                </a:r>
                <a:endParaRPr kumimoji="1" lang="en-US" altLang="zh-CN" sz="3600"/>
              </a:p>
            </p:txBody>
          </p:sp>
          <p:sp>
            <p:nvSpPr>
              <p:cNvPr id="59" name="Text Box 131">
                <a:extLst>
                  <a:ext uri="{FF2B5EF4-FFF2-40B4-BE49-F238E27FC236}">
                    <a16:creationId xmlns:a16="http://schemas.microsoft.com/office/drawing/2014/main" id="{19F75B5C-10AB-EC76-6A73-D62A98BF54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4" y="2359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/>
                  <a:t>01</a:t>
                </a:r>
                <a:endParaRPr kumimoji="1" lang="en-US" altLang="zh-CN" sz="3600"/>
              </a:p>
            </p:txBody>
          </p:sp>
          <p:sp>
            <p:nvSpPr>
              <p:cNvPr id="60" name="Text Box 132">
                <a:extLst>
                  <a:ext uri="{FF2B5EF4-FFF2-40B4-BE49-F238E27FC236}">
                    <a16:creationId xmlns:a16="http://schemas.microsoft.com/office/drawing/2014/main" id="{602798A2-C3A0-30C4-0D97-69FB6311D9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8" y="2359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/>
                  <a:t>11</a:t>
                </a:r>
                <a:endParaRPr kumimoji="1" lang="en-US" altLang="zh-CN" sz="3600"/>
              </a:p>
            </p:txBody>
          </p:sp>
          <p:sp>
            <p:nvSpPr>
              <p:cNvPr id="61" name="Text Box 133">
                <a:extLst>
                  <a:ext uri="{FF2B5EF4-FFF2-40B4-BE49-F238E27FC236}">
                    <a16:creationId xmlns:a16="http://schemas.microsoft.com/office/drawing/2014/main" id="{1F18C76D-3FFF-8744-2470-99FFBE92E2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2" y="2359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/>
                  <a:t>10</a:t>
                </a:r>
                <a:endParaRPr kumimoji="1" lang="en-US" altLang="zh-CN" sz="3600"/>
              </a:p>
            </p:txBody>
          </p:sp>
          <p:sp>
            <p:nvSpPr>
              <p:cNvPr id="62" name="Line 134">
                <a:extLst>
                  <a:ext uri="{FF2B5EF4-FFF2-40B4-BE49-F238E27FC236}">
                    <a16:creationId xmlns:a16="http://schemas.microsoft.com/office/drawing/2014/main" id="{464C57DD-DB16-9E6A-35E0-AD1A96C891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4" y="2361"/>
                <a:ext cx="368" cy="25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Text Box 135">
                <a:extLst>
                  <a:ext uri="{FF2B5EF4-FFF2-40B4-BE49-F238E27FC236}">
                    <a16:creationId xmlns:a16="http://schemas.microsoft.com/office/drawing/2014/main" id="{F9BC3A4E-7AE4-2086-1C93-5F8F82BDDC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6" y="2165"/>
                <a:ext cx="36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/>
                  <a:t>JK</a:t>
                </a:r>
                <a:endParaRPr kumimoji="1" lang="en-US" altLang="zh-CN" sz="3600"/>
              </a:p>
            </p:txBody>
          </p:sp>
          <p:sp>
            <p:nvSpPr>
              <p:cNvPr id="64" name="Text Box 136">
                <a:extLst>
                  <a:ext uri="{FF2B5EF4-FFF2-40B4-BE49-F238E27FC236}">
                    <a16:creationId xmlns:a16="http://schemas.microsoft.com/office/drawing/2014/main" id="{B50E3512-DAB7-3116-5B62-4F33B2B4C8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05" y="2444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  <a:r>
                  <a:rPr kumimoji="1" lang="en-US" altLang="zh-CN" sz="2400" baseline="30000">
                    <a:ea typeface="楷体_GB2312" pitchFamily="49" charset="-122"/>
                  </a:rPr>
                  <a:t>n</a:t>
                </a:r>
              </a:p>
            </p:txBody>
          </p:sp>
          <p:sp>
            <p:nvSpPr>
              <p:cNvPr id="65" name="Rectangle 137">
                <a:extLst>
                  <a:ext uri="{FF2B5EF4-FFF2-40B4-BE49-F238E27FC236}">
                    <a16:creationId xmlns:a16="http://schemas.microsoft.com/office/drawing/2014/main" id="{BE1C720C-C373-3E0B-7741-E1A4A05751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3" y="2627"/>
                <a:ext cx="1536" cy="6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66" name="Line 138">
                <a:extLst>
                  <a:ext uri="{FF2B5EF4-FFF2-40B4-BE49-F238E27FC236}">
                    <a16:creationId xmlns:a16="http://schemas.microsoft.com/office/drawing/2014/main" id="{7E5325BF-E20D-B108-37D2-E1C097E680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7" y="2627"/>
                <a:ext cx="0" cy="6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Line 139">
                <a:extLst>
                  <a:ext uri="{FF2B5EF4-FFF2-40B4-BE49-F238E27FC236}">
                    <a16:creationId xmlns:a16="http://schemas.microsoft.com/office/drawing/2014/main" id="{09C60481-7593-1E8E-0A08-DC85491A84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51" y="2627"/>
                <a:ext cx="0" cy="6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" name="Line 140">
                <a:extLst>
                  <a:ext uri="{FF2B5EF4-FFF2-40B4-BE49-F238E27FC236}">
                    <a16:creationId xmlns:a16="http://schemas.microsoft.com/office/drawing/2014/main" id="{76CD541E-EF2D-4C40-C778-88C2F3FDE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5" y="2627"/>
                <a:ext cx="0" cy="6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" name="Line 141">
                <a:extLst>
                  <a:ext uri="{FF2B5EF4-FFF2-40B4-BE49-F238E27FC236}">
                    <a16:creationId xmlns:a16="http://schemas.microsoft.com/office/drawing/2014/main" id="{B17F412D-901E-EB7C-5499-B985084CC6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3" y="2963"/>
                <a:ext cx="15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6" name="Rectangle 142">
              <a:extLst>
                <a:ext uri="{FF2B5EF4-FFF2-40B4-BE49-F238E27FC236}">
                  <a16:creationId xmlns:a16="http://schemas.microsoft.com/office/drawing/2014/main" id="{EBD589EC-E60B-CE6D-9787-B7EC8C0C7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2205"/>
              <a:ext cx="47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30000">
                  <a:ea typeface="楷体_GB2312" pitchFamily="49" charset="-122"/>
                </a:rPr>
                <a:t>n+1</a:t>
              </a:r>
              <a:endParaRPr kumimoji="1" lang="zh-CN" altLang="en-US" sz="2400" baseline="30000">
                <a:ea typeface="楷体_GB2312" pitchFamily="49" charset="-122"/>
              </a:endParaRPr>
            </a:p>
          </p:txBody>
        </p:sp>
      </p:grpSp>
      <p:sp>
        <p:nvSpPr>
          <p:cNvPr id="76" name="AutoShape 143">
            <a:extLst>
              <a:ext uri="{FF2B5EF4-FFF2-40B4-BE49-F238E27FC236}">
                <a16:creationId xmlns:a16="http://schemas.microsoft.com/office/drawing/2014/main" id="{C9230396-84E3-1AF2-A3F0-5EA78F2FD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712" y="4492653"/>
            <a:ext cx="1008063" cy="32385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77" name="Group 144">
            <a:extLst>
              <a:ext uri="{FF2B5EF4-FFF2-40B4-BE49-F238E27FC236}">
                <a16:creationId xmlns:a16="http://schemas.microsoft.com/office/drawing/2014/main" id="{780B5C5C-577A-3F0D-2E86-C90575A4811C}"/>
              </a:ext>
            </a:extLst>
          </p:cNvPr>
          <p:cNvGrpSpPr>
            <a:grpSpLocks/>
          </p:cNvGrpSpPr>
          <p:nvPr/>
        </p:nvGrpSpPr>
        <p:grpSpPr bwMode="auto">
          <a:xfrm>
            <a:off x="5783262" y="5032403"/>
            <a:ext cx="2701925" cy="323850"/>
            <a:chOff x="3310" y="3135"/>
            <a:chExt cx="1702" cy="204"/>
          </a:xfrm>
        </p:grpSpPr>
        <p:sp>
          <p:nvSpPr>
            <p:cNvPr id="78" name="AutoShape 145">
              <a:extLst>
                <a:ext uri="{FF2B5EF4-FFF2-40B4-BE49-F238E27FC236}">
                  <a16:creationId xmlns:a16="http://schemas.microsoft.com/office/drawing/2014/main" id="{D7B8D24A-A4DD-9A63-7BB9-8145229EF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0" y="3135"/>
              <a:ext cx="386" cy="204"/>
            </a:xfrm>
            <a:prstGeom prst="rightBracket">
              <a:avLst>
                <a:gd name="adj" fmla="val 0"/>
              </a:avLst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79" name="AutoShape 146">
              <a:extLst>
                <a:ext uri="{FF2B5EF4-FFF2-40B4-BE49-F238E27FC236}">
                  <a16:creationId xmlns:a16="http://schemas.microsoft.com/office/drawing/2014/main" id="{3C1CCC13-33FF-CCFA-9AAA-835B5C0B6E93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626" y="3135"/>
              <a:ext cx="386" cy="204"/>
            </a:xfrm>
            <a:prstGeom prst="rightBracket">
              <a:avLst>
                <a:gd name="adj" fmla="val 0"/>
              </a:avLst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sp>
        <p:nvSpPr>
          <p:cNvPr id="80" name="Text Box 147">
            <a:extLst>
              <a:ext uri="{FF2B5EF4-FFF2-40B4-BE49-F238E27FC236}">
                <a16:creationId xmlns:a16="http://schemas.microsoft.com/office/drawing/2014/main" id="{CA9CC9D1-0C3D-68F7-BF83-7240C5CBA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1603375"/>
            <a:ext cx="1271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特性表</a:t>
            </a:r>
          </a:p>
        </p:txBody>
      </p:sp>
    </p:spTree>
    <p:extLst>
      <p:ext uri="{BB962C8B-B14F-4D97-AF65-F5344CB8AC3E}">
        <p14:creationId xmlns:p14="http://schemas.microsoft.com/office/powerpoint/2010/main" val="4209255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99BD77-EAE5-6911-4B0F-7FBCFA4CC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JK</a:t>
            </a:r>
            <a:r>
              <a:rPr lang="zh-CN" altLang="en-US" dirty="0"/>
              <a:t>触发器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F80FB1-3D1E-0CCE-08C8-3DA6B8716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J=1</a:t>
            </a:r>
            <a:r>
              <a:rPr kumimoji="1" lang="zh-CN" altLang="en-US" dirty="0"/>
              <a:t>，置</a:t>
            </a:r>
            <a:r>
              <a:rPr kumimoji="1" lang="en-US" altLang="zh-CN" dirty="0"/>
              <a:t>1</a:t>
            </a:r>
            <a:r>
              <a:rPr kumimoji="1" lang="zh-CN" altLang="en-US" dirty="0"/>
              <a:t>；</a:t>
            </a:r>
            <a:r>
              <a:rPr kumimoji="1" lang="en-US" altLang="zh-CN" dirty="0"/>
              <a:t>K=1</a:t>
            </a:r>
            <a:r>
              <a:rPr kumimoji="1" lang="zh-CN" altLang="en-US" dirty="0"/>
              <a:t>，清</a:t>
            </a:r>
            <a:r>
              <a:rPr kumimoji="1" lang="en-US" altLang="zh-CN" dirty="0"/>
              <a:t>0</a:t>
            </a:r>
            <a:r>
              <a:rPr kumimoji="1" lang="zh-CN" altLang="en-US" dirty="0"/>
              <a:t>；</a:t>
            </a:r>
            <a:r>
              <a:rPr kumimoji="1" lang="en-US" altLang="zh-CN" dirty="0"/>
              <a:t>00</a:t>
            </a:r>
            <a:r>
              <a:rPr kumimoji="1" lang="zh-CN" altLang="en-US" dirty="0"/>
              <a:t>保持，</a:t>
            </a:r>
            <a:r>
              <a:rPr kumimoji="1" lang="en-US" altLang="zh-CN" dirty="0"/>
              <a:t>11</a:t>
            </a:r>
            <a:r>
              <a:rPr kumimoji="1" lang="zh-CN" altLang="en-US" dirty="0"/>
              <a:t>翻转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103625-6063-05EA-A240-CD192BAB3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D6D4DF-FBC6-A334-440E-07B491140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17</a:t>
            </a:fld>
            <a:r>
              <a:rPr lang="en-US" altLang="zh-CN" dirty="0"/>
              <a:t>/29</a:t>
            </a:r>
            <a:endParaRPr lang="en-US" dirty="0"/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F95ACA99-AB3C-CAB6-FBEC-C3331CC790F5}"/>
              </a:ext>
            </a:extLst>
          </p:cNvPr>
          <p:cNvGraphicFramePr>
            <a:graphicFrameLocks/>
          </p:cNvGraphicFramePr>
          <p:nvPr/>
        </p:nvGraphicFramePr>
        <p:xfrm>
          <a:off x="574675" y="2185988"/>
          <a:ext cx="3313113" cy="3906839"/>
        </p:xfrm>
        <a:graphic>
          <a:graphicData uri="http://schemas.openxmlformats.org/drawingml/2006/table">
            <a:tbl>
              <a:tblPr/>
              <a:tblGrid>
                <a:gridCol w="48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n</a:t>
                      </a:r>
                      <a:endParaRPr kumimoji="1" lang="zh-CN" altLang="en-US" sz="2400" b="1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n+1</a:t>
                      </a:r>
                      <a:endParaRPr kumimoji="1" lang="zh-CN" altLang="en-US" sz="2400" b="1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说明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7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清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7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置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8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8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翻转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8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 Box 79">
            <a:extLst>
              <a:ext uri="{FF2B5EF4-FFF2-40B4-BE49-F238E27FC236}">
                <a16:creationId xmlns:a16="http://schemas.microsoft.com/office/drawing/2014/main" id="{010D57CF-6872-2BD2-32CD-6F1ED473F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162" y="3089303"/>
            <a:ext cx="1692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逻辑符号</a:t>
            </a:r>
          </a:p>
        </p:txBody>
      </p:sp>
      <p:grpSp>
        <p:nvGrpSpPr>
          <p:cNvPr id="13" name="Group 80">
            <a:extLst>
              <a:ext uri="{FF2B5EF4-FFF2-40B4-BE49-F238E27FC236}">
                <a16:creationId xmlns:a16="http://schemas.microsoft.com/office/drawing/2014/main" id="{31E33932-C991-E209-1BEF-96BC1D8901A9}"/>
              </a:ext>
            </a:extLst>
          </p:cNvPr>
          <p:cNvGrpSpPr>
            <a:grpSpLocks/>
          </p:cNvGrpSpPr>
          <p:nvPr/>
        </p:nvGrpSpPr>
        <p:grpSpPr bwMode="auto">
          <a:xfrm>
            <a:off x="4987925" y="1792315"/>
            <a:ext cx="1949450" cy="1152525"/>
            <a:chOff x="2631" y="1162"/>
            <a:chExt cx="1228" cy="726"/>
          </a:xfrm>
        </p:grpSpPr>
        <p:sp>
          <p:nvSpPr>
            <p:cNvPr id="14" name="Rectangle 81">
              <a:extLst>
                <a:ext uri="{FF2B5EF4-FFF2-40B4-BE49-F238E27FC236}">
                  <a16:creationId xmlns:a16="http://schemas.microsoft.com/office/drawing/2014/main" id="{874BA02A-878C-5771-F65A-9573C3F415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6" y="1162"/>
              <a:ext cx="450" cy="7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5" name="Line 82">
              <a:extLst>
                <a:ext uri="{FF2B5EF4-FFF2-40B4-BE49-F238E27FC236}">
                  <a16:creationId xmlns:a16="http://schemas.microsoft.com/office/drawing/2014/main" id="{14C120E6-BA71-A233-20EC-3CEF05FC09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3" y="1315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83">
              <a:extLst>
                <a:ext uri="{FF2B5EF4-FFF2-40B4-BE49-F238E27FC236}">
                  <a16:creationId xmlns:a16="http://schemas.microsoft.com/office/drawing/2014/main" id="{24BB4998-2866-F5E1-10F6-2D73377050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3" y="1523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84">
              <a:extLst>
                <a:ext uri="{FF2B5EF4-FFF2-40B4-BE49-F238E27FC236}">
                  <a16:creationId xmlns:a16="http://schemas.microsoft.com/office/drawing/2014/main" id="{84970FAF-50AE-1488-09C7-EF3B0975F6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1315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85">
              <a:extLst>
                <a:ext uri="{FF2B5EF4-FFF2-40B4-BE49-F238E27FC236}">
                  <a16:creationId xmlns:a16="http://schemas.microsoft.com/office/drawing/2014/main" id="{EC3D6BC3-A47E-35CA-1304-1B8E8FA6FC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" y="1728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Box 86">
              <a:extLst>
                <a:ext uri="{FF2B5EF4-FFF2-40B4-BE49-F238E27FC236}">
                  <a16:creationId xmlns:a16="http://schemas.microsoft.com/office/drawing/2014/main" id="{777A1A17-6B5F-63AD-996A-B58487EE25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7" y="1169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J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20" name="Text Box 87">
              <a:extLst>
                <a:ext uri="{FF2B5EF4-FFF2-40B4-BE49-F238E27FC236}">
                  <a16:creationId xmlns:a16="http://schemas.microsoft.com/office/drawing/2014/main" id="{5746FA54-77A5-3783-9DB5-CA028BD782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5" y="1169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21" name="Text Box 88">
              <a:extLst>
                <a:ext uri="{FF2B5EF4-FFF2-40B4-BE49-F238E27FC236}">
                  <a16:creationId xmlns:a16="http://schemas.microsoft.com/office/drawing/2014/main" id="{BAC69E47-AE07-FB26-27AD-A1F6759FD7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4" y="1578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22" name="Line 89">
              <a:extLst>
                <a:ext uri="{FF2B5EF4-FFF2-40B4-BE49-F238E27FC236}">
                  <a16:creationId xmlns:a16="http://schemas.microsoft.com/office/drawing/2014/main" id="{60EE90EE-57A0-E47E-1254-F9D619538E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3" y="1638"/>
              <a:ext cx="1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90">
              <a:extLst>
                <a:ext uri="{FF2B5EF4-FFF2-40B4-BE49-F238E27FC236}">
                  <a16:creationId xmlns:a16="http://schemas.microsoft.com/office/drawing/2014/main" id="{6A8AE7C2-2ACC-DDF5-DA11-70513B9F4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6" y="1449"/>
              <a:ext cx="80" cy="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91">
              <a:extLst>
                <a:ext uri="{FF2B5EF4-FFF2-40B4-BE49-F238E27FC236}">
                  <a16:creationId xmlns:a16="http://schemas.microsoft.com/office/drawing/2014/main" id="{39738422-E4A5-E0CF-93B3-F1C1831732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6" y="1520"/>
              <a:ext cx="80" cy="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Oval 92">
              <a:extLst>
                <a:ext uri="{FF2B5EF4-FFF2-40B4-BE49-F238E27FC236}">
                  <a16:creationId xmlns:a16="http://schemas.microsoft.com/office/drawing/2014/main" id="{C41DDB3E-CE85-C26B-57EC-8B64E9514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7" y="1685"/>
              <a:ext cx="90" cy="9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6" name="Line 93">
              <a:extLst>
                <a:ext uri="{FF2B5EF4-FFF2-40B4-BE49-F238E27FC236}">
                  <a16:creationId xmlns:a16="http://schemas.microsoft.com/office/drawing/2014/main" id="{85BB8EF9-C5BF-CCF1-AC07-5DA3FE2CAE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1" y="1724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Box 94">
              <a:extLst>
                <a:ext uri="{FF2B5EF4-FFF2-40B4-BE49-F238E27FC236}">
                  <a16:creationId xmlns:a16="http://schemas.microsoft.com/office/drawing/2014/main" id="{84A8160C-D805-6BC8-3596-68EF8404E0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5" y="1578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K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</p:grpSp>
      <p:grpSp>
        <p:nvGrpSpPr>
          <p:cNvPr id="28" name="Group 95">
            <a:extLst>
              <a:ext uri="{FF2B5EF4-FFF2-40B4-BE49-F238E27FC236}">
                <a16:creationId xmlns:a16="http://schemas.microsoft.com/office/drawing/2014/main" id="{6BD51E5D-89A7-6E79-0D20-C9B421C6CB73}"/>
              </a:ext>
            </a:extLst>
          </p:cNvPr>
          <p:cNvGrpSpPr>
            <a:grpSpLocks/>
          </p:cNvGrpSpPr>
          <p:nvPr/>
        </p:nvGrpSpPr>
        <p:grpSpPr bwMode="auto">
          <a:xfrm>
            <a:off x="7291387" y="1792315"/>
            <a:ext cx="1949450" cy="1152525"/>
            <a:chOff x="4077" y="1185"/>
            <a:chExt cx="1228" cy="726"/>
          </a:xfrm>
        </p:grpSpPr>
        <p:sp>
          <p:nvSpPr>
            <p:cNvPr id="29" name="Rectangle 96">
              <a:extLst>
                <a:ext uri="{FF2B5EF4-FFF2-40B4-BE49-F238E27FC236}">
                  <a16:creationId xmlns:a16="http://schemas.microsoft.com/office/drawing/2014/main" id="{73CDD3B0-F4C1-633E-ACB3-3EEF40ECA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1185"/>
              <a:ext cx="450" cy="7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0" name="Line 97">
              <a:extLst>
                <a:ext uri="{FF2B5EF4-FFF2-40B4-BE49-F238E27FC236}">
                  <a16:creationId xmlns:a16="http://schemas.microsoft.com/office/drawing/2014/main" id="{7C053243-5D46-75A5-8611-98DB969565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9" y="1338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98">
              <a:extLst>
                <a:ext uri="{FF2B5EF4-FFF2-40B4-BE49-F238E27FC236}">
                  <a16:creationId xmlns:a16="http://schemas.microsoft.com/office/drawing/2014/main" id="{632F9E8D-F16A-1F84-9560-CBDE44882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9" y="1546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99">
              <a:extLst>
                <a:ext uri="{FF2B5EF4-FFF2-40B4-BE49-F238E27FC236}">
                  <a16:creationId xmlns:a16="http://schemas.microsoft.com/office/drawing/2014/main" id="{1E0D380C-D81C-D289-B7FB-F6B289BCB7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2" y="1338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100">
              <a:extLst>
                <a:ext uri="{FF2B5EF4-FFF2-40B4-BE49-F238E27FC236}">
                  <a16:creationId xmlns:a16="http://schemas.microsoft.com/office/drawing/2014/main" id="{D5423FEA-F83E-B2E8-86AF-D2E3147174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8" y="1751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 Box 101">
              <a:extLst>
                <a:ext uri="{FF2B5EF4-FFF2-40B4-BE49-F238E27FC236}">
                  <a16:creationId xmlns:a16="http://schemas.microsoft.com/office/drawing/2014/main" id="{D3FE7800-1753-E8A1-5E9D-67A76B4A88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3" y="1192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J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35" name="Text Box 102">
              <a:extLst>
                <a:ext uri="{FF2B5EF4-FFF2-40B4-BE49-F238E27FC236}">
                  <a16:creationId xmlns:a16="http://schemas.microsoft.com/office/drawing/2014/main" id="{8D1A79D8-3F6E-BD4A-737A-9AFC0B8B18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1" y="1192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36" name="Text Box 103">
              <a:extLst>
                <a:ext uri="{FF2B5EF4-FFF2-40B4-BE49-F238E27FC236}">
                  <a16:creationId xmlns:a16="http://schemas.microsoft.com/office/drawing/2014/main" id="{312727A7-E707-6EA0-C505-09B026B42F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1601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37" name="Line 104">
              <a:extLst>
                <a:ext uri="{FF2B5EF4-FFF2-40B4-BE49-F238E27FC236}">
                  <a16:creationId xmlns:a16="http://schemas.microsoft.com/office/drawing/2014/main" id="{0832008A-C582-57CE-BCD9-D13DD27472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9" y="1661"/>
              <a:ext cx="1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105">
              <a:extLst>
                <a:ext uri="{FF2B5EF4-FFF2-40B4-BE49-F238E27FC236}">
                  <a16:creationId xmlns:a16="http://schemas.microsoft.com/office/drawing/2014/main" id="{F4678329-B6E1-9CD7-1CF7-782BE76C9D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1472"/>
              <a:ext cx="80" cy="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106">
              <a:extLst>
                <a:ext uri="{FF2B5EF4-FFF2-40B4-BE49-F238E27FC236}">
                  <a16:creationId xmlns:a16="http://schemas.microsoft.com/office/drawing/2014/main" id="{0F9C62F4-CC9E-40C9-CA8D-398FD4AC97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2" y="1543"/>
              <a:ext cx="80" cy="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Oval 107">
              <a:extLst>
                <a:ext uri="{FF2B5EF4-FFF2-40B4-BE49-F238E27FC236}">
                  <a16:creationId xmlns:a16="http://schemas.microsoft.com/office/drawing/2014/main" id="{11602893-9973-72C3-5D43-78625034E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3" y="1708"/>
              <a:ext cx="90" cy="9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1" name="Line 108">
              <a:extLst>
                <a:ext uri="{FF2B5EF4-FFF2-40B4-BE49-F238E27FC236}">
                  <a16:creationId xmlns:a16="http://schemas.microsoft.com/office/drawing/2014/main" id="{E5A3E229-2525-F646-6A98-5417521709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7" y="1747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 Box 109">
              <a:extLst>
                <a:ext uri="{FF2B5EF4-FFF2-40B4-BE49-F238E27FC236}">
                  <a16:creationId xmlns:a16="http://schemas.microsoft.com/office/drawing/2014/main" id="{9DD853FB-1DFD-67C2-85AB-4A26D7758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1" y="1601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K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43" name="Oval 110">
              <a:extLst>
                <a:ext uri="{FF2B5EF4-FFF2-40B4-BE49-F238E27FC236}">
                  <a16:creationId xmlns:a16="http://schemas.microsoft.com/office/drawing/2014/main" id="{8466AA87-EECD-95AD-1133-AB3D5CD7D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1503"/>
              <a:ext cx="90" cy="9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sp>
        <p:nvSpPr>
          <p:cNvPr id="80" name="Text Box 147">
            <a:extLst>
              <a:ext uri="{FF2B5EF4-FFF2-40B4-BE49-F238E27FC236}">
                <a16:creationId xmlns:a16="http://schemas.microsoft.com/office/drawing/2014/main" id="{CA9CC9D1-0C3D-68F7-BF83-7240C5CBA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1603375"/>
            <a:ext cx="1271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特性表</a:t>
            </a:r>
          </a:p>
        </p:txBody>
      </p:sp>
      <p:sp>
        <p:nvSpPr>
          <p:cNvPr id="81" name="Oval 35">
            <a:extLst>
              <a:ext uri="{FF2B5EF4-FFF2-40B4-BE49-F238E27FC236}">
                <a16:creationId xmlns:a16="http://schemas.microsoft.com/office/drawing/2014/main" id="{29328383-64FD-7060-7852-F55303A75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224" y="4630711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2" name="Oval 36">
            <a:extLst>
              <a:ext uri="{FF2B5EF4-FFF2-40B4-BE49-F238E27FC236}">
                <a16:creationId xmlns:a16="http://schemas.microsoft.com/office/drawing/2014/main" id="{3B240461-82A6-4ED4-E0CF-90B3B2FA8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6049" y="4621186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3" name="Arc 37">
            <a:extLst>
              <a:ext uri="{FF2B5EF4-FFF2-40B4-BE49-F238E27FC236}">
                <a16:creationId xmlns:a16="http://schemas.microsoft.com/office/drawing/2014/main" id="{E24A2843-9D1C-8AE2-58E9-966531893D51}"/>
              </a:ext>
            </a:extLst>
          </p:cNvPr>
          <p:cNvSpPr>
            <a:spLocks/>
          </p:cNvSpPr>
          <p:nvPr/>
        </p:nvSpPr>
        <p:spPr bwMode="auto">
          <a:xfrm flipV="1">
            <a:off x="6543674" y="4260823"/>
            <a:ext cx="1457325" cy="1152525"/>
          </a:xfrm>
          <a:custGeom>
            <a:avLst/>
            <a:gdLst>
              <a:gd name="T0" fmla="*/ 0 w 27828"/>
              <a:gd name="T1" fmla="*/ 2147483646 h 21600"/>
              <a:gd name="T2" fmla="*/ 2147483646 w 27828"/>
              <a:gd name="T3" fmla="*/ 2147483646 h 21600"/>
              <a:gd name="T4" fmla="*/ 2147483646 w 27828"/>
              <a:gd name="T5" fmla="*/ 2147483646 h 21600"/>
              <a:gd name="T6" fmla="*/ 0 60000 65536"/>
              <a:gd name="T7" fmla="*/ 0 60000 65536"/>
              <a:gd name="T8" fmla="*/ 0 60000 65536"/>
              <a:gd name="T9" fmla="*/ 0 w 27828"/>
              <a:gd name="T10" fmla="*/ 0 h 21600"/>
              <a:gd name="T11" fmla="*/ 27828 w 2782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828" h="21600" fill="none" extrusionOk="0">
                <a:moveTo>
                  <a:pt x="-1" y="5259"/>
                </a:moveTo>
                <a:cubicBezTo>
                  <a:pt x="3924" y="1866"/>
                  <a:pt x="8938" y="-1"/>
                  <a:pt x="14126" y="0"/>
                </a:cubicBezTo>
                <a:cubicBezTo>
                  <a:pt x="19122" y="0"/>
                  <a:pt x="23965" y="1732"/>
                  <a:pt x="27827" y="4902"/>
                </a:cubicBezTo>
              </a:path>
              <a:path w="27828" h="21600" stroke="0" extrusionOk="0">
                <a:moveTo>
                  <a:pt x="-1" y="5259"/>
                </a:moveTo>
                <a:cubicBezTo>
                  <a:pt x="3924" y="1866"/>
                  <a:pt x="8938" y="-1"/>
                  <a:pt x="14126" y="0"/>
                </a:cubicBezTo>
                <a:cubicBezTo>
                  <a:pt x="19122" y="0"/>
                  <a:pt x="23965" y="1732"/>
                  <a:pt x="27827" y="4902"/>
                </a:cubicBezTo>
                <a:lnTo>
                  <a:pt x="14126" y="21600"/>
                </a:lnTo>
                <a:lnTo>
                  <a:pt x="-1" y="5259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Arc 38">
            <a:extLst>
              <a:ext uri="{FF2B5EF4-FFF2-40B4-BE49-F238E27FC236}">
                <a16:creationId xmlns:a16="http://schemas.microsoft.com/office/drawing/2014/main" id="{6F36F3EE-F061-67D7-CB82-FA5C297A31F0}"/>
              </a:ext>
            </a:extLst>
          </p:cNvPr>
          <p:cNvSpPr>
            <a:spLocks/>
          </p:cNvSpPr>
          <p:nvPr/>
        </p:nvSpPr>
        <p:spPr bwMode="auto">
          <a:xfrm flipH="1">
            <a:off x="6499224" y="4337023"/>
            <a:ext cx="1519238" cy="1146175"/>
          </a:xfrm>
          <a:custGeom>
            <a:avLst/>
            <a:gdLst>
              <a:gd name="T0" fmla="*/ 0 w 28597"/>
              <a:gd name="T1" fmla="*/ 2147483646 h 21600"/>
              <a:gd name="T2" fmla="*/ 2147483646 w 28597"/>
              <a:gd name="T3" fmla="*/ 2147483646 h 21600"/>
              <a:gd name="T4" fmla="*/ 2147483646 w 28597"/>
              <a:gd name="T5" fmla="*/ 2147483646 h 21600"/>
              <a:gd name="T6" fmla="*/ 0 60000 65536"/>
              <a:gd name="T7" fmla="*/ 0 60000 65536"/>
              <a:gd name="T8" fmla="*/ 0 60000 65536"/>
              <a:gd name="T9" fmla="*/ 0 w 28597"/>
              <a:gd name="T10" fmla="*/ 0 h 21600"/>
              <a:gd name="T11" fmla="*/ 28597 w 2859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597" h="21600" fill="none" extrusionOk="0">
                <a:moveTo>
                  <a:pt x="-1" y="5259"/>
                </a:moveTo>
                <a:cubicBezTo>
                  <a:pt x="3924" y="1866"/>
                  <a:pt x="8938" y="-1"/>
                  <a:pt x="14126" y="0"/>
                </a:cubicBezTo>
                <a:cubicBezTo>
                  <a:pt x="19471" y="0"/>
                  <a:pt x="24628" y="1982"/>
                  <a:pt x="28596" y="5564"/>
                </a:cubicBezTo>
              </a:path>
              <a:path w="28597" h="21600" stroke="0" extrusionOk="0">
                <a:moveTo>
                  <a:pt x="-1" y="5259"/>
                </a:moveTo>
                <a:cubicBezTo>
                  <a:pt x="3924" y="1866"/>
                  <a:pt x="8938" y="-1"/>
                  <a:pt x="14126" y="0"/>
                </a:cubicBezTo>
                <a:cubicBezTo>
                  <a:pt x="19471" y="0"/>
                  <a:pt x="24628" y="1982"/>
                  <a:pt x="28596" y="5564"/>
                </a:cubicBezTo>
                <a:lnTo>
                  <a:pt x="14126" y="21600"/>
                </a:lnTo>
                <a:lnTo>
                  <a:pt x="-1" y="5259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Arc 39">
            <a:extLst>
              <a:ext uri="{FF2B5EF4-FFF2-40B4-BE49-F238E27FC236}">
                <a16:creationId xmlns:a16="http://schemas.microsoft.com/office/drawing/2014/main" id="{E5B16DAA-77CD-D89F-7F63-BAE8C9BA0EBD}"/>
              </a:ext>
            </a:extLst>
          </p:cNvPr>
          <p:cNvSpPr>
            <a:spLocks/>
          </p:cNvSpPr>
          <p:nvPr/>
        </p:nvSpPr>
        <p:spPr bwMode="auto">
          <a:xfrm>
            <a:off x="8270874" y="4571973"/>
            <a:ext cx="503238" cy="695325"/>
          </a:xfrm>
          <a:custGeom>
            <a:avLst/>
            <a:gdLst>
              <a:gd name="T0" fmla="*/ 2147483646 w 41838"/>
              <a:gd name="T1" fmla="*/ 2147483646 h 43200"/>
              <a:gd name="T2" fmla="*/ 0 w 41838"/>
              <a:gd name="T3" fmla="*/ 2147483646 h 43200"/>
              <a:gd name="T4" fmla="*/ 2147483646 w 41838"/>
              <a:gd name="T5" fmla="*/ 2147483646 h 43200"/>
              <a:gd name="T6" fmla="*/ 0 60000 65536"/>
              <a:gd name="T7" fmla="*/ 0 60000 65536"/>
              <a:gd name="T8" fmla="*/ 0 60000 65536"/>
              <a:gd name="T9" fmla="*/ 0 w 41838"/>
              <a:gd name="T10" fmla="*/ 0 h 43200"/>
              <a:gd name="T11" fmla="*/ 41838 w 41838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838" h="43200" fill="none" extrusionOk="0">
                <a:moveTo>
                  <a:pt x="930" y="11915"/>
                </a:moveTo>
                <a:cubicBezTo>
                  <a:pt x="4594" y="4611"/>
                  <a:pt x="12066" y="-1"/>
                  <a:pt x="20238" y="0"/>
                </a:cubicBezTo>
                <a:cubicBezTo>
                  <a:pt x="32167" y="0"/>
                  <a:pt x="41838" y="9670"/>
                  <a:pt x="41838" y="21600"/>
                </a:cubicBezTo>
                <a:cubicBezTo>
                  <a:pt x="41838" y="33529"/>
                  <a:pt x="32167" y="43200"/>
                  <a:pt x="20238" y="43200"/>
                </a:cubicBezTo>
                <a:cubicBezTo>
                  <a:pt x="11220" y="43200"/>
                  <a:pt x="3152" y="37598"/>
                  <a:pt x="0" y="29149"/>
                </a:cubicBezTo>
              </a:path>
              <a:path w="41838" h="43200" stroke="0" extrusionOk="0">
                <a:moveTo>
                  <a:pt x="930" y="11915"/>
                </a:moveTo>
                <a:cubicBezTo>
                  <a:pt x="4594" y="4611"/>
                  <a:pt x="12066" y="-1"/>
                  <a:pt x="20238" y="0"/>
                </a:cubicBezTo>
                <a:cubicBezTo>
                  <a:pt x="32167" y="0"/>
                  <a:pt x="41838" y="9670"/>
                  <a:pt x="41838" y="21600"/>
                </a:cubicBezTo>
                <a:cubicBezTo>
                  <a:pt x="41838" y="33529"/>
                  <a:pt x="32167" y="43200"/>
                  <a:pt x="20238" y="43200"/>
                </a:cubicBezTo>
                <a:cubicBezTo>
                  <a:pt x="11220" y="43200"/>
                  <a:pt x="3152" y="37598"/>
                  <a:pt x="0" y="29149"/>
                </a:cubicBezTo>
                <a:lnTo>
                  <a:pt x="20238" y="21600"/>
                </a:lnTo>
                <a:lnTo>
                  <a:pt x="930" y="11915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" name="Arc 40">
            <a:extLst>
              <a:ext uri="{FF2B5EF4-FFF2-40B4-BE49-F238E27FC236}">
                <a16:creationId xmlns:a16="http://schemas.microsoft.com/office/drawing/2014/main" id="{75B01C33-3E69-9C82-354B-EF32619C4B55}"/>
              </a:ext>
            </a:extLst>
          </p:cNvPr>
          <p:cNvSpPr>
            <a:spLocks/>
          </p:cNvSpPr>
          <p:nvPr/>
        </p:nvSpPr>
        <p:spPr bwMode="auto">
          <a:xfrm rot="10800000">
            <a:off x="5637212" y="4571973"/>
            <a:ext cx="508000" cy="695325"/>
          </a:xfrm>
          <a:custGeom>
            <a:avLst/>
            <a:gdLst>
              <a:gd name="T0" fmla="*/ 0 w 42249"/>
              <a:gd name="T1" fmla="*/ 2147483646 h 43200"/>
              <a:gd name="T2" fmla="*/ 2147483646 w 42249"/>
              <a:gd name="T3" fmla="*/ 2147483646 h 43200"/>
              <a:gd name="T4" fmla="*/ 2147483646 w 42249"/>
              <a:gd name="T5" fmla="*/ 2147483646 h 43200"/>
              <a:gd name="T6" fmla="*/ 0 60000 65536"/>
              <a:gd name="T7" fmla="*/ 0 60000 65536"/>
              <a:gd name="T8" fmla="*/ 0 60000 65536"/>
              <a:gd name="T9" fmla="*/ 0 w 42249"/>
              <a:gd name="T10" fmla="*/ 0 h 43200"/>
              <a:gd name="T11" fmla="*/ 42249 w 42249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249" h="43200" fill="none" extrusionOk="0">
                <a:moveTo>
                  <a:pt x="0" y="15261"/>
                </a:moveTo>
                <a:cubicBezTo>
                  <a:pt x="2784" y="6191"/>
                  <a:pt x="11161" y="-1"/>
                  <a:pt x="20649" y="0"/>
                </a:cubicBezTo>
                <a:cubicBezTo>
                  <a:pt x="32578" y="0"/>
                  <a:pt x="42249" y="9670"/>
                  <a:pt x="42249" y="21600"/>
                </a:cubicBezTo>
                <a:cubicBezTo>
                  <a:pt x="42249" y="33529"/>
                  <a:pt x="32578" y="43200"/>
                  <a:pt x="20649" y="43200"/>
                </a:cubicBezTo>
                <a:cubicBezTo>
                  <a:pt x="11979" y="43200"/>
                  <a:pt x="4149" y="38016"/>
                  <a:pt x="764" y="30034"/>
                </a:cubicBezTo>
              </a:path>
              <a:path w="42249" h="43200" stroke="0" extrusionOk="0">
                <a:moveTo>
                  <a:pt x="0" y="15261"/>
                </a:moveTo>
                <a:cubicBezTo>
                  <a:pt x="2784" y="6191"/>
                  <a:pt x="11161" y="-1"/>
                  <a:pt x="20649" y="0"/>
                </a:cubicBezTo>
                <a:cubicBezTo>
                  <a:pt x="32578" y="0"/>
                  <a:pt x="42249" y="9670"/>
                  <a:pt x="42249" y="21600"/>
                </a:cubicBezTo>
                <a:cubicBezTo>
                  <a:pt x="42249" y="33529"/>
                  <a:pt x="32578" y="43200"/>
                  <a:pt x="20649" y="43200"/>
                </a:cubicBezTo>
                <a:cubicBezTo>
                  <a:pt x="11979" y="43200"/>
                  <a:pt x="4149" y="38016"/>
                  <a:pt x="764" y="30034"/>
                </a:cubicBezTo>
                <a:lnTo>
                  <a:pt x="20649" y="21600"/>
                </a:lnTo>
                <a:lnTo>
                  <a:pt x="0" y="15261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" name="Text Box 41">
            <a:extLst>
              <a:ext uri="{FF2B5EF4-FFF2-40B4-BE49-F238E27FC236}">
                <a16:creationId xmlns:a16="http://schemas.microsoft.com/office/drawing/2014/main" id="{AE61613D-D9E9-C2DC-FB36-6083D8B71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9074" y="3863948"/>
            <a:ext cx="1376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J=1, K=x</a:t>
            </a:r>
          </a:p>
        </p:txBody>
      </p:sp>
      <p:sp>
        <p:nvSpPr>
          <p:cNvPr id="88" name="Text Box 42">
            <a:extLst>
              <a:ext uri="{FF2B5EF4-FFF2-40B4-BE49-F238E27FC236}">
                <a16:creationId xmlns:a16="http://schemas.microsoft.com/office/drawing/2014/main" id="{AD1B0C67-8BE8-DB83-FCFE-F20681CB1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2087" y="5448273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J=x, K=1 </a:t>
            </a:r>
          </a:p>
        </p:txBody>
      </p:sp>
      <p:sp>
        <p:nvSpPr>
          <p:cNvPr id="89" name="Text Box 43">
            <a:extLst>
              <a:ext uri="{FF2B5EF4-FFF2-40B4-BE49-F238E27FC236}">
                <a16:creationId xmlns:a16="http://schemas.microsoft.com/office/drawing/2014/main" id="{B670717A-EEBD-3C55-C55D-F3BD69DA5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1099" y="4511648"/>
            <a:ext cx="7461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J=x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K=0</a:t>
            </a:r>
          </a:p>
        </p:txBody>
      </p:sp>
      <p:sp>
        <p:nvSpPr>
          <p:cNvPr id="90" name="Text Box 44">
            <a:extLst>
              <a:ext uri="{FF2B5EF4-FFF2-40B4-BE49-F238E27FC236}">
                <a16:creationId xmlns:a16="http://schemas.microsoft.com/office/drawing/2014/main" id="{5FA9EA73-D52D-0A7A-DF08-80FE78D5F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24" y="4498948"/>
            <a:ext cx="7461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J=0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K=x</a:t>
            </a:r>
          </a:p>
        </p:txBody>
      </p:sp>
      <p:sp>
        <p:nvSpPr>
          <p:cNvPr id="91" name="Text Box 45">
            <a:extLst>
              <a:ext uri="{FF2B5EF4-FFF2-40B4-BE49-F238E27FC236}">
                <a16:creationId xmlns:a16="http://schemas.microsoft.com/office/drawing/2014/main" id="{83D29E8F-843B-765F-38D9-D356DDC69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0774" y="4656111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dirty="0">
                <a:ea typeface="楷体_GB2312" pitchFamily="49" charset="-122"/>
              </a:rPr>
              <a:t>0</a:t>
            </a:r>
          </a:p>
        </p:txBody>
      </p:sp>
      <p:sp>
        <p:nvSpPr>
          <p:cNvPr id="92" name="Text Box 46">
            <a:extLst>
              <a:ext uri="{FF2B5EF4-FFF2-40B4-BE49-F238E27FC236}">
                <a16:creationId xmlns:a16="http://schemas.microsoft.com/office/drawing/2014/main" id="{EC80C97E-84FB-5D08-52DE-4479E60A0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37" y="4656111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1</a:t>
            </a:r>
          </a:p>
        </p:txBody>
      </p:sp>
      <p:sp>
        <p:nvSpPr>
          <p:cNvPr id="93" name="Rectangle 47">
            <a:extLst>
              <a:ext uri="{FF2B5EF4-FFF2-40B4-BE49-F238E27FC236}">
                <a16:creationId xmlns:a16="http://schemas.microsoft.com/office/drawing/2014/main" id="{196EA8A0-D577-DC8B-3DF9-1879A2062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027" y="5953098"/>
            <a:ext cx="11272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状态图</a:t>
            </a:r>
          </a:p>
        </p:txBody>
      </p:sp>
    </p:spTree>
    <p:extLst>
      <p:ext uri="{BB962C8B-B14F-4D97-AF65-F5344CB8AC3E}">
        <p14:creationId xmlns:p14="http://schemas.microsoft.com/office/powerpoint/2010/main" val="230104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4" grpId="0" animBg="1"/>
      <p:bldP spid="85" grpId="0" animBg="1"/>
      <p:bldP spid="86" grpId="0" animBg="1"/>
      <p:bldP spid="87" grpId="0"/>
      <p:bldP spid="88" grpId="0"/>
      <p:bldP spid="89" grpId="0"/>
      <p:bldP spid="9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120F6-7FEC-D3BA-31D4-AF907CF9A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示例：</a:t>
            </a:r>
            <a:r>
              <a:rPr lang="en-US" altLang="zh-CN" dirty="0"/>
              <a:t>JK</a:t>
            </a:r>
            <a:r>
              <a:rPr lang="zh-CN" altLang="en-US" dirty="0"/>
              <a:t>触发器波形图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72364B-9C11-A676-5606-BDF42470E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J=1</a:t>
            </a:r>
            <a:r>
              <a:rPr kumimoji="1" lang="zh-CN" altLang="en-US" dirty="0"/>
              <a:t>，置</a:t>
            </a:r>
            <a:r>
              <a:rPr kumimoji="1" lang="en-US" altLang="zh-CN" dirty="0"/>
              <a:t>1</a:t>
            </a:r>
            <a:r>
              <a:rPr kumimoji="1" lang="zh-CN" altLang="en-US" dirty="0"/>
              <a:t>；</a:t>
            </a:r>
            <a:r>
              <a:rPr kumimoji="1" lang="en-US" altLang="zh-CN" dirty="0"/>
              <a:t>K=1</a:t>
            </a:r>
            <a:r>
              <a:rPr kumimoji="1" lang="zh-CN" altLang="en-US" dirty="0"/>
              <a:t>，清</a:t>
            </a:r>
            <a:r>
              <a:rPr kumimoji="1" lang="en-US" altLang="zh-CN" dirty="0"/>
              <a:t>0</a:t>
            </a:r>
            <a:r>
              <a:rPr kumimoji="1" lang="zh-CN" altLang="en-US" dirty="0"/>
              <a:t>；</a:t>
            </a:r>
            <a:r>
              <a:rPr kumimoji="1" lang="en-US" altLang="zh-CN" dirty="0"/>
              <a:t>00</a:t>
            </a:r>
            <a:r>
              <a:rPr kumimoji="1" lang="zh-CN" altLang="en-US" dirty="0"/>
              <a:t>保持，</a:t>
            </a:r>
            <a:r>
              <a:rPr kumimoji="1" lang="en-US" altLang="zh-CN" dirty="0"/>
              <a:t>11</a:t>
            </a:r>
            <a:r>
              <a:rPr kumimoji="1" lang="zh-CN" altLang="en-US" dirty="0"/>
              <a:t>翻转</a:t>
            </a:r>
          </a:p>
          <a:p>
            <a:r>
              <a:rPr lang="zh-CN" altLang="en-US" dirty="0"/>
              <a:t>画出输出波形</a:t>
            </a:r>
            <a:r>
              <a:rPr lang="en-US" altLang="zh-CN" dirty="0"/>
              <a:t>(</a:t>
            </a:r>
            <a:r>
              <a:rPr lang="zh-CN" altLang="en-US" dirty="0"/>
              <a:t>设初态为</a:t>
            </a:r>
            <a:r>
              <a:rPr lang="en-US" altLang="zh-CN" dirty="0"/>
              <a:t>0)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3B7F06-4822-22A0-2C96-F746704FF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9895F0-BD13-8C96-D0D3-1E51D132F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18</a:t>
            </a:fld>
            <a:r>
              <a:rPr lang="en-US" altLang="zh-CN" dirty="0"/>
              <a:t>/29</a:t>
            </a:r>
            <a:endParaRPr lang="en-US" dirty="0"/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54623C80-4CC6-AAB6-3275-24BC4428CD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504578"/>
              </p:ext>
            </p:extLst>
          </p:nvPr>
        </p:nvGraphicFramePr>
        <p:xfrm>
          <a:off x="854396" y="2655586"/>
          <a:ext cx="7040563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3221736" imgH="1068324" progId="Word.Picture.8">
                  <p:embed/>
                </p:oleObj>
              </mc:Choice>
              <mc:Fallback>
                <p:oleObj name="图片" r:id="rId2" imgW="3221736" imgH="1068324" progId="Word.Picture.8">
                  <p:embed/>
                  <p:pic>
                    <p:nvPicPr>
                      <p:cNvPr id="2970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396" y="2655586"/>
                        <a:ext cx="7040563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B9FC133B-3097-1DBA-9D71-EB39B985DA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6669376"/>
              </p:ext>
            </p:extLst>
          </p:nvPr>
        </p:nvGraphicFramePr>
        <p:xfrm>
          <a:off x="846459" y="5024136"/>
          <a:ext cx="70199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4" imgW="3211033" imgH="288598" progId="Word.Picture.8">
                  <p:embed/>
                </p:oleObj>
              </mc:Choice>
              <mc:Fallback>
                <p:oleObj name="图片" r:id="rId4" imgW="3211033" imgH="288598" progId="Word.Picture.8">
                  <p:embed/>
                  <p:pic>
                    <p:nvPicPr>
                      <p:cNvPr id="15759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459" y="5024136"/>
                        <a:ext cx="701992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6">
            <a:extLst>
              <a:ext uri="{FF2B5EF4-FFF2-40B4-BE49-F238E27FC236}">
                <a16:creationId xmlns:a16="http://schemas.microsoft.com/office/drawing/2014/main" id="{6D940307-54E4-9ED6-AF7A-B95950C29FBD}"/>
              </a:ext>
            </a:extLst>
          </p:cNvPr>
          <p:cNvGrpSpPr>
            <a:grpSpLocks/>
          </p:cNvGrpSpPr>
          <p:nvPr/>
        </p:nvGrpSpPr>
        <p:grpSpPr bwMode="auto">
          <a:xfrm>
            <a:off x="7656195" y="1199230"/>
            <a:ext cx="1949450" cy="1152525"/>
            <a:chOff x="4077" y="1185"/>
            <a:chExt cx="1228" cy="726"/>
          </a:xfrm>
        </p:grpSpPr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BAFB69D5-07F2-5E1B-2FDD-EDECECF28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1185"/>
              <a:ext cx="450" cy="7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FE5144B8-AE46-E757-859D-0FC47879C5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9" y="1338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055438B7-E92B-5367-1061-754DEDB933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9" y="1546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0C39B841-62DF-34D1-6B82-968095E7A3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2" y="1338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BE81221D-F146-C18E-4D21-1BF133086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8" y="1751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3EDAC1D2-DF39-EC1E-DA3D-F3F6450F04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3" y="1192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J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C3F0E4D5-07EC-B020-EBD5-5BBF1CEC2F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1" y="1192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8D5F667E-64DF-E066-E9AC-FD2D671CE5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1601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B4483006-4283-23C9-E4B4-7B335E2A2F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9" y="1661"/>
              <a:ext cx="1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8DC1C816-A239-53F6-E6FA-CEFA012F69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1472"/>
              <a:ext cx="80" cy="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F54ED8FC-1460-E25A-1912-F2D526D40E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2" y="1543"/>
              <a:ext cx="80" cy="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Oval 18">
              <a:extLst>
                <a:ext uri="{FF2B5EF4-FFF2-40B4-BE49-F238E27FC236}">
                  <a16:creationId xmlns:a16="http://schemas.microsoft.com/office/drawing/2014/main" id="{3083F242-43DC-EBF5-F499-BBC2785EC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3" y="1708"/>
              <a:ext cx="90" cy="9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112E97E3-93EE-1B25-50D7-DD7B06F69D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7" y="1747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20">
              <a:extLst>
                <a:ext uri="{FF2B5EF4-FFF2-40B4-BE49-F238E27FC236}">
                  <a16:creationId xmlns:a16="http://schemas.microsoft.com/office/drawing/2014/main" id="{2E3995A8-4E66-A579-E36F-62CD7A34F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1" y="1601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K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23" name="Oval 21">
              <a:extLst>
                <a:ext uri="{FF2B5EF4-FFF2-40B4-BE49-F238E27FC236}">
                  <a16:creationId xmlns:a16="http://schemas.microsoft.com/office/drawing/2014/main" id="{2DA9F77B-3313-87CE-9110-723086F82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1503"/>
              <a:ext cx="90" cy="9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sp>
        <p:nvSpPr>
          <p:cNvPr id="24" name="Line 22">
            <a:extLst>
              <a:ext uri="{FF2B5EF4-FFF2-40B4-BE49-F238E27FC236}">
                <a16:creationId xmlns:a16="http://schemas.microsoft.com/office/drawing/2014/main" id="{41F94B2A-02B2-B0F4-A0D7-E0C28ADB20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1396" y="2773061"/>
            <a:ext cx="0" cy="28432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D3927F88-BBC3-7136-687E-A22E77E202F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0709" y="2701624"/>
            <a:ext cx="0" cy="28432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9712553C-CBD7-F93A-05B7-47B61DD696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3671" y="2736549"/>
            <a:ext cx="0" cy="28432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49745A92-F953-3119-86B4-5859E67EFE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0759" y="2736549"/>
            <a:ext cx="0" cy="28432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B36C9D3D-877B-51A2-8986-CF56069324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5946" y="2736549"/>
            <a:ext cx="0" cy="28432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22ACEAF1-61C9-ACF2-4809-8780A83B90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9546" y="2736549"/>
            <a:ext cx="0" cy="28432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F57FFC1A-F642-25C5-D52B-B1C46DC43FF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3146" y="2773061"/>
            <a:ext cx="0" cy="28432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94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7D1C13-E49D-4509-9B79-976DFF8B6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触发器逻辑功能转换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0D69B9-19AA-BEDB-DDD5-96A3116E4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ct val="30000"/>
              </a:spcBef>
            </a:pPr>
            <a:r>
              <a:rPr kumimoji="1" lang="zh-CN" altLang="en-US" dirty="0"/>
              <a:t>利用某种功能触发器来构造不同功能的触发器</a:t>
            </a:r>
          </a:p>
          <a:p>
            <a:pPr lvl="1">
              <a:lnSpc>
                <a:spcPct val="110000"/>
              </a:lnSpc>
              <a:spcBef>
                <a:spcPct val="30000"/>
              </a:spcBef>
            </a:pPr>
            <a:r>
              <a:rPr kumimoji="1" lang="zh-CN" altLang="en-US" dirty="0"/>
              <a:t>根据两种触发器的特性方程，求解转换电路的逻辑函数式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7718E31-03DD-80A3-CCD3-B2426B85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45849C3-316D-39D1-0077-AE202E9C5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19</a:t>
            </a:fld>
            <a:r>
              <a:rPr lang="en-US" altLang="zh-CN" dirty="0"/>
              <a:t>/29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0FDB9B73-AE8C-0715-C304-D2575869CD1B}"/>
              </a:ext>
            </a:extLst>
          </p:cNvPr>
          <p:cNvGrpSpPr>
            <a:grpSpLocks/>
          </p:cNvGrpSpPr>
          <p:nvPr/>
        </p:nvGrpSpPr>
        <p:grpSpPr bwMode="auto">
          <a:xfrm>
            <a:off x="1998345" y="2593051"/>
            <a:ext cx="5476875" cy="2562225"/>
            <a:chOff x="995" y="2224"/>
            <a:chExt cx="3450" cy="1614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EBA50997-43F5-C753-922F-D773E502C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2523"/>
              <a:ext cx="862" cy="72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>
                  <a:latin typeface="Arial" panose="020B0604020202020204" pitchFamily="34" charset="0"/>
                </a:rPr>
                <a:t>触发器</a:t>
              </a: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3EC59F62-22A3-98FD-6BFD-35FBE3E5C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9" y="2512"/>
              <a:ext cx="72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3993E41F-9725-EEAC-25B6-BA94E6CA75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9" y="2704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E1C068AE-D3DE-4EB4-98C3-FC47CDF7F8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9" y="3088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4E4A109F-4C15-E6B0-E723-F124222F8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9" y="2704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4118B9ED-15EA-881C-4EDF-CFC04DE6D4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9" y="3088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09AD4554-B603-081D-1783-D79A3B992C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7" y="2704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D961D0F6-8F27-2F83-9978-27043C5CF5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7" y="3040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69A5F576-C423-A072-9B68-9BCB1EA952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3" y="2320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5AD9E5CA-BF60-A100-304E-98E072D7BF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3" y="2320"/>
              <a:ext cx="19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368CB51A-CB96-C7EB-B575-00E8200798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3" y="232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AA8E0528-9EC6-E74D-1B75-5EA488700A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3" y="3088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E8BEEA2F-10DB-E973-8CAF-94CA675697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5" y="3424"/>
              <a:ext cx="19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2206B518-EECF-CC21-1970-0FAA08992A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5" y="3232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Box 19">
              <a:extLst>
                <a:ext uri="{FF2B5EF4-FFF2-40B4-BE49-F238E27FC236}">
                  <a16:creationId xmlns:a16="http://schemas.microsoft.com/office/drawing/2014/main" id="{97F3B500-F5EA-3D3C-AE58-DBEAEED20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5" y="2560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X</a:t>
              </a:r>
            </a:p>
          </p:txBody>
        </p:sp>
        <p:sp>
          <p:nvSpPr>
            <p:cNvPr id="22" name="Text Box 20">
              <a:extLst>
                <a:ext uri="{FF2B5EF4-FFF2-40B4-BE49-F238E27FC236}">
                  <a16:creationId xmlns:a16="http://schemas.microsoft.com/office/drawing/2014/main" id="{CEE40B2A-7313-86FA-36CA-DFC1887B0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5" y="2934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Y</a:t>
              </a:r>
            </a:p>
          </p:txBody>
        </p:sp>
        <p:sp>
          <p:nvSpPr>
            <p:cNvPr id="23" name="Text Box 21">
              <a:extLst>
                <a:ext uri="{FF2B5EF4-FFF2-40B4-BE49-F238E27FC236}">
                  <a16:creationId xmlns:a16="http://schemas.microsoft.com/office/drawing/2014/main" id="{E786B823-D67D-443B-C152-0ED42D5DDA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9" y="2455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A</a:t>
              </a:r>
            </a:p>
          </p:txBody>
        </p:sp>
        <p:sp>
          <p:nvSpPr>
            <p:cNvPr id="24" name="Text Box 22">
              <a:extLst>
                <a:ext uri="{FF2B5EF4-FFF2-40B4-BE49-F238E27FC236}">
                  <a16:creationId xmlns:a16="http://schemas.microsoft.com/office/drawing/2014/main" id="{088F1F26-7117-8612-68C8-172B9775DE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6" y="2854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B</a:t>
              </a:r>
            </a:p>
          </p:txBody>
        </p:sp>
        <p:sp>
          <p:nvSpPr>
            <p:cNvPr id="25" name="Text Box 23">
              <a:extLst>
                <a:ext uri="{FF2B5EF4-FFF2-40B4-BE49-F238E27FC236}">
                  <a16:creationId xmlns:a16="http://schemas.microsoft.com/office/drawing/2014/main" id="{90EE6BC9-D29A-4D36-7B58-37BA86B18B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1" y="256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26" name="Text Box 24">
              <a:extLst>
                <a:ext uri="{FF2B5EF4-FFF2-40B4-BE49-F238E27FC236}">
                  <a16:creationId xmlns:a16="http://schemas.microsoft.com/office/drawing/2014/main" id="{322547FF-7175-6586-4ED5-DE0F2D422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5" y="2958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AE1B1D51-1582-E1D1-5788-B7926F2299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7" y="2992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4C566323-640D-843A-CC6E-5433E8D994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2795"/>
              <a:ext cx="94" cy="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7861B68B-D072-351E-C680-E439CA952D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5" y="2886"/>
              <a:ext cx="9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2145FE8C-5789-D407-5E76-EFC93F0C19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3" y="289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F2B45837-65EB-726B-63F6-4A9E459D8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7" y="2224"/>
              <a:ext cx="2640" cy="129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2" name="Text Box 30">
              <a:extLst>
                <a:ext uri="{FF2B5EF4-FFF2-40B4-BE49-F238E27FC236}">
                  <a16:creationId xmlns:a16="http://schemas.microsoft.com/office/drawing/2014/main" id="{EF2B4063-902D-5B37-BCE7-DBDC4F56C5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9" y="3588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C</a:t>
              </a:r>
            </a:p>
          </p:txBody>
        </p:sp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DEB4F0C7-7AFE-4D08-0EE0-9F94148194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1" y="2896"/>
              <a:ext cx="0" cy="7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Rectangle 32">
              <a:extLst>
                <a:ext uri="{FF2B5EF4-FFF2-40B4-BE49-F238E27FC236}">
                  <a16:creationId xmlns:a16="http://schemas.microsoft.com/office/drawing/2014/main" id="{357DEBC9-6624-0962-D9BC-84EFD16CF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0" y="2523"/>
              <a:ext cx="748" cy="70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>
                  <a:latin typeface="Arial" panose="020B0604020202020204" pitchFamily="34" charset="0"/>
                </a:rPr>
                <a:t>转换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>
                  <a:latin typeface="Arial" panose="020B0604020202020204" pitchFamily="34" charset="0"/>
                </a:rPr>
                <a:t>电路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3027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BFC61-BC40-FD27-16D1-D49F8F396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</a:t>
            </a:r>
            <a:r>
              <a:rPr lang="zh-CN" altLang="en-US" dirty="0"/>
              <a:t>触发器构成</a:t>
            </a:r>
            <a:r>
              <a:rPr lang="en-US" altLang="zh-CN" dirty="0"/>
              <a:t>JK</a:t>
            </a:r>
            <a:r>
              <a:rPr lang="zh-CN" altLang="en-US" dirty="0"/>
              <a:t>触发器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51763D-D085-D41C-C856-2B502551D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385958-9EA1-0B83-9EFF-49A5272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20</a:t>
            </a:fld>
            <a:r>
              <a:rPr lang="en-US" altLang="zh-CN" dirty="0"/>
              <a:t>/29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7F4141C-E1F1-0DC3-F53C-669593207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3810" y="1553894"/>
            <a:ext cx="877887" cy="8318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/>
              <a:t>组合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/>
              <a:t>电路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32788F2C-0082-F6D9-53B7-15FC57C0C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3972" y="1420544"/>
            <a:ext cx="869950" cy="1116013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CC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endParaRPr lang="zh-CN" altLang="en-US" sz="2400" b="0">
              <a:solidFill>
                <a:srgbClr val="000066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14922EB-2E1F-503B-3A83-285577FFB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5" y="1995219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ea typeface="楷体_GB2312" pitchFamily="49" charset="-122"/>
              </a:rPr>
              <a:t>K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64E918E-7D60-A147-7759-632F073A1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210" y="1466582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ea typeface="楷体_GB2312" pitchFamily="49" charset="-122"/>
              </a:rPr>
              <a:t>J</a:t>
            </a:r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F853BDB3-77E1-1D81-8141-9279161CE67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985" y="1730107"/>
            <a:ext cx="541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6A5664C6-C844-8193-5263-2B54C62C054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985" y="2223819"/>
            <a:ext cx="5349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AutoShape 9">
            <a:extLst>
              <a:ext uri="{FF2B5EF4-FFF2-40B4-BE49-F238E27FC236}">
                <a16:creationId xmlns:a16="http://schemas.microsoft.com/office/drawing/2014/main" id="{9CF8C84E-AEA2-F6B3-EC6B-D69B5F821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910" y="1203057"/>
            <a:ext cx="2555875" cy="1512887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00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endParaRPr lang="zh-CN" altLang="en-US" sz="2400" b="0">
              <a:solidFill>
                <a:srgbClr val="000066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12FA4FE1-0BFD-C9CC-2B85-BC72C9539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760" y="3127644"/>
            <a:ext cx="1873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tabLst>
                <a:tab pos="5130800" algn="r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tabLst>
                <a:tab pos="5130800" algn="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tabLst>
                <a:tab pos="5130800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tabLst>
                <a:tab pos="5130800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tabLst>
                <a:tab pos="5130800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5130800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5130800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5130800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5130800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dirty="0">
                <a:ea typeface="楷体_GB2312" pitchFamily="49" charset="-122"/>
              </a:rPr>
              <a:t>Q</a:t>
            </a:r>
            <a:r>
              <a:rPr lang="en-US" altLang="zh-CN" baseline="30000" dirty="0">
                <a:ea typeface="楷体_GB2312" pitchFamily="49" charset="-122"/>
              </a:rPr>
              <a:t>n+1</a:t>
            </a:r>
            <a:r>
              <a:rPr lang="en-US" altLang="zh-CN" dirty="0">
                <a:ea typeface="楷体_GB2312" pitchFamily="49" charset="-122"/>
              </a:rPr>
              <a:t> = D</a:t>
            </a:r>
            <a:r>
              <a:rPr lang="en-US" altLang="zh-CN" sz="2400" b="0" dirty="0">
                <a:latin typeface="Tahoma" panose="020B0604030504040204" pitchFamily="34" charset="0"/>
                <a:ea typeface="楷体_GB2312" pitchFamily="49" charset="-122"/>
              </a:rPr>
              <a:t>	 </a:t>
            </a:r>
          </a:p>
        </p:txBody>
      </p:sp>
      <p:graphicFrame>
        <p:nvGraphicFramePr>
          <p:cNvPr id="14" name="Object 11">
            <a:extLst>
              <a:ext uri="{FF2B5EF4-FFF2-40B4-BE49-F238E27FC236}">
                <a16:creationId xmlns:a16="http://schemas.microsoft.com/office/drawing/2014/main" id="{EF17CB46-D97A-23F8-94D2-F8FC8BF1A4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335508"/>
              </p:ext>
            </p:extLst>
          </p:nvPr>
        </p:nvGraphicFramePr>
        <p:xfrm>
          <a:off x="4684395" y="3137205"/>
          <a:ext cx="4754563" cy="230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2438400" imgH="889000" progId="Word.Picture.8">
                  <p:embed/>
                </p:oleObj>
              </mc:Choice>
              <mc:Fallback>
                <p:oleObj name="图片" r:id="rId2" imgW="2438400" imgH="889000" progId="Word.Picture.8">
                  <p:embed/>
                  <p:pic>
                    <p:nvPicPr>
                      <p:cNvPr id="3175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395" y="3137205"/>
                        <a:ext cx="4754563" cy="230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2">
            <a:extLst>
              <a:ext uri="{FF2B5EF4-FFF2-40B4-BE49-F238E27FC236}">
                <a16:creationId xmlns:a16="http://schemas.microsoft.com/office/drawing/2014/main" id="{CA9C4B1A-6BC0-456D-2A02-12E3C91477C0}"/>
              </a:ext>
            </a:extLst>
          </p:cNvPr>
          <p:cNvGrpSpPr>
            <a:grpSpLocks/>
          </p:cNvGrpSpPr>
          <p:nvPr/>
        </p:nvGrpSpPr>
        <p:grpSpPr bwMode="auto">
          <a:xfrm>
            <a:off x="691835" y="3942031"/>
            <a:ext cx="3492500" cy="519113"/>
            <a:chOff x="1134" y="3594"/>
            <a:chExt cx="2200" cy="327"/>
          </a:xfrm>
        </p:grpSpPr>
        <p:sp>
          <p:nvSpPr>
            <p:cNvPr id="16" name="Text Box 13">
              <a:extLst>
                <a:ext uri="{FF2B5EF4-FFF2-40B4-BE49-F238E27FC236}">
                  <a16:creationId xmlns:a16="http://schemas.microsoft.com/office/drawing/2014/main" id="{9133482C-C9DD-19FD-6D86-995106702E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4" y="3594"/>
              <a:ext cx="22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/>
                <a:t>Q</a:t>
              </a:r>
              <a:r>
                <a:rPr kumimoji="1" lang="en-US" altLang="zh-CN" baseline="30000"/>
                <a:t>n+1</a:t>
              </a:r>
              <a:r>
                <a:rPr kumimoji="1" lang="en-US" altLang="zh-CN"/>
                <a:t> = J Q</a:t>
              </a:r>
              <a:r>
                <a:rPr kumimoji="1" lang="en-US" altLang="zh-CN" baseline="30000"/>
                <a:t>n</a:t>
              </a:r>
              <a:r>
                <a:rPr kumimoji="1" lang="en-US" altLang="zh-CN"/>
                <a:t> + K Q</a:t>
              </a:r>
              <a:r>
                <a:rPr kumimoji="1" lang="en-US" altLang="zh-CN" baseline="30000"/>
                <a:t>n</a:t>
              </a:r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798C3279-FFF7-16FE-89F9-91F69ACBE3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1" y="3634"/>
              <a:ext cx="2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0C710D87-8A5E-BD22-68A1-34BD55FC64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" y="3634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" name="Group 16">
            <a:extLst>
              <a:ext uri="{FF2B5EF4-FFF2-40B4-BE49-F238E27FC236}">
                <a16:creationId xmlns:a16="http://schemas.microsoft.com/office/drawing/2014/main" id="{603D6D46-45FF-5C5A-704E-F2AD7AFBBFDC}"/>
              </a:ext>
            </a:extLst>
          </p:cNvPr>
          <p:cNvGrpSpPr>
            <a:grpSpLocks/>
          </p:cNvGrpSpPr>
          <p:nvPr/>
        </p:nvGrpSpPr>
        <p:grpSpPr bwMode="auto">
          <a:xfrm>
            <a:off x="726760" y="4784994"/>
            <a:ext cx="3492500" cy="519112"/>
            <a:chOff x="3311" y="2205"/>
            <a:chExt cx="2200" cy="327"/>
          </a:xfrm>
        </p:grpSpPr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8DBF5C52-71D8-5176-2746-A468C33B5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1" y="2205"/>
              <a:ext cx="22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/>
                <a:t>D = J Q</a:t>
              </a:r>
              <a:r>
                <a:rPr kumimoji="1" lang="en-US" altLang="zh-CN" baseline="30000"/>
                <a:t>n</a:t>
              </a:r>
              <a:r>
                <a:rPr kumimoji="1" lang="en-US" altLang="zh-CN"/>
                <a:t> + K Q</a:t>
              </a:r>
              <a:r>
                <a:rPr kumimoji="1" lang="en-US" altLang="zh-CN" baseline="30000"/>
                <a:t>n</a:t>
              </a:r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3B070CCF-BB2F-599D-FD14-C19E7886E3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2245"/>
              <a:ext cx="2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0C0C6C0D-5824-0E06-6387-26DB401DEA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2245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" name="Rectangle 20">
            <a:extLst>
              <a:ext uri="{FF2B5EF4-FFF2-40B4-BE49-F238E27FC236}">
                <a16:creationId xmlns:a16="http://schemas.microsoft.com/office/drawing/2014/main" id="{847E9CEA-A85F-241E-BA6D-5D89F0418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560" y="1491982"/>
            <a:ext cx="714375" cy="9763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FE98CC8B-AEAB-54B2-BD68-6592E4F6B1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3922" y="1723757"/>
            <a:ext cx="4016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3616677B-81BC-22CB-3D9A-B139B9C198B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8385" y="2212707"/>
            <a:ext cx="2508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68E3E85E-1A11-D9DC-7D23-619E6D5D3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9935" y="1723757"/>
            <a:ext cx="539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F0C8424C-EBFC-B623-0974-DD8BBF0B43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5335" y="2207944"/>
            <a:ext cx="5143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Box 25">
            <a:extLst>
              <a:ext uri="{FF2B5EF4-FFF2-40B4-BE49-F238E27FC236}">
                <a16:creationId xmlns:a16="http://schemas.microsoft.com/office/drawing/2014/main" id="{7D8D79B5-EF10-C33D-B7DB-D82B75110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1272" y="1530082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D</a:t>
            </a:r>
            <a:endParaRPr kumimoji="1" lang="en-US" altLang="zh-CN" sz="1600">
              <a:ea typeface="楷体_GB2312" pitchFamily="49" charset="-122"/>
            </a:endParaRPr>
          </a:p>
        </p:txBody>
      </p:sp>
      <p:sp>
        <p:nvSpPr>
          <p:cNvPr id="29" name="Text Box 26">
            <a:extLst>
              <a:ext uri="{FF2B5EF4-FFF2-40B4-BE49-F238E27FC236}">
                <a16:creationId xmlns:a16="http://schemas.microsoft.com/office/drawing/2014/main" id="{B81C5933-3580-9B4B-416F-B33E4CA50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6510" y="1491982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</a:p>
        </p:txBody>
      </p:sp>
      <p:sp>
        <p:nvSpPr>
          <p:cNvPr id="30" name="Text Box 27">
            <a:extLst>
              <a:ext uri="{FF2B5EF4-FFF2-40B4-BE49-F238E27FC236}">
                <a16:creationId xmlns:a16="http://schemas.microsoft.com/office/drawing/2014/main" id="{19C99D9F-43EE-20C7-AEC6-ED99B7E8C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0797" y="1969819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D6EEB32A-2D37-7549-B819-13C9DDA7EF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4460" y="2065069"/>
            <a:ext cx="2524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2" name="Group 29">
            <a:extLst>
              <a:ext uri="{FF2B5EF4-FFF2-40B4-BE49-F238E27FC236}">
                <a16:creationId xmlns:a16="http://schemas.microsoft.com/office/drawing/2014/main" id="{62B875E7-DA00-22F6-5F85-533687E5E3DA}"/>
              </a:ext>
            </a:extLst>
          </p:cNvPr>
          <p:cNvGrpSpPr>
            <a:grpSpLocks/>
          </p:cNvGrpSpPr>
          <p:nvPr/>
        </p:nvGrpSpPr>
        <p:grpSpPr bwMode="auto">
          <a:xfrm>
            <a:off x="2549210" y="2104757"/>
            <a:ext cx="120650" cy="215900"/>
            <a:chOff x="1931" y="1834"/>
            <a:chExt cx="80" cy="144"/>
          </a:xfrm>
        </p:grpSpPr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C46FF5F3-B58C-E89F-73E3-00476CA59C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1" y="1834"/>
              <a:ext cx="80" cy="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20B1C74D-C13E-E9DB-2697-DD2F36A8DA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1" y="1905"/>
              <a:ext cx="80" cy="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" name="Oval 32">
            <a:extLst>
              <a:ext uri="{FF2B5EF4-FFF2-40B4-BE49-F238E27FC236}">
                <a16:creationId xmlns:a16="http://schemas.microsoft.com/office/drawing/2014/main" id="{1C76EE25-70D7-8B1B-13CD-667607CF3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1522" y="2139682"/>
            <a:ext cx="142875" cy="1428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36" name="Group 33">
            <a:extLst>
              <a:ext uri="{FF2B5EF4-FFF2-40B4-BE49-F238E27FC236}">
                <a16:creationId xmlns:a16="http://schemas.microsoft.com/office/drawing/2014/main" id="{FD879038-B0F7-1148-974C-EA5C948D5B6B}"/>
              </a:ext>
            </a:extLst>
          </p:cNvPr>
          <p:cNvGrpSpPr>
            <a:grpSpLocks/>
          </p:cNvGrpSpPr>
          <p:nvPr/>
        </p:nvGrpSpPr>
        <p:grpSpPr bwMode="auto">
          <a:xfrm>
            <a:off x="7816533" y="654759"/>
            <a:ext cx="1949450" cy="1152525"/>
            <a:chOff x="2631" y="1162"/>
            <a:chExt cx="1228" cy="726"/>
          </a:xfrm>
        </p:grpSpPr>
        <p:sp>
          <p:nvSpPr>
            <p:cNvPr id="37" name="Rectangle 34">
              <a:extLst>
                <a:ext uri="{FF2B5EF4-FFF2-40B4-BE49-F238E27FC236}">
                  <a16:creationId xmlns:a16="http://schemas.microsoft.com/office/drawing/2014/main" id="{4A7EFF65-1D94-B007-BE1F-B8E2CE5FE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6" y="1162"/>
              <a:ext cx="450" cy="7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CA4051E9-AE04-EA10-295E-8DA2B9CB42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3" y="1315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36">
              <a:extLst>
                <a:ext uri="{FF2B5EF4-FFF2-40B4-BE49-F238E27FC236}">
                  <a16:creationId xmlns:a16="http://schemas.microsoft.com/office/drawing/2014/main" id="{01E8016C-3F51-B1D7-EDAF-A70A9DA641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3" y="1523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1B79EFCB-A185-AA20-C903-049246A946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1315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F0168AC4-7F9C-81BA-97F1-EAFAC3C7C9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" y="1728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 Box 39">
              <a:extLst>
                <a:ext uri="{FF2B5EF4-FFF2-40B4-BE49-F238E27FC236}">
                  <a16:creationId xmlns:a16="http://schemas.microsoft.com/office/drawing/2014/main" id="{A64290CF-8BFA-FDCE-7BAF-8C8A30AADC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7" y="1169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J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43" name="Text Box 40">
              <a:extLst>
                <a:ext uri="{FF2B5EF4-FFF2-40B4-BE49-F238E27FC236}">
                  <a16:creationId xmlns:a16="http://schemas.microsoft.com/office/drawing/2014/main" id="{3FE57F0D-6F52-F892-EB12-8CC730A48A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5" y="1169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44" name="Text Box 41">
              <a:extLst>
                <a:ext uri="{FF2B5EF4-FFF2-40B4-BE49-F238E27FC236}">
                  <a16:creationId xmlns:a16="http://schemas.microsoft.com/office/drawing/2014/main" id="{30B6B3D4-35A6-7E77-CE75-FE4E89255D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4" y="1578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B5CBE485-F6EC-6681-44EC-171853DA42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3" y="1638"/>
              <a:ext cx="1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305DF66D-3E0D-265B-44EC-A68B294FB0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6" y="1449"/>
              <a:ext cx="80" cy="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44">
              <a:extLst>
                <a:ext uri="{FF2B5EF4-FFF2-40B4-BE49-F238E27FC236}">
                  <a16:creationId xmlns:a16="http://schemas.microsoft.com/office/drawing/2014/main" id="{B41F241A-0331-098B-B217-EF52768837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6" y="1520"/>
              <a:ext cx="80" cy="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Oval 45">
              <a:extLst>
                <a:ext uri="{FF2B5EF4-FFF2-40B4-BE49-F238E27FC236}">
                  <a16:creationId xmlns:a16="http://schemas.microsoft.com/office/drawing/2014/main" id="{3E4F4995-85F1-4558-5031-D8D51F96B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7" y="1685"/>
              <a:ext cx="90" cy="9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9" name="Line 46">
              <a:extLst>
                <a:ext uri="{FF2B5EF4-FFF2-40B4-BE49-F238E27FC236}">
                  <a16:creationId xmlns:a16="http://schemas.microsoft.com/office/drawing/2014/main" id="{C5A5321B-D43D-D903-42F0-3082C10BB6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1" y="1724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 Box 47">
              <a:extLst>
                <a:ext uri="{FF2B5EF4-FFF2-40B4-BE49-F238E27FC236}">
                  <a16:creationId xmlns:a16="http://schemas.microsoft.com/office/drawing/2014/main" id="{8EAF6438-A429-257D-CE58-3EB0A91DF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5" y="1578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K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3950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D927E8-FEC7-40F0-46FD-C34A1FBCF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</a:t>
            </a:r>
            <a:r>
              <a:rPr lang="zh-CN" altLang="en-US" dirty="0"/>
              <a:t>触发器构成</a:t>
            </a:r>
            <a:r>
              <a:rPr lang="en-US" altLang="zh-CN" dirty="0"/>
              <a:t>T</a:t>
            </a:r>
            <a:r>
              <a:rPr lang="zh-CN" altLang="en-US" dirty="0"/>
              <a:t>触发器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4E32CA9-3F22-F81A-AB2E-FF5EBDDD7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19CEB3-026E-418E-AAF1-00AB85DCC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21</a:t>
            </a:fld>
            <a:r>
              <a:rPr lang="en-US" altLang="zh-CN" dirty="0"/>
              <a:t>/29</a:t>
            </a:r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3B3D088-3F48-AB67-0C20-C9CB368B0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38" y="3135570"/>
            <a:ext cx="1873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tabLst>
                <a:tab pos="5130800" algn="r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tabLst>
                <a:tab pos="5130800" algn="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tabLst>
                <a:tab pos="5130800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tabLst>
                <a:tab pos="5130800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tabLst>
                <a:tab pos="5130800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5130800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5130800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5130800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5130800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i="1" dirty="0">
                <a:ea typeface="楷体_GB2312" pitchFamily="49" charset="-122"/>
              </a:rPr>
              <a:t>Q</a:t>
            </a:r>
            <a:r>
              <a:rPr lang="en-US" altLang="zh-CN" i="1" baseline="30000" dirty="0">
                <a:ea typeface="楷体_GB2312" pitchFamily="49" charset="-122"/>
              </a:rPr>
              <a:t>n</a:t>
            </a:r>
            <a:r>
              <a:rPr lang="en-US" altLang="zh-CN" baseline="30000" dirty="0">
                <a:ea typeface="楷体_GB2312" pitchFamily="49" charset="-122"/>
              </a:rPr>
              <a:t>+1</a:t>
            </a:r>
            <a:r>
              <a:rPr lang="en-US" altLang="zh-CN" dirty="0">
                <a:ea typeface="楷体_GB2312" pitchFamily="49" charset="-122"/>
              </a:rPr>
              <a:t> = </a:t>
            </a:r>
            <a:r>
              <a:rPr lang="en-US" altLang="zh-CN" i="1" dirty="0">
                <a:ea typeface="楷体_GB2312" pitchFamily="49" charset="-122"/>
              </a:rPr>
              <a:t>D</a:t>
            </a:r>
            <a:r>
              <a:rPr lang="en-US" altLang="zh-CN" sz="2400" b="0" dirty="0">
                <a:latin typeface="Tahoma" panose="020B0604030504040204" pitchFamily="34" charset="0"/>
                <a:ea typeface="楷体_GB2312" pitchFamily="49" charset="-122"/>
              </a:rPr>
              <a:t>	 </a:t>
            </a: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3D9B7121-4690-81CB-F8C0-793DD8D7E4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2881539"/>
              </p:ext>
            </p:extLst>
          </p:nvPr>
        </p:nvGraphicFramePr>
        <p:xfrm>
          <a:off x="1051876" y="3754695"/>
          <a:ext cx="2852737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079032" imgH="253890" progId="Equation.3">
                  <p:embed/>
                </p:oleObj>
              </mc:Choice>
              <mc:Fallback>
                <p:oleObj name="公式" r:id="rId3" imgW="1079032" imgH="253890" progId="Equation.3">
                  <p:embed/>
                  <p:pic>
                    <p:nvPicPr>
                      <p:cNvPr id="3277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1876" y="3754695"/>
                        <a:ext cx="2852737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2927383D-4F16-4099-9CC4-26CE4B896F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066055"/>
              </p:ext>
            </p:extLst>
          </p:nvPr>
        </p:nvGraphicFramePr>
        <p:xfrm>
          <a:off x="5524578" y="2617162"/>
          <a:ext cx="3784600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5" imgW="1485520" imgH="642510" progId="Word.Picture.8">
                  <p:embed/>
                </p:oleObj>
              </mc:Choice>
              <mc:Fallback>
                <p:oleObj name="图片" r:id="rId5" imgW="1485520" imgH="642510" progId="Word.Picture.8">
                  <p:embed/>
                  <p:pic>
                    <p:nvPicPr>
                      <p:cNvPr id="3277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78" y="2617162"/>
                        <a:ext cx="3784600" cy="163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29409485-0BE7-4D3E-E094-AE0EE70EB7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1120951"/>
              </p:ext>
            </p:extLst>
          </p:nvPr>
        </p:nvGraphicFramePr>
        <p:xfrm>
          <a:off x="5538343" y="4684900"/>
          <a:ext cx="3816350" cy="1443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7" imgW="1485520" imgH="562007" progId="Word.Picture.8">
                  <p:embed/>
                </p:oleObj>
              </mc:Choice>
              <mc:Fallback>
                <p:oleObj name="图片" r:id="rId7" imgW="1485520" imgH="562007" progId="Word.Picture.8">
                  <p:embed/>
                  <p:pic>
                    <p:nvPicPr>
                      <p:cNvPr id="3277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8343" y="4684900"/>
                        <a:ext cx="3816350" cy="1443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305E051E-4266-ADEF-DE75-D693B7B7B9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442726"/>
              </p:ext>
            </p:extLst>
          </p:nvPr>
        </p:nvGraphicFramePr>
        <p:xfrm>
          <a:off x="2113914" y="1478220"/>
          <a:ext cx="2214562" cy="135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9" imgW="1171100" imgH="524033" progId="Word.Picture.8">
                  <p:embed/>
                </p:oleObj>
              </mc:Choice>
              <mc:Fallback>
                <p:oleObj name="图片" r:id="rId9" imgW="1171100" imgH="524033" progId="Word.Picture.8">
                  <p:embed/>
                  <p:pic>
                    <p:nvPicPr>
                      <p:cNvPr id="3277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3914" y="1478220"/>
                        <a:ext cx="2214562" cy="1357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9">
            <a:extLst>
              <a:ext uri="{FF2B5EF4-FFF2-40B4-BE49-F238E27FC236}">
                <a16:creationId xmlns:a16="http://schemas.microsoft.com/office/drawing/2014/main" id="{0E723223-89CE-6AD6-07B0-64A1AF4C8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0651" y="1551245"/>
            <a:ext cx="806450" cy="8318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solidFill>
                  <a:srgbClr val="000066"/>
                </a:solidFill>
              </a:rPr>
              <a:t>组合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solidFill>
                  <a:srgbClr val="000066"/>
                </a:solidFill>
              </a:rPr>
              <a:t>电路</a:t>
            </a:r>
          </a:p>
        </p:txBody>
      </p:sp>
      <p:sp>
        <p:nvSpPr>
          <p:cNvPr id="12" name="AutoShape 10">
            <a:extLst>
              <a:ext uri="{FF2B5EF4-FFF2-40B4-BE49-F238E27FC236}">
                <a16:creationId xmlns:a16="http://schemas.microsoft.com/office/drawing/2014/main" id="{EE7061D4-C2AD-7C35-B892-EE70F30D4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214" y="1406783"/>
            <a:ext cx="971550" cy="1116012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CC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endParaRPr lang="zh-CN" altLang="en-US" sz="2400" b="0">
              <a:solidFill>
                <a:srgbClr val="000066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D40571-E8C0-A4BF-A764-BDF0493EF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739" y="151632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66"/>
                </a:solidFill>
                <a:ea typeface="楷体_GB2312" pitchFamily="49" charset="-122"/>
              </a:rPr>
              <a:t>T</a:t>
            </a:r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2A175EC3-F229-3CBE-CCC3-2FDF9D7805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026" y="1767145"/>
            <a:ext cx="6127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AutoShape 13">
            <a:extLst>
              <a:ext uri="{FF2B5EF4-FFF2-40B4-BE49-F238E27FC236}">
                <a16:creationId xmlns:a16="http://schemas.microsoft.com/office/drawing/2014/main" id="{55D4A766-A08B-F5C7-B6ED-86447F66B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876" y="1154370"/>
            <a:ext cx="2700338" cy="1728788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00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endParaRPr lang="zh-CN" altLang="en-US" sz="2400" b="0">
              <a:solidFill>
                <a:srgbClr val="000066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grpSp>
        <p:nvGrpSpPr>
          <p:cNvPr id="16" name="Group 14">
            <a:extLst>
              <a:ext uri="{FF2B5EF4-FFF2-40B4-BE49-F238E27FC236}">
                <a16:creationId xmlns:a16="http://schemas.microsoft.com/office/drawing/2014/main" id="{CAD19896-1674-F1DF-F57C-3EFFCBE9AC27}"/>
              </a:ext>
            </a:extLst>
          </p:cNvPr>
          <p:cNvGrpSpPr>
            <a:grpSpLocks/>
          </p:cNvGrpSpPr>
          <p:nvPr/>
        </p:nvGrpSpPr>
        <p:grpSpPr bwMode="auto">
          <a:xfrm>
            <a:off x="7292975" y="904607"/>
            <a:ext cx="1860550" cy="1085850"/>
            <a:chOff x="2809" y="1094"/>
            <a:chExt cx="1244" cy="726"/>
          </a:xfrm>
        </p:grpSpPr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55EA1A6F-566C-6187-DD02-9B5FC3190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4" y="1094"/>
              <a:ext cx="450" cy="7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724CA057-AA79-9BF6-8DA1-0EF6DDB55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1" y="1247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5F47C913-B17B-E3B5-72A7-9975A08A7D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4" y="1247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BE3513BD-2E82-3280-B0F2-AD9DD156BB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0" y="1660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Box 19">
              <a:extLst>
                <a:ext uri="{FF2B5EF4-FFF2-40B4-BE49-F238E27FC236}">
                  <a16:creationId xmlns:a16="http://schemas.microsoft.com/office/drawing/2014/main" id="{91504EC1-57C2-9404-C53A-81BED180AA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5" y="1101"/>
              <a:ext cx="224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T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22" name="Text Box 20">
              <a:extLst>
                <a:ext uri="{FF2B5EF4-FFF2-40B4-BE49-F238E27FC236}">
                  <a16:creationId xmlns:a16="http://schemas.microsoft.com/office/drawing/2014/main" id="{C62DB571-1C1C-211D-1F06-A9B1919402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3" y="1101"/>
              <a:ext cx="282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23" name="Text Box 21">
              <a:extLst>
                <a:ext uri="{FF2B5EF4-FFF2-40B4-BE49-F238E27FC236}">
                  <a16:creationId xmlns:a16="http://schemas.microsoft.com/office/drawing/2014/main" id="{455D19D8-42F2-F759-EC72-048D8B1EAC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2" y="1510"/>
              <a:ext cx="281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4E0AB372-F623-C6FD-70B9-B21E4C97B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1" y="1570"/>
              <a:ext cx="1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6322AB32-EE6F-9E2F-CCE5-CCEA10AE60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4" y="1585"/>
              <a:ext cx="80" cy="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EE68EF9E-8587-A48E-005D-838CA49BCC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4" y="1656"/>
              <a:ext cx="80" cy="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Oval 25">
              <a:extLst>
                <a:ext uri="{FF2B5EF4-FFF2-40B4-BE49-F238E27FC236}">
                  <a16:creationId xmlns:a16="http://schemas.microsoft.com/office/drawing/2014/main" id="{1AAA9A13-2ED4-794F-E28C-F33C78FF0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1617"/>
              <a:ext cx="90" cy="9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2D80EFCF-EC89-35EA-AAAA-E70B3038FF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9" y="1656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9" name="Object 6">
            <a:extLst>
              <a:ext uri="{FF2B5EF4-FFF2-40B4-BE49-F238E27FC236}">
                <a16:creationId xmlns:a16="http://schemas.microsoft.com/office/drawing/2014/main" id="{F6BC8876-410F-7D4F-50EB-9175DBB7C0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726797"/>
              </p:ext>
            </p:extLst>
          </p:nvPr>
        </p:nvGraphicFramePr>
        <p:xfrm>
          <a:off x="1016951" y="4595594"/>
          <a:ext cx="348615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574800" imgH="254000" progId="Equation.3">
                  <p:embed/>
                </p:oleObj>
              </mc:Choice>
              <mc:Fallback>
                <p:oleObj name="公式" r:id="rId11" imgW="1574800" imgH="254000" progId="Equation.3">
                  <p:embed/>
                  <p:pic>
                    <p:nvPicPr>
                      <p:cNvPr id="3278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951" y="4595594"/>
                        <a:ext cx="3486150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9748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435830-4640-CF53-61BC-1FB30B3E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JK</a:t>
            </a:r>
            <a:r>
              <a:rPr lang="zh-CN" altLang="en-US" dirty="0"/>
              <a:t>触发器构成其他触发器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A6FA2FE-0AE7-1662-41D3-6A715347C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FABD97-F6EB-3C1B-84FC-D6B49F005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22</a:t>
            </a:fld>
            <a:r>
              <a:rPr lang="en-US" altLang="zh-CN" dirty="0"/>
              <a:t>/29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824DE71-FFE0-3015-0FF5-7EE701F04AB0}"/>
              </a:ext>
            </a:extLst>
          </p:cNvPr>
          <p:cNvSpPr txBox="1">
            <a:spLocks noChangeArrowheads="1"/>
          </p:cNvSpPr>
          <p:nvPr/>
        </p:nvSpPr>
        <p:spPr>
          <a:xfrm>
            <a:off x="369887" y="940851"/>
            <a:ext cx="2962275" cy="4932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构成</a:t>
            </a:r>
            <a:r>
              <a:rPr lang="en-US" altLang="zh-CN" dirty="0"/>
              <a:t>D</a:t>
            </a:r>
            <a:r>
              <a:rPr lang="zh-CN" altLang="en-US" dirty="0"/>
              <a:t>触发器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J=D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K=D</a:t>
            </a:r>
          </a:p>
          <a:p>
            <a:endParaRPr lang="zh-CN" altLang="en-US" dirty="0"/>
          </a:p>
          <a:p>
            <a:endParaRPr lang="zh-CN" altLang="en-US" sz="2000" dirty="0"/>
          </a:p>
          <a:p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构成</a:t>
            </a:r>
            <a:r>
              <a:rPr lang="en-US" altLang="zh-CN" dirty="0"/>
              <a:t>T</a:t>
            </a:r>
            <a:r>
              <a:rPr lang="zh-CN" altLang="en-US" dirty="0"/>
              <a:t>触发器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J=K=T</a:t>
            </a:r>
          </a:p>
        </p:txBody>
      </p:sp>
      <p:graphicFrame>
        <p:nvGraphicFramePr>
          <p:cNvPr id="7" name="Group 4">
            <a:extLst>
              <a:ext uri="{FF2B5EF4-FFF2-40B4-BE49-F238E27FC236}">
                <a16:creationId xmlns:a16="http://schemas.microsoft.com/office/drawing/2014/main" id="{C1EB8B90-133F-2BC8-9AD6-31D297CAB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281073"/>
              </p:ext>
            </p:extLst>
          </p:nvPr>
        </p:nvGraphicFramePr>
        <p:xfrm>
          <a:off x="5792788" y="1791750"/>
          <a:ext cx="3313113" cy="3683002"/>
        </p:xfrm>
        <a:graphic>
          <a:graphicData uri="http://schemas.openxmlformats.org/drawingml/2006/table">
            <a:tbl>
              <a:tblPr/>
              <a:tblGrid>
                <a:gridCol w="48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3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n</a:t>
                      </a:r>
                      <a:endParaRPr kumimoji="1" lang="zh-CN" altLang="en-US" sz="2400" b="1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n+1</a:t>
                      </a:r>
                      <a:endParaRPr kumimoji="1" lang="zh-CN" altLang="en-US" sz="2400" b="1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说明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清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置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84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翻转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Box 76">
            <a:extLst>
              <a:ext uri="{FF2B5EF4-FFF2-40B4-BE49-F238E27FC236}">
                <a16:creationId xmlns:a16="http://schemas.microsoft.com/office/drawing/2014/main" id="{C426EE3A-B988-A754-4E27-7BF039D27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8688" y="1190088"/>
            <a:ext cx="2773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JK</a:t>
            </a:r>
            <a:r>
              <a:rPr lang="zh-CN" altLang="en-US" sz="2400">
                <a:latin typeface="Arial" panose="020B0604020202020204" pitchFamily="34" charset="0"/>
              </a:rPr>
              <a:t>触发器特性表</a:t>
            </a:r>
          </a:p>
        </p:txBody>
      </p:sp>
      <p:grpSp>
        <p:nvGrpSpPr>
          <p:cNvPr id="9" name="Group 77">
            <a:extLst>
              <a:ext uri="{FF2B5EF4-FFF2-40B4-BE49-F238E27FC236}">
                <a16:creationId xmlns:a16="http://schemas.microsoft.com/office/drawing/2014/main" id="{C21DB053-348E-7C6F-72D8-BFA1B525263F}"/>
              </a:ext>
            </a:extLst>
          </p:cNvPr>
          <p:cNvGrpSpPr>
            <a:grpSpLocks/>
          </p:cNvGrpSpPr>
          <p:nvPr/>
        </p:nvGrpSpPr>
        <p:grpSpPr bwMode="auto">
          <a:xfrm>
            <a:off x="6224588" y="5582700"/>
            <a:ext cx="2592388" cy="457200"/>
            <a:chOff x="3402" y="3702"/>
            <a:chExt cx="1633" cy="288"/>
          </a:xfrm>
        </p:grpSpPr>
        <p:sp>
          <p:nvSpPr>
            <p:cNvPr id="10" name="Text Box 78">
              <a:extLst>
                <a:ext uri="{FF2B5EF4-FFF2-40B4-BE49-F238E27FC236}">
                  <a16:creationId xmlns:a16="http://schemas.microsoft.com/office/drawing/2014/main" id="{2D4B4146-58D1-C1AE-9DCD-22326F0BC9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2" y="3702"/>
              <a:ext cx="16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Q</a:t>
              </a:r>
              <a:r>
                <a:rPr kumimoji="1" lang="en-US" altLang="zh-CN" sz="2400" baseline="40000"/>
                <a:t>n+1</a:t>
              </a:r>
              <a:r>
                <a:rPr kumimoji="1" lang="en-US" altLang="zh-CN" sz="2400"/>
                <a:t> = J Q</a:t>
              </a:r>
              <a:r>
                <a:rPr kumimoji="1" lang="en-US" altLang="zh-CN" sz="2400" baseline="40000"/>
                <a:t>n</a:t>
              </a:r>
              <a:r>
                <a:rPr kumimoji="1" lang="en-US" altLang="zh-CN" sz="2400"/>
                <a:t> + KQ</a:t>
              </a:r>
              <a:r>
                <a:rPr kumimoji="1" lang="en-US" altLang="zh-CN" sz="2400" baseline="40000"/>
                <a:t>n</a:t>
              </a:r>
            </a:p>
          </p:txBody>
        </p:sp>
        <p:sp>
          <p:nvSpPr>
            <p:cNvPr id="11" name="Line 79">
              <a:extLst>
                <a:ext uri="{FF2B5EF4-FFF2-40B4-BE49-F238E27FC236}">
                  <a16:creationId xmlns:a16="http://schemas.microsoft.com/office/drawing/2014/main" id="{003A2FEC-569B-611C-904D-773F1D5F82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3742"/>
              <a:ext cx="2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80">
              <a:extLst>
                <a:ext uri="{FF2B5EF4-FFF2-40B4-BE49-F238E27FC236}">
                  <a16:creationId xmlns:a16="http://schemas.microsoft.com/office/drawing/2014/main" id="{32FF77BA-BE86-8765-903C-79837F2532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0" y="3742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81">
            <a:extLst>
              <a:ext uri="{FF2B5EF4-FFF2-40B4-BE49-F238E27FC236}">
                <a16:creationId xmlns:a16="http://schemas.microsoft.com/office/drawing/2014/main" id="{ED9CA3E7-3A44-6003-C3F1-7C2F8CFD5C11}"/>
              </a:ext>
            </a:extLst>
          </p:cNvPr>
          <p:cNvGrpSpPr>
            <a:grpSpLocks/>
          </p:cNvGrpSpPr>
          <p:nvPr/>
        </p:nvGrpSpPr>
        <p:grpSpPr bwMode="auto">
          <a:xfrm>
            <a:off x="727075" y="2020351"/>
            <a:ext cx="3649662" cy="1152525"/>
            <a:chOff x="513" y="1684"/>
            <a:chExt cx="2299" cy="726"/>
          </a:xfrm>
        </p:grpSpPr>
        <p:sp>
          <p:nvSpPr>
            <p:cNvPr id="14" name="Rectangle 82">
              <a:extLst>
                <a:ext uri="{FF2B5EF4-FFF2-40B4-BE49-F238E27FC236}">
                  <a16:creationId xmlns:a16="http://schemas.microsoft.com/office/drawing/2014/main" id="{2B40E364-243D-9203-6270-F8D5BD0C9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9" y="1684"/>
              <a:ext cx="450" cy="7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5" name="Line 83">
              <a:extLst>
                <a:ext uri="{FF2B5EF4-FFF2-40B4-BE49-F238E27FC236}">
                  <a16:creationId xmlns:a16="http://schemas.microsoft.com/office/drawing/2014/main" id="{79DCA032-3E97-BC1B-2512-6DFE4FCA03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" y="1837"/>
              <a:ext cx="10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84">
              <a:extLst>
                <a:ext uri="{FF2B5EF4-FFF2-40B4-BE49-F238E27FC236}">
                  <a16:creationId xmlns:a16="http://schemas.microsoft.com/office/drawing/2014/main" id="{19492C04-6AB6-18E2-B560-96B43616DB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2" y="2045"/>
              <a:ext cx="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85">
              <a:extLst>
                <a:ext uri="{FF2B5EF4-FFF2-40B4-BE49-F238E27FC236}">
                  <a16:creationId xmlns:a16="http://schemas.microsoft.com/office/drawing/2014/main" id="{98E6658E-5F44-78E2-FC1E-196F809E21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9" y="1837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86">
              <a:extLst>
                <a:ext uri="{FF2B5EF4-FFF2-40B4-BE49-F238E27FC236}">
                  <a16:creationId xmlns:a16="http://schemas.microsoft.com/office/drawing/2014/main" id="{B5E1F23A-FC8C-5C30-59A0-6DAF31F1FD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5" y="2250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Box 87">
              <a:extLst>
                <a:ext uri="{FF2B5EF4-FFF2-40B4-BE49-F238E27FC236}">
                  <a16:creationId xmlns:a16="http://schemas.microsoft.com/office/drawing/2014/main" id="{3F9492EB-877D-EB72-44D9-B61FE9F74B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0" y="1691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J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20" name="Text Box 88">
              <a:extLst>
                <a:ext uri="{FF2B5EF4-FFF2-40B4-BE49-F238E27FC236}">
                  <a16:creationId xmlns:a16="http://schemas.microsoft.com/office/drawing/2014/main" id="{52D76C3D-A406-F627-F294-C4831C1039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8" y="1691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21" name="Text Box 89">
              <a:extLst>
                <a:ext uri="{FF2B5EF4-FFF2-40B4-BE49-F238E27FC236}">
                  <a16:creationId xmlns:a16="http://schemas.microsoft.com/office/drawing/2014/main" id="{34E8DBA9-A57C-3482-19CC-3F8B1DC77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7" y="2100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22" name="Line 90">
              <a:extLst>
                <a:ext uri="{FF2B5EF4-FFF2-40B4-BE49-F238E27FC236}">
                  <a16:creationId xmlns:a16="http://schemas.microsoft.com/office/drawing/2014/main" id="{7C39BA9E-A833-B45B-C591-8AC30D6B7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6" y="2160"/>
              <a:ext cx="1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91">
              <a:extLst>
                <a:ext uri="{FF2B5EF4-FFF2-40B4-BE49-F238E27FC236}">
                  <a16:creationId xmlns:a16="http://schemas.microsoft.com/office/drawing/2014/main" id="{7CC4CD47-5B29-45F1-CEC7-D67908646D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" y="1971"/>
              <a:ext cx="80" cy="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92">
              <a:extLst>
                <a:ext uri="{FF2B5EF4-FFF2-40B4-BE49-F238E27FC236}">
                  <a16:creationId xmlns:a16="http://schemas.microsoft.com/office/drawing/2014/main" id="{7559BFCA-3F07-DC07-7B78-042C7C0C26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9" y="2042"/>
              <a:ext cx="80" cy="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Oval 93">
              <a:extLst>
                <a:ext uri="{FF2B5EF4-FFF2-40B4-BE49-F238E27FC236}">
                  <a16:creationId xmlns:a16="http://schemas.microsoft.com/office/drawing/2014/main" id="{5A7DE3EA-B834-F90F-8549-90FF4E915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207"/>
              <a:ext cx="90" cy="9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6" name="Line 94">
              <a:extLst>
                <a:ext uri="{FF2B5EF4-FFF2-40B4-BE49-F238E27FC236}">
                  <a16:creationId xmlns:a16="http://schemas.microsoft.com/office/drawing/2014/main" id="{4444DFBB-FA69-B066-A038-E45B0E30D7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5" y="2246"/>
              <a:ext cx="7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Box 95">
              <a:extLst>
                <a:ext uri="{FF2B5EF4-FFF2-40B4-BE49-F238E27FC236}">
                  <a16:creationId xmlns:a16="http://schemas.microsoft.com/office/drawing/2014/main" id="{9AEF7E78-1272-7F40-5CDC-25B1CA235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" y="2100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K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grpSp>
          <p:nvGrpSpPr>
            <p:cNvPr id="28" name="Group 96">
              <a:extLst>
                <a:ext uri="{FF2B5EF4-FFF2-40B4-BE49-F238E27FC236}">
                  <a16:creationId xmlns:a16="http://schemas.microsoft.com/office/drawing/2014/main" id="{F2649D65-A0AD-20C9-0F91-94088943E4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2" y="2115"/>
              <a:ext cx="272" cy="239"/>
              <a:chOff x="4536" y="2556"/>
              <a:chExt cx="272" cy="239"/>
            </a:xfrm>
          </p:grpSpPr>
          <p:sp>
            <p:nvSpPr>
              <p:cNvPr id="31" name="AutoShape 97">
                <a:extLst>
                  <a:ext uri="{FF2B5EF4-FFF2-40B4-BE49-F238E27FC236}">
                    <a16:creationId xmlns:a16="http://schemas.microsoft.com/office/drawing/2014/main" id="{20463BE4-9436-03C0-AAC4-D72FB49D0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524" y="2568"/>
                <a:ext cx="239" cy="215"/>
              </a:xfrm>
              <a:prstGeom prst="flowChartMerg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32" name="Oval 98">
                <a:extLst>
                  <a:ext uri="{FF2B5EF4-FFF2-40B4-BE49-F238E27FC236}">
                    <a16:creationId xmlns:a16="http://schemas.microsoft.com/office/drawing/2014/main" id="{1D9A46EB-95A5-919B-DFBB-C0D4359647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717" y="2636"/>
                <a:ext cx="91" cy="91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9" name="Line 99">
              <a:extLst>
                <a:ext uri="{FF2B5EF4-FFF2-40B4-BE49-F238E27FC236}">
                  <a16:creationId xmlns:a16="http://schemas.microsoft.com/office/drawing/2014/main" id="{5E1EF337-14EE-3473-E658-CC76007869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5" y="1843"/>
              <a:ext cx="0" cy="4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Box 100">
              <a:extLst>
                <a:ext uri="{FF2B5EF4-FFF2-40B4-BE49-F238E27FC236}">
                  <a16:creationId xmlns:a16="http://schemas.microsoft.com/office/drawing/2014/main" id="{CE06E97B-CC9B-5901-5BE7-F607028A27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" y="1684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D</a:t>
              </a:r>
            </a:p>
          </p:txBody>
        </p:sp>
      </p:grpSp>
      <p:grpSp>
        <p:nvGrpSpPr>
          <p:cNvPr id="33" name="Group 101">
            <a:extLst>
              <a:ext uri="{FF2B5EF4-FFF2-40B4-BE49-F238E27FC236}">
                <a16:creationId xmlns:a16="http://schemas.microsoft.com/office/drawing/2014/main" id="{EF1B57CE-FBC3-9775-E413-F2F9261A9291}"/>
              </a:ext>
            </a:extLst>
          </p:cNvPr>
          <p:cNvGrpSpPr>
            <a:grpSpLocks/>
          </p:cNvGrpSpPr>
          <p:nvPr/>
        </p:nvGrpSpPr>
        <p:grpSpPr bwMode="auto">
          <a:xfrm>
            <a:off x="1319213" y="5013325"/>
            <a:ext cx="3128962" cy="1152525"/>
            <a:chOff x="831" y="3203"/>
            <a:chExt cx="1971" cy="726"/>
          </a:xfrm>
        </p:grpSpPr>
        <p:sp>
          <p:nvSpPr>
            <p:cNvPr id="34" name="Rectangle 102">
              <a:extLst>
                <a:ext uri="{FF2B5EF4-FFF2-40B4-BE49-F238E27FC236}">
                  <a16:creationId xmlns:a16="http://schemas.microsoft.com/office/drawing/2014/main" id="{7320D60A-C3E7-68F0-77E8-E7E2500A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9" y="3203"/>
              <a:ext cx="450" cy="7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5" name="Line 103">
              <a:extLst>
                <a:ext uri="{FF2B5EF4-FFF2-40B4-BE49-F238E27FC236}">
                  <a16:creationId xmlns:a16="http://schemas.microsoft.com/office/drawing/2014/main" id="{84122056-3898-50C3-5884-8EACE097E4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0" y="3356"/>
              <a:ext cx="7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104">
              <a:extLst>
                <a:ext uri="{FF2B5EF4-FFF2-40B4-BE49-F238E27FC236}">
                  <a16:creationId xmlns:a16="http://schemas.microsoft.com/office/drawing/2014/main" id="{D9202F7A-05B6-8ABF-8CD6-FAC83CDACE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2" y="3564"/>
              <a:ext cx="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105">
              <a:extLst>
                <a:ext uri="{FF2B5EF4-FFF2-40B4-BE49-F238E27FC236}">
                  <a16:creationId xmlns:a16="http://schemas.microsoft.com/office/drawing/2014/main" id="{6C45F8F8-F3B7-DFAA-04F4-D2DD137A2A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9" y="3356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106">
              <a:extLst>
                <a:ext uri="{FF2B5EF4-FFF2-40B4-BE49-F238E27FC236}">
                  <a16:creationId xmlns:a16="http://schemas.microsoft.com/office/drawing/2014/main" id="{79FD4DBF-3DFA-315E-A812-C3DFB09A43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5" y="3769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Box 107">
              <a:extLst>
                <a:ext uri="{FF2B5EF4-FFF2-40B4-BE49-F238E27FC236}">
                  <a16:creationId xmlns:a16="http://schemas.microsoft.com/office/drawing/2014/main" id="{4EA6E3EA-AE59-418F-1B0C-C8460D116F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0" y="3210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J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40" name="Text Box 108">
              <a:extLst>
                <a:ext uri="{FF2B5EF4-FFF2-40B4-BE49-F238E27FC236}">
                  <a16:creationId xmlns:a16="http://schemas.microsoft.com/office/drawing/2014/main" id="{4272D16D-BAAB-3841-34D8-25D3B191A2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8" y="3210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41" name="Text Box 109">
              <a:extLst>
                <a:ext uri="{FF2B5EF4-FFF2-40B4-BE49-F238E27FC236}">
                  <a16:creationId xmlns:a16="http://schemas.microsoft.com/office/drawing/2014/main" id="{579E04D2-997F-B24B-DFE6-4854560D81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7" y="3619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42" name="Line 110">
              <a:extLst>
                <a:ext uri="{FF2B5EF4-FFF2-40B4-BE49-F238E27FC236}">
                  <a16:creationId xmlns:a16="http://schemas.microsoft.com/office/drawing/2014/main" id="{1868EEBF-BD71-6557-8792-D900B96043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6" y="3679"/>
              <a:ext cx="1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111">
              <a:extLst>
                <a:ext uri="{FF2B5EF4-FFF2-40B4-BE49-F238E27FC236}">
                  <a16:creationId xmlns:a16="http://schemas.microsoft.com/office/drawing/2014/main" id="{E5D4E431-06B7-DE75-CA49-805C7521DA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9" y="3490"/>
              <a:ext cx="80" cy="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112">
              <a:extLst>
                <a:ext uri="{FF2B5EF4-FFF2-40B4-BE49-F238E27FC236}">
                  <a16:creationId xmlns:a16="http://schemas.microsoft.com/office/drawing/2014/main" id="{48BF2999-6A9A-DB21-5BA2-CD2994DD77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9" y="3561"/>
              <a:ext cx="80" cy="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Oval 113">
              <a:extLst>
                <a:ext uri="{FF2B5EF4-FFF2-40B4-BE49-F238E27FC236}">
                  <a16:creationId xmlns:a16="http://schemas.microsoft.com/office/drawing/2014/main" id="{48AC1497-EE0E-8573-32A1-3FCF059BB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0" y="3726"/>
              <a:ext cx="90" cy="9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6" name="Line 114">
              <a:extLst>
                <a:ext uri="{FF2B5EF4-FFF2-40B4-BE49-F238E27FC236}">
                  <a16:creationId xmlns:a16="http://schemas.microsoft.com/office/drawing/2014/main" id="{315E0893-1782-E609-D181-FB9ECA5A4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765"/>
              <a:ext cx="43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115">
              <a:extLst>
                <a:ext uri="{FF2B5EF4-FFF2-40B4-BE49-F238E27FC236}">
                  <a16:creationId xmlns:a16="http://schemas.microsoft.com/office/drawing/2014/main" id="{96ACE5F0-E40C-0BC3-CA97-DEC48E881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8" y="3619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K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48" name="Line 116">
              <a:extLst>
                <a:ext uri="{FF2B5EF4-FFF2-40B4-BE49-F238E27FC236}">
                  <a16:creationId xmlns:a16="http://schemas.microsoft.com/office/drawing/2014/main" id="{1D02896A-03A3-9D64-4FBE-C075EFE2D4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362"/>
              <a:ext cx="0" cy="4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 Box 117">
              <a:extLst>
                <a:ext uri="{FF2B5EF4-FFF2-40B4-BE49-F238E27FC236}">
                  <a16:creationId xmlns:a16="http://schemas.microsoft.com/office/drawing/2014/main" id="{AECB4C04-5C0D-8483-4D52-3F5140D33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1" y="3203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T</a:t>
              </a:r>
            </a:p>
          </p:txBody>
        </p:sp>
      </p:grpSp>
      <p:sp>
        <p:nvSpPr>
          <p:cNvPr id="50" name="Line 118">
            <a:extLst>
              <a:ext uri="{FF2B5EF4-FFF2-40B4-BE49-F238E27FC236}">
                <a16:creationId xmlns:a16="http://schemas.microsoft.com/office/drawing/2014/main" id="{0A3FA43F-5BA5-7735-24D9-E44C326EB3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8149" y="1515526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Text Box 119">
            <a:extLst>
              <a:ext uri="{FF2B5EF4-FFF2-40B4-BE49-F238E27FC236}">
                <a16:creationId xmlns:a16="http://schemas.microsoft.com/office/drawing/2014/main" id="{5C4BA70B-9401-A34B-5F70-34F39D2A4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4292600"/>
            <a:ext cx="201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/>
              <a:t>Q</a:t>
            </a:r>
            <a:r>
              <a:rPr kumimoji="1" lang="en-US" altLang="zh-CN" sz="2400" baseline="40000"/>
              <a:t>n+1</a:t>
            </a:r>
            <a:r>
              <a:rPr kumimoji="1" lang="en-US" altLang="zh-CN" sz="2400"/>
              <a:t> = T </a:t>
            </a:r>
            <a:r>
              <a:rPr lang="en-US" altLang="zh-CN" sz="2000">
                <a:latin typeface="Arial" panose="020B0604020202020204" pitchFamily="34" charset="0"/>
                <a:sym typeface="Symbol" panose="05050102010706020507" pitchFamily="18" charset="2"/>
              </a:rPr>
              <a:t></a:t>
            </a:r>
            <a:r>
              <a:rPr kumimoji="1" lang="en-US" altLang="zh-CN" sz="2400"/>
              <a:t> Q</a:t>
            </a:r>
            <a:r>
              <a:rPr kumimoji="1" lang="en-US" altLang="zh-CN" sz="2400" baseline="40000"/>
              <a:t>n</a:t>
            </a:r>
          </a:p>
        </p:txBody>
      </p:sp>
      <p:sp>
        <p:nvSpPr>
          <p:cNvPr id="52" name="Text Box 120">
            <a:extLst>
              <a:ext uri="{FF2B5EF4-FFF2-40B4-BE49-F238E27FC236}">
                <a16:creationId xmlns:a16="http://schemas.microsoft.com/office/drawing/2014/main" id="{FEE906B0-3ED7-240E-6D2D-8C17A5F16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0" y="1418688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/>
              <a:t>Q</a:t>
            </a:r>
            <a:r>
              <a:rPr kumimoji="1" lang="en-US" altLang="zh-CN" sz="2400" baseline="40000"/>
              <a:t>n+1</a:t>
            </a:r>
            <a:r>
              <a:rPr kumimoji="1" lang="en-US" altLang="zh-CN" sz="2400"/>
              <a:t> = D</a:t>
            </a:r>
            <a:endParaRPr kumimoji="1" lang="en-US" altLang="zh-CN" sz="2400" baseline="40000"/>
          </a:p>
        </p:txBody>
      </p:sp>
    </p:spTree>
    <p:extLst>
      <p:ext uri="{BB962C8B-B14F-4D97-AF65-F5344CB8AC3E}">
        <p14:creationId xmlns:p14="http://schemas.microsoft.com/office/powerpoint/2010/main" val="3972389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63B30D-703F-6480-390C-19011E1DF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3200" dirty="0"/>
              <a:t>补充：</a:t>
            </a:r>
            <a:r>
              <a:rPr lang="zh-CN" altLang="en-US" sz="3200" dirty="0">
                <a:solidFill>
                  <a:schemeClr val="bg1">
                    <a:lumMod val="85000"/>
                  </a:schemeClr>
                </a:solidFill>
              </a:rPr>
              <a:t>或直接真值表硬搞</a:t>
            </a:r>
            <a:endParaRPr kumimoji="1"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10FF08-CC68-E8E8-D362-6076F9884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</a:t>
            </a:r>
            <a:r>
              <a:rPr kumimoji="1" lang="zh-CN" altLang="en-US" dirty="0"/>
              <a:t>触发器构成</a:t>
            </a:r>
            <a:r>
              <a:rPr kumimoji="1" lang="en-US" altLang="zh-CN" dirty="0"/>
              <a:t>JK</a:t>
            </a:r>
            <a:r>
              <a:rPr kumimoji="1" lang="zh-CN" altLang="en-US" dirty="0"/>
              <a:t>触发器（实在不好凑）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E942C55-188D-C251-A497-0EA198789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0CEE33-464C-6876-D1B3-DB7F6877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23</a:t>
            </a:fld>
            <a:r>
              <a:rPr lang="en-US" altLang="zh-CN" dirty="0"/>
              <a:t>/29</a:t>
            </a:r>
            <a:endParaRPr lang="en-US" dirty="0"/>
          </a:p>
        </p:txBody>
      </p:sp>
      <p:graphicFrame>
        <p:nvGraphicFramePr>
          <p:cNvPr id="6" name="Group 4">
            <a:extLst>
              <a:ext uri="{FF2B5EF4-FFF2-40B4-BE49-F238E27FC236}">
                <a16:creationId xmlns:a16="http://schemas.microsoft.com/office/drawing/2014/main" id="{8C469CBE-8003-799B-685A-B621B2F6E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717095"/>
              </p:ext>
            </p:extLst>
          </p:nvPr>
        </p:nvGraphicFramePr>
        <p:xfrm>
          <a:off x="825266" y="1780541"/>
          <a:ext cx="3313112" cy="3707609"/>
        </p:xfrm>
        <a:graphic>
          <a:graphicData uri="http://schemas.openxmlformats.org/drawingml/2006/table">
            <a:tbl>
              <a:tblPr/>
              <a:tblGrid>
                <a:gridCol w="382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60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6036">
                  <a:extLst>
                    <a:ext uri="{9D8B030D-6E8A-4147-A177-3AD203B41FA5}">
                      <a16:colId xmlns:a16="http://schemas.microsoft.com/office/drawing/2014/main" val="2768575138"/>
                    </a:ext>
                  </a:extLst>
                </a:gridCol>
              </a:tblGrid>
              <a:tr h="4873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n</a:t>
                      </a:r>
                      <a:endParaRPr kumimoji="1" lang="zh-CN" altLang="en-US" sz="2400" b="1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n+1</a:t>
                      </a:r>
                      <a:endParaRPr kumimoji="1" lang="zh-CN" altLang="en-US" sz="2400" b="1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说明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25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3119748"/>
                  </a:ext>
                </a:extLst>
              </a:tr>
              <a:tr h="4000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清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置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84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翻转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A535033-B93A-36EB-788E-56E765BE1E0B}"/>
              </a:ext>
            </a:extLst>
          </p:cNvPr>
          <p:cNvSpPr txBox="1"/>
          <p:nvPr/>
        </p:nvSpPr>
        <p:spPr>
          <a:xfrm>
            <a:off x="4941459" y="1848301"/>
            <a:ext cx="4139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+mj-ea"/>
                <a:ea typeface="+mj-ea"/>
              </a:rPr>
              <a:t>方法：条件</a:t>
            </a:r>
            <a:r>
              <a:rPr kumimoji="1" lang="en-US" altLang="zh-CN" sz="2000" dirty="0">
                <a:latin typeface="+mj-ea"/>
                <a:ea typeface="+mj-ea"/>
              </a:rPr>
              <a:t>J</a:t>
            </a:r>
            <a:r>
              <a:rPr kumimoji="1" lang="zh-CN" altLang="en-US" sz="2000" dirty="0">
                <a:latin typeface="+mj-ea"/>
                <a:ea typeface="+mj-ea"/>
              </a:rPr>
              <a:t> </a:t>
            </a:r>
            <a:r>
              <a:rPr kumimoji="1" lang="en-US" altLang="zh-CN" sz="2000" dirty="0">
                <a:latin typeface="+mj-ea"/>
                <a:ea typeface="+mj-ea"/>
              </a:rPr>
              <a:t>K</a:t>
            </a:r>
            <a:r>
              <a:rPr kumimoji="1" lang="zh-CN" altLang="en-US" sz="2000" dirty="0">
                <a:latin typeface="+mj-ea"/>
                <a:ea typeface="+mj-ea"/>
              </a:rPr>
              <a:t> </a:t>
            </a:r>
            <a:r>
              <a:rPr kumimoji="1" lang="en-US" altLang="zh-CN" sz="2000" dirty="0" err="1">
                <a:latin typeface="+mj-ea"/>
                <a:ea typeface="+mj-ea"/>
              </a:rPr>
              <a:t>Q</a:t>
            </a:r>
            <a:r>
              <a:rPr kumimoji="1" lang="en-US" altLang="zh-CN" sz="2000" baseline="30000" dirty="0" err="1">
                <a:latin typeface="+mj-ea"/>
                <a:ea typeface="+mj-ea"/>
              </a:rPr>
              <a:t>n</a:t>
            </a:r>
            <a:r>
              <a:rPr kumimoji="1" lang="zh-CN" altLang="en-US" sz="2000" dirty="0">
                <a:latin typeface="+mj-ea"/>
                <a:ea typeface="+mj-ea"/>
              </a:rPr>
              <a:t>，输出</a:t>
            </a:r>
            <a:r>
              <a:rPr kumimoji="1" lang="en-US" altLang="zh-CN" sz="2000" dirty="0">
                <a:latin typeface="+mj-ea"/>
                <a:ea typeface="+mj-ea"/>
              </a:rPr>
              <a:t>T</a:t>
            </a:r>
            <a:r>
              <a:rPr kumimoji="1" lang="zh-CN" altLang="en-US" sz="2000" dirty="0">
                <a:latin typeface="+mj-ea"/>
                <a:ea typeface="+mj-ea"/>
              </a:rPr>
              <a:t>画卡诺图</a:t>
            </a: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B20ACEEA-11AA-0F61-290F-46631558C304}"/>
              </a:ext>
            </a:extLst>
          </p:cNvPr>
          <p:cNvGrpSpPr>
            <a:grpSpLocks/>
          </p:cNvGrpSpPr>
          <p:nvPr/>
        </p:nvGrpSpPr>
        <p:grpSpPr bwMode="auto">
          <a:xfrm>
            <a:off x="5327297" y="2562587"/>
            <a:ext cx="3227388" cy="1765301"/>
            <a:chOff x="434" y="1683"/>
            <a:chExt cx="2033" cy="1112"/>
          </a:xfrm>
        </p:grpSpPr>
        <p:sp>
          <p:nvSpPr>
            <p:cNvPr id="9" name="Text Box 4">
              <a:extLst>
                <a:ext uri="{FF2B5EF4-FFF2-40B4-BE49-F238E27FC236}">
                  <a16:creationId xmlns:a16="http://schemas.microsoft.com/office/drawing/2014/main" id="{8FDAD8E9-A019-95B7-ABD9-97D3B51D8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4" y="2135"/>
              <a:ext cx="2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dirty="0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dirty="0">
                  <a:latin typeface="Times New Roman" panose="02020603050405020304" pitchFamily="18" charset="0"/>
                </a:rPr>
                <a:t>0</a:t>
              </a:r>
              <a:endParaRPr kumimoji="1" lang="en-US" altLang="zh-CN" sz="3600" dirty="0">
                <a:latin typeface="Times New Roman" panose="02020603050405020304" pitchFamily="18" charset="0"/>
              </a:endParaRPr>
            </a:p>
          </p:txBody>
        </p:sp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C90F99E7-834D-58B2-562D-824C9A54F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4" y="2135"/>
              <a:ext cx="2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dirty="0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dirty="0">
                  <a:latin typeface="Times New Roman" panose="02020603050405020304" pitchFamily="18" charset="0"/>
                </a:rPr>
                <a:t>0</a:t>
              </a:r>
              <a:endParaRPr kumimoji="1" lang="en-US" altLang="zh-CN" sz="3600" dirty="0">
                <a:latin typeface="Times New Roman" panose="02020603050405020304" pitchFamily="18" charset="0"/>
              </a:endParaRPr>
            </a:p>
          </p:txBody>
        </p:sp>
        <p:sp>
          <p:nvSpPr>
            <p:cNvPr id="11" name="Text Box 6">
              <a:extLst>
                <a:ext uri="{FF2B5EF4-FFF2-40B4-BE49-F238E27FC236}">
                  <a16:creationId xmlns:a16="http://schemas.microsoft.com/office/drawing/2014/main" id="{805AEE7E-6536-B08C-3C25-37B2151746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2" y="2135"/>
              <a:ext cx="2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dirty="0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dirty="0">
                  <a:latin typeface="Times New Roman" panose="02020603050405020304" pitchFamily="18" charset="0"/>
                </a:rPr>
                <a:t>1</a:t>
              </a:r>
              <a:endParaRPr kumimoji="1" lang="en-US" altLang="zh-CN" sz="3600" dirty="0">
                <a:latin typeface="Times New Roman" panose="02020603050405020304" pitchFamily="18" charset="0"/>
              </a:endParaRPr>
            </a:p>
          </p:txBody>
        </p:sp>
        <p:sp>
          <p:nvSpPr>
            <p:cNvPr id="12" name="Text Box 7">
              <a:extLst>
                <a:ext uri="{FF2B5EF4-FFF2-40B4-BE49-F238E27FC236}">
                  <a16:creationId xmlns:a16="http://schemas.microsoft.com/office/drawing/2014/main" id="{C1744CD0-F2F2-99E3-629A-6AC6B4A1EA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8" y="2135"/>
              <a:ext cx="2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dirty="0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dirty="0">
                  <a:latin typeface="Times New Roman" panose="02020603050405020304" pitchFamily="18" charset="0"/>
                </a:rPr>
                <a:t>1</a:t>
              </a:r>
              <a:endParaRPr kumimoji="1" lang="en-US" altLang="zh-CN" sz="3600" dirty="0">
                <a:latin typeface="Times New Roman" panose="02020603050405020304" pitchFamily="18" charset="0"/>
              </a:endParaRPr>
            </a:p>
          </p:txBody>
        </p:sp>
        <p:sp>
          <p:nvSpPr>
            <p:cNvPr id="13" name="Text Box 8">
              <a:extLst>
                <a:ext uri="{FF2B5EF4-FFF2-40B4-BE49-F238E27FC236}">
                  <a16:creationId xmlns:a16="http://schemas.microsoft.com/office/drawing/2014/main" id="{F45AB4E2-1305-A33A-D8B0-6092992CC7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4" y="2471"/>
              <a:ext cx="2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dirty="0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dirty="0">
                  <a:latin typeface="Times New Roman" panose="02020603050405020304" pitchFamily="18" charset="0"/>
                </a:rPr>
                <a:t>0</a:t>
              </a:r>
              <a:endParaRPr kumimoji="1" lang="en-US" altLang="zh-CN" sz="3600" dirty="0">
                <a:latin typeface="Times New Roman" panose="02020603050405020304" pitchFamily="18" charset="0"/>
              </a:endParaRPr>
            </a:p>
          </p:txBody>
        </p:sp>
        <p:sp>
          <p:nvSpPr>
            <p:cNvPr id="14" name="Text Box 9">
              <a:extLst>
                <a:ext uri="{FF2B5EF4-FFF2-40B4-BE49-F238E27FC236}">
                  <a16:creationId xmlns:a16="http://schemas.microsoft.com/office/drawing/2014/main" id="{9F9C4BEA-4856-847C-D62D-598DA80EB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4" y="2471"/>
              <a:ext cx="2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dirty="0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dirty="0">
                  <a:latin typeface="Times New Roman" panose="02020603050405020304" pitchFamily="18" charset="0"/>
                </a:rPr>
                <a:t>1</a:t>
              </a:r>
              <a:endParaRPr kumimoji="1" lang="en-US" altLang="zh-CN" sz="3600" dirty="0">
                <a:latin typeface="Times New Roman" panose="02020603050405020304" pitchFamily="18" charset="0"/>
              </a:endParaRPr>
            </a:p>
          </p:txBody>
        </p:sp>
        <p:sp>
          <p:nvSpPr>
            <p:cNvPr id="15" name="Text Box 10">
              <a:extLst>
                <a:ext uri="{FF2B5EF4-FFF2-40B4-BE49-F238E27FC236}">
                  <a16:creationId xmlns:a16="http://schemas.microsoft.com/office/drawing/2014/main" id="{2EC2E9AC-ADD2-B846-91F3-0C58911777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2" y="2471"/>
              <a:ext cx="2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dirty="0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dirty="0">
                  <a:latin typeface="Times New Roman" panose="02020603050405020304" pitchFamily="18" charset="0"/>
                </a:rPr>
                <a:t>0</a:t>
              </a:r>
              <a:endParaRPr kumimoji="1" lang="en-US" altLang="zh-CN" sz="3600" dirty="0">
                <a:latin typeface="Times New Roman" panose="02020603050405020304" pitchFamily="18" charset="0"/>
              </a:endParaRPr>
            </a:p>
          </p:txBody>
        </p:sp>
        <p:sp>
          <p:nvSpPr>
            <p:cNvPr id="16" name="Text Box 11">
              <a:extLst>
                <a:ext uri="{FF2B5EF4-FFF2-40B4-BE49-F238E27FC236}">
                  <a16:creationId xmlns:a16="http://schemas.microsoft.com/office/drawing/2014/main" id="{0661BF75-E3D6-03C2-6784-A3ECE20927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2" y="2471"/>
              <a:ext cx="2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dirty="0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dirty="0">
                  <a:latin typeface="Times New Roman" panose="02020603050405020304" pitchFamily="18" charset="0"/>
                </a:rPr>
                <a:t>1</a:t>
              </a:r>
              <a:endParaRPr kumimoji="1" lang="en-US" altLang="zh-CN" sz="3600" dirty="0">
                <a:latin typeface="Times New Roman" panose="02020603050405020304" pitchFamily="18" charset="0"/>
              </a:endParaRPr>
            </a:p>
          </p:txBody>
        </p:sp>
        <p:sp>
          <p:nvSpPr>
            <p:cNvPr id="17" name="Text Box 12">
              <a:extLst>
                <a:ext uri="{FF2B5EF4-FFF2-40B4-BE49-F238E27FC236}">
                  <a16:creationId xmlns:a16="http://schemas.microsoft.com/office/drawing/2014/main" id="{D1E84432-9B6E-1C32-4BE8-6C393E7855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48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1</a:t>
              </a:r>
              <a:endParaRPr kumimoji="1" lang="en-US" altLang="zh-CN" sz="3600">
                <a:latin typeface="Times New Roman" panose="02020603050405020304" pitchFamily="18" charset="0"/>
              </a:endParaRPr>
            </a:p>
          </p:txBody>
        </p:sp>
        <p:grpSp>
          <p:nvGrpSpPr>
            <p:cNvPr id="18" name="Group 13">
              <a:extLst>
                <a:ext uri="{FF2B5EF4-FFF2-40B4-BE49-F238E27FC236}">
                  <a16:creationId xmlns:a16="http://schemas.microsoft.com/office/drawing/2014/main" id="{58D8C5BE-815A-817A-49DA-7C3208E415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1" y="2123"/>
              <a:ext cx="1536" cy="672"/>
              <a:chOff x="3216" y="1248"/>
              <a:chExt cx="1536" cy="672"/>
            </a:xfrm>
          </p:grpSpPr>
          <p:sp>
            <p:nvSpPr>
              <p:cNvPr id="32" name="Line 14">
                <a:extLst>
                  <a:ext uri="{FF2B5EF4-FFF2-40B4-BE49-F238E27FC236}">
                    <a16:creationId xmlns:a16="http://schemas.microsoft.com/office/drawing/2014/main" id="{81446B48-7611-B91F-73DF-AA5F3FAC28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1584"/>
                <a:ext cx="15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33" name="Group 15">
                <a:extLst>
                  <a:ext uri="{FF2B5EF4-FFF2-40B4-BE49-F238E27FC236}">
                    <a16:creationId xmlns:a16="http://schemas.microsoft.com/office/drawing/2014/main" id="{9784174B-E233-6AAF-EBB7-FFE9DA507B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16" y="1248"/>
                <a:ext cx="1536" cy="672"/>
                <a:chOff x="3243" y="1248"/>
                <a:chExt cx="1536" cy="672"/>
              </a:xfrm>
            </p:grpSpPr>
            <p:sp>
              <p:nvSpPr>
                <p:cNvPr id="34" name="Rectangle 16">
                  <a:extLst>
                    <a:ext uri="{FF2B5EF4-FFF2-40B4-BE49-F238E27FC236}">
                      <a16:creationId xmlns:a16="http://schemas.microsoft.com/office/drawing/2014/main" id="{680AB982-8E42-70D5-C62E-A8FC17F56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43" y="1248"/>
                  <a:ext cx="1536" cy="67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1800" b="0"/>
                </a:p>
              </p:txBody>
            </p:sp>
            <p:sp>
              <p:nvSpPr>
                <p:cNvPr id="35" name="Line 17">
                  <a:extLst>
                    <a:ext uri="{FF2B5EF4-FFF2-40B4-BE49-F238E27FC236}">
                      <a16:creationId xmlns:a16="http://schemas.microsoft.com/office/drawing/2014/main" id="{D905C826-2B08-B926-6082-EACAAFB910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27" y="1248"/>
                  <a:ext cx="0" cy="67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Line 18">
                  <a:extLst>
                    <a:ext uri="{FF2B5EF4-FFF2-40B4-BE49-F238E27FC236}">
                      <a16:creationId xmlns:a16="http://schemas.microsoft.com/office/drawing/2014/main" id="{43D8427E-F2C8-04FA-B5E3-47770D72AD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1" y="1248"/>
                  <a:ext cx="0" cy="67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Line 19">
                  <a:extLst>
                    <a:ext uri="{FF2B5EF4-FFF2-40B4-BE49-F238E27FC236}">
                      <a16:creationId xmlns:a16="http://schemas.microsoft.com/office/drawing/2014/main" id="{E10686CE-2536-74AC-9C21-416921BDC2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95" y="1248"/>
                  <a:ext cx="0" cy="67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9" name="Text Box 20">
              <a:extLst>
                <a:ext uri="{FF2B5EF4-FFF2-40B4-BE49-F238E27FC236}">
                  <a16:creationId xmlns:a16="http://schemas.microsoft.com/office/drawing/2014/main" id="{F90ECA82-674C-4203-9886-2D76D78D61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14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0</a:t>
              </a:r>
              <a:endParaRPr kumimoji="1" lang="en-US" altLang="zh-CN" sz="3600">
                <a:latin typeface="Times New Roman" panose="02020603050405020304" pitchFamily="18" charset="0"/>
              </a:endParaRPr>
            </a:p>
          </p:txBody>
        </p:sp>
        <p:sp>
          <p:nvSpPr>
            <p:cNvPr id="20" name="Text Box 21">
              <a:extLst>
                <a:ext uri="{FF2B5EF4-FFF2-40B4-BE49-F238E27FC236}">
                  <a16:creationId xmlns:a16="http://schemas.microsoft.com/office/drawing/2014/main" id="{BFE54B91-DD0B-A7E7-B434-2324485685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8" y="1797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00</a:t>
              </a:r>
              <a:endParaRPr kumimoji="1" lang="en-US" altLang="zh-CN" sz="3600">
                <a:latin typeface="Times New Roman" panose="02020603050405020304" pitchFamily="18" charset="0"/>
              </a:endParaRPr>
            </a:p>
          </p:txBody>
        </p:sp>
        <p:sp>
          <p:nvSpPr>
            <p:cNvPr id="21" name="Text Box 22">
              <a:extLst>
                <a:ext uri="{FF2B5EF4-FFF2-40B4-BE49-F238E27FC236}">
                  <a16:creationId xmlns:a16="http://schemas.microsoft.com/office/drawing/2014/main" id="{9A2325A6-E1D6-5FAB-8F0B-0972F77480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2" y="1797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01</a:t>
              </a:r>
              <a:endParaRPr kumimoji="1" lang="en-US" altLang="zh-CN" sz="3600">
                <a:latin typeface="Times New Roman" panose="02020603050405020304" pitchFamily="18" charset="0"/>
              </a:endParaRPr>
            </a:p>
          </p:txBody>
        </p:sp>
        <p:sp>
          <p:nvSpPr>
            <p:cNvPr id="22" name="Text Box 23">
              <a:extLst>
                <a:ext uri="{FF2B5EF4-FFF2-40B4-BE49-F238E27FC236}">
                  <a16:creationId xmlns:a16="http://schemas.microsoft.com/office/drawing/2014/main" id="{2D3A75D7-88DC-4225-768A-458E9A934D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6" y="1797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11</a:t>
              </a:r>
              <a:endParaRPr kumimoji="1" lang="en-US" altLang="zh-CN" sz="3600">
                <a:latin typeface="Times New Roman" panose="02020603050405020304" pitchFamily="18" charset="0"/>
              </a:endParaRPr>
            </a:p>
          </p:txBody>
        </p:sp>
        <p:sp>
          <p:nvSpPr>
            <p:cNvPr id="23" name="Text Box 24">
              <a:extLst>
                <a:ext uri="{FF2B5EF4-FFF2-40B4-BE49-F238E27FC236}">
                  <a16:creationId xmlns:a16="http://schemas.microsoft.com/office/drawing/2014/main" id="{3189A44D-A61B-1AA9-8FF0-2F0015A85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0" y="1797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10</a:t>
              </a:r>
              <a:endParaRPr kumimoji="1" lang="en-US" altLang="zh-CN" sz="3600">
                <a:latin typeface="Times New Roman" panose="02020603050405020304" pitchFamily="18" charset="0"/>
              </a:endParaRPr>
            </a:p>
          </p:txBody>
        </p:sp>
        <p:sp>
          <p:nvSpPr>
            <p:cNvPr id="24" name="Line 25">
              <a:extLst>
                <a:ext uri="{FF2B5EF4-FFF2-40B4-BE49-F238E27FC236}">
                  <a16:creationId xmlns:a16="http://schemas.microsoft.com/office/drawing/2014/main" id="{FA187FAB-63FD-360B-AA7B-2504B3CA19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" y="1857"/>
              <a:ext cx="368" cy="2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Text Box 26">
              <a:extLst>
                <a:ext uri="{FF2B5EF4-FFF2-40B4-BE49-F238E27FC236}">
                  <a16:creationId xmlns:a16="http://schemas.microsoft.com/office/drawing/2014/main" id="{A86D5B75-1C18-DE69-F6A2-3E4C5BF9F2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" y="1683"/>
              <a:ext cx="36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</a:rPr>
                <a:t>JK</a:t>
              </a:r>
              <a:endParaRPr kumimoji="1" lang="en-US" altLang="zh-CN" sz="3600" dirty="0">
                <a:latin typeface="Times New Roman" panose="02020603050405020304" pitchFamily="18" charset="0"/>
              </a:endParaRPr>
            </a:p>
          </p:txBody>
        </p:sp>
        <p:sp>
          <p:nvSpPr>
            <p:cNvPr id="26" name="Text Box 27">
              <a:extLst>
                <a:ext uri="{FF2B5EF4-FFF2-40B4-BE49-F238E27FC236}">
                  <a16:creationId xmlns:a16="http://schemas.microsoft.com/office/drawing/2014/main" id="{4C2A34B4-B022-2E0F-E800-464DDFD74A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" y="1909"/>
              <a:ext cx="33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dirty="0" err="1">
                  <a:latin typeface="Times New Roman" panose="02020603050405020304" pitchFamily="18" charset="0"/>
                </a:rPr>
                <a:t>Q</a:t>
              </a:r>
              <a:r>
                <a:rPr kumimoji="1" lang="en-US" altLang="zh-CN" sz="2400" baseline="30000" dirty="0" err="1">
                  <a:latin typeface="Times New Roman" panose="02020603050405020304" pitchFamily="18" charset="0"/>
                </a:rPr>
                <a:t>n</a:t>
              </a:r>
              <a:endParaRPr kumimoji="1" lang="en-US" altLang="zh-CN" sz="3600" baseline="30000" dirty="0">
                <a:latin typeface="Times New Roman" panose="02020603050405020304" pitchFamily="18" charset="0"/>
              </a:endParaRPr>
            </a:p>
          </p:txBody>
        </p:sp>
        <p:sp>
          <p:nvSpPr>
            <p:cNvPr id="27" name="Rectangle 28">
              <a:extLst>
                <a:ext uri="{FF2B5EF4-FFF2-40B4-BE49-F238E27FC236}">
                  <a16:creationId xmlns:a16="http://schemas.microsoft.com/office/drawing/2014/main" id="{2A911D64-4C31-FFC0-2FE4-2FC8CCBBF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" y="2123"/>
              <a:ext cx="1536" cy="6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8" name="Line 29">
              <a:extLst>
                <a:ext uri="{FF2B5EF4-FFF2-40B4-BE49-F238E27FC236}">
                  <a16:creationId xmlns:a16="http://schemas.microsoft.com/office/drawing/2014/main" id="{0D39DB88-FAB3-D3BE-817C-AFBCB122F2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5" y="2123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30">
              <a:extLst>
                <a:ext uri="{FF2B5EF4-FFF2-40B4-BE49-F238E27FC236}">
                  <a16:creationId xmlns:a16="http://schemas.microsoft.com/office/drawing/2014/main" id="{26078FAE-04F1-B722-018A-431EF66DAD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9" y="2123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31">
              <a:extLst>
                <a:ext uri="{FF2B5EF4-FFF2-40B4-BE49-F238E27FC236}">
                  <a16:creationId xmlns:a16="http://schemas.microsoft.com/office/drawing/2014/main" id="{8184F444-EDF3-BC80-DFBD-066EB269B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3" y="2123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32">
              <a:extLst>
                <a:ext uri="{FF2B5EF4-FFF2-40B4-BE49-F238E27FC236}">
                  <a16:creationId xmlns:a16="http://schemas.microsoft.com/office/drawing/2014/main" id="{06F4FBF8-5364-7A83-8A04-C3C96A3FE6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1" y="2459"/>
              <a:ext cx="15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" name="Text Box 26">
            <a:extLst>
              <a:ext uri="{FF2B5EF4-FFF2-40B4-BE49-F238E27FC236}">
                <a16:creationId xmlns:a16="http://schemas.microsoft.com/office/drawing/2014/main" id="{756D613C-528A-9F16-72B6-48FD749CC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3375" y="2386523"/>
            <a:ext cx="389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T</a:t>
            </a:r>
            <a:endParaRPr kumimoji="1"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2E613F4-3A7F-BA70-1476-3A18013F2D25}"/>
              </a:ext>
            </a:extLst>
          </p:cNvPr>
          <p:cNvSpPr txBox="1"/>
          <p:nvPr/>
        </p:nvSpPr>
        <p:spPr>
          <a:xfrm>
            <a:off x="6216297" y="4639051"/>
            <a:ext cx="18725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T=</a:t>
            </a:r>
            <a:r>
              <a:rPr kumimoji="1"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KQ</a:t>
            </a:r>
            <a:r>
              <a:rPr kumimoji="1" lang="en-US" altLang="zh-CN" sz="2400" baseline="30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kumimoji="1"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+JQ</a:t>
            </a:r>
            <a:r>
              <a:rPr kumimoji="1" lang="en-US" altLang="zh-CN" sz="2400" baseline="30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endParaRPr kumimoji="1" lang="zh-CN" altLang="en-US" sz="2400" baseline="30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Line 9">
            <a:extLst>
              <a:ext uri="{FF2B5EF4-FFF2-40B4-BE49-F238E27FC236}">
                <a16:creationId xmlns:a16="http://schemas.microsoft.com/office/drawing/2014/main" id="{1B61904C-F2A6-0510-FCE9-1C5F659A675E}"/>
              </a:ext>
            </a:extLst>
          </p:cNvPr>
          <p:cNvSpPr>
            <a:spLocks noChangeShapeType="1"/>
          </p:cNvSpPr>
          <p:nvPr/>
        </p:nvSpPr>
        <p:spPr bwMode="auto">
          <a:xfrm>
            <a:off x="7614934" y="4693643"/>
            <a:ext cx="30737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265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A628F7-2B4B-39A4-6E74-09F250B13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锁存器和触发器的动态特性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39CD03-25EC-0E27-E92A-5E4B71676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264765" cy="5947119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zh-CN" altLang="en-US" dirty="0"/>
              <a:t>保证锁存器和触发器可靠地更新状态，输入信号与时钟信号之间的时间要求</a:t>
            </a:r>
          </a:p>
          <a:p>
            <a:pPr lvl="1"/>
            <a:r>
              <a:rPr lang="zh-CN" altLang="en-US" dirty="0"/>
              <a:t>建立时间</a:t>
            </a:r>
            <a:r>
              <a:rPr lang="en-US" altLang="zh-CN" dirty="0" err="1"/>
              <a:t>t</a:t>
            </a:r>
            <a:r>
              <a:rPr lang="en-US" altLang="zh-CN" baseline="-10000" dirty="0" err="1"/>
              <a:t>su</a:t>
            </a:r>
            <a:r>
              <a:rPr lang="en-US" altLang="zh-CN" baseline="-10000" dirty="0"/>
              <a:t> (setup) </a:t>
            </a:r>
            <a:r>
              <a:rPr lang="zh-CN" altLang="en-US" dirty="0"/>
              <a:t>：</a:t>
            </a:r>
            <a:r>
              <a:rPr kumimoji="1" lang="zh-CN" altLang="en-US" dirty="0">
                <a:solidFill>
                  <a:srgbClr val="000000"/>
                </a:solidFill>
              </a:rPr>
              <a:t>要求输入信号在</a:t>
            </a:r>
            <a:r>
              <a:rPr lang="zh-CN" altLang="en-US" dirty="0"/>
              <a:t>时钟有效边</a:t>
            </a:r>
            <a:r>
              <a:rPr kumimoji="1" lang="zh-CN" altLang="en-US" dirty="0">
                <a:solidFill>
                  <a:srgbClr val="000000"/>
                </a:solidFill>
              </a:rPr>
              <a:t>沿到来之前，提前一段时间做好准备</a:t>
            </a:r>
            <a:endParaRPr lang="en-US" altLang="zh-CN" dirty="0"/>
          </a:p>
          <a:p>
            <a:pPr lvl="1"/>
            <a:r>
              <a:rPr lang="zh-CN" altLang="en-US" dirty="0"/>
              <a:t>保持时间</a:t>
            </a:r>
            <a:r>
              <a:rPr lang="en-US" altLang="zh-CN" dirty="0" err="1"/>
              <a:t>t</a:t>
            </a:r>
            <a:r>
              <a:rPr lang="en-US" altLang="zh-CN" baseline="-10000" dirty="0" err="1"/>
              <a:t>h</a:t>
            </a:r>
            <a:r>
              <a:rPr lang="en-US" altLang="zh-CN" baseline="-10000" dirty="0"/>
              <a:t> (hold)</a:t>
            </a:r>
            <a:r>
              <a:rPr lang="zh-CN" altLang="en-US" dirty="0"/>
              <a:t>：</a:t>
            </a:r>
            <a:r>
              <a:rPr kumimoji="1" lang="zh-CN" altLang="en-US" dirty="0">
                <a:solidFill>
                  <a:srgbClr val="000000"/>
                </a:solidFill>
              </a:rPr>
              <a:t>在</a:t>
            </a:r>
            <a:r>
              <a:rPr lang="zh-CN" altLang="en-US" dirty="0"/>
              <a:t>时钟有效边</a:t>
            </a:r>
            <a:r>
              <a:rPr kumimoji="1" lang="zh-CN" altLang="en-US" dirty="0">
                <a:solidFill>
                  <a:srgbClr val="000000"/>
                </a:solidFill>
              </a:rPr>
              <a:t>沿到达后，需要输入信号再保持一段时间</a:t>
            </a:r>
            <a:endParaRPr kumimoji="1" lang="en-US" altLang="zh-CN" dirty="0">
              <a:solidFill>
                <a:srgbClr val="000000"/>
              </a:solidFill>
            </a:endParaRPr>
          </a:p>
          <a:p>
            <a:pPr lvl="1"/>
            <a:endParaRPr lang="en-US" altLang="zh-CN" baseline="-10000" dirty="0"/>
          </a:p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zh-CN" altLang="en-US" dirty="0"/>
              <a:t>锁存器和触发器输出信号对时钟信号响应的延迟时间</a:t>
            </a:r>
          </a:p>
          <a:p>
            <a:pPr lvl="1">
              <a:lnSpc>
                <a:spcPct val="120000"/>
              </a:lnSpc>
              <a:spcBef>
                <a:spcPct val="10000"/>
              </a:spcBef>
            </a:pPr>
            <a:r>
              <a:rPr lang="zh-CN" altLang="en-US" dirty="0"/>
              <a:t>传输延迟时间</a:t>
            </a:r>
            <a:r>
              <a:rPr lang="en-US" altLang="zh-CN" dirty="0" err="1"/>
              <a:t>t</a:t>
            </a:r>
            <a:r>
              <a:rPr lang="en-US" altLang="zh-CN" baseline="-10000" dirty="0" err="1"/>
              <a:t>pd</a:t>
            </a:r>
            <a:r>
              <a:rPr lang="en-US" altLang="zh-CN" baseline="-10000" dirty="0"/>
              <a:t> (propagation delay)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3D225F3-9317-D65D-720C-0F383EAF5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F48EE5-BBE7-FC23-69AF-DDA62926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24</a:t>
            </a:fld>
            <a:r>
              <a:rPr lang="en-US" altLang="zh-CN" dirty="0"/>
              <a:t>/29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257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8BFBDA-9947-878F-2E70-E1F9BD53E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</a:t>
            </a:r>
            <a:r>
              <a:rPr lang="zh-CN" altLang="en-US" dirty="0"/>
              <a:t>锁存器定时波形图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322B24-72E1-E4E5-ECD4-D1E486564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D26D3F-0807-172F-E4B7-FE23CB553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25</a:t>
            </a:fld>
            <a:r>
              <a:rPr lang="en-US" altLang="zh-CN" dirty="0"/>
              <a:t>/29</a:t>
            </a: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DE172E4-BF0D-1DF9-8BA0-04F2669A7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0" y="1843088"/>
            <a:ext cx="1295400" cy="649287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20B2813-7D4A-ADD8-704C-532CE6AD8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7288" y="1843088"/>
            <a:ext cx="1584325" cy="649287"/>
          </a:xfrm>
          <a:prstGeom prst="rect">
            <a:avLst/>
          </a:prstGeom>
          <a:solidFill>
            <a:srgbClr val="FF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00EC2BA-B969-42A0-5AD1-155492B0C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5227638"/>
            <a:ext cx="2555875" cy="649287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9" name="Group 5">
            <a:extLst>
              <a:ext uri="{FF2B5EF4-FFF2-40B4-BE49-F238E27FC236}">
                <a16:creationId xmlns:a16="http://schemas.microsoft.com/office/drawing/2014/main" id="{9CF7D64E-D166-4248-F389-C4BC8404FFC6}"/>
              </a:ext>
            </a:extLst>
          </p:cNvPr>
          <p:cNvGrpSpPr>
            <a:grpSpLocks/>
          </p:cNvGrpSpPr>
          <p:nvPr/>
        </p:nvGrpSpPr>
        <p:grpSpPr bwMode="auto">
          <a:xfrm>
            <a:off x="6551613" y="1843088"/>
            <a:ext cx="433387" cy="649287"/>
            <a:chOff x="2743" y="1003"/>
            <a:chExt cx="273" cy="409"/>
          </a:xfrm>
        </p:grpSpPr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86B225CB-3ADA-1A9B-BA4F-F0BD41973C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" y="1003"/>
              <a:ext cx="273" cy="409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D5FC48C1-376F-57DC-24CA-829C428607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3" y="1003"/>
              <a:ext cx="273" cy="409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" name="Rectangle 8">
            <a:extLst>
              <a:ext uri="{FF2B5EF4-FFF2-40B4-BE49-F238E27FC236}">
                <a16:creationId xmlns:a16="http://schemas.microsoft.com/office/drawing/2014/main" id="{F21102DB-689B-5768-FF2A-78A1BFC28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5227638"/>
            <a:ext cx="1330325" cy="649287"/>
          </a:xfrm>
          <a:prstGeom prst="rect">
            <a:avLst/>
          </a:prstGeom>
          <a:solidFill>
            <a:srgbClr val="FF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DC477F6B-0D9A-7E33-C2C0-8C2D092B5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5227638"/>
            <a:ext cx="2232025" cy="64928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9425BDDD-CFAA-0DCA-4952-C7907B01F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843088"/>
            <a:ext cx="3276600" cy="64928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15" name="Group 12">
            <a:extLst>
              <a:ext uri="{FF2B5EF4-FFF2-40B4-BE49-F238E27FC236}">
                <a16:creationId xmlns:a16="http://schemas.microsoft.com/office/drawing/2014/main" id="{06B7585B-ACD5-31C6-4E51-2E7C41A8F769}"/>
              </a:ext>
            </a:extLst>
          </p:cNvPr>
          <p:cNvGrpSpPr>
            <a:grpSpLocks/>
          </p:cNvGrpSpPr>
          <p:nvPr/>
        </p:nvGrpSpPr>
        <p:grpSpPr bwMode="auto">
          <a:xfrm>
            <a:off x="4535488" y="1843088"/>
            <a:ext cx="433387" cy="649287"/>
            <a:chOff x="2743" y="1003"/>
            <a:chExt cx="273" cy="409"/>
          </a:xfrm>
        </p:grpSpPr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D6AA1879-16D8-03CE-A3BC-6839194287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" y="1003"/>
              <a:ext cx="273" cy="409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09B5898F-A5F3-8ED1-E73D-6F7EE7C30D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3" y="1003"/>
              <a:ext cx="273" cy="409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15">
            <a:extLst>
              <a:ext uri="{FF2B5EF4-FFF2-40B4-BE49-F238E27FC236}">
                <a16:creationId xmlns:a16="http://schemas.microsoft.com/office/drawing/2014/main" id="{98B3B3A8-95E5-CC47-3C98-E8253A14B64E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1843088"/>
            <a:ext cx="7023100" cy="647700"/>
            <a:chOff x="2517" y="1003"/>
            <a:chExt cx="1837" cy="408"/>
          </a:xfrm>
        </p:grpSpPr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F45E50BE-885B-4DF3-5CCA-965B86127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" y="1003"/>
              <a:ext cx="18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F7EF0210-8EAB-AD3C-4839-9C4D6759E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" y="1411"/>
              <a:ext cx="18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" name="Line 18">
            <a:extLst>
              <a:ext uri="{FF2B5EF4-FFF2-40B4-BE49-F238E27FC236}">
                <a16:creationId xmlns:a16="http://schemas.microsoft.com/office/drawing/2014/main" id="{1E39A995-CD7A-F445-E159-FD47D71A80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8888" y="3894138"/>
            <a:ext cx="7921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19">
            <a:extLst>
              <a:ext uri="{FF2B5EF4-FFF2-40B4-BE49-F238E27FC236}">
                <a16:creationId xmlns:a16="http://schemas.microsoft.com/office/drawing/2014/main" id="{6839D357-919D-1B41-D336-F01B70D763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3248025"/>
            <a:ext cx="3167062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55D7DB42-7DEE-5623-0D06-661FBA402D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4888" y="3894138"/>
            <a:ext cx="21955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7BEDE45E-4430-4C31-78A3-C42FA03B2B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51388" y="1844675"/>
            <a:ext cx="0" cy="3240088"/>
          </a:xfrm>
          <a:prstGeom prst="line">
            <a:avLst/>
          </a:prstGeom>
          <a:noFill/>
          <a:ln w="28575">
            <a:solidFill>
              <a:srgbClr val="0066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5D1891E9-47ED-C4D0-423E-B088DEA390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69100" y="1844675"/>
            <a:ext cx="0" cy="1403350"/>
          </a:xfrm>
          <a:prstGeom prst="line">
            <a:avLst/>
          </a:prstGeom>
          <a:noFill/>
          <a:ln w="28575">
            <a:solidFill>
              <a:srgbClr val="0066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1B77A0F9-A906-A973-4F71-871491E4E9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2708275"/>
            <a:ext cx="0" cy="1692275"/>
          </a:xfrm>
          <a:prstGeom prst="line">
            <a:avLst/>
          </a:prstGeom>
          <a:noFill/>
          <a:ln w="28575">
            <a:solidFill>
              <a:srgbClr val="0066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D98496E8-FAD9-D264-9599-65997A20C9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1388" y="3032125"/>
            <a:ext cx="11160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779499F6-B6A7-6E1D-C0CC-B9E68AB51B6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3032125"/>
            <a:ext cx="9032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163ED0EB-4FCA-EA8F-9EEE-DCAF67D02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1901825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D</a:t>
            </a:r>
          </a:p>
        </p:txBody>
      </p:sp>
      <p:sp>
        <p:nvSpPr>
          <p:cNvPr id="30" name="Text Box 28">
            <a:extLst>
              <a:ext uri="{FF2B5EF4-FFF2-40B4-BE49-F238E27FC236}">
                <a16:creationId xmlns:a16="http://schemas.microsoft.com/office/drawing/2014/main" id="{DDA6A0CF-FA47-B565-A2A5-5CDEC4435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88" y="339248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C</a:t>
            </a:r>
          </a:p>
        </p:txBody>
      </p:sp>
      <p:sp>
        <p:nvSpPr>
          <p:cNvPr id="31" name="Text Box 30">
            <a:extLst>
              <a:ext uri="{FF2B5EF4-FFF2-40B4-BE49-F238E27FC236}">
                <a16:creationId xmlns:a16="http://schemas.microsoft.com/office/drawing/2014/main" id="{FB74136E-D851-BD24-5AFF-54DA48304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25" y="2565400"/>
            <a:ext cx="587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latin typeface="Verdana" panose="020B0604030504040204" pitchFamily="34" charset="0"/>
              </a:rPr>
              <a:t>t</a:t>
            </a:r>
            <a:r>
              <a:rPr lang="en-US" altLang="zh-CN" sz="2400" baseline="-10000">
                <a:latin typeface="Verdana" panose="020B0604030504040204" pitchFamily="34" charset="0"/>
              </a:rPr>
              <a:t>su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9DEBA073-B92F-0256-6D40-86EBBB95B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1400" y="2565400"/>
            <a:ext cx="466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latin typeface="Verdana" panose="020B0604030504040204" pitchFamily="34" charset="0"/>
              </a:rPr>
              <a:t>t</a:t>
            </a:r>
            <a:r>
              <a:rPr lang="en-US" altLang="zh-CN" sz="2400" baseline="-10000">
                <a:latin typeface="Verdana" panose="020B0604030504040204" pitchFamily="34" charset="0"/>
              </a:rPr>
              <a:t>h</a:t>
            </a:r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1630F472-0269-674E-B6FE-5A992118F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0038" y="4365625"/>
            <a:ext cx="704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latin typeface="Verdana" panose="020B0604030504040204" pitchFamily="34" charset="0"/>
              </a:rPr>
              <a:t>t</a:t>
            </a:r>
            <a:r>
              <a:rPr lang="en-US" altLang="zh-CN" sz="2400" baseline="-10000">
                <a:latin typeface="Verdana" panose="020B0604030504040204" pitchFamily="34" charset="0"/>
              </a:rPr>
              <a:t>d-q</a:t>
            </a:r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DC93C810-0612-9705-C335-FF6ED56DB7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29413" y="4473575"/>
            <a:ext cx="0" cy="1401763"/>
          </a:xfrm>
          <a:prstGeom prst="line">
            <a:avLst/>
          </a:prstGeom>
          <a:noFill/>
          <a:ln w="28575">
            <a:solidFill>
              <a:srgbClr val="0066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8CF9564E-836C-ACC4-0E2F-AE0B7DA8932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1388" y="4833938"/>
            <a:ext cx="19796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Text Box 35">
            <a:extLst>
              <a:ext uri="{FF2B5EF4-FFF2-40B4-BE49-F238E27FC236}">
                <a16:creationId xmlns:a16="http://schemas.microsoft.com/office/drawing/2014/main" id="{C470BE81-AAF0-ECC2-3EBD-C6903D7A9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5335588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Q</a:t>
            </a:r>
          </a:p>
        </p:txBody>
      </p:sp>
      <p:sp>
        <p:nvSpPr>
          <p:cNvPr id="37" name="Line 36">
            <a:extLst>
              <a:ext uri="{FF2B5EF4-FFF2-40B4-BE49-F238E27FC236}">
                <a16:creationId xmlns:a16="http://schemas.microsoft.com/office/drawing/2014/main" id="{27AB4D99-75D3-435D-A121-81FFEE76B2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3248025"/>
            <a:ext cx="433388" cy="6492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Line 37">
            <a:extLst>
              <a:ext uri="{FF2B5EF4-FFF2-40B4-BE49-F238E27FC236}">
                <a16:creationId xmlns:a16="http://schemas.microsoft.com/office/drawing/2014/main" id="{487938B8-DDF8-699A-E3F9-1909BA9C1A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1050" y="3248025"/>
            <a:ext cx="433388" cy="6492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D0719B7-46A4-9741-4C01-E812BBACEA90}"/>
              </a:ext>
            </a:extLst>
          </p:cNvPr>
          <p:cNvGrpSpPr>
            <a:grpSpLocks/>
          </p:cNvGrpSpPr>
          <p:nvPr/>
        </p:nvGrpSpPr>
        <p:grpSpPr bwMode="auto">
          <a:xfrm>
            <a:off x="6513513" y="5226050"/>
            <a:ext cx="433387" cy="649288"/>
            <a:chOff x="2743" y="1003"/>
            <a:chExt cx="273" cy="409"/>
          </a:xfrm>
        </p:grpSpPr>
        <p:sp>
          <p:nvSpPr>
            <p:cNvPr id="40" name="Line 39">
              <a:extLst>
                <a:ext uri="{FF2B5EF4-FFF2-40B4-BE49-F238E27FC236}">
                  <a16:creationId xmlns:a16="http://schemas.microsoft.com/office/drawing/2014/main" id="{AE42E160-C7EA-8250-2D40-CF63200F4C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" y="1003"/>
              <a:ext cx="273" cy="409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40">
              <a:extLst>
                <a:ext uri="{FF2B5EF4-FFF2-40B4-BE49-F238E27FC236}">
                  <a16:creationId xmlns:a16="http://schemas.microsoft.com/office/drawing/2014/main" id="{64513A0C-B8EC-9C29-6CF2-E95035EDB0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3" y="1003"/>
              <a:ext cx="273" cy="409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4E4E07D-EB57-D414-D625-6F24F260123D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5226050"/>
            <a:ext cx="7023100" cy="647700"/>
            <a:chOff x="2517" y="1003"/>
            <a:chExt cx="1837" cy="408"/>
          </a:xfrm>
        </p:grpSpPr>
        <p:sp>
          <p:nvSpPr>
            <p:cNvPr id="43" name="Line 42">
              <a:extLst>
                <a:ext uri="{FF2B5EF4-FFF2-40B4-BE49-F238E27FC236}">
                  <a16:creationId xmlns:a16="http://schemas.microsoft.com/office/drawing/2014/main" id="{2D9427E8-F021-54AC-983F-8F1D73F543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" y="1003"/>
              <a:ext cx="18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43">
              <a:extLst>
                <a:ext uri="{FF2B5EF4-FFF2-40B4-BE49-F238E27FC236}">
                  <a16:creationId xmlns:a16="http://schemas.microsoft.com/office/drawing/2014/main" id="{E4BCC19E-91EA-6A94-353C-14182FE6D6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" y="1411"/>
              <a:ext cx="18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" name="Line 44">
            <a:extLst>
              <a:ext uri="{FF2B5EF4-FFF2-40B4-BE49-F238E27FC236}">
                <a16:creationId xmlns:a16="http://schemas.microsoft.com/office/drawing/2014/main" id="{3DEF2144-5ADC-F5E9-5F66-E8B15D0065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68538" y="3211513"/>
            <a:ext cx="0" cy="1873250"/>
          </a:xfrm>
          <a:prstGeom prst="line">
            <a:avLst/>
          </a:prstGeom>
          <a:noFill/>
          <a:ln w="28575">
            <a:solidFill>
              <a:srgbClr val="0066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Text Box 45">
            <a:extLst>
              <a:ext uri="{FF2B5EF4-FFF2-40B4-BE49-F238E27FC236}">
                <a16:creationId xmlns:a16="http://schemas.microsoft.com/office/drawing/2014/main" id="{C0DB50ED-3A86-3B20-B569-BB0427415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1938" y="4365625"/>
            <a:ext cx="681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latin typeface="Verdana" panose="020B0604030504040204" pitchFamily="34" charset="0"/>
              </a:rPr>
              <a:t>t</a:t>
            </a:r>
            <a:r>
              <a:rPr lang="en-US" altLang="zh-CN" sz="2400" baseline="-10000">
                <a:latin typeface="Verdana" panose="020B0604030504040204" pitchFamily="34" charset="0"/>
              </a:rPr>
              <a:t>c-q</a:t>
            </a:r>
          </a:p>
        </p:txBody>
      </p:sp>
      <p:sp>
        <p:nvSpPr>
          <p:cNvPr id="47" name="Line 46">
            <a:extLst>
              <a:ext uri="{FF2B5EF4-FFF2-40B4-BE49-F238E27FC236}">
                <a16:creationId xmlns:a16="http://schemas.microsoft.com/office/drawing/2014/main" id="{7DB3376A-9A65-CE54-E1FB-E891608BF1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67175" y="4471988"/>
            <a:ext cx="0" cy="1403350"/>
          </a:xfrm>
          <a:prstGeom prst="line">
            <a:avLst/>
          </a:prstGeom>
          <a:noFill/>
          <a:ln w="28575">
            <a:solidFill>
              <a:srgbClr val="0066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Line 47">
            <a:extLst>
              <a:ext uri="{FF2B5EF4-FFF2-40B4-BE49-F238E27FC236}">
                <a16:creationId xmlns:a16="http://schemas.microsoft.com/office/drawing/2014/main" id="{E39699B1-F104-EA9C-F01F-0768045D9A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4832350"/>
            <a:ext cx="17986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F6A63D1-E51D-5E34-5458-F71BCB2F1B5D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5224463"/>
            <a:ext cx="433388" cy="649287"/>
            <a:chOff x="2743" y="1003"/>
            <a:chExt cx="273" cy="409"/>
          </a:xfrm>
        </p:grpSpPr>
        <p:sp>
          <p:nvSpPr>
            <p:cNvPr id="50" name="Line 49">
              <a:extLst>
                <a:ext uri="{FF2B5EF4-FFF2-40B4-BE49-F238E27FC236}">
                  <a16:creationId xmlns:a16="http://schemas.microsoft.com/office/drawing/2014/main" id="{513C45CD-1D6B-D955-ED04-EC519BAB60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" y="1003"/>
              <a:ext cx="273" cy="409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50">
              <a:extLst>
                <a:ext uri="{FF2B5EF4-FFF2-40B4-BE49-F238E27FC236}">
                  <a16:creationId xmlns:a16="http://schemas.microsoft.com/office/drawing/2014/main" id="{BF7E3B5D-9F57-2189-234D-75E1AAA298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3" y="1003"/>
              <a:ext cx="273" cy="409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8D746213-D7FD-6139-9B4F-B615450E0D9C}"/>
              </a:ext>
            </a:extLst>
          </p:cNvPr>
          <p:cNvGrpSpPr/>
          <p:nvPr/>
        </p:nvGrpSpPr>
        <p:grpSpPr>
          <a:xfrm>
            <a:off x="7632700" y="638701"/>
            <a:ext cx="1547813" cy="862012"/>
            <a:chOff x="6721475" y="404813"/>
            <a:chExt cx="1547813" cy="862012"/>
          </a:xfrm>
        </p:grpSpPr>
        <p:sp>
          <p:nvSpPr>
            <p:cNvPr id="52" name="Rectangle 52">
              <a:extLst>
                <a:ext uri="{FF2B5EF4-FFF2-40B4-BE49-F238E27FC236}">
                  <a16:creationId xmlns:a16="http://schemas.microsoft.com/office/drawing/2014/main" id="{E1759C1F-C7F3-370C-E0AD-90ED7847B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8338" y="425450"/>
              <a:ext cx="593725" cy="84137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53" name="Line 53">
              <a:extLst>
                <a:ext uri="{FF2B5EF4-FFF2-40B4-BE49-F238E27FC236}">
                  <a16:creationId xmlns:a16="http://schemas.microsoft.com/office/drawing/2014/main" id="{FAF42767-2719-B4B5-84AF-32EAF48AC4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1475" y="623888"/>
              <a:ext cx="2968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54">
              <a:extLst>
                <a:ext uri="{FF2B5EF4-FFF2-40B4-BE49-F238E27FC236}">
                  <a16:creationId xmlns:a16="http://schemas.microsoft.com/office/drawing/2014/main" id="{9E721288-270F-2BC8-970C-5B5A4CE8BF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1475" y="1052513"/>
              <a:ext cx="2968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 Box 55">
              <a:extLst>
                <a:ext uri="{FF2B5EF4-FFF2-40B4-BE49-F238E27FC236}">
                  <a16:creationId xmlns:a16="http://schemas.microsoft.com/office/drawing/2014/main" id="{CFA75C4D-AD3F-15E2-6503-417CBAFBBD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5163" y="441325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D</a:t>
              </a:r>
            </a:p>
          </p:txBody>
        </p:sp>
        <p:sp>
          <p:nvSpPr>
            <p:cNvPr id="56" name="Text Box 56">
              <a:extLst>
                <a:ext uri="{FF2B5EF4-FFF2-40B4-BE49-F238E27FC236}">
                  <a16:creationId xmlns:a16="http://schemas.microsoft.com/office/drawing/2014/main" id="{9AF6DEDF-9D22-78AF-7405-F7BB52E91C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08813" y="836613"/>
              <a:ext cx="32226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C</a:t>
              </a:r>
            </a:p>
          </p:txBody>
        </p:sp>
        <p:sp>
          <p:nvSpPr>
            <p:cNvPr id="57" name="Line 57">
              <a:extLst>
                <a:ext uri="{FF2B5EF4-FFF2-40B4-BE49-F238E27FC236}">
                  <a16:creationId xmlns:a16="http://schemas.microsoft.com/office/drawing/2014/main" id="{44BAD9EF-5E1F-AB96-06D2-FAE04DE780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12063" y="623888"/>
              <a:ext cx="279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 Box 59">
              <a:extLst>
                <a:ext uri="{FF2B5EF4-FFF2-40B4-BE49-F238E27FC236}">
                  <a16:creationId xmlns:a16="http://schemas.microsoft.com/office/drawing/2014/main" id="{A57B3203-8282-6F31-3250-BD1DF08771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8288" y="404813"/>
              <a:ext cx="3810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5749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D90549-4A48-91B1-5AF8-440C01F65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</a:t>
            </a:r>
            <a:r>
              <a:rPr lang="zh-CN" altLang="en-US" dirty="0"/>
              <a:t>触发器定时波形图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FEA2C0-E97B-A725-6E03-BA26CDCB2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F442D1-FED1-CD7B-4E4D-345487BEA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26</a:t>
            </a:fld>
            <a:r>
              <a:rPr lang="en-US" altLang="zh-CN" dirty="0"/>
              <a:t>/29</a:t>
            </a:r>
            <a:endParaRPr 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0B28C98-86F5-07AE-90A8-5E2F31E3DEFE}"/>
              </a:ext>
            </a:extLst>
          </p:cNvPr>
          <p:cNvGrpSpPr/>
          <p:nvPr/>
        </p:nvGrpSpPr>
        <p:grpSpPr>
          <a:xfrm>
            <a:off x="7628139" y="658914"/>
            <a:ext cx="1547813" cy="862012"/>
            <a:chOff x="6721475" y="404813"/>
            <a:chExt cx="1547813" cy="862012"/>
          </a:xfrm>
        </p:grpSpPr>
        <p:sp>
          <p:nvSpPr>
            <p:cNvPr id="7" name="Rectangle 45">
              <a:extLst>
                <a:ext uri="{FF2B5EF4-FFF2-40B4-BE49-F238E27FC236}">
                  <a16:creationId xmlns:a16="http://schemas.microsoft.com/office/drawing/2014/main" id="{635639B3-807B-E87E-E077-4F3D10080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8338" y="425450"/>
              <a:ext cx="593725" cy="84137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8" name="Line 46">
              <a:extLst>
                <a:ext uri="{FF2B5EF4-FFF2-40B4-BE49-F238E27FC236}">
                  <a16:creationId xmlns:a16="http://schemas.microsoft.com/office/drawing/2014/main" id="{6B2E14A2-598B-CEB3-BD53-095E3E480C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1475" y="623888"/>
              <a:ext cx="2968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47">
              <a:extLst>
                <a:ext uri="{FF2B5EF4-FFF2-40B4-BE49-F238E27FC236}">
                  <a16:creationId xmlns:a16="http://schemas.microsoft.com/office/drawing/2014/main" id="{136B90A3-4267-3932-CB5F-5AD0D21160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1475" y="1041400"/>
              <a:ext cx="2968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Box 48">
              <a:extLst>
                <a:ext uri="{FF2B5EF4-FFF2-40B4-BE49-F238E27FC236}">
                  <a16:creationId xmlns:a16="http://schemas.microsoft.com/office/drawing/2014/main" id="{2F998B06-CE1A-5E46-9D81-6C2925510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5163" y="441325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D</a:t>
              </a:r>
            </a:p>
          </p:txBody>
        </p:sp>
        <p:sp>
          <p:nvSpPr>
            <p:cNvPr id="11" name="Line 49">
              <a:extLst>
                <a:ext uri="{FF2B5EF4-FFF2-40B4-BE49-F238E27FC236}">
                  <a16:creationId xmlns:a16="http://schemas.microsoft.com/office/drawing/2014/main" id="{6F55B67D-AD73-C529-4CD6-0D410E989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12063" y="623888"/>
              <a:ext cx="279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Box 51">
              <a:extLst>
                <a:ext uri="{FF2B5EF4-FFF2-40B4-BE49-F238E27FC236}">
                  <a16:creationId xmlns:a16="http://schemas.microsoft.com/office/drawing/2014/main" id="{AB2D572D-A75C-4347-9733-3D8B229322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8288" y="404813"/>
              <a:ext cx="3810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13" name="Line 55">
              <a:extLst>
                <a:ext uri="{FF2B5EF4-FFF2-40B4-BE49-F238E27FC236}">
                  <a16:creationId xmlns:a16="http://schemas.microsoft.com/office/drawing/2014/main" id="{1CFD3472-D381-A5D3-C144-4A912E717F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19925" y="944563"/>
              <a:ext cx="107950" cy="107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56">
              <a:extLst>
                <a:ext uri="{FF2B5EF4-FFF2-40B4-BE49-F238E27FC236}">
                  <a16:creationId xmlns:a16="http://schemas.microsoft.com/office/drawing/2014/main" id="{C3C1FCD8-2104-0357-F61E-2D453C0C40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19925" y="1052513"/>
              <a:ext cx="107950" cy="107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Box 58">
              <a:extLst>
                <a:ext uri="{FF2B5EF4-FFF2-40B4-BE49-F238E27FC236}">
                  <a16:creationId xmlns:a16="http://schemas.microsoft.com/office/drawing/2014/main" id="{660A7FA8-25FE-CE9F-B114-A5DF342115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8825" y="842963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C</a:t>
              </a:r>
            </a:p>
          </p:txBody>
        </p:sp>
      </p:grpSp>
      <p:sp>
        <p:nvSpPr>
          <p:cNvPr id="16" name="Text Box 2">
            <a:extLst>
              <a:ext uri="{FF2B5EF4-FFF2-40B4-BE49-F238E27FC236}">
                <a16:creationId xmlns:a16="http://schemas.microsoft.com/office/drawing/2014/main" id="{BB3D65E2-AB33-B260-905B-AA9C6F722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0775" y="2638425"/>
            <a:ext cx="466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latin typeface="Verdana" panose="020B0604030504040204" pitchFamily="34" charset="0"/>
              </a:rPr>
              <a:t>t</a:t>
            </a:r>
            <a:r>
              <a:rPr lang="en-US" altLang="zh-CN" sz="2400" baseline="-10000">
                <a:latin typeface="Verdana" panose="020B0604030504040204" pitchFamily="34" charset="0"/>
              </a:rPr>
              <a:t>h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1141C850-7511-5EBC-7082-D4BD09E8C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1843088"/>
            <a:ext cx="2555875" cy="649287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66BB1BEF-4C2F-4A30-F2AF-58392E1E4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1843088"/>
            <a:ext cx="1476375" cy="649287"/>
          </a:xfrm>
          <a:prstGeom prst="rect">
            <a:avLst/>
          </a:prstGeom>
          <a:solidFill>
            <a:srgbClr val="FF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80AD370F-5D55-3D4C-A74D-0FAD5ABB1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5227638"/>
            <a:ext cx="5257800" cy="649287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20" name="Group 6">
            <a:extLst>
              <a:ext uri="{FF2B5EF4-FFF2-40B4-BE49-F238E27FC236}">
                <a16:creationId xmlns:a16="http://schemas.microsoft.com/office/drawing/2014/main" id="{B1AC6445-729C-3732-A93E-13ABE6903389}"/>
              </a:ext>
            </a:extLst>
          </p:cNvPr>
          <p:cNvGrpSpPr>
            <a:grpSpLocks/>
          </p:cNvGrpSpPr>
          <p:nvPr/>
        </p:nvGrpSpPr>
        <p:grpSpPr bwMode="auto">
          <a:xfrm>
            <a:off x="5291138" y="1843088"/>
            <a:ext cx="433387" cy="649287"/>
            <a:chOff x="2743" y="1003"/>
            <a:chExt cx="273" cy="409"/>
          </a:xfrm>
        </p:grpSpPr>
        <p:sp>
          <p:nvSpPr>
            <p:cNvPr id="21" name="Line 7">
              <a:extLst>
                <a:ext uri="{FF2B5EF4-FFF2-40B4-BE49-F238E27FC236}">
                  <a16:creationId xmlns:a16="http://schemas.microsoft.com/office/drawing/2014/main" id="{7A3C0C5A-DF4B-CD6A-CD5C-F206FF05FE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" y="1003"/>
              <a:ext cx="273" cy="409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8">
              <a:extLst>
                <a:ext uri="{FF2B5EF4-FFF2-40B4-BE49-F238E27FC236}">
                  <a16:creationId xmlns:a16="http://schemas.microsoft.com/office/drawing/2014/main" id="{289DB33B-BD16-B3F9-69C5-BFBEF1132E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3" y="1003"/>
              <a:ext cx="273" cy="409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" name="Rectangle 9">
            <a:extLst>
              <a:ext uri="{FF2B5EF4-FFF2-40B4-BE49-F238E27FC236}">
                <a16:creationId xmlns:a16="http://schemas.microsoft.com/office/drawing/2014/main" id="{756DBAFD-E8F3-DEC8-7E78-EEF533040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5227638"/>
            <a:ext cx="1330325" cy="649287"/>
          </a:xfrm>
          <a:prstGeom prst="rect">
            <a:avLst/>
          </a:prstGeom>
          <a:solidFill>
            <a:srgbClr val="FF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EB3870B3-B167-076A-2159-3B62AE7FB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843088"/>
            <a:ext cx="2125662" cy="64928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25" name="Group 12">
            <a:extLst>
              <a:ext uri="{FF2B5EF4-FFF2-40B4-BE49-F238E27FC236}">
                <a16:creationId xmlns:a16="http://schemas.microsoft.com/office/drawing/2014/main" id="{10A2E736-4873-3B81-CB2D-50DA0D7FCD40}"/>
              </a:ext>
            </a:extLst>
          </p:cNvPr>
          <p:cNvGrpSpPr>
            <a:grpSpLocks/>
          </p:cNvGrpSpPr>
          <p:nvPr/>
        </p:nvGrpSpPr>
        <p:grpSpPr bwMode="auto">
          <a:xfrm>
            <a:off x="3384550" y="1843088"/>
            <a:ext cx="433388" cy="649287"/>
            <a:chOff x="2743" y="1003"/>
            <a:chExt cx="273" cy="409"/>
          </a:xfrm>
        </p:grpSpPr>
        <p:sp>
          <p:nvSpPr>
            <p:cNvPr id="26" name="Line 13">
              <a:extLst>
                <a:ext uri="{FF2B5EF4-FFF2-40B4-BE49-F238E27FC236}">
                  <a16:creationId xmlns:a16="http://schemas.microsoft.com/office/drawing/2014/main" id="{48FCDB12-8762-6C3D-E33E-C42BAB7158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" y="1003"/>
              <a:ext cx="273" cy="409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14">
              <a:extLst>
                <a:ext uri="{FF2B5EF4-FFF2-40B4-BE49-F238E27FC236}">
                  <a16:creationId xmlns:a16="http://schemas.microsoft.com/office/drawing/2014/main" id="{4E2A5C66-BA44-8C7E-537C-1DA022777B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3" y="1003"/>
              <a:ext cx="273" cy="409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" name="Group 15">
            <a:extLst>
              <a:ext uri="{FF2B5EF4-FFF2-40B4-BE49-F238E27FC236}">
                <a16:creationId xmlns:a16="http://schemas.microsoft.com/office/drawing/2014/main" id="{E2862348-23E2-9E65-1C03-14DD7FEE06BF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1843088"/>
            <a:ext cx="7023100" cy="647700"/>
            <a:chOff x="2517" y="1003"/>
            <a:chExt cx="1837" cy="408"/>
          </a:xfrm>
        </p:grpSpPr>
        <p:sp>
          <p:nvSpPr>
            <p:cNvPr id="29" name="Line 16">
              <a:extLst>
                <a:ext uri="{FF2B5EF4-FFF2-40B4-BE49-F238E27FC236}">
                  <a16:creationId xmlns:a16="http://schemas.microsoft.com/office/drawing/2014/main" id="{AFB53C7D-A6E6-50CC-D7F8-7A6FF1CED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" y="1003"/>
              <a:ext cx="18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17">
              <a:extLst>
                <a:ext uri="{FF2B5EF4-FFF2-40B4-BE49-F238E27FC236}">
                  <a16:creationId xmlns:a16="http://schemas.microsoft.com/office/drawing/2014/main" id="{466D1518-2C54-B14E-856F-4D7396F5FB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" y="1411"/>
              <a:ext cx="18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" name="Line 18">
            <a:extLst>
              <a:ext uri="{FF2B5EF4-FFF2-40B4-BE49-F238E27FC236}">
                <a16:creationId xmlns:a16="http://schemas.microsoft.com/office/drawing/2014/main" id="{B63363C2-96CE-47BC-68DA-DFB3B168A2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8888" y="4254500"/>
            <a:ext cx="3276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19">
            <a:extLst>
              <a:ext uri="{FF2B5EF4-FFF2-40B4-BE49-F238E27FC236}">
                <a16:creationId xmlns:a16="http://schemas.microsoft.com/office/drawing/2014/main" id="{7C3381C2-0DF1-FF68-0B95-7CF57B3286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7288" y="3608388"/>
            <a:ext cx="20875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20">
            <a:extLst>
              <a:ext uri="{FF2B5EF4-FFF2-40B4-BE49-F238E27FC236}">
                <a16:creationId xmlns:a16="http://schemas.microsoft.com/office/drawing/2014/main" id="{AD232FE7-34DB-2D22-5E87-3E70D001B4B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8238" y="4254500"/>
            <a:ext cx="7921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21">
            <a:extLst>
              <a:ext uri="{FF2B5EF4-FFF2-40B4-BE49-F238E27FC236}">
                <a16:creationId xmlns:a16="http://schemas.microsoft.com/office/drawing/2014/main" id="{32D8C195-ED7F-E7FA-AF9B-6183516DBA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00450" y="1844675"/>
            <a:ext cx="0" cy="1476375"/>
          </a:xfrm>
          <a:prstGeom prst="line">
            <a:avLst/>
          </a:prstGeom>
          <a:noFill/>
          <a:ln w="28575">
            <a:solidFill>
              <a:srgbClr val="0066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22">
            <a:extLst>
              <a:ext uri="{FF2B5EF4-FFF2-40B4-BE49-F238E27FC236}">
                <a16:creationId xmlns:a16="http://schemas.microsoft.com/office/drawing/2014/main" id="{8F4D7192-2DF0-020E-85F0-37A3DCBF09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08625" y="1844675"/>
            <a:ext cx="0" cy="1512888"/>
          </a:xfrm>
          <a:prstGeom prst="line">
            <a:avLst/>
          </a:prstGeom>
          <a:noFill/>
          <a:ln w="28575">
            <a:solidFill>
              <a:srgbClr val="0066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23">
            <a:extLst>
              <a:ext uri="{FF2B5EF4-FFF2-40B4-BE49-F238E27FC236}">
                <a16:creationId xmlns:a16="http://schemas.microsoft.com/office/drawing/2014/main" id="{8E8CED9E-9396-73EA-D390-EB8CE1030B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52975" y="2708275"/>
            <a:ext cx="0" cy="2413000"/>
          </a:xfrm>
          <a:prstGeom prst="line">
            <a:avLst/>
          </a:prstGeom>
          <a:noFill/>
          <a:ln w="28575">
            <a:solidFill>
              <a:srgbClr val="0066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Line 24">
            <a:extLst>
              <a:ext uri="{FF2B5EF4-FFF2-40B4-BE49-F238E27FC236}">
                <a16:creationId xmlns:a16="http://schemas.microsoft.com/office/drawing/2014/main" id="{BFA62B1D-5991-50D8-6A2A-6D7FE451B56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105150"/>
            <a:ext cx="11509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Line 25">
            <a:extLst>
              <a:ext uri="{FF2B5EF4-FFF2-40B4-BE49-F238E27FC236}">
                <a16:creationId xmlns:a16="http://schemas.microsoft.com/office/drawing/2014/main" id="{DD7B843D-0799-EB64-78B9-B378895615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1388" y="3105150"/>
            <a:ext cx="7572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Text Box 27">
            <a:extLst>
              <a:ext uri="{FF2B5EF4-FFF2-40B4-BE49-F238E27FC236}">
                <a16:creationId xmlns:a16="http://schemas.microsoft.com/office/drawing/2014/main" id="{1609A188-7371-8000-9739-3EF3888DA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1901825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D</a:t>
            </a:r>
          </a:p>
        </p:txBody>
      </p:sp>
      <p:sp>
        <p:nvSpPr>
          <p:cNvPr id="40" name="Text Box 28">
            <a:extLst>
              <a:ext uri="{FF2B5EF4-FFF2-40B4-BE49-F238E27FC236}">
                <a16:creationId xmlns:a16="http://schemas.microsoft.com/office/drawing/2014/main" id="{7DC32FB7-3733-EE1D-D888-616D6A6B5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3" y="3752850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C</a:t>
            </a:r>
          </a:p>
        </p:txBody>
      </p:sp>
      <p:sp>
        <p:nvSpPr>
          <p:cNvPr id="41" name="Text Box 30">
            <a:extLst>
              <a:ext uri="{FF2B5EF4-FFF2-40B4-BE49-F238E27FC236}">
                <a16:creationId xmlns:a16="http://schemas.microsoft.com/office/drawing/2014/main" id="{5941B65A-3A37-F7C9-B159-6F2E07298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1888" y="2638425"/>
            <a:ext cx="587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latin typeface="Verdana" panose="020B0604030504040204" pitchFamily="34" charset="0"/>
              </a:rPr>
              <a:t>t</a:t>
            </a:r>
            <a:r>
              <a:rPr lang="en-US" altLang="zh-CN" sz="2400" baseline="-10000">
                <a:latin typeface="Verdana" panose="020B0604030504040204" pitchFamily="34" charset="0"/>
              </a:rPr>
              <a:t>su</a:t>
            </a:r>
          </a:p>
        </p:txBody>
      </p:sp>
      <p:sp>
        <p:nvSpPr>
          <p:cNvPr id="42" name="Text Box 31">
            <a:extLst>
              <a:ext uri="{FF2B5EF4-FFF2-40B4-BE49-F238E27FC236}">
                <a16:creationId xmlns:a16="http://schemas.microsoft.com/office/drawing/2014/main" id="{9B0C0ADF-8BF2-25CB-23DC-2C8F80AA9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367213"/>
            <a:ext cx="608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latin typeface="Verdana" panose="020B0604030504040204" pitchFamily="34" charset="0"/>
              </a:rPr>
              <a:t>t</a:t>
            </a:r>
            <a:r>
              <a:rPr lang="en-US" altLang="zh-CN" sz="2400" baseline="-10000">
                <a:latin typeface="Verdana" panose="020B0604030504040204" pitchFamily="34" charset="0"/>
              </a:rPr>
              <a:t>pd</a:t>
            </a:r>
          </a:p>
        </p:txBody>
      </p:sp>
      <p:sp>
        <p:nvSpPr>
          <p:cNvPr id="43" name="Line 32">
            <a:extLst>
              <a:ext uri="{FF2B5EF4-FFF2-40B4-BE49-F238E27FC236}">
                <a16:creationId xmlns:a16="http://schemas.microsoft.com/office/drawing/2014/main" id="{79F34361-FC30-AA64-C195-0BD3091AF9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29413" y="4473575"/>
            <a:ext cx="0" cy="1401763"/>
          </a:xfrm>
          <a:prstGeom prst="line">
            <a:avLst/>
          </a:prstGeom>
          <a:noFill/>
          <a:ln w="28575">
            <a:solidFill>
              <a:srgbClr val="0066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Line 33">
            <a:extLst>
              <a:ext uri="{FF2B5EF4-FFF2-40B4-BE49-F238E27FC236}">
                <a16:creationId xmlns:a16="http://schemas.microsoft.com/office/drawing/2014/main" id="{9EC6B371-A14C-FF0D-F800-32967CACC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1388" y="4833938"/>
            <a:ext cx="19796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Text Box 34">
            <a:extLst>
              <a:ext uri="{FF2B5EF4-FFF2-40B4-BE49-F238E27FC236}">
                <a16:creationId xmlns:a16="http://schemas.microsoft.com/office/drawing/2014/main" id="{C160F574-7F45-BF2A-FC8F-316A87F87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5335588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Q</a:t>
            </a:r>
          </a:p>
        </p:txBody>
      </p:sp>
      <p:sp>
        <p:nvSpPr>
          <p:cNvPr id="46" name="Line 35">
            <a:extLst>
              <a:ext uri="{FF2B5EF4-FFF2-40B4-BE49-F238E27FC236}">
                <a16:creationId xmlns:a16="http://schemas.microsoft.com/office/drawing/2014/main" id="{E12FEF33-93CC-16DC-87D4-C149DD2D3A5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4850" y="3608388"/>
            <a:ext cx="433388" cy="6492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Line 36">
            <a:extLst>
              <a:ext uri="{FF2B5EF4-FFF2-40B4-BE49-F238E27FC236}">
                <a16:creationId xmlns:a16="http://schemas.microsoft.com/office/drawing/2014/main" id="{FAF1D611-1153-77A2-B813-6863C4AA37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33900" y="3608388"/>
            <a:ext cx="433388" cy="649287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8" name="Group 37">
            <a:extLst>
              <a:ext uri="{FF2B5EF4-FFF2-40B4-BE49-F238E27FC236}">
                <a16:creationId xmlns:a16="http://schemas.microsoft.com/office/drawing/2014/main" id="{89056ACE-915F-21F0-11D5-B55A1906FFB5}"/>
              </a:ext>
            </a:extLst>
          </p:cNvPr>
          <p:cNvGrpSpPr>
            <a:grpSpLocks/>
          </p:cNvGrpSpPr>
          <p:nvPr/>
        </p:nvGrpSpPr>
        <p:grpSpPr bwMode="auto">
          <a:xfrm>
            <a:off x="6513513" y="5226050"/>
            <a:ext cx="433387" cy="649288"/>
            <a:chOff x="2743" y="1003"/>
            <a:chExt cx="273" cy="409"/>
          </a:xfrm>
        </p:grpSpPr>
        <p:sp>
          <p:nvSpPr>
            <p:cNvPr id="49" name="Line 38">
              <a:extLst>
                <a:ext uri="{FF2B5EF4-FFF2-40B4-BE49-F238E27FC236}">
                  <a16:creationId xmlns:a16="http://schemas.microsoft.com/office/drawing/2014/main" id="{31EB243B-6554-C542-7093-E596933117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" y="1003"/>
              <a:ext cx="273" cy="409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39">
              <a:extLst>
                <a:ext uri="{FF2B5EF4-FFF2-40B4-BE49-F238E27FC236}">
                  <a16:creationId xmlns:a16="http://schemas.microsoft.com/office/drawing/2014/main" id="{6C8534F0-26E7-5922-4F2D-E1E028C2D6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3" y="1003"/>
              <a:ext cx="273" cy="409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1" name="Group 40">
            <a:extLst>
              <a:ext uri="{FF2B5EF4-FFF2-40B4-BE49-F238E27FC236}">
                <a16:creationId xmlns:a16="http://schemas.microsoft.com/office/drawing/2014/main" id="{6072D099-0EB9-A493-3915-E81348AD99D5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5226050"/>
            <a:ext cx="7023100" cy="647700"/>
            <a:chOff x="2517" y="1003"/>
            <a:chExt cx="1837" cy="408"/>
          </a:xfrm>
        </p:grpSpPr>
        <p:sp>
          <p:nvSpPr>
            <p:cNvPr id="52" name="Line 41">
              <a:extLst>
                <a:ext uri="{FF2B5EF4-FFF2-40B4-BE49-F238E27FC236}">
                  <a16:creationId xmlns:a16="http://schemas.microsoft.com/office/drawing/2014/main" id="{083352C1-E643-7072-14CF-EE2079B206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" y="1003"/>
              <a:ext cx="18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42">
              <a:extLst>
                <a:ext uri="{FF2B5EF4-FFF2-40B4-BE49-F238E27FC236}">
                  <a16:creationId xmlns:a16="http://schemas.microsoft.com/office/drawing/2014/main" id="{929048D2-615D-403E-AB6B-ED886F27AF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" y="1411"/>
              <a:ext cx="18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97943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53E7A-B6C5-808F-FB51-FD17C7771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示例：分析</a:t>
            </a:r>
            <a:r>
              <a:rPr lang="en-US" altLang="zh-CN" dirty="0"/>
              <a:t>D</a:t>
            </a:r>
            <a:r>
              <a:rPr lang="zh-CN" altLang="en-US" dirty="0"/>
              <a:t>触发器动态参数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E7351E-F0FC-7B2B-CBA6-DA1736111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设所有门的传输延迟都等于</a:t>
            </a:r>
            <a:r>
              <a:rPr lang="en-US" altLang="zh-CN" dirty="0"/>
              <a:t>t</a:t>
            </a:r>
            <a:r>
              <a:rPr lang="en-US" altLang="zh-CN" sz="2000" dirty="0"/>
              <a:t>d</a:t>
            </a:r>
            <a:r>
              <a:rPr lang="zh-CN" altLang="en-US" dirty="0"/>
              <a:t>，忽略导线延迟，求：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800" dirty="0"/>
              <a:t>	</a:t>
            </a:r>
            <a:r>
              <a:rPr lang="en-US" altLang="zh-CN" sz="2800" dirty="0" err="1"/>
              <a:t>t</a:t>
            </a:r>
            <a:r>
              <a:rPr lang="en-US" altLang="zh-CN" sz="2000" dirty="0" err="1"/>
              <a:t>su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t</a:t>
            </a:r>
            <a:r>
              <a:rPr lang="en-US" altLang="zh-CN" sz="2000" dirty="0" err="1"/>
              <a:t>h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t</a:t>
            </a:r>
            <a:r>
              <a:rPr lang="en-US" altLang="zh-CN" sz="2000" dirty="0" err="1"/>
              <a:t>pd</a:t>
            </a:r>
            <a:endParaRPr lang="zh-CN" altLang="en-US" sz="2000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B0CD7D-69A3-51C5-40E3-332C05F80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672C67-48A5-1D9F-4940-0EABA92F2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27</a:t>
            </a:fld>
            <a:r>
              <a:rPr lang="en-US" altLang="zh-CN" dirty="0"/>
              <a:t>/29</a:t>
            </a:r>
            <a:endParaRPr lang="en-US" dirty="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83E2A91A-1115-423C-3E6E-FE49A8DF0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7761" y="4019073"/>
            <a:ext cx="1365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b="0" dirty="0" err="1">
                <a:latin typeface="Arial" panose="020B0604020202020204" pitchFamily="34" charset="0"/>
              </a:rPr>
              <a:t>t</a:t>
            </a:r>
            <a:r>
              <a:rPr lang="en-US" altLang="zh-CN" sz="2000" b="0" dirty="0" err="1">
                <a:latin typeface="Arial" panose="020B0604020202020204" pitchFamily="34" charset="0"/>
              </a:rPr>
              <a:t>su</a:t>
            </a:r>
            <a:r>
              <a:rPr lang="en-US" altLang="zh-CN" sz="2000" b="0" dirty="0">
                <a:latin typeface="Arial" panose="020B0604020202020204" pitchFamily="34" charset="0"/>
              </a:rPr>
              <a:t> </a:t>
            </a:r>
            <a:r>
              <a:rPr lang="en-US" altLang="zh-CN" b="0" dirty="0">
                <a:latin typeface="Arial" panose="020B0604020202020204" pitchFamily="34" charset="0"/>
              </a:rPr>
              <a:t>= 2t</a:t>
            </a:r>
            <a:r>
              <a:rPr lang="en-US" altLang="zh-CN" sz="2000" b="0" dirty="0">
                <a:latin typeface="Arial" panose="020B0604020202020204" pitchFamily="34" charset="0"/>
              </a:rPr>
              <a:t>d</a:t>
            </a:r>
            <a:endParaRPr lang="zh-CN" altLang="en-US" sz="2000" b="0" dirty="0">
              <a:latin typeface="Arial" panose="020B0604020202020204" pitchFamily="34" charset="0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0632C0B-4B56-8621-63EF-421ABFC48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886" y="4712810"/>
            <a:ext cx="1039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b="0">
                <a:latin typeface="Arial" panose="020B0604020202020204" pitchFamily="34" charset="0"/>
              </a:rPr>
              <a:t>t</a:t>
            </a:r>
            <a:r>
              <a:rPr lang="en-US" altLang="zh-CN" sz="2000" b="0">
                <a:latin typeface="Arial" panose="020B0604020202020204" pitchFamily="34" charset="0"/>
              </a:rPr>
              <a:t>h </a:t>
            </a:r>
            <a:r>
              <a:rPr lang="en-US" altLang="zh-CN" b="0">
                <a:latin typeface="Arial" panose="020B0604020202020204" pitchFamily="34" charset="0"/>
              </a:rPr>
              <a:t>= t</a:t>
            </a:r>
            <a:r>
              <a:rPr lang="en-US" altLang="zh-CN" sz="2000" b="0">
                <a:latin typeface="Arial" panose="020B0604020202020204" pitchFamily="34" charset="0"/>
              </a:rPr>
              <a:t>d</a:t>
            </a:r>
            <a:endParaRPr lang="zh-CN" altLang="en-US" sz="2000" b="0">
              <a:latin typeface="Arial" panose="020B0604020202020204" pitchFamily="34" charset="0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F066FE40-06B5-8DA6-1B2E-EBEF0892E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886" y="5323998"/>
            <a:ext cx="13922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b="0">
                <a:latin typeface="Arial" panose="020B0604020202020204" pitchFamily="34" charset="0"/>
              </a:rPr>
              <a:t>t</a:t>
            </a:r>
            <a:r>
              <a:rPr lang="en-US" altLang="zh-CN" sz="2000" b="0">
                <a:latin typeface="Arial" panose="020B0604020202020204" pitchFamily="34" charset="0"/>
              </a:rPr>
              <a:t>pd </a:t>
            </a:r>
            <a:r>
              <a:rPr lang="en-US" altLang="zh-CN" b="0">
                <a:latin typeface="Arial" panose="020B0604020202020204" pitchFamily="34" charset="0"/>
              </a:rPr>
              <a:t>= 3t</a:t>
            </a:r>
            <a:r>
              <a:rPr lang="en-US" altLang="zh-CN" sz="2000" b="0">
                <a:latin typeface="Arial" panose="020B0604020202020204" pitchFamily="34" charset="0"/>
              </a:rPr>
              <a:t>d</a:t>
            </a:r>
            <a:endParaRPr lang="zh-CN" altLang="en-US" sz="2000" b="0">
              <a:latin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4CAF665-3277-6DAC-3553-082C6614995B}"/>
              </a:ext>
            </a:extLst>
          </p:cNvPr>
          <p:cNvGrpSpPr>
            <a:grpSpLocks/>
          </p:cNvGrpSpPr>
          <p:nvPr/>
        </p:nvGrpSpPr>
        <p:grpSpPr bwMode="auto">
          <a:xfrm>
            <a:off x="7671443" y="1347080"/>
            <a:ext cx="1655763" cy="1008062"/>
            <a:chOff x="4332" y="913"/>
            <a:chExt cx="1111" cy="63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1DC35EA-96AD-5702-43C3-27E440B8C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4" y="913"/>
              <a:ext cx="607" cy="63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8018C9AF-07DA-153B-1EC6-B8B6A91B88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1086"/>
              <a:ext cx="2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FBE423DE-8CC7-BA9E-9448-DC16C5CE09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1375"/>
              <a:ext cx="2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248877DB-D239-4AA2-E625-D43A442FDE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1" y="1086"/>
              <a:ext cx="2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3F8C2D67-12B5-9F87-D0E4-16C800C726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1" y="1375"/>
              <a:ext cx="2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ED5C4C37-ADCF-7611-2EA2-29DC11B9DD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5" y="995"/>
              <a:ext cx="24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D</a:t>
              </a:r>
              <a:endParaRPr kumimoji="1" lang="en-US" altLang="zh-CN" sz="1400">
                <a:ea typeface="楷体_GB2312" pitchFamily="49" charset="-122"/>
              </a:endParaRP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94CE395C-0E54-A95C-22B5-0DF48B165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4" y="1291"/>
              <a:ext cx="24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C</a:t>
              </a:r>
              <a:endParaRPr kumimoji="1" lang="en-US" altLang="zh-CN" sz="1400">
                <a:ea typeface="楷体_GB2312" pitchFamily="49" charset="-122"/>
              </a:endParaRP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3408C7AD-DC62-1C84-4F44-7FFAE1B3E4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2" y="995"/>
              <a:ext cx="2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 dirty="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C053C1FB-2201-DE2D-5762-F93470DAC9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2" y="1282"/>
              <a:ext cx="2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DD90AF3E-4061-65CA-93B9-E879C52AD0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5" y="1321"/>
              <a:ext cx="1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CEB117F-AC8A-E0A3-F69B-745AA3A00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2" y="1342"/>
              <a:ext cx="72" cy="6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05703F9A-08C3-553C-D70D-7EE7FD460D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4" y="1305"/>
              <a:ext cx="80" cy="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604AD16A-0A2D-9CC7-201F-A82263CC50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4" y="1373"/>
              <a:ext cx="80" cy="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3" name="Object 2">
            <a:extLst>
              <a:ext uri="{FF2B5EF4-FFF2-40B4-BE49-F238E27FC236}">
                <a16:creationId xmlns:a16="http://schemas.microsoft.com/office/drawing/2014/main" id="{DED2CAD1-B49C-B092-94D3-8E723C0AB5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872577"/>
              </p:ext>
            </p:extLst>
          </p:nvPr>
        </p:nvGraphicFramePr>
        <p:xfrm>
          <a:off x="1260061" y="1757846"/>
          <a:ext cx="4806950" cy="440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3" imgW="2250246" imgH="2058541" progId="Word.Picture.8">
                  <p:embed/>
                </p:oleObj>
              </mc:Choice>
              <mc:Fallback>
                <p:oleObj name="图片" r:id="rId3" imgW="2250246" imgH="2058541" progId="Word.Picture.8">
                  <p:embed/>
                  <p:pic>
                    <p:nvPicPr>
                      <p:cNvPr id="3892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061" y="1757846"/>
                        <a:ext cx="4806950" cy="440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620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93C5F6-F85E-FF8D-EA7C-F05FD46DD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以波形图具体分析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A04E95F-B8AA-4E0A-8AC7-1B16A8DC7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61B8D0-7541-5E77-452A-385026643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28</a:t>
            </a:fld>
            <a:r>
              <a:rPr lang="en-US" altLang="zh-CN" dirty="0"/>
              <a:t>/29</a:t>
            </a:r>
            <a:endParaRPr lang="en-US" dirty="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EFD25C23-DF00-804F-18D1-B7B7DBDA6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3739" y="510639"/>
            <a:ext cx="1365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b="0" dirty="0" err="1">
                <a:latin typeface="Arial" panose="020B0604020202020204" pitchFamily="34" charset="0"/>
              </a:rPr>
              <a:t>t</a:t>
            </a:r>
            <a:r>
              <a:rPr lang="en-US" altLang="zh-CN" sz="2000" b="0" dirty="0" err="1">
                <a:latin typeface="Arial" panose="020B0604020202020204" pitchFamily="34" charset="0"/>
              </a:rPr>
              <a:t>su</a:t>
            </a:r>
            <a:r>
              <a:rPr lang="en-US" altLang="zh-CN" sz="2000" b="0" dirty="0">
                <a:latin typeface="Arial" panose="020B0604020202020204" pitchFamily="34" charset="0"/>
              </a:rPr>
              <a:t> </a:t>
            </a:r>
            <a:r>
              <a:rPr lang="en-US" altLang="zh-CN" b="0" dirty="0">
                <a:latin typeface="Arial" panose="020B0604020202020204" pitchFamily="34" charset="0"/>
              </a:rPr>
              <a:t>= 2t</a:t>
            </a:r>
            <a:r>
              <a:rPr lang="en-US" altLang="zh-CN" sz="2000" b="0" dirty="0">
                <a:latin typeface="Arial" panose="020B0604020202020204" pitchFamily="34" charset="0"/>
              </a:rPr>
              <a:t>d</a:t>
            </a:r>
            <a:endParaRPr lang="zh-CN" altLang="en-US" sz="2000" b="0" dirty="0">
              <a:latin typeface="Arial" panose="020B0604020202020204" pitchFamily="34" charset="0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9F0180B7-5225-08C9-07B1-5C325A7C1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864" y="1204376"/>
            <a:ext cx="1039813" cy="51911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b="0" dirty="0" err="1">
                <a:solidFill>
                  <a:srgbClr val="0000FF"/>
                </a:solidFill>
                <a:latin typeface="Arial" panose="020B0604020202020204" pitchFamily="34" charset="0"/>
              </a:rPr>
              <a:t>t</a:t>
            </a:r>
            <a:r>
              <a:rPr lang="en-US" altLang="zh-CN" sz="2000" b="0" dirty="0" err="1">
                <a:solidFill>
                  <a:srgbClr val="0000FF"/>
                </a:solidFill>
                <a:latin typeface="Arial" panose="020B0604020202020204" pitchFamily="34" charset="0"/>
              </a:rPr>
              <a:t>h</a:t>
            </a:r>
            <a:r>
              <a:rPr lang="en-US" altLang="zh-CN" sz="2000" b="0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n-US" altLang="zh-CN" b="0" dirty="0">
                <a:solidFill>
                  <a:srgbClr val="0000FF"/>
                </a:solidFill>
                <a:latin typeface="Arial" panose="020B0604020202020204" pitchFamily="34" charset="0"/>
              </a:rPr>
              <a:t>= t</a:t>
            </a:r>
            <a:r>
              <a:rPr lang="en-US" altLang="zh-CN" sz="2000" b="0" dirty="0">
                <a:solidFill>
                  <a:srgbClr val="0000FF"/>
                </a:solidFill>
                <a:latin typeface="Arial" panose="020B0604020202020204" pitchFamily="34" charset="0"/>
              </a:rPr>
              <a:t>d</a:t>
            </a:r>
            <a:endParaRPr lang="zh-CN" altLang="en-US" sz="2000" b="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23A288D1-0DF6-E989-FDEC-4EC3405BF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864" y="1815564"/>
            <a:ext cx="13922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b="0">
                <a:latin typeface="Arial" panose="020B0604020202020204" pitchFamily="34" charset="0"/>
              </a:rPr>
              <a:t>t</a:t>
            </a:r>
            <a:r>
              <a:rPr lang="en-US" altLang="zh-CN" sz="2000" b="0">
                <a:latin typeface="Arial" panose="020B0604020202020204" pitchFamily="34" charset="0"/>
              </a:rPr>
              <a:t>pd </a:t>
            </a:r>
            <a:r>
              <a:rPr lang="en-US" altLang="zh-CN" b="0">
                <a:latin typeface="Arial" panose="020B0604020202020204" pitchFamily="34" charset="0"/>
              </a:rPr>
              <a:t>= 3t</a:t>
            </a:r>
            <a:r>
              <a:rPr lang="en-US" altLang="zh-CN" sz="2000" b="0">
                <a:latin typeface="Arial" panose="020B0604020202020204" pitchFamily="34" charset="0"/>
              </a:rPr>
              <a:t>d</a:t>
            </a:r>
            <a:endParaRPr lang="zh-CN" altLang="en-US" sz="2000" b="0">
              <a:latin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85BBEBD-F5F7-051F-95F1-CE4F22537BE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0" t="45401" r="9145"/>
          <a:stretch/>
        </p:blipFill>
        <p:spPr>
          <a:xfrm rot="5400000">
            <a:off x="563405" y="2175034"/>
            <a:ext cx="4083535" cy="456653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5CA9FBF-7061-200F-6377-56AEDFBCCB4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1" t="46902" r="27018"/>
          <a:stretch/>
        </p:blipFill>
        <p:spPr>
          <a:xfrm rot="5400000">
            <a:off x="5136190" y="2337739"/>
            <a:ext cx="3636404" cy="424112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DF51CF7-EB0F-46BF-236A-6B279635F0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38023"/>
            <a:ext cx="3095836" cy="176860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F33FB5-05EF-D8FA-58DE-BD6F709BEA44}"/>
              </a:ext>
            </a:extLst>
          </p:cNvPr>
          <p:cNvSpPr txBox="1"/>
          <p:nvPr/>
        </p:nvSpPr>
        <p:spPr>
          <a:xfrm>
            <a:off x="4888438" y="1164905"/>
            <a:ext cx="3827299" cy="646331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+mj-ea"/>
                <a:ea typeface="+mj-ea"/>
              </a:rPr>
              <a:t>请尝试在</a:t>
            </a:r>
            <a:r>
              <a:rPr kumimoji="1" lang="en-US" altLang="zh-CN" dirty="0">
                <a:latin typeface="+mj-ea"/>
                <a:ea typeface="+mj-ea"/>
              </a:rPr>
              <a:t>C</a:t>
            </a:r>
            <a:r>
              <a:rPr kumimoji="1" lang="zh-CN" altLang="en-US" dirty="0">
                <a:latin typeface="+mj-ea"/>
                <a:ea typeface="+mj-ea"/>
              </a:rPr>
              <a:t>上升沿后一个门延迟之内将</a:t>
            </a:r>
            <a:r>
              <a:rPr kumimoji="1" lang="en-US" altLang="zh-CN" dirty="0">
                <a:latin typeface="+mj-ea"/>
                <a:ea typeface="+mj-ea"/>
              </a:rPr>
              <a:t>D</a:t>
            </a:r>
            <a:r>
              <a:rPr kumimoji="1" lang="zh-CN" altLang="en-US" dirty="0">
                <a:latin typeface="+mj-ea"/>
                <a:ea typeface="+mj-ea"/>
              </a:rPr>
              <a:t>从</a:t>
            </a:r>
            <a:r>
              <a:rPr kumimoji="1" lang="en-US" altLang="zh-CN" dirty="0">
                <a:latin typeface="+mj-ea"/>
                <a:ea typeface="+mj-ea"/>
              </a:rPr>
              <a:t>0</a:t>
            </a:r>
            <a:r>
              <a:rPr kumimoji="1" lang="zh-CN" altLang="en-US" dirty="0">
                <a:latin typeface="+mj-ea"/>
                <a:ea typeface="+mj-ea"/>
              </a:rPr>
              <a:t>变</a:t>
            </a:r>
            <a:r>
              <a:rPr kumimoji="1" lang="en-US" altLang="zh-CN" dirty="0">
                <a:latin typeface="+mj-ea"/>
                <a:ea typeface="+mj-ea"/>
              </a:rPr>
              <a:t>1</a:t>
            </a:r>
            <a:r>
              <a:rPr kumimoji="1" lang="zh-CN" altLang="en-US" dirty="0">
                <a:latin typeface="+mj-ea"/>
                <a:ea typeface="+mj-ea"/>
              </a:rPr>
              <a:t>并画时序图</a:t>
            </a:r>
          </a:p>
        </p:txBody>
      </p:sp>
    </p:spTree>
    <p:extLst>
      <p:ext uri="{BB962C8B-B14F-4D97-AF65-F5344CB8AC3E}">
        <p14:creationId xmlns:p14="http://schemas.microsoft.com/office/powerpoint/2010/main" val="403245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92BC4-F3C4-3AEF-EC86-F47B0BED0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作业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2D1469-A401-31ED-3543-D565F3B08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电子技术基础</a:t>
            </a:r>
            <a:r>
              <a:rPr lang="en-US" altLang="zh-CN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数字部分</a:t>
            </a:r>
            <a:endParaRPr lang="en-US" altLang="zh-CN" sz="28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/>
              <a:t>P251-257</a:t>
            </a:r>
            <a:r>
              <a:rPr lang="zh-CN" altLang="en-US" sz="2800" kern="0" dirty="0"/>
              <a:t>：</a:t>
            </a:r>
            <a:endParaRPr lang="en-US" altLang="zh-CN" sz="2800" kern="0" dirty="0"/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400" kern="0" dirty="0"/>
              <a:t>5.4.2</a:t>
            </a:r>
            <a:r>
              <a:rPr lang="zh-CN" altLang="en-US" sz="2400" kern="0" dirty="0"/>
              <a:t>，</a:t>
            </a:r>
            <a:r>
              <a:rPr lang="en-US" altLang="zh-CN" sz="2400" kern="0" dirty="0"/>
              <a:t>5.4.3</a:t>
            </a:r>
            <a:r>
              <a:rPr lang="en-US" altLang="zh-CN" sz="2000" kern="0" dirty="0"/>
              <a:t>(</a:t>
            </a:r>
            <a:r>
              <a:rPr lang="zh-CN" altLang="en-US" sz="2000" kern="0" dirty="0"/>
              <a:t>直接清零、置数即异步清零、置数，输入信号对输出信号的影响立刻生效，而不必等到时钟边沿的到来</a:t>
            </a:r>
            <a:r>
              <a:rPr lang="en-US" altLang="zh-CN" sz="2000" kern="0" dirty="0"/>
              <a:t>)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400" kern="0" dirty="0"/>
              <a:t>5.4.5</a:t>
            </a:r>
            <a:r>
              <a:rPr lang="zh-CN" altLang="en-US" sz="2400" kern="0" dirty="0"/>
              <a:t>，</a:t>
            </a:r>
            <a:r>
              <a:rPr lang="en-US" altLang="zh-CN" sz="2400" kern="0" dirty="0"/>
              <a:t>5.4.9</a:t>
            </a:r>
            <a:r>
              <a:rPr lang="zh-CN" altLang="en-US" sz="2400" kern="0" dirty="0"/>
              <a:t> ，</a:t>
            </a:r>
            <a:r>
              <a:rPr lang="en-US" altLang="zh-CN" sz="2400" kern="0" dirty="0"/>
              <a:t>5.4.10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400" kern="0" dirty="0"/>
              <a:t>5.5.2</a:t>
            </a:r>
            <a:r>
              <a:rPr lang="zh-CN" altLang="en-US" sz="2400" kern="0" dirty="0"/>
              <a:t>，</a:t>
            </a:r>
            <a:r>
              <a:rPr lang="en-US" altLang="zh-CN" sz="2400" kern="0" dirty="0"/>
              <a:t>5.5.11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1EBEAF-E105-3D6B-A44A-1A805B92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12. </a:t>
            </a:r>
            <a:r>
              <a:rPr lang="zh-CN" altLang="en-US"/>
              <a:t>锁存器和触发器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440A33-A646-F11A-EF20-5480EA52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29</a:t>
            </a:fld>
            <a:r>
              <a:rPr lang="en-US" altLang="zh-CN" dirty="0"/>
              <a:t>/29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391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19102</TotalTime>
  <Words>2792</Words>
  <Application>Microsoft Macintosh PowerPoint</Application>
  <PresentationFormat>A4 纸张(210x297 毫米)</PresentationFormat>
  <Paragraphs>742</Paragraphs>
  <Slides>29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29</vt:i4>
      </vt:variant>
    </vt:vector>
  </HeadingPairs>
  <TitlesOfParts>
    <vt:vector size="44" baseType="lpstr">
      <vt:lpstr>等线</vt:lpstr>
      <vt:lpstr>黑体</vt:lpstr>
      <vt:lpstr>宋体</vt:lpstr>
      <vt:lpstr>Microsoft YaHei</vt:lpstr>
      <vt:lpstr>Microsoft YaHei</vt:lpstr>
      <vt:lpstr>Arial</vt:lpstr>
      <vt:lpstr>Arial Black</vt:lpstr>
      <vt:lpstr>Cambria</vt:lpstr>
      <vt:lpstr>Tahoma</vt:lpstr>
      <vt:lpstr>Times New Roman</vt:lpstr>
      <vt:lpstr>Verdana</vt:lpstr>
      <vt:lpstr>Office-Design</vt:lpstr>
      <vt:lpstr>图片</vt:lpstr>
      <vt:lpstr>Picture</vt:lpstr>
      <vt:lpstr>公式</vt:lpstr>
      <vt:lpstr>  模拟与数字电路 Analog and Digital Circuits</vt:lpstr>
      <vt:lpstr>内容提纲</vt:lpstr>
      <vt:lpstr>D触发器(Flip-Flop)</vt:lpstr>
      <vt:lpstr>D触发器: 主从结构</vt:lpstr>
      <vt:lpstr>触发器：Flip-Flop</vt:lpstr>
      <vt:lpstr>示例：D触发器波形图</vt:lpstr>
      <vt:lpstr>主从结构SR触发器</vt:lpstr>
      <vt:lpstr>主从结构SR触发器波形图</vt:lpstr>
      <vt:lpstr>维持阻塞结构D触发器</vt:lpstr>
      <vt:lpstr>维持阻塞结构D触发器(续1)</vt:lpstr>
      <vt:lpstr>维持阻塞结构D触发器(续2)</vt:lpstr>
      <vt:lpstr>维持阻塞结构D触发器(续3)</vt:lpstr>
      <vt:lpstr>触发器逻辑功能描述</vt:lpstr>
      <vt:lpstr>D触发器</vt:lpstr>
      <vt:lpstr>T触发器 </vt:lpstr>
      <vt:lpstr>JK触发器</vt:lpstr>
      <vt:lpstr>JK触发器 (续)</vt:lpstr>
      <vt:lpstr>示例：JK触发器波形图</vt:lpstr>
      <vt:lpstr>触发器逻辑功能转换</vt:lpstr>
      <vt:lpstr>D触发器构成JK触发器</vt:lpstr>
      <vt:lpstr>D触发器构成T触发器</vt:lpstr>
      <vt:lpstr>JK触发器构成其他触发器</vt:lpstr>
      <vt:lpstr>补充：或直接真值表硬搞</vt:lpstr>
      <vt:lpstr>锁存器和触发器的动态特性</vt:lpstr>
      <vt:lpstr>D锁存器定时波形图</vt:lpstr>
      <vt:lpstr>D触发器定时波形图</vt:lpstr>
      <vt:lpstr>示例：分析D触发器动态参数</vt:lpstr>
      <vt:lpstr>以波形图具体分析</vt:lpstr>
      <vt:lpstr>作业</vt:lpstr>
    </vt:vector>
  </TitlesOfParts>
  <Company>DFKI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从本科到硕士到博士</dc:title>
  <dc:creator>jingyuan cheng</dc:creator>
  <cp:lastModifiedBy>Microsoft Office User</cp:lastModifiedBy>
  <cp:revision>2539</cp:revision>
  <cp:lastPrinted>2020-05-26T13:24:01Z</cp:lastPrinted>
  <dcterms:created xsi:type="dcterms:W3CDTF">2020-04-07T12:23:01Z</dcterms:created>
  <dcterms:modified xsi:type="dcterms:W3CDTF">2024-10-16T23:31:37Z</dcterms:modified>
</cp:coreProperties>
</file>