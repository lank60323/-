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444" r:id="rId3"/>
    <p:sldId id="538" r:id="rId4"/>
    <p:sldId id="512" r:id="rId5"/>
    <p:sldId id="513" r:id="rId6"/>
    <p:sldId id="514" r:id="rId7"/>
    <p:sldId id="515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532" r:id="rId25"/>
    <p:sldId id="533" r:id="rId26"/>
    <p:sldId id="534" r:id="rId27"/>
    <p:sldId id="535" r:id="rId28"/>
    <p:sldId id="536" r:id="rId29"/>
    <p:sldId id="511" r:id="rId30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2"/>
    <p:restoredTop sz="66354"/>
  </p:normalViewPr>
  <p:slideViewPr>
    <p:cSldViewPr snapToGrid="0" snapToObjects="1">
      <p:cViewPr varScale="1">
        <p:scale>
          <a:sx n="132" d="100"/>
          <a:sy n="132" d="100"/>
        </p:scale>
        <p:origin x="1752" y="168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历史上出现的</a:t>
            </a:r>
            <a:r>
              <a:rPr lang="en-US" altLang="zh-CN" dirty="0"/>
              <a:t>HDL</a:t>
            </a:r>
            <a:r>
              <a:rPr lang="zh-CN" altLang="en-US" dirty="0"/>
              <a:t>甚多，成为国际标准只有两种</a:t>
            </a:r>
            <a:r>
              <a:rPr lang="en-US" altLang="zh-CN" dirty="0"/>
              <a:t>Verilog HDL</a:t>
            </a:r>
            <a:r>
              <a:rPr lang="zh-CN" altLang="en-US" dirty="0"/>
              <a:t>和</a:t>
            </a:r>
            <a:r>
              <a:rPr lang="en-US" altLang="zh-CN" dirty="0"/>
              <a:t>VHDL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Verilog HDL</a:t>
            </a:r>
            <a:r>
              <a:rPr lang="zh-CN" altLang="en-US" dirty="0"/>
              <a:t>的历史：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1983年，</a:t>
            </a:r>
            <a:r>
              <a:rPr lang="en-US" altLang="zh-CN" dirty="0"/>
              <a:t>GDA(</a:t>
            </a:r>
            <a:r>
              <a:rPr lang="en-US" altLang="zh-CN" dirty="0" err="1"/>
              <a:t>GateWay</a:t>
            </a:r>
            <a:r>
              <a:rPr lang="en-US" altLang="zh-CN" dirty="0"/>
              <a:t> Design Automation)</a:t>
            </a:r>
            <a:r>
              <a:rPr lang="zh-CN" altLang="en-US" dirty="0"/>
              <a:t>公司的</a:t>
            </a:r>
            <a:r>
              <a:rPr lang="en-US" altLang="zh-CN" dirty="0"/>
              <a:t>Phil </a:t>
            </a:r>
            <a:r>
              <a:rPr lang="en-US" altLang="zh-CN" dirty="0" err="1"/>
              <a:t>Moorby</a:t>
            </a:r>
            <a:r>
              <a:rPr lang="zh-CN" altLang="en-US" dirty="0"/>
              <a:t>首创</a:t>
            </a:r>
            <a:r>
              <a:rPr lang="en-US" altLang="zh-CN" dirty="0"/>
              <a:t>Verilog HDL</a:t>
            </a:r>
            <a:r>
              <a:rPr lang="zh-CN" altLang="en-US" dirty="0"/>
              <a:t>语言；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1984-1986年，</a:t>
            </a:r>
            <a:r>
              <a:rPr lang="en-US" altLang="zh-CN" dirty="0"/>
              <a:t>Verilog-XL</a:t>
            </a:r>
            <a:r>
              <a:rPr lang="zh-CN" altLang="en-US" dirty="0"/>
              <a:t>诞生。 </a:t>
            </a:r>
            <a:r>
              <a:rPr lang="en-US" altLang="zh-CN" dirty="0"/>
              <a:t>Phil </a:t>
            </a:r>
            <a:r>
              <a:rPr lang="en-US" altLang="zh-CN" dirty="0" err="1"/>
              <a:t>Moorby</a:t>
            </a:r>
            <a:r>
              <a:rPr lang="zh-CN" altLang="en-US" dirty="0"/>
              <a:t>设计并完善了第一个</a:t>
            </a:r>
            <a:r>
              <a:rPr lang="en-US" altLang="zh-CN" dirty="0"/>
              <a:t>Verilog</a:t>
            </a:r>
            <a:r>
              <a:rPr lang="zh-CN" altLang="en-US" dirty="0"/>
              <a:t>仿真器</a:t>
            </a:r>
            <a:r>
              <a:rPr lang="en-US" altLang="zh-CN" dirty="0"/>
              <a:t>Verilog-XL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1989年，</a:t>
            </a:r>
            <a:r>
              <a:rPr lang="en-US" altLang="zh-CN" dirty="0"/>
              <a:t>Cadence</a:t>
            </a:r>
            <a:r>
              <a:rPr lang="zh-CN" altLang="en-US" dirty="0"/>
              <a:t>收购</a:t>
            </a:r>
            <a:r>
              <a:rPr lang="en-US" altLang="zh-CN" dirty="0"/>
              <a:t>GDA</a:t>
            </a:r>
            <a:r>
              <a:rPr lang="zh-CN" altLang="en-US" dirty="0"/>
              <a:t>公司。 </a:t>
            </a:r>
            <a:r>
              <a:rPr lang="en-US" altLang="zh-CN" dirty="0"/>
              <a:t>Verilog HDL</a:t>
            </a:r>
            <a:r>
              <a:rPr lang="zh-CN" altLang="en-US" dirty="0"/>
              <a:t>语言成为</a:t>
            </a:r>
            <a:r>
              <a:rPr lang="en-US" altLang="zh-CN" dirty="0"/>
              <a:t>Cadence</a:t>
            </a:r>
            <a:r>
              <a:rPr lang="zh-CN" altLang="en-US" dirty="0"/>
              <a:t>的私有财产；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1990年，公开</a:t>
            </a:r>
            <a:r>
              <a:rPr lang="en-US" altLang="zh-CN" dirty="0"/>
              <a:t>Verilog HDL</a:t>
            </a:r>
            <a:r>
              <a:rPr lang="zh-CN" altLang="en-US" dirty="0"/>
              <a:t>语言，成立</a:t>
            </a:r>
            <a:r>
              <a:rPr lang="en-US" altLang="zh-CN" dirty="0"/>
              <a:t>OVI(Open Verilog </a:t>
            </a:r>
            <a:r>
              <a:rPr lang="en-US" altLang="zh-CN" dirty="0" err="1"/>
              <a:t>Internation</a:t>
            </a:r>
            <a:r>
              <a:rPr lang="en-US" altLang="zh-CN" dirty="0"/>
              <a:t>)</a:t>
            </a:r>
            <a:r>
              <a:rPr lang="zh-CN" altLang="en-US" dirty="0"/>
              <a:t>组织负责</a:t>
            </a:r>
            <a:r>
              <a:rPr lang="en-US" altLang="zh-CN" dirty="0"/>
              <a:t>Verilog</a:t>
            </a:r>
            <a:r>
              <a:rPr lang="zh-CN" altLang="en-US" dirty="0"/>
              <a:t>语言的发展；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1995年，</a:t>
            </a:r>
            <a:r>
              <a:rPr lang="en-US" altLang="zh-CN" dirty="0"/>
              <a:t>IEEE</a:t>
            </a:r>
            <a:r>
              <a:rPr lang="zh-CN" altLang="en-US" dirty="0"/>
              <a:t>制定</a:t>
            </a:r>
            <a:r>
              <a:rPr lang="en-US" altLang="zh-CN" dirty="0"/>
              <a:t>Verilog HDL</a:t>
            </a:r>
            <a:r>
              <a:rPr lang="zh-CN" altLang="en-US" dirty="0"/>
              <a:t>的</a:t>
            </a:r>
            <a:r>
              <a:rPr lang="en-US" altLang="zh-CN" dirty="0"/>
              <a:t>IEEE</a:t>
            </a:r>
            <a:r>
              <a:rPr lang="zh-CN" altLang="en-US" dirty="0"/>
              <a:t>标准</a:t>
            </a:r>
            <a:r>
              <a:rPr lang="en-US" altLang="zh-CN" dirty="0"/>
              <a:t>Verilog HDL1364-1995，Verilog HDL</a:t>
            </a:r>
            <a:r>
              <a:rPr lang="zh-CN" altLang="en-US" dirty="0"/>
              <a:t>语言成为国际标准；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2001年，</a:t>
            </a:r>
            <a:r>
              <a:rPr lang="en-US" altLang="zh-CN" dirty="0"/>
              <a:t>IEEE</a:t>
            </a:r>
            <a:r>
              <a:rPr lang="zh-CN" altLang="en-US" dirty="0"/>
              <a:t>发布</a:t>
            </a:r>
            <a:r>
              <a:rPr lang="en-US" altLang="zh-CN" dirty="0"/>
              <a:t>Verilog HDL1364-2001，</a:t>
            </a:r>
            <a:r>
              <a:rPr lang="zh-CN" altLang="en-US" dirty="0"/>
              <a:t>标准中包含模拟电路的内容。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/>
              <a:t>Institute of Electrical and Electronics Engineers (IEEE, read I-Triple-E) </a:t>
            </a:r>
          </a:p>
          <a:p>
            <a:pPr eaLnBrk="1" hangingPunct="1">
              <a:lnSpc>
                <a:spcPct val="90000"/>
              </a:lnSpc>
              <a:defRPr/>
            </a:pPr>
            <a:endParaRPr lang="zh-CN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dirty="0"/>
              <a:t>这两种语言都是用于数字电子系统设计的硬件描述语言，而且都已经是 </a:t>
            </a:r>
            <a:r>
              <a:rPr lang="en-US" altLang="zh-CN" dirty="0"/>
              <a:t>IEEE </a:t>
            </a:r>
            <a:r>
              <a:rPr lang="zh-CN" altLang="en-US" dirty="0"/>
              <a:t>的标准。 </a:t>
            </a:r>
            <a:r>
              <a:rPr lang="en-US" altLang="zh-CN" dirty="0"/>
              <a:t>VHDL 1987 </a:t>
            </a:r>
            <a:r>
              <a:rPr lang="zh-CN" altLang="en-US" dirty="0"/>
              <a:t>年成为标准，而 </a:t>
            </a:r>
            <a:r>
              <a:rPr lang="en-US" altLang="zh-CN" dirty="0"/>
              <a:t>Verilog </a:t>
            </a:r>
            <a:r>
              <a:rPr lang="zh-CN" altLang="en-US" dirty="0"/>
              <a:t>是 </a:t>
            </a:r>
            <a:r>
              <a:rPr lang="en-US" altLang="zh-CN" dirty="0"/>
              <a:t>1995 </a:t>
            </a:r>
            <a:r>
              <a:rPr lang="zh-CN" altLang="en-US" dirty="0"/>
              <a:t>年才成为标准的。这个是因为 </a:t>
            </a:r>
            <a:r>
              <a:rPr lang="en-US" altLang="zh-CN" dirty="0"/>
              <a:t>VHDL </a:t>
            </a:r>
            <a:r>
              <a:rPr lang="zh-CN" altLang="en-US" dirty="0"/>
              <a:t>是美国军方组织开发的，而 </a:t>
            </a:r>
            <a:r>
              <a:rPr lang="en-US" altLang="zh-CN" dirty="0"/>
              <a:t>Verilog </a:t>
            </a:r>
            <a:r>
              <a:rPr lang="zh-CN" altLang="en-US" dirty="0"/>
              <a:t>是一个公司的私有财产转化而来的。为什么 </a:t>
            </a:r>
            <a:r>
              <a:rPr lang="en-US" altLang="zh-CN" dirty="0"/>
              <a:t>Verilog </a:t>
            </a:r>
            <a:r>
              <a:rPr lang="zh-CN" altLang="en-US" dirty="0"/>
              <a:t>能成为 </a:t>
            </a:r>
            <a:r>
              <a:rPr lang="en-US" altLang="zh-CN" dirty="0"/>
              <a:t>IEEE </a:t>
            </a:r>
            <a:r>
              <a:rPr lang="zh-CN" altLang="en-US" dirty="0"/>
              <a:t>标准呢？它一定有其优越性才行，所以说 </a:t>
            </a:r>
            <a:r>
              <a:rPr lang="en-US" altLang="zh-CN" dirty="0"/>
              <a:t>Verilog </a:t>
            </a:r>
            <a:r>
              <a:rPr lang="zh-CN" altLang="en-US" dirty="0"/>
              <a:t>有更强的生命力。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705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Verilog HDL</a:t>
            </a:r>
            <a:r>
              <a:rPr lang="zh-CN" altLang="en-US" dirty="0"/>
              <a:t>和</a:t>
            </a:r>
            <a:r>
              <a:rPr lang="en-US" altLang="zh-CN" dirty="0"/>
              <a:t>VHDL</a:t>
            </a:r>
            <a:r>
              <a:rPr lang="zh-CN" altLang="en-US" dirty="0"/>
              <a:t>有共同的特点：</a:t>
            </a:r>
            <a:br>
              <a:rPr lang="zh-CN" altLang="en-US" dirty="0"/>
            </a:br>
            <a:r>
              <a:rPr lang="en-US" altLang="zh-CN" dirty="0"/>
              <a:t>1. </a:t>
            </a:r>
            <a:r>
              <a:rPr lang="zh-CN" altLang="en-US" dirty="0"/>
              <a:t>能形式化地抽象表示电路的行为和结构；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支持逻辑设计中层次与范围地描述；</a:t>
            </a:r>
            <a:br>
              <a:rPr lang="zh-CN" altLang="en-US" dirty="0"/>
            </a:br>
            <a:r>
              <a:rPr lang="en-US" altLang="zh-CN" dirty="0"/>
              <a:t>3. </a:t>
            </a:r>
            <a:r>
              <a:rPr lang="zh-CN" altLang="en-US" dirty="0"/>
              <a:t>可借用高级语言地精巧结构来简化电路行为和结构；具有电路仿真与验证机制以保证设计的正确性；</a:t>
            </a:r>
            <a:br>
              <a:rPr lang="zh-CN" altLang="en-US" dirty="0"/>
            </a:br>
            <a:r>
              <a:rPr lang="en-US" altLang="zh-CN" dirty="0"/>
              <a:t>4. </a:t>
            </a:r>
            <a:r>
              <a:rPr lang="zh-CN" altLang="en-US" dirty="0"/>
              <a:t>支持电路描述由高层到低层的综合转换；</a:t>
            </a:r>
            <a:br>
              <a:rPr lang="zh-CN" altLang="en-US" dirty="0"/>
            </a:br>
            <a:r>
              <a:rPr lang="en-US" altLang="zh-CN" dirty="0"/>
              <a:t>5. </a:t>
            </a:r>
            <a:r>
              <a:rPr lang="zh-CN" altLang="en-US" dirty="0"/>
              <a:t>硬件描述和实现工艺无关；</a:t>
            </a:r>
            <a:br>
              <a:rPr lang="zh-CN" altLang="en-US" dirty="0"/>
            </a:br>
            <a:r>
              <a:rPr lang="en-US" altLang="zh-CN" dirty="0"/>
              <a:t>6. </a:t>
            </a:r>
            <a:r>
              <a:rPr lang="zh-CN" altLang="en-US" dirty="0"/>
              <a:t>便于文档管理；</a:t>
            </a:r>
            <a:br>
              <a:rPr lang="zh-CN" altLang="en-US" dirty="0"/>
            </a:br>
            <a:r>
              <a:rPr lang="en-US" altLang="zh-CN" dirty="0"/>
              <a:t>7. </a:t>
            </a:r>
            <a:r>
              <a:rPr lang="zh-CN" altLang="en-US" dirty="0"/>
              <a:t>易于理解和设计重用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141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43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00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8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553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Verilog’s nets and registers hold four-valued data</a:t>
            </a:r>
            <a:r>
              <a:rPr lang="zh-CN" altLang="en-US" dirty="0"/>
              <a:t>：</a:t>
            </a:r>
            <a:endParaRPr lang="en-US" altLang="zh-CN" dirty="0"/>
          </a:p>
          <a:p>
            <a:pPr eaLnBrk="1" hangingPunct="1"/>
            <a:r>
              <a:rPr lang="en-US" altLang="zh-CN" dirty="0"/>
              <a:t>0, 1</a:t>
            </a:r>
          </a:p>
          <a:p>
            <a:pPr lvl="1" eaLnBrk="1" hangingPunct="1"/>
            <a:r>
              <a:rPr lang="en-US" altLang="zh-CN" dirty="0"/>
              <a:t>Obvious</a:t>
            </a:r>
          </a:p>
          <a:p>
            <a:pPr eaLnBrk="1" hangingPunct="1"/>
            <a:r>
              <a:rPr lang="en-US" altLang="zh-CN" dirty="0"/>
              <a:t>Z</a:t>
            </a:r>
          </a:p>
          <a:p>
            <a:pPr lvl="1" eaLnBrk="1" hangingPunct="1"/>
            <a:r>
              <a:rPr lang="en-US" altLang="zh-CN" dirty="0"/>
              <a:t>Output of an undriven tri-state driver</a:t>
            </a:r>
          </a:p>
          <a:p>
            <a:pPr lvl="1" eaLnBrk="1" hangingPunct="1"/>
            <a:r>
              <a:rPr lang="en-US" altLang="zh-CN" dirty="0"/>
              <a:t>Models case where nothing is setting a wire’s value</a:t>
            </a:r>
          </a:p>
          <a:p>
            <a:pPr eaLnBrk="1" hangingPunct="1"/>
            <a:r>
              <a:rPr lang="en-US" altLang="zh-CN" dirty="0"/>
              <a:t>X</a:t>
            </a:r>
          </a:p>
          <a:p>
            <a:pPr lvl="1" eaLnBrk="1" hangingPunct="1"/>
            <a:r>
              <a:rPr lang="en-US" altLang="zh-CN" dirty="0"/>
              <a:t>Models when the simulator can’t decide the value</a:t>
            </a:r>
          </a:p>
          <a:p>
            <a:pPr lvl="1" eaLnBrk="1" hangingPunct="1"/>
            <a:r>
              <a:rPr lang="en-US" altLang="zh-CN" dirty="0"/>
              <a:t>Initial state of registers</a:t>
            </a:r>
          </a:p>
          <a:p>
            <a:pPr lvl="1" eaLnBrk="1" hangingPunct="1"/>
            <a:r>
              <a:rPr lang="en-US" altLang="zh-CN" dirty="0"/>
              <a:t>When a wire is being driven to 0 and 1 simultaneously</a:t>
            </a:r>
          </a:p>
          <a:p>
            <a:pPr lvl="1" eaLnBrk="1" hangingPunct="1"/>
            <a:r>
              <a:rPr lang="en-US" altLang="zh-CN" dirty="0"/>
              <a:t>Output of a gate with Z inputs</a:t>
            </a:r>
          </a:p>
          <a:p>
            <a:pPr eaLnBrk="1" hangingPunct="1"/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898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Verilog </a:t>
            </a:r>
            <a:r>
              <a:rPr lang="zh-TW" altLang="en-US" b="1" dirty="0"/>
              <a:t>下划线：</a:t>
            </a:r>
            <a:r>
              <a:rPr lang="zh-TW" altLang="en-US" dirty="0"/>
              <a:t>用于区别开数字的表达式以提高程序的可读性。不能用在位宽和进制的地方，只能用在数字之间（数字前也不可以）。</a:t>
            </a:r>
            <a:r>
              <a:rPr lang="zh-CN" altLang="en-US" dirty="0"/>
              <a:t>编译时会被自动综合掉。</a:t>
            </a:r>
            <a:endParaRPr lang="zh-TW" altLang="en-US" dirty="0"/>
          </a:p>
          <a:p>
            <a:r>
              <a:rPr lang="en-US" altLang="zh-TW" dirty="0"/>
              <a:t>16'b1010_1011_1111_1010    //</a:t>
            </a:r>
            <a:r>
              <a:rPr lang="zh-TW" altLang="en-US" dirty="0"/>
              <a:t>合法形式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82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类似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语言的宏定义：</a:t>
            </a:r>
            <a:r>
              <a:rPr kumimoji="1" lang="en-US" altLang="zh-CN" dirty="0"/>
              <a:t>#define PI 3.14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3423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en-US" altLang="zh-CN" dirty="0"/>
              <a:t>Verilog HDL</a:t>
            </a:r>
            <a:r>
              <a:rPr kumimoji="1" lang="zh-CN" altLang="en-US" dirty="0"/>
              <a:t>中共有</a:t>
            </a:r>
            <a:r>
              <a:rPr kumimoji="1" lang="en-US" altLang="zh-CN" dirty="0"/>
              <a:t>19</a:t>
            </a:r>
            <a:r>
              <a:rPr kumimoji="1" lang="zh-CN" altLang="en-US" dirty="0"/>
              <a:t>种数据类型。</a:t>
            </a:r>
            <a:r>
              <a:rPr kumimoji="1" lang="zh-CN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数据类型是用来表示数字电路硬件中的数据储存和传送元件的。</a:t>
            </a:r>
            <a:endParaRPr kumimoji="1" lang="en-US" altLang="zh-CN" dirty="0"/>
          </a:p>
          <a:p>
            <a:pPr eaLnBrk="1" hangingPunct="1">
              <a:defRPr/>
            </a:pPr>
            <a:r>
              <a:rPr kumimoji="1" lang="en-US" altLang="zh-CN" dirty="0"/>
              <a:t>Net  Type</a:t>
            </a:r>
            <a:r>
              <a:rPr kumimoji="1" lang="zh-CN" altLang="en-US" dirty="0"/>
              <a:t>的变量不能存储值，而且必须受到驱动器的驱动。</a:t>
            </a:r>
          </a:p>
          <a:p>
            <a:pPr eaLnBrk="1" hangingPunct="1">
              <a:defRPr/>
            </a:pPr>
            <a:r>
              <a:rPr kumimoji="1" lang="zh-CN" altLang="en-US" dirty="0">
                <a:solidFill>
                  <a:srgbClr val="0043A6"/>
                </a:solidFill>
              </a:rPr>
              <a:t>两种驱动方式：</a:t>
            </a:r>
          </a:p>
          <a:p>
            <a:pPr eaLnBrk="1" hangingPunct="1">
              <a:defRPr/>
            </a:pPr>
            <a:r>
              <a:rPr kumimoji="1" lang="en-US" altLang="zh-CN" dirty="0"/>
              <a:t>1</a:t>
            </a:r>
            <a:r>
              <a:rPr kumimoji="1" lang="zh-CN" altLang="en-US" dirty="0"/>
              <a:t>）在结构描述中将它连接到一个逻辑门或模块的输出端。</a:t>
            </a:r>
          </a:p>
          <a:p>
            <a:pPr eaLnBrk="1" hangingPunct="1">
              <a:defRPr/>
            </a:pPr>
            <a:r>
              <a:rPr kumimoji="1" lang="en-US" altLang="zh-CN" dirty="0"/>
              <a:t>2</a:t>
            </a:r>
            <a:r>
              <a:rPr kumimoji="1" lang="zh-CN" altLang="en-US" dirty="0"/>
              <a:t>）用持续赋值语句</a:t>
            </a:r>
            <a:r>
              <a:rPr kumimoji="1" lang="en-US" altLang="zh-CN" dirty="0"/>
              <a:t>assign</a:t>
            </a:r>
            <a:r>
              <a:rPr kumimoji="1" lang="zh-CN" altLang="en-US" dirty="0"/>
              <a:t>对其进行赋值</a:t>
            </a:r>
          </a:p>
          <a:p>
            <a:pPr eaLnBrk="1" hangingPunct="1">
              <a:defRPr/>
            </a:pPr>
            <a:r>
              <a:rPr kumimoji="1" lang="zh-CN" altLang="en-US" dirty="0">
                <a:solidFill>
                  <a:schemeClr val="bg1"/>
                </a:solidFill>
              </a:rPr>
              <a:t>当没有驱动源对其驱动时，它将保持高阻态。</a:t>
            </a:r>
          </a:p>
          <a:p>
            <a:pPr eaLnBrk="1" hangingPunct="1">
              <a:defRPr/>
            </a:pPr>
            <a:r>
              <a:rPr lang="zh-CN" altLang="en-US" b="1" dirty="0">
                <a:solidFill>
                  <a:srgbClr val="000066"/>
                </a:solidFill>
              </a:rPr>
              <a:t>线网类型</a:t>
            </a:r>
            <a:r>
              <a:rPr lang="en-US" altLang="zh-CN" b="1" dirty="0">
                <a:solidFill>
                  <a:srgbClr val="000066"/>
                </a:solidFill>
              </a:rPr>
              <a:t>:</a:t>
            </a:r>
            <a:r>
              <a:rPr lang="zh-CN" altLang="en-US" b="1" dirty="0">
                <a:solidFill>
                  <a:srgbClr val="000066"/>
                </a:solidFill>
              </a:rPr>
              <a:t>是指输出始终根据输入的变化而更新其值的变量</a:t>
            </a:r>
            <a:r>
              <a:rPr lang="en-US" altLang="zh-CN" b="1" dirty="0">
                <a:solidFill>
                  <a:srgbClr val="000066"/>
                </a:solidFill>
              </a:rPr>
              <a:t>,</a:t>
            </a:r>
            <a:r>
              <a:rPr lang="zh-CN" altLang="en-US" b="1" dirty="0">
                <a:solidFill>
                  <a:srgbClr val="000066"/>
                </a:solidFill>
              </a:rPr>
              <a:t>它一般指的是硬件电路中的各种物理连接</a:t>
            </a:r>
            <a:r>
              <a:rPr lang="en-US" altLang="zh-CN" b="1" dirty="0">
                <a:solidFill>
                  <a:srgbClr val="000066"/>
                </a:solidFill>
              </a:rPr>
              <a:t>.</a:t>
            </a:r>
            <a:endParaRPr lang="zh-CN" altLang="en-US" dirty="0">
              <a:solidFill>
                <a:srgbClr val="000066"/>
              </a:solidFill>
            </a:endParaRPr>
          </a:p>
          <a:p>
            <a:pPr eaLnBrk="1" hangingPunct="1">
              <a:defRPr/>
            </a:pPr>
            <a:endParaRPr kumimoji="1" lang="en-US" altLang="zh-CN" b="1" dirty="0">
              <a:solidFill>
                <a:schemeClr val="bg1"/>
              </a:solidFill>
            </a:endParaRPr>
          </a:p>
          <a:p>
            <a:pPr eaLnBrk="1" hangingPunct="1">
              <a:defRPr/>
            </a:pPr>
            <a:r>
              <a:rPr kumimoji="1" lang="en-US" altLang="zh-CN" dirty="0">
                <a:solidFill>
                  <a:schemeClr val="bg1"/>
                </a:solidFill>
              </a:rPr>
              <a:t>MSB</a:t>
            </a:r>
            <a:r>
              <a:rPr kumimoji="1" lang="zh-CN" altLang="en-US" dirty="0">
                <a:solidFill>
                  <a:schemeClr val="bg1"/>
                </a:solidFill>
              </a:rPr>
              <a:t>：</a:t>
            </a:r>
            <a:r>
              <a:rPr kumimoji="1" lang="en-US" altLang="zh-CN" dirty="0">
                <a:solidFill>
                  <a:schemeClr val="bg1"/>
                </a:solidFill>
              </a:rPr>
              <a:t>most significant bit</a:t>
            </a:r>
          </a:p>
          <a:p>
            <a:pPr eaLnBrk="1" hangingPunct="1">
              <a:defRPr/>
            </a:pPr>
            <a:r>
              <a:rPr kumimoji="1" lang="en-US" altLang="zh-CN" dirty="0">
                <a:solidFill>
                  <a:schemeClr val="bg1"/>
                </a:solidFill>
              </a:rPr>
              <a:t>LSB: least significant bit</a:t>
            </a:r>
            <a:endParaRPr kumimoji="1" lang="zh-CN" altLang="en-US" dirty="0">
              <a:solidFill>
                <a:schemeClr val="bg1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590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模块是</a:t>
            </a:r>
            <a:r>
              <a:rPr lang="en-US" altLang="zh-CN" dirty="0"/>
              <a:t>Verilog</a:t>
            </a:r>
            <a:r>
              <a:rPr lang="zh-CN" altLang="en-US" dirty="0"/>
              <a:t>的基本描述单位，用于描述某个设计的功能或结构及其与其它模块通信的外部接口</a:t>
            </a:r>
          </a:p>
          <a:p>
            <a:pPr eaLnBrk="1" hangingPunct="1">
              <a:defRPr/>
            </a:pPr>
            <a:r>
              <a:rPr lang="zh-CN" altLang="en-US" dirty="0"/>
              <a:t>模块中，可以采用下述方式描述一个设计：</a:t>
            </a:r>
          </a:p>
          <a:p>
            <a:pPr lvl="1" eaLnBrk="1" hangingPunct="1">
              <a:defRPr/>
            </a:pPr>
            <a:r>
              <a:rPr lang="zh-CN" altLang="en-US" dirty="0"/>
              <a:t>数据流方式</a:t>
            </a:r>
          </a:p>
          <a:p>
            <a:pPr lvl="1" eaLnBrk="1" hangingPunct="1">
              <a:defRPr/>
            </a:pPr>
            <a:r>
              <a:rPr lang="zh-CN" altLang="en-US" dirty="0"/>
              <a:t>行为方式</a:t>
            </a:r>
          </a:p>
          <a:p>
            <a:pPr lvl="1" eaLnBrk="1" hangingPunct="1">
              <a:defRPr/>
            </a:pPr>
            <a:r>
              <a:rPr lang="zh-CN" altLang="en-US" dirty="0"/>
              <a:t>结构方式</a:t>
            </a:r>
          </a:p>
          <a:p>
            <a:pPr lvl="1" eaLnBrk="1" hangingPunct="1">
              <a:defRPr/>
            </a:pPr>
            <a:r>
              <a:rPr lang="zh-CN" altLang="en-US" dirty="0"/>
              <a:t>上述方式的混合</a:t>
            </a:r>
          </a:p>
          <a:p>
            <a:pPr eaLnBrk="1" hangingPunct="1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Verilog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模块的基本构成要素: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zh-CN" altLang="en-US" dirty="0"/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端口信息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输入/输出说明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逻辑功能描述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endParaRPr kumimoji="1" lang="en-US" altLang="zh-CN" dirty="0"/>
          </a:p>
          <a:p>
            <a:r>
              <a:rPr kumimoji="1" lang="en-US" altLang="zh-CN" dirty="0" err="1"/>
              <a:t>Inout</a:t>
            </a:r>
            <a:r>
              <a:rPr kumimoji="1" lang="zh-CN" altLang="en-US" dirty="0"/>
              <a:t> 表示端口同时可以做为输入和输出，常见的数据线就是这一类型，比如内存条的数据线可读可写。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0228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en-US" altLang="zh-CN" dirty="0" err="1">
                <a:solidFill>
                  <a:srgbClr val="000066"/>
                </a:solidFill>
              </a:rPr>
              <a:t>VerilogHDL</a:t>
            </a:r>
            <a:r>
              <a:rPr kumimoji="1" lang="zh-CN" altLang="en-US" dirty="0">
                <a:solidFill>
                  <a:srgbClr val="000066"/>
                </a:solidFill>
              </a:rPr>
              <a:t>描述的电路就是该电路的</a:t>
            </a:r>
            <a:r>
              <a:rPr kumimoji="1" lang="en-US" altLang="zh-CN" dirty="0" err="1">
                <a:solidFill>
                  <a:srgbClr val="000066"/>
                </a:solidFill>
              </a:rPr>
              <a:t>VerilogHDL</a:t>
            </a:r>
            <a:r>
              <a:rPr kumimoji="1" lang="zh-CN" altLang="en-US" dirty="0">
                <a:solidFill>
                  <a:srgbClr val="000066"/>
                </a:solidFill>
              </a:rPr>
              <a:t>模型。</a:t>
            </a:r>
          </a:p>
          <a:p>
            <a:pPr eaLnBrk="1" hangingPunct="1"/>
            <a:r>
              <a:rPr lang="en-US" altLang="zh-CN" b="1" dirty="0"/>
              <a:t>Two types of Modules:</a:t>
            </a:r>
          </a:p>
          <a:p>
            <a:pPr lvl="1" eaLnBrk="1" hangingPunct="1"/>
            <a:r>
              <a:rPr lang="en-US" altLang="zh-CN" b="1" dirty="0">
                <a:solidFill>
                  <a:schemeClr val="accent1"/>
                </a:solidFill>
              </a:rPr>
              <a:t>Structural: </a:t>
            </a:r>
            <a:r>
              <a:rPr lang="en-US" altLang="zh-CN" dirty="0"/>
              <a:t>describe how it is built from simpler modules</a:t>
            </a:r>
          </a:p>
          <a:p>
            <a:pPr lvl="1" eaLnBrk="1" hangingPunct="1"/>
            <a:r>
              <a:rPr lang="en-US" altLang="zh-CN" b="1" dirty="0">
                <a:solidFill>
                  <a:schemeClr val="accent1"/>
                </a:solidFill>
              </a:rPr>
              <a:t>Behavioral:</a:t>
            </a:r>
            <a:r>
              <a:rPr lang="en-US" altLang="zh-CN" b="1" dirty="0"/>
              <a:t> </a:t>
            </a:r>
            <a:r>
              <a:rPr lang="en-US" altLang="zh-CN" dirty="0"/>
              <a:t>describe what a module does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001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400" dirty="0">
                <a:latin typeface="MSTT3195ed4ebao296107S00" charset="0"/>
              </a:rPr>
              <a:t>实例化时实例的名字是可选项</a:t>
            </a:r>
          </a:p>
          <a:p>
            <a:pPr eaLnBrk="1" hangingPunct="1"/>
            <a:r>
              <a:rPr lang="zh-CN" altLang="en-US" dirty="0">
                <a:solidFill>
                  <a:schemeClr val="accent2"/>
                </a:solidFill>
                <a:latin typeface="Courier-Bold" charset="0"/>
              </a:rPr>
              <a:t>	      </a:t>
            </a:r>
            <a:r>
              <a:rPr lang="en-US" altLang="zh-CN" dirty="0">
                <a:solidFill>
                  <a:schemeClr val="accent2"/>
                </a:solidFill>
                <a:latin typeface="Courier-Bold" charset="0"/>
              </a:rPr>
              <a:t>and       (out, in1, in2, in3, in4);        // unnamed instance</a:t>
            </a:r>
          </a:p>
          <a:p>
            <a:pPr eaLnBrk="1" hangingPunct="1"/>
            <a:r>
              <a:rPr lang="en-US" altLang="zh-CN" dirty="0">
                <a:solidFill>
                  <a:schemeClr val="accent2"/>
                </a:solidFill>
                <a:latin typeface="Courier-Bold" charset="0"/>
              </a:rPr>
              <a:t>	      </a:t>
            </a:r>
            <a:r>
              <a:rPr lang="en-US" altLang="zh-CN" dirty="0" err="1">
                <a:solidFill>
                  <a:schemeClr val="accent2"/>
                </a:solidFill>
                <a:latin typeface="Courier-Bold" charset="0"/>
              </a:rPr>
              <a:t>buf</a:t>
            </a:r>
            <a:r>
              <a:rPr lang="en-US" altLang="zh-CN" dirty="0">
                <a:solidFill>
                  <a:schemeClr val="accent2"/>
                </a:solidFill>
                <a:latin typeface="Courier-Bold" charset="0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latin typeface="Courier-Bold" charset="0"/>
              </a:rPr>
              <a:t>b1</a:t>
            </a:r>
            <a:r>
              <a:rPr lang="en-US" altLang="zh-CN" dirty="0">
                <a:solidFill>
                  <a:schemeClr val="accent2"/>
                </a:solidFill>
                <a:latin typeface="Courier-Bold" charset="0"/>
              </a:rPr>
              <a:t> (out1, out2, in);              // named instance</a:t>
            </a:r>
            <a:endParaRPr lang="en-US" altLang="zh-CN" dirty="0">
              <a:solidFill>
                <a:schemeClr val="accent2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114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952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Primitive: </a:t>
            </a:r>
            <a:r>
              <a:rPr lang="zh-CN" altLang="en-US" dirty="0"/>
              <a:t>原函数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zh-CN" altLang="en-US" dirty="0"/>
              <a:t>也可以像</a:t>
            </a:r>
            <a:r>
              <a:rPr lang="en-US" altLang="zh-CN" dirty="0"/>
              <a:t>P19</a:t>
            </a:r>
            <a:r>
              <a:rPr lang="zh-CN" altLang="en-US" dirty="0"/>
              <a:t>表格那样搞</a:t>
            </a:r>
            <a:endParaRPr lang="en-US" altLang="zh-CN" dirty="0"/>
          </a:p>
          <a:p>
            <a:pPr eaLnBrk="1" hangingPunct="1"/>
            <a:r>
              <a:rPr lang="en-US" altLang="zh-CN" dirty="0"/>
              <a:t>reg f1,f2,f;</a:t>
            </a:r>
          </a:p>
          <a:p>
            <a:pPr eaLnBrk="1" hangingPunct="1"/>
            <a:r>
              <a:rPr lang="en-US" altLang="zh-CN" dirty="0"/>
              <a:t>always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@ 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a,b,sel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f1 = (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&amp; g1;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f2 = b &amp;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    f = f1 </a:t>
            </a:r>
            <a:r>
              <a:rPr kumimoji="1" lang="en-US" altLang="zh-CN" b="1" dirty="0">
                <a:latin typeface="Times New Roman" panose="02020603050405020304" pitchFamily="18" charset="0"/>
              </a:rPr>
              <a:t>| </a:t>
            </a:r>
            <a:r>
              <a:rPr kumimoji="1" lang="en-US" altLang="zh-CN" dirty="0">
                <a:latin typeface="Times New Roman" panose="02020603050405020304" pitchFamily="18" charset="0"/>
              </a:rPr>
              <a:t>f2;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或者定义</a:t>
            </a:r>
            <a:r>
              <a:rPr lang="en-US" altLang="zh-CN" dirty="0"/>
              <a:t>f</a:t>
            </a:r>
            <a:r>
              <a:rPr lang="zh-CN" altLang="en-US" dirty="0"/>
              <a:t>为</a:t>
            </a:r>
            <a:r>
              <a:rPr lang="en-US" altLang="zh-CN" dirty="0"/>
              <a:t>wire</a:t>
            </a:r>
            <a:r>
              <a:rPr lang="zh-CN" altLang="en-US" dirty="0"/>
              <a:t>型变量。</a:t>
            </a:r>
            <a:endParaRPr lang="en-US" altLang="zh-CN" dirty="0"/>
          </a:p>
          <a:p>
            <a:pPr eaLnBrk="1" hangingPunct="1"/>
            <a:r>
              <a:rPr lang="en-US" altLang="zh-CN" dirty="0"/>
              <a:t>wire f;</a:t>
            </a:r>
          </a:p>
          <a:p>
            <a:pPr eaLnBrk="1" hangingPunct="1"/>
            <a:r>
              <a:rPr lang="en-US" altLang="zh-CN" dirty="0"/>
              <a:t>assign f= ((</a:t>
            </a:r>
            <a:r>
              <a:rPr kumimoji="1"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) &amp; g1) </a:t>
            </a:r>
            <a:r>
              <a:rPr kumimoji="1" lang="en-US" altLang="zh-CN" dirty="0">
                <a:latin typeface="Times New Roman" panose="02020603050405020304" pitchFamily="18" charset="0"/>
              </a:rPr>
              <a:t>| (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b &amp;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sel</a:t>
            </a:r>
            <a:r>
              <a:rPr lang="en-US" altLang="zh-CN" dirty="0"/>
              <a:t>);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78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560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LHS (left hand side) is always set to the value on the RHS (right hand side)</a:t>
            </a: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Any change on the right causes reevaluation</a:t>
            </a:r>
          </a:p>
          <a:p>
            <a:endParaRPr kumimoji="1" lang="en-US" altLang="zh-CN" dirty="0"/>
          </a:p>
          <a:p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MUX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的四种写法】函数型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P20/P23,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寄存器型，线网型：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reg f1,f2,f;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always @ (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a,b,sel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    f1 = (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~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sel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) &amp; g1;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    f2 = b &amp;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sel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    f = f1 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| 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f2;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或者定义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wire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型变量。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wire f;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assign f= ((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~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sel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) &amp; g1) | (b &amp; </a:t>
            </a:r>
            <a:r>
              <a:rPr lang="en-US" altLang="zh-CN" sz="1800" dirty="0" err="1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sel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);</a:t>
            </a:r>
            <a:endParaRPr lang="zh-CN" altLang="zh-CN" sz="180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254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chemeClr val="tx2"/>
                </a:solidFill>
              </a:rPr>
              <a:t>Sensitivity list contains signals whose change triggers the execution of the block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2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362634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09_Verilog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HDL (1)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P58-73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 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P195-205 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endParaRPr lang="en-US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DBC4C-9640-AD61-0F3B-5CF87397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6375B-3C17-2170-48EE-3E1111080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基本语法规则</a:t>
            </a:r>
          </a:p>
          <a:p>
            <a:r>
              <a:rPr kumimoji="1" lang="zh-CN" altLang="en-US" dirty="0"/>
              <a:t>变量数据类型</a:t>
            </a:r>
            <a:endParaRPr lang="zh-CN" altLang="en-US" dirty="0"/>
          </a:p>
          <a:p>
            <a:r>
              <a:rPr lang="zh-CN" altLang="en-US" dirty="0"/>
              <a:t>程序基本结构</a:t>
            </a:r>
          </a:p>
          <a:p>
            <a:r>
              <a:rPr lang="zh-CN" altLang="en-US" dirty="0"/>
              <a:t>描述组合逻辑电路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B087B8-46F4-E8D4-8B30-EF3E7278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7B7386-9DB7-80F6-203E-055AF101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0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F0CAE-B731-A477-9D2F-D6D9F6FB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硬件描述语言概述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0FCC5E-F7D0-A249-0824-23A5BA9EE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HDL ( Hardware Description Language )</a:t>
            </a:r>
          </a:p>
          <a:p>
            <a:pPr lvl="1" algn="just">
              <a:defRPr/>
            </a:pPr>
            <a:r>
              <a:rPr lang="zh-CN" altLang="en-US" dirty="0"/>
              <a:t>是一种以文本形式来描述数字系统硬件的结构和行为的语言</a:t>
            </a:r>
          </a:p>
          <a:p>
            <a:pPr lvl="1">
              <a:defRPr/>
            </a:pPr>
            <a:r>
              <a:rPr lang="zh-CN" altLang="en-US" dirty="0"/>
              <a:t>可以从多种抽象层次对数字系统建模</a:t>
            </a:r>
          </a:p>
          <a:p>
            <a:pPr>
              <a:defRPr/>
            </a:pPr>
            <a:r>
              <a:rPr lang="zh-CN" altLang="en-US" dirty="0"/>
              <a:t>两种常用</a:t>
            </a:r>
            <a:r>
              <a:rPr lang="en-US" altLang="zh-CN" dirty="0"/>
              <a:t>HDL</a:t>
            </a:r>
          </a:p>
          <a:p>
            <a:pPr lvl="1" algn="just">
              <a:defRPr/>
            </a:pPr>
            <a:r>
              <a:rPr lang="en-US" altLang="zh-CN" dirty="0"/>
              <a:t>VHDL</a:t>
            </a:r>
            <a:r>
              <a:rPr lang="zh-CN" altLang="en-US" dirty="0"/>
              <a:t>：</a:t>
            </a:r>
            <a:r>
              <a:rPr lang="en-US" altLang="zh-CN" dirty="0"/>
              <a:t>1981</a:t>
            </a:r>
            <a:r>
              <a:rPr lang="zh-CN" altLang="en-US" dirty="0"/>
              <a:t>年由美国国防部组织开发，</a:t>
            </a:r>
            <a:r>
              <a:rPr lang="en-US" altLang="zh-CN" dirty="0"/>
              <a:t>1987</a:t>
            </a:r>
            <a:r>
              <a:rPr lang="zh-CN" altLang="en-US" dirty="0"/>
              <a:t>年成为</a:t>
            </a:r>
            <a:r>
              <a:rPr lang="en-US" altLang="zh-CN" dirty="0"/>
              <a:t>IEEE</a:t>
            </a:r>
            <a:r>
              <a:rPr lang="zh-CN" altLang="en-US" dirty="0"/>
              <a:t>标准</a:t>
            </a:r>
          </a:p>
          <a:p>
            <a:pPr lvl="1" algn="just">
              <a:defRPr/>
            </a:pPr>
            <a:r>
              <a:rPr lang="en-US" altLang="zh-CN" dirty="0"/>
              <a:t>Verilog HDL</a:t>
            </a:r>
            <a:r>
              <a:rPr lang="zh-CN" altLang="en-US" dirty="0"/>
              <a:t>：</a:t>
            </a:r>
            <a:r>
              <a:rPr lang="en-US" altLang="zh-CN" dirty="0"/>
              <a:t>1983</a:t>
            </a:r>
            <a:r>
              <a:rPr lang="zh-CN" altLang="en-US" dirty="0"/>
              <a:t>年由</a:t>
            </a:r>
            <a:r>
              <a:rPr lang="en-US" altLang="zh-CN" dirty="0"/>
              <a:t>Gateway Design Automation</a:t>
            </a:r>
            <a:r>
              <a:rPr lang="zh-CN" altLang="en-US" dirty="0"/>
              <a:t>公司</a:t>
            </a:r>
            <a:r>
              <a:rPr lang="en-US" altLang="zh-CN" dirty="0"/>
              <a:t>(</a:t>
            </a:r>
            <a:r>
              <a:rPr lang="zh-CN" altLang="en-US" dirty="0"/>
              <a:t>后被</a:t>
            </a:r>
            <a:r>
              <a:rPr lang="en-US" altLang="zh-CN" dirty="0"/>
              <a:t>Cadence</a:t>
            </a:r>
            <a:r>
              <a:rPr lang="zh-CN" altLang="en-US" dirty="0"/>
              <a:t>收购</a:t>
            </a:r>
            <a:r>
              <a:rPr lang="en-US" altLang="zh-CN" dirty="0"/>
              <a:t>)</a:t>
            </a:r>
            <a:r>
              <a:rPr lang="zh-CN" altLang="en-US" dirty="0"/>
              <a:t>开发，</a:t>
            </a:r>
            <a:r>
              <a:rPr lang="en-US" altLang="zh-CN" dirty="0"/>
              <a:t>1995</a:t>
            </a:r>
            <a:r>
              <a:rPr lang="zh-CN" altLang="en-US" dirty="0"/>
              <a:t>年成为</a:t>
            </a:r>
            <a:r>
              <a:rPr lang="en-US" altLang="zh-CN" dirty="0"/>
              <a:t>IEEE</a:t>
            </a:r>
            <a:r>
              <a:rPr lang="zh-CN" altLang="en-US" dirty="0"/>
              <a:t>标准</a:t>
            </a:r>
            <a:endParaRPr lang="en-US" altLang="zh-CN" dirty="0"/>
          </a:p>
          <a:p>
            <a:pPr marL="457200" lvl="1" indent="0" algn="just"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IEEE 1364-1995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016B05-1D5D-824A-3BF6-537F0FDA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8FE429-6843-E564-B38C-8B25A0F81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17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43CD3-7621-989E-82D4-D01410823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提问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F089B-C773-766B-9F08-CB8AE2E0D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6705749" cy="5947119"/>
          </a:xfrm>
        </p:spPr>
        <p:txBody>
          <a:bodyPr/>
          <a:lstStyle/>
          <a:p>
            <a:r>
              <a:rPr kumimoji="1" lang="zh-CN" altLang="en-US" dirty="0"/>
              <a:t>如果让你来设计一款描述硬件的语言，你会考虑哪些因素？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9DFAF5-641A-C11D-6B98-429F4368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F8DAF2-266C-7A02-B7F9-8B1FE551D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3B5C9C-E08B-3F4F-82B2-DF44212DEED8}"/>
              </a:ext>
            </a:extLst>
          </p:cNvPr>
          <p:cNvSpPr txBox="1"/>
          <p:nvPr/>
        </p:nvSpPr>
        <p:spPr>
          <a:xfrm>
            <a:off x="564206" y="2102292"/>
            <a:ext cx="85603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ts val="1800"/>
              </a:spcBef>
              <a:spcAft>
                <a:spcPts val="1800"/>
              </a:spcAft>
            </a:pP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1.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能形式化地抽象表示电路的行为和结构；</a:t>
            </a:r>
            <a:b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2.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支持逻辑设计中层次与范围地描述；</a:t>
            </a:r>
            <a:b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3.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可借用高级语言地精巧结构来简化电路行为和结构；具有电路仿真与验证机制以保证设计的正确性；</a:t>
            </a:r>
            <a:b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4.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支持电路描述由高层到低层的综合转换；</a:t>
            </a:r>
            <a:b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5.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硬件描述和实现工艺无关；</a:t>
            </a:r>
            <a:b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6.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便于文档管理；</a:t>
            </a:r>
            <a:b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</a:b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7. 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易于理解和设计重用</a:t>
            </a:r>
          </a:p>
        </p:txBody>
      </p:sp>
    </p:spTree>
    <p:extLst>
      <p:ext uri="{BB962C8B-B14F-4D97-AF65-F5344CB8AC3E}">
        <p14:creationId xmlns:p14="http://schemas.microsoft.com/office/powerpoint/2010/main" val="341015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8B133-2F36-F99C-4290-55EDBA85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en-US" altLang="zh-CN" dirty="0"/>
              <a:t>Mux with Assign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5DED8-3DE0-B08C-9028-390C92E2E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402" y="1062350"/>
            <a:ext cx="7249143" cy="393439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module mux2_1(</a:t>
            </a:r>
          </a:p>
          <a:p>
            <a:pPr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output f,</a:t>
            </a:r>
          </a:p>
          <a:p>
            <a:pPr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input a, b, </a:t>
            </a:r>
            <a:r>
              <a:rPr lang="en-US" altLang="zh-CN" sz="2800" dirty="0" err="1">
                <a:solidFill>
                  <a:schemeClr val="tx1"/>
                </a:solidFill>
              </a:rPr>
              <a:t>sel</a:t>
            </a:r>
            <a:r>
              <a:rPr lang="en-US" altLang="zh-CN" sz="2800" dirty="0">
                <a:solidFill>
                  <a:schemeClr val="tx1"/>
                </a:solidFill>
              </a:rPr>
              <a:t> );</a:t>
            </a:r>
          </a:p>
          <a:p>
            <a:pPr>
              <a:buFontTx/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assign f = (a &amp; ~</a:t>
            </a:r>
            <a:r>
              <a:rPr lang="en-US" altLang="zh-CN" sz="2800" dirty="0" err="1">
                <a:solidFill>
                  <a:schemeClr val="tx1"/>
                </a:solidFill>
              </a:rPr>
              <a:t>sel</a:t>
            </a:r>
            <a:r>
              <a:rPr lang="en-US" altLang="zh-CN" sz="2800" dirty="0">
                <a:solidFill>
                  <a:schemeClr val="tx1"/>
                </a:solidFill>
              </a:rPr>
              <a:t>) | (b &amp; </a:t>
            </a:r>
            <a:r>
              <a:rPr lang="en-US" altLang="zh-CN" sz="2800" dirty="0" err="1">
                <a:solidFill>
                  <a:schemeClr val="tx1"/>
                </a:solidFill>
              </a:rPr>
              <a:t>sel</a:t>
            </a:r>
            <a:r>
              <a:rPr lang="en-US" altLang="zh-CN" sz="2800" dirty="0">
                <a:solidFill>
                  <a:schemeClr val="tx1"/>
                </a:solidFill>
              </a:rPr>
              <a:t>);</a:t>
            </a:r>
          </a:p>
          <a:p>
            <a:pPr>
              <a:buFontTx/>
              <a:buNone/>
            </a:pPr>
            <a:endParaRPr lang="en-US" altLang="zh-CN" sz="28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zh-CN" sz="2800" dirty="0" err="1">
                <a:solidFill>
                  <a:schemeClr val="tx1"/>
                </a:solidFill>
              </a:rPr>
              <a:t>endmodule</a:t>
            </a:r>
            <a:endParaRPr lang="en-US" altLang="zh-CN" sz="2800" dirty="0">
              <a:solidFill>
                <a:schemeClr val="tx1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DD8428-320C-3D4F-C3D4-B32D54A57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956B62-4F9C-A6A4-0528-214467B3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/29</a:t>
            </a:r>
            <a:endParaRPr lang="en-US" dirty="0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A2E9543D-6ABD-963D-EE41-4A33A45FE28C}"/>
              </a:ext>
            </a:extLst>
          </p:cNvPr>
          <p:cNvGrpSpPr>
            <a:grpSpLocks/>
          </p:cNvGrpSpPr>
          <p:nvPr/>
        </p:nvGrpSpPr>
        <p:grpSpPr bwMode="auto">
          <a:xfrm>
            <a:off x="5184882" y="4221333"/>
            <a:ext cx="4576762" cy="2006600"/>
            <a:chOff x="4103688" y="4113213"/>
            <a:chExt cx="4576762" cy="2006399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6856AED4-4439-45C0-3779-0296943CB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4156075"/>
              <a:ext cx="685800" cy="6096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2C4C5B6-09BC-712A-C22C-A1189153E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850" y="4308475"/>
              <a:ext cx="170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DFADA70F-DF5B-0108-AAD8-6F1900CAB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4460875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utoShape 7">
              <a:extLst>
                <a:ext uri="{FF2B5EF4-FFF2-40B4-BE49-F238E27FC236}">
                  <a16:creationId xmlns:a16="http://schemas.microsoft.com/office/drawing/2014/main" id="{01907441-CD06-8140-18E4-5FE19923E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5070475"/>
              <a:ext cx="685800" cy="6096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FFCE7CC0-619B-E2A6-24C3-424564B49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850" y="5222875"/>
              <a:ext cx="170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0E0A8A8A-D97F-9F1F-F33E-04F7C9408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213" y="5527675"/>
              <a:ext cx="1341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6B04E2C9-9A26-E157-4834-66942C83B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5375275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" name="Group 11">
              <a:extLst>
                <a:ext uri="{FF2B5EF4-FFF2-40B4-BE49-F238E27FC236}">
                  <a16:creationId xmlns:a16="http://schemas.microsoft.com/office/drawing/2014/main" id="{C9334956-4974-9DB4-0D78-3A770952E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0450" y="4613275"/>
              <a:ext cx="685800" cy="609600"/>
              <a:chOff x="2688" y="1488"/>
              <a:chExt cx="432" cy="384"/>
            </a:xfrm>
          </p:grpSpPr>
          <p:sp>
            <p:nvSpPr>
              <p:cNvPr id="30" name="Arc 12">
                <a:extLst>
                  <a:ext uri="{FF2B5EF4-FFF2-40B4-BE49-F238E27FC236}">
                    <a16:creationId xmlns:a16="http://schemas.microsoft.com/office/drawing/2014/main" id="{D9A92DBC-400A-5B54-AA79-427649AC8D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488"/>
                <a:ext cx="96" cy="383"/>
              </a:xfrm>
              <a:custGeom>
                <a:avLst/>
                <a:gdLst>
                  <a:gd name="T0" fmla="*/ 0 w 21600"/>
                  <a:gd name="T1" fmla="*/ 0 h 43154"/>
                  <a:gd name="T2" fmla="*/ 0 w 21600"/>
                  <a:gd name="T3" fmla="*/ 0 h 43154"/>
                  <a:gd name="T4" fmla="*/ 0 w 21600"/>
                  <a:gd name="T5" fmla="*/ 0 h 4315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54"/>
                  <a:gd name="T11" fmla="*/ 21600 w 21600"/>
                  <a:gd name="T12" fmla="*/ 43154 h 431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5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980"/>
                      <a:pt x="12769" y="42409"/>
                      <a:pt x="1412" y="43153"/>
                    </a:cubicBezTo>
                  </a:path>
                  <a:path w="21600" h="4315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980"/>
                      <a:pt x="12769" y="42409"/>
                      <a:pt x="1412" y="4315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Arc 13">
                <a:extLst>
                  <a:ext uri="{FF2B5EF4-FFF2-40B4-BE49-F238E27FC236}">
                    <a16:creationId xmlns:a16="http://schemas.microsoft.com/office/drawing/2014/main" id="{235B0A89-871F-808A-32BB-22D0C8E07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488"/>
                <a:ext cx="432" cy="384"/>
              </a:xfrm>
              <a:custGeom>
                <a:avLst/>
                <a:gdLst>
                  <a:gd name="T0" fmla="*/ 0 w 21600"/>
                  <a:gd name="T1" fmla="*/ 0 h 43189"/>
                  <a:gd name="T2" fmla="*/ 0 w 21600"/>
                  <a:gd name="T3" fmla="*/ 0 h 43189"/>
                  <a:gd name="T4" fmla="*/ 0 w 21600"/>
                  <a:gd name="T5" fmla="*/ 0 h 4318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89"/>
                  <a:gd name="T11" fmla="*/ 21600 w 21600"/>
                  <a:gd name="T12" fmla="*/ 43189 h 431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8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256"/>
                      <a:pt x="12350" y="42810"/>
                      <a:pt x="699" y="43188"/>
                    </a:cubicBezTo>
                  </a:path>
                  <a:path w="21600" h="4318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256"/>
                      <a:pt x="12350" y="42810"/>
                      <a:pt x="699" y="4318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6F478643-6D93-46BA-6A7B-018C6FDBC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47656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8DD1C3DD-53DF-C070-E191-B0C628D5C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50704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69F9D2A0-2C39-23BB-C293-CB974300B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6250" y="49180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3F68E848-8844-AF0E-D37D-1E9AE7F85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3275"/>
              <a:ext cx="338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2C7FD894-A8A1-56CD-5DB1-8FC1E80422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325" y="4613275"/>
              <a:ext cx="4413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7ACD4DF-B7C0-4A7C-10F3-9BD1CBDD10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5113" y="4383088"/>
              <a:ext cx="557212" cy="457200"/>
              <a:chOff x="3235" y="2143"/>
              <a:chExt cx="351" cy="288"/>
            </a:xfrm>
          </p:grpSpPr>
          <p:sp>
            <p:nvSpPr>
              <p:cNvPr id="28" name="AutoShape 20">
                <a:extLst>
                  <a:ext uri="{FF2B5EF4-FFF2-40B4-BE49-F238E27FC236}">
                    <a16:creationId xmlns:a16="http://schemas.microsoft.com/office/drawing/2014/main" id="{F19EB390-1875-CEFA-957B-3F7CCDBA5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9" y="2159"/>
                <a:ext cx="288" cy="255"/>
              </a:xfrm>
              <a:prstGeom prst="triangle">
                <a:avLst>
                  <a:gd name="adj" fmla="val 50000"/>
                </a:avLst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Oval 21">
                <a:extLst>
                  <a:ext uri="{FF2B5EF4-FFF2-40B4-BE49-F238E27FC236}">
                    <a16:creationId xmlns:a16="http://schemas.microsoft.com/office/drawing/2014/main" id="{7BBBB42C-44AA-BB60-7915-4AA099963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0" y="2239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C35E8BF0-5AA6-1685-EA83-66E867F4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3275"/>
              <a:ext cx="0" cy="1336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58448CCD-7AD8-F6A0-4E1A-5DA58E3D6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5070475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874AE4E1-7599-97EF-34F5-E03CA4F8A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8050" y="4460875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E808EF63-3F05-C9AD-151F-A55F75635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8613" y="4113213"/>
              <a:ext cx="447675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621FDB89-420A-EBAF-6A9A-8CFA5E081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688" y="5027613"/>
              <a:ext cx="466725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8BFB8934-D54C-5611-9352-0B6A478B4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0050" y="5661025"/>
              <a:ext cx="685800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/>
                <a:t>sel</a:t>
              </a:r>
            </a:p>
          </p:txBody>
        </p:sp>
        <p:sp>
          <p:nvSpPr>
            <p:cNvPr id="27" name="Text Box 28">
              <a:extLst>
                <a:ext uri="{FF2B5EF4-FFF2-40B4-BE49-F238E27FC236}">
                  <a16:creationId xmlns:a16="http://schemas.microsoft.com/office/drawing/2014/main" id="{4587A3C7-8316-5A7A-E9CD-6A8770C29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3250" y="4473575"/>
              <a:ext cx="457200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32" name="组合 1">
            <a:extLst>
              <a:ext uri="{FF2B5EF4-FFF2-40B4-BE49-F238E27FC236}">
                <a16:creationId xmlns:a16="http://schemas.microsoft.com/office/drawing/2014/main" id="{95FC5C81-8544-405B-8A62-EC79A8CA1415}"/>
              </a:ext>
            </a:extLst>
          </p:cNvPr>
          <p:cNvGrpSpPr>
            <a:grpSpLocks/>
          </p:cNvGrpSpPr>
          <p:nvPr/>
        </p:nvGrpSpPr>
        <p:grpSpPr bwMode="auto">
          <a:xfrm>
            <a:off x="6556775" y="1680686"/>
            <a:ext cx="2714625" cy="1866900"/>
            <a:chOff x="5491180" y="1451038"/>
            <a:chExt cx="2714713" cy="1866177"/>
          </a:xfrm>
        </p:grpSpPr>
        <p:sp>
          <p:nvSpPr>
            <p:cNvPr id="33" name="Line 53">
              <a:extLst>
                <a:ext uri="{FF2B5EF4-FFF2-40B4-BE49-F238E27FC236}">
                  <a16:creationId xmlns:a16="http://schemas.microsoft.com/office/drawing/2014/main" id="{F983F2EA-E778-1FFA-3E63-A5CCD44587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2528882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54">
              <a:extLst>
                <a:ext uri="{FF2B5EF4-FFF2-40B4-BE49-F238E27FC236}">
                  <a16:creationId xmlns:a16="http://schemas.microsoft.com/office/drawing/2014/main" id="{9E73923C-E0ED-D888-5716-8C983AD6B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55">
              <a:extLst>
                <a:ext uri="{FF2B5EF4-FFF2-40B4-BE49-F238E27FC236}">
                  <a16:creationId xmlns:a16="http://schemas.microsoft.com/office/drawing/2014/main" id="{DC8657BA-65D8-1E12-032A-8407AC92BD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085970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56">
              <a:extLst>
                <a:ext uri="{FF2B5EF4-FFF2-40B4-BE49-F238E27FC236}">
                  <a16:creationId xmlns:a16="http://schemas.microsoft.com/office/drawing/2014/main" id="{32ACF4F8-6E58-880B-6DE0-80DCD8CD3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80498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57">
              <a:extLst>
                <a:ext uri="{FF2B5EF4-FFF2-40B4-BE49-F238E27FC236}">
                  <a16:creationId xmlns:a16="http://schemas.microsoft.com/office/drawing/2014/main" id="{A5D6B38A-8D30-2EC8-9299-8D19CF241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53352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38" name="Text Box 58">
              <a:extLst>
                <a:ext uri="{FF2B5EF4-FFF2-40B4-BE49-F238E27FC236}">
                  <a16:creationId xmlns:a16="http://schemas.microsoft.com/office/drawing/2014/main" id="{BA3792AC-AB42-4C33-0C83-7ACB30A98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78032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39" name="Text Box 59">
              <a:extLst>
                <a:ext uri="{FF2B5EF4-FFF2-40B4-BE49-F238E27FC236}">
                  <a16:creationId xmlns:a16="http://schemas.microsoft.com/office/drawing/2014/main" id="{D14AE63F-28C1-D659-12A8-135277F8C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2068" y="2793995"/>
              <a:ext cx="5822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sel</a:t>
              </a:r>
            </a:p>
          </p:txBody>
        </p:sp>
        <p:sp>
          <p:nvSpPr>
            <p:cNvPr id="40" name="Text Box 60">
              <a:extLst>
                <a:ext uri="{FF2B5EF4-FFF2-40B4-BE49-F238E27FC236}">
                  <a16:creationId xmlns:a16="http://schemas.microsoft.com/office/drawing/2014/main" id="{9BD209F1-72E8-8AB7-3D69-D5DD50BA43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1793870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 dirty="0"/>
                <a:t>f</a:t>
              </a:r>
            </a:p>
          </p:txBody>
        </p:sp>
        <p:sp>
          <p:nvSpPr>
            <p:cNvPr id="41" name="Text Box 62">
              <a:extLst>
                <a:ext uri="{FF2B5EF4-FFF2-40B4-BE49-F238E27FC236}">
                  <a16:creationId xmlns:a16="http://schemas.microsoft.com/office/drawing/2014/main" id="{5AEDC97E-415A-8040-F0B1-B4AE51F51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60495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2" name="Text Box 63">
              <a:extLst>
                <a:ext uri="{FF2B5EF4-FFF2-40B4-BE49-F238E27FC236}">
                  <a16:creationId xmlns:a16="http://schemas.microsoft.com/office/drawing/2014/main" id="{7831A379-0849-A0EC-44BD-5F8136A5F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3" name="梯形 42">
              <a:extLst>
                <a:ext uri="{FF2B5EF4-FFF2-40B4-BE49-F238E27FC236}">
                  <a16:creationId xmlns:a16="http://schemas.microsoft.com/office/drawing/2014/main" id="{C0B39EAD-6612-98C5-265C-275A647D4705}"/>
                </a:ext>
              </a:extLst>
            </p:cNvPr>
            <p:cNvSpPr/>
            <p:nvPr/>
          </p:nvSpPr>
          <p:spPr>
            <a:xfrm rot="5400000">
              <a:off x="6301090" y="1714312"/>
              <a:ext cx="1234597" cy="708048"/>
            </a:xfrm>
            <a:prstGeom prst="trapezoid">
              <a:avLst>
                <a:gd name="adj" fmla="val 4218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1489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60E45-FC59-67E1-2CCF-12336940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HDL</a:t>
            </a:r>
            <a:r>
              <a:rPr lang="zh-CN" altLang="en-US" dirty="0"/>
              <a:t>主要特征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CB1C1-2308-E965-DF71-2A82B4F5A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306329" cy="5947119"/>
          </a:xfrm>
        </p:spPr>
        <p:txBody>
          <a:bodyPr/>
          <a:lstStyle/>
          <a:p>
            <a:r>
              <a:rPr lang="en-US" altLang="zh-CN" dirty="0"/>
              <a:t>HDL</a:t>
            </a:r>
            <a:r>
              <a:rPr lang="zh-CN" altLang="en-US" dirty="0"/>
              <a:t>语言既包含一些高级程序设计语言的结构形式，同时也兼顾描述硬件线路连接的具体构件</a:t>
            </a:r>
          </a:p>
          <a:p>
            <a:r>
              <a:rPr lang="zh-CN" altLang="en-US" dirty="0"/>
              <a:t>通过使用结构级或行为级描述可以在不同的抽象层次描述设计</a:t>
            </a:r>
          </a:p>
          <a:p>
            <a:pPr lvl="1"/>
            <a:r>
              <a:rPr lang="zh-CN" altLang="en-US" dirty="0"/>
              <a:t>五个抽象层次：系统级、算法级、寄存器传输级、逻辑（门）级、电路（开关）级</a:t>
            </a:r>
            <a:endParaRPr lang="zh-CN" altLang="en-US" sz="2000" dirty="0"/>
          </a:p>
          <a:p>
            <a:r>
              <a:rPr lang="zh-CN" altLang="en-US" dirty="0"/>
              <a:t> </a:t>
            </a:r>
            <a:r>
              <a:rPr lang="en-US" altLang="zh-CN" dirty="0"/>
              <a:t>HDL</a:t>
            </a:r>
            <a:r>
              <a:rPr lang="zh-CN" altLang="en-US" dirty="0"/>
              <a:t>语言是</a:t>
            </a:r>
            <a:r>
              <a:rPr lang="zh-CN" altLang="en-US" dirty="0">
                <a:solidFill>
                  <a:srgbClr val="0000FF"/>
                </a:solidFill>
              </a:rPr>
              <a:t>并发</a:t>
            </a:r>
            <a:r>
              <a:rPr lang="zh-CN" altLang="en-US" dirty="0"/>
              <a:t>的，即具有在同一时刻执行多个任务的能力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HDL</a:t>
            </a:r>
            <a:r>
              <a:rPr lang="zh-CN" altLang="en-US" dirty="0"/>
              <a:t>语言有</a:t>
            </a:r>
            <a:r>
              <a:rPr lang="zh-CN" altLang="en-US" dirty="0">
                <a:solidFill>
                  <a:srgbClr val="0000FF"/>
                </a:solidFill>
              </a:rPr>
              <a:t>时序</a:t>
            </a:r>
            <a:r>
              <a:rPr lang="zh-CN" altLang="en-US" dirty="0"/>
              <a:t>的概念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D6A1C8-216D-BC2A-3A44-FE2BDA18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6F8B5A-7C6C-5A34-CC96-989CB73E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77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C5067A-6102-28F3-AF83-6019F5966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 HDL</a:t>
            </a:r>
            <a:r>
              <a:rPr lang="zh-CN" altLang="en-US" dirty="0"/>
              <a:t>与 </a:t>
            </a:r>
            <a:r>
              <a:rPr lang="en-US" altLang="zh-CN" dirty="0"/>
              <a:t>C</a:t>
            </a:r>
            <a:r>
              <a:rPr lang="zh-CN" altLang="en-US" dirty="0"/>
              <a:t>语言对比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58740-74DE-C5DE-5D41-47059348F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4625938" cy="5947119"/>
          </a:xfrm>
        </p:spPr>
        <p:txBody>
          <a:bodyPr/>
          <a:lstStyle/>
          <a:p>
            <a:pPr>
              <a:lnSpc>
                <a:spcPct val="95000"/>
              </a:lnSpc>
              <a:spcBef>
                <a:spcPct val="15000"/>
              </a:spcBef>
            </a:pPr>
            <a:r>
              <a:rPr lang="zh-CN" altLang="en-US" dirty="0"/>
              <a:t>虽然</a:t>
            </a:r>
            <a:r>
              <a:rPr lang="en-US" altLang="zh-CN" dirty="0"/>
              <a:t>Verilog</a:t>
            </a:r>
            <a:r>
              <a:rPr lang="zh-CN" altLang="en-US" dirty="0"/>
              <a:t>的某些语法与</a:t>
            </a:r>
            <a:r>
              <a:rPr lang="en-US" altLang="zh-CN" dirty="0"/>
              <a:t>C</a:t>
            </a:r>
            <a:r>
              <a:rPr lang="zh-CN" altLang="en-US" dirty="0"/>
              <a:t>语言接近，但存在本质上的区别</a:t>
            </a:r>
          </a:p>
          <a:p>
            <a:pPr lvl="1">
              <a:lnSpc>
                <a:spcPct val="95000"/>
              </a:lnSpc>
              <a:spcBef>
                <a:spcPct val="15000"/>
              </a:spcBef>
            </a:pPr>
            <a:r>
              <a:rPr lang="en-US" altLang="zh-CN" dirty="0"/>
              <a:t>Verilog</a:t>
            </a:r>
            <a:r>
              <a:rPr lang="zh-CN" altLang="en-US" dirty="0"/>
              <a:t>是一种硬件语言，最终是为了产生实际的硬件电路或对硬件电路进行仿真</a:t>
            </a:r>
          </a:p>
          <a:p>
            <a:pPr lvl="1">
              <a:lnSpc>
                <a:spcPct val="95000"/>
              </a:lnSpc>
              <a:spcBef>
                <a:spcPct val="15000"/>
              </a:spcBef>
            </a:pPr>
            <a:r>
              <a:rPr lang="en-US" altLang="zh-CN" dirty="0"/>
              <a:t>C</a:t>
            </a:r>
            <a:r>
              <a:rPr lang="zh-CN" altLang="en-US" dirty="0"/>
              <a:t>语言是一种软件语言，是控制硬件来实现某些功能</a:t>
            </a:r>
            <a:endParaRPr lang="en-US" altLang="zh-CN" dirty="0"/>
          </a:p>
          <a:p>
            <a:pPr lvl="1">
              <a:lnSpc>
                <a:spcPct val="95000"/>
              </a:lnSpc>
              <a:spcBef>
                <a:spcPct val="15000"/>
              </a:spcBef>
            </a:pPr>
            <a:endParaRPr lang="zh-CN" altLang="en-US" dirty="0"/>
          </a:p>
          <a:p>
            <a:pPr>
              <a:lnSpc>
                <a:spcPct val="95000"/>
              </a:lnSpc>
              <a:spcBef>
                <a:spcPct val="15000"/>
              </a:spcBef>
            </a:pPr>
            <a:r>
              <a:rPr lang="zh-CN" altLang="en-US" dirty="0"/>
              <a:t>利用</a:t>
            </a:r>
            <a:r>
              <a:rPr lang="en-US" altLang="zh-CN" dirty="0"/>
              <a:t>Verilog</a:t>
            </a:r>
            <a:r>
              <a:rPr lang="zh-CN" altLang="en-US" dirty="0"/>
              <a:t>编程时，要时刻记着：</a:t>
            </a:r>
            <a:r>
              <a:rPr lang="en-US" altLang="zh-CN" dirty="0"/>
              <a:t>Verilog</a:t>
            </a:r>
            <a:r>
              <a:rPr lang="zh-CN" altLang="en-US" dirty="0"/>
              <a:t>是硬件描述语言，要将其</a:t>
            </a:r>
            <a:r>
              <a:rPr lang="zh-CN" altLang="en-US" dirty="0">
                <a:solidFill>
                  <a:srgbClr val="0000FF"/>
                </a:solidFill>
              </a:rPr>
              <a:t>与硬件电路对应</a:t>
            </a:r>
            <a:r>
              <a:rPr lang="zh-CN" altLang="en-US" dirty="0"/>
              <a:t>起来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9C28B3-32B6-BB2B-E2B2-AFFC2F90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9B954D-02B3-8FFD-A491-7A71CE1F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32">
            <a:extLst>
              <a:ext uri="{FF2B5EF4-FFF2-40B4-BE49-F238E27FC236}">
                <a16:creationId xmlns:a16="http://schemas.microsoft.com/office/drawing/2014/main" id="{BA9010D9-CD50-067B-9F3C-5EF865A08F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9892932"/>
              </p:ext>
            </p:extLst>
          </p:nvPr>
        </p:nvGraphicFramePr>
        <p:xfrm>
          <a:off x="5579596" y="1158081"/>
          <a:ext cx="3322638" cy="4541838"/>
        </p:xfrm>
        <a:graphic>
          <a:graphicData uri="http://schemas.openxmlformats.org/drawingml/2006/table">
            <a:tbl>
              <a:tblPr/>
              <a:tblGrid>
                <a:gridCol w="16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C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Verilog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procedures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modules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variables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wires/regs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parameters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ports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52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control (if,case,?: )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control (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if,case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</a:rPr>
                        <a:t>,?: ) 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384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441B0-5121-27D4-AEC3-8BAC33BF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（串行）收购</a:t>
            </a:r>
            <a:r>
              <a:rPr kumimoji="1" lang="en-US" altLang="zh-CN" dirty="0"/>
              <a:t>FPGA</a:t>
            </a:r>
            <a:r>
              <a:rPr kumimoji="1" lang="zh-CN" altLang="en-US" dirty="0"/>
              <a:t>（并行）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753384-9FAD-59F1-0CA4-ABFFD265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E7AB86-7EB0-EBEE-420E-24784219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/29</a:t>
            </a:r>
            <a:endParaRPr lang="en-US" dirty="0"/>
          </a:p>
        </p:txBody>
      </p:sp>
      <p:pic>
        <p:nvPicPr>
          <p:cNvPr id="6" name="内容占位符 7">
            <a:extLst>
              <a:ext uri="{FF2B5EF4-FFF2-40B4-BE49-F238E27FC236}">
                <a16:creationId xmlns:a16="http://schemas.microsoft.com/office/drawing/2014/main" id="{492434F8-5B51-E4BA-B658-DDF09022D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08"/>
          <a:stretch/>
        </p:blipFill>
        <p:spPr>
          <a:xfrm>
            <a:off x="858186" y="2778518"/>
            <a:ext cx="8189450" cy="2997140"/>
          </a:xfrm>
          <a:ln>
            <a:solidFill>
              <a:schemeClr val="tx1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61C56C-38D0-3245-8FE5-78E25A60B4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4"/>
          <a:stretch/>
        </p:blipFill>
        <p:spPr>
          <a:xfrm>
            <a:off x="858275" y="668420"/>
            <a:ext cx="8189450" cy="18815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8D50C8A-BF38-2E60-82AF-DB9C548C2A2D}"/>
              </a:ext>
            </a:extLst>
          </p:cNvPr>
          <p:cNvSpPr txBox="1"/>
          <p:nvPr/>
        </p:nvSpPr>
        <p:spPr>
          <a:xfrm>
            <a:off x="2510117" y="5964523"/>
            <a:ext cx="526297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为什么要收购？为什么是串行收购并行而非相反？</a:t>
            </a:r>
          </a:p>
        </p:txBody>
      </p:sp>
    </p:spTree>
    <p:extLst>
      <p:ext uri="{BB962C8B-B14F-4D97-AF65-F5344CB8AC3E}">
        <p14:creationId xmlns:p14="http://schemas.microsoft.com/office/powerpoint/2010/main" val="29863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043E1-6A7E-6875-1063-5FC3EABA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 HDL</a:t>
            </a:r>
            <a:r>
              <a:rPr lang="zh-CN" altLang="en-US" dirty="0"/>
              <a:t>基本语法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A54262-F760-2855-709B-82550D448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空白符（间隔符）</a:t>
            </a:r>
          </a:p>
          <a:p>
            <a:pPr lvl="1"/>
            <a:r>
              <a:rPr lang="zh-CN" altLang="en-US" dirty="0"/>
              <a:t>主要起分隔文本的作用，可以使文本错落有致，便于阅读与修改</a:t>
            </a:r>
          </a:p>
          <a:p>
            <a:pPr lvl="1"/>
            <a:r>
              <a:rPr lang="zh-CN" altLang="en-US" dirty="0"/>
              <a:t>包括空格、制表符、换行符及换页符</a:t>
            </a:r>
          </a:p>
          <a:p>
            <a:r>
              <a:rPr lang="zh-CN" altLang="en-US" dirty="0"/>
              <a:t>注释符</a:t>
            </a:r>
          </a:p>
          <a:p>
            <a:pPr lvl="1"/>
            <a:r>
              <a:rPr lang="zh-CN" altLang="en-US" dirty="0"/>
              <a:t>改善程序的可读性，在编译时不起作用</a:t>
            </a:r>
          </a:p>
          <a:p>
            <a:pPr lvl="1"/>
            <a:r>
              <a:rPr lang="zh-CN" altLang="en-US" dirty="0"/>
              <a:t>多行注释符：</a:t>
            </a:r>
            <a:r>
              <a:rPr lang="en-US" altLang="en-US" dirty="0" err="1"/>
              <a:t>以</a:t>
            </a:r>
            <a:r>
              <a:rPr lang="en-US" altLang="ja-JP" dirty="0"/>
              <a:t>/*</a:t>
            </a:r>
            <a:r>
              <a:rPr lang="en-US" altLang="en-US" dirty="0" err="1"/>
              <a:t>开始到</a:t>
            </a:r>
            <a:r>
              <a:rPr lang="en-US" altLang="ja-JP" dirty="0"/>
              <a:t>*/</a:t>
            </a:r>
            <a:r>
              <a:rPr lang="en-US" altLang="en-US" dirty="0" err="1"/>
              <a:t>结束</a:t>
            </a:r>
            <a:endParaRPr lang="zh-CN" altLang="en-US" dirty="0"/>
          </a:p>
          <a:p>
            <a:pPr lvl="1"/>
            <a:r>
              <a:rPr lang="zh-CN" altLang="en-US" dirty="0"/>
              <a:t>单行注释符：以</a:t>
            </a:r>
            <a:r>
              <a:rPr lang="en-US" altLang="zh-CN" dirty="0"/>
              <a:t>//</a:t>
            </a:r>
            <a:r>
              <a:rPr lang="zh-CN" altLang="en-US" dirty="0"/>
              <a:t>开始到行尾结束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9DB701-F48E-727E-27FF-91EA8C4D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CE7492-2B26-DEF5-C5CD-B40DBDB1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9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AD0F3-B459-1FA4-B9AA-F76AB97F2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 HDL</a:t>
            </a:r>
            <a:r>
              <a:rPr lang="zh-CN" altLang="en-US" dirty="0"/>
              <a:t>基本语法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1)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38A118-8B2D-81FF-AA55-7C2863F79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关键字</a:t>
            </a:r>
            <a:endParaRPr lang="en-US" altLang="zh-CN" dirty="0"/>
          </a:p>
          <a:p>
            <a:pPr lvl="1"/>
            <a:r>
              <a:rPr lang="en-US" altLang="zh-CN" dirty="0"/>
              <a:t>Verilog</a:t>
            </a:r>
            <a:r>
              <a:rPr lang="zh-CN" altLang="en-US" dirty="0"/>
              <a:t>语言</a:t>
            </a:r>
            <a:r>
              <a:rPr kumimoji="1" lang="zh-CN" altLang="en-US" dirty="0"/>
              <a:t>内部已经使用的词，</a:t>
            </a:r>
            <a:r>
              <a:rPr lang="zh-CN" altLang="en-US" dirty="0"/>
              <a:t>例如，</a:t>
            </a:r>
            <a:r>
              <a:rPr lang="en-US" altLang="zh-CN" dirty="0"/>
              <a:t>module</a:t>
            </a:r>
            <a:r>
              <a:rPr lang="zh-CN" altLang="en-US" dirty="0"/>
              <a:t>、</a:t>
            </a:r>
            <a:r>
              <a:rPr lang="en-US" altLang="zh-CN" dirty="0" err="1"/>
              <a:t>endmodule</a:t>
            </a:r>
            <a:r>
              <a:rPr lang="zh-CN" altLang="en-US" dirty="0"/>
              <a:t>、</a:t>
            </a:r>
            <a:r>
              <a:rPr lang="en-US" altLang="zh-CN" dirty="0"/>
              <a:t>input</a:t>
            </a:r>
            <a:r>
              <a:rPr lang="zh-CN" altLang="en-US" dirty="0"/>
              <a:t>、</a:t>
            </a:r>
            <a:r>
              <a:rPr lang="en-US" altLang="zh-CN" dirty="0"/>
              <a:t>output</a:t>
            </a:r>
            <a:r>
              <a:rPr lang="zh-CN" altLang="en-US" dirty="0"/>
              <a:t>、</a:t>
            </a:r>
            <a:r>
              <a:rPr lang="en-US" altLang="zh-CN" dirty="0"/>
              <a:t>wire</a:t>
            </a:r>
            <a:r>
              <a:rPr lang="zh-CN" altLang="en-US" dirty="0"/>
              <a:t>、</a:t>
            </a:r>
            <a:r>
              <a:rPr lang="en-US" altLang="zh-CN" dirty="0"/>
              <a:t>reg</a:t>
            </a:r>
            <a:r>
              <a:rPr lang="zh-CN" altLang="en-US" dirty="0"/>
              <a:t>、</a:t>
            </a:r>
            <a:r>
              <a:rPr lang="en-US" altLang="zh-CN" dirty="0"/>
              <a:t>and</a:t>
            </a:r>
            <a:r>
              <a:rPr lang="zh-CN" altLang="en-US" dirty="0"/>
              <a:t>等</a:t>
            </a:r>
          </a:p>
          <a:p>
            <a:pPr lvl="1"/>
            <a:r>
              <a:rPr kumimoji="1" lang="zh-CN" altLang="en-US" b="1" dirty="0">
                <a:solidFill>
                  <a:srgbClr val="0000FF"/>
                </a:solidFill>
              </a:rPr>
              <a:t>其中的字母都是小写</a:t>
            </a:r>
            <a:r>
              <a:rPr kumimoji="1" lang="zh-CN" altLang="en-US" dirty="0"/>
              <a:t>，例如</a:t>
            </a:r>
            <a:r>
              <a:rPr kumimoji="1" lang="en-US" altLang="zh-CN" dirty="0"/>
              <a:t>Input</a:t>
            </a:r>
            <a:r>
              <a:rPr kumimoji="1" lang="zh-CN" altLang="en-US" dirty="0"/>
              <a:t>不是关键字</a:t>
            </a:r>
          </a:p>
          <a:p>
            <a:r>
              <a:rPr lang="zh-CN" altLang="en-US" dirty="0"/>
              <a:t>标识符</a:t>
            </a:r>
            <a:endParaRPr lang="en-US" altLang="zh-CN" dirty="0"/>
          </a:p>
          <a:p>
            <a:pPr lvl="1"/>
            <a:r>
              <a:rPr lang="zh-CN" altLang="en-US" dirty="0"/>
              <a:t>用于对象（如模块名、电路的输入与输出端口、变量等）命名</a:t>
            </a:r>
          </a:p>
          <a:p>
            <a:pPr lvl="1"/>
            <a:r>
              <a:rPr lang="zh-CN" altLang="en-US" dirty="0"/>
              <a:t>以字母或下划线“</a:t>
            </a:r>
            <a:r>
              <a:rPr lang="en-US" altLang="zh-CN" dirty="0"/>
              <a:t>_”</a:t>
            </a:r>
            <a:r>
              <a:rPr lang="zh-CN" altLang="en-US" dirty="0"/>
              <a:t>开始，</a:t>
            </a:r>
            <a:r>
              <a:rPr kumimoji="1" lang="zh-CN" altLang="en-US" dirty="0"/>
              <a:t>字母、下划线、数字等的组合</a:t>
            </a:r>
          </a:p>
          <a:p>
            <a:pPr lvl="1"/>
            <a:r>
              <a:rPr kumimoji="1" lang="zh-CN" altLang="en-US" b="1" dirty="0">
                <a:solidFill>
                  <a:srgbClr val="0000FF"/>
                </a:solidFill>
              </a:rPr>
              <a:t>字母大小敏感</a:t>
            </a:r>
            <a:r>
              <a:rPr kumimoji="1" lang="zh-CN" altLang="en-US" dirty="0"/>
              <a:t>，如</a:t>
            </a:r>
            <a:r>
              <a:rPr kumimoji="1" lang="en-US" altLang="zh-CN" dirty="0"/>
              <a:t>in</a:t>
            </a:r>
            <a:r>
              <a:rPr kumimoji="1" lang="zh-CN" altLang="en-US" dirty="0"/>
              <a:t>，</a:t>
            </a:r>
            <a:r>
              <a:rPr kumimoji="1" lang="en-US" altLang="zh-CN" dirty="0"/>
              <a:t>IN</a:t>
            </a:r>
            <a:r>
              <a:rPr kumimoji="1" lang="zh-CN" altLang="en-US" dirty="0"/>
              <a:t>是不同的标识符</a:t>
            </a:r>
          </a:p>
          <a:p>
            <a:pPr lvl="1"/>
            <a:r>
              <a:rPr kumimoji="1" lang="zh-CN" altLang="en-US" dirty="0"/>
              <a:t>不能与关键词相同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8109788-C4FF-6FCA-39B5-8C897452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13A1C9-262D-C8E6-4AF2-3AB7C5EC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4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92505-C7A4-E5DD-29C8-7279436D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 HDL</a:t>
            </a:r>
            <a:r>
              <a:rPr lang="zh-CN" altLang="en-US" dirty="0"/>
              <a:t>基本语法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2)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BE622-FE94-7ABA-148E-EABB1FD38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逻辑值集合</a:t>
            </a:r>
          </a:p>
          <a:p>
            <a:pPr lvl="1"/>
            <a:r>
              <a:rPr lang="en-US" altLang="zh-CN" dirty="0"/>
              <a:t>0</a:t>
            </a:r>
            <a:r>
              <a:rPr lang="zh-CN" altLang="en-US" dirty="0"/>
              <a:t>：低电平、逻辑</a:t>
            </a:r>
            <a:r>
              <a:rPr lang="en-US" altLang="zh-CN" dirty="0"/>
              <a:t>0</a:t>
            </a:r>
            <a:r>
              <a:rPr lang="zh-CN" altLang="en-US" dirty="0"/>
              <a:t>或“假”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：高电平、逻辑</a:t>
            </a:r>
            <a:r>
              <a:rPr lang="en-US" altLang="zh-CN" dirty="0"/>
              <a:t>1</a:t>
            </a:r>
            <a:r>
              <a:rPr lang="zh-CN" altLang="en-US" dirty="0"/>
              <a:t>或“真”</a:t>
            </a:r>
          </a:p>
          <a:p>
            <a:pPr lvl="1"/>
            <a:r>
              <a:rPr lang="en-US" altLang="zh-CN" dirty="0"/>
              <a:t>x/X</a:t>
            </a:r>
            <a:r>
              <a:rPr lang="zh-CN" altLang="en-US" dirty="0"/>
              <a:t>：不确定的值（未知状态）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z/Z</a:t>
            </a:r>
            <a:r>
              <a:rPr lang="zh-CN" altLang="en-US" dirty="0">
                <a:solidFill>
                  <a:srgbClr val="0000FF"/>
                </a:solidFill>
              </a:rPr>
              <a:t>：高阻态</a:t>
            </a:r>
          </a:p>
          <a:p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25A7-3318-F0BF-A09F-32CE149B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5BBA0D-2A02-EDCE-97B6-2ADAE9283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98A414-7BF2-A02C-50AC-3BC6E09FDC75}"/>
              </a:ext>
            </a:extLst>
          </p:cNvPr>
          <p:cNvSpPr txBox="1"/>
          <p:nvPr/>
        </p:nvSpPr>
        <p:spPr>
          <a:xfrm>
            <a:off x="428101" y="3996879"/>
            <a:ext cx="886418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【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类比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】</a:t>
            </a:r>
            <a:r>
              <a:rPr lang="zh-CN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天花板上挂着一根绳子，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有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AB</a:t>
            </a:r>
            <a:r>
              <a:rPr lang="zh-CN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两人可以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分别</a:t>
            </a:r>
            <a:r>
              <a:rPr lang="zh-CN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把它向左右拉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，还有个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C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在旁观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1800" dirty="0">
              <a:solidFill>
                <a:schemeClr val="accent1">
                  <a:lumMod val="50000"/>
                </a:schemeClr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0: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		A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伸手用力向左拉，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B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不伸手，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C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来拉不动（状态确定且稳定）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1: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		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不伸手，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B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伸手用力向右拉，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C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来拉不动（状态确定且稳定）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x/X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	A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伸手用力向左拉，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B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伸手用力向右拉（状态不确定，不稳定）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z/Z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	AB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都不伸手，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Times New Roman" panose="02020603050405020304" pitchFamily="18" charset="0"/>
              </a:rPr>
              <a:t>来一拉就跑（状态确定，不稳定）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  <a:effectLst/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97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26217-8BA0-AD80-9CA2-7D6669B3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常量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CE1F3D-B299-8C07-7954-668517CD9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j-ea"/>
                <a:ea typeface="+mj-ea"/>
                <a:cs typeface="Courier New" panose="02070309020205020404" pitchFamily="49" charset="0"/>
              </a:rPr>
              <a:t>整数型</a:t>
            </a:r>
          </a:p>
          <a:p>
            <a:pPr lvl="1">
              <a:defRPr/>
            </a:pPr>
            <a:r>
              <a:rPr lang="zh-CN" altLang="en-US" dirty="0">
                <a:latin typeface="+mj-ea"/>
                <a:ea typeface="+mj-ea"/>
              </a:rPr>
              <a:t>十进制数形式表示，例如，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30</a:t>
            </a:r>
            <a:r>
              <a:rPr lang="zh-CN" altLang="en-US" dirty="0">
                <a:latin typeface="+mj-ea"/>
                <a:ea typeface="+mj-ea"/>
              </a:rPr>
              <a:t>、－</a:t>
            </a:r>
            <a:r>
              <a:rPr lang="en-US" altLang="zh-CN" dirty="0">
                <a:latin typeface="+mj-ea"/>
                <a:ea typeface="+mj-ea"/>
              </a:rPr>
              <a:t>2</a:t>
            </a:r>
          </a:p>
          <a:p>
            <a:pPr lvl="1">
              <a:defRPr/>
            </a:pPr>
            <a:r>
              <a:rPr lang="zh-CN" altLang="en-US" dirty="0">
                <a:latin typeface="+mj-ea"/>
                <a:ea typeface="+mj-ea"/>
              </a:rPr>
              <a:t>带基数形式表示，格式为：</a:t>
            </a:r>
          </a:p>
          <a:p>
            <a:pPr lvl="1">
              <a:buFontTx/>
              <a:buNone/>
              <a:defRPr/>
            </a:pP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&lt;</a:t>
            </a:r>
            <a:r>
              <a:rPr lang="zh-CN" altLang="en-US" sz="2000" dirty="0">
                <a:latin typeface="+mj-ea"/>
                <a:ea typeface="+mj-ea"/>
              </a:rPr>
              <a:t>＋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/</a:t>
            </a:r>
            <a:r>
              <a:rPr lang="zh-CN" altLang="en-US" sz="2000" dirty="0">
                <a:latin typeface="+mj-ea"/>
                <a:ea typeface="+mj-ea"/>
              </a:rPr>
              <a:t>－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&gt; &lt;</a:t>
            </a:r>
            <a:r>
              <a:rPr lang="zh-CN" altLang="en-US" sz="2000" dirty="0">
                <a:latin typeface="+mj-ea"/>
                <a:ea typeface="+mj-ea"/>
              </a:rPr>
              <a:t>位宽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&gt;’ &lt;</a:t>
            </a:r>
            <a:r>
              <a:rPr lang="zh-CN" altLang="en-US" sz="2000" dirty="0">
                <a:latin typeface="+mj-ea"/>
                <a:ea typeface="+mj-ea"/>
              </a:rPr>
              <a:t>基数符号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&gt; &lt;</a:t>
            </a:r>
            <a:r>
              <a:rPr lang="zh-CN" altLang="en-US" sz="2000" dirty="0">
                <a:latin typeface="+mj-ea"/>
                <a:ea typeface="+mj-ea"/>
              </a:rPr>
              <a:t>数值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&gt;</a:t>
            </a:r>
          </a:p>
          <a:p>
            <a:pPr lvl="1">
              <a:buFontTx/>
              <a:buNone/>
              <a:defRPr/>
            </a:pPr>
            <a:r>
              <a:rPr lang="zh-CN" altLang="en-US" sz="2000" dirty="0">
                <a:latin typeface="+mj-ea"/>
                <a:ea typeface="+mj-ea"/>
              </a:rPr>
              <a:t>  基数符号：十进制 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D/d</a:t>
            </a:r>
            <a:r>
              <a:rPr lang="zh-CN" altLang="en-US" sz="2000" dirty="0">
                <a:latin typeface="+mj-ea"/>
                <a:ea typeface="+mj-ea"/>
              </a:rPr>
              <a:t>，二进制 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B/b</a:t>
            </a:r>
            <a:r>
              <a:rPr lang="zh-CN" altLang="en-US" sz="2000" dirty="0">
                <a:latin typeface="+mj-ea"/>
                <a:ea typeface="+mj-ea"/>
              </a:rPr>
              <a:t>，八进制 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O/o</a:t>
            </a:r>
            <a:r>
              <a:rPr lang="zh-CN" altLang="en-US" sz="2000" dirty="0">
                <a:latin typeface="+mj-ea"/>
                <a:ea typeface="+mj-ea"/>
              </a:rPr>
              <a:t>，十六进制 </a:t>
            </a:r>
            <a:r>
              <a:rPr lang="en-US" altLang="zh-CN" sz="2000" dirty="0">
                <a:latin typeface="+mj-ea"/>
                <a:ea typeface="+mj-ea"/>
                <a:cs typeface="Courier New" panose="02070309020205020404" pitchFamily="49" charset="0"/>
              </a:rPr>
              <a:t>H/h</a:t>
            </a:r>
          </a:p>
          <a:p>
            <a:pPr lvl="1">
              <a:buFontTx/>
              <a:buNone/>
              <a:defRPr/>
            </a:pPr>
            <a:r>
              <a:rPr lang="zh-CN" altLang="es-ES" sz="2000" dirty="0">
                <a:latin typeface="+mj-ea"/>
                <a:ea typeface="+mj-ea"/>
              </a:rPr>
              <a:t>  例如，</a:t>
            </a:r>
            <a:r>
              <a:rPr lang="es-ES" altLang="zh-CN" sz="2000" dirty="0">
                <a:latin typeface="+mj-ea"/>
                <a:ea typeface="+mj-ea"/>
                <a:cs typeface="Courier New" panose="02070309020205020404" pitchFamily="49" charset="0"/>
              </a:rPr>
              <a:t>–8’d101</a:t>
            </a:r>
            <a:r>
              <a:rPr lang="zh-CN" altLang="es-ES" sz="2000" dirty="0">
                <a:latin typeface="+mj-ea"/>
                <a:ea typeface="+mj-ea"/>
              </a:rPr>
              <a:t>、</a:t>
            </a:r>
            <a:r>
              <a:rPr lang="es-ES" altLang="zh-CN" sz="2000" dirty="0">
                <a:latin typeface="+mj-ea"/>
                <a:ea typeface="+mj-ea"/>
                <a:cs typeface="Courier New" panose="02070309020205020404" pitchFamily="49" charset="0"/>
              </a:rPr>
              <a:t>5’o37</a:t>
            </a:r>
            <a:r>
              <a:rPr lang="zh-CN" altLang="es-ES" sz="2000" dirty="0">
                <a:latin typeface="+mj-ea"/>
                <a:ea typeface="+mj-ea"/>
              </a:rPr>
              <a:t>、</a:t>
            </a:r>
            <a:r>
              <a:rPr lang="es-ES" altLang="zh-CN" sz="2000" dirty="0">
                <a:latin typeface="+mj-ea"/>
                <a:ea typeface="+mj-ea"/>
                <a:cs typeface="Courier New" panose="02070309020205020404" pitchFamily="49" charset="0"/>
              </a:rPr>
              <a:t>8’HeD</a:t>
            </a:r>
            <a:r>
              <a:rPr lang="zh-CN" altLang="es-ES" sz="2000" dirty="0">
                <a:latin typeface="+mj-ea"/>
                <a:ea typeface="+mj-ea"/>
              </a:rPr>
              <a:t>，</a:t>
            </a:r>
            <a:r>
              <a:rPr lang="es-ES" altLang="zh-CN" sz="2000" dirty="0">
                <a:latin typeface="+mj-ea"/>
                <a:ea typeface="+mj-ea"/>
                <a:cs typeface="Courier New" panose="02070309020205020404" pitchFamily="49" charset="0"/>
              </a:rPr>
              <a:t>8’b1001_001x </a:t>
            </a:r>
          </a:p>
          <a:p>
            <a:pPr lvl="1">
              <a:buFontTx/>
              <a:buNone/>
              <a:defRPr/>
            </a:pPr>
            <a:endParaRPr lang="es-ES" altLang="zh-CN" sz="2000" dirty="0">
              <a:latin typeface="+mj-ea"/>
              <a:ea typeface="+mj-ea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zh-CN" altLang="en-US" dirty="0">
                <a:latin typeface="+mj-ea"/>
                <a:ea typeface="+mj-ea"/>
                <a:cs typeface="Courier New" panose="02070309020205020404" pitchFamily="49" charset="0"/>
              </a:rPr>
              <a:t>实数型常量</a:t>
            </a:r>
          </a:p>
          <a:p>
            <a:pPr lvl="1">
              <a:defRPr/>
            </a:pPr>
            <a:r>
              <a:rPr lang="zh-CN" altLang="en-US" dirty="0">
                <a:latin typeface="+mj-ea"/>
                <a:ea typeface="+mj-ea"/>
              </a:rPr>
              <a:t>十进制记数法，例如，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0.1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2.0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5.67</a:t>
            </a:r>
          </a:p>
          <a:p>
            <a:pPr lvl="1">
              <a:defRPr/>
            </a:pPr>
            <a:r>
              <a:rPr lang="zh-CN" altLang="en-US" dirty="0">
                <a:latin typeface="+mj-ea"/>
                <a:ea typeface="+mj-ea"/>
              </a:rPr>
              <a:t>科学记数法，例如，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23.1e2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5E</a:t>
            </a:r>
            <a:r>
              <a:rPr lang="zh-CN" altLang="en-US" dirty="0">
                <a:latin typeface="+mj-ea"/>
                <a:ea typeface="+mj-ea"/>
              </a:rPr>
              <a:t>－</a:t>
            </a:r>
            <a:r>
              <a:rPr lang="en-US" altLang="zh-CN" dirty="0">
                <a:latin typeface="+mj-ea"/>
                <a:ea typeface="+mj-ea"/>
                <a:cs typeface="Courier New" panose="02070309020205020404" pitchFamily="49" charset="0"/>
              </a:rPr>
              <a:t>4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572D01-6A36-3C6F-9A70-080394AD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9AC27D-0B76-3D7E-A006-E9692CA5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72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07B07-6A7C-23F0-E353-BBEC28247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符号常量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CA5584-E65E-925F-1707-4D693912B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用参数定义语句定义一个标识符来代表一个常量</a:t>
            </a:r>
          </a:p>
          <a:p>
            <a:pPr lvl="1">
              <a:lnSpc>
                <a:spcPct val="110000"/>
              </a:lnSpc>
            </a:pPr>
            <a:r>
              <a:rPr kumimoji="1" lang="zh-CN" altLang="en-US" b="1" dirty="0"/>
              <a:t>常用来定义变量的位宽及延时等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定义格式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zh-CN" dirty="0"/>
              <a:t>    parameter </a:t>
            </a:r>
            <a:r>
              <a:rPr lang="zh-CN" altLang="en-US" dirty="0"/>
              <a:t>参数名</a:t>
            </a:r>
            <a:r>
              <a:rPr lang="en-US" altLang="zh-CN" dirty="0"/>
              <a:t>1</a:t>
            </a:r>
            <a:r>
              <a:rPr lang="zh-CN" altLang="en-US" dirty="0"/>
              <a:t>＝常量表达式</a:t>
            </a:r>
            <a:r>
              <a:rPr lang="en-US" altLang="zh-CN" dirty="0"/>
              <a:t>1</a:t>
            </a:r>
            <a:r>
              <a:rPr lang="zh-CN" altLang="en-US" dirty="0"/>
              <a:t>，参数名</a:t>
            </a:r>
            <a:r>
              <a:rPr lang="en-US" altLang="zh-CN" dirty="0"/>
              <a:t>2</a:t>
            </a:r>
            <a:r>
              <a:rPr lang="zh-CN" altLang="en-US" dirty="0"/>
              <a:t>＝常量表达式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；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dirty="0"/>
              <a:t>    例如：</a:t>
            </a:r>
            <a:r>
              <a:rPr lang="en-US" altLang="zh-CN" dirty="0"/>
              <a:t>parameter  BIT=1, BYTE=8, PI=3.14;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D6E155-30BD-9678-F5AF-0CEF31EFB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16D283-DFCE-253E-B184-AD6EB483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720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A56A9A-4ADE-7689-643B-C73972F77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变量数据类型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14895-5382-04B5-45B2-004F8DFE7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线网</a:t>
            </a:r>
            <a:r>
              <a:rPr lang="en-US" altLang="zh-CN" dirty="0"/>
              <a:t>(net )</a:t>
            </a:r>
            <a:r>
              <a:rPr lang="zh-CN" altLang="en-US" dirty="0"/>
              <a:t>型 ：表示元件之间的物理连线</a:t>
            </a:r>
          </a:p>
          <a:p>
            <a:pPr lvl="1"/>
            <a:r>
              <a:rPr kumimoji="1" lang="zh-CN" altLang="en-US" dirty="0"/>
              <a:t>输出值紧随输入值的变化而变化</a:t>
            </a:r>
          </a:p>
          <a:p>
            <a:pPr lvl="1"/>
            <a:r>
              <a:rPr lang="zh-CN" altLang="en-US" dirty="0"/>
              <a:t>最常用类型是</a:t>
            </a:r>
            <a:r>
              <a:rPr lang="en-US" altLang="zh-CN" dirty="0"/>
              <a:t>wire</a:t>
            </a:r>
          </a:p>
          <a:p>
            <a:r>
              <a:rPr lang="zh-CN" altLang="en-US" dirty="0"/>
              <a:t>寄存器</a:t>
            </a:r>
            <a:r>
              <a:rPr lang="en-US" altLang="zh-CN" dirty="0"/>
              <a:t>(register)</a:t>
            </a:r>
            <a:r>
              <a:rPr lang="zh-CN" altLang="en-US" dirty="0"/>
              <a:t>型 ：表示抽象存储元件</a:t>
            </a:r>
          </a:p>
          <a:p>
            <a:pPr lvl="1"/>
            <a:r>
              <a:rPr lang="zh-CN" altLang="en-US" dirty="0"/>
              <a:t>在赋新值以前保持原值</a:t>
            </a:r>
            <a:endParaRPr lang="en-US" altLang="zh-CN" dirty="0"/>
          </a:p>
          <a:p>
            <a:pPr lvl="1"/>
            <a:r>
              <a:rPr lang="zh-CN" altLang="en-US" dirty="0"/>
              <a:t>只能在</a:t>
            </a:r>
            <a:r>
              <a:rPr lang="en-US" altLang="zh-CN" dirty="0"/>
              <a:t>initial</a:t>
            </a:r>
            <a:r>
              <a:rPr lang="zh-CN" altLang="en-US" dirty="0"/>
              <a:t>或</a:t>
            </a:r>
            <a:r>
              <a:rPr lang="en-US" altLang="zh-CN" dirty="0"/>
              <a:t>always</a:t>
            </a:r>
            <a:r>
              <a:rPr lang="zh-CN" altLang="en-US" dirty="0"/>
              <a:t>语句中被赋值</a:t>
            </a:r>
          </a:p>
          <a:p>
            <a:pPr lvl="1"/>
            <a:r>
              <a:rPr lang="zh-CN" altLang="en-US" dirty="0"/>
              <a:t>最常用类型是</a:t>
            </a:r>
            <a:r>
              <a:rPr lang="en-US" altLang="zh-CN" dirty="0"/>
              <a:t>reg</a:t>
            </a:r>
          </a:p>
          <a:p>
            <a:r>
              <a:rPr lang="zh-CN" altLang="en-US" dirty="0"/>
              <a:t>定义格式</a:t>
            </a:r>
            <a:endParaRPr lang="en-US" altLang="zh-CN" dirty="0"/>
          </a:p>
          <a:p>
            <a:pPr>
              <a:buFontTx/>
              <a:buNone/>
            </a:pPr>
            <a:r>
              <a:rPr lang="en-US" altLang="zh-CN" dirty="0"/>
              <a:t>    wire/reg  [MSB:LSB] </a:t>
            </a:r>
            <a:r>
              <a:rPr lang="zh-CN" altLang="en-US" dirty="0"/>
              <a:t>变量名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，变量名</a:t>
            </a:r>
            <a:r>
              <a:rPr lang="en-US" altLang="zh-CN" dirty="0"/>
              <a:t>n</a:t>
            </a:r>
            <a:r>
              <a:rPr lang="zh-CN" altLang="en-US" dirty="0"/>
              <a:t>；</a:t>
            </a:r>
          </a:p>
          <a:p>
            <a:pPr>
              <a:buFontTx/>
              <a:buNone/>
            </a:pPr>
            <a:r>
              <a:rPr lang="zh-CN" altLang="en-US" dirty="0"/>
              <a:t>    例如</a:t>
            </a:r>
            <a:r>
              <a:rPr lang="en-US" altLang="zh-CN" dirty="0"/>
              <a:t>:   wire  a, b;   reg[3:0]  state;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2ECF97-6288-E7A6-E5A6-1AA9B0A8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68EE2F-C069-6DC4-DE3B-BFD84DE7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94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679E4-ABAA-5394-57DC-508C99D7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 HDL</a:t>
            </a:r>
            <a:r>
              <a:rPr lang="zh-CN" altLang="en-US" dirty="0"/>
              <a:t>程序基本结构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155C3E-CDE9-FAA9-E761-83E20DD18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由实现特定功能的模块构成</a:t>
            </a:r>
          </a:p>
          <a:p>
            <a:pPr>
              <a:lnSpc>
                <a:spcPct val="90000"/>
              </a:lnSpc>
            </a:pPr>
            <a:endParaRPr lang="zh-CN" altLang="en-US" sz="1200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19D0A7-CE67-0447-1EBC-ED0D82E9C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EC7C49-26A0-E46A-3C34-E7D73D6F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15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E735B4-46E9-F9E7-09F7-AA2ADDDCE489}"/>
              </a:ext>
            </a:extLst>
          </p:cNvPr>
          <p:cNvSpPr txBox="1">
            <a:spLocks noChangeArrowheads="1"/>
          </p:cNvSpPr>
          <p:nvPr/>
        </p:nvSpPr>
        <p:spPr>
          <a:xfrm>
            <a:off x="1350818" y="1326730"/>
            <a:ext cx="7557655" cy="44651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zh-CN" altLang="en-US" sz="12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3200" dirty="0"/>
              <a:t>   </a:t>
            </a:r>
            <a:r>
              <a:rPr lang="en-US" altLang="zh-CN" dirty="0"/>
              <a:t>module </a:t>
            </a:r>
            <a:r>
              <a:rPr lang="zh-CN" altLang="en-US" dirty="0"/>
              <a:t>模块名 </a:t>
            </a:r>
            <a:r>
              <a:rPr lang="en-US" altLang="zh-CN" dirty="0"/>
              <a:t>(</a:t>
            </a:r>
            <a:r>
              <a:rPr lang="zh-CN" altLang="en-US" dirty="0"/>
              <a:t>端口名</a:t>
            </a:r>
            <a:r>
              <a:rPr lang="en-US" altLang="zh-CN" dirty="0"/>
              <a:t>1, </a:t>
            </a:r>
            <a:r>
              <a:rPr lang="zh-CN" altLang="en-US" dirty="0"/>
              <a:t>端口名</a:t>
            </a:r>
            <a:r>
              <a:rPr lang="en-US" altLang="zh-CN" dirty="0"/>
              <a:t>2, …)</a:t>
            </a:r>
            <a:r>
              <a:rPr lang="zh-CN" altLang="en-US" dirty="0"/>
              <a:t>；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端口类型说明</a:t>
            </a:r>
            <a:r>
              <a:rPr lang="en-US" altLang="zh-CN" dirty="0"/>
              <a:t>(input, output, </a:t>
            </a:r>
            <a:r>
              <a:rPr lang="en-US" altLang="zh-CN" dirty="0" err="1"/>
              <a:t>inout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参数定义</a:t>
            </a:r>
            <a:r>
              <a:rPr lang="en-US" altLang="zh-CN" dirty="0"/>
              <a:t>(</a:t>
            </a:r>
            <a:r>
              <a:rPr lang="zh-CN" altLang="en-US" dirty="0"/>
              <a:t>可选</a:t>
            </a:r>
            <a:r>
              <a:rPr lang="en-US" altLang="zh-CN" dirty="0"/>
              <a:t>)</a:t>
            </a:r>
            <a:r>
              <a:rPr lang="zh-CN" altLang="en-US" dirty="0"/>
              <a:t>；   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数据类型定义</a:t>
            </a:r>
            <a:r>
              <a:rPr lang="en-US" altLang="zh-CN" dirty="0"/>
              <a:t>(wire, reg</a:t>
            </a:r>
            <a:r>
              <a:rPr lang="zh-CN" altLang="en-US" dirty="0"/>
              <a:t>等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zh-CN" altLang="en-US" sz="1400" dirty="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实例化低层模块和基本门级元件；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连续赋值语句（</a:t>
            </a:r>
            <a:r>
              <a:rPr lang="en-US" altLang="zh-CN" dirty="0"/>
              <a:t>assign</a:t>
            </a:r>
            <a:r>
              <a:rPr lang="zh-CN" altLang="en-US" dirty="0"/>
              <a:t>）；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过程块结构（</a:t>
            </a:r>
            <a:r>
              <a:rPr lang="en-US" altLang="zh-CN" dirty="0"/>
              <a:t>initial</a:t>
            </a:r>
            <a:r>
              <a:rPr lang="zh-CN" altLang="en-US" dirty="0"/>
              <a:t>和</a:t>
            </a:r>
            <a:r>
              <a:rPr lang="en-US" altLang="zh-CN" dirty="0"/>
              <a:t>always</a:t>
            </a:r>
            <a:r>
              <a:rPr lang="zh-CN" altLang="en-US" dirty="0"/>
              <a:t>）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dirty="0"/>
              <a:t>          行为描述语句；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3200" dirty="0"/>
              <a:t>   </a:t>
            </a:r>
            <a:r>
              <a:rPr lang="en-US" altLang="zh-CN" dirty="0" err="1"/>
              <a:t>endmodule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44612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6F7AC-4F74-A4BA-405A-BC7A6526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VerilogHDL</a:t>
            </a:r>
            <a:r>
              <a:rPr lang="zh-CN" altLang="en-US" dirty="0"/>
              <a:t>描述组合逻辑电路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8971D-8CD9-B701-3868-9526A05AE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组合逻辑电路的门级描述</a:t>
            </a:r>
          </a:p>
          <a:p>
            <a:pPr lvl="1"/>
            <a:r>
              <a:rPr lang="zh-CN" altLang="en-US" dirty="0"/>
              <a:t>使用内置的基本门级元件描述</a:t>
            </a:r>
          </a:p>
          <a:p>
            <a:r>
              <a:rPr lang="zh-CN" altLang="en-US" dirty="0"/>
              <a:t>组合逻辑电路的数据流描述</a:t>
            </a:r>
          </a:p>
          <a:p>
            <a:pPr lvl="1"/>
            <a:r>
              <a:rPr lang="zh-CN" altLang="en-US" dirty="0"/>
              <a:t>使用连续赋值</a:t>
            </a:r>
            <a:r>
              <a:rPr lang="en-US" altLang="zh-CN" dirty="0"/>
              <a:t>assign</a:t>
            </a:r>
            <a:r>
              <a:rPr lang="zh-CN" altLang="en-US" dirty="0"/>
              <a:t>语句描述</a:t>
            </a:r>
          </a:p>
          <a:p>
            <a:r>
              <a:rPr lang="zh-CN" altLang="en-US" dirty="0"/>
              <a:t>组合逻辑电路的行为级描述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always</a:t>
            </a:r>
            <a:r>
              <a:rPr lang="zh-CN" altLang="en-US" dirty="0"/>
              <a:t>结构描述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491C08-5945-A88F-E198-97ED8D0E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E0326D-F116-41EB-79CF-AFC59F57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16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97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1C30B-768F-3148-B262-6AF5D23B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基本门级元件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AD6EE1-A99C-A7FD-9266-B33E9E07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94B0B4-08B3-1D40-617E-5979487B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17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93">
            <a:extLst>
              <a:ext uri="{FF2B5EF4-FFF2-40B4-BE49-F238E27FC236}">
                <a16:creationId xmlns:a16="http://schemas.microsoft.com/office/drawing/2014/main" id="{9CDB5606-8041-D1B9-F43F-7A85B29F4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775115"/>
              </p:ext>
            </p:extLst>
          </p:nvPr>
        </p:nvGraphicFramePr>
        <p:xfrm>
          <a:off x="692727" y="1132888"/>
          <a:ext cx="8229600" cy="4890504"/>
        </p:xfrm>
        <a:graphic>
          <a:graphicData uri="http://schemas.openxmlformats.org/drawingml/2006/table">
            <a:tbl>
              <a:tblPr/>
              <a:tblGrid>
                <a:gridCol w="191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2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元件符号</a:t>
                      </a:r>
                    </a:p>
                  </a:txBody>
                  <a:tcPr marL="90000" marR="90000" marT="54000" marB="540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90000" marR="90000" marT="54000" marB="54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元件符号</a:t>
                      </a:r>
                    </a:p>
                  </a:txBody>
                  <a:tcPr marL="90000" marR="90000" marT="54000" marB="54000" anchor="ctr" anchorCtr="1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90000" marR="90000" marT="54000" marB="54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and</a:t>
                      </a:r>
                    </a:p>
                  </a:txBody>
                  <a:tcPr marL="90000" marR="90000" marT="54000" marB="540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多输入端与门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nand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多输入端与非门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or</a:t>
                      </a:r>
                    </a:p>
                  </a:txBody>
                  <a:tcPr marL="90000" marR="90000" marT="54000" marB="540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多输入端或门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nor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多输入端或非门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xor</a:t>
                      </a:r>
                    </a:p>
                  </a:txBody>
                  <a:tcPr marL="90000" marR="90000" marT="54000" marB="540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多输入端异或门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xnor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多输入端异或非门（同或）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buf</a:t>
                      </a:r>
                    </a:p>
                  </a:txBody>
                  <a:tcPr marL="90000" marR="90000" marT="54000" marB="540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多输出端缓冲器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not</a:t>
                      </a:r>
                    </a:p>
                  </a:txBody>
                  <a:tcPr marL="90000" marR="90000" marT="54000" marB="540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多输出端反相器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155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bufif1</a:t>
                      </a:r>
                    </a:p>
                  </a:txBody>
                  <a:tcPr marL="90000" marR="90000" marT="54000" marB="5400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高电平有效三态缓冲器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notif1</a:t>
                      </a:r>
                    </a:p>
                  </a:txBody>
                  <a:tcPr marL="90000" marR="90000" marT="54000" marB="5400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高电平有效的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三态反相器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99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bufif0</a:t>
                      </a:r>
                    </a:p>
                  </a:txBody>
                  <a:tcPr marL="90000" marR="90000" marT="54000" marB="5400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低电平有效三态缓冲器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notif0</a:t>
                      </a:r>
                    </a:p>
                  </a:txBody>
                  <a:tcPr marL="90000" marR="90000" marT="54000" marB="5400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低电平有效的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</a:rPr>
                        <a:t>三态反相器</a:t>
                      </a:r>
                    </a:p>
                  </a:txBody>
                  <a:tcPr marL="90000" marR="90000" marT="54000" marB="54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817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C4091-E0A9-B388-114A-E11EA6DB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多输入门和多输出门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95DD2-2E2D-01DD-CFC7-8CD4B037D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多输入门：允许多个输入，但只有一个输出</a:t>
            </a:r>
          </a:p>
          <a:p>
            <a:pPr lvl="1"/>
            <a:r>
              <a:rPr lang="en-US" altLang="zh-CN" dirty="0"/>
              <a:t>and</a:t>
            </a:r>
            <a:r>
              <a:rPr lang="zh-CN" altLang="en-US" dirty="0"/>
              <a:t>，</a:t>
            </a:r>
            <a:r>
              <a:rPr lang="en-US" altLang="zh-CN" dirty="0"/>
              <a:t>or</a:t>
            </a:r>
            <a:r>
              <a:rPr lang="zh-CN" altLang="en-US" dirty="0"/>
              <a:t>，</a:t>
            </a:r>
            <a:r>
              <a:rPr lang="en-US" altLang="zh-CN" dirty="0" err="1"/>
              <a:t>xor</a:t>
            </a:r>
            <a:r>
              <a:rPr lang="zh-CN" altLang="en-US" dirty="0"/>
              <a:t>，</a:t>
            </a:r>
            <a:r>
              <a:rPr lang="en-US" altLang="zh-CN" dirty="0" err="1"/>
              <a:t>nand</a:t>
            </a:r>
            <a:r>
              <a:rPr lang="zh-CN" altLang="en-US" dirty="0"/>
              <a:t>，</a:t>
            </a:r>
            <a:r>
              <a:rPr lang="en-US" altLang="zh-CN" dirty="0"/>
              <a:t>nor</a:t>
            </a:r>
            <a:r>
              <a:rPr lang="zh-CN" altLang="en-US" dirty="0"/>
              <a:t>，</a:t>
            </a:r>
            <a:r>
              <a:rPr lang="en-US" altLang="zh-CN" dirty="0" err="1"/>
              <a:t>xnor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多输出门：允许有多个输出，但只有一个输入</a:t>
            </a:r>
          </a:p>
          <a:p>
            <a:pPr lvl="1"/>
            <a:r>
              <a:rPr lang="en-US" altLang="zh-CN" dirty="0"/>
              <a:t>not</a:t>
            </a:r>
            <a:r>
              <a:rPr lang="zh-CN" altLang="en-US" dirty="0"/>
              <a:t>，</a:t>
            </a:r>
            <a:r>
              <a:rPr lang="en-US" altLang="zh-CN" dirty="0" err="1"/>
              <a:t>buf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62FC98-B842-AA29-612A-F0C8B360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89044A-2DAD-A42E-C002-703FE3460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18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C1F91D0-5E9B-DBA3-196E-347AF2846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154" y="2258147"/>
            <a:ext cx="3525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ea typeface="楷体_GB2312" pitchFamily="49" charset="-122"/>
              </a:rPr>
              <a:t>and  A1(out, in1, in2, in3);</a:t>
            </a:r>
            <a:r>
              <a:rPr kumimoji="1" lang="zh-CN" altLang="en-US" sz="2400" b="0">
                <a:ea typeface="楷体_GB2312" pitchFamily="49" charset="-122"/>
              </a:rPr>
              <a:t> </a:t>
            </a:r>
          </a:p>
        </p:txBody>
      </p:sp>
      <p:grpSp>
        <p:nvGrpSpPr>
          <p:cNvPr id="7" name="Group 74">
            <a:extLst>
              <a:ext uri="{FF2B5EF4-FFF2-40B4-BE49-F238E27FC236}">
                <a16:creationId xmlns:a16="http://schemas.microsoft.com/office/drawing/2014/main" id="{1D0B02FE-4876-15B1-E421-9AE52BDFBF9E}"/>
              </a:ext>
            </a:extLst>
          </p:cNvPr>
          <p:cNvGrpSpPr>
            <a:grpSpLocks/>
          </p:cNvGrpSpPr>
          <p:nvPr/>
        </p:nvGrpSpPr>
        <p:grpSpPr bwMode="auto">
          <a:xfrm>
            <a:off x="1288329" y="1993034"/>
            <a:ext cx="2667000" cy="981075"/>
            <a:chOff x="637" y="1622"/>
            <a:chExt cx="1680" cy="618"/>
          </a:xfrm>
        </p:grpSpPr>
        <p:sp>
          <p:nvSpPr>
            <p:cNvPr id="8" name="Line 62">
              <a:extLst>
                <a:ext uri="{FF2B5EF4-FFF2-40B4-BE49-F238E27FC236}">
                  <a16:creationId xmlns:a16="http://schemas.microsoft.com/office/drawing/2014/main" id="{66F48855-3AD6-87F5-75BD-151E9DA21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0" y="1924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AutoShape 64">
              <a:extLst>
                <a:ext uri="{FF2B5EF4-FFF2-40B4-BE49-F238E27FC236}">
                  <a16:creationId xmlns:a16="http://schemas.microsoft.com/office/drawing/2014/main" id="{E462279C-22F1-3C1D-6D4C-F5F46C267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" y="1720"/>
              <a:ext cx="353" cy="403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Text Box 66">
              <a:extLst>
                <a:ext uri="{FF2B5EF4-FFF2-40B4-BE49-F238E27FC236}">
                  <a16:creationId xmlns:a16="http://schemas.microsoft.com/office/drawing/2014/main" id="{6EE5B883-7B4B-17F1-347C-08A57B0E8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1767"/>
              <a:ext cx="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ea typeface="楷体_GB2312" pitchFamily="49" charset="-122"/>
                </a:rPr>
                <a:t>out</a:t>
              </a:r>
            </a:p>
          </p:txBody>
        </p:sp>
        <p:sp>
          <p:nvSpPr>
            <p:cNvPr id="11" name="Line 67">
              <a:extLst>
                <a:ext uri="{FF2B5EF4-FFF2-40B4-BE49-F238E27FC236}">
                  <a16:creationId xmlns:a16="http://schemas.microsoft.com/office/drawing/2014/main" id="{2B817985-BF0F-BC19-757F-0816290E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1810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68">
              <a:extLst>
                <a:ext uri="{FF2B5EF4-FFF2-40B4-BE49-F238E27FC236}">
                  <a16:creationId xmlns:a16="http://schemas.microsoft.com/office/drawing/2014/main" id="{67CD5761-F93F-88DE-7D6A-2CAB6CA9F5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1923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69">
              <a:extLst>
                <a:ext uri="{FF2B5EF4-FFF2-40B4-BE49-F238E27FC236}">
                  <a16:creationId xmlns:a16="http://schemas.microsoft.com/office/drawing/2014/main" id="{ED30AB38-D5AC-BE94-F3B6-FA956E3EA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5" y="2029"/>
              <a:ext cx="2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70">
              <a:extLst>
                <a:ext uri="{FF2B5EF4-FFF2-40B4-BE49-F238E27FC236}">
                  <a16:creationId xmlns:a16="http://schemas.microsoft.com/office/drawing/2014/main" id="{D578B4DB-A2CB-DD1F-78C3-E1D9F6D41F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" y="1622"/>
              <a:ext cx="3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in1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15" name="Text Box 71">
              <a:extLst>
                <a:ext uri="{FF2B5EF4-FFF2-40B4-BE49-F238E27FC236}">
                  <a16:creationId xmlns:a16="http://schemas.microsoft.com/office/drawing/2014/main" id="{DEBE772C-F228-A27A-E516-CEC70239C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" y="1814"/>
              <a:ext cx="3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in2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16" name="Text Box 72">
              <a:extLst>
                <a:ext uri="{FF2B5EF4-FFF2-40B4-BE49-F238E27FC236}">
                  <a16:creationId xmlns:a16="http://schemas.microsoft.com/office/drawing/2014/main" id="{A03C351D-C62D-B178-B121-5CC774E2B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2007"/>
              <a:ext cx="3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in3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</p:grpSp>
      <p:sp>
        <p:nvSpPr>
          <p:cNvPr id="17" name="AutoShape 76">
            <a:extLst>
              <a:ext uri="{FF2B5EF4-FFF2-40B4-BE49-F238E27FC236}">
                <a16:creationId xmlns:a16="http://schemas.microsoft.com/office/drawing/2014/main" id="{F7821BC4-3908-D672-0E96-17E4379B4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629" y="1504084"/>
            <a:ext cx="2257425" cy="547688"/>
          </a:xfrm>
          <a:prstGeom prst="wedgeRoundRectCallout">
            <a:avLst>
              <a:gd name="adj1" fmla="val -49435"/>
              <a:gd name="adj2" fmla="val 101306"/>
              <a:gd name="adj3" fmla="val 16667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实例名可忽略</a:t>
            </a:r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8181B7EA-E0F0-E55B-2FB4-F17931298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353" y="5223075"/>
            <a:ext cx="3449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 b="0">
                <a:ea typeface="楷体_GB2312" pitchFamily="49" charset="-122"/>
              </a:rPr>
              <a:t>not  B1(out1, out2, …, in);</a:t>
            </a:r>
            <a:endParaRPr kumimoji="1" lang="zh-CN" altLang="en-US" sz="2400" b="0">
              <a:ea typeface="楷体_GB2312" pitchFamily="49" charset="-122"/>
            </a:endParaRPr>
          </a:p>
        </p:txBody>
      </p:sp>
      <p:grpSp>
        <p:nvGrpSpPr>
          <p:cNvPr id="19" name="Group 73">
            <a:extLst>
              <a:ext uri="{FF2B5EF4-FFF2-40B4-BE49-F238E27FC236}">
                <a16:creationId xmlns:a16="http://schemas.microsoft.com/office/drawing/2014/main" id="{CE032648-3693-BCEA-63E5-623DD3E5FA87}"/>
              </a:ext>
            </a:extLst>
          </p:cNvPr>
          <p:cNvGrpSpPr>
            <a:grpSpLocks/>
          </p:cNvGrpSpPr>
          <p:nvPr/>
        </p:nvGrpSpPr>
        <p:grpSpPr bwMode="auto">
          <a:xfrm>
            <a:off x="1337541" y="4707137"/>
            <a:ext cx="3054350" cy="1341438"/>
            <a:chOff x="585" y="2976"/>
            <a:chExt cx="1924" cy="845"/>
          </a:xfrm>
        </p:grpSpPr>
        <p:sp>
          <p:nvSpPr>
            <p:cNvPr id="20" name="Line 43">
              <a:extLst>
                <a:ext uri="{FF2B5EF4-FFF2-40B4-BE49-F238E27FC236}">
                  <a16:creationId xmlns:a16="http://schemas.microsoft.com/office/drawing/2014/main" id="{6D8499BF-92B0-9590-B038-37ABA752E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1" y="3706"/>
              <a:ext cx="0" cy="0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Text Box 44">
              <a:extLst>
                <a:ext uri="{FF2B5EF4-FFF2-40B4-BE49-F238E27FC236}">
                  <a16:creationId xmlns:a16="http://schemas.microsoft.com/office/drawing/2014/main" id="{546320B3-F756-B88C-BCA5-EC8C4FF7C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7" y="2976"/>
              <a:ext cx="36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out1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22" name="Line 45">
              <a:extLst>
                <a:ext uri="{FF2B5EF4-FFF2-40B4-BE49-F238E27FC236}">
                  <a16:creationId xmlns:a16="http://schemas.microsoft.com/office/drawing/2014/main" id="{84B04F1E-B60A-AC18-7554-DA3F8E17D3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7" y="3087"/>
              <a:ext cx="0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3" name="Line 46">
              <a:extLst>
                <a:ext uri="{FF2B5EF4-FFF2-40B4-BE49-F238E27FC236}">
                  <a16:creationId xmlns:a16="http://schemas.microsoft.com/office/drawing/2014/main" id="{AD3AF1C5-96AE-C064-D9EA-372BD0D8B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" y="3090"/>
              <a:ext cx="4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4" name="Line 51">
              <a:extLst>
                <a:ext uri="{FF2B5EF4-FFF2-40B4-BE49-F238E27FC236}">
                  <a16:creationId xmlns:a16="http://schemas.microsoft.com/office/drawing/2014/main" id="{EF6E1DE7-FFCF-42B8-AE09-48A7196A9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" y="3508"/>
              <a:ext cx="8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5" name="Text Box 54">
              <a:extLst>
                <a:ext uri="{FF2B5EF4-FFF2-40B4-BE49-F238E27FC236}">
                  <a16:creationId xmlns:a16="http://schemas.microsoft.com/office/drawing/2014/main" id="{34E77941-F181-9C90-3661-EAF31D60D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" y="3390"/>
              <a:ext cx="23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26" name="Line 55">
              <a:extLst>
                <a:ext uri="{FF2B5EF4-FFF2-40B4-BE49-F238E27FC236}">
                  <a16:creationId xmlns:a16="http://schemas.microsoft.com/office/drawing/2014/main" id="{1A80AAFA-10B7-13E5-005A-5DFA424C0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" y="3314"/>
              <a:ext cx="4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7" name="Line 56">
              <a:extLst>
                <a:ext uri="{FF2B5EF4-FFF2-40B4-BE49-F238E27FC236}">
                  <a16:creationId xmlns:a16="http://schemas.microsoft.com/office/drawing/2014/main" id="{28505E26-66E0-5005-9945-ED63939DD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7" y="3769"/>
              <a:ext cx="46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8" name="Text Box 57">
              <a:extLst>
                <a:ext uri="{FF2B5EF4-FFF2-40B4-BE49-F238E27FC236}">
                  <a16:creationId xmlns:a16="http://schemas.microsoft.com/office/drawing/2014/main" id="{51B5D6D7-9FBC-1697-8895-511D3D0CE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248"/>
              <a:ext cx="370" cy="1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out2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29" name="Text Box 58">
              <a:extLst>
                <a:ext uri="{FF2B5EF4-FFF2-40B4-BE49-F238E27FC236}">
                  <a16:creationId xmlns:a16="http://schemas.microsoft.com/office/drawing/2014/main" id="{C703D482-BB77-940C-1BC1-8B6E337C7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0" y="3630"/>
              <a:ext cx="369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30" name="Text Box 59">
              <a:extLst>
                <a:ext uri="{FF2B5EF4-FFF2-40B4-BE49-F238E27FC236}">
                  <a16:creationId xmlns:a16="http://schemas.microsoft.com/office/drawing/2014/main" id="{5C383B78-662F-E679-D087-9C6D8F370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3365"/>
              <a:ext cx="19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 anchor="ctr" anchorCtr="1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000"/>
                <a:t>…</a:t>
              </a:r>
              <a:endParaRPr kumimoji="1" lang="en-US" altLang="zh-CN" sz="4400">
                <a:ea typeface="楷体_GB2312" pitchFamily="49" charset="-122"/>
              </a:endParaRPr>
            </a:p>
          </p:txBody>
        </p:sp>
        <p:sp>
          <p:nvSpPr>
            <p:cNvPr id="31" name="AutoShape 49">
              <a:extLst>
                <a:ext uri="{FF2B5EF4-FFF2-40B4-BE49-F238E27FC236}">
                  <a16:creationId xmlns:a16="http://schemas.microsoft.com/office/drawing/2014/main" id="{4983099C-AFD8-CC22-89A6-A29079031E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030" y="3377"/>
              <a:ext cx="339" cy="260"/>
            </a:xfrm>
            <a:prstGeom prst="flowChartExtra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32" name="AutoShape 77">
            <a:extLst>
              <a:ext uri="{FF2B5EF4-FFF2-40B4-BE49-F238E27FC236}">
                <a16:creationId xmlns:a16="http://schemas.microsoft.com/office/drawing/2014/main" id="{71C66CEA-FA7B-82C3-1C9E-A8B7CBCA8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116" y="4421387"/>
            <a:ext cx="2257425" cy="547688"/>
          </a:xfrm>
          <a:prstGeom prst="wedgeRoundRectCallout">
            <a:avLst>
              <a:gd name="adj1" fmla="val -51690"/>
              <a:gd name="adj2" fmla="val 98986"/>
              <a:gd name="adj3" fmla="val 16667"/>
            </a:avLst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实例名可忽略</a:t>
            </a:r>
          </a:p>
        </p:txBody>
      </p:sp>
      <p:sp>
        <p:nvSpPr>
          <p:cNvPr id="33" name="Oval 78">
            <a:extLst>
              <a:ext uri="{FF2B5EF4-FFF2-40B4-BE49-F238E27FC236}">
                <a16:creationId xmlns:a16="http://schemas.microsoft.com/office/drawing/2014/main" id="{3080F943-A9FE-C639-5C07-450A15B0A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353" y="5497712"/>
            <a:ext cx="112713" cy="112713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20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95651-13EC-244D-BA2C-755A03E9B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三态门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03F1F6-DE42-9504-79EF-737632E19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一个输出、一个数据输入和一个控制输入</a:t>
            </a:r>
          </a:p>
          <a:p>
            <a:pPr lvl="1"/>
            <a:r>
              <a:rPr lang="en-US" altLang="zh-CN" dirty="0"/>
              <a:t>notif0</a:t>
            </a:r>
            <a:r>
              <a:rPr lang="zh-CN" altLang="en-US" dirty="0"/>
              <a:t>，</a:t>
            </a:r>
            <a:r>
              <a:rPr lang="en-US" altLang="zh-CN" dirty="0"/>
              <a:t>notif1</a:t>
            </a:r>
            <a:r>
              <a:rPr lang="zh-CN" altLang="en-US" dirty="0"/>
              <a:t>，</a:t>
            </a:r>
            <a:r>
              <a:rPr lang="en-US" altLang="zh-CN" dirty="0"/>
              <a:t>bufif0</a:t>
            </a:r>
            <a:r>
              <a:rPr lang="zh-CN" altLang="en-US" dirty="0"/>
              <a:t>，</a:t>
            </a:r>
            <a:r>
              <a:rPr lang="en-US" altLang="zh-CN" dirty="0"/>
              <a:t>bufif1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DDEB9-400C-2A2F-8293-859E7896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35B736-D9AB-EDE1-4F46-F108E37B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19</a:t>
            </a:fld>
            <a:r>
              <a:rPr lang="en-US" altLang="zh-CN" dirty="0"/>
              <a:t>29/</a:t>
            </a:r>
            <a:endParaRPr lang="en-US" dirty="0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C6E7AA70-3364-E093-977C-D4FAC6320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143" y="4024024"/>
            <a:ext cx="2982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bufif1 B1(out, in, ctrl);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D68FA12B-4E17-904D-CB8A-A368C7B0E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8106" y="4024024"/>
            <a:ext cx="298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notif0 N1(out, in, ctrl);</a:t>
            </a:r>
          </a:p>
        </p:txBody>
      </p:sp>
      <p:grpSp>
        <p:nvGrpSpPr>
          <p:cNvPr id="8" name="Group 28">
            <a:extLst>
              <a:ext uri="{FF2B5EF4-FFF2-40B4-BE49-F238E27FC236}">
                <a16:creationId xmlns:a16="http://schemas.microsoft.com/office/drawing/2014/main" id="{71EA1F63-8693-3D0B-D103-FDB5EF91C71C}"/>
              </a:ext>
            </a:extLst>
          </p:cNvPr>
          <p:cNvGrpSpPr>
            <a:grpSpLocks/>
          </p:cNvGrpSpPr>
          <p:nvPr/>
        </p:nvGrpSpPr>
        <p:grpSpPr bwMode="auto">
          <a:xfrm>
            <a:off x="1559718" y="2679411"/>
            <a:ext cx="2439988" cy="985838"/>
            <a:chOff x="846" y="3285"/>
            <a:chExt cx="1537" cy="621"/>
          </a:xfrm>
        </p:grpSpPr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4337F9AB-17D5-599E-7746-8B5A2EF17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2" y="3456"/>
              <a:ext cx="8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E0792A2B-CE2F-6841-B982-A780F53FD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" y="3320"/>
              <a:ext cx="23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11" name="AutoShape 14">
              <a:extLst>
                <a:ext uri="{FF2B5EF4-FFF2-40B4-BE49-F238E27FC236}">
                  <a16:creationId xmlns:a16="http://schemas.microsoft.com/office/drawing/2014/main" id="{5F865ECD-3D17-A764-A0DB-D0CB1C4078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15" y="3285"/>
              <a:ext cx="339" cy="339"/>
            </a:xfrm>
            <a:prstGeom prst="flowChartExtra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68A9892E-B1A0-1A95-5EB5-2FC9CDE636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" y="3552"/>
              <a:ext cx="0" cy="2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6">
              <a:extLst>
                <a:ext uri="{FF2B5EF4-FFF2-40B4-BE49-F238E27FC236}">
                  <a16:creationId xmlns:a16="http://schemas.microsoft.com/office/drawing/2014/main" id="{03EAB46A-D67B-9536-7C5A-5BC077389B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9" y="3337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14" name="Text Box 17">
              <a:extLst>
                <a:ext uri="{FF2B5EF4-FFF2-40B4-BE49-F238E27FC236}">
                  <a16:creationId xmlns:a16="http://schemas.microsoft.com/office/drawing/2014/main" id="{6BBFEA78-CE31-D716-8827-65D0F86A4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1" y="3721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ctrl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</p:grpSp>
      <p:grpSp>
        <p:nvGrpSpPr>
          <p:cNvPr id="15" name="Group 27">
            <a:extLst>
              <a:ext uri="{FF2B5EF4-FFF2-40B4-BE49-F238E27FC236}">
                <a16:creationId xmlns:a16="http://schemas.microsoft.com/office/drawing/2014/main" id="{08A0D3E0-26AE-597D-C31B-553BD6E90CC5}"/>
              </a:ext>
            </a:extLst>
          </p:cNvPr>
          <p:cNvGrpSpPr>
            <a:grpSpLocks/>
          </p:cNvGrpSpPr>
          <p:nvPr/>
        </p:nvGrpSpPr>
        <p:grpSpPr bwMode="auto">
          <a:xfrm>
            <a:off x="5301456" y="2688936"/>
            <a:ext cx="2439987" cy="985838"/>
            <a:chOff x="3412" y="3355"/>
            <a:chExt cx="1537" cy="621"/>
          </a:xfrm>
        </p:grpSpPr>
        <p:sp>
          <p:nvSpPr>
            <p:cNvPr id="16" name="Text Box 23">
              <a:extLst>
                <a:ext uri="{FF2B5EF4-FFF2-40B4-BE49-F238E27FC236}">
                  <a16:creationId xmlns:a16="http://schemas.microsoft.com/office/drawing/2014/main" id="{039291D2-1842-C56D-FF21-DDD4047A6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7" y="3791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ctrl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99997946-9E0C-7788-0999-B250BD9AB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8" y="3526"/>
              <a:ext cx="8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C35223BB-2482-4A81-D8BD-EB661459B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3390"/>
              <a:ext cx="23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in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19" name="AutoShape 20">
              <a:extLst>
                <a:ext uri="{FF2B5EF4-FFF2-40B4-BE49-F238E27FC236}">
                  <a16:creationId xmlns:a16="http://schemas.microsoft.com/office/drawing/2014/main" id="{122C3BC7-B2BB-8FFA-56D9-2D549887D1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81" y="3355"/>
              <a:ext cx="339" cy="339"/>
            </a:xfrm>
            <a:prstGeom prst="flowChartExtract">
              <a:avLst/>
            </a:prstGeom>
            <a:solidFill>
              <a:schemeClr val="bg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0B582A20-952F-98B0-7D6D-A3CDBBF04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3622"/>
              <a:ext cx="0" cy="2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555E3448-27FB-F338-8B74-D22351FCB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3407"/>
              <a:ext cx="38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out</a:t>
              </a:r>
              <a:endParaRPr kumimoji="1" lang="en-US" altLang="zh-CN" sz="2400" b="0">
                <a:ea typeface="楷体_GB2312" pitchFamily="49" charset="-122"/>
              </a:endParaRPr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8D6A5319-670E-535C-B4F6-9A19BA7E5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" y="3491"/>
              <a:ext cx="79" cy="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73E9713E-F4EB-1C93-6FE4-154047F61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3614"/>
              <a:ext cx="79" cy="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2047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A7CD7-ADBA-FB40-3593-AC435B2C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─</a:t>
            </a:r>
            <a:r>
              <a:rPr lang="en-US" altLang="zh-CN" dirty="0"/>
              <a:t> Mux with </a:t>
            </a:r>
            <a:r>
              <a:rPr lang="en-US" altLang="zh-CN" dirty="0">
                <a:solidFill>
                  <a:srgbClr val="FFFF00"/>
                </a:solidFill>
              </a:rPr>
              <a:t>Primitives</a:t>
            </a:r>
            <a:r>
              <a:rPr lang="zh-CN" altLang="en-US" dirty="0">
                <a:solidFill>
                  <a:srgbClr val="FFFF00"/>
                </a:solidFill>
              </a:rPr>
              <a:t>（原函数）</a:t>
            </a:r>
            <a:endParaRPr kumimoji="1" lang="zh-CN" altLang="en-US" dirty="0">
              <a:solidFill>
                <a:srgbClr val="FFFF00"/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3B5F05-CCD3-E279-3DC7-D43FD430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F0E334-24AA-D1AD-12A1-68B4E51D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20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3C8FC74-9877-8094-5572-5FD6A2BF675D}"/>
              </a:ext>
            </a:extLst>
          </p:cNvPr>
          <p:cNvSpPr txBox="1">
            <a:spLocks noChangeArrowheads="1"/>
          </p:cNvSpPr>
          <p:nvPr/>
        </p:nvSpPr>
        <p:spPr>
          <a:xfrm>
            <a:off x="377513" y="1480731"/>
            <a:ext cx="4144963" cy="4932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module mux2_1( f, a, b, 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 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    output f;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    input a, b, 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;</a:t>
            </a:r>
          </a:p>
          <a:p>
            <a:pPr>
              <a:spcBef>
                <a:spcPct val="10000"/>
              </a:spcBef>
              <a:buFontTx/>
              <a:buNone/>
            </a:pPr>
            <a:endParaRPr lang="en-US" altLang="zh-CN" sz="14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    and	</a:t>
            </a:r>
            <a:r>
              <a:rPr lang="zh-CN" altLang="en-US" sz="2400" dirty="0"/>
              <a:t> </a:t>
            </a:r>
            <a:r>
              <a:rPr lang="en-US" altLang="zh-CN" sz="2400" dirty="0"/>
              <a:t>g1(f1, a, </a:t>
            </a:r>
            <a:r>
              <a:rPr lang="en-US" altLang="zh-CN" sz="2400" dirty="0" err="1"/>
              <a:t>nsel</a:t>
            </a:r>
            <a:r>
              <a:rPr lang="en-US" altLang="zh-CN" sz="2400" dirty="0"/>
              <a:t>),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		</a:t>
            </a:r>
            <a:r>
              <a:rPr lang="zh-CN" altLang="en-US" sz="2400" dirty="0"/>
              <a:t>      </a:t>
            </a:r>
            <a:r>
              <a:rPr lang="en-US" altLang="zh-CN" sz="2400" dirty="0"/>
              <a:t>g2(f2, b, 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    or	g3(f, f1, f2);</a:t>
            </a:r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/>
              <a:t>    not	g4(</a:t>
            </a:r>
            <a:r>
              <a:rPr lang="en-US" altLang="zh-CN" sz="2400" dirty="0" err="1"/>
              <a:t>nsel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);</a:t>
            </a:r>
          </a:p>
          <a:p>
            <a:pPr>
              <a:spcBef>
                <a:spcPct val="10000"/>
              </a:spcBef>
              <a:buFontTx/>
              <a:buNone/>
            </a:pPr>
            <a:endParaRPr lang="en-US" altLang="zh-CN" sz="1400" dirty="0"/>
          </a:p>
          <a:p>
            <a:pPr>
              <a:spcBef>
                <a:spcPct val="10000"/>
              </a:spcBef>
              <a:buFontTx/>
              <a:buNone/>
            </a:pPr>
            <a:r>
              <a:rPr lang="en-US" altLang="zh-CN" sz="2400" dirty="0" err="1"/>
              <a:t>endmodule</a:t>
            </a:r>
            <a:endParaRPr lang="en-US" altLang="zh-CN" sz="2400" dirty="0"/>
          </a:p>
        </p:txBody>
      </p:sp>
      <p:grpSp>
        <p:nvGrpSpPr>
          <p:cNvPr id="7" name="Group 20">
            <a:extLst>
              <a:ext uri="{FF2B5EF4-FFF2-40B4-BE49-F238E27FC236}">
                <a16:creationId xmlns:a16="http://schemas.microsoft.com/office/drawing/2014/main" id="{5E9AEA62-D4B0-72AE-21C2-660C4A1FEFFD}"/>
              </a:ext>
            </a:extLst>
          </p:cNvPr>
          <p:cNvGrpSpPr>
            <a:grpSpLocks/>
          </p:cNvGrpSpPr>
          <p:nvPr/>
        </p:nvGrpSpPr>
        <p:grpSpPr bwMode="auto">
          <a:xfrm>
            <a:off x="5751989" y="4090581"/>
            <a:ext cx="557212" cy="457200"/>
            <a:chOff x="3235" y="2143"/>
            <a:chExt cx="351" cy="288"/>
          </a:xfrm>
        </p:grpSpPr>
        <p:sp>
          <p:nvSpPr>
            <p:cNvPr id="8" name="AutoShape 21">
              <a:extLst>
                <a:ext uri="{FF2B5EF4-FFF2-40B4-BE49-F238E27FC236}">
                  <a16:creationId xmlns:a16="http://schemas.microsoft.com/office/drawing/2014/main" id="{1366F194-C7C6-93B8-98BF-920176F52F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219" y="2159"/>
              <a:ext cx="288" cy="255"/>
            </a:xfrm>
            <a:prstGeom prst="triangle">
              <a:avLst>
                <a:gd name="adj" fmla="val 50000"/>
              </a:avLst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Oval 22">
              <a:extLst>
                <a:ext uri="{FF2B5EF4-FFF2-40B4-BE49-F238E27FC236}">
                  <a16:creationId xmlns:a16="http://schemas.microsoft.com/office/drawing/2014/main" id="{2D11727A-064C-F320-2CA7-6403B6C7D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" y="2239"/>
              <a:ext cx="96" cy="9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sp>
        <p:nvSpPr>
          <p:cNvPr id="10" name="Text Box 30">
            <a:extLst>
              <a:ext uri="{FF2B5EF4-FFF2-40B4-BE49-F238E27FC236}">
                <a16:creationId xmlns:a16="http://schemas.microsoft.com/office/drawing/2014/main" id="{37B0DAA0-655C-835E-326F-C32B8801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1101" y="4335056"/>
            <a:ext cx="885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nsel</a:t>
            </a: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AF410C2A-2BC4-46A6-22A7-88A26FAFC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489" y="3863569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23663F09-152F-7CAA-FF3C-9E6FF73A7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4439" y="4015969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751D795E-9B35-8C92-CB27-E2A6A1706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1289" y="4168369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7FA0C25E-1AC2-2B93-6195-F9D04F799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5489" y="4777969"/>
            <a:ext cx="685800" cy="609600"/>
          </a:xfrm>
          <a:prstGeom prst="flowChartDelay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BDCE7472-FD84-50DC-ABCB-8A0523E0F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4439" y="4930369"/>
            <a:ext cx="20510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0">
            <a:extLst>
              <a:ext uri="{FF2B5EF4-FFF2-40B4-BE49-F238E27FC236}">
                <a16:creationId xmlns:a16="http://schemas.microsoft.com/office/drawing/2014/main" id="{53E83DF5-B808-0A3C-CC22-1DEB3395A2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8614" y="5235169"/>
            <a:ext cx="16668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oval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1">
            <a:extLst>
              <a:ext uri="{FF2B5EF4-FFF2-40B4-BE49-F238E27FC236}">
                <a16:creationId xmlns:a16="http://schemas.microsoft.com/office/drawing/2014/main" id="{47BC9782-325C-5D5D-D640-0ACE0186F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1289" y="5082769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" name="Group 12">
            <a:extLst>
              <a:ext uri="{FF2B5EF4-FFF2-40B4-BE49-F238E27FC236}">
                <a16:creationId xmlns:a16="http://schemas.microsoft.com/office/drawing/2014/main" id="{432676D6-22CE-5ED7-FD6D-9442E741E41F}"/>
              </a:ext>
            </a:extLst>
          </p:cNvPr>
          <p:cNvGrpSpPr>
            <a:grpSpLocks/>
          </p:cNvGrpSpPr>
          <p:nvPr/>
        </p:nvGrpSpPr>
        <p:grpSpPr bwMode="auto">
          <a:xfrm>
            <a:off x="8166576" y="4320769"/>
            <a:ext cx="685800" cy="609600"/>
            <a:chOff x="2688" y="1488"/>
            <a:chExt cx="432" cy="384"/>
          </a:xfrm>
        </p:grpSpPr>
        <p:sp>
          <p:nvSpPr>
            <p:cNvPr id="19" name="Arc 13">
              <a:extLst>
                <a:ext uri="{FF2B5EF4-FFF2-40B4-BE49-F238E27FC236}">
                  <a16:creationId xmlns:a16="http://schemas.microsoft.com/office/drawing/2014/main" id="{B44B8B62-D91D-4986-48BE-8D7A48A1D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96" cy="383"/>
            </a:xfrm>
            <a:custGeom>
              <a:avLst/>
              <a:gdLst>
                <a:gd name="T0" fmla="*/ 0 w 21600"/>
                <a:gd name="T1" fmla="*/ 0 h 43154"/>
                <a:gd name="T2" fmla="*/ 0 w 21600"/>
                <a:gd name="T3" fmla="*/ 0 h 43154"/>
                <a:gd name="T4" fmla="*/ 0 w 21600"/>
                <a:gd name="T5" fmla="*/ 0 h 4315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54"/>
                <a:gd name="T11" fmla="*/ 21600 w 21600"/>
                <a:gd name="T12" fmla="*/ 43154 h 431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5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</a:path>
                <a:path w="21600" h="4315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980"/>
                    <a:pt x="12769" y="42409"/>
                    <a:pt x="1412" y="4315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Arc 14">
              <a:extLst>
                <a:ext uri="{FF2B5EF4-FFF2-40B4-BE49-F238E27FC236}">
                  <a16:creationId xmlns:a16="http://schemas.microsoft.com/office/drawing/2014/main" id="{B27C5CA8-0C88-374C-111D-ADB899DA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488"/>
              <a:ext cx="432" cy="384"/>
            </a:xfrm>
            <a:custGeom>
              <a:avLst/>
              <a:gdLst>
                <a:gd name="T0" fmla="*/ 0 w 21600"/>
                <a:gd name="T1" fmla="*/ 0 h 43189"/>
                <a:gd name="T2" fmla="*/ 0 w 21600"/>
                <a:gd name="T3" fmla="*/ 0 h 43189"/>
                <a:gd name="T4" fmla="*/ 0 w 21600"/>
                <a:gd name="T5" fmla="*/ 0 h 431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89"/>
                <a:gd name="T11" fmla="*/ 21600 w 21600"/>
                <a:gd name="T12" fmla="*/ 43189 h 43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8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</a:path>
                <a:path w="21600" h="4318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256"/>
                    <a:pt x="12350" y="42810"/>
                    <a:pt x="699" y="4318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Line 15">
            <a:extLst>
              <a:ext uri="{FF2B5EF4-FFF2-40B4-BE49-F238E27FC236}">
                <a16:creationId xmlns:a16="http://schemas.microsoft.com/office/drawing/2014/main" id="{78263804-85EB-3E96-990E-69B5A8289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889" y="4473169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10778ECE-B72B-26B7-16AB-4EE01DE4C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889" y="4777969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7">
            <a:extLst>
              <a:ext uri="{FF2B5EF4-FFF2-40B4-BE49-F238E27FC236}">
                <a16:creationId xmlns:a16="http://schemas.microsoft.com/office/drawing/2014/main" id="{44A7CFE7-CD7F-0B01-5C2B-2585DC5C04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8089" y="4625569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18">
            <a:extLst>
              <a:ext uri="{FF2B5EF4-FFF2-40B4-BE49-F238E27FC236}">
                <a16:creationId xmlns:a16="http://schemas.microsoft.com/office/drawing/2014/main" id="{18337ED7-5083-8CFC-631D-8244AB337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9089" y="4320769"/>
            <a:ext cx="3381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19">
            <a:extLst>
              <a:ext uri="{FF2B5EF4-FFF2-40B4-BE49-F238E27FC236}">
                <a16:creationId xmlns:a16="http://schemas.microsoft.com/office/drawing/2014/main" id="{50E7703F-FD83-7BD6-43D5-C656ADCE5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3489" y="4320769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20D1AB7F-38C1-CA24-A6E6-8658033C7A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9089" y="4320769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51F4E02-65B9-E25F-2144-74B3DBA94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9889" y="477796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F2AA2DE7-95D7-5793-9459-AB8BA8191F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99889" y="4168369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Text Box 26">
            <a:extLst>
              <a:ext uri="{FF2B5EF4-FFF2-40B4-BE49-F238E27FC236}">
                <a16:creationId xmlns:a16="http://schemas.microsoft.com/office/drawing/2014/main" id="{F08B7110-998D-73EA-08DF-87E8EF5F0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7076" y="3774669"/>
            <a:ext cx="4476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a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FDFB517F-204D-177D-FAAA-0DFFBA99C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564" y="4717644"/>
            <a:ext cx="46672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b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27397AB0-EF4F-651E-6594-EBFA18409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0114" y="5505044"/>
            <a:ext cx="78581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b="0"/>
              <a:t>sel</a:t>
            </a:r>
          </a:p>
        </p:txBody>
      </p:sp>
      <p:sp>
        <p:nvSpPr>
          <p:cNvPr id="32" name="Text Box 29">
            <a:extLst>
              <a:ext uri="{FF2B5EF4-FFF2-40B4-BE49-F238E27FC236}">
                <a16:creationId xmlns:a16="http://schemas.microsoft.com/office/drawing/2014/main" id="{906DD1B4-CBD7-8855-4B05-96498E2B3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5089" y="4181069"/>
            <a:ext cx="457200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3000" b="0"/>
              <a:t>f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6401F66B-A09F-43BC-D7B3-B39E1E076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1764" y="3731806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f1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248F9DEC-D913-64AD-04E2-96AB619FF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2401" y="5174844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f2</a:t>
            </a: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8524A4F6-A659-5214-9427-16A7D17CB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0089" y="3353981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g1</a:t>
            </a:r>
          </a:p>
        </p:txBody>
      </p:sp>
      <p:sp>
        <p:nvSpPr>
          <p:cNvPr id="36" name="Text Box 34">
            <a:extLst>
              <a:ext uri="{FF2B5EF4-FFF2-40B4-BE49-F238E27FC236}">
                <a16:creationId xmlns:a16="http://schemas.microsoft.com/office/drawing/2014/main" id="{78876FAB-D87A-EE0F-2799-DF8F21F94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1676" y="5390744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g2</a:t>
            </a: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86513A5A-440F-8BCA-1DFA-20045AC94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4526" y="4849406"/>
            <a:ext cx="685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g3</a:t>
            </a:r>
          </a:p>
        </p:txBody>
      </p:sp>
      <p:sp>
        <p:nvSpPr>
          <p:cNvPr id="38" name="Text Box 36">
            <a:extLst>
              <a:ext uri="{FF2B5EF4-FFF2-40B4-BE49-F238E27FC236}">
                <a16:creationId xmlns:a16="http://schemas.microsoft.com/office/drawing/2014/main" id="{F74B9944-FD66-96B4-376C-A6F419454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464" y="4466819"/>
            <a:ext cx="6858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600" b="0"/>
              <a:t>g4</a:t>
            </a:r>
          </a:p>
        </p:txBody>
      </p:sp>
      <p:grpSp>
        <p:nvGrpSpPr>
          <p:cNvPr id="39" name="组合 2">
            <a:extLst>
              <a:ext uri="{FF2B5EF4-FFF2-40B4-BE49-F238E27FC236}">
                <a16:creationId xmlns:a16="http://schemas.microsoft.com/office/drawing/2014/main" id="{ADCBCD0B-B00A-2777-0A5E-C31746DEFCFE}"/>
              </a:ext>
            </a:extLst>
          </p:cNvPr>
          <p:cNvGrpSpPr>
            <a:grpSpLocks/>
          </p:cNvGrpSpPr>
          <p:nvPr/>
        </p:nvGrpSpPr>
        <p:grpSpPr bwMode="auto">
          <a:xfrm>
            <a:off x="6110764" y="1217206"/>
            <a:ext cx="2728912" cy="1809750"/>
            <a:chOff x="5491180" y="1451038"/>
            <a:chExt cx="2728909" cy="1809025"/>
          </a:xfrm>
        </p:grpSpPr>
        <p:sp>
          <p:nvSpPr>
            <p:cNvPr id="40" name="Line 53">
              <a:extLst>
                <a:ext uri="{FF2B5EF4-FFF2-40B4-BE49-F238E27FC236}">
                  <a16:creationId xmlns:a16="http://schemas.microsoft.com/office/drawing/2014/main" id="{FAB977D6-44A5-F2D5-25F1-58677C7B1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2528882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BAD36E25-F275-52DB-7BFA-50D459B93E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55">
              <a:extLst>
                <a:ext uri="{FF2B5EF4-FFF2-40B4-BE49-F238E27FC236}">
                  <a16:creationId xmlns:a16="http://schemas.microsoft.com/office/drawing/2014/main" id="{AF068A93-322D-9C17-2DF6-B3373AA7D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085970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56">
              <a:extLst>
                <a:ext uri="{FF2B5EF4-FFF2-40B4-BE49-F238E27FC236}">
                  <a16:creationId xmlns:a16="http://schemas.microsoft.com/office/drawing/2014/main" id="{E44852D2-A1F6-D365-1B78-B75559948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80498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57">
              <a:extLst>
                <a:ext uri="{FF2B5EF4-FFF2-40B4-BE49-F238E27FC236}">
                  <a16:creationId xmlns:a16="http://schemas.microsoft.com/office/drawing/2014/main" id="{2A90252E-A88D-16FF-CDF2-B8D63C0C8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533520"/>
              <a:ext cx="180975" cy="487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a</a:t>
              </a:r>
            </a:p>
          </p:txBody>
        </p:sp>
        <p:sp>
          <p:nvSpPr>
            <p:cNvPr id="45" name="Text Box 58">
              <a:extLst>
                <a:ext uri="{FF2B5EF4-FFF2-40B4-BE49-F238E27FC236}">
                  <a16:creationId xmlns:a16="http://schemas.microsoft.com/office/drawing/2014/main" id="{D3DED7D0-51E7-58D9-81F3-5CF6127CB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78032"/>
              <a:ext cx="387350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b</a:t>
              </a:r>
            </a:p>
          </p:txBody>
        </p:sp>
        <p:sp>
          <p:nvSpPr>
            <p:cNvPr id="46" name="Text Box 59">
              <a:extLst>
                <a:ext uri="{FF2B5EF4-FFF2-40B4-BE49-F238E27FC236}">
                  <a16:creationId xmlns:a16="http://schemas.microsoft.com/office/drawing/2014/main" id="{1C3C73F4-7DB1-EEC1-424B-7373C7C0B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56372" y="2736843"/>
              <a:ext cx="5822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sel</a:t>
              </a:r>
            </a:p>
          </p:txBody>
        </p:sp>
        <p:sp>
          <p:nvSpPr>
            <p:cNvPr id="47" name="Text Box 60">
              <a:extLst>
                <a:ext uri="{FF2B5EF4-FFF2-40B4-BE49-F238E27FC236}">
                  <a16:creationId xmlns:a16="http://schemas.microsoft.com/office/drawing/2014/main" id="{0DAA36DF-2D10-AB8A-3941-DBC135F38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1793870"/>
              <a:ext cx="319088" cy="579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f</a:t>
              </a:r>
            </a:p>
          </p:txBody>
        </p:sp>
        <p:sp>
          <p:nvSpPr>
            <p:cNvPr id="48" name="Text Box 62">
              <a:extLst>
                <a:ext uri="{FF2B5EF4-FFF2-40B4-BE49-F238E27FC236}">
                  <a16:creationId xmlns:a16="http://schemas.microsoft.com/office/drawing/2014/main" id="{F5678CD1-E017-1C40-5FDC-1456429F22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60495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9" name="Text Box 63">
              <a:extLst>
                <a:ext uri="{FF2B5EF4-FFF2-40B4-BE49-F238E27FC236}">
                  <a16:creationId xmlns:a16="http://schemas.microsoft.com/office/drawing/2014/main" id="{9E70DFB4-D217-2C8A-3E24-436D77F63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50" name="梯形 49">
              <a:extLst>
                <a:ext uri="{FF2B5EF4-FFF2-40B4-BE49-F238E27FC236}">
                  <a16:creationId xmlns:a16="http://schemas.microsoft.com/office/drawing/2014/main" id="{B7139E80-3DF8-76B7-A855-D5FEB82AA65D}"/>
                </a:ext>
              </a:extLst>
            </p:cNvPr>
            <p:cNvSpPr/>
            <p:nvPr/>
          </p:nvSpPr>
          <p:spPr>
            <a:xfrm rot="5400000">
              <a:off x="6301051" y="1714316"/>
              <a:ext cx="1234580" cy="708024"/>
            </a:xfrm>
            <a:prstGeom prst="trapezoid">
              <a:avLst>
                <a:gd name="adj" fmla="val 4218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462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CB655-01E9-3FDA-2D0C-1D6A6BA7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赋值语句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68F675-242E-1C7C-517E-A1A818B10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连续赋值语句</a:t>
            </a:r>
          </a:p>
          <a:p>
            <a:pPr lvl="1">
              <a:buFontTx/>
              <a:buNone/>
            </a:pPr>
            <a:r>
              <a:rPr kumimoji="1" lang="en-US" altLang="zh-CN" b="1" dirty="0"/>
              <a:t>    assign  </a:t>
            </a:r>
            <a:r>
              <a:rPr kumimoji="1" lang="zh-CN" altLang="en-US" b="1" dirty="0"/>
              <a:t>变量名</a:t>
            </a:r>
            <a:r>
              <a:rPr kumimoji="1" lang="en-US" altLang="zh-CN" b="1" dirty="0"/>
              <a:t>= </a:t>
            </a:r>
            <a:r>
              <a:rPr kumimoji="1" lang="zh-CN" altLang="en-US" b="1" dirty="0"/>
              <a:t>赋值表达式</a:t>
            </a:r>
          </a:p>
          <a:p>
            <a:pPr lvl="1"/>
            <a:r>
              <a:rPr kumimoji="1" lang="zh-CN" altLang="en-US" dirty="0"/>
              <a:t>只能对线网型变量进行赋值，不能对寄存器型变量进行赋值</a:t>
            </a:r>
          </a:p>
          <a:p>
            <a:pPr lvl="1"/>
            <a:r>
              <a:rPr kumimoji="1" lang="zh-CN" altLang="en-US" dirty="0"/>
              <a:t>仅用于描述组合逻辑</a:t>
            </a:r>
          </a:p>
          <a:p>
            <a:endParaRPr lang="en-US" altLang="zh-CN" dirty="0"/>
          </a:p>
          <a:p>
            <a:r>
              <a:rPr lang="zh-CN" altLang="en-US" dirty="0"/>
              <a:t>过程赋值语句</a:t>
            </a:r>
          </a:p>
          <a:p>
            <a:pPr lvl="1">
              <a:buFontTx/>
              <a:buNone/>
            </a:pPr>
            <a:r>
              <a:rPr kumimoji="1" lang="zh-CN" altLang="en-US" b="1" dirty="0"/>
              <a:t>   变量名</a:t>
            </a:r>
            <a:r>
              <a:rPr kumimoji="1" lang="en-US" altLang="zh-CN" b="1" dirty="0"/>
              <a:t>= </a:t>
            </a:r>
            <a:r>
              <a:rPr kumimoji="1" lang="zh-CN" altLang="en-US" b="1" dirty="0"/>
              <a:t>赋值表达式</a:t>
            </a:r>
            <a:endParaRPr lang="zh-CN" altLang="en-US" b="1" dirty="0"/>
          </a:p>
          <a:p>
            <a:pPr lvl="1"/>
            <a:r>
              <a:rPr lang="zh-CN" altLang="en-US" dirty="0"/>
              <a:t>只能对寄存器数据类型的变量赋值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always</a:t>
            </a:r>
            <a:r>
              <a:rPr lang="zh-CN" altLang="en-US" dirty="0"/>
              <a:t>和</a:t>
            </a:r>
            <a:r>
              <a:rPr lang="en-US" altLang="zh-CN" dirty="0"/>
              <a:t>initial</a:t>
            </a:r>
            <a:r>
              <a:rPr lang="zh-CN" altLang="en-US" dirty="0"/>
              <a:t>语句内的赋值</a:t>
            </a:r>
          </a:p>
          <a:p>
            <a:pPr lvl="1"/>
            <a:r>
              <a:rPr lang="zh-CN" altLang="en-US" dirty="0"/>
              <a:t>可</a:t>
            </a:r>
            <a:r>
              <a:rPr kumimoji="1" lang="zh-CN" altLang="en-US" dirty="0"/>
              <a:t>用于描述组合和时序逻辑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E27229-9219-50E4-EF1C-821E7563D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E35BAA-527B-C997-5324-9EA7E270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21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7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A368E-44EA-9740-D63F-C38785AE9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Verilog HDL</a:t>
            </a:r>
            <a:r>
              <a:rPr lang="zh-CN" altLang="en-US" dirty="0"/>
              <a:t>运算符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EEA7CB-F083-F4FE-B551-02A194E0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74D76A-4C35-6B08-3C19-B52B507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22</a:t>
            </a:fld>
            <a:r>
              <a:rPr lang="en-US" altLang="zh-CN" dirty="0"/>
              <a:t>/29</a:t>
            </a:r>
            <a:endParaRPr lang="en-US" dirty="0"/>
          </a:p>
        </p:txBody>
      </p:sp>
      <p:graphicFrame>
        <p:nvGraphicFramePr>
          <p:cNvPr id="6" name="Group 49">
            <a:extLst>
              <a:ext uri="{FF2B5EF4-FFF2-40B4-BE49-F238E27FC236}">
                <a16:creationId xmlns:a16="http://schemas.microsoft.com/office/drawing/2014/main" id="{3C75DDB4-6849-DB97-421A-9325A42F7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26356"/>
              </p:ext>
            </p:extLst>
          </p:nvPr>
        </p:nvGraphicFramePr>
        <p:xfrm>
          <a:off x="786968" y="869155"/>
          <a:ext cx="8135937" cy="5119689"/>
        </p:xfrm>
        <a:graphic>
          <a:graphicData uri="http://schemas.openxmlformats.org/drawingml/2006/table">
            <a:tbl>
              <a:tblPr/>
              <a:tblGrid>
                <a:gridCol w="1223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38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36000" marR="3600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类型</a:t>
                      </a:r>
                    </a:p>
                  </a:txBody>
                  <a:tcPr marL="36000" marR="3600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功能说明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30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算术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%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二进制加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二进制减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二进制乘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二进制除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求模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关系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&gt;=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==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!=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小于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大于或等于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小于或等于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不等于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23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</a:t>
                      </a:r>
                      <a:endParaRPr kumimoji="1" lang="en-US" altLang="zh-CN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^~ 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~^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按位取反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按位与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按位或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按位异或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按位同或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tabLst>
                          <a:tab pos="2636838" algn="ctr"/>
                          <a:tab pos="5273675" algn="r"/>
                        </a:tabLs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36838" algn="ctr"/>
                          <a:tab pos="5273675" algn="r"/>
                        </a:tabLst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缩位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636838" algn="ctr"/>
                          <a:tab pos="5273675" algn="r"/>
                        </a:tabLst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~&amp;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~|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^~ </a:t>
                      </a: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 </a:t>
                      </a: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~^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缩位与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缩位与非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缩位或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缩位或非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缩位异或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缩位同或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94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</a:p>
                  </a:txBody>
                  <a:tcPr marL="36000" marR="3600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!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&amp;&amp;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||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逻辑非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逻辑与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逻辑或</a:t>
                      </a: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移位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运算符</a:t>
                      </a:r>
                      <a:endParaRPr kumimoji="1" lang="zh-CN" altLang="en-US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&gt;&gt;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&lt;&lt;</a:t>
                      </a:r>
                      <a:endParaRPr kumimoji="1" lang="en-US" altLang="zh-CN" sz="19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右移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左移</a:t>
                      </a:r>
                      <a:endParaRPr kumimoji="1" lang="zh-CN" altLang="en-US" sz="1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95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011089-D283-D208-892E-16428386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en-US" altLang="zh-CN" dirty="0"/>
              <a:t>Mux with Assign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790DF6-589E-014E-39C8-0315A641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B6BC53-3457-E9AF-A35F-EA9CF25C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23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84164E-D6F1-DB30-032D-CC5B94187DC3}"/>
              </a:ext>
            </a:extLst>
          </p:cNvPr>
          <p:cNvSpPr txBox="1">
            <a:spLocks noChangeArrowheads="1"/>
          </p:cNvSpPr>
          <p:nvPr/>
        </p:nvSpPr>
        <p:spPr>
          <a:xfrm>
            <a:off x="477405" y="1258311"/>
            <a:ext cx="6575425" cy="5040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/>
              <a:t>module mux2_1(</a:t>
            </a:r>
          </a:p>
          <a:p>
            <a:pPr>
              <a:buFontTx/>
              <a:buNone/>
            </a:pPr>
            <a:r>
              <a:rPr lang="en-US" altLang="zh-CN" sz="2400" dirty="0"/>
              <a:t>    output f,</a:t>
            </a:r>
          </a:p>
          <a:p>
            <a:pPr>
              <a:buFontTx/>
              <a:buNone/>
            </a:pPr>
            <a:r>
              <a:rPr lang="en-US" altLang="zh-CN" sz="2400" dirty="0"/>
              <a:t>    input a, b, 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 );</a:t>
            </a:r>
          </a:p>
          <a:p>
            <a:pPr>
              <a:buFontTx/>
              <a:buNone/>
            </a:pPr>
            <a:endParaRPr lang="en-US" altLang="zh-CN" sz="2400" dirty="0"/>
          </a:p>
          <a:p>
            <a:pPr>
              <a:buFontTx/>
              <a:buNone/>
            </a:pPr>
            <a:r>
              <a:rPr lang="en-US" altLang="zh-CN" sz="2400" dirty="0"/>
              <a:t>    assign f = (a &amp; ~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) | (b &amp; </a:t>
            </a:r>
            <a:r>
              <a:rPr lang="en-US" altLang="zh-CN" sz="2400" dirty="0" err="1"/>
              <a:t>sel</a:t>
            </a:r>
            <a:r>
              <a:rPr lang="en-US" altLang="zh-CN" sz="2400" dirty="0"/>
              <a:t>);</a:t>
            </a:r>
          </a:p>
          <a:p>
            <a:pPr>
              <a:buFontTx/>
              <a:buNone/>
            </a:pPr>
            <a:endParaRPr lang="en-US" altLang="zh-CN" sz="2400" dirty="0"/>
          </a:p>
          <a:p>
            <a:pPr>
              <a:buFontTx/>
              <a:buNone/>
            </a:pPr>
            <a:r>
              <a:rPr lang="en-US" altLang="zh-CN" sz="2400" dirty="0" err="1"/>
              <a:t>endmodule</a:t>
            </a:r>
            <a:endParaRPr lang="en-US" altLang="zh-CN" sz="2400" dirty="0"/>
          </a:p>
        </p:txBody>
      </p:sp>
      <p:grpSp>
        <p:nvGrpSpPr>
          <p:cNvPr id="7" name="组合 2">
            <a:extLst>
              <a:ext uri="{FF2B5EF4-FFF2-40B4-BE49-F238E27FC236}">
                <a16:creationId xmlns:a16="http://schemas.microsoft.com/office/drawing/2014/main" id="{47B6A73A-1612-B836-03B2-751D1DC99E5D}"/>
              </a:ext>
            </a:extLst>
          </p:cNvPr>
          <p:cNvGrpSpPr>
            <a:grpSpLocks/>
          </p:cNvGrpSpPr>
          <p:nvPr/>
        </p:nvGrpSpPr>
        <p:grpSpPr bwMode="auto">
          <a:xfrm>
            <a:off x="4574742" y="4030086"/>
            <a:ext cx="4576762" cy="2006600"/>
            <a:chOff x="4103688" y="4113213"/>
            <a:chExt cx="4576762" cy="2006399"/>
          </a:xfrm>
        </p:grpSpPr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42DFA036-D320-2C40-9D15-B3532076B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4156075"/>
              <a:ext cx="685800" cy="6096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8E513FE6-08B7-90A4-671A-932A05A59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850" y="4308475"/>
              <a:ext cx="170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E3A14099-B5FB-28AB-DC99-BA83C555F0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4460875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13929490-45BA-60FC-F561-1EF4BE426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3650" y="5070475"/>
              <a:ext cx="685800" cy="609600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2F6F6BF9-E7E5-A952-CDEF-8AB377F30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850" y="5222875"/>
              <a:ext cx="1701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34BB5224-50C1-9B66-F3E4-F6A8C4E74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2213" y="5527675"/>
              <a:ext cx="1341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1684C411-70AE-663E-9247-4990D2A0D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9450" y="5375275"/>
              <a:ext cx="228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" name="Group 11">
              <a:extLst>
                <a:ext uri="{FF2B5EF4-FFF2-40B4-BE49-F238E27FC236}">
                  <a16:creationId xmlns:a16="http://schemas.microsoft.com/office/drawing/2014/main" id="{1F6937D6-7914-0603-C8B2-582D5A036B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0450" y="4613275"/>
              <a:ext cx="685800" cy="609600"/>
              <a:chOff x="2688" y="1488"/>
              <a:chExt cx="432" cy="384"/>
            </a:xfrm>
          </p:grpSpPr>
          <p:sp>
            <p:nvSpPr>
              <p:cNvPr id="31" name="Arc 12">
                <a:extLst>
                  <a:ext uri="{FF2B5EF4-FFF2-40B4-BE49-F238E27FC236}">
                    <a16:creationId xmlns:a16="http://schemas.microsoft.com/office/drawing/2014/main" id="{99CF520F-CF42-8677-C62F-8B04B5C47A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488"/>
                <a:ext cx="96" cy="383"/>
              </a:xfrm>
              <a:custGeom>
                <a:avLst/>
                <a:gdLst>
                  <a:gd name="T0" fmla="*/ 0 w 21600"/>
                  <a:gd name="T1" fmla="*/ 0 h 43154"/>
                  <a:gd name="T2" fmla="*/ 0 w 21600"/>
                  <a:gd name="T3" fmla="*/ 0 h 43154"/>
                  <a:gd name="T4" fmla="*/ 0 w 21600"/>
                  <a:gd name="T5" fmla="*/ 0 h 4315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54"/>
                  <a:gd name="T11" fmla="*/ 21600 w 21600"/>
                  <a:gd name="T12" fmla="*/ 43154 h 431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5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980"/>
                      <a:pt x="12769" y="42409"/>
                      <a:pt x="1412" y="43153"/>
                    </a:cubicBezTo>
                  </a:path>
                  <a:path w="21600" h="4315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980"/>
                      <a:pt x="12769" y="42409"/>
                      <a:pt x="1412" y="4315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Arc 13">
                <a:extLst>
                  <a:ext uri="{FF2B5EF4-FFF2-40B4-BE49-F238E27FC236}">
                    <a16:creationId xmlns:a16="http://schemas.microsoft.com/office/drawing/2014/main" id="{87589539-A79A-7E58-8DCE-E7AB9C623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1488"/>
                <a:ext cx="432" cy="384"/>
              </a:xfrm>
              <a:custGeom>
                <a:avLst/>
                <a:gdLst>
                  <a:gd name="T0" fmla="*/ 0 w 21600"/>
                  <a:gd name="T1" fmla="*/ 0 h 43189"/>
                  <a:gd name="T2" fmla="*/ 0 w 21600"/>
                  <a:gd name="T3" fmla="*/ 0 h 43189"/>
                  <a:gd name="T4" fmla="*/ 0 w 21600"/>
                  <a:gd name="T5" fmla="*/ 0 h 4318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89"/>
                  <a:gd name="T11" fmla="*/ 21600 w 21600"/>
                  <a:gd name="T12" fmla="*/ 43189 h 431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8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256"/>
                      <a:pt x="12350" y="42810"/>
                      <a:pt x="699" y="43188"/>
                    </a:cubicBezTo>
                  </a:path>
                  <a:path w="21600" h="4318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256"/>
                      <a:pt x="12350" y="42810"/>
                      <a:pt x="699" y="4318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0C31CE98-7B13-7737-80CC-8A1C4E661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47656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5FC0D06-F84F-5D47-0756-33BE68CCE4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50704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861D188-9685-0808-360B-4B32C3CA3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96250" y="4918075"/>
              <a:ext cx="304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EA9FE545-96D2-DBA3-EEFB-7EA1B20C6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3275"/>
              <a:ext cx="338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116F048D-C577-9E7E-E733-97F7D04EB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2325" y="4613275"/>
              <a:ext cx="4413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1" name="Group 19">
              <a:extLst>
                <a:ext uri="{FF2B5EF4-FFF2-40B4-BE49-F238E27FC236}">
                  <a16:creationId xmlns:a16="http://schemas.microsoft.com/office/drawing/2014/main" id="{B20B97AB-C8AC-2B22-FBAB-D3AD31705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5113" y="4383088"/>
              <a:ext cx="557212" cy="457200"/>
              <a:chOff x="3235" y="2143"/>
              <a:chExt cx="351" cy="288"/>
            </a:xfrm>
          </p:grpSpPr>
          <p:sp>
            <p:nvSpPr>
              <p:cNvPr id="29" name="AutoShape 20">
                <a:extLst>
                  <a:ext uri="{FF2B5EF4-FFF2-40B4-BE49-F238E27FC236}">
                    <a16:creationId xmlns:a16="http://schemas.microsoft.com/office/drawing/2014/main" id="{FE184B19-8606-8270-D9F1-8A5816E41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219" y="2159"/>
                <a:ext cx="288" cy="255"/>
              </a:xfrm>
              <a:prstGeom prst="triangle">
                <a:avLst>
                  <a:gd name="adj" fmla="val 50000"/>
                </a:avLst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Oval 21">
                <a:extLst>
                  <a:ext uri="{FF2B5EF4-FFF2-40B4-BE49-F238E27FC236}">
                    <a16:creationId xmlns:a16="http://schemas.microsoft.com/office/drawing/2014/main" id="{53C9E3F2-4456-FD44-4E94-C1520E372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0" y="2239"/>
                <a:ext cx="96" cy="9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2A14F4A6-30D7-15AB-60C8-62FD2B074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7925" y="4613275"/>
              <a:ext cx="0" cy="13366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A5F50F83-B367-E46F-DD31-098EEAF097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8050" y="5070475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F599145B-DA38-7D02-79C4-DDC3A49B01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58050" y="4460875"/>
              <a:ext cx="0" cy="304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18F0FD6A-39C8-8C21-949A-6F98623B86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8613" y="4113213"/>
              <a:ext cx="447675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6AE313FB-A580-1326-B340-EE55DF855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3688" y="5027613"/>
              <a:ext cx="466725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7" name="Text Box 27">
              <a:extLst>
                <a:ext uri="{FF2B5EF4-FFF2-40B4-BE49-F238E27FC236}">
                  <a16:creationId xmlns:a16="http://schemas.microsoft.com/office/drawing/2014/main" id="{6C6912CC-DCC6-5312-CA60-7E5B16AB2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0050" y="5661025"/>
              <a:ext cx="685800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/>
                <a:t>sel</a:t>
              </a:r>
            </a:p>
          </p:txBody>
        </p:sp>
        <p:sp>
          <p:nvSpPr>
            <p:cNvPr id="28" name="Text Box 28">
              <a:extLst>
                <a:ext uri="{FF2B5EF4-FFF2-40B4-BE49-F238E27FC236}">
                  <a16:creationId xmlns:a16="http://schemas.microsoft.com/office/drawing/2014/main" id="{3BC206CC-95D5-80EF-B413-DB22426FC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3250" y="4473575"/>
              <a:ext cx="457200" cy="45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cs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33" name="组合 1">
            <a:extLst>
              <a:ext uri="{FF2B5EF4-FFF2-40B4-BE49-F238E27FC236}">
                <a16:creationId xmlns:a16="http://schemas.microsoft.com/office/drawing/2014/main" id="{F4F851AA-34AA-5531-54A5-8A3362D9D557}"/>
              </a:ext>
            </a:extLst>
          </p:cNvPr>
          <p:cNvGrpSpPr>
            <a:grpSpLocks/>
          </p:cNvGrpSpPr>
          <p:nvPr/>
        </p:nvGrpSpPr>
        <p:grpSpPr bwMode="auto">
          <a:xfrm>
            <a:off x="5962217" y="1367848"/>
            <a:ext cx="2714625" cy="1866900"/>
            <a:chOff x="5491180" y="1451038"/>
            <a:chExt cx="2714713" cy="1866177"/>
          </a:xfrm>
        </p:grpSpPr>
        <p:sp>
          <p:nvSpPr>
            <p:cNvPr id="34" name="Line 53">
              <a:extLst>
                <a:ext uri="{FF2B5EF4-FFF2-40B4-BE49-F238E27FC236}">
                  <a16:creationId xmlns:a16="http://schemas.microsoft.com/office/drawing/2014/main" id="{2BCCA059-6CD8-9F26-803A-245E1765E0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2528882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54">
              <a:extLst>
                <a:ext uri="{FF2B5EF4-FFF2-40B4-BE49-F238E27FC236}">
                  <a16:creationId xmlns:a16="http://schemas.microsoft.com/office/drawing/2014/main" id="{EA00393A-E39E-6D6E-575A-BCF3E58E5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55">
              <a:extLst>
                <a:ext uri="{FF2B5EF4-FFF2-40B4-BE49-F238E27FC236}">
                  <a16:creationId xmlns:a16="http://schemas.microsoft.com/office/drawing/2014/main" id="{27BAAD1F-097E-3030-66A0-C4457F587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085970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56">
              <a:extLst>
                <a:ext uri="{FF2B5EF4-FFF2-40B4-BE49-F238E27FC236}">
                  <a16:creationId xmlns:a16="http://schemas.microsoft.com/office/drawing/2014/main" id="{56DA7B45-9D0C-73F6-8F43-CE42ED6E8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80498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57">
              <a:extLst>
                <a:ext uri="{FF2B5EF4-FFF2-40B4-BE49-F238E27FC236}">
                  <a16:creationId xmlns:a16="http://schemas.microsoft.com/office/drawing/2014/main" id="{AB9EFA65-F7D1-27C2-A1A9-795065E4C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53352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39" name="Text Box 58">
              <a:extLst>
                <a:ext uri="{FF2B5EF4-FFF2-40B4-BE49-F238E27FC236}">
                  <a16:creationId xmlns:a16="http://schemas.microsoft.com/office/drawing/2014/main" id="{DB711EFF-17A1-6A57-5B87-9CB26462C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78032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40" name="Text Box 59">
              <a:extLst>
                <a:ext uri="{FF2B5EF4-FFF2-40B4-BE49-F238E27FC236}">
                  <a16:creationId xmlns:a16="http://schemas.microsoft.com/office/drawing/2014/main" id="{F2720573-3EB7-ADB3-953A-E2270EA3F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2068" y="2793995"/>
              <a:ext cx="5822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sel</a:t>
              </a:r>
            </a:p>
          </p:txBody>
        </p:sp>
        <p:sp>
          <p:nvSpPr>
            <p:cNvPr id="41" name="Text Box 60">
              <a:extLst>
                <a:ext uri="{FF2B5EF4-FFF2-40B4-BE49-F238E27FC236}">
                  <a16:creationId xmlns:a16="http://schemas.microsoft.com/office/drawing/2014/main" id="{17716F34-6A0B-5AC3-5977-ABDF0B7F6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1793870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42" name="Text Box 62">
              <a:extLst>
                <a:ext uri="{FF2B5EF4-FFF2-40B4-BE49-F238E27FC236}">
                  <a16:creationId xmlns:a16="http://schemas.microsoft.com/office/drawing/2014/main" id="{90EDB3A8-27CE-9452-B387-FDF7BFF6C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60495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43" name="Text Box 63">
              <a:extLst>
                <a:ext uri="{FF2B5EF4-FFF2-40B4-BE49-F238E27FC236}">
                  <a16:creationId xmlns:a16="http://schemas.microsoft.com/office/drawing/2014/main" id="{BD5E1462-DCB6-D464-ADBB-1B21BC3A1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44" name="梯形 43">
              <a:extLst>
                <a:ext uri="{FF2B5EF4-FFF2-40B4-BE49-F238E27FC236}">
                  <a16:creationId xmlns:a16="http://schemas.microsoft.com/office/drawing/2014/main" id="{F57B5A2B-682A-4B8F-E3E1-C65491C4DCEB}"/>
                </a:ext>
              </a:extLst>
            </p:cNvPr>
            <p:cNvSpPr/>
            <p:nvPr/>
          </p:nvSpPr>
          <p:spPr>
            <a:xfrm rot="5400000">
              <a:off x="6301090" y="1714312"/>
              <a:ext cx="1234597" cy="708048"/>
            </a:xfrm>
            <a:prstGeom prst="trapezoid">
              <a:avLst>
                <a:gd name="adj" fmla="val 4218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981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AF043-785B-FDB1-9845-CB3635E3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if</a:t>
            </a:r>
            <a:r>
              <a:rPr lang="zh-CN" altLang="en-US" dirty="0"/>
              <a:t>条件语句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4E874-B7BD-0860-6A36-147A78FCB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4637347" cy="5947119"/>
          </a:xfrm>
        </p:spPr>
        <p:txBody>
          <a:bodyPr/>
          <a:lstStyle/>
          <a:p>
            <a:r>
              <a:rPr kumimoji="1" lang="zh-CN" altLang="en-US" dirty="0"/>
              <a:t>表达式一般为逻辑表达式或关系表达式</a:t>
            </a:r>
          </a:p>
          <a:p>
            <a:pPr lvl="1"/>
            <a:r>
              <a:rPr kumimoji="1" lang="zh-CN" altLang="en-US" sz="2000" dirty="0"/>
              <a:t>对表达式的值进行判断，若为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x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z</a:t>
            </a:r>
            <a:r>
              <a:rPr kumimoji="1" lang="zh-CN" altLang="en-US" sz="2000" dirty="0"/>
              <a:t>，按假处理；若为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，则按真处理，执行指定语句</a:t>
            </a:r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和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后可包含单个或多个语句，多句时用</a:t>
            </a:r>
            <a:r>
              <a:rPr kumimoji="1" lang="en-US" altLang="zh-CN" dirty="0"/>
              <a:t>begin-end</a:t>
            </a:r>
            <a:r>
              <a:rPr kumimoji="1" lang="zh-CN" altLang="en-US" dirty="0"/>
              <a:t>块语句括起来</a:t>
            </a:r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语句嵌套使用时，注意</a:t>
            </a:r>
            <a:r>
              <a:rPr kumimoji="1" lang="en-US" altLang="zh-CN" dirty="0"/>
              <a:t>if</a:t>
            </a:r>
            <a:r>
              <a:rPr kumimoji="1" lang="zh-CN" altLang="en-US" dirty="0"/>
              <a:t>与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的配对关系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51DA3D-098B-7620-0744-63CA8E9F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F7ADFB-A002-B46C-D48C-52830F46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24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A0F58E-12B8-4632-38DE-4E668219B83D}"/>
              </a:ext>
            </a:extLst>
          </p:cNvPr>
          <p:cNvSpPr txBox="1">
            <a:spLocks noChangeArrowheads="1"/>
          </p:cNvSpPr>
          <p:nvPr/>
        </p:nvSpPr>
        <p:spPr>
          <a:xfrm>
            <a:off x="5427345" y="1470097"/>
            <a:ext cx="4095750" cy="39178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/>
              <a:t>if</a:t>
            </a:r>
            <a:r>
              <a:rPr lang="zh-CN" altLang="en-US" sz="2000"/>
              <a:t>（表达式）  语句</a:t>
            </a:r>
            <a:r>
              <a:rPr lang="en-US" altLang="zh-CN" sz="2000"/>
              <a:t>1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zh-CN" sz="2000"/>
              <a:t>if</a:t>
            </a:r>
            <a:r>
              <a:rPr lang="zh-CN" altLang="en-US" sz="2000"/>
              <a:t>（表达式）  语句</a:t>
            </a:r>
            <a:r>
              <a:rPr lang="en-US" altLang="zh-CN" sz="2000"/>
              <a:t>1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zh-CN" altLang="en-US" sz="2000"/>
              <a:t>     </a:t>
            </a:r>
            <a:r>
              <a:rPr lang="en-US" altLang="zh-CN" sz="2000"/>
              <a:t>else   </a:t>
            </a:r>
            <a:r>
              <a:rPr lang="zh-CN" altLang="en-US" sz="2000"/>
              <a:t>语句</a:t>
            </a:r>
            <a:r>
              <a:rPr lang="en-US" altLang="zh-CN" sz="2000"/>
              <a:t>2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zh-CN" sz="2000"/>
              <a:t>if</a:t>
            </a:r>
            <a:r>
              <a:rPr lang="zh-CN" altLang="en-US" sz="2000"/>
              <a:t>（表达式</a:t>
            </a:r>
            <a:r>
              <a:rPr lang="en-US" altLang="zh-CN" sz="2000"/>
              <a:t>1</a:t>
            </a:r>
            <a:r>
              <a:rPr lang="zh-CN" altLang="en-US" sz="2000"/>
              <a:t>）  语句</a:t>
            </a:r>
            <a:r>
              <a:rPr lang="en-US" altLang="zh-CN" sz="2000"/>
              <a:t>1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zh-CN" altLang="en-US" sz="2000"/>
              <a:t>     </a:t>
            </a:r>
            <a:r>
              <a:rPr lang="en-US" altLang="zh-CN" sz="2000"/>
              <a:t>else  if</a:t>
            </a:r>
            <a:r>
              <a:rPr lang="zh-CN" altLang="en-US" sz="2000"/>
              <a:t>（表达式</a:t>
            </a:r>
            <a:r>
              <a:rPr lang="en-US" altLang="zh-CN" sz="2000"/>
              <a:t>2</a:t>
            </a:r>
            <a:r>
              <a:rPr lang="zh-CN" altLang="en-US" sz="2000"/>
              <a:t>）语句</a:t>
            </a:r>
            <a:r>
              <a:rPr lang="en-US" altLang="zh-CN" sz="2000"/>
              <a:t>2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zh-CN" altLang="en-US" sz="2000"/>
              <a:t>     </a:t>
            </a:r>
            <a:r>
              <a:rPr lang="en-US" altLang="zh-CN" sz="2000"/>
              <a:t>else  if</a:t>
            </a:r>
            <a:r>
              <a:rPr lang="zh-CN" altLang="en-US" sz="2000"/>
              <a:t>（表达式</a:t>
            </a:r>
            <a:r>
              <a:rPr lang="en-US" altLang="zh-CN" sz="2000"/>
              <a:t>3</a:t>
            </a:r>
            <a:r>
              <a:rPr lang="zh-CN" altLang="en-US" sz="2000"/>
              <a:t>）语句</a:t>
            </a:r>
            <a:r>
              <a:rPr lang="en-US" altLang="zh-CN" sz="2000"/>
              <a:t>3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zh-CN" altLang="en-US" sz="2000"/>
              <a:t>           </a:t>
            </a:r>
            <a:r>
              <a:rPr lang="en-US" altLang="zh-CN" sz="2000"/>
              <a:t>……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en-US" altLang="zh-CN" sz="2000"/>
              <a:t>     else  if</a:t>
            </a:r>
            <a:r>
              <a:rPr lang="zh-CN" altLang="en-US" sz="2000"/>
              <a:t>（表达式</a:t>
            </a:r>
            <a:r>
              <a:rPr lang="en-US" altLang="zh-CN" sz="2000"/>
              <a:t>n</a:t>
            </a:r>
            <a:r>
              <a:rPr lang="zh-CN" altLang="en-US" sz="2000"/>
              <a:t>）语句</a:t>
            </a:r>
            <a:r>
              <a:rPr lang="en-US" altLang="zh-CN" sz="2000"/>
              <a:t>n</a:t>
            </a:r>
            <a:r>
              <a:rPr lang="zh-CN" altLang="en-US" sz="2000"/>
              <a:t>；</a:t>
            </a:r>
          </a:p>
          <a:p>
            <a:pPr>
              <a:spcBef>
                <a:spcPct val="30000"/>
              </a:spcBef>
              <a:buFontTx/>
              <a:buNone/>
            </a:pPr>
            <a:r>
              <a:rPr lang="zh-CN" altLang="en-US" sz="2000"/>
              <a:t>     </a:t>
            </a:r>
            <a:r>
              <a:rPr lang="en-US" altLang="zh-CN" sz="2000"/>
              <a:t>else  </a:t>
            </a:r>
            <a:r>
              <a:rPr lang="zh-CN" altLang="en-US" sz="2000"/>
              <a:t>语句</a:t>
            </a:r>
            <a:r>
              <a:rPr lang="en-US" altLang="zh-CN" sz="2000"/>
              <a:t>n+1</a:t>
            </a:r>
            <a:r>
              <a:rPr lang="zh-CN" altLang="en-US" sz="200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526721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A3715-99E3-2388-DE93-91F9F10A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Case</a:t>
            </a:r>
            <a:r>
              <a:rPr kumimoji="1" lang="zh-CN" altLang="en-US" dirty="0"/>
              <a:t>条件语句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480DF6-1034-8B6C-977F-46FC4193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DE67AD-8A03-079B-1B73-2DA8DD81D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25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44349B-5644-AA86-2DF9-0D26ABA16C7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49388"/>
            <a:ext cx="5084618" cy="392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/>
              <a:t>  case </a:t>
            </a:r>
            <a:r>
              <a:rPr lang="zh-CN" altLang="en-US"/>
              <a:t>（敏感表达式）</a:t>
            </a:r>
          </a:p>
          <a:p>
            <a:pPr>
              <a:buFontTx/>
              <a:buNone/>
            </a:pPr>
            <a:r>
              <a:rPr lang="zh-CN" altLang="en-US"/>
              <a:t>	   值</a:t>
            </a:r>
            <a:r>
              <a:rPr lang="en-US" altLang="zh-CN"/>
              <a:t>1</a:t>
            </a:r>
            <a:r>
              <a:rPr lang="zh-CN" altLang="en-US"/>
              <a:t>：语句</a:t>
            </a:r>
            <a:r>
              <a:rPr lang="en-US" altLang="zh-CN"/>
              <a:t>1</a:t>
            </a:r>
            <a:r>
              <a:rPr lang="zh-CN" altLang="en-US"/>
              <a:t>；</a:t>
            </a:r>
          </a:p>
          <a:p>
            <a:pPr>
              <a:buFontTx/>
              <a:buNone/>
            </a:pPr>
            <a:r>
              <a:rPr lang="zh-CN" altLang="en-US"/>
              <a:t>	   值</a:t>
            </a:r>
            <a:r>
              <a:rPr lang="en-US" altLang="zh-CN"/>
              <a:t>2</a:t>
            </a:r>
            <a:r>
              <a:rPr lang="zh-CN" altLang="en-US"/>
              <a:t>：语句</a:t>
            </a:r>
            <a:r>
              <a:rPr lang="en-US" altLang="zh-CN"/>
              <a:t>2</a:t>
            </a:r>
            <a:r>
              <a:rPr lang="zh-CN" altLang="en-US"/>
              <a:t>；</a:t>
            </a:r>
          </a:p>
          <a:p>
            <a:pPr>
              <a:buFontTx/>
              <a:buNone/>
            </a:pPr>
            <a:r>
              <a:rPr lang="zh-CN" altLang="en-US"/>
              <a:t>	      </a:t>
            </a:r>
            <a:r>
              <a:rPr lang="en-US" altLang="zh-CN"/>
              <a:t>……</a:t>
            </a:r>
          </a:p>
          <a:p>
            <a:pPr>
              <a:buFontTx/>
              <a:buNone/>
            </a:pPr>
            <a:r>
              <a:rPr lang="en-US" altLang="zh-CN"/>
              <a:t>	   </a:t>
            </a:r>
            <a:r>
              <a:rPr lang="zh-CN" altLang="en-US"/>
              <a:t>值</a:t>
            </a:r>
            <a:r>
              <a:rPr lang="en-US" altLang="zh-CN"/>
              <a:t>n</a:t>
            </a:r>
            <a:r>
              <a:rPr lang="zh-CN" altLang="en-US"/>
              <a:t>：语句</a:t>
            </a:r>
            <a:r>
              <a:rPr lang="en-US" altLang="zh-CN"/>
              <a:t>n</a:t>
            </a:r>
            <a:r>
              <a:rPr lang="zh-CN" altLang="en-US"/>
              <a:t>；</a:t>
            </a:r>
          </a:p>
          <a:p>
            <a:pPr>
              <a:buFontTx/>
              <a:buNone/>
            </a:pPr>
            <a:r>
              <a:rPr lang="zh-CN" altLang="en-US"/>
              <a:t>	   </a:t>
            </a:r>
            <a:r>
              <a:rPr lang="en-US" altLang="zh-CN"/>
              <a:t>default</a:t>
            </a:r>
            <a:r>
              <a:rPr lang="zh-CN" altLang="en-US"/>
              <a:t>：  语句</a:t>
            </a:r>
            <a:r>
              <a:rPr lang="en-US" altLang="zh-CN"/>
              <a:t>n+1</a:t>
            </a:r>
            <a:r>
              <a:rPr lang="zh-CN" altLang="en-US"/>
              <a:t>；</a:t>
            </a:r>
          </a:p>
          <a:p>
            <a:pPr>
              <a:buFontTx/>
              <a:buNone/>
            </a:pPr>
            <a:r>
              <a:rPr lang="en-US" altLang="zh-CN"/>
              <a:t>   endcase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606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23D25-A3EF-97C2-4549-1C67D94E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条件语句使用要点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E9100C-996D-7BCB-AF01-337218FAE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320184" cy="5947119"/>
          </a:xfrm>
        </p:spPr>
        <p:txBody>
          <a:bodyPr/>
          <a:lstStyle/>
          <a:p>
            <a:pPr algn="just"/>
            <a:r>
              <a:rPr lang="zh-CN" altLang="en-US" dirty="0"/>
              <a:t>描述组合电路时，应注意列出所有条件分支，否则编译器认为条件不满足时，会引进一个记忆单元（锁存器）来保持原值，从而产生时序电路而非组合电路</a:t>
            </a:r>
            <a:endParaRPr lang="en-US" altLang="zh-CN" dirty="0"/>
          </a:p>
          <a:p>
            <a:pPr algn="just"/>
            <a:endParaRPr kumimoji="1" lang="en-US" altLang="zh-CN" dirty="0"/>
          </a:p>
          <a:p>
            <a:pPr algn="just"/>
            <a:r>
              <a:rPr kumimoji="1" lang="zh-CN" altLang="en-US" dirty="0"/>
              <a:t>由于每个变量有</a:t>
            </a:r>
            <a:r>
              <a:rPr kumimoji="1" lang="en-US" altLang="zh-CN" dirty="0"/>
              <a:t>4</a:t>
            </a:r>
            <a:r>
              <a:rPr kumimoji="1" lang="zh-CN" altLang="en-US" dirty="0"/>
              <a:t>种取值，为包含所有分支，可在</a:t>
            </a:r>
            <a:r>
              <a:rPr kumimoji="1" lang="en-US" altLang="zh-CN" dirty="0"/>
              <a:t>if</a:t>
            </a:r>
            <a:r>
              <a:rPr kumimoji="1" lang="zh-CN" altLang="en-US" dirty="0"/>
              <a:t>语句后加上 </a:t>
            </a:r>
            <a:r>
              <a:rPr kumimoji="1" lang="en-US" altLang="zh-CN" dirty="0"/>
              <a:t>else</a:t>
            </a:r>
            <a:r>
              <a:rPr kumimoji="1" lang="zh-CN" altLang="en-US" dirty="0"/>
              <a:t>；在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语句后加上 </a:t>
            </a:r>
            <a:r>
              <a:rPr kumimoji="1" lang="en-US" altLang="zh-CN" dirty="0"/>
              <a:t>default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6CDA37-639F-A6E6-6809-B3ABB3A1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7F8DBF-4C28-337C-4640-1A0C103F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26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045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07C62-3D36-3166-C203-3010D368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：</a:t>
            </a:r>
            <a:r>
              <a:rPr lang="en-US" altLang="zh-CN" dirty="0">
                <a:ea typeface="+mn-ea"/>
                <a:cs typeface="Times New Roman" panose="02020603050405020304" pitchFamily="18" charset="0"/>
              </a:rPr>
              <a:t>Mux with Always (If)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A5914E-EBF8-DEDF-6954-9D912EF7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CB0F1F-FC49-EB3C-3516-994C2734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27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BE0372-8042-553A-A34E-18885AA5675A}"/>
              </a:ext>
            </a:extLst>
          </p:cNvPr>
          <p:cNvSpPr txBox="1">
            <a:spLocks noChangeArrowheads="1"/>
          </p:cNvSpPr>
          <p:nvPr/>
        </p:nvSpPr>
        <p:spPr>
          <a:xfrm>
            <a:off x="520267" y="1004887"/>
            <a:ext cx="4697412" cy="4848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/>
              <a:t>module mux4_1(</a:t>
            </a:r>
          </a:p>
          <a:p>
            <a:pPr>
              <a:buFontTx/>
              <a:buNone/>
            </a:pPr>
            <a:r>
              <a:rPr lang="en-US" altLang="zh-CN" sz="2400"/>
              <a:t>  output reg f,  </a:t>
            </a:r>
          </a:p>
          <a:p>
            <a:pPr>
              <a:buFontTx/>
              <a:buNone/>
            </a:pPr>
            <a:r>
              <a:rPr lang="en-US" altLang="zh-CN" sz="2400"/>
              <a:t>  input a, b, c, d,</a:t>
            </a:r>
          </a:p>
          <a:p>
            <a:pPr>
              <a:buFontTx/>
              <a:buNone/>
            </a:pPr>
            <a:r>
              <a:rPr lang="en-US" altLang="zh-CN" sz="2400"/>
              <a:t>  input [1:0] s);</a:t>
            </a:r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r>
              <a:rPr lang="en-US" altLang="zh-CN" sz="2400"/>
              <a:t>  always @(a, b, c, d, s)</a:t>
            </a:r>
          </a:p>
          <a:p>
            <a:pPr>
              <a:buFontTx/>
              <a:buNone/>
            </a:pPr>
            <a:r>
              <a:rPr lang="en-US" altLang="zh-CN" sz="2400"/>
              <a:t>     if (s = = 2’b00)  f = a;</a:t>
            </a:r>
          </a:p>
          <a:p>
            <a:pPr>
              <a:buFontTx/>
              <a:buNone/>
            </a:pPr>
            <a:r>
              <a:rPr lang="en-US" altLang="zh-CN" sz="2400"/>
              <a:t>        else  if (s = = 2’b01)  f = b;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else  if (s = = 2’b10)  f = c;</a:t>
            </a:r>
          </a:p>
          <a:p>
            <a:pPr>
              <a:buFontTx/>
              <a:buNone/>
            </a:pPr>
            <a:r>
              <a:rPr lang="en-US" altLang="zh-CN" sz="2400">
                <a:solidFill>
                  <a:srgbClr val="000000"/>
                </a:solidFill>
              </a:rPr>
              <a:t>        else  f = d;</a:t>
            </a:r>
          </a:p>
          <a:p>
            <a:pPr>
              <a:buFontTx/>
              <a:buNone/>
            </a:pPr>
            <a:r>
              <a:rPr lang="en-US" altLang="zh-CN" sz="2400"/>
              <a:t>endmodule</a:t>
            </a:r>
            <a:endParaRPr lang="en-US" altLang="zh-CN" sz="2400" dirty="0"/>
          </a:p>
        </p:txBody>
      </p:sp>
      <p:grpSp>
        <p:nvGrpSpPr>
          <p:cNvPr id="7" name="组合 1">
            <a:extLst>
              <a:ext uri="{FF2B5EF4-FFF2-40B4-BE49-F238E27FC236}">
                <a16:creationId xmlns:a16="http://schemas.microsoft.com/office/drawing/2014/main" id="{86BBC2A7-58E8-92EB-C369-BF5E08603729}"/>
              </a:ext>
            </a:extLst>
          </p:cNvPr>
          <p:cNvGrpSpPr>
            <a:grpSpLocks/>
          </p:cNvGrpSpPr>
          <p:nvPr/>
        </p:nvGrpSpPr>
        <p:grpSpPr bwMode="auto">
          <a:xfrm>
            <a:off x="5887720" y="1552286"/>
            <a:ext cx="2743200" cy="2527300"/>
            <a:chOff x="5462604" y="1593918"/>
            <a:chExt cx="2743289" cy="2527828"/>
          </a:xfrm>
        </p:grpSpPr>
        <p:sp>
          <p:nvSpPr>
            <p:cNvPr id="8" name="Line 53">
              <a:extLst>
                <a:ext uri="{FF2B5EF4-FFF2-40B4-BE49-F238E27FC236}">
                  <a16:creationId xmlns:a16="http://schemas.microsoft.com/office/drawing/2014/main" id="{70BD291B-1B4E-D710-6E63-5AE6E08807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3300434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54">
              <a:extLst>
                <a:ext uri="{FF2B5EF4-FFF2-40B4-BE49-F238E27FC236}">
                  <a16:creationId xmlns:a16="http://schemas.microsoft.com/office/drawing/2014/main" id="{B67D1D9C-7B9C-302F-68F0-A68EDA416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55">
              <a:extLst>
                <a:ext uri="{FF2B5EF4-FFF2-40B4-BE49-F238E27FC236}">
                  <a16:creationId xmlns:a16="http://schemas.microsoft.com/office/drawing/2014/main" id="{3589508B-9CFE-8CEF-1AA9-CA4082977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557474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56">
              <a:extLst>
                <a:ext uri="{FF2B5EF4-FFF2-40B4-BE49-F238E27FC236}">
                  <a16:creationId xmlns:a16="http://schemas.microsoft.com/office/drawing/2014/main" id="{AF5BE095-29CC-24B2-7D00-22874CB64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94786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57">
              <a:extLst>
                <a:ext uri="{FF2B5EF4-FFF2-40B4-BE49-F238E27FC236}">
                  <a16:creationId xmlns:a16="http://schemas.microsoft.com/office/drawing/2014/main" id="{FF30F307-6B14-72FE-9B6A-2F21BC76B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67640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13" name="Text Box 58">
              <a:extLst>
                <a:ext uri="{FF2B5EF4-FFF2-40B4-BE49-F238E27FC236}">
                  <a16:creationId xmlns:a16="http://schemas.microsoft.com/office/drawing/2014/main" id="{5B32889D-C510-3544-52EE-633055BA8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49456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14" name="Text Box 59">
              <a:extLst>
                <a:ext uri="{FF2B5EF4-FFF2-40B4-BE49-F238E27FC236}">
                  <a16:creationId xmlns:a16="http://schemas.microsoft.com/office/drawing/2014/main" id="{4AAE09C5-3178-F0F1-2254-6F3E6905A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540" y="3536971"/>
              <a:ext cx="34496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s</a:t>
              </a:r>
            </a:p>
          </p:txBody>
        </p:sp>
        <p:sp>
          <p:nvSpPr>
            <p:cNvPr id="15" name="Text Box 60">
              <a:extLst>
                <a:ext uri="{FF2B5EF4-FFF2-40B4-BE49-F238E27FC236}">
                  <a16:creationId xmlns:a16="http://schemas.microsoft.com/office/drawing/2014/main" id="{230F7615-46B5-A731-F03E-44BF2AEBA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2265374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16" name="Text Box 62">
              <a:extLst>
                <a:ext uri="{FF2B5EF4-FFF2-40B4-BE49-F238E27FC236}">
                  <a16:creationId xmlns:a16="http://schemas.microsoft.com/office/drawing/2014/main" id="{C3545738-0540-0B87-1822-F3EB76F4B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704975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17" name="Text Box 63">
              <a:extLst>
                <a:ext uri="{FF2B5EF4-FFF2-40B4-BE49-F238E27FC236}">
                  <a16:creationId xmlns:a16="http://schemas.microsoft.com/office/drawing/2014/main" id="{42AD6AEF-75A0-0B05-2839-DEBF66E81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18" name="梯形 17">
              <a:extLst>
                <a:ext uri="{FF2B5EF4-FFF2-40B4-BE49-F238E27FC236}">
                  <a16:creationId xmlns:a16="http://schemas.microsoft.com/office/drawing/2014/main" id="{2AAD797B-4BFA-65EC-34F3-91D369A4819A}"/>
                </a:ext>
              </a:extLst>
            </p:cNvPr>
            <p:cNvSpPr/>
            <p:nvPr/>
          </p:nvSpPr>
          <p:spPr>
            <a:xfrm rot="5400000">
              <a:off x="5964896" y="2193387"/>
              <a:ext cx="1906986" cy="708048"/>
            </a:xfrm>
            <a:prstGeom prst="trapezoid">
              <a:avLst>
                <a:gd name="adj" fmla="val 4823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9" name="Text Box 62">
              <a:extLst>
                <a:ext uri="{FF2B5EF4-FFF2-40B4-BE49-F238E27FC236}">
                  <a16:creationId xmlns:a16="http://schemas.microsoft.com/office/drawing/2014/main" id="{AA6BD851-B1B0-EBAB-93F6-6054A0C6E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253364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  <p:sp>
          <p:nvSpPr>
            <p:cNvPr id="20" name="Text Box 63">
              <a:extLst>
                <a:ext uri="{FF2B5EF4-FFF2-40B4-BE49-F238E27FC236}">
                  <a16:creationId xmlns:a16="http://schemas.microsoft.com/office/drawing/2014/main" id="{0ADE781D-7E0C-8419-B957-EA329F3AD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97337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3</a:t>
              </a:r>
            </a:p>
          </p:txBody>
        </p:sp>
        <p:sp>
          <p:nvSpPr>
            <p:cNvPr id="21" name="Line 54">
              <a:extLst>
                <a:ext uri="{FF2B5EF4-FFF2-40B4-BE49-F238E27FC236}">
                  <a16:creationId xmlns:a16="http://schemas.microsoft.com/office/drawing/2014/main" id="{0AE2CFB4-C334-EF9B-0351-13FE74E6C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315435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56">
              <a:extLst>
                <a:ext uri="{FF2B5EF4-FFF2-40B4-BE49-F238E27FC236}">
                  <a16:creationId xmlns:a16="http://schemas.microsoft.com/office/drawing/2014/main" id="{AD38178B-2D5D-6A39-F9BF-A2B5D788E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74795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57">
              <a:extLst>
                <a:ext uri="{FF2B5EF4-FFF2-40B4-BE49-F238E27FC236}">
                  <a16:creationId xmlns:a16="http://schemas.microsoft.com/office/drawing/2014/main" id="{7F37F04F-5185-9DF7-73D3-990694CE9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2476496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c</a:t>
              </a:r>
            </a:p>
          </p:txBody>
        </p:sp>
        <p:sp>
          <p:nvSpPr>
            <p:cNvPr id="24" name="Text Box 58">
              <a:extLst>
                <a:ext uri="{FF2B5EF4-FFF2-40B4-BE49-F238E27FC236}">
                  <a16:creationId xmlns:a16="http://schemas.microsoft.com/office/drawing/2014/main" id="{6B4B282C-656C-71DC-4317-9521FD5C9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2604" y="286384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d</a:t>
              </a:r>
            </a:p>
          </p:txBody>
        </p:sp>
        <p:sp>
          <p:nvSpPr>
            <p:cNvPr id="25" name="Line 56">
              <a:extLst>
                <a:ext uri="{FF2B5EF4-FFF2-40B4-BE49-F238E27FC236}">
                  <a16:creationId xmlns:a16="http://schemas.microsoft.com/office/drawing/2014/main" id="{9004410A-E988-85CF-2F78-7D864DC1F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494" y="3619496"/>
              <a:ext cx="238107" cy="1095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62">
              <a:extLst>
                <a:ext uri="{FF2B5EF4-FFF2-40B4-BE49-F238E27FC236}">
                  <a16:creationId xmlns:a16="http://schemas.microsoft.com/office/drawing/2014/main" id="{72A47A9F-5B86-6E37-F983-B934E12B5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806" y="3476622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206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C3BAE-CF8E-4F96-E573-A4A36B8FE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</a:t>
            </a:r>
            <a:r>
              <a:rPr lang="zh-CN" altLang="en-US" dirty="0">
                <a:latin typeface="宋体" panose="02010600030101010101" pitchFamily="2" charset="-122"/>
              </a:rPr>
              <a:t>─</a:t>
            </a:r>
            <a:r>
              <a:rPr lang="en-US" altLang="zh-CN" dirty="0"/>
              <a:t> Mux with </a:t>
            </a:r>
            <a:r>
              <a:rPr lang="en-US" altLang="zh-CN" dirty="0">
                <a:cs typeface="Times New Roman" panose="02020603050405020304" pitchFamily="18" charset="0"/>
              </a:rPr>
              <a:t>Always(Case)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217DFF1-4E2E-BBE2-A1A0-B3F99AD1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5D3E70-677A-DBD7-3224-A4E1AC93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28</a:t>
            </a:fld>
            <a:r>
              <a:rPr lang="en-US" altLang="zh-CN" dirty="0"/>
              <a:t>/29</a:t>
            </a:r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725E95C-78C5-67C4-6FB7-5FE7EE90902C}"/>
              </a:ext>
            </a:extLst>
          </p:cNvPr>
          <p:cNvSpPr txBox="1">
            <a:spLocks noChangeArrowheads="1"/>
          </p:cNvSpPr>
          <p:nvPr/>
        </p:nvSpPr>
        <p:spPr>
          <a:xfrm>
            <a:off x="668338" y="1033353"/>
            <a:ext cx="4284662" cy="49768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module mux4_1(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input a, b, c, d,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input [1:0] s,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output reg f );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always @(a, b, c, d, s)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    case (s)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         2'b00:  f = a; 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         2'b01:  f = b; 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         2'b10:  f = c; </a:t>
            </a:r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         </a:t>
            </a:r>
            <a:r>
              <a:rPr kumimoji="1" lang="en-US" altLang="zh-CN" sz="2400" dirty="0"/>
              <a:t>default:  f = d;</a:t>
            </a:r>
            <a:endParaRPr lang="en-US" altLang="zh-CN" sz="2400" dirty="0"/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/>
              <a:t>        </a:t>
            </a:r>
            <a:r>
              <a:rPr lang="en-US" altLang="zh-CN" sz="2400" dirty="0" err="1"/>
              <a:t>endcase</a:t>
            </a:r>
            <a:r>
              <a:rPr lang="en-US" altLang="zh-CN" sz="2400" dirty="0"/>
              <a:t> </a:t>
            </a:r>
            <a:endParaRPr lang="en-US" altLang="zh-CN" sz="1200" dirty="0"/>
          </a:p>
          <a:p>
            <a:pPr>
              <a:spcAft>
                <a:spcPts val="300"/>
              </a:spcAft>
              <a:buFontTx/>
              <a:buNone/>
            </a:pPr>
            <a:r>
              <a:rPr lang="en-US" altLang="zh-CN" sz="2400" dirty="0" err="1"/>
              <a:t>endmodule</a:t>
            </a:r>
            <a:endParaRPr lang="en-US" altLang="zh-CN" sz="2400" dirty="0"/>
          </a:p>
        </p:txBody>
      </p:sp>
      <p:grpSp>
        <p:nvGrpSpPr>
          <p:cNvPr id="27" name="组合 1">
            <a:extLst>
              <a:ext uri="{FF2B5EF4-FFF2-40B4-BE49-F238E27FC236}">
                <a16:creationId xmlns:a16="http://schemas.microsoft.com/office/drawing/2014/main" id="{AB1FEECE-19AD-0B4B-7B22-BF008BBA7498}"/>
              </a:ext>
            </a:extLst>
          </p:cNvPr>
          <p:cNvGrpSpPr>
            <a:grpSpLocks/>
          </p:cNvGrpSpPr>
          <p:nvPr/>
        </p:nvGrpSpPr>
        <p:grpSpPr bwMode="auto">
          <a:xfrm>
            <a:off x="5887720" y="1552286"/>
            <a:ext cx="2743200" cy="2527300"/>
            <a:chOff x="5462604" y="1593918"/>
            <a:chExt cx="2743289" cy="2527828"/>
          </a:xfrm>
        </p:grpSpPr>
        <p:sp>
          <p:nvSpPr>
            <p:cNvPr id="28" name="Line 53">
              <a:extLst>
                <a:ext uri="{FF2B5EF4-FFF2-40B4-BE49-F238E27FC236}">
                  <a16:creationId xmlns:a16="http://schemas.microsoft.com/office/drawing/2014/main" id="{ABBDB67A-B3DC-5F46-C7BC-8F8464471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78668" y="3300434"/>
              <a:ext cx="0" cy="654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54">
              <a:extLst>
                <a:ext uri="{FF2B5EF4-FFF2-40B4-BE49-F238E27FC236}">
                  <a16:creationId xmlns:a16="http://schemas.microsoft.com/office/drawing/2014/main" id="{C9127BFA-3670-6361-2312-67C72BD57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33996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55">
              <a:extLst>
                <a:ext uri="{FF2B5EF4-FFF2-40B4-BE49-F238E27FC236}">
                  <a16:creationId xmlns:a16="http://schemas.microsoft.com/office/drawing/2014/main" id="{59649075-0C4A-94D4-A86A-A9719CCDD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67588" y="2557474"/>
              <a:ext cx="55721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56">
              <a:extLst>
                <a:ext uri="{FF2B5EF4-FFF2-40B4-BE49-F238E27FC236}">
                  <a16:creationId xmlns:a16="http://schemas.microsoft.com/office/drawing/2014/main" id="{F8892608-6E7A-CDC1-4D68-59F4A8FFA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194786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57">
              <a:extLst>
                <a:ext uri="{FF2B5EF4-FFF2-40B4-BE49-F238E27FC236}">
                  <a16:creationId xmlns:a16="http://schemas.microsoft.com/office/drawing/2014/main" id="{DCA81F49-BA55-A4A9-F7E4-E5322E582F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1676400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a</a:t>
              </a:r>
            </a:p>
          </p:txBody>
        </p:sp>
        <p:sp>
          <p:nvSpPr>
            <p:cNvPr id="33" name="Text Box 58">
              <a:extLst>
                <a:ext uri="{FF2B5EF4-FFF2-40B4-BE49-F238E27FC236}">
                  <a16:creationId xmlns:a16="http://schemas.microsoft.com/office/drawing/2014/main" id="{92EE2603-F326-D651-2423-DD6A2D6BF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180" y="2049456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b</a:t>
              </a:r>
            </a:p>
          </p:txBody>
        </p:sp>
        <p:sp>
          <p:nvSpPr>
            <p:cNvPr id="34" name="Text Box 59">
              <a:extLst>
                <a:ext uri="{FF2B5EF4-FFF2-40B4-BE49-F238E27FC236}">
                  <a16:creationId xmlns:a16="http://schemas.microsoft.com/office/drawing/2014/main" id="{C931E6DC-AD94-2134-946C-E0FED7489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540" y="3536971"/>
              <a:ext cx="34496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3200" b="0"/>
                <a:t>s</a:t>
              </a:r>
            </a:p>
          </p:txBody>
        </p:sp>
        <p:sp>
          <p:nvSpPr>
            <p:cNvPr id="35" name="Text Box 60">
              <a:extLst>
                <a:ext uri="{FF2B5EF4-FFF2-40B4-BE49-F238E27FC236}">
                  <a16:creationId xmlns:a16="http://schemas.microsoft.com/office/drawing/2014/main" id="{32698AD0-92B3-E1E2-2DAC-0A9232BD7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1001" y="2265374"/>
              <a:ext cx="30489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f</a:t>
              </a:r>
            </a:p>
          </p:txBody>
        </p:sp>
        <p:sp>
          <p:nvSpPr>
            <p:cNvPr id="36" name="Text Box 62">
              <a:extLst>
                <a:ext uri="{FF2B5EF4-FFF2-40B4-BE49-F238E27FC236}">
                  <a16:creationId xmlns:a16="http://schemas.microsoft.com/office/drawing/2014/main" id="{5D2326F4-7954-2405-A905-831316868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1704975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0</a:t>
              </a:r>
            </a:p>
          </p:txBody>
        </p:sp>
        <p:sp>
          <p:nvSpPr>
            <p:cNvPr id="37" name="Text Box 63">
              <a:extLst>
                <a:ext uri="{FF2B5EF4-FFF2-40B4-BE49-F238E27FC236}">
                  <a16:creationId xmlns:a16="http://schemas.microsoft.com/office/drawing/2014/main" id="{7A81B7A6-78C1-BA00-E8BA-70CE0F2AD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14470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1</a:t>
              </a:r>
            </a:p>
          </p:txBody>
        </p:sp>
        <p:sp>
          <p:nvSpPr>
            <p:cNvPr id="38" name="梯形 37">
              <a:extLst>
                <a:ext uri="{FF2B5EF4-FFF2-40B4-BE49-F238E27FC236}">
                  <a16:creationId xmlns:a16="http://schemas.microsoft.com/office/drawing/2014/main" id="{DB5CB645-3463-545C-4541-FAEA4850F9EC}"/>
                </a:ext>
              </a:extLst>
            </p:cNvPr>
            <p:cNvSpPr/>
            <p:nvPr/>
          </p:nvSpPr>
          <p:spPr>
            <a:xfrm rot="5400000">
              <a:off x="5964896" y="2193387"/>
              <a:ext cx="1906986" cy="708048"/>
            </a:xfrm>
            <a:prstGeom prst="trapezoid">
              <a:avLst>
                <a:gd name="adj" fmla="val 48235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9" name="Text Box 62">
              <a:extLst>
                <a:ext uri="{FF2B5EF4-FFF2-40B4-BE49-F238E27FC236}">
                  <a16:creationId xmlns:a16="http://schemas.microsoft.com/office/drawing/2014/main" id="{5D033C53-EBB0-1147-E000-B42663EF2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5456" y="2533647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  <p:sp>
          <p:nvSpPr>
            <p:cNvPr id="40" name="Text Box 63">
              <a:extLst>
                <a:ext uri="{FF2B5EF4-FFF2-40B4-BE49-F238E27FC236}">
                  <a16:creationId xmlns:a16="http://schemas.microsoft.com/office/drawing/2014/main" id="{A05C92B6-B453-986C-C565-7D63DBEE8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4343" y="2973379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3</a:t>
              </a:r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21888C2C-4436-D917-0C7A-59EBE7C80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3154353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56">
              <a:extLst>
                <a:ext uri="{FF2B5EF4-FFF2-40B4-BE49-F238E27FC236}">
                  <a16:creationId xmlns:a16="http://schemas.microsoft.com/office/drawing/2014/main" id="{B132D148-A4BB-1631-E266-171BDA3BC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05530" y="2747959"/>
              <a:ext cx="555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57">
              <a:extLst>
                <a:ext uri="{FF2B5EF4-FFF2-40B4-BE49-F238E27FC236}">
                  <a16:creationId xmlns:a16="http://schemas.microsoft.com/office/drawing/2014/main" id="{08A4B0F4-D92F-5566-8B2C-166AE4994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8493" y="2476496"/>
              <a:ext cx="15869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c</a:t>
              </a:r>
            </a:p>
          </p:txBody>
        </p:sp>
        <p:sp>
          <p:nvSpPr>
            <p:cNvPr id="44" name="Text Box 58">
              <a:extLst>
                <a:ext uri="{FF2B5EF4-FFF2-40B4-BE49-F238E27FC236}">
                  <a16:creationId xmlns:a16="http://schemas.microsoft.com/office/drawing/2014/main" id="{A0D554F2-A7AF-55C5-65E3-23F9FB763E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2604" y="2863840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b="0"/>
                <a:t>d</a:t>
              </a:r>
            </a:p>
          </p:txBody>
        </p:sp>
        <p:sp>
          <p:nvSpPr>
            <p:cNvPr id="45" name="Line 56">
              <a:extLst>
                <a:ext uri="{FF2B5EF4-FFF2-40B4-BE49-F238E27FC236}">
                  <a16:creationId xmlns:a16="http://schemas.microsoft.com/office/drawing/2014/main" id="{DFEDC675-20C2-5DB3-039C-75BC23B7E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494" y="3619496"/>
              <a:ext cx="238107" cy="1095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62">
              <a:extLst>
                <a:ext uri="{FF2B5EF4-FFF2-40B4-BE49-F238E27FC236}">
                  <a16:creationId xmlns:a16="http://schemas.microsoft.com/office/drawing/2014/main" id="{0C734D24-04F3-A8DE-3980-049D50B9C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9806" y="3476622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550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/>
              <a:t>P76</a:t>
            </a:r>
          </a:p>
          <a:p>
            <a:pPr lvl="1"/>
            <a:r>
              <a:rPr lang="en-US" altLang="zh-CN" dirty="0"/>
              <a:t>2.5.5, 2.5.6</a:t>
            </a:r>
            <a:r>
              <a:rPr lang="zh-CN" altLang="en-US" dirty="0"/>
              <a:t>，</a:t>
            </a:r>
            <a:r>
              <a:rPr lang="en-US" altLang="zh-CN" dirty="0"/>
              <a:t>2.5.8</a:t>
            </a:r>
            <a:r>
              <a:rPr lang="zh-CN" altLang="en-US" dirty="0"/>
              <a:t>，</a:t>
            </a:r>
            <a:r>
              <a:rPr lang="en-US" altLang="zh-CN" dirty="0"/>
              <a:t>2.5.10</a:t>
            </a:r>
          </a:p>
          <a:p>
            <a:r>
              <a:rPr lang="en-US" altLang="zh-CN" dirty="0"/>
              <a:t>P217-219</a:t>
            </a:r>
          </a:p>
          <a:p>
            <a:pPr lvl="1"/>
            <a:r>
              <a:rPr lang="en-US" altLang="zh-CN" dirty="0"/>
              <a:t>4.6.3</a:t>
            </a:r>
            <a:r>
              <a:rPr lang="zh-CN" altLang="en-US" dirty="0"/>
              <a:t>，</a:t>
            </a:r>
            <a:r>
              <a:rPr lang="en-US" altLang="zh-CN" dirty="0"/>
              <a:t>4.6.5</a:t>
            </a:r>
            <a:r>
              <a:rPr lang="zh-CN" altLang="en-US" dirty="0"/>
              <a:t>，</a:t>
            </a:r>
            <a:r>
              <a:rPr lang="en-US" altLang="zh-CN" dirty="0"/>
              <a:t>4.6.10</a:t>
            </a:r>
            <a:r>
              <a:rPr lang="zh-CN" altLang="en-US" dirty="0"/>
              <a:t>（如不会可自行编译并查看报错）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9. Verilog HDL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29</a:t>
            </a:fld>
            <a:r>
              <a:rPr lang="en-US" altLang="zh-CN" dirty="0"/>
              <a:t>/29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19160</TotalTime>
  <Words>3629</Words>
  <Application>Microsoft Macintosh PowerPoint</Application>
  <PresentationFormat>A4 纸张(210x297 毫米)</PresentationFormat>
  <Paragraphs>571</Paragraphs>
  <Slides>29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等线</vt:lpstr>
      <vt:lpstr>FangSong</vt:lpstr>
      <vt:lpstr>黑体</vt:lpstr>
      <vt:lpstr>楷体_GB2312</vt:lpstr>
      <vt:lpstr>宋体</vt:lpstr>
      <vt:lpstr>Microsoft YaHei</vt:lpstr>
      <vt:lpstr>Microsoft YaHei</vt:lpstr>
      <vt:lpstr>ＭＳ ゴシック</vt:lpstr>
      <vt:lpstr>MSTT3195ed4ebao296107S00</vt:lpstr>
      <vt:lpstr>Arial</vt:lpstr>
      <vt:lpstr>Arial Black</vt:lpstr>
      <vt:lpstr>Cambria</vt:lpstr>
      <vt:lpstr>Courier-Bold</vt:lpstr>
      <vt:lpstr>Times New Roman</vt:lpstr>
      <vt:lpstr>Wingdings</vt:lpstr>
      <vt:lpstr>Office-Design</vt:lpstr>
      <vt:lpstr>  模拟与数字电路 Analog and Digital Circuits</vt:lpstr>
      <vt:lpstr>内容提纲</vt:lpstr>
      <vt:lpstr>硬件描述语言概述</vt:lpstr>
      <vt:lpstr>提问</vt:lpstr>
      <vt:lpstr>示例：Mux with Assign</vt:lpstr>
      <vt:lpstr>HDL主要特征</vt:lpstr>
      <vt:lpstr>Verilog HDL与 C语言对比</vt:lpstr>
      <vt:lpstr>CPU（串行）收购FPGA（并行）</vt:lpstr>
      <vt:lpstr>Verilog HDL基本语法</vt:lpstr>
      <vt:lpstr>Verilog HDL基本语法 (续1)</vt:lpstr>
      <vt:lpstr>Verilog HDL基本语法 (续2)</vt:lpstr>
      <vt:lpstr>常量</vt:lpstr>
      <vt:lpstr>符号常量</vt:lpstr>
      <vt:lpstr>变量数据类型</vt:lpstr>
      <vt:lpstr>Verilog HDL程序基本结构</vt:lpstr>
      <vt:lpstr>VerilogHDL描述组合逻辑电路</vt:lpstr>
      <vt:lpstr>基本门级元件</vt:lpstr>
      <vt:lpstr>多输入门和多输出门</vt:lpstr>
      <vt:lpstr>三态门</vt:lpstr>
      <vt:lpstr>示例─ Mux with Primitives（原函数）</vt:lpstr>
      <vt:lpstr>赋值语句</vt:lpstr>
      <vt:lpstr>Verilog HDL运算符</vt:lpstr>
      <vt:lpstr>示例：Mux with Assign</vt:lpstr>
      <vt:lpstr>if条件语句</vt:lpstr>
      <vt:lpstr>Case条件语句</vt:lpstr>
      <vt:lpstr>条件语句使用要点</vt:lpstr>
      <vt:lpstr>示例：Mux with Always (If)</vt:lpstr>
      <vt:lpstr>示例─ Mux with Always(Case)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2533</cp:revision>
  <cp:lastPrinted>2020-05-26T13:24:01Z</cp:lastPrinted>
  <dcterms:created xsi:type="dcterms:W3CDTF">2020-04-07T12:23:01Z</dcterms:created>
  <dcterms:modified xsi:type="dcterms:W3CDTF">2024-10-08T01:24:18Z</dcterms:modified>
</cp:coreProperties>
</file>