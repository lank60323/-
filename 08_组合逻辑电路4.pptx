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handoutMasterIdLst>
    <p:handoutMasterId r:id="rId28"/>
  </p:handoutMasterIdLst>
  <p:sldIdLst>
    <p:sldId id="256" r:id="rId2"/>
    <p:sldId id="513" r:id="rId3"/>
    <p:sldId id="514" r:id="rId4"/>
    <p:sldId id="515" r:id="rId5"/>
    <p:sldId id="516" r:id="rId6"/>
    <p:sldId id="517" r:id="rId7"/>
    <p:sldId id="535" r:id="rId8"/>
    <p:sldId id="536"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1" r:id="rId23"/>
    <p:sldId id="532" r:id="rId24"/>
    <p:sldId id="533" r:id="rId25"/>
    <p:sldId id="511" r:id="rId26"/>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21"/>
    <p:restoredTop sz="81860"/>
  </p:normalViewPr>
  <p:slideViewPr>
    <p:cSldViewPr snapToGrid="0" snapToObjects="1">
      <p:cViewPr varScale="1">
        <p:scale>
          <a:sx n="85" d="100"/>
          <a:sy n="85" d="100"/>
        </p:scale>
        <p:origin x="1736" y="184"/>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2024/10/8</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2024/10/8</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用来比较两个二进制数的数值大小；</a:t>
            </a:r>
            <a:r>
              <a:rPr lang="en-US" altLang="zh-CN" sz="1200" kern="1200" dirty="0">
                <a:solidFill>
                  <a:schemeClr val="tx1"/>
                </a:solidFill>
                <a:effectLst/>
                <a:latin typeface="Arial" pitchFamily="34" charset="0"/>
                <a:ea typeface="宋体" pitchFamily="2" charset="-122"/>
                <a:cs typeface="宋体" charset="0"/>
              </a:rPr>
              <a:t>FA=B</a:t>
            </a:r>
            <a:r>
              <a:rPr lang="zh-CN" altLang="zh-CN" sz="1200" kern="1200" dirty="0">
                <a:solidFill>
                  <a:schemeClr val="tx1"/>
                </a:solidFill>
                <a:effectLst/>
                <a:latin typeface="Arial" pitchFamily="34" charset="0"/>
                <a:ea typeface="宋体" pitchFamily="2" charset="-122"/>
                <a:cs typeface="宋体" charset="0"/>
              </a:rPr>
              <a:t>的情况并没有直接用左边公式，而是，如果既不满足</a:t>
            </a:r>
            <a:r>
              <a:rPr lang="en-US" altLang="zh-CN" sz="1200" kern="1200" dirty="0">
                <a:solidFill>
                  <a:schemeClr val="tx1"/>
                </a:solidFill>
                <a:effectLst/>
                <a:latin typeface="Arial" pitchFamily="34" charset="0"/>
                <a:ea typeface="宋体" pitchFamily="2" charset="-122"/>
                <a:cs typeface="宋体" charset="0"/>
              </a:rPr>
              <a:t>A&gt;B</a:t>
            </a:r>
            <a:r>
              <a:rPr lang="zh-CN" altLang="zh-CN" sz="1200" kern="1200" dirty="0">
                <a:solidFill>
                  <a:schemeClr val="tx1"/>
                </a:solidFill>
                <a:effectLst/>
                <a:latin typeface="Arial" pitchFamily="34" charset="0"/>
                <a:ea typeface="宋体" pitchFamily="2" charset="-122"/>
                <a:cs typeface="宋体" charset="0"/>
              </a:rPr>
              <a:t>，也不满足</a:t>
            </a:r>
            <a:r>
              <a:rPr lang="en-US" altLang="zh-CN" sz="1200" kern="1200" dirty="0">
                <a:solidFill>
                  <a:schemeClr val="tx1"/>
                </a:solidFill>
                <a:effectLst/>
                <a:latin typeface="Arial" pitchFamily="34" charset="0"/>
                <a:ea typeface="宋体" pitchFamily="2" charset="-122"/>
                <a:cs typeface="宋体" charset="0"/>
              </a:rPr>
              <a:t>A&lt;B</a:t>
            </a:r>
            <a:r>
              <a:rPr lang="zh-CN" altLang="zh-CN" sz="1200" kern="1200" dirty="0">
                <a:solidFill>
                  <a:schemeClr val="tx1"/>
                </a:solidFill>
                <a:effectLst/>
                <a:latin typeface="Arial" pitchFamily="34" charset="0"/>
                <a:ea typeface="宋体" pitchFamily="2" charset="-122"/>
                <a:cs typeface="宋体" charset="0"/>
              </a:rPr>
              <a:t>，那么一定满足</a:t>
            </a:r>
            <a:r>
              <a:rPr lang="en-US" altLang="zh-CN" sz="1200" kern="1200" dirty="0">
                <a:solidFill>
                  <a:schemeClr val="tx1"/>
                </a:solidFill>
                <a:effectLst/>
                <a:latin typeface="Arial" pitchFamily="34" charset="0"/>
                <a:ea typeface="宋体" pitchFamily="2" charset="-122"/>
                <a:cs typeface="宋体" charset="0"/>
              </a:rPr>
              <a:t>A=B</a:t>
            </a:r>
            <a:r>
              <a:rPr lang="zh-CN" altLang="zh-CN" sz="1200" kern="1200" dirty="0">
                <a:solidFill>
                  <a:schemeClr val="tx1"/>
                </a:solidFill>
                <a:effectLst/>
                <a:latin typeface="Arial" pitchFamily="34" charset="0"/>
                <a:ea typeface="宋体" pitchFamily="2" charset="-122"/>
                <a:cs typeface="宋体" charset="0"/>
              </a:rPr>
              <a:t>。</a:t>
            </a:r>
            <a:r>
              <a:rPr lang="zh-CN" altLang="zh-CN" dirty="0">
                <a:effectLst/>
              </a:rPr>
              <a:t> </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2629803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原理：从高位比起，只有高位相等，才比较下一位</a:t>
            </a:r>
          </a:p>
          <a:p>
            <a:endParaRPr kumimoji="1" lang="zh-CN" altLang="en-US"/>
          </a:p>
        </p:txBody>
      </p:sp>
      <p:sp>
        <p:nvSpPr>
          <p:cNvPr id="4" name="灯片编号占位符 3"/>
          <p:cNvSpPr>
            <a:spLocks noGrp="1"/>
          </p:cNvSpPr>
          <p:nvPr>
            <p:ph type="sldNum" sz="quarter" idx="5"/>
          </p:nvPr>
        </p:nvSpPr>
        <p:spPr/>
        <p:txBody>
          <a:bodyPr/>
          <a:lstStyle/>
          <a:p>
            <a:fld id="{6BB7EB77-94AC-4128-8DFB-759E46F1AD99}" type="slidenum">
              <a:rPr lang="zh-CN" altLang="en-US" smtClean="0"/>
              <a:t>4</a:t>
            </a:fld>
            <a:endParaRPr lang="zh-CN" altLang="en-US"/>
          </a:p>
        </p:txBody>
      </p:sp>
    </p:spTree>
    <p:extLst>
      <p:ext uri="{BB962C8B-B14F-4D97-AF65-F5344CB8AC3E}">
        <p14:creationId xmlns:p14="http://schemas.microsoft.com/office/powerpoint/2010/main" val="2097548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IA&lt;B, IA=B, IA&gt;B</a:t>
            </a:r>
            <a:r>
              <a:rPr kumimoji="1" lang="zh-CN" altLang="en-US" dirty="0"/>
              <a:t>是来自低位的比较结果，供片间连接时用，当本片的</a:t>
            </a:r>
            <a:r>
              <a:rPr kumimoji="1" lang="en-US" altLang="zh-CN" dirty="0"/>
              <a:t>A=B</a:t>
            </a:r>
            <a:r>
              <a:rPr kumimoji="1" lang="zh-CN" altLang="en-US" dirty="0"/>
              <a:t>时，输出</a:t>
            </a:r>
            <a:r>
              <a:rPr kumimoji="1" lang="en-US" altLang="zh-CN" dirty="0"/>
              <a:t>F</a:t>
            </a:r>
            <a:r>
              <a:rPr kumimoji="1" lang="zh-CN" altLang="en-US" dirty="0"/>
              <a:t>三线等于输入</a:t>
            </a:r>
            <a:r>
              <a:rPr kumimoji="1" lang="en-US" altLang="zh-CN" dirty="0"/>
              <a:t>I</a:t>
            </a:r>
            <a:r>
              <a:rPr kumimoji="1" lang="zh-CN" altLang="en-US" dirty="0"/>
              <a:t>三线</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9</a:t>
            </a:fld>
            <a:endParaRPr lang="zh-CN" altLang="en-US"/>
          </a:p>
        </p:txBody>
      </p:sp>
    </p:spTree>
    <p:extLst>
      <p:ext uri="{BB962C8B-B14F-4D97-AF65-F5344CB8AC3E}">
        <p14:creationId xmlns:p14="http://schemas.microsoft.com/office/powerpoint/2010/main" val="4142025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全加器中规摸集成组件</a:t>
            </a:r>
            <a:r>
              <a:rPr kumimoji="1" lang="en-US" altLang="zh-CN" dirty="0">
                <a:solidFill>
                  <a:srgbClr val="000000"/>
                </a:solidFill>
              </a:rPr>
              <a:t>74LS183</a:t>
            </a:r>
          </a:p>
          <a:p>
            <a:r>
              <a:rPr lang="zh-CN" altLang="zh-CN" dirty="0"/>
              <a:t>【证明】</a:t>
            </a:r>
            <a:r>
              <a:rPr lang="en-US" altLang="zh-CN" dirty="0"/>
              <a:t>A</a:t>
            </a:r>
            <a:r>
              <a:rPr lang="zh-CN" altLang="zh-CN" dirty="0"/>
              <a:t>⊕</a:t>
            </a:r>
            <a:r>
              <a:rPr lang="en-US" altLang="zh-CN" dirty="0"/>
              <a:t>B</a:t>
            </a:r>
            <a:r>
              <a:rPr lang="zh-CN" altLang="zh-CN" dirty="0"/>
              <a:t>⊕</a:t>
            </a:r>
            <a:r>
              <a:rPr lang="en-US" altLang="zh-CN" dirty="0"/>
              <a:t>+C</a:t>
            </a:r>
            <a:r>
              <a:rPr lang="zh-CN" altLang="en-US" dirty="0"/>
              <a:t>展开</a:t>
            </a:r>
            <a:endParaRPr lang="zh-CN" altLang="zh-CN" dirty="0"/>
          </a:p>
          <a:p>
            <a:r>
              <a:rPr lang="en-US" altLang="zh-CN" dirty="0"/>
              <a:t>A</a:t>
            </a:r>
            <a:r>
              <a:rPr lang="zh-CN" altLang="zh-CN" dirty="0"/>
              <a:t>⊕</a:t>
            </a:r>
            <a:r>
              <a:rPr lang="en-US" altLang="zh-CN" dirty="0"/>
              <a:t>B = /A*B +A*/B</a:t>
            </a:r>
            <a:endParaRPr lang="zh-CN" altLang="zh-CN" dirty="0"/>
          </a:p>
          <a:p>
            <a:r>
              <a:rPr lang="en-US" altLang="zh-CN" dirty="0"/>
              <a:t>A</a:t>
            </a:r>
            <a:r>
              <a:rPr lang="zh-CN" altLang="zh-CN" dirty="0"/>
              <a:t>⊕</a:t>
            </a:r>
            <a:r>
              <a:rPr lang="en-US" altLang="zh-CN" dirty="0"/>
              <a:t>B</a:t>
            </a:r>
            <a:r>
              <a:rPr lang="zh-CN" altLang="zh-CN" dirty="0"/>
              <a:t>⊕</a:t>
            </a:r>
            <a:r>
              <a:rPr lang="en-US" altLang="zh-CN" dirty="0"/>
              <a:t>+C = /(A</a:t>
            </a:r>
            <a:r>
              <a:rPr lang="zh-CN" altLang="zh-CN" dirty="0"/>
              <a:t>⊕</a:t>
            </a:r>
            <a:r>
              <a:rPr lang="en-US" altLang="zh-CN" dirty="0"/>
              <a:t>B)*C + (A</a:t>
            </a:r>
            <a:r>
              <a:rPr lang="zh-CN" altLang="zh-CN" dirty="0"/>
              <a:t>⊕</a:t>
            </a:r>
            <a:r>
              <a:rPr lang="en-US" altLang="zh-CN" dirty="0"/>
              <a:t>B)*/C = (1) + </a:t>
            </a:r>
            <a:r>
              <a:rPr lang="zh-CN" altLang="zh-CN" dirty="0"/>
              <a:t>（</a:t>
            </a:r>
            <a:r>
              <a:rPr lang="en-US" altLang="zh-CN" dirty="0"/>
              <a:t>2</a:t>
            </a:r>
            <a:r>
              <a:rPr lang="zh-CN" altLang="zh-CN" dirty="0"/>
              <a:t>）</a:t>
            </a:r>
          </a:p>
          <a:p>
            <a:r>
              <a:rPr lang="en-US" altLang="zh-CN" dirty="0"/>
              <a:t>(1)=/(A</a:t>
            </a:r>
            <a:r>
              <a:rPr lang="zh-CN" altLang="zh-CN" dirty="0"/>
              <a:t>⊕</a:t>
            </a:r>
            <a:r>
              <a:rPr lang="en-US" altLang="zh-CN" dirty="0"/>
              <a:t>B)*C =/(/A*B +A*/B) *C = (/(/A*B)*/(A*/B))*C = ((A+/B)*(/A+B))*C</a:t>
            </a:r>
            <a:endParaRPr lang="zh-CN" altLang="zh-CN" dirty="0"/>
          </a:p>
          <a:p>
            <a:r>
              <a:rPr lang="en-US" altLang="zh-CN" dirty="0"/>
              <a:t>=(AB+/A/B)*C = ABC + /A/BC</a:t>
            </a:r>
            <a:endParaRPr lang="zh-CN" altLang="zh-CN" dirty="0"/>
          </a:p>
          <a:p>
            <a:r>
              <a:rPr lang="en-US" altLang="zh-CN" dirty="0"/>
              <a:t>(2)=(A</a:t>
            </a:r>
            <a:r>
              <a:rPr lang="zh-CN" altLang="zh-CN" dirty="0"/>
              <a:t>⊕</a:t>
            </a:r>
            <a:r>
              <a:rPr lang="en-US" altLang="zh-CN" dirty="0"/>
              <a:t>B)*/C =(/A*B +A*/B)*/C=/AB/C+A/B/C</a:t>
            </a:r>
            <a:endParaRPr lang="zh-CN" altLang="zh-CN" dirty="0"/>
          </a:p>
          <a:p>
            <a:r>
              <a:rPr lang="en-US" altLang="zh-CN" dirty="0"/>
              <a:t>A</a:t>
            </a:r>
            <a:r>
              <a:rPr lang="zh-CN" altLang="zh-CN" dirty="0"/>
              <a:t>⊕</a:t>
            </a:r>
            <a:r>
              <a:rPr lang="en-US" altLang="zh-CN" dirty="0"/>
              <a:t>B</a:t>
            </a:r>
            <a:r>
              <a:rPr lang="zh-CN" altLang="zh-CN" dirty="0"/>
              <a:t>⊕</a:t>
            </a:r>
            <a:r>
              <a:rPr lang="en-US" altLang="zh-CN" dirty="0"/>
              <a:t>+C =(1)+(2)= ABC + /A/BC + /AB/C + A/B/C</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11</a:t>
            </a:fld>
            <a:endParaRPr lang="zh-CN" altLang="en-US"/>
          </a:p>
        </p:txBody>
      </p:sp>
    </p:spTree>
    <p:extLst>
      <p:ext uri="{BB962C8B-B14F-4D97-AF65-F5344CB8AC3E}">
        <p14:creationId xmlns:p14="http://schemas.microsoft.com/office/powerpoint/2010/main" val="192410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12</a:t>
            </a:fld>
            <a:endParaRPr lang="zh-CN" altLang="en-US"/>
          </a:p>
        </p:txBody>
      </p:sp>
    </p:spTree>
    <p:extLst>
      <p:ext uri="{BB962C8B-B14F-4D97-AF65-F5344CB8AC3E}">
        <p14:creationId xmlns:p14="http://schemas.microsoft.com/office/powerpoint/2010/main" val="3867038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观察</a:t>
            </a:r>
            <a:r>
              <a:rPr lang="zh-CN" altLang="en-US" sz="1200" kern="1200" dirty="0">
                <a:solidFill>
                  <a:schemeClr val="tx1"/>
                </a:solidFill>
                <a:effectLst/>
                <a:latin typeface="Arial" pitchFamily="34" charset="0"/>
                <a:ea typeface="宋体" pitchFamily="2" charset="-122"/>
                <a:cs typeface="宋体" charset="0"/>
              </a:rPr>
              <a:t>结果</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Ci</a:t>
            </a:r>
            <a:r>
              <a:rPr lang="zh-CN" altLang="en-US" sz="1200" kern="1200" dirty="0">
                <a:solidFill>
                  <a:schemeClr val="tx1"/>
                </a:solidFill>
                <a:effectLst/>
                <a:latin typeface="Arial" pitchFamily="34" charset="0"/>
                <a:ea typeface="宋体" pitchFamily="2" charset="-122"/>
                <a:cs typeface="宋体" charset="0"/>
              </a:rPr>
              <a:t>只</a:t>
            </a:r>
            <a:r>
              <a:rPr lang="zh-CN" altLang="zh-CN" sz="1200" kern="1200" dirty="0">
                <a:solidFill>
                  <a:schemeClr val="tx1"/>
                </a:solidFill>
                <a:effectLst/>
                <a:latin typeface="Arial" pitchFamily="34" charset="0"/>
                <a:ea typeface="宋体" pitchFamily="2" charset="-122"/>
                <a:cs typeface="宋体" charset="0"/>
              </a:rPr>
              <a:t>取决于</a:t>
            </a:r>
            <a:r>
              <a:rPr lang="en-US" altLang="zh-CN" sz="1200" kern="1200" dirty="0" err="1">
                <a:solidFill>
                  <a:schemeClr val="tx1"/>
                </a:solidFill>
                <a:effectLst/>
                <a:latin typeface="Arial" pitchFamily="34" charset="0"/>
                <a:ea typeface="宋体" pitchFamily="2" charset="-122"/>
                <a:cs typeface="宋体" charset="0"/>
              </a:rPr>
              <a:t>P_k</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err="1">
                <a:solidFill>
                  <a:schemeClr val="tx1"/>
                </a:solidFill>
                <a:effectLst/>
                <a:latin typeface="Arial" pitchFamily="34" charset="0"/>
                <a:ea typeface="宋体" pitchFamily="2" charset="-122"/>
                <a:cs typeface="宋体" charset="0"/>
              </a:rPr>
              <a:t>G_j</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a:solidFill>
                  <a:schemeClr val="tx1"/>
                </a:solidFill>
                <a:effectLst/>
                <a:latin typeface="Arial" pitchFamily="34" charset="0"/>
                <a:ea typeface="宋体" pitchFamily="2" charset="-122"/>
                <a:cs typeface="宋体" charset="0"/>
              </a:rPr>
              <a:t>C_(-1)</a:t>
            </a:r>
            <a:r>
              <a:rPr lang="zh-CN" altLang="zh-CN" sz="1200" kern="1200" dirty="0">
                <a:solidFill>
                  <a:schemeClr val="tx1"/>
                </a:solidFill>
                <a:effectLst/>
                <a:latin typeface="Arial" pitchFamily="34" charset="0"/>
                <a:ea typeface="宋体" pitchFamily="2" charset="-122"/>
                <a:cs typeface="宋体" charset="0"/>
              </a:rPr>
              <a:t>，这些都直接依赖于</a:t>
            </a:r>
            <a:r>
              <a:rPr lang="en-US" altLang="zh-CN" sz="1200" kern="1200" dirty="0" err="1">
                <a:solidFill>
                  <a:schemeClr val="tx1"/>
                </a:solidFill>
                <a:effectLst/>
                <a:latin typeface="Arial" pitchFamily="34" charset="0"/>
                <a:ea typeface="宋体" pitchFamily="2" charset="-122"/>
                <a:cs typeface="宋体" charset="0"/>
              </a:rPr>
              <a:t>A_i</a:t>
            </a:r>
            <a:r>
              <a:rPr lang="zh-CN" altLang="zh-CN" sz="1200" kern="1200" dirty="0">
                <a:solidFill>
                  <a:schemeClr val="tx1"/>
                </a:solidFill>
                <a:effectLst/>
                <a:latin typeface="Arial" pitchFamily="34" charset="0"/>
                <a:ea typeface="宋体" pitchFamily="2" charset="-122"/>
                <a:cs typeface="宋体" charset="0"/>
              </a:rPr>
              <a:t>和</a:t>
            </a:r>
            <a:r>
              <a:rPr lang="en-US" altLang="zh-CN" sz="1200" kern="1200" dirty="0" err="1">
                <a:solidFill>
                  <a:schemeClr val="tx1"/>
                </a:solidFill>
                <a:effectLst/>
                <a:latin typeface="Arial" pitchFamily="34" charset="0"/>
                <a:ea typeface="宋体" pitchFamily="2" charset="-122"/>
                <a:cs typeface="宋体" charset="0"/>
              </a:rPr>
              <a:t>B_i</a:t>
            </a:r>
            <a:r>
              <a:rPr lang="en-US" altLang="zh-CN" sz="1200" kern="1200" dirty="0">
                <a:solidFill>
                  <a:schemeClr val="tx1"/>
                </a:solidFill>
                <a:effectLst/>
                <a:latin typeface="Arial" pitchFamily="34" charset="0"/>
                <a:ea typeface="宋体" pitchFamily="2" charset="-122"/>
                <a:cs typeface="宋体" charset="0"/>
              </a:rPr>
              <a:t>, </a:t>
            </a:r>
            <a:r>
              <a:rPr lang="zh-CN" altLang="zh-CN" sz="1200" kern="1200" dirty="0">
                <a:solidFill>
                  <a:schemeClr val="tx1"/>
                </a:solidFill>
                <a:effectLst/>
                <a:latin typeface="Arial" pitchFamily="34" charset="0"/>
                <a:ea typeface="宋体" pitchFamily="2" charset="-122"/>
                <a:cs typeface="宋体" charset="0"/>
              </a:rPr>
              <a:t>所以所有</a:t>
            </a:r>
            <a:r>
              <a:rPr lang="en-US" altLang="zh-CN" sz="1200" kern="1200" dirty="0">
                <a:solidFill>
                  <a:schemeClr val="tx1"/>
                </a:solidFill>
                <a:effectLst/>
                <a:latin typeface="Arial" pitchFamily="34" charset="0"/>
                <a:ea typeface="宋体" pitchFamily="2" charset="-122"/>
                <a:cs typeface="宋体" charset="0"/>
              </a:rPr>
              <a:t>Ci</a:t>
            </a:r>
            <a:r>
              <a:rPr lang="zh-CN" altLang="zh-CN" sz="1200" kern="1200" dirty="0">
                <a:solidFill>
                  <a:schemeClr val="tx1"/>
                </a:solidFill>
                <a:effectLst/>
                <a:latin typeface="Arial" pitchFamily="34" charset="0"/>
                <a:ea typeface="宋体" pitchFamily="2" charset="-122"/>
                <a:cs typeface="宋体" charset="0"/>
              </a:rPr>
              <a:t>几乎可以同时算出，不需要一级级等待，故称为提前进位。</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15</a:t>
            </a:fld>
            <a:endParaRPr lang="zh-CN" altLang="en-US"/>
          </a:p>
        </p:txBody>
      </p:sp>
    </p:spTree>
    <p:extLst>
      <p:ext uri="{BB962C8B-B14F-4D97-AF65-F5344CB8AC3E}">
        <p14:creationId xmlns:p14="http://schemas.microsoft.com/office/powerpoint/2010/main" val="2619884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16</a:t>
            </a:fld>
            <a:endParaRPr lang="zh-CN" altLang="en-US"/>
          </a:p>
        </p:txBody>
      </p:sp>
    </p:spTree>
    <p:extLst>
      <p:ext uri="{BB962C8B-B14F-4D97-AF65-F5344CB8AC3E}">
        <p14:creationId xmlns:p14="http://schemas.microsoft.com/office/powerpoint/2010/main" val="2794153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异或符号，不同为</a:t>
            </a:r>
            <a:r>
              <a:rPr lang="en-US" altLang="zh-CN" dirty="0"/>
              <a:t>1</a:t>
            </a:r>
            <a:r>
              <a:rPr lang="zh-CN" altLang="en-US" dirty="0"/>
              <a:t>，相同为</a:t>
            </a:r>
            <a:r>
              <a:rPr lang="en-US" altLang="zh-CN" dirty="0"/>
              <a:t>0</a:t>
            </a:r>
          </a:p>
          <a:p>
            <a:r>
              <a:rPr lang="en-US" altLang="zh-CN" dirty="0"/>
              <a:t>(X-Y)</a:t>
            </a:r>
            <a:r>
              <a:rPr lang="zh-CN" altLang="en-US" dirty="0"/>
              <a:t>补</a:t>
            </a:r>
            <a:r>
              <a:rPr lang="en-US" altLang="zh-CN" dirty="0"/>
              <a:t>=X</a:t>
            </a:r>
            <a:r>
              <a:rPr lang="zh-CN" altLang="en-US" dirty="0"/>
              <a:t>补</a:t>
            </a:r>
            <a:r>
              <a:rPr lang="en-US" altLang="zh-CN" dirty="0"/>
              <a:t>+</a:t>
            </a:r>
            <a:r>
              <a:rPr lang="zh-CN" altLang="en-US" dirty="0"/>
              <a:t>／</a:t>
            </a:r>
            <a:r>
              <a:rPr lang="en-US" altLang="zh-CN" dirty="0"/>
              <a:t>Y</a:t>
            </a:r>
            <a:r>
              <a:rPr lang="zh-CN" altLang="en-US" dirty="0"/>
              <a:t>补</a:t>
            </a:r>
            <a:r>
              <a:rPr lang="en-US" altLang="zh-CN" dirty="0"/>
              <a:t>+1</a:t>
            </a:r>
          </a:p>
          <a:p>
            <a:r>
              <a:rPr lang="zh-CN" altLang="en-US" dirty="0"/>
              <a:t>补码</a:t>
            </a:r>
            <a:r>
              <a:rPr lang="en-US" altLang="zh-CN" dirty="0"/>
              <a:t>&lt;-&gt;</a:t>
            </a:r>
            <a:r>
              <a:rPr lang="zh-CN" altLang="en-US" dirty="0"/>
              <a:t>原码：当原码</a:t>
            </a:r>
            <a:r>
              <a:rPr lang="en-US" altLang="zh-CN" dirty="0"/>
              <a:t>&gt;=0 </a:t>
            </a:r>
            <a:r>
              <a:rPr lang="zh-CN" altLang="en-US" dirty="0"/>
              <a:t>相等；当原码</a:t>
            </a:r>
            <a:r>
              <a:rPr lang="en-US" altLang="zh-CN" dirty="0"/>
              <a:t>&lt;0</a:t>
            </a:r>
            <a:r>
              <a:rPr lang="zh-CN" altLang="en-US" dirty="0"/>
              <a:t>，补码以</a:t>
            </a:r>
            <a:r>
              <a:rPr lang="en-US" altLang="zh-CN" dirty="0"/>
              <a:t>1</a:t>
            </a:r>
            <a:r>
              <a:rPr lang="zh-CN" altLang="en-US" dirty="0"/>
              <a:t>开头，则</a:t>
            </a:r>
            <a:r>
              <a:rPr lang="en-US" altLang="zh-CN" dirty="0"/>
              <a:t>X</a:t>
            </a:r>
            <a:r>
              <a:rPr lang="zh-CN" altLang="en-US" dirty="0"/>
              <a:t>补</a:t>
            </a:r>
            <a:r>
              <a:rPr lang="en-US" altLang="zh-CN" dirty="0"/>
              <a:t>=[1](</a:t>
            </a:r>
            <a:r>
              <a:rPr lang="zh-CN" altLang="en-US" dirty="0"/>
              <a:t>／</a:t>
            </a:r>
            <a:r>
              <a:rPr lang="en-US" altLang="zh-CN" dirty="0"/>
              <a:t>X</a:t>
            </a:r>
            <a:r>
              <a:rPr lang="zh-CN" altLang="en-US" dirty="0"/>
              <a:t>原</a:t>
            </a:r>
            <a:r>
              <a:rPr lang="zh-CN" altLang="ja-JP" dirty="0"/>
              <a:t>+</a:t>
            </a:r>
            <a:r>
              <a:rPr lang="en-US" altLang="zh-CN" dirty="0"/>
              <a:t>1</a:t>
            </a:r>
            <a:r>
              <a:rPr lang="zh-CN" altLang="en-US" dirty="0"/>
              <a:t>），</a:t>
            </a:r>
            <a:r>
              <a:rPr lang="en-US" altLang="zh-CN" dirty="0"/>
              <a:t>X</a:t>
            </a:r>
            <a:r>
              <a:rPr lang="zh-CN" altLang="en-US" dirty="0"/>
              <a:t>原</a:t>
            </a:r>
            <a:r>
              <a:rPr lang="en-US" altLang="zh-CN" dirty="0"/>
              <a:t>=-</a:t>
            </a:r>
            <a:r>
              <a:rPr lang="zh-CN" altLang="en-US" dirty="0"/>
              <a:t>（／</a:t>
            </a:r>
            <a:r>
              <a:rPr lang="en-US" altLang="zh-CN" dirty="0"/>
              <a:t>X</a:t>
            </a:r>
            <a:r>
              <a:rPr lang="zh-CN" altLang="en-US" dirty="0"/>
              <a:t>补</a:t>
            </a:r>
            <a:r>
              <a:rPr lang="en-US" altLang="zh-CN" dirty="0"/>
              <a:t>+1</a:t>
            </a:r>
            <a:r>
              <a:rPr lang="zh-CN" altLang="en-US" dirty="0"/>
              <a:t>）</a:t>
            </a:r>
            <a:endParaRPr lang="en-US" altLang="zh-CN" dirty="0"/>
          </a:p>
          <a:p>
            <a:endParaRPr lang="en-US" altLang="zh-CN" dirty="0"/>
          </a:p>
          <a:p>
            <a:r>
              <a:rPr lang="zh-CN" altLang="en-US" dirty="0"/>
              <a:t>举例：</a:t>
            </a:r>
            <a:endParaRPr lang="en-US" altLang="zh-CN" dirty="0"/>
          </a:p>
          <a:p>
            <a:r>
              <a:rPr lang="en-US" altLang="zh-CN" dirty="0"/>
              <a:t>/Y = 2^n-Y-1  (</a:t>
            </a:r>
            <a:r>
              <a:rPr lang="zh-CN" altLang="en-US" dirty="0"/>
              <a:t>例如：</a:t>
            </a:r>
            <a:r>
              <a:rPr lang="en-US" altLang="zh-CN" dirty="0"/>
              <a:t>B=4, B=0100, /B=1011, 10000-0100-1=1011)</a:t>
            </a:r>
          </a:p>
          <a:p>
            <a:r>
              <a:rPr lang="en-US" altLang="zh-CN" dirty="0"/>
              <a:t>X+/Y+1=X+2^n-Y-1+1=X-Y+2^n</a:t>
            </a:r>
            <a:r>
              <a:rPr lang="zh-CN" altLang="en-US" dirty="0"/>
              <a:t>，只要</a:t>
            </a:r>
            <a:r>
              <a:rPr lang="en-US" altLang="zh-CN" dirty="0"/>
              <a:t> X-Y&gt;=0</a:t>
            </a:r>
            <a:r>
              <a:rPr lang="zh-CN" altLang="en-US" dirty="0"/>
              <a:t>就产生进位，</a:t>
            </a:r>
            <a:r>
              <a:rPr lang="en-US" altLang="zh-CN" dirty="0"/>
              <a:t>Co=1, V=0</a:t>
            </a:r>
            <a:r>
              <a:rPr lang="zh-CN" altLang="en-US" dirty="0"/>
              <a:t>；</a:t>
            </a:r>
            <a:r>
              <a:rPr lang="en-US" altLang="zh-CN" dirty="0"/>
              <a:t>D’=X-Y</a:t>
            </a:r>
            <a:endParaRPr lang="cs-CZ" altLang="zh-CN" dirty="0"/>
          </a:p>
          <a:p>
            <a:r>
              <a:rPr lang="zh-CN" altLang="en-US" dirty="0"/>
              <a:t>此时对于</a:t>
            </a:r>
            <a:r>
              <a:rPr lang="cs-CZ" altLang="zh-CN" dirty="0"/>
              <a:t>74x283(1), B=D', D=0+D'+0=D' = </a:t>
            </a:r>
            <a:r>
              <a:rPr lang="en-US" altLang="zh-CN" dirty="0"/>
              <a:t>X-Y</a:t>
            </a:r>
            <a:r>
              <a:rPr lang="cs-CZ" altLang="zh-CN" dirty="0"/>
              <a:t>;</a:t>
            </a:r>
          </a:p>
          <a:p>
            <a:r>
              <a:rPr lang="zh-CN" altLang="en-US" dirty="0"/>
              <a:t>否则</a:t>
            </a:r>
            <a:r>
              <a:rPr lang="cs-CZ" altLang="zh-CN" dirty="0"/>
              <a:t>Co=0, V=1;</a:t>
            </a:r>
            <a:r>
              <a:rPr lang="en-US" altLang="zh-CN" dirty="0"/>
              <a:t> D’=X-Y+2^n</a:t>
            </a:r>
            <a:endParaRPr lang="cs-CZ" altLang="zh-CN" dirty="0"/>
          </a:p>
          <a:p>
            <a:r>
              <a:rPr lang="zh-CN" altLang="en-US" dirty="0"/>
              <a:t>此时对于</a:t>
            </a:r>
            <a:r>
              <a:rPr lang="cs-CZ" altLang="zh-CN" dirty="0"/>
              <a:t>74x283(1), B=</a:t>
            </a:r>
            <a:r>
              <a:rPr lang="en-US" altLang="zh-CN" dirty="0"/>
              <a:t>/</a:t>
            </a:r>
            <a:r>
              <a:rPr lang="cs-CZ" altLang="zh-CN" dirty="0"/>
              <a:t>D‘</a:t>
            </a:r>
            <a:r>
              <a:rPr lang="en-US" altLang="zh-CN" dirty="0"/>
              <a:t> = 2^n-D’-1 = -X+Y-1</a:t>
            </a:r>
            <a:r>
              <a:rPr lang="cs-CZ" altLang="zh-CN" dirty="0"/>
              <a:t>, D=0+</a:t>
            </a:r>
            <a:r>
              <a:rPr lang="en-US" altLang="zh-CN" dirty="0"/>
              <a:t>B</a:t>
            </a:r>
            <a:r>
              <a:rPr lang="cs-CZ" altLang="zh-CN" dirty="0"/>
              <a:t>+</a:t>
            </a:r>
            <a:r>
              <a:rPr lang="en-US" altLang="zh-CN" dirty="0"/>
              <a:t>1</a:t>
            </a:r>
            <a:r>
              <a:rPr lang="cs-CZ" altLang="zh-CN" dirty="0"/>
              <a:t>= </a:t>
            </a:r>
            <a:r>
              <a:rPr lang="en-US" altLang="zh-CN" dirty="0"/>
              <a:t>Y-X</a:t>
            </a:r>
            <a:r>
              <a:rPr lang="cs-CZ" altLang="zh-CN" dirty="0"/>
              <a:t>;</a:t>
            </a:r>
          </a:p>
          <a:p>
            <a:endParaRPr lang="cs-CZ" altLang="zh-CN" dirty="0"/>
          </a:p>
          <a:p>
            <a:endParaRPr lang="cs-CZ" altLang="zh-CN" dirty="0"/>
          </a:p>
          <a:p>
            <a:endParaRPr lang="cs-CZ"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23</a:t>
            </a:fld>
            <a:endParaRPr lang="zh-CN" altLang="en-US"/>
          </a:p>
        </p:txBody>
      </p:sp>
    </p:spTree>
    <p:extLst>
      <p:ext uri="{BB962C8B-B14F-4D97-AF65-F5344CB8AC3E}">
        <p14:creationId xmlns:p14="http://schemas.microsoft.com/office/powerpoint/2010/main" val="168765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！仅在</a:t>
            </a:r>
            <a:r>
              <a:rPr lang="en-US" altLang="ja-JP" dirty="0"/>
              <a:t>X</a:t>
            </a:r>
            <a:r>
              <a:rPr lang="zh-CN" altLang="en-US" dirty="0"/>
              <a:t>和</a:t>
            </a:r>
            <a:r>
              <a:rPr lang="en-US" altLang="ja-JP" dirty="0"/>
              <a:t>Y</a:t>
            </a:r>
            <a:r>
              <a:rPr lang="zh-CN" altLang="en-US" dirty="0"/>
              <a:t>同号的时候成立</a:t>
            </a:r>
            <a:endParaRPr lang="en-US" altLang="ja-JP"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3818863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8.</a:t>
            </a:r>
            <a:r>
              <a:rPr lang="zh-CN" altLang="en-US"/>
              <a:t>组合逻辑电路</a:t>
            </a:r>
            <a:r>
              <a:rPr lang="en-US" altLang="zh-CN"/>
              <a:t>4</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2023</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8.</a:t>
            </a:r>
            <a:r>
              <a:rPr lang="zh-CN" altLang="en-US"/>
              <a:t>组合逻辑电路</a:t>
            </a:r>
            <a:r>
              <a:rPr lang="en-US" altLang="zh-CN"/>
              <a:t>4</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7" Type="http://schemas.microsoft.com/office/2007/relationships/hdphoto" Target="../media/hdphoto1.wdp"/><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w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9.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13.bin"/><Relationship Id="rId4" Type="http://schemas.openxmlformats.org/officeDocument/2006/relationships/image" Target="../media/image18.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wmf"/><Relationship Id="rId11" Type="http://schemas.openxmlformats.org/officeDocument/2006/relationships/image" Target="../media/image24.png"/><Relationship Id="rId5" Type="http://schemas.openxmlformats.org/officeDocument/2006/relationships/oleObject" Target="../embeddings/oleObject15.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emf"/><Relationship Id="rId11" Type="http://schemas.openxmlformats.org/officeDocument/2006/relationships/image" Target="../media/image29.png"/><Relationship Id="rId5" Type="http://schemas.openxmlformats.org/officeDocument/2006/relationships/oleObject" Target="../embeddings/oleObject19.bin"/><Relationship Id="rId10" Type="http://schemas.openxmlformats.org/officeDocument/2006/relationships/image" Target="../media/image28.wmf"/><Relationship Id="rId4" Type="http://schemas.openxmlformats.org/officeDocument/2006/relationships/image" Target="../media/image26.wmf"/><Relationship Id="rId9"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Digital_circuit" TargetMode="External"/><Relationship Id="rId2" Type="http://schemas.openxmlformats.org/officeDocument/2006/relationships/hyperlink" Target="https://en.wikipedia.org/wiki/Electronics" TargetMode="Externa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hyperlink" Target="https://en.wikipedia.org/wiki/Logic_gate" TargetMode="External"/><Relationship Id="rId4" Type="http://schemas.openxmlformats.org/officeDocument/2006/relationships/hyperlink" Target="https://en.wikipedia.org/wiki/Digital_electronic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en.wikipedia.org/wiki/Digital_circui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3.wmf"/><Relationship Id="rId7" Type="http://schemas.openxmlformats.org/officeDocument/2006/relationships/image" Target="../media/image26.wmf"/><Relationship Id="rId2"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27.emf"/><Relationship Id="rId10" Type="http://schemas.openxmlformats.org/officeDocument/2006/relationships/image" Target="../media/image310.png"/><Relationship Id="rId4" Type="http://schemas.openxmlformats.org/officeDocument/2006/relationships/oleObject" Target="../embeddings/oleObject23.bin"/><Relationship Id="rId9" Type="http://schemas.openxmlformats.org/officeDocument/2006/relationships/image" Target="../media/image28.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06086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08_</a:t>
            </a:r>
            <a:r>
              <a:rPr lang="zh-CN" altLang="en-US" sz="3600" b="1" dirty="0">
                <a:solidFill>
                  <a:schemeClr val="tx1"/>
                </a:solidFill>
                <a:latin typeface="Microsoft YaHei" panose="020B0503020204020204" pitchFamily="34" charset="-122"/>
                <a:ea typeface="Microsoft YaHei" panose="020B0503020204020204" pitchFamily="34" charset="-122"/>
              </a:rPr>
              <a:t>组合逻辑电路（</a:t>
            </a:r>
            <a:r>
              <a:rPr lang="en-US" altLang="zh-CN" sz="3600" b="1" dirty="0">
                <a:solidFill>
                  <a:schemeClr val="tx1"/>
                </a:solidFill>
                <a:latin typeface="Microsoft YaHei" panose="020B0503020204020204" pitchFamily="34" charset="-122"/>
                <a:ea typeface="Microsoft YaHei" panose="020B0503020204020204" pitchFamily="34" charset="-122"/>
              </a:rPr>
              <a:t>4</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（数电</a:t>
            </a:r>
            <a:r>
              <a:rPr lang="en-US" altLang="zh-CN" sz="2000" dirty="0">
                <a:solidFill>
                  <a:schemeClr val="tx1"/>
                </a:solidFill>
                <a:latin typeface="Microsoft YaHei" panose="020B0503020204020204" pitchFamily="34" charset="-122"/>
                <a:ea typeface="Microsoft YaHei" panose="020B0503020204020204" pitchFamily="34" charset="-122"/>
              </a:rPr>
              <a:t>P178-188</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6EE0F-1E5C-1EEA-161C-A0062FB288EC}"/>
              </a:ext>
            </a:extLst>
          </p:cNvPr>
          <p:cNvSpPr>
            <a:spLocks noGrp="1"/>
          </p:cNvSpPr>
          <p:nvPr>
            <p:ph type="title"/>
          </p:nvPr>
        </p:nvSpPr>
        <p:spPr/>
        <p:txBody>
          <a:bodyPr>
            <a:normAutofit fontScale="90000"/>
          </a:bodyPr>
          <a:lstStyle/>
          <a:p>
            <a:r>
              <a:rPr lang="zh-CN" altLang="en-US" dirty="0"/>
              <a:t>内容提纲</a:t>
            </a:r>
            <a:endParaRPr kumimoji="1" lang="zh-CN" altLang="en-US" dirty="0"/>
          </a:p>
        </p:txBody>
      </p:sp>
      <p:sp>
        <p:nvSpPr>
          <p:cNvPr id="3" name="内容占位符 2">
            <a:extLst>
              <a:ext uri="{FF2B5EF4-FFF2-40B4-BE49-F238E27FC236}">
                <a16:creationId xmlns:a16="http://schemas.microsoft.com/office/drawing/2014/main" id="{60DE17A7-572F-50D0-9A09-CA6B056FA01B}"/>
              </a:ext>
            </a:extLst>
          </p:cNvPr>
          <p:cNvSpPr>
            <a:spLocks noGrp="1"/>
          </p:cNvSpPr>
          <p:nvPr>
            <p:ph idx="1"/>
          </p:nvPr>
        </p:nvSpPr>
        <p:spPr/>
        <p:txBody>
          <a:bodyPr/>
          <a:lstStyle/>
          <a:p>
            <a:pPr>
              <a:spcAft>
                <a:spcPct val="30000"/>
              </a:spcAft>
            </a:pPr>
            <a:r>
              <a:rPr lang="zh-CN" altLang="en-US" dirty="0"/>
              <a:t>比较器</a:t>
            </a:r>
          </a:p>
          <a:p>
            <a:pPr>
              <a:spcAft>
                <a:spcPct val="30000"/>
              </a:spcAft>
            </a:pPr>
            <a:r>
              <a:rPr lang="zh-CN" altLang="en-US" dirty="0"/>
              <a:t>加法器</a:t>
            </a:r>
          </a:p>
          <a:p>
            <a:endParaRPr kumimoji="1" lang="zh-CN" altLang="en-US" dirty="0"/>
          </a:p>
        </p:txBody>
      </p:sp>
      <p:sp>
        <p:nvSpPr>
          <p:cNvPr id="4" name="页脚占位符 3">
            <a:extLst>
              <a:ext uri="{FF2B5EF4-FFF2-40B4-BE49-F238E27FC236}">
                <a16:creationId xmlns:a16="http://schemas.microsoft.com/office/drawing/2014/main" id="{E16D44D3-F77D-14AC-E513-09DF215D93B1}"/>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5F7D7D81-E3B6-9711-A337-AEA1C061FC85}"/>
              </a:ext>
            </a:extLst>
          </p:cNvPr>
          <p:cNvSpPr>
            <a:spLocks noGrp="1"/>
          </p:cNvSpPr>
          <p:nvPr>
            <p:ph type="sldNum" sz="quarter" idx="12"/>
          </p:nvPr>
        </p:nvSpPr>
        <p:spPr/>
        <p:txBody>
          <a:bodyPr/>
          <a:lstStyle/>
          <a:p>
            <a:fld id="{9E260BC5-5BF3-8746-862B-DC45E9CAA88B}" type="slidenum">
              <a:rPr lang="en-US" smtClean="0"/>
              <a:pPr/>
              <a:t>2</a:t>
            </a:fld>
            <a:r>
              <a:rPr lang="en-US" altLang="zh-CN" dirty="0"/>
              <a:t>/25</a:t>
            </a:r>
            <a:endParaRPr lang="en-US" dirty="0"/>
          </a:p>
        </p:txBody>
      </p:sp>
    </p:spTree>
    <p:extLst>
      <p:ext uri="{BB962C8B-B14F-4D97-AF65-F5344CB8AC3E}">
        <p14:creationId xmlns:p14="http://schemas.microsoft.com/office/powerpoint/2010/main" val="3928638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C53D19-D4A9-B9BB-6D22-A8464CC316DB}"/>
              </a:ext>
            </a:extLst>
          </p:cNvPr>
          <p:cNvSpPr>
            <a:spLocks noGrp="1"/>
          </p:cNvSpPr>
          <p:nvPr>
            <p:ph type="title"/>
          </p:nvPr>
        </p:nvSpPr>
        <p:spPr/>
        <p:txBody>
          <a:bodyPr>
            <a:normAutofit fontScale="90000"/>
          </a:bodyPr>
          <a:lstStyle/>
          <a:p>
            <a:r>
              <a:rPr lang="zh-CN" altLang="en-US" dirty="0"/>
              <a:t>数值比较器</a:t>
            </a:r>
            <a:endParaRPr kumimoji="1" lang="zh-CN" altLang="en-US" dirty="0"/>
          </a:p>
        </p:txBody>
      </p:sp>
      <p:sp>
        <p:nvSpPr>
          <p:cNvPr id="3" name="内容占位符 2">
            <a:extLst>
              <a:ext uri="{FF2B5EF4-FFF2-40B4-BE49-F238E27FC236}">
                <a16:creationId xmlns:a16="http://schemas.microsoft.com/office/drawing/2014/main" id="{0903FE51-6605-83DA-34BE-98EED57816B1}"/>
              </a:ext>
            </a:extLst>
          </p:cNvPr>
          <p:cNvSpPr>
            <a:spLocks noGrp="1"/>
          </p:cNvSpPr>
          <p:nvPr>
            <p:ph idx="1"/>
          </p:nvPr>
        </p:nvSpPr>
        <p:spPr/>
        <p:txBody>
          <a:bodyPr/>
          <a:lstStyle/>
          <a:p>
            <a:r>
              <a:rPr lang="zh-CN" altLang="en-US" dirty="0"/>
              <a:t>判断两个二进制数大小关系的逻辑电路</a:t>
            </a:r>
          </a:p>
          <a:p>
            <a:r>
              <a:rPr lang="zh-CN" altLang="en-US" dirty="0"/>
              <a:t>设计一位数值比较器</a:t>
            </a:r>
          </a:p>
          <a:p>
            <a:pPr lvl="1"/>
            <a:r>
              <a:rPr lang="zh-CN" altLang="en-US" dirty="0"/>
              <a:t>输入：</a:t>
            </a:r>
            <a:r>
              <a:rPr lang="en-US" altLang="zh-CN" dirty="0"/>
              <a:t>2</a:t>
            </a:r>
            <a:r>
              <a:rPr lang="zh-CN" altLang="en-US" dirty="0"/>
              <a:t>个</a:t>
            </a:r>
            <a:r>
              <a:rPr lang="en-US" altLang="zh-CN" dirty="0"/>
              <a:t>1</a:t>
            </a:r>
            <a:r>
              <a:rPr lang="zh-CN" altLang="en-US" dirty="0"/>
              <a:t>位数</a:t>
            </a:r>
            <a:r>
              <a:rPr lang="en-US" altLang="zh-CN" dirty="0"/>
              <a:t>A</a:t>
            </a:r>
            <a:r>
              <a:rPr lang="zh-CN" altLang="en-US" dirty="0"/>
              <a:t>和</a:t>
            </a:r>
            <a:r>
              <a:rPr lang="en-US" altLang="zh-CN" dirty="0"/>
              <a:t>B</a:t>
            </a:r>
          </a:p>
          <a:p>
            <a:pPr lvl="1"/>
            <a:r>
              <a:rPr lang="zh-CN" altLang="en-US" dirty="0"/>
              <a:t>输出：</a:t>
            </a:r>
            <a:r>
              <a:rPr lang="en-US" altLang="zh-CN" dirty="0"/>
              <a:t>F</a:t>
            </a:r>
            <a:r>
              <a:rPr lang="en-US" altLang="zh-CN" sz="1800" dirty="0"/>
              <a:t>A&gt;B </a:t>
            </a:r>
            <a:r>
              <a:rPr lang="zh-CN" altLang="en-US" dirty="0"/>
              <a:t>、</a:t>
            </a:r>
            <a:r>
              <a:rPr lang="en-US" altLang="zh-CN" dirty="0"/>
              <a:t>F</a:t>
            </a:r>
            <a:r>
              <a:rPr lang="en-US" altLang="zh-CN" sz="1800" dirty="0"/>
              <a:t>A&lt;B </a:t>
            </a:r>
            <a:r>
              <a:rPr lang="zh-CN" altLang="en-US" dirty="0"/>
              <a:t>、</a:t>
            </a:r>
            <a:r>
              <a:rPr lang="en-US" altLang="zh-CN" dirty="0"/>
              <a:t>F</a:t>
            </a:r>
            <a:r>
              <a:rPr lang="en-US" altLang="zh-CN" sz="1800" dirty="0"/>
              <a:t>A=B</a:t>
            </a:r>
          </a:p>
          <a:p>
            <a:endParaRPr kumimoji="1" lang="zh-CN" altLang="en-US" dirty="0"/>
          </a:p>
        </p:txBody>
      </p:sp>
      <p:sp>
        <p:nvSpPr>
          <p:cNvPr id="4" name="页脚占位符 3">
            <a:extLst>
              <a:ext uri="{FF2B5EF4-FFF2-40B4-BE49-F238E27FC236}">
                <a16:creationId xmlns:a16="http://schemas.microsoft.com/office/drawing/2014/main" id="{529DDA2F-7865-5FBA-BB01-8FB7BCD1D56B}"/>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3DF48786-6FB9-1263-966B-66070B67A0CC}"/>
              </a:ext>
            </a:extLst>
          </p:cNvPr>
          <p:cNvSpPr>
            <a:spLocks noGrp="1"/>
          </p:cNvSpPr>
          <p:nvPr>
            <p:ph type="sldNum" sz="quarter" idx="12"/>
          </p:nvPr>
        </p:nvSpPr>
        <p:spPr/>
        <p:txBody>
          <a:bodyPr/>
          <a:lstStyle/>
          <a:p>
            <a:fld id="{9E260BC5-5BF3-8746-862B-DC45E9CAA88B}" type="slidenum">
              <a:rPr lang="en-US" smtClean="0"/>
              <a:pPr/>
              <a:t>3</a:t>
            </a:fld>
            <a:r>
              <a:rPr lang="en-US" altLang="zh-CN" dirty="0"/>
              <a:t>/25</a:t>
            </a:r>
            <a:endParaRPr lang="en-US" dirty="0"/>
          </a:p>
        </p:txBody>
      </p:sp>
      <p:graphicFrame>
        <p:nvGraphicFramePr>
          <p:cNvPr id="6" name="Object 2">
            <a:extLst>
              <a:ext uri="{FF2B5EF4-FFF2-40B4-BE49-F238E27FC236}">
                <a16:creationId xmlns:a16="http://schemas.microsoft.com/office/drawing/2014/main" id="{41734221-702A-12B7-F34B-89CDA689A765}"/>
              </a:ext>
            </a:extLst>
          </p:cNvPr>
          <p:cNvGraphicFramePr>
            <a:graphicFrameLocks noChangeAspect="1"/>
          </p:cNvGraphicFramePr>
          <p:nvPr>
            <p:extLst>
              <p:ext uri="{D42A27DB-BD31-4B8C-83A1-F6EECF244321}">
                <p14:modId xmlns:p14="http://schemas.microsoft.com/office/powerpoint/2010/main" val="4222873037"/>
              </p:ext>
            </p:extLst>
          </p:nvPr>
        </p:nvGraphicFramePr>
        <p:xfrm>
          <a:off x="893006" y="4052915"/>
          <a:ext cx="1547812" cy="541337"/>
        </p:xfrm>
        <a:graphic>
          <a:graphicData uri="http://schemas.openxmlformats.org/presentationml/2006/ole">
            <mc:AlternateContent xmlns:mc="http://schemas.openxmlformats.org/markup-compatibility/2006">
              <mc:Choice xmlns:v="urn:schemas-microsoft-com:vml" Requires="v">
                <p:oleObj name="公式" r:id="rId3" imgW="685800" imgH="241300" progId="Equation.3">
                  <p:embed/>
                </p:oleObj>
              </mc:Choice>
              <mc:Fallback>
                <p:oleObj name="公式" r:id="rId3" imgW="685800" imgH="241300" progId="Equation.3">
                  <p:embed/>
                  <p:pic>
                    <p:nvPicPr>
                      <p:cNvPr id="8238"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006" y="4052915"/>
                        <a:ext cx="1547812"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3">
            <a:extLst>
              <a:ext uri="{FF2B5EF4-FFF2-40B4-BE49-F238E27FC236}">
                <a16:creationId xmlns:a16="http://schemas.microsoft.com/office/drawing/2014/main" id="{6BE4B293-6085-DF12-809D-B0A62F85E470}"/>
              </a:ext>
            </a:extLst>
          </p:cNvPr>
          <p:cNvGraphicFramePr>
            <a:graphicFrameLocks noChangeAspect="1"/>
          </p:cNvGraphicFramePr>
          <p:nvPr>
            <p:extLst>
              <p:ext uri="{D42A27DB-BD31-4B8C-83A1-F6EECF244321}">
                <p14:modId xmlns:p14="http://schemas.microsoft.com/office/powerpoint/2010/main" val="3002495397"/>
              </p:ext>
            </p:extLst>
          </p:nvPr>
        </p:nvGraphicFramePr>
        <p:xfrm>
          <a:off x="893006" y="4654577"/>
          <a:ext cx="1519237" cy="544513"/>
        </p:xfrm>
        <a:graphic>
          <a:graphicData uri="http://schemas.openxmlformats.org/presentationml/2006/ole">
            <mc:AlternateContent xmlns:mc="http://schemas.openxmlformats.org/markup-compatibility/2006">
              <mc:Choice xmlns:v="urn:schemas-microsoft-com:vml" Requires="v">
                <p:oleObj name="公式" r:id="rId5" imgW="672808" imgH="241195" progId="Equation.3">
                  <p:embed/>
                </p:oleObj>
              </mc:Choice>
              <mc:Fallback>
                <p:oleObj name="公式" r:id="rId5" imgW="672808" imgH="241195" progId="Equation.3">
                  <p:embed/>
                  <p:pic>
                    <p:nvPicPr>
                      <p:cNvPr id="82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3006" y="4654577"/>
                        <a:ext cx="1519237"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4">
            <a:extLst>
              <a:ext uri="{FF2B5EF4-FFF2-40B4-BE49-F238E27FC236}">
                <a16:creationId xmlns:a16="http://schemas.microsoft.com/office/drawing/2014/main" id="{30BB8B4E-9343-D5EA-06EF-E6929E504102}"/>
              </a:ext>
            </a:extLst>
          </p:cNvPr>
          <p:cNvGraphicFramePr>
            <a:graphicFrameLocks noChangeAspect="1"/>
          </p:cNvGraphicFramePr>
          <p:nvPr>
            <p:extLst>
              <p:ext uri="{D42A27DB-BD31-4B8C-83A1-F6EECF244321}">
                <p14:modId xmlns:p14="http://schemas.microsoft.com/office/powerpoint/2010/main" val="2636289332"/>
              </p:ext>
            </p:extLst>
          </p:nvPr>
        </p:nvGraphicFramePr>
        <p:xfrm>
          <a:off x="821568" y="5299102"/>
          <a:ext cx="2579688" cy="576263"/>
        </p:xfrm>
        <a:graphic>
          <a:graphicData uri="http://schemas.openxmlformats.org/presentationml/2006/ole">
            <mc:AlternateContent xmlns:mc="http://schemas.openxmlformats.org/markup-compatibility/2006">
              <mc:Choice xmlns:v="urn:schemas-microsoft-com:vml" Requires="v">
                <p:oleObj name="公式" r:id="rId7" imgW="1193282" imgH="266584" progId="Equation.3">
                  <p:embed/>
                </p:oleObj>
              </mc:Choice>
              <mc:Fallback>
                <p:oleObj name="公式" r:id="rId7" imgW="1193282" imgH="266584" progId="Equation.3">
                  <p:embed/>
                  <p:pic>
                    <p:nvPicPr>
                      <p:cNvPr id="824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1568" y="5299102"/>
                        <a:ext cx="25796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4">
            <a:extLst>
              <a:ext uri="{FF2B5EF4-FFF2-40B4-BE49-F238E27FC236}">
                <a16:creationId xmlns:a16="http://schemas.microsoft.com/office/drawing/2014/main" id="{4E40FF3A-24D1-F492-9384-06DF2E6F6564}"/>
              </a:ext>
            </a:extLst>
          </p:cNvPr>
          <p:cNvSpPr txBox="1">
            <a:spLocks noChangeArrowheads="1"/>
          </p:cNvSpPr>
          <p:nvPr/>
        </p:nvSpPr>
        <p:spPr bwMode="auto">
          <a:xfrm>
            <a:off x="6609799" y="120650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latin typeface="Arial" panose="020B0604020202020204" pitchFamily="34" charset="0"/>
              </a:rPr>
              <a:t>真值表</a:t>
            </a:r>
          </a:p>
        </p:txBody>
      </p:sp>
      <p:graphicFrame>
        <p:nvGraphicFramePr>
          <p:cNvPr id="10" name="Group 5">
            <a:extLst>
              <a:ext uri="{FF2B5EF4-FFF2-40B4-BE49-F238E27FC236}">
                <a16:creationId xmlns:a16="http://schemas.microsoft.com/office/drawing/2014/main" id="{D44AFE06-7130-8A01-7B9C-4C2AAE00975B}"/>
              </a:ext>
            </a:extLst>
          </p:cNvPr>
          <p:cNvGraphicFramePr>
            <a:graphicFrameLocks noGrp="1"/>
          </p:cNvGraphicFramePr>
          <p:nvPr>
            <p:extLst>
              <p:ext uri="{D42A27DB-BD31-4B8C-83A1-F6EECF244321}">
                <p14:modId xmlns:p14="http://schemas.microsoft.com/office/powerpoint/2010/main" val="3687074393"/>
              </p:ext>
            </p:extLst>
          </p:nvPr>
        </p:nvGraphicFramePr>
        <p:xfrm>
          <a:off x="5585861" y="1746250"/>
          <a:ext cx="3455988" cy="1682750"/>
        </p:xfrm>
        <a:graphic>
          <a:graphicData uri="http://schemas.openxmlformats.org/drawingml/2006/table">
            <a:tbl>
              <a:tblPr/>
              <a:tblGrid>
                <a:gridCol w="563563">
                  <a:extLst>
                    <a:ext uri="{9D8B030D-6E8A-4147-A177-3AD203B41FA5}">
                      <a16:colId xmlns:a16="http://schemas.microsoft.com/office/drawing/2014/main" val="20000"/>
                    </a:ext>
                  </a:extLst>
                </a:gridCol>
                <a:gridCol w="600075">
                  <a:extLst>
                    <a:ext uri="{9D8B030D-6E8A-4147-A177-3AD203B41FA5}">
                      <a16:colId xmlns:a16="http://schemas.microsoft.com/office/drawing/2014/main" val="20001"/>
                    </a:ext>
                  </a:extLst>
                </a:gridCol>
                <a:gridCol w="852487">
                  <a:extLst>
                    <a:ext uri="{9D8B030D-6E8A-4147-A177-3AD203B41FA5}">
                      <a16:colId xmlns:a16="http://schemas.microsoft.com/office/drawing/2014/main" val="20002"/>
                    </a:ext>
                  </a:extLst>
                </a:gridCol>
                <a:gridCol w="719138">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tblGrid>
              <a:tr h="539750">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1" i="0" u="none" strike="noStrike" cap="none" normalizeH="0" baseline="0">
                          <a:ln>
                            <a:noFill/>
                          </a:ln>
                          <a:solidFill>
                            <a:schemeClr val="tx1"/>
                          </a:solidFill>
                          <a:effectLst/>
                          <a:latin typeface="Times New Roman" charset="0"/>
                          <a:ea typeface="宋体" charset="0"/>
                          <a:cs typeface="Times New Roman" charset="0"/>
                        </a:rPr>
                        <a:t>A</a:t>
                      </a:r>
                      <a:endParaRPr kumimoji="0" lang="en-US" altLang="zh-CN" sz="18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1" i="0" u="none" strike="noStrike" cap="none" normalizeH="0" baseline="0">
                          <a:ln>
                            <a:noFill/>
                          </a:ln>
                          <a:solidFill>
                            <a:schemeClr val="tx1"/>
                          </a:solidFill>
                          <a:effectLst/>
                          <a:latin typeface="Times New Roman" charset="0"/>
                          <a:ea typeface="宋体" charset="0"/>
                          <a:cs typeface="Times New Roman" charset="0"/>
                        </a:rPr>
                        <a:t>B</a:t>
                      </a:r>
                      <a:endParaRPr kumimoji="0" lang="en-US" altLang="zh-CN" sz="18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F</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A&gt;B</a:t>
                      </a: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F</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A&lt;B</a:t>
                      </a:r>
                      <a:endParaRPr kumimoji="1" lang="zh-CN" altLang="en-US" sz="1800" b="1" i="0" u="none" strike="noStrike" cap="none" normalizeH="0" baseline="-30000">
                        <a:ln>
                          <a:noFill/>
                        </a:ln>
                        <a:solidFill>
                          <a:schemeClr val="tx1"/>
                        </a:solidFill>
                        <a:effectLst/>
                        <a:latin typeface="Times New Roman" charset="0"/>
                        <a:ea typeface="楷体_GB2312" charset="0"/>
                        <a:cs typeface="Times New Roman" charset="0"/>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F</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A=B</a:t>
                      </a:r>
                      <a:endParaRPr kumimoji="1" lang="zh-CN" altLang="en-US" sz="1800" b="1" i="0" u="none" strike="noStrike" cap="none" normalizeH="0" baseline="-30000">
                        <a:ln>
                          <a:noFill/>
                        </a:ln>
                        <a:solidFill>
                          <a:schemeClr val="tx1"/>
                        </a:solidFill>
                        <a:effectLst/>
                        <a:latin typeface="Times New Roman" charset="0"/>
                        <a:ea typeface="楷体_GB2312" charset="0"/>
                        <a:cs typeface="Times New Roman" charset="0"/>
                      </a:endParaRPr>
                    </a:p>
                  </a:txBody>
                  <a:tcPr marL="0" marR="0" marT="0" marB="0" anchor="ctr" anchorCtr="1" horzOverflow="overflow">
                    <a:lnL w="12700" cap="flat" cmpd="sng" algn="ctr">
                      <a:solidFill>
                        <a:srgbClr val="000000"/>
                      </a:solidFill>
                      <a:prstDash val="solid"/>
                      <a:round/>
                      <a:headEnd type="none" w="med" len="med"/>
                      <a:tailEnd type="none" w="med" len="med"/>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5750">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750">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dirty="0">
                          <a:ln>
                            <a:noFill/>
                          </a:ln>
                          <a:solidFill>
                            <a:schemeClr val="tx1"/>
                          </a:solidFill>
                          <a:effectLst/>
                          <a:latin typeface="Times New Roman" charset="0"/>
                          <a:ea typeface="宋体" charset="0"/>
                          <a:cs typeface="Times New Roman" charset="0"/>
                        </a:rPr>
                        <a:t>1</a:t>
                      </a:r>
                      <a:endParaRPr kumimoji="0" lang="en-US" altLang="zh-CN" sz="1800" b="0" i="0" u="none" strike="noStrike" cap="none" normalizeH="0" baseline="0" dirty="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5750">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1</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1</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5750">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1</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1</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dirty="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 name="Text Box 58">
            <a:extLst>
              <a:ext uri="{FF2B5EF4-FFF2-40B4-BE49-F238E27FC236}">
                <a16:creationId xmlns:a16="http://schemas.microsoft.com/office/drawing/2014/main" id="{297CAE6B-7192-D693-5936-C881D9F38613}"/>
              </a:ext>
            </a:extLst>
          </p:cNvPr>
          <p:cNvSpPr txBox="1">
            <a:spLocks noChangeArrowheads="1"/>
          </p:cNvSpPr>
          <p:nvPr/>
        </p:nvSpPr>
        <p:spPr bwMode="auto">
          <a:xfrm>
            <a:off x="6885464" y="581504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latin typeface="Arial" panose="020B0604020202020204" pitchFamily="34" charset="0"/>
              </a:rPr>
              <a:t>逻辑图</a:t>
            </a:r>
          </a:p>
        </p:txBody>
      </p:sp>
      <p:graphicFrame>
        <p:nvGraphicFramePr>
          <p:cNvPr id="12" name="Object 6">
            <a:extLst>
              <a:ext uri="{FF2B5EF4-FFF2-40B4-BE49-F238E27FC236}">
                <a16:creationId xmlns:a16="http://schemas.microsoft.com/office/drawing/2014/main" id="{C404D2FC-BD53-DA5A-5A01-91F476F278DD}"/>
              </a:ext>
            </a:extLst>
          </p:cNvPr>
          <p:cNvGraphicFramePr>
            <a:graphicFrameLocks noChangeAspect="1"/>
          </p:cNvGraphicFramePr>
          <p:nvPr>
            <p:extLst>
              <p:ext uri="{D42A27DB-BD31-4B8C-83A1-F6EECF244321}">
                <p14:modId xmlns:p14="http://schemas.microsoft.com/office/powerpoint/2010/main" val="97527180"/>
              </p:ext>
            </p:extLst>
          </p:nvPr>
        </p:nvGraphicFramePr>
        <p:xfrm>
          <a:off x="3962400" y="3736796"/>
          <a:ext cx="5229701" cy="2242621"/>
        </p:xfrm>
        <a:graphic>
          <a:graphicData uri="http://schemas.openxmlformats.org/presentationml/2006/ole">
            <mc:AlternateContent xmlns:mc="http://schemas.openxmlformats.org/markup-compatibility/2006">
              <mc:Choice xmlns:v="urn:schemas-microsoft-com:vml" Requires="v">
                <p:oleObj name="Picture" r:id="rId9" imgW="2288282" imgH="970694" progId="Word.Picture.8">
                  <p:embed/>
                </p:oleObj>
              </mc:Choice>
              <mc:Fallback>
                <p:oleObj name="Picture" r:id="rId9" imgW="2288282" imgH="970694" progId="Word.Picture.8">
                  <p:embed/>
                  <p:pic>
                    <p:nvPicPr>
                      <p:cNvPr id="8242" name="Object 6"/>
                      <p:cNvPicPr>
                        <a:picLocks noChangeAspect="1" noChangeArrowheads="1"/>
                      </p:cNvPicPr>
                      <p:nvPr/>
                    </p:nvPicPr>
                    <p:blipFill>
                      <a:blip r:embed="rId10">
                        <a:extLst>
                          <a:ext uri="{28A0092B-C50C-407E-A947-70E740481C1C}">
                            <a14:useLocalDpi xmlns:a14="http://schemas.microsoft.com/office/drawing/2010/main" val="0"/>
                          </a:ext>
                        </a:extLst>
                      </a:blip>
                      <a:srcRect t="-1486"/>
                      <a:stretch>
                        <a:fillRect/>
                      </a:stretch>
                    </p:blipFill>
                    <p:spPr bwMode="auto">
                      <a:xfrm>
                        <a:off x="3962400" y="3736796"/>
                        <a:ext cx="5229701" cy="224262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246820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E7002E-25F7-5660-54A4-81628EDD30BA}"/>
              </a:ext>
            </a:extLst>
          </p:cNvPr>
          <p:cNvSpPr>
            <a:spLocks noGrp="1"/>
          </p:cNvSpPr>
          <p:nvPr>
            <p:ph type="title"/>
          </p:nvPr>
        </p:nvSpPr>
        <p:spPr/>
        <p:txBody>
          <a:bodyPr>
            <a:normAutofit fontScale="90000"/>
          </a:bodyPr>
          <a:lstStyle/>
          <a:p>
            <a:r>
              <a:rPr lang="zh-CN" altLang="en-US" dirty="0"/>
              <a:t>两位数值比较器</a:t>
            </a:r>
            <a:endParaRPr kumimoji="1" lang="zh-CN" altLang="en-US" dirty="0"/>
          </a:p>
        </p:txBody>
      </p:sp>
      <p:sp>
        <p:nvSpPr>
          <p:cNvPr id="3" name="内容占位符 2">
            <a:extLst>
              <a:ext uri="{FF2B5EF4-FFF2-40B4-BE49-F238E27FC236}">
                <a16:creationId xmlns:a16="http://schemas.microsoft.com/office/drawing/2014/main" id="{357CAC21-E1F3-A0EE-BB94-069CF6A0C1BA}"/>
              </a:ext>
            </a:extLst>
          </p:cNvPr>
          <p:cNvSpPr>
            <a:spLocks noGrp="1"/>
          </p:cNvSpPr>
          <p:nvPr>
            <p:ph idx="1"/>
          </p:nvPr>
        </p:nvSpPr>
        <p:spPr/>
        <p:txBody>
          <a:bodyPr/>
          <a:lstStyle/>
          <a:p>
            <a:r>
              <a:rPr lang="zh-CN" altLang="en-US" dirty="0"/>
              <a:t>利用一位数值比较器设计两位数值比较器</a:t>
            </a:r>
          </a:p>
          <a:p>
            <a:r>
              <a:rPr lang="zh-CN" altLang="en-US" dirty="0"/>
              <a:t>待比较的两个</a:t>
            </a:r>
            <a:r>
              <a:rPr lang="en-US" altLang="zh-CN" dirty="0"/>
              <a:t>2</a:t>
            </a:r>
            <a:r>
              <a:rPr lang="zh-CN" altLang="en-US" dirty="0"/>
              <a:t>位二进制数：</a:t>
            </a:r>
            <a:r>
              <a:rPr lang="en-US" altLang="zh-CN" dirty="0"/>
              <a:t>A = A</a:t>
            </a:r>
            <a:r>
              <a:rPr lang="en-US" altLang="zh-CN" sz="2000" dirty="0"/>
              <a:t>1</a:t>
            </a:r>
            <a:r>
              <a:rPr lang="en-US" altLang="zh-CN" dirty="0"/>
              <a:t>A</a:t>
            </a:r>
            <a:r>
              <a:rPr lang="en-US" altLang="zh-CN" sz="2000" dirty="0"/>
              <a:t>0</a:t>
            </a:r>
            <a:r>
              <a:rPr lang="zh-CN" altLang="en-US" dirty="0"/>
              <a:t>，</a:t>
            </a:r>
            <a:r>
              <a:rPr lang="en-US" altLang="zh-CN" dirty="0"/>
              <a:t>B = B</a:t>
            </a:r>
            <a:r>
              <a:rPr lang="en-US" altLang="zh-CN" sz="2000" dirty="0"/>
              <a:t>1</a:t>
            </a:r>
            <a:r>
              <a:rPr lang="en-US" altLang="zh-CN" dirty="0"/>
              <a:t>B</a:t>
            </a:r>
            <a:r>
              <a:rPr lang="en-US" altLang="zh-CN" sz="2000" dirty="0"/>
              <a:t>0</a:t>
            </a:r>
            <a:endParaRPr lang="zh-CN" altLang="en-US" dirty="0"/>
          </a:p>
          <a:p>
            <a:pPr lvl="1"/>
            <a:r>
              <a:rPr lang="zh-CN" altLang="en-US" dirty="0"/>
              <a:t>先比较高位</a:t>
            </a:r>
            <a:r>
              <a:rPr lang="en-US" altLang="zh-CN" dirty="0"/>
              <a:t>A</a:t>
            </a:r>
            <a:r>
              <a:rPr lang="en-US" altLang="zh-CN" baseline="-25000" dirty="0"/>
              <a:t>1</a:t>
            </a:r>
            <a:r>
              <a:rPr lang="zh-CN" altLang="en-US" dirty="0"/>
              <a:t>和</a:t>
            </a:r>
            <a:r>
              <a:rPr lang="en-US" altLang="zh-CN" dirty="0"/>
              <a:t>B</a:t>
            </a:r>
            <a:r>
              <a:rPr lang="en-US" altLang="zh-CN" baseline="-25000" dirty="0"/>
              <a:t>1</a:t>
            </a:r>
          </a:p>
          <a:p>
            <a:pPr lvl="1"/>
            <a:r>
              <a:rPr lang="zh-CN" altLang="en-US" dirty="0"/>
              <a:t>只有高位相等，才比较低位</a:t>
            </a:r>
            <a:r>
              <a:rPr lang="en-US" altLang="zh-CN" dirty="0"/>
              <a:t>A</a:t>
            </a:r>
            <a:r>
              <a:rPr lang="en-US" altLang="zh-CN" baseline="-25000" dirty="0"/>
              <a:t>0</a:t>
            </a:r>
            <a:r>
              <a:rPr lang="zh-CN" altLang="en-US" dirty="0"/>
              <a:t>和</a:t>
            </a:r>
            <a:r>
              <a:rPr lang="en-US" altLang="zh-CN" dirty="0"/>
              <a:t>B</a:t>
            </a:r>
            <a:r>
              <a:rPr lang="en-US" altLang="zh-CN" baseline="-25000" dirty="0"/>
              <a:t>0</a:t>
            </a:r>
          </a:p>
          <a:p>
            <a:endParaRPr kumimoji="1" lang="zh-CN" altLang="en-US" dirty="0"/>
          </a:p>
        </p:txBody>
      </p:sp>
      <p:sp>
        <p:nvSpPr>
          <p:cNvPr id="4" name="页脚占位符 3">
            <a:extLst>
              <a:ext uri="{FF2B5EF4-FFF2-40B4-BE49-F238E27FC236}">
                <a16:creationId xmlns:a16="http://schemas.microsoft.com/office/drawing/2014/main" id="{3B3B9873-1E6F-2D1F-AA34-FF70DA0CC09A}"/>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5CB449AA-3F7C-B97E-4D47-D46A0422A891}"/>
              </a:ext>
            </a:extLst>
          </p:cNvPr>
          <p:cNvSpPr>
            <a:spLocks noGrp="1"/>
          </p:cNvSpPr>
          <p:nvPr>
            <p:ph type="sldNum" sz="quarter" idx="12"/>
          </p:nvPr>
        </p:nvSpPr>
        <p:spPr/>
        <p:txBody>
          <a:bodyPr/>
          <a:lstStyle/>
          <a:p>
            <a:fld id="{9E260BC5-5BF3-8746-862B-DC45E9CAA88B}" type="slidenum">
              <a:rPr lang="en-US" smtClean="0"/>
              <a:pPr/>
              <a:t>4</a:t>
            </a:fld>
            <a:r>
              <a:rPr lang="en-US" altLang="zh-CN" dirty="0"/>
              <a:t>/25</a:t>
            </a:r>
            <a:endParaRPr lang="en-US" dirty="0"/>
          </a:p>
        </p:txBody>
      </p:sp>
      <p:sp>
        <p:nvSpPr>
          <p:cNvPr id="9" name="Text Box 4">
            <a:extLst>
              <a:ext uri="{FF2B5EF4-FFF2-40B4-BE49-F238E27FC236}">
                <a16:creationId xmlns:a16="http://schemas.microsoft.com/office/drawing/2014/main" id="{E4169951-DEC3-D0F5-3E70-4D25E5A29B51}"/>
              </a:ext>
            </a:extLst>
          </p:cNvPr>
          <p:cNvSpPr txBox="1">
            <a:spLocks noChangeArrowheads="1"/>
          </p:cNvSpPr>
          <p:nvPr/>
        </p:nvSpPr>
        <p:spPr bwMode="auto">
          <a:xfrm>
            <a:off x="6975158" y="2105071"/>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latin typeface="Arial" panose="020B0604020202020204" pitchFamily="34" charset="0"/>
              </a:rPr>
              <a:t>真值表</a:t>
            </a:r>
          </a:p>
        </p:txBody>
      </p:sp>
      <p:graphicFrame>
        <p:nvGraphicFramePr>
          <p:cNvPr id="10" name="Group 5">
            <a:extLst>
              <a:ext uri="{FF2B5EF4-FFF2-40B4-BE49-F238E27FC236}">
                <a16:creationId xmlns:a16="http://schemas.microsoft.com/office/drawing/2014/main" id="{93831271-8489-1A90-41B8-E262E7E757CB}"/>
              </a:ext>
            </a:extLst>
          </p:cNvPr>
          <p:cNvGraphicFramePr>
            <a:graphicFrameLocks noGrp="1"/>
          </p:cNvGraphicFramePr>
          <p:nvPr>
            <p:extLst>
              <p:ext uri="{D42A27DB-BD31-4B8C-83A1-F6EECF244321}">
                <p14:modId xmlns:p14="http://schemas.microsoft.com/office/powerpoint/2010/main" val="3046393312"/>
              </p:ext>
            </p:extLst>
          </p:nvPr>
        </p:nvGraphicFramePr>
        <p:xfrm>
          <a:off x="5571808" y="2644821"/>
          <a:ext cx="4032250" cy="3122613"/>
        </p:xfrm>
        <a:graphic>
          <a:graphicData uri="http://schemas.openxmlformats.org/drawingml/2006/table">
            <a:tbl>
              <a:tblPr/>
              <a:tblGrid>
                <a:gridCol w="793750">
                  <a:extLst>
                    <a:ext uri="{9D8B030D-6E8A-4147-A177-3AD203B41FA5}">
                      <a16:colId xmlns:a16="http://schemas.microsoft.com/office/drawing/2014/main" val="20000"/>
                    </a:ext>
                  </a:extLst>
                </a:gridCol>
                <a:gridCol w="998537">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755650">
                  <a:extLst>
                    <a:ext uri="{9D8B030D-6E8A-4147-A177-3AD203B41FA5}">
                      <a16:colId xmlns:a16="http://schemas.microsoft.com/office/drawing/2014/main" val="20003"/>
                    </a:ext>
                  </a:extLst>
                </a:gridCol>
                <a:gridCol w="655638">
                  <a:extLst>
                    <a:ext uri="{9D8B030D-6E8A-4147-A177-3AD203B41FA5}">
                      <a16:colId xmlns:a16="http://schemas.microsoft.com/office/drawing/2014/main" val="20004"/>
                    </a:ext>
                  </a:extLst>
                </a:gridCol>
              </a:tblGrid>
              <a:tr h="633413">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1</a:t>
                      </a: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  B</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0</a:t>
                      </a: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  B</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F</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A&gt;B</a:t>
                      </a: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F</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A&lt;B</a:t>
                      </a:r>
                      <a:endParaRPr kumimoji="1" lang="zh-CN" altLang="en-US" sz="1800" b="1" i="0" u="none" strike="noStrike" cap="none" normalizeH="0" baseline="-30000">
                        <a:ln>
                          <a:noFill/>
                        </a:ln>
                        <a:solidFill>
                          <a:schemeClr val="tx1"/>
                        </a:solidFill>
                        <a:effectLst/>
                        <a:latin typeface="Times New Roman" charset="0"/>
                        <a:ea typeface="楷体_GB2312" charset="0"/>
                        <a:cs typeface="Times New Roman" charset="0"/>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1" lang="en-US" altLang="zh-CN" sz="1800" b="1" i="0" u="none" strike="noStrike" cap="none" normalizeH="0" baseline="0">
                          <a:ln>
                            <a:noFill/>
                          </a:ln>
                          <a:solidFill>
                            <a:schemeClr val="tx1"/>
                          </a:solidFill>
                          <a:effectLst/>
                          <a:latin typeface="Times New Roman" charset="0"/>
                          <a:ea typeface="楷体_GB2312" charset="0"/>
                          <a:cs typeface="Times New Roman" charset="0"/>
                        </a:rPr>
                        <a:t>F</a:t>
                      </a:r>
                      <a:r>
                        <a:rPr kumimoji="1" lang="en-US" altLang="zh-CN" sz="1800" b="1" i="0" u="none" strike="noStrike" cap="none" normalizeH="0" baseline="-30000">
                          <a:ln>
                            <a:noFill/>
                          </a:ln>
                          <a:solidFill>
                            <a:schemeClr val="tx1"/>
                          </a:solidFill>
                          <a:effectLst/>
                          <a:latin typeface="Times New Roman" charset="0"/>
                          <a:ea typeface="楷体_GB2312" charset="0"/>
                          <a:cs typeface="Times New Roman" charset="0"/>
                        </a:rPr>
                        <a:t>A=B</a:t>
                      </a:r>
                      <a:endParaRPr kumimoji="1" lang="zh-CN" altLang="en-US" sz="1800" b="1" i="0" u="none" strike="noStrike" cap="none" normalizeH="0" baseline="-30000">
                        <a:ln>
                          <a:noFill/>
                        </a:ln>
                        <a:solidFill>
                          <a:schemeClr val="tx1"/>
                        </a:solidFill>
                        <a:effectLst/>
                        <a:latin typeface="Times New Roman" charset="0"/>
                        <a:ea typeface="楷体_GB2312" charset="0"/>
                        <a:cs typeface="Times New Roman" charset="0"/>
                      </a:endParaRPr>
                    </a:p>
                  </a:txBody>
                  <a:tcPr marL="0" marR="0" marT="0" marB="0" anchor="ctr" anchorCtr="1" horzOverflow="overflow">
                    <a:lnL w="12700" cap="flat" cmpd="sng" algn="ctr">
                      <a:solidFill>
                        <a:srgbClr val="000000"/>
                      </a:solidFill>
                      <a:prstDash val="solid"/>
                      <a:round/>
                      <a:headEnd type="none" w="med" len="med"/>
                      <a:tailEnd type="none" w="med" len="med"/>
                    </a:lnL>
                    <a:lnR>
                      <a:noFill/>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8475">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1</a:t>
                      </a: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&gt;B</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600" b="0" i="0" u="none" strike="noStrike" cap="none" normalizeH="0" baseline="0">
                          <a:ln>
                            <a:noFill/>
                          </a:ln>
                          <a:solidFill>
                            <a:schemeClr val="tx1"/>
                          </a:solidFill>
                          <a:effectLst/>
                          <a:latin typeface="Times New Roman" charset="0"/>
                          <a:ea typeface="宋体" charset="0"/>
                          <a:cs typeface="Times New Roman" charset="0"/>
                        </a:rPr>
                        <a:t>x</a:t>
                      </a:r>
                      <a:endParaRPr kumimoji="0" lang="en-US" altLang="zh-CN" sz="16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1</a:t>
                      </a:r>
                      <a:endParaRPr kumimoji="0" lang="en-US" altLang="zh-CN" sz="1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8475">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1</a:t>
                      </a: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&lt;B</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600" b="0" i="0" u="none" strike="noStrike" cap="none" normalizeH="0" baseline="0">
                          <a:ln>
                            <a:noFill/>
                          </a:ln>
                          <a:solidFill>
                            <a:schemeClr val="tx1"/>
                          </a:solidFill>
                          <a:effectLst/>
                          <a:latin typeface="Times New Roman" charset="0"/>
                          <a:ea typeface="宋体" charset="0"/>
                          <a:cs typeface="Times New Roman" charset="0"/>
                        </a:rPr>
                        <a:t>x</a:t>
                      </a:r>
                      <a:endParaRPr kumimoji="0" lang="en-US" altLang="zh-CN" sz="16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rowSpan="3">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1</a:t>
                      </a: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=B</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1</a:t>
                      </a:r>
                    </a:p>
                  </a:txBody>
                  <a:tcPr marL="0" marR="0" marT="0" marB="0" anchor="ctr" anchorCtr="1"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0</a:t>
                      </a: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&gt;B</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1</a:t>
                      </a:r>
                      <a:endParaRPr kumimoji="0" lang="en-US" altLang="zh-CN" sz="1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8475">
                <a:tc vMerge="1">
                  <a:txBody>
                    <a:bodyPr/>
                    <a:lstStyle/>
                    <a:p>
                      <a:endParaRPr lang="en-US"/>
                    </a:p>
                  </a:txBody>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0</a:t>
                      </a: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&lt;B</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8475">
                <a:tc vMerge="1">
                  <a:txBody>
                    <a:bodyPr/>
                    <a:lstStyle/>
                    <a:p>
                      <a:endParaRPr lang="en-US"/>
                    </a:p>
                  </a:txBody>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A</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0</a:t>
                      </a:r>
                      <a:r>
                        <a:rPr kumimoji="1" lang="en-US" altLang="zh-CN" sz="1600" b="1" i="0" u="none" strike="noStrike" cap="none" normalizeH="0" baseline="0">
                          <a:ln>
                            <a:noFill/>
                          </a:ln>
                          <a:solidFill>
                            <a:schemeClr val="tx1"/>
                          </a:solidFill>
                          <a:effectLst/>
                          <a:latin typeface="Times New Roman" charset="0"/>
                          <a:ea typeface="楷体_GB2312" charset="0"/>
                          <a:cs typeface="Times New Roman" charset="0"/>
                        </a:rPr>
                        <a:t>=B</a:t>
                      </a:r>
                      <a:r>
                        <a:rPr kumimoji="1" lang="en-US" altLang="zh-CN" sz="1600" b="1" i="0" u="none" strike="noStrike" cap="none" normalizeH="0" baseline="-30000">
                          <a:ln>
                            <a:noFill/>
                          </a:ln>
                          <a:solidFill>
                            <a:schemeClr val="tx1"/>
                          </a:solidFill>
                          <a:effectLst/>
                          <a:latin typeface="Times New Roman" charset="0"/>
                          <a:ea typeface="楷体_GB2312" charset="0"/>
                          <a:cs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Times New Roman" charset="0"/>
                        </a:rPr>
                        <a:t>0</a:t>
                      </a:r>
                      <a:endParaRPr kumimoji="0" lang="en-US" altLang="zh-CN" sz="18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 name="Rectangle 5">
            <a:extLst>
              <a:ext uri="{FF2B5EF4-FFF2-40B4-BE49-F238E27FC236}">
                <a16:creationId xmlns:a16="http://schemas.microsoft.com/office/drawing/2014/main" id="{29030DEE-9BD0-141E-ACB3-50CB99C55996}"/>
              </a:ext>
            </a:extLst>
          </p:cNvPr>
          <p:cNvSpPr>
            <a:spLocks noChangeArrowheads="1"/>
          </p:cNvSpPr>
          <p:nvPr/>
        </p:nvSpPr>
        <p:spPr bwMode="auto">
          <a:xfrm>
            <a:off x="606108" y="4785280"/>
            <a:ext cx="5183187" cy="457200"/>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dirty="0"/>
              <a:t>F</a:t>
            </a:r>
            <a:r>
              <a:rPr lang="en-US" altLang="zh-CN" sz="2400" baseline="-25000" dirty="0"/>
              <a:t>A&gt;B </a:t>
            </a:r>
            <a:r>
              <a:rPr lang="en-US" altLang="zh-CN" sz="2400" dirty="0"/>
              <a:t>= (A</a:t>
            </a:r>
            <a:r>
              <a:rPr lang="en-US" altLang="zh-CN" sz="2400" baseline="-25000" dirty="0"/>
              <a:t>1</a:t>
            </a:r>
            <a:r>
              <a:rPr lang="en-US" altLang="zh-CN" sz="2400" dirty="0"/>
              <a:t>&gt;B</a:t>
            </a:r>
            <a:r>
              <a:rPr lang="en-US" altLang="zh-CN" sz="2400" baseline="-25000" dirty="0"/>
              <a:t>1</a:t>
            </a:r>
            <a:r>
              <a:rPr lang="en-US" altLang="zh-CN" sz="2400" dirty="0"/>
              <a:t>) + (A</a:t>
            </a:r>
            <a:r>
              <a:rPr lang="en-US" altLang="zh-CN" sz="2400" baseline="-25000" dirty="0"/>
              <a:t>1</a:t>
            </a:r>
            <a:r>
              <a:rPr lang="en-US" altLang="zh-CN" sz="2400" dirty="0"/>
              <a:t>=B</a:t>
            </a:r>
            <a:r>
              <a:rPr lang="en-US" altLang="zh-CN" sz="2400" baseline="-25000" dirty="0"/>
              <a:t>1</a:t>
            </a:r>
            <a:r>
              <a:rPr lang="en-US" altLang="zh-CN" sz="2400" dirty="0"/>
              <a:t>)(A</a:t>
            </a:r>
            <a:r>
              <a:rPr lang="en-US" altLang="zh-CN" sz="2400" baseline="-25000" dirty="0"/>
              <a:t>0</a:t>
            </a:r>
            <a:r>
              <a:rPr lang="en-US" altLang="zh-CN" sz="2400" dirty="0"/>
              <a:t>&gt;B</a:t>
            </a:r>
            <a:r>
              <a:rPr lang="en-US" altLang="zh-CN" sz="2400" baseline="-25000" dirty="0"/>
              <a:t>0</a:t>
            </a:r>
            <a:r>
              <a:rPr lang="en-US" altLang="zh-CN" sz="2400" dirty="0"/>
              <a:t>)</a:t>
            </a:r>
          </a:p>
        </p:txBody>
      </p:sp>
      <p:sp>
        <p:nvSpPr>
          <p:cNvPr id="12" name="Rectangle 6">
            <a:extLst>
              <a:ext uri="{FF2B5EF4-FFF2-40B4-BE49-F238E27FC236}">
                <a16:creationId xmlns:a16="http://schemas.microsoft.com/office/drawing/2014/main" id="{AF1E9254-E69D-8679-78BE-B65E1CCC2531}"/>
              </a:ext>
            </a:extLst>
          </p:cNvPr>
          <p:cNvSpPr>
            <a:spLocks noChangeArrowheads="1"/>
          </p:cNvSpPr>
          <p:nvPr/>
        </p:nvSpPr>
        <p:spPr bwMode="auto">
          <a:xfrm>
            <a:off x="604520" y="4172505"/>
            <a:ext cx="3073400" cy="457200"/>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dirty="0"/>
              <a:t>F</a:t>
            </a:r>
            <a:r>
              <a:rPr lang="en-US" altLang="zh-CN" sz="2400" baseline="-25000" dirty="0"/>
              <a:t>A=B </a:t>
            </a:r>
            <a:r>
              <a:rPr lang="en-US" altLang="zh-CN" sz="2400" dirty="0"/>
              <a:t>= (A</a:t>
            </a:r>
            <a:r>
              <a:rPr lang="en-US" altLang="zh-CN" sz="2400" baseline="-25000" dirty="0"/>
              <a:t>1</a:t>
            </a:r>
            <a:r>
              <a:rPr lang="en-US" altLang="zh-CN" sz="2400" dirty="0"/>
              <a:t>=B</a:t>
            </a:r>
            <a:r>
              <a:rPr lang="en-US" altLang="zh-CN" sz="2400" baseline="-25000" dirty="0"/>
              <a:t>1</a:t>
            </a:r>
            <a:r>
              <a:rPr lang="en-US" altLang="zh-CN" sz="2400" dirty="0"/>
              <a:t>)(A</a:t>
            </a:r>
            <a:r>
              <a:rPr lang="en-US" altLang="zh-CN" sz="2400" baseline="-25000" dirty="0"/>
              <a:t>0</a:t>
            </a:r>
            <a:r>
              <a:rPr lang="en-US" altLang="zh-CN" sz="2400" dirty="0"/>
              <a:t>=B</a:t>
            </a:r>
            <a:r>
              <a:rPr lang="en-US" altLang="zh-CN" sz="2400" baseline="-25000" dirty="0"/>
              <a:t>0</a:t>
            </a:r>
            <a:r>
              <a:rPr lang="en-US" altLang="zh-CN" sz="2400" dirty="0"/>
              <a:t>)</a:t>
            </a:r>
          </a:p>
        </p:txBody>
      </p:sp>
      <p:sp>
        <p:nvSpPr>
          <p:cNvPr id="13" name="Rectangle 7">
            <a:extLst>
              <a:ext uri="{FF2B5EF4-FFF2-40B4-BE49-F238E27FC236}">
                <a16:creationId xmlns:a16="http://schemas.microsoft.com/office/drawing/2014/main" id="{0495ACE8-4C0B-868E-77A2-D59990C7793D}"/>
              </a:ext>
            </a:extLst>
          </p:cNvPr>
          <p:cNvSpPr>
            <a:spLocks noChangeArrowheads="1"/>
          </p:cNvSpPr>
          <p:nvPr/>
        </p:nvSpPr>
        <p:spPr bwMode="auto">
          <a:xfrm>
            <a:off x="604520" y="5385355"/>
            <a:ext cx="4967288" cy="457200"/>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t>F</a:t>
            </a:r>
            <a:r>
              <a:rPr lang="en-US" altLang="zh-CN" sz="2400" baseline="-25000"/>
              <a:t>A&lt;B </a:t>
            </a:r>
            <a:r>
              <a:rPr lang="en-US" altLang="zh-CN" sz="2400"/>
              <a:t>= (A</a:t>
            </a:r>
            <a:r>
              <a:rPr lang="en-US" altLang="zh-CN" sz="2400" baseline="-25000"/>
              <a:t>1</a:t>
            </a:r>
            <a:r>
              <a:rPr lang="en-US" altLang="zh-CN" sz="2400"/>
              <a:t>&lt;B</a:t>
            </a:r>
            <a:r>
              <a:rPr lang="en-US" altLang="zh-CN" sz="2400" baseline="-25000"/>
              <a:t>1</a:t>
            </a:r>
            <a:r>
              <a:rPr lang="en-US" altLang="zh-CN" sz="2400"/>
              <a:t>) + (A</a:t>
            </a:r>
            <a:r>
              <a:rPr lang="en-US" altLang="zh-CN" sz="2400" baseline="-25000"/>
              <a:t>1</a:t>
            </a:r>
            <a:r>
              <a:rPr lang="en-US" altLang="zh-CN" sz="2400"/>
              <a:t>=B</a:t>
            </a:r>
            <a:r>
              <a:rPr lang="en-US" altLang="zh-CN" sz="2400" baseline="-25000"/>
              <a:t>1</a:t>
            </a:r>
            <a:r>
              <a:rPr lang="en-US" altLang="zh-CN" sz="2400"/>
              <a:t>)(A</a:t>
            </a:r>
            <a:r>
              <a:rPr lang="en-US" altLang="zh-CN" sz="2400" baseline="-25000"/>
              <a:t>0</a:t>
            </a:r>
            <a:r>
              <a:rPr lang="en-US" altLang="zh-CN" sz="2400"/>
              <a:t>&lt;B</a:t>
            </a:r>
            <a:r>
              <a:rPr lang="en-US" altLang="zh-CN" sz="2400" baseline="-25000"/>
              <a:t>0</a:t>
            </a:r>
            <a:r>
              <a:rPr lang="en-US" altLang="zh-CN" sz="2400"/>
              <a:t>)</a:t>
            </a:r>
          </a:p>
        </p:txBody>
      </p:sp>
    </p:spTree>
    <p:extLst>
      <p:ext uri="{BB962C8B-B14F-4D97-AF65-F5344CB8AC3E}">
        <p14:creationId xmlns:p14="http://schemas.microsoft.com/office/powerpoint/2010/main" val="357245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E52EE9-AEDA-86DB-C1A7-C083CCDDDCEA}"/>
              </a:ext>
            </a:extLst>
          </p:cNvPr>
          <p:cNvSpPr>
            <a:spLocks noGrp="1"/>
          </p:cNvSpPr>
          <p:nvPr>
            <p:ph type="title"/>
          </p:nvPr>
        </p:nvSpPr>
        <p:spPr/>
        <p:txBody>
          <a:bodyPr>
            <a:normAutofit fontScale="90000"/>
          </a:bodyPr>
          <a:lstStyle/>
          <a:p>
            <a:r>
              <a:rPr lang="zh-CN" altLang="en-US" dirty="0"/>
              <a:t>两位数值比较器</a:t>
            </a:r>
            <a:r>
              <a:rPr lang="en-US" altLang="zh-CN" dirty="0">
                <a:latin typeface="宋体" panose="02010600030101010101" pitchFamily="2" charset="-122"/>
              </a:rPr>
              <a:t>(</a:t>
            </a:r>
            <a:r>
              <a:rPr lang="zh-CN" altLang="en-US" dirty="0">
                <a:latin typeface="宋体" panose="02010600030101010101" pitchFamily="2" charset="-122"/>
              </a:rPr>
              <a:t>续</a:t>
            </a:r>
            <a:r>
              <a:rPr lang="en-US" altLang="zh-CN" dirty="0">
                <a:latin typeface="宋体" panose="02010600030101010101" pitchFamily="2" charset="-122"/>
              </a:rPr>
              <a:t>)</a:t>
            </a:r>
            <a:endParaRPr kumimoji="1" lang="zh-CN" altLang="en-US" dirty="0"/>
          </a:p>
        </p:txBody>
      </p:sp>
      <p:sp>
        <p:nvSpPr>
          <p:cNvPr id="3" name="内容占位符 2">
            <a:extLst>
              <a:ext uri="{FF2B5EF4-FFF2-40B4-BE49-F238E27FC236}">
                <a16:creationId xmlns:a16="http://schemas.microsoft.com/office/drawing/2014/main" id="{D1301B0B-D4AD-8745-E37D-F0E34474A08C}"/>
              </a:ext>
            </a:extLst>
          </p:cNvPr>
          <p:cNvSpPr>
            <a:spLocks noGrp="1"/>
          </p:cNvSpPr>
          <p:nvPr>
            <p:ph idx="1"/>
          </p:nvPr>
        </p:nvSpPr>
        <p:spPr/>
        <p:txBody>
          <a:bodyPr/>
          <a:lstStyle/>
          <a:p>
            <a:r>
              <a:rPr lang="zh-CN" altLang="en-US" dirty="0"/>
              <a:t>逻辑图</a:t>
            </a:r>
          </a:p>
          <a:p>
            <a:endParaRPr kumimoji="1" lang="zh-CN" altLang="en-US" dirty="0"/>
          </a:p>
        </p:txBody>
      </p:sp>
      <p:sp>
        <p:nvSpPr>
          <p:cNvPr id="4" name="页脚占位符 3">
            <a:extLst>
              <a:ext uri="{FF2B5EF4-FFF2-40B4-BE49-F238E27FC236}">
                <a16:creationId xmlns:a16="http://schemas.microsoft.com/office/drawing/2014/main" id="{2A9C1244-DBAF-16B3-39E4-37D458C68E16}"/>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931021ED-8772-CF49-181D-8ADCF34A9F9C}"/>
              </a:ext>
            </a:extLst>
          </p:cNvPr>
          <p:cNvSpPr>
            <a:spLocks noGrp="1"/>
          </p:cNvSpPr>
          <p:nvPr>
            <p:ph type="sldNum" sz="quarter" idx="12"/>
          </p:nvPr>
        </p:nvSpPr>
        <p:spPr/>
        <p:txBody>
          <a:bodyPr/>
          <a:lstStyle/>
          <a:p>
            <a:fld id="{9E260BC5-5BF3-8746-862B-DC45E9CAA88B}" type="slidenum">
              <a:rPr lang="en-US" smtClean="0"/>
              <a:pPr/>
              <a:t>5</a:t>
            </a:fld>
            <a:r>
              <a:rPr lang="en-US" altLang="zh-CN" dirty="0"/>
              <a:t>/25</a:t>
            </a:r>
            <a:endParaRPr lang="en-US" dirty="0"/>
          </a:p>
        </p:txBody>
      </p:sp>
      <p:sp>
        <p:nvSpPr>
          <p:cNvPr id="6" name="Rectangle 5">
            <a:extLst>
              <a:ext uri="{FF2B5EF4-FFF2-40B4-BE49-F238E27FC236}">
                <a16:creationId xmlns:a16="http://schemas.microsoft.com/office/drawing/2014/main" id="{8BBADFB0-7A19-2A54-C9F3-97BF632061EC}"/>
              </a:ext>
            </a:extLst>
          </p:cNvPr>
          <p:cNvSpPr>
            <a:spLocks noChangeArrowheads="1"/>
          </p:cNvSpPr>
          <p:nvPr/>
        </p:nvSpPr>
        <p:spPr bwMode="auto">
          <a:xfrm>
            <a:off x="606108" y="4785280"/>
            <a:ext cx="5183187" cy="457200"/>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dirty="0"/>
              <a:t>F</a:t>
            </a:r>
            <a:r>
              <a:rPr lang="en-US" altLang="zh-CN" sz="2400" baseline="-25000" dirty="0"/>
              <a:t>A&gt;B </a:t>
            </a:r>
            <a:r>
              <a:rPr lang="en-US" altLang="zh-CN" sz="2400" dirty="0"/>
              <a:t>= (A</a:t>
            </a:r>
            <a:r>
              <a:rPr lang="en-US" altLang="zh-CN" sz="2400" baseline="-25000" dirty="0"/>
              <a:t>1</a:t>
            </a:r>
            <a:r>
              <a:rPr lang="en-US" altLang="zh-CN" sz="2400" dirty="0"/>
              <a:t>&gt;B</a:t>
            </a:r>
            <a:r>
              <a:rPr lang="en-US" altLang="zh-CN" sz="2400" baseline="-25000" dirty="0"/>
              <a:t>1</a:t>
            </a:r>
            <a:r>
              <a:rPr lang="en-US" altLang="zh-CN" sz="2400" dirty="0"/>
              <a:t>) + (A</a:t>
            </a:r>
            <a:r>
              <a:rPr lang="en-US" altLang="zh-CN" sz="2400" baseline="-25000" dirty="0"/>
              <a:t>1</a:t>
            </a:r>
            <a:r>
              <a:rPr lang="en-US" altLang="zh-CN" sz="2400" dirty="0"/>
              <a:t>=B</a:t>
            </a:r>
            <a:r>
              <a:rPr lang="en-US" altLang="zh-CN" sz="2400" baseline="-25000" dirty="0"/>
              <a:t>1</a:t>
            </a:r>
            <a:r>
              <a:rPr lang="en-US" altLang="zh-CN" sz="2400" dirty="0"/>
              <a:t>)(A</a:t>
            </a:r>
            <a:r>
              <a:rPr lang="en-US" altLang="zh-CN" sz="2400" baseline="-25000" dirty="0"/>
              <a:t>0</a:t>
            </a:r>
            <a:r>
              <a:rPr lang="en-US" altLang="zh-CN" sz="2400" dirty="0"/>
              <a:t>&gt;B</a:t>
            </a:r>
            <a:r>
              <a:rPr lang="en-US" altLang="zh-CN" sz="2400" baseline="-25000" dirty="0"/>
              <a:t>0</a:t>
            </a:r>
            <a:r>
              <a:rPr lang="en-US" altLang="zh-CN" sz="2400" dirty="0"/>
              <a:t>)</a:t>
            </a:r>
          </a:p>
        </p:txBody>
      </p:sp>
      <p:sp>
        <p:nvSpPr>
          <p:cNvPr id="7" name="Rectangle 6">
            <a:extLst>
              <a:ext uri="{FF2B5EF4-FFF2-40B4-BE49-F238E27FC236}">
                <a16:creationId xmlns:a16="http://schemas.microsoft.com/office/drawing/2014/main" id="{10BB46E1-B19F-2AA7-E296-C9F6612EF8A4}"/>
              </a:ext>
            </a:extLst>
          </p:cNvPr>
          <p:cNvSpPr>
            <a:spLocks noChangeArrowheads="1"/>
          </p:cNvSpPr>
          <p:nvPr/>
        </p:nvSpPr>
        <p:spPr bwMode="auto">
          <a:xfrm>
            <a:off x="604520" y="4172505"/>
            <a:ext cx="3073400" cy="457200"/>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dirty="0"/>
              <a:t>F</a:t>
            </a:r>
            <a:r>
              <a:rPr lang="en-US" altLang="zh-CN" sz="2400" baseline="-25000" dirty="0"/>
              <a:t>A=B </a:t>
            </a:r>
            <a:r>
              <a:rPr lang="en-US" altLang="zh-CN" sz="2400" dirty="0"/>
              <a:t>= (A</a:t>
            </a:r>
            <a:r>
              <a:rPr lang="en-US" altLang="zh-CN" sz="2400" baseline="-25000" dirty="0"/>
              <a:t>1</a:t>
            </a:r>
            <a:r>
              <a:rPr lang="en-US" altLang="zh-CN" sz="2400" dirty="0"/>
              <a:t>=B</a:t>
            </a:r>
            <a:r>
              <a:rPr lang="en-US" altLang="zh-CN" sz="2400" baseline="-25000" dirty="0"/>
              <a:t>1</a:t>
            </a:r>
            <a:r>
              <a:rPr lang="en-US" altLang="zh-CN" sz="2400" dirty="0"/>
              <a:t>)(A</a:t>
            </a:r>
            <a:r>
              <a:rPr lang="en-US" altLang="zh-CN" sz="2400" baseline="-25000" dirty="0"/>
              <a:t>0</a:t>
            </a:r>
            <a:r>
              <a:rPr lang="en-US" altLang="zh-CN" sz="2400" dirty="0"/>
              <a:t>=B</a:t>
            </a:r>
            <a:r>
              <a:rPr lang="en-US" altLang="zh-CN" sz="2400" baseline="-25000" dirty="0"/>
              <a:t>0</a:t>
            </a:r>
            <a:r>
              <a:rPr lang="en-US" altLang="zh-CN" sz="2400" dirty="0"/>
              <a:t>)</a:t>
            </a:r>
          </a:p>
        </p:txBody>
      </p:sp>
      <p:sp>
        <p:nvSpPr>
          <p:cNvPr id="8" name="Rectangle 7">
            <a:extLst>
              <a:ext uri="{FF2B5EF4-FFF2-40B4-BE49-F238E27FC236}">
                <a16:creationId xmlns:a16="http://schemas.microsoft.com/office/drawing/2014/main" id="{A71E8F5F-A121-6827-9F46-DEDA0EAB776C}"/>
              </a:ext>
            </a:extLst>
          </p:cNvPr>
          <p:cNvSpPr>
            <a:spLocks noChangeArrowheads="1"/>
          </p:cNvSpPr>
          <p:nvPr/>
        </p:nvSpPr>
        <p:spPr bwMode="auto">
          <a:xfrm>
            <a:off x="604520" y="5385355"/>
            <a:ext cx="4967288" cy="457200"/>
          </a:xfrm>
          <a:prstGeom prst="rect">
            <a:avLst/>
          </a:prstGeom>
          <a:solidFill>
            <a:srgbClr val="FFFFCC">
              <a:alpha val="0"/>
            </a:srgbClr>
          </a:solidFill>
          <a:ln>
            <a:noFill/>
          </a:ln>
          <a:extLst>
            <a:ext uri="{91240B29-F687-4F45-9708-019B960494DF}">
              <a14:hiddenLine xmlns:a14="http://schemas.microsoft.com/office/drawing/2010/main" w="28575">
                <a:solidFill>
                  <a:srgbClr val="000000"/>
                </a:solidFill>
                <a:miter lim="800000"/>
                <a:headEnd/>
                <a:tailEnd type="none" w="lg" len="lg"/>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t>F</a:t>
            </a:r>
            <a:r>
              <a:rPr lang="en-US" altLang="zh-CN" sz="2400" baseline="-25000"/>
              <a:t>A&lt;B </a:t>
            </a:r>
            <a:r>
              <a:rPr lang="en-US" altLang="zh-CN" sz="2400"/>
              <a:t>= (A</a:t>
            </a:r>
            <a:r>
              <a:rPr lang="en-US" altLang="zh-CN" sz="2400" baseline="-25000"/>
              <a:t>1</a:t>
            </a:r>
            <a:r>
              <a:rPr lang="en-US" altLang="zh-CN" sz="2400"/>
              <a:t>&lt;B</a:t>
            </a:r>
            <a:r>
              <a:rPr lang="en-US" altLang="zh-CN" sz="2400" baseline="-25000"/>
              <a:t>1</a:t>
            </a:r>
            <a:r>
              <a:rPr lang="en-US" altLang="zh-CN" sz="2400"/>
              <a:t>) + (A</a:t>
            </a:r>
            <a:r>
              <a:rPr lang="en-US" altLang="zh-CN" sz="2400" baseline="-25000"/>
              <a:t>1</a:t>
            </a:r>
            <a:r>
              <a:rPr lang="en-US" altLang="zh-CN" sz="2400"/>
              <a:t>=B</a:t>
            </a:r>
            <a:r>
              <a:rPr lang="en-US" altLang="zh-CN" sz="2400" baseline="-25000"/>
              <a:t>1</a:t>
            </a:r>
            <a:r>
              <a:rPr lang="en-US" altLang="zh-CN" sz="2400"/>
              <a:t>)(A</a:t>
            </a:r>
            <a:r>
              <a:rPr lang="en-US" altLang="zh-CN" sz="2400" baseline="-25000"/>
              <a:t>0</a:t>
            </a:r>
            <a:r>
              <a:rPr lang="en-US" altLang="zh-CN" sz="2400"/>
              <a:t>&lt;B</a:t>
            </a:r>
            <a:r>
              <a:rPr lang="en-US" altLang="zh-CN" sz="2400" baseline="-25000"/>
              <a:t>0</a:t>
            </a:r>
            <a:r>
              <a:rPr lang="en-US" altLang="zh-CN" sz="2400"/>
              <a:t>)</a:t>
            </a:r>
          </a:p>
        </p:txBody>
      </p:sp>
      <p:graphicFrame>
        <p:nvGraphicFramePr>
          <p:cNvPr id="9" name="Object 3">
            <a:extLst>
              <a:ext uri="{FF2B5EF4-FFF2-40B4-BE49-F238E27FC236}">
                <a16:creationId xmlns:a16="http://schemas.microsoft.com/office/drawing/2014/main" id="{E2D66B21-BC35-1C44-2CFB-9A78C5758085}"/>
              </a:ext>
            </a:extLst>
          </p:cNvPr>
          <p:cNvGraphicFramePr>
            <a:graphicFrameLocks noChangeAspect="1"/>
          </p:cNvGraphicFramePr>
          <p:nvPr>
            <p:extLst>
              <p:ext uri="{D42A27DB-BD31-4B8C-83A1-F6EECF244321}">
                <p14:modId xmlns:p14="http://schemas.microsoft.com/office/powerpoint/2010/main" val="1412231625"/>
              </p:ext>
            </p:extLst>
          </p:nvPr>
        </p:nvGraphicFramePr>
        <p:xfrm>
          <a:off x="3189447" y="1208284"/>
          <a:ext cx="6545262" cy="3614738"/>
        </p:xfrm>
        <a:graphic>
          <a:graphicData uri="http://schemas.openxmlformats.org/presentationml/2006/ole">
            <mc:AlternateContent xmlns:mc="http://schemas.openxmlformats.org/markup-compatibility/2006">
              <mc:Choice xmlns:v="urn:schemas-microsoft-com:vml" Requires="v">
                <p:oleObj name="Picture" r:id="rId2" imgW="3124200" imgH="1752600" progId="Word.Picture.8">
                  <p:embed/>
                </p:oleObj>
              </mc:Choice>
              <mc:Fallback>
                <p:oleObj name="Picture" r:id="rId2" imgW="3124200" imgH="1752600" progId="Word.Picture.8">
                  <p:embed/>
                  <p:pic>
                    <p:nvPicPr>
                      <p:cNvPr id="12298" name="Object 3"/>
                      <p:cNvPicPr>
                        <a:picLocks noChangeAspect="1" noChangeArrowheads="1"/>
                      </p:cNvPicPr>
                      <p:nvPr/>
                    </p:nvPicPr>
                    <p:blipFill>
                      <a:blip r:embed="rId3">
                        <a:extLst>
                          <a:ext uri="{28A0092B-C50C-407E-A947-70E740481C1C}">
                            <a14:useLocalDpi xmlns:a14="http://schemas.microsoft.com/office/drawing/2010/main" val="0"/>
                          </a:ext>
                        </a:extLst>
                      </a:blip>
                      <a:srcRect t="-1437"/>
                      <a:stretch>
                        <a:fillRect/>
                      </a:stretch>
                    </p:blipFill>
                    <p:spPr bwMode="auto">
                      <a:xfrm>
                        <a:off x="3189447" y="1208284"/>
                        <a:ext cx="6545262" cy="361473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sp>
        <p:nvSpPr>
          <p:cNvPr id="10" name="任意多边形 14">
            <a:extLst>
              <a:ext uri="{FF2B5EF4-FFF2-40B4-BE49-F238E27FC236}">
                <a16:creationId xmlns:a16="http://schemas.microsoft.com/office/drawing/2014/main" id="{4AA50D6D-8DF4-923C-837E-3A4C3FEAB0C5}"/>
              </a:ext>
            </a:extLst>
          </p:cNvPr>
          <p:cNvSpPr/>
          <p:nvPr/>
        </p:nvSpPr>
        <p:spPr>
          <a:xfrm>
            <a:off x="3887947" y="1208284"/>
            <a:ext cx="4803775" cy="3779838"/>
          </a:xfrm>
          <a:custGeom>
            <a:avLst/>
            <a:gdLst>
              <a:gd name="connsiteX0" fmla="*/ 13855 w 5749637"/>
              <a:gd name="connsiteY0" fmla="*/ 0 h 3782291"/>
              <a:gd name="connsiteX1" fmla="*/ 0 w 5749637"/>
              <a:gd name="connsiteY1" fmla="*/ 1579418 h 3782291"/>
              <a:gd name="connsiteX2" fmla="*/ 1884219 w 5749637"/>
              <a:gd name="connsiteY2" fmla="*/ 1579418 h 3782291"/>
              <a:gd name="connsiteX3" fmla="*/ 1884219 w 5749637"/>
              <a:gd name="connsiteY3" fmla="*/ 3782291 h 3782291"/>
              <a:gd name="connsiteX4" fmla="*/ 5749637 w 5749637"/>
              <a:gd name="connsiteY4" fmla="*/ 3782291 h 3782291"/>
              <a:gd name="connsiteX5" fmla="*/ 5749637 w 5749637"/>
              <a:gd name="connsiteY5" fmla="*/ 193964 h 3782291"/>
              <a:gd name="connsiteX6" fmla="*/ 5749637 w 5749637"/>
              <a:gd name="connsiteY6" fmla="*/ 55418 h 3782291"/>
              <a:gd name="connsiteX7" fmla="*/ 83128 w 5749637"/>
              <a:gd name="connsiteY7" fmla="*/ 55418 h 3782291"/>
              <a:gd name="connsiteX0" fmla="*/ 13855 w 5749637"/>
              <a:gd name="connsiteY0" fmla="*/ 0 h 3782291"/>
              <a:gd name="connsiteX1" fmla="*/ 0 w 5749637"/>
              <a:gd name="connsiteY1" fmla="*/ 1579418 h 3782291"/>
              <a:gd name="connsiteX2" fmla="*/ 1884219 w 5749637"/>
              <a:gd name="connsiteY2" fmla="*/ 1579418 h 3782291"/>
              <a:gd name="connsiteX3" fmla="*/ 1884219 w 5749637"/>
              <a:gd name="connsiteY3" fmla="*/ 3782291 h 3782291"/>
              <a:gd name="connsiteX4" fmla="*/ 5749637 w 5749637"/>
              <a:gd name="connsiteY4" fmla="*/ 3782291 h 3782291"/>
              <a:gd name="connsiteX5" fmla="*/ 5749637 w 5749637"/>
              <a:gd name="connsiteY5" fmla="*/ 193964 h 3782291"/>
              <a:gd name="connsiteX6" fmla="*/ 5740615 w 5749637"/>
              <a:gd name="connsiteY6" fmla="*/ 44046 h 3782291"/>
              <a:gd name="connsiteX7" fmla="*/ 5749637 w 5749637"/>
              <a:gd name="connsiteY7" fmla="*/ 55418 h 3782291"/>
              <a:gd name="connsiteX8" fmla="*/ 83128 w 5749637"/>
              <a:gd name="connsiteY8" fmla="*/ 55418 h 3782291"/>
              <a:gd name="connsiteX0" fmla="*/ 13855 w 5749637"/>
              <a:gd name="connsiteY0" fmla="*/ 0 h 3782291"/>
              <a:gd name="connsiteX1" fmla="*/ 9666 w 5749637"/>
              <a:gd name="connsiteY1" fmla="*/ 1933 h 3782291"/>
              <a:gd name="connsiteX2" fmla="*/ 0 w 5749637"/>
              <a:gd name="connsiteY2" fmla="*/ 1579418 h 3782291"/>
              <a:gd name="connsiteX3" fmla="*/ 1884219 w 5749637"/>
              <a:gd name="connsiteY3" fmla="*/ 1579418 h 3782291"/>
              <a:gd name="connsiteX4" fmla="*/ 1884219 w 5749637"/>
              <a:gd name="connsiteY4" fmla="*/ 3782291 h 3782291"/>
              <a:gd name="connsiteX5" fmla="*/ 5749637 w 5749637"/>
              <a:gd name="connsiteY5" fmla="*/ 3782291 h 3782291"/>
              <a:gd name="connsiteX6" fmla="*/ 5749637 w 5749637"/>
              <a:gd name="connsiteY6" fmla="*/ 193964 h 3782291"/>
              <a:gd name="connsiteX7" fmla="*/ 5740615 w 5749637"/>
              <a:gd name="connsiteY7" fmla="*/ 44046 h 3782291"/>
              <a:gd name="connsiteX8" fmla="*/ 5749637 w 5749637"/>
              <a:gd name="connsiteY8" fmla="*/ 55418 h 3782291"/>
              <a:gd name="connsiteX9" fmla="*/ 83128 w 5749637"/>
              <a:gd name="connsiteY9" fmla="*/ 55418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54579 w 5754579"/>
              <a:gd name="connsiteY6" fmla="*/ 193964 h 3782291"/>
              <a:gd name="connsiteX7" fmla="*/ 5745557 w 5754579"/>
              <a:gd name="connsiteY7" fmla="*/ 44046 h 3782291"/>
              <a:gd name="connsiteX8" fmla="*/ 5754579 w 5754579"/>
              <a:gd name="connsiteY8" fmla="*/ 55418 h 3782291"/>
              <a:gd name="connsiteX9" fmla="*/ 88070 w 5754579"/>
              <a:gd name="connsiteY9" fmla="*/ 55418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54579 w 5754579"/>
              <a:gd name="connsiteY6" fmla="*/ 193964 h 3782291"/>
              <a:gd name="connsiteX7" fmla="*/ 5745557 w 5754579"/>
              <a:gd name="connsiteY7" fmla="*/ 44046 h 3782291"/>
              <a:gd name="connsiteX8" fmla="*/ 5754579 w 5754579"/>
              <a:gd name="connsiteY8" fmla="*/ 55418 h 3782291"/>
              <a:gd name="connsiteX9" fmla="*/ 88070 w 5754579"/>
              <a:gd name="connsiteY9" fmla="*/ 55418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54579 w 5754579"/>
              <a:gd name="connsiteY6" fmla="*/ 193964 h 3782291"/>
              <a:gd name="connsiteX7" fmla="*/ 5745557 w 5754579"/>
              <a:gd name="connsiteY7" fmla="*/ 44046 h 3782291"/>
              <a:gd name="connsiteX8" fmla="*/ 5754579 w 5754579"/>
              <a:gd name="connsiteY8" fmla="*/ 55418 h 3782291"/>
              <a:gd name="connsiteX9" fmla="*/ 88070 w 5754579"/>
              <a:gd name="connsiteY9" fmla="*/ 55418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54579 w 5754579"/>
              <a:gd name="connsiteY6" fmla="*/ 193964 h 3782291"/>
              <a:gd name="connsiteX7" fmla="*/ 5745557 w 5754579"/>
              <a:gd name="connsiteY7" fmla="*/ 44046 h 3782291"/>
              <a:gd name="connsiteX8" fmla="*/ 5754579 w 5754579"/>
              <a:gd name="connsiteY8" fmla="*/ 55418 h 3782291"/>
              <a:gd name="connsiteX9" fmla="*/ 88070 w 5754579"/>
              <a:gd name="connsiteY9" fmla="*/ 55418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54579 w 5754579"/>
              <a:gd name="connsiteY6" fmla="*/ 193964 h 3782291"/>
              <a:gd name="connsiteX7" fmla="*/ 5745557 w 5754579"/>
              <a:gd name="connsiteY7" fmla="*/ 44046 h 3782291"/>
              <a:gd name="connsiteX8" fmla="*/ 5754579 w 5754579"/>
              <a:gd name="connsiteY8" fmla="*/ 55418 h 3782291"/>
              <a:gd name="connsiteX9" fmla="*/ 88070 w 5754579"/>
              <a:gd name="connsiteY9" fmla="*/ 55418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54579 w 5754579"/>
              <a:gd name="connsiteY6" fmla="*/ 193964 h 3782291"/>
              <a:gd name="connsiteX7" fmla="*/ 5745557 w 5754579"/>
              <a:gd name="connsiteY7" fmla="*/ 44046 h 3782291"/>
              <a:gd name="connsiteX8" fmla="*/ 5754579 w 5754579"/>
              <a:gd name="connsiteY8" fmla="*/ 55418 h 3782291"/>
              <a:gd name="connsiteX9" fmla="*/ 88070 w 5754579"/>
              <a:gd name="connsiteY9" fmla="*/ 55418 h 3782291"/>
              <a:gd name="connsiteX10" fmla="*/ 18797 w 5754579"/>
              <a:gd name="connsiteY10" fmla="*/ 0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54579 w 5754579"/>
              <a:gd name="connsiteY6" fmla="*/ 193964 h 3782291"/>
              <a:gd name="connsiteX7" fmla="*/ 5745557 w 5754579"/>
              <a:gd name="connsiteY7" fmla="*/ 44046 h 3782291"/>
              <a:gd name="connsiteX8" fmla="*/ 5754579 w 5754579"/>
              <a:gd name="connsiteY8" fmla="*/ 55418 h 3782291"/>
              <a:gd name="connsiteX9" fmla="*/ 88070 w 5754579"/>
              <a:gd name="connsiteY9" fmla="*/ 55418 h 3782291"/>
              <a:gd name="connsiteX10" fmla="*/ 18797 w 5754579"/>
              <a:gd name="connsiteY10" fmla="*/ 0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45557 w 5754579"/>
              <a:gd name="connsiteY6" fmla="*/ 44046 h 3782291"/>
              <a:gd name="connsiteX7" fmla="*/ 5754579 w 5754579"/>
              <a:gd name="connsiteY7" fmla="*/ 55418 h 3782291"/>
              <a:gd name="connsiteX8" fmla="*/ 88070 w 5754579"/>
              <a:gd name="connsiteY8" fmla="*/ 55418 h 3782291"/>
              <a:gd name="connsiteX9" fmla="*/ 18797 w 5754579"/>
              <a:gd name="connsiteY9" fmla="*/ 0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45557 w 5754579"/>
              <a:gd name="connsiteY6" fmla="*/ 44046 h 3782291"/>
              <a:gd name="connsiteX7" fmla="*/ 5754579 w 5754579"/>
              <a:gd name="connsiteY7" fmla="*/ 55418 h 3782291"/>
              <a:gd name="connsiteX8" fmla="*/ 18797 w 5754579"/>
              <a:gd name="connsiteY8" fmla="*/ 0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45557 w 5754579"/>
              <a:gd name="connsiteY6" fmla="*/ 44046 h 3782291"/>
              <a:gd name="connsiteX7" fmla="*/ 5754579 w 5754579"/>
              <a:gd name="connsiteY7" fmla="*/ 55418 h 3782291"/>
              <a:gd name="connsiteX8" fmla="*/ 18797 w 5754579"/>
              <a:gd name="connsiteY8" fmla="*/ 0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45557 w 5754579"/>
              <a:gd name="connsiteY6" fmla="*/ 44046 h 3782291"/>
              <a:gd name="connsiteX7" fmla="*/ 18797 w 5754579"/>
              <a:gd name="connsiteY7" fmla="*/ 0 h 3782291"/>
              <a:gd name="connsiteX0" fmla="*/ 18797 w 5754579"/>
              <a:gd name="connsiteY0" fmla="*/ 0 h 3782291"/>
              <a:gd name="connsiteX1" fmla="*/ 14608 w 5754579"/>
              <a:gd name="connsiteY1" fmla="*/ 1933 h 3782291"/>
              <a:gd name="connsiteX2" fmla="*/ 4942 w 5754579"/>
              <a:gd name="connsiteY2" fmla="*/ 1579418 h 3782291"/>
              <a:gd name="connsiteX3" fmla="*/ 1889161 w 5754579"/>
              <a:gd name="connsiteY3" fmla="*/ 1579418 h 3782291"/>
              <a:gd name="connsiteX4" fmla="*/ 1889161 w 5754579"/>
              <a:gd name="connsiteY4" fmla="*/ 3782291 h 3782291"/>
              <a:gd name="connsiteX5" fmla="*/ 5754579 w 5754579"/>
              <a:gd name="connsiteY5" fmla="*/ 3782291 h 3782291"/>
              <a:gd name="connsiteX6" fmla="*/ 5745557 w 5754579"/>
              <a:gd name="connsiteY6" fmla="*/ 44046 h 3782291"/>
              <a:gd name="connsiteX7" fmla="*/ 18797 w 5754579"/>
              <a:gd name="connsiteY7" fmla="*/ 0 h 3782291"/>
              <a:gd name="connsiteX0" fmla="*/ 5740615 w 5749637"/>
              <a:gd name="connsiteY0" fmla="*/ 42113 h 3780358"/>
              <a:gd name="connsiteX1" fmla="*/ 9666 w 5749637"/>
              <a:gd name="connsiteY1" fmla="*/ 0 h 3780358"/>
              <a:gd name="connsiteX2" fmla="*/ 0 w 5749637"/>
              <a:gd name="connsiteY2" fmla="*/ 1577485 h 3780358"/>
              <a:gd name="connsiteX3" fmla="*/ 1884219 w 5749637"/>
              <a:gd name="connsiteY3" fmla="*/ 1577485 h 3780358"/>
              <a:gd name="connsiteX4" fmla="*/ 1884219 w 5749637"/>
              <a:gd name="connsiteY4" fmla="*/ 3780358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1884219 w 5749637"/>
              <a:gd name="connsiteY4" fmla="*/ 3780358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1884219 w 5749637"/>
              <a:gd name="connsiteY4" fmla="*/ 3780358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2173359 w 5749637"/>
              <a:gd name="connsiteY4" fmla="*/ 3763103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2173359 w 5749637"/>
              <a:gd name="connsiteY4" fmla="*/ 3763103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2173359 w 5749637"/>
              <a:gd name="connsiteY4" fmla="*/ 3771730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2194013 w 5749637"/>
              <a:gd name="connsiteY4" fmla="*/ 3763103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2194013 w 5749637"/>
              <a:gd name="connsiteY4" fmla="*/ 3763103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2297278 w 5749637"/>
              <a:gd name="connsiteY4" fmla="*/ 3771730 h 3780358"/>
              <a:gd name="connsiteX5" fmla="*/ 5749637 w 5749637"/>
              <a:gd name="connsiteY5" fmla="*/ 3780358 h 3780358"/>
              <a:gd name="connsiteX6" fmla="*/ 5740615 w 5749637"/>
              <a:gd name="connsiteY6" fmla="*/ 42113 h 3780358"/>
              <a:gd name="connsiteX0" fmla="*/ 5740615 w 5749637"/>
              <a:gd name="connsiteY0" fmla="*/ 42113 h 3780358"/>
              <a:gd name="connsiteX1" fmla="*/ 9666 w 5749637"/>
              <a:gd name="connsiteY1" fmla="*/ 0 h 3780358"/>
              <a:gd name="connsiteX2" fmla="*/ 0 w 5749637"/>
              <a:gd name="connsiteY2" fmla="*/ 1577485 h 3780358"/>
              <a:gd name="connsiteX3" fmla="*/ 2255970 w 5749637"/>
              <a:gd name="connsiteY3" fmla="*/ 1577485 h 3780358"/>
              <a:gd name="connsiteX4" fmla="*/ 2297278 w 5749637"/>
              <a:gd name="connsiteY4" fmla="*/ 3771730 h 3780358"/>
              <a:gd name="connsiteX5" fmla="*/ 5749637 w 5749637"/>
              <a:gd name="connsiteY5" fmla="*/ 3780358 h 3780358"/>
              <a:gd name="connsiteX6" fmla="*/ 5740615 w 5749637"/>
              <a:gd name="connsiteY6" fmla="*/ 42113 h 37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9637" h="3780358">
                <a:moveTo>
                  <a:pt x="5740615" y="42113"/>
                </a:moveTo>
                <a:lnTo>
                  <a:pt x="9666" y="0"/>
                </a:lnTo>
                <a:lnTo>
                  <a:pt x="0" y="1577485"/>
                </a:lnTo>
                <a:lnTo>
                  <a:pt x="2255970" y="1577485"/>
                </a:lnTo>
                <a:cubicBezTo>
                  <a:pt x="2286949" y="3795723"/>
                  <a:pt x="2297279" y="3770785"/>
                  <a:pt x="2297278" y="3771730"/>
                </a:cubicBezTo>
                <a:cubicBezTo>
                  <a:pt x="2274294" y="3777482"/>
                  <a:pt x="4564429" y="3774606"/>
                  <a:pt x="5749637" y="3780358"/>
                </a:cubicBezTo>
                <a:cubicBezTo>
                  <a:pt x="5746630" y="2534276"/>
                  <a:pt x="5743622" y="1288195"/>
                  <a:pt x="5740615" y="42113"/>
                </a:cubicBezTo>
                <a:close/>
              </a:path>
            </a:pathLst>
          </a:custGeom>
          <a:ln w="19050">
            <a:solidFill>
              <a:srgbClr val="0033CC"/>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extLst>
      <p:ext uri="{BB962C8B-B14F-4D97-AF65-F5344CB8AC3E}">
        <p14:creationId xmlns:p14="http://schemas.microsoft.com/office/powerpoint/2010/main" val="2680278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5CFE65-F064-9521-4E9A-7302EFCF774A}"/>
              </a:ext>
            </a:extLst>
          </p:cNvPr>
          <p:cNvSpPr>
            <a:spLocks noGrp="1"/>
          </p:cNvSpPr>
          <p:nvPr>
            <p:ph type="title"/>
          </p:nvPr>
        </p:nvSpPr>
        <p:spPr/>
        <p:txBody>
          <a:bodyPr>
            <a:normAutofit fontScale="90000"/>
          </a:bodyPr>
          <a:lstStyle/>
          <a:p>
            <a:r>
              <a:rPr lang="zh-CN" altLang="en-US" dirty="0"/>
              <a:t>四位数值比较器</a:t>
            </a:r>
            <a:r>
              <a:rPr lang="en-US" altLang="zh-CN" dirty="0"/>
              <a:t>74x85 </a:t>
            </a:r>
            <a:endParaRPr kumimoji="1" lang="zh-CN" altLang="en-US" dirty="0"/>
          </a:p>
        </p:txBody>
      </p:sp>
      <p:sp>
        <p:nvSpPr>
          <p:cNvPr id="3" name="内容占位符 2">
            <a:extLst>
              <a:ext uri="{FF2B5EF4-FFF2-40B4-BE49-F238E27FC236}">
                <a16:creationId xmlns:a16="http://schemas.microsoft.com/office/drawing/2014/main" id="{59FEB5C9-1A93-ACDF-616B-03A0EA0C25BA}"/>
              </a:ext>
            </a:extLst>
          </p:cNvPr>
          <p:cNvSpPr>
            <a:spLocks noGrp="1"/>
          </p:cNvSpPr>
          <p:nvPr>
            <p:ph idx="1"/>
          </p:nvPr>
        </p:nvSpPr>
        <p:spPr/>
        <p:txBody>
          <a:bodyPr/>
          <a:lstStyle/>
          <a:p>
            <a:r>
              <a:rPr lang="zh-CN" altLang="en-US" dirty="0"/>
              <a:t>工作原理和两位数值比较器相同</a:t>
            </a:r>
          </a:p>
          <a:p>
            <a:r>
              <a:rPr lang="zh-CN" altLang="en-US" dirty="0"/>
              <a:t>提供附加输入端</a:t>
            </a:r>
            <a:r>
              <a:rPr lang="en-US" altLang="zh-CN" dirty="0"/>
              <a:t>I</a:t>
            </a:r>
            <a:r>
              <a:rPr lang="en-US" altLang="zh-CN" sz="1800" dirty="0"/>
              <a:t>A&lt;B</a:t>
            </a:r>
            <a:r>
              <a:rPr lang="zh-CN" altLang="en-US" dirty="0"/>
              <a:t>、</a:t>
            </a:r>
            <a:r>
              <a:rPr lang="en-US" altLang="zh-CN" dirty="0"/>
              <a:t>I</a:t>
            </a:r>
            <a:r>
              <a:rPr lang="en-US" altLang="zh-CN" sz="1800" dirty="0"/>
              <a:t>A=B</a:t>
            </a:r>
            <a:r>
              <a:rPr lang="zh-CN" altLang="en-US" dirty="0"/>
              <a:t>和</a:t>
            </a:r>
            <a:r>
              <a:rPr lang="en-US" altLang="zh-CN" dirty="0"/>
              <a:t>I</a:t>
            </a:r>
            <a:r>
              <a:rPr lang="en-US" altLang="zh-CN" sz="1800" dirty="0"/>
              <a:t>A&gt;B</a:t>
            </a:r>
            <a:r>
              <a:rPr lang="zh-CN" altLang="en-US" dirty="0"/>
              <a:t>，便于扩展应用</a:t>
            </a:r>
          </a:p>
          <a:p>
            <a:pPr lvl="1"/>
            <a:r>
              <a:rPr lang="zh-CN" altLang="en-US" dirty="0"/>
              <a:t>从高位组比起，若不等，出结果，否则还需比较次高位组</a:t>
            </a:r>
          </a:p>
          <a:p>
            <a:endParaRPr kumimoji="1" lang="zh-CN" altLang="en-US" dirty="0"/>
          </a:p>
        </p:txBody>
      </p:sp>
      <p:sp>
        <p:nvSpPr>
          <p:cNvPr id="4" name="页脚占位符 3">
            <a:extLst>
              <a:ext uri="{FF2B5EF4-FFF2-40B4-BE49-F238E27FC236}">
                <a16:creationId xmlns:a16="http://schemas.microsoft.com/office/drawing/2014/main" id="{D0812920-357C-952C-3F2D-0E3F2CC733C6}"/>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DF877458-6D51-139F-490E-2D4EF53F7EA1}"/>
              </a:ext>
            </a:extLst>
          </p:cNvPr>
          <p:cNvSpPr>
            <a:spLocks noGrp="1"/>
          </p:cNvSpPr>
          <p:nvPr>
            <p:ph type="sldNum" sz="quarter" idx="12"/>
          </p:nvPr>
        </p:nvSpPr>
        <p:spPr/>
        <p:txBody>
          <a:bodyPr/>
          <a:lstStyle/>
          <a:p>
            <a:fld id="{9E260BC5-5BF3-8746-862B-DC45E9CAA88B}" type="slidenum">
              <a:rPr lang="en-US" smtClean="0"/>
              <a:pPr/>
              <a:t>6</a:t>
            </a:fld>
            <a:r>
              <a:rPr lang="en-US" altLang="zh-CN" dirty="0"/>
              <a:t>/25</a:t>
            </a:r>
            <a:endParaRPr lang="en-US" dirty="0"/>
          </a:p>
        </p:txBody>
      </p:sp>
      <p:graphicFrame>
        <p:nvGraphicFramePr>
          <p:cNvPr id="6" name="Object 2">
            <a:extLst>
              <a:ext uri="{FF2B5EF4-FFF2-40B4-BE49-F238E27FC236}">
                <a16:creationId xmlns:a16="http://schemas.microsoft.com/office/drawing/2014/main" id="{0B287F7E-BD38-FC59-DD53-AF2D60FB533D}"/>
              </a:ext>
            </a:extLst>
          </p:cNvPr>
          <p:cNvGraphicFramePr>
            <a:graphicFrameLocks noChangeAspect="1"/>
          </p:cNvGraphicFramePr>
          <p:nvPr>
            <p:extLst>
              <p:ext uri="{D42A27DB-BD31-4B8C-83A1-F6EECF244321}">
                <p14:modId xmlns:p14="http://schemas.microsoft.com/office/powerpoint/2010/main" val="333739152"/>
              </p:ext>
            </p:extLst>
          </p:nvPr>
        </p:nvGraphicFramePr>
        <p:xfrm>
          <a:off x="5497974" y="2780686"/>
          <a:ext cx="2657475" cy="2620963"/>
        </p:xfrm>
        <a:graphic>
          <a:graphicData uri="http://schemas.openxmlformats.org/presentationml/2006/ole">
            <mc:AlternateContent xmlns:mc="http://schemas.openxmlformats.org/markup-compatibility/2006">
              <mc:Choice xmlns:v="urn:schemas-microsoft-com:vml" Requires="v">
                <p:oleObj name="Bild" r:id="rId2" imgW="1591056" imgH="1944624" progId="Word.Picture.8">
                  <p:embed/>
                </p:oleObj>
              </mc:Choice>
              <mc:Fallback>
                <p:oleObj name="Bild" r:id="rId2" imgW="1591056" imgH="1944624" progId="Word.Picture.8">
                  <p:embed/>
                  <p:pic>
                    <p:nvPicPr>
                      <p:cNvPr id="13319" name="Object 2"/>
                      <p:cNvPicPr>
                        <a:picLocks noChangeAspect="1" noChangeArrowheads="1"/>
                      </p:cNvPicPr>
                      <p:nvPr/>
                    </p:nvPicPr>
                    <p:blipFill>
                      <a:blip r:embed="rId3">
                        <a:extLst>
                          <a:ext uri="{28A0092B-C50C-407E-A947-70E740481C1C}">
                            <a14:useLocalDpi xmlns:a14="http://schemas.microsoft.com/office/drawing/2010/main" val="0"/>
                          </a:ext>
                        </a:extLst>
                      </a:blip>
                      <a:srcRect t="10631"/>
                      <a:stretch>
                        <a:fillRect/>
                      </a:stretch>
                    </p:blipFill>
                    <p:spPr bwMode="auto">
                      <a:xfrm>
                        <a:off x="5497974" y="2780686"/>
                        <a:ext cx="2657475" cy="2620963"/>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5">
            <a:extLst>
              <a:ext uri="{FF2B5EF4-FFF2-40B4-BE49-F238E27FC236}">
                <a16:creationId xmlns:a16="http://schemas.microsoft.com/office/drawing/2014/main" id="{CCB52A62-2D4F-CB61-55A6-4FE302FF46C1}"/>
              </a:ext>
            </a:extLst>
          </p:cNvPr>
          <p:cNvGrpSpPr>
            <a:grpSpLocks/>
          </p:cNvGrpSpPr>
          <p:nvPr/>
        </p:nvGrpSpPr>
        <p:grpSpPr bwMode="auto">
          <a:xfrm>
            <a:off x="133812" y="3029924"/>
            <a:ext cx="5184775" cy="2811462"/>
            <a:chOff x="363" y="2249"/>
            <a:chExt cx="3266" cy="1771"/>
          </a:xfrm>
        </p:grpSpPr>
        <p:graphicFrame>
          <p:nvGraphicFramePr>
            <p:cNvPr id="8" name="Object 3">
              <a:extLst>
                <a:ext uri="{FF2B5EF4-FFF2-40B4-BE49-F238E27FC236}">
                  <a16:creationId xmlns:a16="http://schemas.microsoft.com/office/drawing/2014/main" id="{8017A11B-4353-F5EC-FE5B-E316C5FD76A2}"/>
                </a:ext>
              </a:extLst>
            </p:cNvPr>
            <p:cNvGraphicFramePr>
              <a:graphicFrameLocks noChangeAspect="1"/>
            </p:cNvGraphicFramePr>
            <p:nvPr>
              <p:extLst>
                <p:ext uri="{D42A27DB-BD31-4B8C-83A1-F6EECF244321}">
                  <p14:modId xmlns:p14="http://schemas.microsoft.com/office/powerpoint/2010/main" val="1490292185"/>
                </p:ext>
              </p:extLst>
            </p:nvPr>
          </p:nvGraphicFramePr>
          <p:xfrm>
            <a:off x="363" y="2249"/>
            <a:ext cx="3266" cy="1431"/>
          </p:xfrm>
          <a:graphic>
            <a:graphicData uri="http://schemas.openxmlformats.org/presentationml/2006/ole">
              <mc:AlternateContent xmlns:mc="http://schemas.openxmlformats.org/markup-compatibility/2006">
                <mc:Choice xmlns:v="urn:schemas-microsoft-com:vml" Requires="v">
                  <p:oleObj name="图片" r:id="rId4" imgW="5262745" imgH="2206123" progId="Word.Picture.8">
                    <p:embed/>
                  </p:oleObj>
                </mc:Choice>
                <mc:Fallback>
                  <p:oleObj name="图片" r:id="rId4" imgW="5262745" imgH="2206123" progId="Word.Picture.8">
                    <p:embed/>
                    <p:pic>
                      <p:nvPicPr>
                        <p:cNvPr id="1332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 y="2249"/>
                          <a:ext cx="3266" cy="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7">
              <a:extLst>
                <a:ext uri="{FF2B5EF4-FFF2-40B4-BE49-F238E27FC236}">
                  <a16:creationId xmlns:a16="http://schemas.microsoft.com/office/drawing/2014/main" id="{90FF0053-CBFD-9491-7D1A-CF6D1C7E62FE}"/>
                </a:ext>
              </a:extLst>
            </p:cNvPr>
            <p:cNvSpPr>
              <a:spLocks noChangeArrowheads="1"/>
            </p:cNvSpPr>
            <p:nvPr/>
          </p:nvSpPr>
          <p:spPr bwMode="auto">
            <a:xfrm>
              <a:off x="1451" y="3770"/>
              <a:ext cx="15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000"/>
                <a:t>八位串联数值比较器</a:t>
              </a:r>
            </a:p>
          </p:txBody>
        </p:sp>
      </p:grpSp>
      <p:sp>
        <p:nvSpPr>
          <p:cNvPr id="10" name="Rectangle 8">
            <a:extLst>
              <a:ext uri="{FF2B5EF4-FFF2-40B4-BE49-F238E27FC236}">
                <a16:creationId xmlns:a16="http://schemas.microsoft.com/office/drawing/2014/main" id="{648D1D0A-37FA-B4EA-1285-AEA1A0030436}"/>
              </a:ext>
            </a:extLst>
          </p:cNvPr>
          <p:cNvSpPr>
            <a:spLocks noChangeArrowheads="1"/>
          </p:cNvSpPr>
          <p:nvPr/>
        </p:nvSpPr>
        <p:spPr bwMode="auto">
          <a:xfrm>
            <a:off x="6398087" y="5444511"/>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000"/>
              <a:t>引脚图</a:t>
            </a:r>
          </a:p>
        </p:txBody>
      </p:sp>
      <p:pic>
        <p:nvPicPr>
          <p:cNvPr id="11" name="图片 3">
            <a:extLst>
              <a:ext uri="{FF2B5EF4-FFF2-40B4-BE49-F238E27FC236}">
                <a16:creationId xmlns:a16="http://schemas.microsoft.com/office/drawing/2014/main" id="{3E1D111A-C2AF-32D8-0FF8-409D674BF67B}"/>
              </a:ext>
            </a:extLst>
          </p:cNvPr>
          <p:cNvPicPr>
            <a:picLocks noChangeAspect="1"/>
          </p:cNvPicPr>
          <p:nvPr/>
        </p:nvPicPr>
        <p:blipFill rotWithShape="1">
          <a:blip r:embed="rId6">
            <a:extLst>
              <a:ext uri="{BEBA8EAE-BF5A-486C-A8C5-ECC9F3942E4B}">
                <a14:imgProps xmlns:a14="http://schemas.microsoft.com/office/drawing/2010/main">
                  <a14:imgLayer r:embed="rId7">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l="19853" t="30945" r="64524" b="55685"/>
          <a:stretch/>
        </p:blipFill>
        <p:spPr bwMode="auto">
          <a:xfrm rot="5400000">
            <a:off x="7823059" y="3108790"/>
            <a:ext cx="2167775" cy="167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直线箭头连接符 11">
            <a:extLst>
              <a:ext uri="{FF2B5EF4-FFF2-40B4-BE49-F238E27FC236}">
                <a16:creationId xmlns:a16="http://schemas.microsoft.com/office/drawing/2014/main" id="{B4D083A0-876F-3767-C959-60BE7937403E}"/>
              </a:ext>
            </a:extLst>
          </p:cNvPr>
          <p:cNvCxnSpPr>
            <a:cxnSpLocks/>
            <a:stCxn id="15" idx="0"/>
          </p:cNvCxnSpPr>
          <p:nvPr/>
        </p:nvCxnSpPr>
        <p:spPr>
          <a:xfrm flipH="1" flipV="1">
            <a:off x="6947731" y="3021433"/>
            <a:ext cx="1554112" cy="238021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12A0239B-C895-B47D-4B4E-0D9F0532CD83}"/>
              </a:ext>
            </a:extLst>
          </p:cNvPr>
          <p:cNvCxnSpPr>
            <a:cxnSpLocks/>
            <a:stCxn id="15" idx="0"/>
          </p:cNvCxnSpPr>
          <p:nvPr/>
        </p:nvCxnSpPr>
        <p:spPr>
          <a:xfrm flipV="1">
            <a:off x="8501843" y="4271284"/>
            <a:ext cx="700546" cy="1130365"/>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3D1C5D37-56BC-35E6-E75B-5EF509816D77}"/>
              </a:ext>
            </a:extLst>
          </p:cNvPr>
          <p:cNvCxnSpPr>
            <a:cxnSpLocks/>
            <a:stCxn id="15" idx="0"/>
          </p:cNvCxnSpPr>
          <p:nvPr/>
        </p:nvCxnSpPr>
        <p:spPr>
          <a:xfrm flipV="1">
            <a:off x="8501843" y="4477996"/>
            <a:ext cx="869830" cy="923653"/>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89684CE-93B8-FCBD-FBBC-99AE02C4B5D3}"/>
              </a:ext>
            </a:extLst>
          </p:cNvPr>
          <p:cNvSpPr txBox="1"/>
          <p:nvPr/>
        </p:nvSpPr>
        <p:spPr>
          <a:xfrm>
            <a:off x="7924959" y="5401649"/>
            <a:ext cx="1153767" cy="369332"/>
          </a:xfrm>
          <a:prstGeom prst="rect">
            <a:avLst/>
          </a:prstGeom>
          <a:noFill/>
          <a:ln>
            <a:solidFill>
              <a:schemeClr val="accent1">
                <a:lumMod val="50000"/>
              </a:schemeClr>
            </a:solidFill>
          </a:ln>
        </p:spPr>
        <p:txBody>
          <a:bodyPr wrap="square" rtlCol="0">
            <a:spAutoFit/>
          </a:bodyPr>
          <a:lstStyle/>
          <a:p>
            <a:pPr algn="ctr"/>
            <a:r>
              <a:rPr kumimoji="1" lang="en-US" altLang="zh-CN" dirty="0">
                <a:solidFill>
                  <a:schemeClr val="accent1">
                    <a:lumMod val="50000"/>
                  </a:schemeClr>
                </a:solidFill>
                <a:latin typeface="+mj-ea"/>
                <a:ea typeface="+mj-ea"/>
              </a:rPr>
              <a:t>1</a:t>
            </a:r>
            <a:r>
              <a:rPr kumimoji="1" lang="zh-CN" altLang="en-US" dirty="0">
                <a:solidFill>
                  <a:schemeClr val="accent1">
                    <a:lumMod val="50000"/>
                  </a:schemeClr>
                </a:solidFill>
                <a:latin typeface="+mj-ea"/>
                <a:ea typeface="+mj-ea"/>
              </a:rPr>
              <a:t>脚标志</a:t>
            </a:r>
          </a:p>
        </p:txBody>
      </p:sp>
    </p:spTree>
    <p:extLst>
      <p:ext uri="{BB962C8B-B14F-4D97-AF65-F5344CB8AC3E}">
        <p14:creationId xmlns:p14="http://schemas.microsoft.com/office/powerpoint/2010/main" val="311753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zh-CN" altLang="en-US" dirty="0"/>
              <a:t>看看：电路设计错误</a:t>
            </a:r>
            <a:endParaRPr lang="en-US" dirty="0"/>
          </a:p>
        </p:txBody>
      </p:sp>
      <p:sp>
        <p:nvSpPr>
          <p:cNvPr id="3" name="Inhaltsplatzhalter 2"/>
          <p:cNvSpPr>
            <a:spLocks noGrp="1"/>
          </p:cNvSpPr>
          <p:nvPr>
            <p:ph idx="1"/>
          </p:nvPr>
        </p:nvSpPr>
        <p:spPr/>
        <p:txBody>
          <a:bodyPr/>
          <a:lstStyle/>
          <a:p>
            <a:r>
              <a:rPr lang="zh-CN" altLang="en-US" dirty="0"/>
              <a:t>叫你不认真看芯片手册</a:t>
            </a:r>
            <a:endParaRPr lang="en-US" altLang="zh-CN" dirty="0"/>
          </a:p>
          <a:p>
            <a:r>
              <a:rPr lang="zh-CN" altLang="en-US" dirty="0"/>
              <a:t>叫你画图不仔细选库</a:t>
            </a:r>
            <a:endParaRPr lang="en-US" altLang="zh-CN" dirty="0"/>
          </a:p>
          <a:p>
            <a:r>
              <a:rPr lang="zh-CN" altLang="en-US" dirty="0"/>
              <a:t>叫你订货不核对型号</a:t>
            </a:r>
            <a:endParaRPr lang="en-US" altLang="zh-CN" dirty="0"/>
          </a:p>
          <a:p>
            <a:pPr lvl="1"/>
            <a:r>
              <a:rPr lang="zh-CN" altLang="en-US" dirty="0"/>
              <a:t>管脚错误</a:t>
            </a:r>
            <a:endParaRPr lang="en-US" altLang="zh-CN" dirty="0"/>
          </a:p>
          <a:p>
            <a:pPr lvl="1"/>
            <a:r>
              <a:rPr lang="zh-CN" altLang="en-US" dirty="0"/>
              <a:t>封装错误</a:t>
            </a:r>
            <a:endParaRPr lang="en-US" altLang="zh-CN" dirty="0"/>
          </a:p>
          <a:p>
            <a:pPr lvl="1"/>
            <a:r>
              <a:rPr lang="zh-CN" altLang="en-US" dirty="0"/>
              <a:t>版本错误</a:t>
            </a:r>
            <a:endParaRPr lang="en-US" altLang="zh-CN" dirty="0"/>
          </a:p>
          <a:p>
            <a:endParaRPr lang="en-US" dirty="0"/>
          </a:p>
        </p:txBody>
      </p:sp>
      <p:sp>
        <p:nvSpPr>
          <p:cNvPr id="4" name="Fußzeilenplatzhalter 3"/>
          <p:cNvSpPr>
            <a:spLocks noGrp="1"/>
          </p:cNvSpPr>
          <p:nvPr>
            <p:ph type="ftr" sz="quarter" idx="11"/>
          </p:nvPr>
        </p:nvSpPr>
        <p:spPr/>
        <p:txBody>
          <a:bodyPr/>
          <a:lstStyle/>
          <a:p>
            <a:r>
              <a:rPr lang="en-US" dirty="0"/>
              <a:t>模数入门：jingyuan@ustc.edu.cn</a:t>
            </a:r>
          </a:p>
        </p:txBody>
      </p:sp>
      <p:sp>
        <p:nvSpPr>
          <p:cNvPr id="5" name="Foliennummernplatzhalter 4"/>
          <p:cNvSpPr>
            <a:spLocks noGrp="1"/>
          </p:cNvSpPr>
          <p:nvPr>
            <p:ph type="sldNum" sz="quarter" idx="12"/>
          </p:nvPr>
        </p:nvSpPr>
        <p:spPr/>
        <p:txBody>
          <a:bodyPr/>
          <a:lstStyle/>
          <a:p>
            <a:fld id="{0C7073C1-2F77-1A4B-A6FF-209FDD3057F2}" type="slidenum">
              <a:rPr lang="en-US" smtClean="0"/>
              <a:t>7</a:t>
            </a:fld>
            <a:r>
              <a:rPr lang="en-US" dirty="0"/>
              <a:t>/</a:t>
            </a:r>
            <a:r>
              <a:rPr lang="en-US" altLang="zh-CN" dirty="0"/>
              <a:t>25</a:t>
            </a:r>
            <a:endParaRPr lang="en-US" dirty="0"/>
          </a:p>
        </p:txBody>
      </p:sp>
      <p:pic>
        <p:nvPicPr>
          <p:cNvPr id="6" name="图片 5"/>
          <p:cNvPicPr>
            <a:picLocks noChangeAspect="1"/>
          </p:cNvPicPr>
          <p:nvPr/>
        </p:nvPicPr>
        <p:blipFill>
          <a:blip r:embed="rId2"/>
          <a:stretch>
            <a:fillRect/>
          </a:stretch>
        </p:blipFill>
        <p:spPr>
          <a:xfrm>
            <a:off x="4225378" y="2347931"/>
            <a:ext cx="4842423" cy="351331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395" y="3731052"/>
            <a:ext cx="2272373" cy="2272373"/>
          </a:xfrm>
          <a:prstGeom prst="rect">
            <a:avLst/>
          </a:prstGeom>
        </p:spPr>
      </p:pic>
    </p:spTree>
    <p:extLst>
      <p:ext uri="{BB962C8B-B14F-4D97-AF65-F5344CB8AC3E}">
        <p14:creationId xmlns:p14="http://schemas.microsoft.com/office/powerpoint/2010/main" val="979352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372E4E-48AF-BBF0-DFF9-37986C8D8D16}"/>
              </a:ext>
            </a:extLst>
          </p:cNvPr>
          <p:cNvSpPr>
            <a:spLocks noGrp="1"/>
          </p:cNvSpPr>
          <p:nvPr>
            <p:ph type="title"/>
          </p:nvPr>
        </p:nvSpPr>
        <p:spPr/>
        <p:txBody>
          <a:bodyPr>
            <a:normAutofit fontScale="90000"/>
          </a:bodyPr>
          <a:lstStyle/>
          <a:p>
            <a:r>
              <a:rPr kumimoji="1" lang="zh-CN" altLang="en-US" dirty="0"/>
              <a:t>看看：还有这样的大神</a:t>
            </a:r>
          </a:p>
        </p:txBody>
      </p:sp>
      <p:sp>
        <p:nvSpPr>
          <p:cNvPr id="4" name="页脚占位符 3">
            <a:extLst>
              <a:ext uri="{FF2B5EF4-FFF2-40B4-BE49-F238E27FC236}">
                <a16:creationId xmlns:a16="http://schemas.microsoft.com/office/drawing/2014/main" id="{2474614F-12A6-9C38-71E2-90296DF421C3}"/>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7E08FF2C-10E0-5CCC-4EDB-00A514D5BC0C}"/>
              </a:ext>
            </a:extLst>
          </p:cNvPr>
          <p:cNvSpPr>
            <a:spLocks noGrp="1"/>
          </p:cNvSpPr>
          <p:nvPr>
            <p:ph type="sldNum" sz="quarter" idx="12"/>
          </p:nvPr>
        </p:nvSpPr>
        <p:spPr/>
        <p:txBody>
          <a:bodyPr/>
          <a:lstStyle/>
          <a:p>
            <a:fld id="{9E260BC5-5BF3-8746-862B-DC45E9CAA88B}" type="slidenum">
              <a:rPr lang="en-US" smtClean="0"/>
              <a:pPr/>
              <a:t>8</a:t>
            </a:fld>
            <a:r>
              <a:rPr lang="en-US" altLang="zh-CN" dirty="0"/>
              <a:t>/25</a:t>
            </a:r>
            <a:endParaRPr lang="en-US" dirty="0"/>
          </a:p>
        </p:txBody>
      </p:sp>
      <p:pic>
        <p:nvPicPr>
          <p:cNvPr id="6" name="图片 6">
            <a:extLst>
              <a:ext uri="{FF2B5EF4-FFF2-40B4-BE49-F238E27FC236}">
                <a16:creationId xmlns:a16="http://schemas.microsoft.com/office/drawing/2014/main" id="{F5BD3933-11E0-E971-FF7E-67639B93DA1A}"/>
              </a:ext>
            </a:extLst>
          </p:cNvPr>
          <p:cNvPicPr>
            <a:picLocks noChangeAspect="1"/>
          </p:cNvPicPr>
          <p:nvPr/>
        </p:nvPicPr>
        <p:blipFill rotWithShape="1">
          <a:blip r:embed="rId2">
            <a:extLst>
              <a:ext uri="{28A0092B-C50C-407E-A947-70E740481C1C}">
                <a14:useLocalDpi xmlns:a14="http://schemas.microsoft.com/office/drawing/2010/main" val="0"/>
              </a:ext>
            </a:extLst>
          </a:blip>
          <a:srcRect l="8691"/>
          <a:stretch/>
        </p:blipFill>
        <p:spPr bwMode="auto">
          <a:xfrm>
            <a:off x="119380" y="646471"/>
            <a:ext cx="4174671"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39E07404-8061-548A-9563-45DEB6989469}"/>
              </a:ext>
            </a:extLst>
          </p:cNvPr>
          <p:cNvSpPr txBox="1"/>
          <p:nvPr/>
        </p:nvSpPr>
        <p:spPr>
          <a:xfrm>
            <a:off x="2612210" y="747849"/>
            <a:ext cx="1681842" cy="646331"/>
          </a:xfrm>
          <a:prstGeom prst="rect">
            <a:avLst/>
          </a:prstGeom>
          <a:noFill/>
        </p:spPr>
        <p:txBody>
          <a:bodyPr wrap="square">
            <a:spAutoFit/>
          </a:bodyPr>
          <a:lstStyle/>
          <a:p>
            <a:pPr>
              <a:spcAft>
                <a:spcPct val="0"/>
              </a:spcAft>
              <a:buFontTx/>
              <a:buNone/>
            </a:pPr>
            <a:r>
              <a:rPr lang="en-US" altLang="zh-CN" sz="1800" b="0" dirty="0">
                <a:latin typeface="Arial" panose="020B0604020202020204" pitchFamily="34" charset="0"/>
              </a:rPr>
              <a:t>BGA:</a:t>
            </a:r>
          </a:p>
          <a:p>
            <a:pPr>
              <a:spcAft>
                <a:spcPct val="0"/>
              </a:spcAft>
              <a:buFontTx/>
              <a:buNone/>
            </a:pPr>
            <a:r>
              <a:rPr lang="en-US" altLang="zh-CN" sz="1800" b="0" dirty="0">
                <a:latin typeface="Arial" panose="020B0604020202020204" pitchFamily="34" charset="0"/>
              </a:rPr>
              <a:t>Ball Grid Array</a:t>
            </a:r>
            <a:endParaRPr lang="zh-CN" altLang="en-US" sz="1800" b="0" dirty="0">
              <a:latin typeface="Arial" panose="020B0604020202020204" pitchFamily="34" charset="0"/>
            </a:endParaRPr>
          </a:p>
        </p:txBody>
      </p:sp>
      <p:pic>
        <p:nvPicPr>
          <p:cNvPr id="9" name="图片 8">
            <a:extLst>
              <a:ext uri="{FF2B5EF4-FFF2-40B4-BE49-F238E27FC236}">
                <a16:creationId xmlns:a16="http://schemas.microsoft.com/office/drawing/2014/main" id="{4596E44F-2E37-0DEF-D938-4760BE9630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45049" y="1996457"/>
            <a:ext cx="6041571" cy="4536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10">
            <a:extLst>
              <a:ext uri="{FF2B5EF4-FFF2-40B4-BE49-F238E27FC236}">
                <a16:creationId xmlns:a16="http://schemas.microsoft.com/office/drawing/2014/main" id="{B844463C-A65B-5DF7-E2E1-381C6BBD346C}"/>
              </a:ext>
            </a:extLst>
          </p:cNvPr>
          <p:cNvSpPr>
            <a:spLocks noChangeArrowheads="1"/>
          </p:cNvSpPr>
          <p:nvPr/>
        </p:nvSpPr>
        <p:spPr bwMode="auto">
          <a:xfrm>
            <a:off x="24675" y="6152833"/>
            <a:ext cx="70802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latin typeface="Arial" panose="020B0604020202020204" pitchFamily="34" charset="0"/>
              </a:rPr>
              <a:t>http://www.mr-wu.cn/non-warranty-pcb-rework-and-repair-services/</a:t>
            </a:r>
          </a:p>
        </p:txBody>
      </p:sp>
    </p:spTree>
    <p:extLst>
      <p:ext uri="{BB962C8B-B14F-4D97-AF65-F5344CB8AC3E}">
        <p14:creationId xmlns:p14="http://schemas.microsoft.com/office/powerpoint/2010/main" val="2647210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0877E5-8624-7471-29C7-03E7F81CCDF8}"/>
              </a:ext>
            </a:extLst>
          </p:cNvPr>
          <p:cNvSpPr>
            <a:spLocks noGrp="1"/>
          </p:cNvSpPr>
          <p:nvPr>
            <p:ph type="title"/>
          </p:nvPr>
        </p:nvSpPr>
        <p:spPr/>
        <p:txBody>
          <a:bodyPr>
            <a:normAutofit fontScale="90000"/>
          </a:bodyPr>
          <a:lstStyle/>
          <a:p>
            <a:r>
              <a:rPr lang="zh-CN" altLang="en-US" dirty="0"/>
              <a:t>加法器</a:t>
            </a:r>
            <a:endParaRPr kumimoji="1" lang="zh-CN" altLang="en-US" dirty="0"/>
          </a:p>
        </p:txBody>
      </p:sp>
      <p:sp>
        <p:nvSpPr>
          <p:cNvPr id="3" name="内容占位符 2">
            <a:extLst>
              <a:ext uri="{FF2B5EF4-FFF2-40B4-BE49-F238E27FC236}">
                <a16:creationId xmlns:a16="http://schemas.microsoft.com/office/drawing/2014/main" id="{7DF2DDD1-CAD9-CF59-3040-8E499D52290A}"/>
              </a:ext>
            </a:extLst>
          </p:cNvPr>
          <p:cNvSpPr>
            <a:spLocks noGrp="1"/>
          </p:cNvSpPr>
          <p:nvPr>
            <p:ph idx="1"/>
          </p:nvPr>
        </p:nvSpPr>
        <p:spPr/>
        <p:txBody>
          <a:bodyPr/>
          <a:lstStyle/>
          <a:p>
            <a:r>
              <a:rPr kumimoji="1" lang="zh-CN" altLang="en-US" dirty="0"/>
              <a:t>加法器是算术运算</a:t>
            </a:r>
            <a:r>
              <a:rPr kumimoji="1" lang="en-US" altLang="zh-CN" dirty="0"/>
              <a:t>(</a:t>
            </a:r>
            <a:r>
              <a:rPr kumimoji="1" lang="zh-CN" altLang="en-US" dirty="0"/>
              <a:t>加、减、乘、除</a:t>
            </a:r>
            <a:r>
              <a:rPr kumimoji="1" lang="en-US" altLang="zh-CN" dirty="0"/>
              <a:t>)</a:t>
            </a:r>
            <a:r>
              <a:rPr kumimoji="1" lang="zh-CN" altLang="en-US" dirty="0"/>
              <a:t>电路的基本单元</a:t>
            </a:r>
            <a:endParaRPr kumimoji="1" lang="en-US" altLang="zh-CN" dirty="0"/>
          </a:p>
          <a:p>
            <a:r>
              <a:rPr kumimoji="1" lang="en-US" altLang="zh-CN" dirty="0"/>
              <a:t>1</a:t>
            </a:r>
            <a:r>
              <a:rPr kumimoji="1" lang="zh-CN" altLang="en-US" dirty="0"/>
              <a:t>位加法器</a:t>
            </a:r>
          </a:p>
          <a:p>
            <a:pPr lvl="1"/>
            <a:r>
              <a:rPr kumimoji="1" lang="en-US" altLang="zh-CN" dirty="0"/>
              <a:t>1</a:t>
            </a:r>
            <a:r>
              <a:rPr kumimoji="1" lang="zh-CN" altLang="en-US" dirty="0"/>
              <a:t>位半加器</a:t>
            </a:r>
          </a:p>
          <a:p>
            <a:pPr lvl="1"/>
            <a:r>
              <a:rPr kumimoji="1" lang="en-US" altLang="zh-CN" dirty="0"/>
              <a:t>1</a:t>
            </a:r>
            <a:r>
              <a:rPr kumimoji="1" lang="zh-CN" altLang="en-US" dirty="0"/>
              <a:t>位全加器</a:t>
            </a:r>
          </a:p>
          <a:p>
            <a:r>
              <a:rPr kumimoji="1" lang="zh-CN" altLang="en-US" dirty="0"/>
              <a:t>由</a:t>
            </a:r>
            <a:r>
              <a:rPr kumimoji="1" lang="en-US" altLang="ja-JP" dirty="0"/>
              <a:t>1</a:t>
            </a:r>
            <a:r>
              <a:rPr kumimoji="1" lang="en-US" altLang="en-US" dirty="0"/>
              <a:t>位加法器</a:t>
            </a:r>
            <a:r>
              <a:rPr kumimoji="1" lang="en-US" altLang="zh-CN" dirty="0"/>
              <a:t>构成多位</a:t>
            </a:r>
            <a:r>
              <a:rPr kumimoji="1" lang="zh-CN" altLang="en-US" dirty="0"/>
              <a:t>加法器</a:t>
            </a:r>
            <a:endParaRPr kumimoji="1" lang="en-US" altLang="zh-CN" dirty="0"/>
          </a:p>
          <a:p>
            <a:pPr lvl="1"/>
            <a:r>
              <a:rPr kumimoji="1" lang="zh-CN" altLang="en-US" dirty="0"/>
              <a:t>串行进位加法器</a:t>
            </a:r>
          </a:p>
          <a:p>
            <a:pPr lvl="1"/>
            <a:r>
              <a:rPr kumimoji="1" lang="zh-CN" altLang="en-US" dirty="0"/>
              <a:t>超前进位加法器</a:t>
            </a:r>
          </a:p>
        </p:txBody>
      </p:sp>
      <p:sp>
        <p:nvSpPr>
          <p:cNvPr id="4" name="页脚占位符 3">
            <a:extLst>
              <a:ext uri="{FF2B5EF4-FFF2-40B4-BE49-F238E27FC236}">
                <a16:creationId xmlns:a16="http://schemas.microsoft.com/office/drawing/2014/main" id="{91A38064-0BE6-AC6D-A0F3-8809CF41FAE9}"/>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E536780D-0083-A542-450A-C4FCA9FC87ED}"/>
              </a:ext>
            </a:extLst>
          </p:cNvPr>
          <p:cNvSpPr>
            <a:spLocks noGrp="1"/>
          </p:cNvSpPr>
          <p:nvPr>
            <p:ph type="sldNum" sz="quarter" idx="12"/>
          </p:nvPr>
        </p:nvSpPr>
        <p:spPr/>
        <p:txBody>
          <a:bodyPr/>
          <a:lstStyle/>
          <a:p>
            <a:fld id="{9E260BC5-5BF3-8746-862B-DC45E9CAA88B}" type="slidenum">
              <a:rPr lang="en-US" smtClean="0"/>
              <a:pPr/>
              <a:t>9</a:t>
            </a:fld>
            <a:r>
              <a:rPr lang="en-US" altLang="zh-CN" dirty="0"/>
              <a:t>/25</a:t>
            </a:r>
            <a:endParaRPr lang="en-US" dirty="0"/>
          </a:p>
        </p:txBody>
      </p:sp>
    </p:spTree>
    <p:extLst>
      <p:ext uri="{BB962C8B-B14F-4D97-AF65-F5344CB8AC3E}">
        <p14:creationId xmlns:p14="http://schemas.microsoft.com/office/powerpoint/2010/main" val="2389327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6318B9-C930-75EE-648B-74DF8B9A9C70}"/>
              </a:ext>
            </a:extLst>
          </p:cNvPr>
          <p:cNvSpPr>
            <a:spLocks noGrp="1"/>
          </p:cNvSpPr>
          <p:nvPr>
            <p:ph type="title"/>
          </p:nvPr>
        </p:nvSpPr>
        <p:spPr/>
        <p:txBody>
          <a:bodyPr>
            <a:normAutofit fontScale="90000"/>
          </a:bodyPr>
          <a:lstStyle/>
          <a:p>
            <a:r>
              <a:rPr kumimoji="1" lang="en-US" altLang="zh-CN" dirty="0"/>
              <a:t>1</a:t>
            </a:r>
            <a:r>
              <a:rPr kumimoji="1" lang="zh-CN" altLang="en-US" dirty="0"/>
              <a:t>位半加器</a:t>
            </a:r>
          </a:p>
        </p:txBody>
      </p:sp>
      <p:sp>
        <p:nvSpPr>
          <p:cNvPr id="3" name="内容占位符 2">
            <a:extLst>
              <a:ext uri="{FF2B5EF4-FFF2-40B4-BE49-F238E27FC236}">
                <a16:creationId xmlns:a16="http://schemas.microsoft.com/office/drawing/2014/main" id="{DBE7CF04-5644-1783-F8D7-518E8F965986}"/>
              </a:ext>
            </a:extLst>
          </p:cNvPr>
          <p:cNvSpPr>
            <a:spLocks noGrp="1"/>
          </p:cNvSpPr>
          <p:nvPr>
            <p:ph idx="1"/>
          </p:nvPr>
        </p:nvSpPr>
        <p:spPr/>
        <p:txBody>
          <a:bodyPr/>
          <a:lstStyle/>
          <a:p>
            <a:r>
              <a:rPr lang="zh-CN" altLang="en-US" dirty="0"/>
              <a:t>将两个</a:t>
            </a:r>
            <a:r>
              <a:rPr lang="en-US" altLang="zh-CN" dirty="0"/>
              <a:t>1</a:t>
            </a:r>
            <a:r>
              <a:rPr lang="zh-CN" altLang="en-US" dirty="0"/>
              <a:t>位数相加，产生</a:t>
            </a:r>
            <a:r>
              <a:rPr lang="en-US" altLang="zh-CN" dirty="0"/>
              <a:t>1</a:t>
            </a:r>
            <a:r>
              <a:rPr lang="zh-CN" altLang="en-US" dirty="0"/>
              <a:t>位和、 </a:t>
            </a:r>
            <a:r>
              <a:rPr lang="en-US" altLang="zh-CN" dirty="0"/>
              <a:t>1</a:t>
            </a:r>
            <a:r>
              <a:rPr lang="zh-CN" altLang="en-US" dirty="0"/>
              <a:t>位进位</a:t>
            </a:r>
            <a:endParaRPr lang="en-US" altLang="zh-CN" dirty="0"/>
          </a:p>
          <a:p>
            <a:pPr lvl="1"/>
            <a:r>
              <a:rPr lang="en-US" altLang="zh-CN" dirty="0"/>
              <a:t>{Co, S} = A + B</a:t>
            </a:r>
          </a:p>
          <a:p>
            <a:endParaRPr lang="zh-CN" altLang="en-US" dirty="0"/>
          </a:p>
          <a:p>
            <a:endParaRPr kumimoji="1" lang="zh-CN" altLang="en-US" dirty="0"/>
          </a:p>
        </p:txBody>
      </p:sp>
      <p:sp>
        <p:nvSpPr>
          <p:cNvPr id="4" name="页脚占位符 3">
            <a:extLst>
              <a:ext uri="{FF2B5EF4-FFF2-40B4-BE49-F238E27FC236}">
                <a16:creationId xmlns:a16="http://schemas.microsoft.com/office/drawing/2014/main" id="{479E6733-E14C-2D2F-440F-57E64F69B28E}"/>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9ADC6ED0-FE94-2206-C01E-6A1072DAE006}"/>
              </a:ext>
            </a:extLst>
          </p:cNvPr>
          <p:cNvSpPr>
            <a:spLocks noGrp="1"/>
          </p:cNvSpPr>
          <p:nvPr>
            <p:ph type="sldNum" sz="quarter" idx="12"/>
          </p:nvPr>
        </p:nvSpPr>
        <p:spPr/>
        <p:txBody>
          <a:bodyPr/>
          <a:lstStyle/>
          <a:p>
            <a:fld id="{9E260BC5-5BF3-8746-862B-DC45E9CAA88B}" type="slidenum">
              <a:rPr lang="en-US" smtClean="0"/>
              <a:pPr/>
              <a:t>10</a:t>
            </a:fld>
            <a:r>
              <a:rPr lang="en-US" altLang="zh-CN" dirty="0"/>
              <a:t>/25</a:t>
            </a:r>
            <a:endParaRPr lang="en-US" dirty="0"/>
          </a:p>
        </p:txBody>
      </p:sp>
      <p:sp>
        <p:nvSpPr>
          <p:cNvPr id="6" name="Text Box 4">
            <a:extLst>
              <a:ext uri="{FF2B5EF4-FFF2-40B4-BE49-F238E27FC236}">
                <a16:creationId xmlns:a16="http://schemas.microsoft.com/office/drawing/2014/main" id="{9D021A37-6E4C-D8A8-1A56-E8755A741062}"/>
              </a:ext>
            </a:extLst>
          </p:cNvPr>
          <p:cNvSpPr txBox="1">
            <a:spLocks noChangeArrowheads="1"/>
          </p:cNvSpPr>
          <p:nvPr/>
        </p:nvSpPr>
        <p:spPr bwMode="auto">
          <a:xfrm>
            <a:off x="5864225" y="38766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逻辑符号</a:t>
            </a:r>
          </a:p>
        </p:txBody>
      </p:sp>
      <p:grpSp>
        <p:nvGrpSpPr>
          <p:cNvPr id="7" name="Group 5">
            <a:extLst>
              <a:ext uri="{FF2B5EF4-FFF2-40B4-BE49-F238E27FC236}">
                <a16:creationId xmlns:a16="http://schemas.microsoft.com/office/drawing/2014/main" id="{DEBD9E17-C86F-3447-2BDC-5D304612F701}"/>
              </a:ext>
            </a:extLst>
          </p:cNvPr>
          <p:cNvGrpSpPr>
            <a:grpSpLocks/>
          </p:cNvGrpSpPr>
          <p:nvPr/>
        </p:nvGrpSpPr>
        <p:grpSpPr bwMode="auto">
          <a:xfrm>
            <a:off x="928847" y="2276475"/>
            <a:ext cx="2370137" cy="2233613"/>
            <a:chOff x="607" y="1706"/>
            <a:chExt cx="1493" cy="1407"/>
          </a:xfrm>
        </p:grpSpPr>
        <p:sp>
          <p:nvSpPr>
            <p:cNvPr id="8" name="Line 6">
              <a:extLst>
                <a:ext uri="{FF2B5EF4-FFF2-40B4-BE49-F238E27FC236}">
                  <a16:creationId xmlns:a16="http://schemas.microsoft.com/office/drawing/2014/main" id="{B0FECBFE-A7BE-CF7B-C309-419E38E15785}"/>
                </a:ext>
              </a:extLst>
            </p:cNvPr>
            <p:cNvSpPr>
              <a:spLocks noChangeShapeType="1"/>
            </p:cNvSpPr>
            <p:nvPr/>
          </p:nvSpPr>
          <p:spPr bwMode="auto">
            <a:xfrm>
              <a:off x="607" y="2047"/>
              <a:ext cx="1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7">
              <a:extLst>
                <a:ext uri="{FF2B5EF4-FFF2-40B4-BE49-F238E27FC236}">
                  <a16:creationId xmlns:a16="http://schemas.microsoft.com/office/drawing/2014/main" id="{33C89923-D19D-EA4E-E8DD-6CA97D824738}"/>
                </a:ext>
              </a:extLst>
            </p:cNvPr>
            <p:cNvSpPr>
              <a:spLocks noChangeShapeType="1"/>
            </p:cNvSpPr>
            <p:nvPr/>
          </p:nvSpPr>
          <p:spPr bwMode="auto">
            <a:xfrm>
              <a:off x="1315" y="1706"/>
              <a:ext cx="0" cy="14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8">
              <a:extLst>
                <a:ext uri="{FF2B5EF4-FFF2-40B4-BE49-F238E27FC236}">
                  <a16:creationId xmlns:a16="http://schemas.microsoft.com/office/drawing/2014/main" id="{0A6431FD-2581-226B-A6BF-C1B0299055F8}"/>
                </a:ext>
              </a:extLst>
            </p:cNvPr>
            <p:cNvSpPr>
              <a:spLocks noChangeShapeType="1"/>
            </p:cNvSpPr>
            <p:nvPr/>
          </p:nvSpPr>
          <p:spPr bwMode="auto">
            <a:xfrm>
              <a:off x="607" y="1706"/>
              <a:ext cx="1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Text Box 9">
              <a:extLst>
                <a:ext uri="{FF2B5EF4-FFF2-40B4-BE49-F238E27FC236}">
                  <a16:creationId xmlns:a16="http://schemas.microsoft.com/office/drawing/2014/main" id="{4826AD6A-657F-F257-7A2F-5BB7A634433F}"/>
                </a:ext>
              </a:extLst>
            </p:cNvPr>
            <p:cNvSpPr txBox="1">
              <a:spLocks noChangeArrowheads="1"/>
            </p:cNvSpPr>
            <p:nvPr/>
          </p:nvSpPr>
          <p:spPr bwMode="auto">
            <a:xfrm>
              <a:off x="668" y="2031"/>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0    0</a:t>
              </a:r>
            </a:p>
          </p:txBody>
        </p:sp>
        <p:sp>
          <p:nvSpPr>
            <p:cNvPr id="12" name="Text Box 10">
              <a:extLst>
                <a:ext uri="{FF2B5EF4-FFF2-40B4-BE49-F238E27FC236}">
                  <a16:creationId xmlns:a16="http://schemas.microsoft.com/office/drawing/2014/main" id="{EBAD54DD-F3FF-7146-9BD9-09F51E7AD4CA}"/>
                </a:ext>
              </a:extLst>
            </p:cNvPr>
            <p:cNvSpPr txBox="1">
              <a:spLocks noChangeArrowheads="1"/>
            </p:cNvSpPr>
            <p:nvPr/>
          </p:nvSpPr>
          <p:spPr bwMode="auto">
            <a:xfrm>
              <a:off x="662" y="2271"/>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0    1</a:t>
              </a:r>
            </a:p>
          </p:txBody>
        </p:sp>
        <p:sp>
          <p:nvSpPr>
            <p:cNvPr id="13" name="Text Box 11">
              <a:extLst>
                <a:ext uri="{FF2B5EF4-FFF2-40B4-BE49-F238E27FC236}">
                  <a16:creationId xmlns:a16="http://schemas.microsoft.com/office/drawing/2014/main" id="{88447777-B6B4-D695-37B2-621FD6ACA8EC}"/>
                </a:ext>
              </a:extLst>
            </p:cNvPr>
            <p:cNvSpPr txBox="1">
              <a:spLocks noChangeArrowheads="1"/>
            </p:cNvSpPr>
            <p:nvPr/>
          </p:nvSpPr>
          <p:spPr bwMode="auto">
            <a:xfrm>
              <a:off x="662" y="2519"/>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1    0</a:t>
              </a:r>
            </a:p>
          </p:txBody>
        </p:sp>
        <p:sp>
          <p:nvSpPr>
            <p:cNvPr id="14" name="Text Box 12">
              <a:extLst>
                <a:ext uri="{FF2B5EF4-FFF2-40B4-BE49-F238E27FC236}">
                  <a16:creationId xmlns:a16="http://schemas.microsoft.com/office/drawing/2014/main" id="{F0E05381-EBF8-DC3D-684A-31AA3AA22D7C}"/>
                </a:ext>
              </a:extLst>
            </p:cNvPr>
            <p:cNvSpPr txBox="1">
              <a:spLocks noChangeArrowheads="1"/>
            </p:cNvSpPr>
            <p:nvPr/>
          </p:nvSpPr>
          <p:spPr bwMode="auto">
            <a:xfrm>
              <a:off x="662" y="2767"/>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1    1</a:t>
              </a:r>
            </a:p>
          </p:txBody>
        </p:sp>
        <p:sp>
          <p:nvSpPr>
            <p:cNvPr id="15" name="Text Box 13">
              <a:extLst>
                <a:ext uri="{FF2B5EF4-FFF2-40B4-BE49-F238E27FC236}">
                  <a16:creationId xmlns:a16="http://schemas.microsoft.com/office/drawing/2014/main" id="{FD62DBBC-916F-7570-D606-3C7A3241B91A}"/>
                </a:ext>
              </a:extLst>
            </p:cNvPr>
            <p:cNvSpPr txBox="1">
              <a:spLocks noChangeArrowheads="1"/>
            </p:cNvSpPr>
            <p:nvPr/>
          </p:nvSpPr>
          <p:spPr bwMode="auto">
            <a:xfrm>
              <a:off x="1815" y="203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16" name="Text Box 14">
              <a:extLst>
                <a:ext uri="{FF2B5EF4-FFF2-40B4-BE49-F238E27FC236}">
                  <a16:creationId xmlns:a16="http://schemas.microsoft.com/office/drawing/2014/main" id="{FDA605C1-A4D4-B745-2FB9-48594DB004D9}"/>
                </a:ext>
              </a:extLst>
            </p:cNvPr>
            <p:cNvSpPr txBox="1">
              <a:spLocks noChangeArrowheads="1"/>
            </p:cNvSpPr>
            <p:nvPr/>
          </p:nvSpPr>
          <p:spPr bwMode="auto">
            <a:xfrm>
              <a:off x="1452" y="203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17" name="Text Box 15">
              <a:extLst>
                <a:ext uri="{FF2B5EF4-FFF2-40B4-BE49-F238E27FC236}">
                  <a16:creationId xmlns:a16="http://schemas.microsoft.com/office/drawing/2014/main" id="{12ECE0CB-C112-9746-72AF-F68C389CB1BD}"/>
                </a:ext>
              </a:extLst>
            </p:cNvPr>
            <p:cNvSpPr txBox="1">
              <a:spLocks noChangeArrowheads="1"/>
            </p:cNvSpPr>
            <p:nvPr/>
          </p:nvSpPr>
          <p:spPr bwMode="auto">
            <a:xfrm>
              <a:off x="1815" y="227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18" name="Text Box 16">
              <a:extLst>
                <a:ext uri="{FF2B5EF4-FFF2-40B4-BE49-F238E27FC236}">
                  <a16:creationId xmlns:a16="http://schemas.microsoft.com/office/drawing/2014/main" id="{DCE08DBB-2CCB-AF0D-CA43-6608D7BE9DE1}"/>
                </a:ext>
              </a:extLst>
            </p:cNvPr>
            <p:cNvSpPr txBox="1">
              <a:spLocks noChangeArrowheads="1"/>
            </p:cNvSpPr>
            <p:nvPr/>
          </p:nvSpPr>
          <p:spPr bwMode="auto">
            <a:xfrm>
              <a:off x="1448" y="227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19" name="Text Box 17">
              <a:extLst>
                <a:ext uri="{FF2B5EF4-FFF2-40B4-BE49-F238E27FC236}">
                  <a16:creationId xmlns:a16="http://schemas.microsoft.com/office/drawing/2014/main" id="{C89CE4FD-EE06-DD61-2547-E4AB80CB01AA}"/>
                </a:ext>
              </a:extLst>
            </p:cNvPr>
            <p:cNvSpPr txBox="1">
              <a:spLocks noChangeArrowheads="1"/>
            </p:cNvSpPr>
            <p:nvPr/>
          </p:nvSpPr>
          <p:spPr bwMode="auto">
            <a:xfrm>
              <a:off x="1815" y="25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20" name="Text Box 18">
              <a:extLst>
                <a:ext uri="{FF2B5EF4-FFF2-40B4-BE49-F238E27FC236}">
                  <a16:creationId xmlns:a16="http://schemas.microsoft.com/office/drawing/2014/main" id="{3D6DEDA9-7056-2EF0-9692-CB5E646ADEA1}"/>
                </a:ext>
              </a:extLst>
            </p:cNvPr>
            <p:cNvSpPr txBox="1">
              <a:spLocks noChangeArrowheads="1"/>
            </p:cNvSpPr>
            <p:nvPr/>
          </p:nvSpPr>
          <p:spPr bwMode="auto">
            <a:xfrm>
              <a:off x="1448" y="251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21" name="Text Box 19">
              <a:extLst>
                <a:ext uri="{FF2B5EF4-FFF2-40B4-BE49-F238E27FC236}">
                  <a16:creationId xmlns:a16="http://schemas.microsoft.com/office/drawing/2014/main" id="{5EBFB1F6-9550-4055-D2F6-9AAF663007B0}"/>
                </a:ext>
              </a:extLst>
            </p:cNvPr>
            <p:cNvSpPr txBox="1">
              <a:spLocks noChangeArrowheads="1"/>
            </p:cNvSpPr>
            <p:nvPr/>
          </p:nvSpPr>
          <p:spPr bwMode="auto">
            <a:xfrm>
              <a:off x="1821" y="276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22" name="Text Box 20">
              <a:extLst>
                <a:ext uri="{FF2B5EF4-FFF2-40B4-BE49-F238E27FC236}">
                  <a16:creationId xmlns:a16="http://schemas.microsoft.com/office/drawing/2014/main" id="{A22694C6-FAFA-FCC6-8EB5-9A49EC6CE07F}"/>
                </a:ext>
              </a:extLst>
            </p:cNvPr>
            <p:cNvSpPr txBox="1">
              <a:spLocks noChangeArrowheads="1"/>
            </p:cNvSpPr>
            <p:nvPr/>
          </p:nvSpPr>
          <p:spPr bwMode="auto">
            <a:xfrm>
              <a:off x="1448" y="276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23" name="Text Box 21">
              <a:extLst>
                <a:ext uri="{FF2B5EF4-FFF2-40B4-BE49-F238E27FC236}">
                  <a16:creationId xmlns:a16="http://schemas.microsoft.com/office/drawing/2014/main" id="{C026ACA5-FAD7-62B9-6AF1-DC46F96F3C68}"/>
                </a:ext>
              </a:extLst>
            </p:cNvPr>
            <p:cNvSpPr txBox="1">
              <a:spLocks noChangeArrowheads="1"/>
            </p:cNvSpPr>
            <p:nvPr/>
          </p:nvSpPr>
          <p:spPr bwMode="auto">
            <a:xfrm>
              <a:off x="657" y="1707"/>
              <a:ext cx="5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A  </a:t>
              </a:r>
              <a:r>
                <a:rPr kumimoji="1" lang="en-US" altLang="zh-CN" sz="2400" b="0"/>
                <a:t> </a:t>
              </a:r>
              <a:r>
                <a:rPr kumimoji="1" lang="en-US" altLang="zh-CN" b="0"/>
                <a:t>B</a:t>
              </a:r>
            </a:p>
          </p:txBody>
        </p:sp>
        <p:sp>
          <p:nvSpPr>
            <p:cNvPr id="24" name="Text Box 22">
              <a:extLst>
                <a:ext uri="{FF2B5EF4-FFF2-40B4-BE49-F238E27FC236}">
                  <a16:creationId xmlns:a16="http://schemas.microsoft.com/office/drawing/2014/main" id="{96D9B874-8490-8FE2-8AD7-2B929A65E842}"/>
                </a:ext>
              </a:extLst>
            </p:cNvPr>
            <p:cNvSpPr txBox="1">
              <a:spLocks noChangeArrowheads="1"/>
            </p:cNvSpPr>
            <p:nvPr/>
          </p:nvSpPr>
          <p:spPr bwMode="auto">
            <a:xfrm>
              <a:off x="1791" y="1707"/>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S</a:t>
              </a:r>
            </a:p>
          </p:txBody>
        </p:sp>
        <p:sp>
          <p:nvSpPr>
            <p:cNvPr id="25" name="Text Box 23">
              <a:extLst>
                <a:ext uri="{FF2B5EF4-FFF2-40B4-BE49-F238E27FC236}">
                  <a16:creationId xmlns:a16="http://schemas.microsoft.com/office/drawing/2014/main" id="{17667953-E507-562E-ED18-C7FC5B1968E3}"/>
                </a:ext>
              </a:extLst>
            </p:cNvPr>
            <p:cNvSpPr txBox="1">
              <a:spLocks noChangeArrowheads="1"/>
            </p:cNvSpPr>
            <p:nvPr/>
          </p:nvSpPr>
          <p:spPr bwMode="auto">
            <a:xfrm>
              <a:off x="1400" y="1706"/>
              <a:ext cx="3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Co</a:t>
              </a:r>
            </a:p>
          </p:txBody>
        </p:sp>
        <p:sp>
          <p:nvSpPr>
            <p:cNvPr id="26" name="Line 24">
              <a:extLst>
                <a:ext uri="{FF2B5EF4-FFF2-40B4-BE49-F238E27FC236}">
                  <a16:creationId xmlns:a16="http://schemas.microsoft.com/office/drawing/2014/main" id="{A20D75EB-A2E5-F2F5-C71F-7668821AE991}"/>
                </a:ext>
              </a:extLst>
            </p:cNvPr>
            <p:cNvSpPr>
              <a:spLocks noChangeShapeType="1"/>
            </p:cNvSpPr>
            <p:nvPr/>
          </p:nvSpPr>
          <p:spPr bwMode="auto">
            <a:xfrm>
              <a:off x="612" y="3113"/>
              <a:ext cx="1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27" name="Text Box 25">
            <a:extLst>
              <a:ext uri="{FF2B5EF4-FFF2-40B4-BE49-F238E27FC236}">
                <a16:creationId xmlns:a16="http://schemas.microsoft.com/office/drawing/2014/main" id="{165976ED-15B0-6B89-F84D-1C22431F3189}"/>
              </a:ext>
            </a:extLst>
          </p:cNvPr>
          <p:cNvSpPr txBox="1">
            <a:spLocks noChangeArrowheads="1"/>
          </p:cNvSpPr>
          <p:nvPr/>
        </p:nvSpPr>
        <p:spPr bwMode="auto">
          <a:xfrm>
            <a:off x="943134" y="5310188"/>
            <a:ext cx="1292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b="0"/>
              <a:t>Co=AB</a:t>
            </a:r>
          </a:p>
        </p:txBody>
      </p:sp>
      <p:grpSp>
        <p:nvGrpSpPr>
          <p:cNvPr id="28" name="Group 26">
            <a:extLst>
              <a:ext uri="{FF2B5EF4-FFF2-40B4-BE49-F238E27FC236}">
                <a16:creationId xmlns:a16="http://schemas.microsoft.com/office/drawing/2014/main" id="{38F70300-829D-F6FA-92C2-432CA34D10F6}"/>
              </a:ext>
            </a:extLst>
          </p:cNvPr>
          <p:cNvGrpSpPr>
            <a:grpSpLocks/>
          </p:cNvGrpSpPr>
          <p:nvPr/>
        </p:nvGrpSpPr>
        <p:grpSpPr bwMode="auto">
          <a:xfrm>
            <a:off x="936784" y="4678363"/>
            <a:ext cx="2870200" cy="579437"/>
            <a:chOff x="612" y="3219"/>
            <a:chExt cx="1808" cy="365"/>
          </a:xfrm>
        </p:grpSpPr>
        <p:sp>
          <p:nvSpPr>
            <p:cNvPr id="29" name="Text Box 27">
              <a:extLst>
                <a:ext uri="{FF2B5EF4-FFF2-40B4-BE49-F238E27FC236}">
                  <a16:creationId xmlns:a16="http://schemas.microsoft.com/office/drawing/2014/main" id="{51047892-53F3-9C72-20D9-551587FFAE7B}"/>
                </a:ext>
              </a:extLst>
            </p:cNvPr>
            <p:cNvSpPr txBox="1">
              <a:spLocks noChangeArrowheads="1"/>
            </p:cNvSpPr>
            <p:nvPr/>
          </p:nvSpPr>
          <p:spPr bwMode="auto">
            <a:xfrm>
              <a:off x="612" y="3219"/>
              <a:ext cx="18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b="0"/>
                <a:t>S=AB+AB=A</a:t>
              </a:r>
              <a:r>
                <a:rPr kumimoji="1" lang="en-US" altLang="zh-CN" sz="3200" b="0"/>
                <a:t>⊕</a:t>
              </a:r>
              <a:r>
                <a:rPr kumimoji="1" lang="en-US" altLang="zh-CN" b="0"/>
                <a:t>B</a:t>
              </a:r>
            </a:p>
          </p:txBody>
        </p:sp>
        <p:sp>
          <p:nvSpPr>
            <p:cNvPr id="30" name="Line 28">
              <a:extLst>
                <a:ext uri="{FF2B5EF4-FFF2-40B4-BE49-F238E27FC236}">
                  <a16:creationId xmlns:a16="http://schemas.microsoft.com/office/drawing/2014/main" id="{66D21A55-D35C-7DCE-EA24-E336ACB8BAAB}"/>
                </a:ext>
              </a:extLst>
            </p:cNvPr>
            <p:cNvSpPr>
              <a:spLocks noChangeShapeType="1"/>
            </p:cNvSpPr>
            <p:nvPr/>
          </p:nvSpPr>
          <p:spPr bwMode="auto">
            <a:xfrm>
              <a:off x="930" y="3294"/>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1" name="Line 29">
              <a:extLst>
                <a:ext uri="{FF2B5EF4-FFF2-40B4-BE49-F238E27FC236}">
                  <a16:creationId xmlns:a16="http://schemas.microsoft.com/office/drawing/2014/main" id="{B610ECC4-681B-F066-6C43-8EC8C7C49AA7}"/>
                </a:ext>
              </a:extLst>
            </p:cNvPr>
            <p:cNvSpPr>
              <a:spLocks noChangeShapeType="1"/>
            </p:cNvSpPr>
            <p:nvPr/>
          </p:nvSpPr>
          <p:spPr bwMode="auto">
            <a:xfrm>
              <a:off x="1519" y="3294"/>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32" name="Rectangle 45">
            <a:extLst>
              <a:ext uri="{FF2B5EF4-FFF2-40B4-BE49-F238E27FC236}">
                <a16:creationId xmlns:a16="http://schemas.microsoft.com/office/drawing/2014/main" id="{08033320-A745-8208-1E86-AC3E8E4EDF2D}"/>
              </a:ext>
            </a:extLst>
          </p:cNvPr>
          <p:cNvSpPr>
            <a:spLocks noChangeArrowheads="1"/>
          </p:cNvSpPr>
          <p:nvPr/>
        </p:nvSpPr>
        <p:spPr bwMode="auto">
          <a:xfrm>
            <a:off x="6007100" y="2241550"/>
            <a:ext cx="1193800" cy="14033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3" name="Line 46">
            <a:extLst>
              <a:ext uri="{FF2B5EF4-FFF2-40B4-BE49-F238E27FC236}">
                <a16:creationId xmlns:a16="http://schemas.microsoft.com/office/drawing/2014/main" id="{60B71176-FB74-B528-ABA8-C8B3A7D2D714}"/>
              </a:ext>
            </a:extLst>
          </p:cNvPr>
          <p:cNvSpPr>
            <a:spLocks noChangeShapeType="1"/>
          </p:cNvSpPr>
          <p:nvPr/>
        </p:nvSpPr>
        <p:spPr bwMode="auto">
          <a:xfrm>
            <a:off x="5549900" y="259080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47">
            <a:extLst>
              <a:ext uri="{FF2B5EF4-FFF2-40B4-BE49-F238E27FC236}">
                <a16:creationId xmlns:a16="http://schemas.microsoft.com/office/drawing/2014/main" id="{8649DCD2-E488-8E2D-DA62-030AD56DC0B4}"/>
              </a:ext>
            </a:extLst>
          </p:cNvPr>
          <p:cNvSpPr>
            <a:spLocks noChangeShapeType="1"/>
          </p:cNvSpPr>
          <p:nvPr/>
        </p:nvSpPr>
        <p:spPr bwMode="auto">
          <a:xfrm>
            <a:off x="5549900" y="3343275"/>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48">
            <a:extLst>
              <a:ext uri="{FF2B5EF4-FFF2-40B4-BE49-F238E27FC236}">
                <a16:creationId xmlns:a16="http://schemas.microsoft.com/office/drawing/2014/main" id="{52879DB7-9B80-2758-C381-5040DD31CDEA}"/>
              </a:ext>
            </a:extLst>
          </p:cNvPr>
          <p:cNvSpPr>
            <a:spLocks noChangeShapeType="1"/>
          </p:cNvSpPr>
          <p:nvPr/>
        </p:nvSpPr>
        <p:spPr bwMode="auto">
          <a:xfrm>
            <a:off x="7210425" y="259080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49">
            <a:extLst>
              <a:ext uri="{FF2B5EF4-FFF2-40B4-BE49-F238E27FC236}">
                <a16:creationId xmlns:a16="http://schemas.microsoft.com/office/drawing/2014/main" id="{77912F1A-5B3E-29CD-C546-BDB7DBD18805}"/>
              </a:ext>
            </a:extLst>
          </p:cNvPr>
          <p:cNvSpPr>
            <a:spLocks noChangeShapeType="1"/>
          </p:cNvSpPr>
          <p:nvPr/>
        </p:nvSpPr>
        <p:spPr bwMode="auto">
          <a:xfrm>
            <a:off x="7210425" y="3343275"/>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Text Box 50">
            <a:extLst>
              <a:ext uri="{FF2B5EF4-FFF2-40B4-BE49-F238E27FC236}">
                <a16:creationId xmlns:a16="http://schemas.microsoft.com/office/drawing/2014/main" id="{8E6A15A6-8172-198A-7757-6F07906F1FEB}"/>
              </a:ext>
            </a:extLst>
          </p:cNvPr>
          <p:cNvSpPr txBox="1">
            <a:spLocks noChangeArrowheads="1"/>
          </p:cNvSpPr>
          <p:nvPr/>
        </p:nvSpPr>
        <p:spPr bwMode="auto">
          <a:xfrm>
            <a:off x="6002338" y="23844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38" name="Text Box 51">
            <a:extLst>
              <a:ext uri="{FF2B5EF4-FFF2-40B4-BE49-F238E27FC236}">
                <a16:creationId xmlns:a16="http://schemas.microsoft.com/office/drawing/2014/main" id="{49CCC0E5-E99E-4381-A199-477F5B04D361}"/>
              </a:ext>
            </a:extLst>
          </p:cNvPr>
          <p:cNvSpPr txBox="1">
            <a:spLocks noChangeArrowheads="1"/>
          </p:cNvSpPr>
          <p:nvPr/>
        </p:nvSpPr>
        <p:spPr bwMode="auto">
          <a:xfrm>
            <a:off x="6018213" y="3119438"/>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39" name="Text Box 52">
            <a:extLst>
              <a:ext uri="{FF2B5EF4-FFF2-40B4-BE49-F238E27FC236}">
                <a16:creationId xmlns:a16="http://schemas.microsoft.com/office/drawing/2014/main" id="{9F8319BA-3143-CA0B-BB63-D0C586D9494C}"/>
              </a:ext>
            </a:extLst>
          </p:cNvPr>
          <p:cNvSpPr txBox="1">
            <a:spLocks noChangeArrowheads="1"/>
          </p:cNvSpPr>
          <p:nvPr/>
        </p:nvSpPr>
        <p:spPr bwMode="auto">
          <a:xfrm>
            <a:off x="6767513" y="2386013"/>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40" name="Text Box 53">
            <a:extLst>
              <a:ext uri="{FF2B5EF4-FFF2-40B4-BE49-F238E27FC236}">
                <a16:creationId xmlns:a16="http://schemas.microsoft.com/office/drawing/2014/main" id="{1785609E-D7D3-5F7F-8A4E-3FD734178CA3}"/>
              </a:ext>
            </a:extLst>
          </p:cNvPr>
          <p:cNvSpPr txBox="1">
            <a:spLocks noChangeArrowheads="1"/>
          </p:cNvSpPr>
          <p:nvPr/>
        </p:nvSpPr>
        <p:spPr bwMode="auto">
          <a:xfrm>
            <a:off x="6588125" y="3103563"/>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Co</a:t>
            </a:r>
          </a:p>
        </p:txBody>
      </p:sp>
      <p:sp>
        <p:nvSpPr>
          <p:cNvPr id="41" name="Text Box 54">
            <a:extLst>
              <a:ext uri="{FF2B5EF4-FFF2-40B4-BE49-F238E27FC236}">
                <a16:creationId xmlns:a16="http://schemas.microsoft.com/office/drawing/2014/main" id="{6F7B80E8-90E3-48D0-FCB5-306FE5520523}"/>
              </a:ext>
            </a:extLst>
          </p:cNvPr>
          <p:cNvSpPr txBox="1">
            <a:spLocks noChangeArrowheads="1"/>
          </p:cNvSpPr>
          <p:nvPr/>
        </p:nvSpPr>
        <p:spPr bwMode="auto">
          <a:xfrm>
            <a:off x="6372225" y="2276475"/>
            <a:ext cx="35718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grpSp>
        <p:nvGrpSpPr>
          <p:cNvPr id="42" name="Group 88">
            <a:extLst>
              <a:ext uri="{FF2B5EF4-FFF2-40B4-BE49-F238E27FC236}">
                <a16:creationId xmlns:a16="http://schemas.microsoft.com/office/drawing/2014/main" id="{AD1FA801-0977-DC35-66BD-5F15246B4CC4}"/>
              </a:ext>
            </a:extLst>
          </p:cNvPr>
          <p:cNvGrpSpPr>
            <a:grpSpLocks/>
          </p:cNvGrpSpPr>
          <p:nvPr/>
        </p:nvGrpSpPr>
        <p:grpSpPr bwMode="auto">
          <a:xfrm>
            <a:off x="4895850" y="4581525"/>
            <a:ext cx="3195638" cy="1584325"/>
            <a:chOff x="3084" y="2886"/>
            <a:chExt cx="2013" cy="998"/>
          </a:xfrm>
        </p:grpSpPr>
        <p:sp>
          <p:nvSpPr>
            <p:cNvPr id="43" name="Text Box 31">
              <a:extLst>
                <a:ext uri="{FF2B5EF4-FFF2-40B4-BE49-F238E27FC236}">
                  <a16:creationId xmlns:a16="http://schemas.microsoft.com/office/drawing/2014/main" id="{F7E1FA38-A626-EC07-64D2-F6FF5DF5A2E2}"/>
                </a:ext>
              </a:extLst>
            </p:cNvPr>
            <p:cNvSpPr txBox="1">
              <a:spLocks noChangeArrowheads="1"/>
            </p:cNvSpPr>
            <p:nvPr/>
          </p:nvSpPr>
          <p:spPr bwMode="auto">
            <a:xfrm>
              <a:off x="3084" y="2886"/>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A</a:t>
              </a:r>
            </a:p>
          </p:txBody>
        </p:sp>
        <p:sp>
          <p:nvSpPr>
            <p:cNvPr id="44" name="Text Box 32">
              <a:extLst>
                <a:ext uri="{FF2B5EF4-FFF2-40B4-BE49-F238E27FC236}">
                  <a16:creationId xmlns:a16="http://schemas.microsoft.com/office/drawing/2014/main" id="{41710E49-AE17-651D-C908-DBEED444FD1F}"/>
                </a:ext>
              </a:extLst>
            </p:cNvPr>
            <p:cNvSpPr txBox="1">
              <a:spLocks noChangeArrowheads="1"/>
            </p:cNvSpPr>
            <p:nvPr/>
          </p:nvSpPr>
          <p:spPr bwMode="auto">
            <a:xfrm>
              <a:off x="3097" y="3125"/>
              <a:ext cx="26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B</a:t>
              </a:r>
            </a:p>
          </p:txBody>
        </p:sp>
        <p:sp>
          <p:nvSpPr>
            <p:cNvPr id="45" name="Line 33">
              <a:extLst>
                <a:ext uri="{FF2B5EF4-FFF2-40B4-BE49-F238E27FC236}">
                  <a16:creationId xmlns:a16="http://schemas.microsoft.com/office/drawing/2014/main" id="{E7FD9388-8FB4-8FE6-778D-B33493B20F0B}"/>
                </a:ext>
              </a:extLst>
            </p:cNvPr>
            <p:cNvSpPr>
              <a:spLocks noChangeShapeType="1"/>
            </p:cNvSpPr>
            <p:nvPr/>
          </p:nvSpPr>
          <p:spPr bwMode="auto">
            <a:xfrm>
              <a:off x="3855" y="3099"/>
              <a:ext cx="0" cy="521"/>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34">
              <a:extLst>
                <a:ext uri="{FF2B5EF4-FFF2-40B4-BE49-F238E27FC236}">
                  <a16:creationId xmlns:a16="http://schemas.microsoft.com/office/drawing/2014/main" id="{F558AFA2-5C25-C439-AB79-F58A19441843}"/>
                </a:ext>
              </a:extLst>
            </p:cNvPr>
            <p:cNvSpPr>
              <a:spLocks noChangeShapeType="1"/>
            </p:cNvSpPr>
            <p:nvPr/>
          </p:nvSpPr>
          <p:spPr bwMode="auto">
            <a:xfrm>
              <a:off x="3851" y="3620"/>
              <a:ext cx="2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35">
              <a:extLst>
                <a:ext uri="{FF2B5EF4-FFF2-40B4-BE49-F238E27FC236}">
                  <a16:creationId xmlns:a16="http://schemas.microsoft.com/office/drawing/2014/main" id="{6AB1477B-301D-9E1C-AEF3-C1499B7DCD7B}"/>
                </a:ext>
              </a:extLst>
            </p:cNvPr>
            <p:cNvSpPr>
              <a:spLocks noChangeShapeType="1"/>
            </p:cNvSpPr>
            <p:nvPr/>
          </p:nvSpPr>
          <p:spPr bwMode="auto">
            <a:xfrm>
              <a:off x="3381" y="3099"/>
              <a:ext cx="76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36">
              <a:extLst>
                <a:ext uri="{FF2B5EF4-FFF2-40B4-BE49-F238E27FC236}">
                  <a16:creationId xmlns:a16="http://schemas.microsoft.com/office/drawing/2014/main" id="{99071088-C821-2DEC-6845-B2296FA99703}"/>
                </a:ext>
              </a:extLst>
            </p:cNvPr>
            <p:cNvSpPr>
              <a:spLocks noChangeShapeType="1"/>
            </p:cNvSpPr>
            <p:nvPr/>
          </p:nvSpPr>
          <p:spPr bwMode="auto">
            <a:xfrm>
              <a:off x="3632" y="3280"/>
              <a:ext cx="0" cy="522"/>
            </a:xfrm>
            <a:prstGeom prst="line">
              <a:avLst/>
            </a:prstGeom>
            <a:noFill/>
            <a:ln w="28575">
              <a:solidFill>
                <a:schemeClr val="tx1"/>
              </a:solidFill>
              <a:round/>
              <a:headEnd type="oval" w="lg"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37">
              <a:extLst>
                <a:ext uri="{FF2B5EF4-FFF2-40B4-BE49-F238E27FC236}">
                  <a16:creationId xmlns:a16="http://schemas.microsoft.com/office/drawing/2014/main" id="{3DFEAEED-19A2-1393-27A0-3E1D222FBFB1}"/>
                </a:ext>
              </a:extLst>
            </p:cNvPr>
            <p:cNvSpPr>
              <a:spLocks noChangeShapeType="1"/>
            </p:cNvSpPr>
            <p:nvPr/>
          </p:nvSpPr>
          <p:spPr bwMode="auto">
            <a:xfrm>
              <a:off x="3632" y="3802"/>
              <a:ext cx="49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38">
              <a:extLst>
                <a:ext uri="{FF2B5EF4-FFF2-40B4-BE49-F238E27FC236}">
                  <a16:creationId xmlns:a16="http://schemas.microsoft.com/office/drawing/2014/main" id="{7BC7BD05-B8B1-0DD0-E14A-0C4E89E939E4}"/>
                </a:ext>
              </a:extLst>
            </p:cNvPr>
            <p:cNvSpPr>
              <a:spLocks noChangeShapeType="1"/>
            </p:cNvSpPr>
            <p:nvPr/>
          </p:nvSpPr>
          <p:spPr bwMode="auto">
            <a:xfrm>
              <a:off x="3378" y="3280"/>
              <a:ext cx="76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39">
              <a:extLst>
                <a:ext uri="{FF2B5EF4-FFF2-40B4-BE49-F238E27FC236}">
                  <a16:creationId xmlns:a16="http://schemas.microsoft.com/office/drawing/2014/main" id="{B40E5A66-60CB-C6B2-68FB-1CB4B3444FAB}"/>
                </a:ext>
              </a:extLst>
            </p:cNvPr>
            <p:cNvSpPr>
              <a:spLocks noChangeShapeType="1"/>
            </p:cNvSpPr>
            <p:nvPr/>
          </p:nvSpPr>
          <p:spPr bwMode="auto">
            <a:xfrm>
              <a:off x="4513" y="3181"/>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40">
              <a:extLst>
                <a:ext uri="{FF2B5EF4-FFF2-40B4-BE49-F238E27FC236}">
                  <a16:creationId xmlns:a16="http://schemas.microsoft.com/office/drawing/2014/main" id="{3122942A-3CAE-D018-9A3A-BC1493905E63}"/>
                </a:ext>
              </a:extLst>
            </p:cNvPr>
            <p:cNvSpPr>
              <a:spLocks noChangeShapeType="1"/>
            </p:cNvSpPr>
            <p:nvPr/>
          </p:nvSpPr>
          <p:spPr bwMode="auto">
            <a:xfrm>
              <a:off x="4397" y="3715"/>
              <a:ext cx="33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Text Box 41">
              <a:extLst>
                <a:ext uri="{FF2B5EF4-FFF2-40B4-BE49-F238E27FC236}">
                  <a16:creationId xmlns:a16="http://schemas.microsoft.com/office/drawing/2014/main" id="{B23A1494-83F3-61AC-A16C-44E1C3659D18}"/>
                </a:ext>
              </a:extLst>
            </p:cNvPr>
            <p:cNvSpPr txBox="1">
              <a:spLocks noChangeArrowheads="1"/>
            </p:cNvSpPr>
            <p:nvPr/>
          </p:nvSpPr>
          <p:spPr bwMode="auto">
            <a:xfrm>
              <a:off x="4728" y="2998"/>
              <a:ext cx="2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S</a:t>
              </a:r>
            </a:p>
          </p:txBody>
        </p:sp>
        <p:sp>
          <p:nvSpPr>
            <p:cNvPr id="54" name="Text Box 42">
              <a:extLst>
                <a:ext uri="{FF2B5EF4-FFF2-40B4-BE49-F238E27FC236}">
                  <a16:creationId xmlns:a16="http://schemas.microsoft.com/office/drawing/2014/main" id="{0547E906-2537-5C9E-E554-5322BA61913A}"/>
                </a:ext>
              </a:extLst>
            </p:cNvPr>
            <p:cNvSpPr txBox="1">
              <a:spLocks noChangeArrowheads="1"/>
            </p:cNvSpPr>
            <p:nvPr/>
          </p:nvSpPr>
          <p:spPr bwMode="auto">
            <a:xfrm>
              <a:off x="4720" y="3543"/>
              <a:ext cx="3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Co</a:t>
              </a:r>
              <a:endParaRPr kumimoji="1" lang="en-US" altLang="zh-CN" sz="2400" b="0"/>
            </a:p>
          </p:txBody>
        </p:sp>
        <p:grpSp>
          <p:nvGrpSpPr>
            <p:cNvPr id="55" name="Group 79">
              <a:extLst>
                <a:ext uri="{FF2B5EF4-FFF2-40B4-BE49-F238E27FC236}">
                  <a16:creationId xmlns:a16="http://schemas.microsoft.com/office/drawing/2014/main" id="{6E10E0CF-3BD3-B7A7-763E-A4989E980E75}"/>
                </a:ext>
              </a:extLst>
            </p:cNvPr>
            <p:cNvGrpSpPr>
              <a:grpSpLocks/>
            </p:cNvGrpSpPr>
            <p:nvPr/>
          </p:nvGrpSpPr>
          <p:grpSpPr bwMode="auto">
            <a:xfrm>
              <a:off x="3515" y="2999"/>
              <a:ext cx="998" cy="363"/>
              <a:chOff x="3334" y="2976"/>
              <a:chExt cx="1269" cy="454"/>
            </a:xfrm>
          </p:grpSpPr>
          <p:grpSp>
            <p:nvGrpSpPr>
              <p:cNvPr id="57" name="Group 80">
                <a:extLst>
                  <a:ext uri="{FF2B5EF4-FFF2-40B4-BE49-F238E27FC236}">
                    <a16:creationId xmlns:a16="http://schemas.microsoft.com/office/drawing/2014/main" id="{F1118EE0-78C2-9FA3-6298-1973C7F126E0}"/>
                  </a:ext>
                </a:extLst>
              </p:cNvPr>
              <p:cNvGrpSpPr>
                <a:grpSpLocks/>
              </p:cNvGrpSpPr>
              <p:nvPr/>
            </p:nvGrpSpPr>
            <p:grpSpPr bwMode="auto">
              <a:xfrm>
                <a:off x="3447" y="2976"/>
                <a:ext cx="1156" cy="454"/>
                <a:chOff x="986" y="3158"/>
                <a:chExt cx="1671" cy="658"/>
              </a:xfrm>
            </p:grpSpPr>
            <p:sp>
              <p:nvSpPr>
                <p:cNvPr id="59" name="Arc 81">
                  <a:extLst>
                    <a:ext uri="{FF2B5EF4-FFF2-40B4-BE49-F238E27FC236}">
                      <a16:creationId xmlns:a16="http://schemas.microsoft.com/office/drawing/2014/main" id="{6AAC56C7-BAB9-CAAC-01C7-4C77F131396D}"/>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 name="Arc 82">
                  <a:extLst>
                    <a:ext uri="{FF2B5EF4-FFF2-40B4-BE49-F238E27FC236}">
                      <a16:creationId xmlns:a16="http://schemas.microsoft.com/office/drawing/2014/main" id="{3156DADC-9F5A-3A4F-C8F5-D8D109C8B994}"/>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 name="Arc 83">
                  <a:extLst>
                    <a:ext uri="{FF2B5EF4-FFF2-40B4-BE49-F238E27FC236}">
                      <a16:creationId xmlns:a16="http://schemas.microsoft.com/office/drawing/2014/main" id="{C8A0BFDB-9885-553D-7F13-B9D3B29EDA94}"/>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 name="Line 84">
                  <a:extLst>
                    <a:ext uri="{FF2B5EF4-FFF2-40B4-BE49-F238E27FC236}">
                      <a16:creationId xmlns:a16="http://schemas.microsoft.com/office/drawing/2014/main" id="{0ED0C649-A2C3-0282-2F45-5D58FD37D883}"/>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85">
                  <a:extLst>
                    <a:ext uri="{FF2B5EF4-FFF2-40B4-BE49-F238E27FC236}">
                      <a16:creationId xmlns:a16="http://schemas.microsoft.com/office/drawing/2014/main" id="{46EAA486-7106-2B68-1D9A-110A9A5DEEBF}"/>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 name="Arc 86">
                <a:extLst>
                  <a:ext uri="{FF2B5EF4-FFF2-40B4-BE49-F238E27FC236}">
                    <a16:creationId xmlns:a16="http://schemas.microsoft.com/office/drawing/2014/main" id="{86D7B40F-E8A3-EF3C-8331-3D9718C6D4AA}"/>
                  </a:ext>
                </a:extLst>
              </p:cNvPr>
              <p:cNvSpPr>
                <a:spLocks/>
              </p:cNvSpPr>
              <p:nvPr/>
            </p:nvSpPr>
            <p:spPr bwMode="auto">
              <a:xfrm rot="5400000">
                <a:off x="3465" y="2845"/>
                <a:ext cx="452" cy="714"/>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6" name="AutoShape 87">
              <a:extLst>
                <a:ext uri="{FF2B5EF4-FFF2-40B4-BE49-F238E27FC236}">
                  <a16:creationId xmlns:a16="http://schemas.microsoft.com/office/drawing/2014/main" id="{8AA7B7BB-FDAA-AC8F-B34F-D4FAEDA9AE46}"/>
                </a:ext>
              </a:extLst>
            </p:cNvPr>
            <p:cNvSpPr>
              <a:spLocks noChangeArrowheads="1"/>
            </p:cNvSpPr>
            <p:nvPr/>
          </p:nvSpPr>
          <p:spPr bwMode="auto">
            <a:xfrm>
              <a:off x="4114" y="3521"/>
              <a:ext cx="354" cy="363"/>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Tree>
    <p:extLst>
      <p:ext uri="{BB962C8B-B14F-4D97-AF65-F5344CB8AC3E}">
        <p14:creationId xmlns:p14="http://schemas.microsoft.com/office/powerpoint/2010/main" val="2854203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F51CAA-E1AA-C284-C3EA-6678497A1968}"/>
              </a:ext>
            </a:extLst>
          </p:cNvPr>
          <p:cNvSpPr>
            <a:spLocks noGrp="1"/>
          </p:cNvSpPr>
          <p:nvPr>
            <p:ph type="title"/>
          </p:nvPr>
        </p:nvSpPr>
        <p:spPr/>
        <p:txBody>
          <a:bodyPr>
            <a:normAutofit fontScale="90000"/>
          </a:bodyPr>
          <a:lstStyle/>
          <a:p>
            <a:r>
              <a:rPr kumimoji="1" lang="en-US" altLang="zh-CN" dirty="0"/>
              <a:t>1</a:t>
            </a:r>
            <a:r>
              <a:rPr kumimoji="1" lang="zh-CN" altLang="en-US" dirty="0"/>
              <a:t>位全加器</a:t>
            </a:r>
          </a:p>
        </p:txBody>
      </p:sp>
      <p:sp>
        <p:nvSpPr>
          <p:cNvPr id="3" name="内容占位符 2">
            <a:extLst>
              <a:ext uri="{FF2B5EF4-FFF2-40B4-BE49-F238E27FC236}">
                <a16:creationId xmlns:a16="http://schemas.microsoft.com/office/drawing/2014/main" id="{EFB57488-40F4-703E-CF75-77E41B201968}"/>
              </a:ext>
            </a:extLst>
          </p:cNvPr>
          <p:cNvSpPr>
            <a:spLocks noGrp="1"/>
          </p:cNvSpPr>
          <p:nvPr>
            <p:ph idx="1"/>
          </p:nvPr>
        </p:nvSpPr>
        <p:spPr>
          <a:xfrm>
            <a:off x="17780" y="585760"/>
            <a:ext cx="9217660" cy="5947119"/>
          </a:xfrm>
        </p:spPr>
        <p:txBody>
          <a:bodyPr/>
          <a:lstStyle/>
          <a:p>
            <a:r>
              <a:rPr lang="zh-CN" altLang="en-US" dirty="0"/>
              <a:t>将两个</a:t>
            </a:r>
            <a:r>
              <a:rPr lang="en-US" altLang="zh-CN" dirty="0"/>
              <a:t>1</a:t>
            </a:r>
            <a:r>
              <a:rPr lang="zh-CN" altLang="en-US" dirty="0"/>
              <a:t>位数与来自低位的进位相加，产生</a:t>
            </a:r>
            <a:r>
              <a:rPr lang="en-US" altLang="zh-CN" dirty="0"/>
              <a:t>1</a:t>
            </a:r>
            <a:r>
              <a:rPr lang="zh-CN" altLang="en-US" dirty="0"/>
              <a:t>位的和，以及向高位的进位</a:t>
            </a:r>
          </a:p>
          <a:p>
            <a:pPr lvl="1"/>
            <a:r>
              <a:rPr lang="en-US" altLang="zh-CN" sz="2800" dirty="0"/>
              <a:t>{Co, S} = A + B +Ci</a:t>
            </a:r>
            <a:endParaRPr kumimoji="1" lang="zh-CN" altLang="en-US" dirty="0"/>
          </a:p>
        </p:txBody>
      </p:sp>
      <p:sp>
        <p:nvSpPr>
          <p:cNvPr id="4" name="页脚占位符 3">
            <a:extLst>
              <a:ext uri="{FF2B5EF4-FFF2-40B4-BE49-F238E27FC236}">
                <a16:creationId xmlns:a16="http://schemas.microsoft.com/office/drawing/2014/main" id="{3368B738-5DA2-F199-040D-26114AE43425}"/>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CFCF78FE-7056-4BF8-9694-775D22375F3F}"/>
              </a:ext>
            </a:extLst>
          </p:cNvPr>
          <p:cNvSpPr>
            <a:spLocks noGrp="1"/>
          </p:cNvSpPr>
          <p:nvPr>
            <p:ph type="sldNum" sz="quarter" idx="12"/>
          </p:nvPr>
        </p:nvSpPr>
        <p:spPr/>
        <p:txBody>
          <a:bodyPr/>
          <a:lstStyle/>
          <a:p>
            <a:fld id="{9E260BC5-5BF3-8746-862B-DC45E9CAA88B}" type="slidenum">
              <a:rPr lang="en-US" smtClean="0"/>
              <a:pPr/>
              <a:t>11</a:t>
            </a:fld>
            <a:r>
              <a:rPr lang="en-US" altLang="zh-CN" dirty="0"/>
              <a:t>/25</a:t>
            </a:r>
            <a:endParaRPr lang="en-US" dirty="0"/>
          </a:p>
        </p:txBody>
      </p:sp>
      <p:sp>
        <p:nvSpPr>
          <p:cNvPr id="6" name="Rectangle 4">
            <a:extLst>
              <a:ext uri="{FF2B5EF4-FFF2-40B4-BE49-F238E27FC236}">
                <a16:creationId xmlns:a16="http://schemas.microsoft.com/office/drawing/2014/main" id="{FAC8963F-95E0-A95B-D2E0-2A1A9A51ACFF}"/>
              </a:ext>
            </a:extLst>
          </p:cNvPr>
          <p:cNvSpPr>
            <a:spLocks noChangeArrowheads="1"/>
          </p:cNvSpPr>
          <p:nvPr/>
        </p:nvSpPr>
        <p:spPr bwMode="auto">
          <a:xfrm>
            <a:off x="6625908" y="1924368"/>
            <a:ext cx="1193800" cy="15494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7" name="Line 5">
            <a:extLst>
              <a:ext uri="{FF2B5EF4-FFF2-40B4-BE49-F238E27FC236}">
                <a16:creationId xmlns:a16="http://schemas.microsoft.com/office/drawing/2014/main" id="{20BF8F95-4596-63BC-DABF-DB40E98E9056}"/>
              </a:ext>
            </a:extLst>
          </p:cNvPr>
          <p:cNvSpPr>
            <a:spLocks noChangeShapeType="1"/>
          </p:cNvSpPr>
          <p:nvPr/>
        </p:nvSpPr>
        <p:spPr bwMode="auto">
          <a:xfrm>
            <a:off x="6168708" y="2273618"/>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6">
            <a:extLst>
              <a:ext uri="{FF2B5EF4-FFF2-40B4-BE49-F238E27FC236}">
                <a16:creationId xmlns:a16="http://schemas.microsoft.com/office/drawing/2014/main" id="{76832473-72D7-3B8A-C4D4-D6FC5940C3F9}"/>
              </a:ext>
            </a:extLst>
          </p:cNvPr>
          <p:cNvSpPr>
            <a:spLocks noChangeShapeType="1"/>
          </p:cNvSpPr>
          <p:nvPr/>
        </p:nvSpPr>
        <p:spPr bwMode="auto">
          <a:xfrm>
            <a:off x="6168708" y="269748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7">
            <a:extLst>
              <a:ext uri="{FF2B5EF4-FFF2-40B4-BE49-F238E27FC236}">
                <a16:creationId xmlns:a16="http://schemas.microsoft.com/office/drawing/2014/main" id="{F006718B-D233-B720-C56B-263AA428D9C3}"/>
              </a:ext>
            </a:extLst>
          </p:cNvPr>
          <p:cNvSpPr>
            <a:spLocks noChangeShapeType="1"/>
          </p:cNvSpPr>
          <p:nvPr/>
        </p:nvSpPr>
        <p:spPr bwMode="auto">
          <a:xfrm>
            <a:off x="7829233" y="2273618"/>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8">
            <a:extLst>
              <a:ext uri="{FF2B5EF4-FFF2-40B4-BE49-F238E27FC236}">
                <a16:creationId xmlns:a16="http://schemas.microsoft.com/office/drawing/2014/main" id="{B1E5E900-A101-847E-AABC-33BC2E8E3328}"/>
              </a:ext>
            </a:extLst>
          </p:cNvPr>
          <p:cNvSpPr>
            <a:spLocks noChangeShapeType="1"/>
          </p:cNvSpPr>
          <p:nvPr/>
        </p:nvSpPr>
        <p:spPr bwMode="auto">
          <a:xfrm>
            <a:off x="7829233" y="315468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Text Box 9">
            <a:extLst>
              <a:ext uri="{FF2B5EF4-FFF2-40B4-BE49-F238E27FC236}">
                <a16:creationId xmlns:a16="http://schemas.microsoft.com/office/drawing/2014/main" id="{08863482-067E-D0A9-9BF6-790C2E8D4E55}"/>
              </a:ext>
            </a:extLst>
          </p:cNvPr>
          <p:cNvSpPr txBox="1">
            <a:spLocks noChangeArrowheads="1"/>
          </p:cNvSpPr>
          <p:nvPr/>
        </p:nvSpPr>
        <p:spPr bwMode="auto">
          <a:xfrm>
            <a:off x="6621145" y="2010093"/>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12" name="Text Box 10">
            <a:extLst>
              <a:ext uri="{FF2B5EF4-FFF2-40B4-BE49-F238E27FC236}">
                <a16:creationId xmlns:a16="http://schemas.microsoft.com/office/drawing/2014/main" id="{ADC35DBB-D118-AB68-A3DB-AF1A553967BC}"/>
              </a:ext>
            </a:extLst>
          </p:cNvPr>
          <p:cNvSpPr txBox="1">
            <a:spLocks noChangeArrowheads="1"/>
          </p:cNvSpPr>
          <p:nvPr/>
        </p:nvSpPr>
        <p:spPr bwMode="auto">
          <a:xfrm>
            <a:off x="6637020" y="244348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13" name="Text Box 11">
            <a:extLst>
              <a:ext uri="{FF2B5EF4-FFF2-40B4-BE49-F238E27FC236}">
                <a16:creationId xmlns:a16="http://schemas.microsoft.com/office/drawing/2014/main" id="{36A71D1F-F793-9411-58B6-0A5A7EBCF7E8}"/>
              </a:ext>
            </a:extLst>
          </p:cNvPr>
          <p:cNvSpPr txBox="1">
            <a:spLocks noChangeArrowheads="1"/>
          </p:cNvSpPr>
          <p:nvPr/>
        </p:nvSpPr>
        <p:spPr bwMode="auto">
          <a:xfrm>
            <a:off x="7422833" y="2068830"/>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14" name="Text Box 12">
            <a:extLst>
              <a:ext uri="{FF2B5EF4-FFF2-40B4-BE49-F238E27FC236}">
                <a16:creationId xmlns:a16="http://schemas.microsoft.com/office/drawing/2014/main" id="{1DA81B96-6025-54DC-9429-2D552BC16731}"/>
              </a:ext>
            </a:extLst>
          </p:cNvPr>
          <p:cNvSpPr txBox="1">
            <a:spLocks noChangeArrowheads="1"/>
          </p:cNvSpPr>
          <p:nvPr/>
        </p:nvSpPr>
        <p:spPr bwMode="auto">
          <a:xfrm>
            <a:off x="7256145" y="2932430"/>
            <a:ext cx="561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Co</a:t>
            </a:r>
          </a:p>
        </p:txBody>
      </p:sp>
      <p:sp>
        <p:nvSpPr>
          <p:cNvPr id="15" name="Text Box 13">
            <a:extLst>
              <a:ext uri="{FF2B5EF4-FFF2-40B4-BE49-F238E27FC236}">
                <a16:creationId xmlns:a16="http://schemas.microsoft.com/office/drawing/2014/main" id="{9B4BC7B3-278B-9A7B-D117-B2E4D094C67D}"/>
              </a:ext>
            </a:extLst>
          </p:cNvPr>
          <p:cNvSpPr txBox="1">
            <a:spLocks noChangeArrowheads="1"/>
          </p:cNvSpPr>
          <p:nvPr/>
        </p:nvSpPr>
        <p:spPr bwMode="auto">
          <a:xfrm>
            <a:off x="7010083" y="1960880"/>
            <a:ext cx="35718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sp>
        <p:nvSpPr>
          <p:cNvPr id="16" name="Text Box 14">
            <a:extLst>
              <a:ext uri="{FF2B5EF4-FFF2-40B4-BE49-F238E27FC236}">
                <a16:creationId xmlns:a16="http://schemas.microsoft.com/office/drawing/2014/main" id="{BC5A85E9-FEF9-45A2-E0B8-6372720FB002}"/>
              </a:ext>
            </a:extLst>
          </p:cNvPr>
          <p:cNvSpPr txBox="1">
            <a:spLocks noChangeArrowheads="1"/>
          </p:cNvSpPr>
          <p:nvPr/>
        </p:nvSpPr>
        <p:spPr bwMode="auto">
          <a:xfrm>
            <a:off x="6483033" y="358171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逻辑符号</a:t>
            </a:r>
          </a:p>
        </p:txBody>
      </p:sp>
      <p:sp>
        <p:nvSpPr>
          <p:cNvPr id="17" name="Line 15">
            <a:extLst>
              <a:ext uri="{FF2B5EF4-FFF2-40B4-BE49-F238E27FC236}">
                <a16:creationId xmlns:a16="http://schemas.microsoft.com/office/drawing/2014/main" id="{4E9CE608-CEB9-9687-AEB8-16B8D071070A}"/>
              </a:ext>
            </a:extLst>
          </p:cNvPr>
          <p:cNvSpPr>
            <a:spLocks noChangeShapeType="1"/>
          </p:cNvSpPr>
          <p:nvPr/>
        </p:nvSpPr>
        <p:spPr bwMode="auto">
          <a:xfrm>
            <a:off x="6157595" y="3168968"/>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16">
            <a:extLst>
              <a:ext uri="{FF2B5EF4-FFF2-40B4-BE49-F238E27FC236}">
                <a16:creationId xmlns:a16="http://schemas.microsoft.com/office/drawing/2014/main" id="{364662C2-C6C0-6F8D-AA14-51C72BE46717}"/>
              </a:ext>
            </a:extLst>
          </p:cNvPr>
          <p:cNvSpPr txBox="1">
            <a:spLocks noChangeArrowheads="1"/>
          </p:cNvSpPr>
          <p:nvPr/>
        </p:nvSpPr>
        <p:spPr bwMode="auto">
          <a:xfrm>
            <a:off x="6625908" y="2932430"/>
            <a:ext cx="474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000">
                <a:ea typeface="楷体_GB2312" pitchFamily="49" charset="-122"/>
              </a:rPr>
              <a:t>i</a:t>
            </a:r>
          </a:p>
        </p:txBody>
      </p:sp>
      <p:grpSp>
        <p:nvGrpSpPr>
          <p:cNvPr id="19" name="Group 17">
            <a:extLst>
              <a:ext uri="{FF2B5EF4-FFF2-40B4-BE49-F238E27FC236}">
                <a16:creationId xmlns:a16="http://schemas.microsoft.com/office/drawing/2014/main" id="{A6E9DC1B-A67F-EC36-BBBC-120B3F233F7D}"/>
              </a:ext>
            </a:extLst>
          </p:cNvPr>
          <p:cNvGrpSpPr>
            <a:grpSpLocks/>
          </p:cNvGrpSpPr>
          <p:nvPr/>
        </p:nvGrpSpPr>
        <p:grpSpPr bwMode="auto">
          <a:xfrm>
            <a:off x="1152208" y="2500630"/>
            <a:ext cx="2916237" cy="3481388"/>
            <a:chOff x="589" y="1820"/>
            <a:chExt cx="1837" cy="2193"/>
          </a:xfrm>
        </p:grpSpPr>
        <p:sp>
          <p:nvSpPr>
            <p:cNvPr id="20" name="Text Box 18">
              <a:extLst>
                <a:ext uri="{FF2B5EF4-FFF2-40B4-BE49-F238E27FC236}">
                  <a16:creationId xmlns:a16="http://schemas.microsoft.com/office/drawing/2014/main" id="{46FC6680-C374-90F0-0BE5-F51C2EA73279}"/>
                </a:ext>
              </a:extLst>
            </p:cNvPr>
            <p:cNvSpPr txBox="1">
              <a:spLocks noChangeArrowheads="1"/>
            </p:cNvSpPr>
            <p:nvPr/>
          </p:nvSpPr>
          <p:spPr bwMode="auto">
            <a:xfrm>
              <a:off x="994" y="2118"/>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0    0</a:t>
              </a:r>
            </a:p>
          </p:txBody>
        </p:sp>
        <p:sp>
          <p:nvSpPr>
            <p:cNvPr id="21" name="Text Box 19">
              <a:extLst>
                <a:ext uri="{FF2B5EF4-FFF2-40B4-BE49-F238E27FC236}">
                  <a16:creationId xmlns:a16="http://schemas.microsoft.com/office/drawing/2014/main" id="{6C8105EE-58B6-80EA-6C28-D417BC099299}"/>
                </a:ext>
              </a:extLst>
            </p:cNvPr>
            <p:cNvSpPr txBox="1">
              <a:spLocks noChangeArrowheads="1"/>
            </p:cNvSpPr>
            <p:nvPr/>
          </p:nvSpPr>
          <p:spPr bwMode="auto">
            <a:xfrm>
              <a:off x="983" y="1824"/>
              <a:ext cx="5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A  </a:t>
              </a:r>
              <a:r>
                <a:rPr kumimoji="1" lang="en-US" altLang="zh-CN" sz="2400" b="0"/>
                <a:t> </a:t>
              </a:r>
              <a:r>
                <a:rPr kumimoji="1" lang="en-US" altLang="zh-CN" b="0"/>
                <a:t>B</a:t>
              </a:r>
            </a:p>
          </p:txBody>
        </p:sp>
        <p:sp>
          <p:nvSpPr>
            <p:cNvPr id="22" name="Line 20">
              <a:extLst>
                <a:ext uri="{FF2B5EF4-FFF2-40B4-BE49-F238E27FC236}">
                  <a16:creationId xmlns:a16="http://schemas.microsoft.com/office/drawing/2014/main" id="{D7F2F043-EE25-A1AA-0E02-EB150228336B}"/>
                </a:ext>
              </a:extLst>
            </p:cNvPr>
            <p:cNvSpPr>
              <a:spLocks noChangeShapeType="1"/>
            </p:cNvSpPr>
            <p:nvPr/>
          </p:nvSpPr>
          <p:spPr bwMode="auto">
            <a:xfrm>
              <a:off x="1641" y="1845"/>
              <a:ext cx="0" cy="2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1">
              <a:extLst>
                <a:ext uri="{FF2B5EF4-FFF2-40B4-BE49-F238E27FC236}">
                  <a16:creationId xmlns:a16="http://schemas.microsoft.com/office/drawing/2014/main" id="{8A2BE237-7017-82A7-9E9A-593B1FC7F026}"/>
                </a:ext>
              </a:extLst>
            </p:cNvPr>
            <p:cNvSpPr>
              <a:spLocks noChangeShapeType="1"/>
            </p:cNvSpPr>
            <p:nvPr/>
          </p:nvSpPr>
          <p:spPr bwMode="auto">
            <a:xfrm>
              <a:off x="595" y="3997"/>
              <a:ext cx="18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22">
              <a:extLst>
                <a:ext uri="{FF2B5EF4-FFF2-40B4-BE49-F238E27FC236}">
                  <a16:creationId xmlns:a16="http://schemas.microsoft.com/office/drawing/2014/main" id="{43A280C2-1696-B505-B783-A491E96EBEA8}"/>
                </a:ext>
              </a:extLst>
            </p:cNvPr>
            <p:cNvSpPr>
              <a:spLocks noChangeShapeType="1"/>
            </p:cNvSpPr>
            <p:nvPr/>
          </p:nvSpPr>
          <p:spPr bwMode="auto">
            <a:xfrm>
              <a:off x="589" y="2137"/>
              <a:ext cx="18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23">
              <a:extLst>
                <a:ext uri="{FF2B5EF4-FFF2-40B4-BE49-F238E27FC236}">
                  <a16:creationId xmlns:a16="http://schemas.microsoft.com/office/drawing/2014/main" id="{A059A040-8230-9593-E8A6-61CCF0FCC6F4}"/>
                </a:ext>
              </a:extLst>
            </p:cNvPr>
            <p:cNvSpPr>
              <a:spLocks noChangeShapeType="1"/>
            </p:cNvSpPr>
            <p:nvPr/>
          </p:nvSpPr>
          <p:spPr bwMode="auto">
            <a:xfrm>
              <a:off x="589" y="1845"/>
              <a:ext cx="18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Text Box 24">
              <a:extLst>
                <a:ext uri="{FF2B5EF4-FFF2-40B4-BE49-F238E27FC236}">
                  <a16:creationId xmlns:a16="http://schemas.microsoft.com/office/drawing/2014/main" id="{986B78CB-CE3F-B358-F74F-BABE8EA71E0D}"/>
                </a:ext>
              </a:extLst>
            </p:cNvPr>
            <p:cNvSpPr txBox="1">
              <a:spLocks noChangeArrowheads="1"/>
            </p:cNvSpPr>
            <p:nvPr/>
          </p:nvSpPr>
          <p:spPr bwMode="auto">
            <a:xfrm>
              <a:off x="2141" y="212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27" name="Text Box 25">
              <a:extLst>
                <a:ext uri="{FF2B5EF4-FFF2-40B4-BE49-F238E27FC236}">
                  <a16:creationId xmlns:a16="http://schemas.microsoft.com/office/drawing/2014/main" id="{AEDE5014-6B4B-B4F8-2982-9EA3757961BD}"/>
                </a:ext>
              </a:extLst>
            </p:cNvPr>
            <p:cNvSpPr txBox="1">
              <a:spLocks noChangeArrowheads="1"/>
            </p:cNvSpPr>
            <p:nvPr/>
          </p:nvSpPr>
          <p:spPr bwMode="auto">
            <a:xfrm>
              <a:off x="1778" y="211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28" name="Text Box 26">
              <a:extLst>
                <a:ext uri="{FF2B5EF4-FFF2-40B4-BE49-F238E27FC236}">
                  <a16:creationId xmlns:a16="http://schemas.microsoft.com/office/drawing/2014/main" id="{9D5BBB47-AC3C-DDEB-C2B7-AB694D8CEEE9}"/>
                </a:ext>
              </a:extLst>
            </p:cNvPr>
            <p:cNvSpPr txBox="1">
              <a:spLocks noChangeArrowheads="1"/>
            </p:cNvSpPr>
            <p:nvPr/>
          </p:nvSpPr>
          <p:spPr bwMode="auto">
            <a:xfrm>
              <a:off x="2117" y="1824"/>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S</a:t>
              </a:r>
            </a:p>
          </p:txBody>
        </p:sp>
        <p:sp>
          <p:nvSpPr>
            <p:cNvPr id="29" name="Text Box 27">
              <a:extLst>
                <a:ext uri="{FF2B5EF4-FFF2-40B4-BE49-F238E27FC236}">
                  <a16:creationId xmlns:a16="http://schemas.microsoft.com/office/drawing/2014/main" id="{88272486-9302-3106-1B03-481B88BA697D}"/>
                </a:ext>
              </a:extLst>
            </p:cNvPr>
            <p:cNvSpPr txBox="1">
              <a:spLocks noChangeArrowheads="1"/>
            </p:cNvSpPr>
            <p:nvPr/>
          </p:nvSpPr>
          <p:spPr bwMode="auto">
            <a:xfrm>
              <a:off x="1726" y="1823"/>
              <a:ext cx="3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C</a:t>
              </a:r>
              <a:r>
                <a:rPr kumimoji="1" lang="en-US" altLang="zh-CN" sz="1800" b="0"/>
                <a:t>O</a:t>
              </a:r>
              <a:endParaRPr kumimoji="1" lang="en-US" altLang="zh-CN" b="0"/>
            </a:p>
          </p:txBody>
        </p:sp>
        <p:sp>
          <p:nvSpPr>
            <p:cNvPr id="30" name="Text Box 28">
              <a:extLst>
                <a:ext uri="{FF2B5EF4-FFF2-40B4-BE49-F238E27FC236}">
                  <a16:creationId xmlns:a16="http://schemas.microsoft.com/office/drawing/2014/main" id="{56050845-B2B0-7967-5159-F57B4A7BA923}"/>
                </a:ext>
              </a:extLst>
            </p:cNvPr>
            <p:cNvSpPr txBox="1">
              <a:spLocks noChangeArrowheads="1"/>
            </p:cNvSpPr>
            <p:nvPr/>
          </p:nvSpPr>
          <p:spPr bwMode="auto">
            <a:xfrm>
              <a:off x="664" y="211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31" name="Text Box 29">
              <a:extLst>
                <a:ext uri="{FF2B5EF4-FFF2-40B4-BE49-F238E27FC236}">
                  <a16:creationId xmlns:a16="http://schemas.microsoft.com/office/drawing/2014/main" id="{5C76EAD4-EA27-0477-BD34-112E223ECC0B}"/>
                </a:ext>
              </a:extLst>
            </p:cNvPr>
            <p:cNvSpPr txBox="1">
              <a:spLocks noChangeArrowheads="1"/>
            </p:cNvSpPr>
            <p:nvPr/>
          </p:nvSpPr>
          <p:spPr bwMode="auto">
            <a:xfrm>
              <a:off x="612" y="1820"/>
              <a:ext cx="30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C</a:t>
              </a:r>
              <a:r>
                <a:rPr kumimoji="1" lang="en-US" altLang="zh-CN" sz="1800" b="0"/>
                <a:t>i</a:t>
              </a:r>
              <a:endParaRPr kumimoji="1" lang="en-US" altLang="zh-CN" b="0"/>
            </a:p>
          </p:txBody>
        </p:sp>
        <p:grpSp>
          <p:nvGrpSpPr>
            <p:cNvPr id="32" name="Group 30">
              <a:extLst>
                <a:ext uri="{FF2B5EF4-FFF2-40B4-BE49-F238E27FC236}">
                  <a16:creationId xmlns:a16="http://schemas.microsoft.com/office/drawing/2014/main" id="{FB8455BB-589F-1A3A-03EB-344421F93C1B}"/>
                </a:ext>
              </a:extLst>
            </p:cNvPr>
            <p:cNvGrpSpPr>
              <a:grpSpLocks/>
            </p:cNvGrpSpPr>
            <p:nvPr/>
          </p:nvGrpSpPr>
          <p:grpSpPr bwMode="auto">
            <a:xfrm>
              <a:off x="660" y="2355"/>
              <a:ext cx="1725" cy="1658"/>
              <a:chOff x="660" y="2355"/>
              <a:chExt cx="1725" cy="1832"/>
            </a:xfrm>
          </p:grpSpPr>
          <p:sp>
            <p:nvSpPr>
              <p:cNvPr id="33" name="Text Box 31">
                <a:extLst>
                  <a:ext uri="{FF2B5EF4-FFF2-40B4-BE49-F238E27FC236}">
                    <a16:creationId xmlns:a16="http://schemas.microsoft.com/office/drawing/2014/main" id="{3627ADE5-D6F9-9F1D-93B6-FB90F8040E1F}"/>
                  </a:ext>
                </a:extLst>
              </p:cNvPr>
              <p:cNvSpPr txBox="1">
                <a:spLocks noChangeArrowheads="1"/>
              </p:cNvSpPr>
              <p:nvPr/>
            </p:nvSpPr>
            <p:spPr bwMode="auto">
              <a:xfrm>
                <a:off x="988" y="2854"/>
                <a:ext cx="564"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1    1</a:t>
                </a:r>
              </a:p>
            </p:txBody>
          </p:sp>
          <p:sp>
            <p:nvSpPr>
              <p:cNvPr id="34" name="Text Box 32">
                <a:extLst>
                  <a:ext uri="{FF2B5EF4-FFF2-40B4-BE49-F238E27FC236}">
                    <a16:creationId xmlns:a16="http://schemas.microsoft.com/office/drawing/2014/main" id="{01B8C5C6-ED29-3DF2-45F0-28A3BE01FD04}"/>
                  </a:ext>
                </a:extLst>
              </p:cNvPr>
              <p:cNvSpPr txBox="1">
                <a:spLocks noChangeArrowheads="1"/>
              </p:cNvSpPr>
              <p:nvPr/>
            </p:nvSpPr>
            <p:spPr bwMode="auto">
              <a:xfrm>
                <a:off x="988" y="2358"/>
                <a:ext cx="564"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0    1</a:t>
                </a:r>
              </a:p>
            </p:txBody>
          </p:sp>
          <p:sp>
            <p:nvSpPr>
              <p:cNvPr id="35" name="Text Box 33">
                <a:extLst>
                  <a:ext uri="{FF2B5EF4-FFF2-40B4-BE49-F238E27FC236}">
                    <a16:creationId xmlns:a16="http://schemas.microsoft.com/office/drawing/2014/main" id="{A5E7D5E3-B968-C10C-2BAF-33C49DBD5FCA}"/>
                  </a:ext>
                </a:extLst>
              </p:cNvPr>
              <p:cNvSpPr txBox="1">
                <a:spLocks noChangeArrowheads="1"/>
              </p:cNvSpPr>
              <p:nvPr/>
            </p:nvSpPr>
            <p:spPr bwMode="auto">
              <a:xfrm>
                <a:off x="988" y="2606"/>
                <a:ext cx="56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1    0</a:t>
                </a:r>
              </a:p>
            </p:txBody>
          </p:sp>
          <p:sp>
            <p:nvSpPr>
              <p:cNvPr id="36" name="Text Box 34">
                <a:extLst>
                  <a:ext uri="{FF2B5EF4-FFF2-40B4-BE49-F238E27FC236}">
                    <a16:creationId xmlns:a16="http://schemas.microsoft.com/office/drawing/2014/main" id="{D338DD2B-CD5E-F505-30CD-E836E780BB28}"/>
                  </a:ext>
                </a:extLst>
              </p:cNvPr>
              <p:cNvSpPr txBox="1">
                <a:spLocks noChangeArrowheads="1"/>
              </p:cNvSpPr>
              <p:nvPr/>
            </p:nvSpPr>
            <p:spPr bwMode="auto">
              <a:xfrm>
                <a:off x="2141" y="2358"/>
                <a:ext cx="22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37" name="Text Box 35">
                <a:extLst>
                  <a:ext uri="{FF2B5EF4-FFF2-40B4-BE49-F238E27FC236}">
                    <a16:creationId xmlns:a16="http://schemas.microsoft.com/office/drawing/2014/main" id="{08033146-0F32-1811-5162-8C859F73B6FB}"/>
                  </a:ext>
                </a:extLst>
              </p:cNvPr>
              <p:cNvSpPr txBox="1">
                <a:spLocks noChangeArrowheads="1"/>
              </p:cNvSpPr>
              <p:nvPr/>
            </p:nvSpPr>
            <p:spPr bwMode="auto">
              <a:xfrm>
                <a:off x="1774" y="2358"/>
                <a:ext cx="22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38" name="Text Box 36">
                <a:extLst>
                  <a:ext uri="{FF2B5EF4-FFF2-40B4-BE49-F238E27FC236}">
                    <a16:creationId xmlns:a16="http://schemas.microsoft.com/office/drawing/2014/main" id="{E0C23D8E-88BB-F0A5-F580-7647BC207B9F}"/>
                  </a:ext>
                </a:extLst>
              </p:cNvPr>
              <p:cNvSpPr txBox="1">
                <a:spLocks noChangeArrowheads="1"/>
              </p:cNvSpPr>
              <p:nvPr/>
            </p:nvSpPr>
            <p:spPr bwMode="auto">
              <a:xfrm>
                <a:off x="2141" y="2612"/>
                <a:ext cx="22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39" name="Text Box 37">
                <a:extLst>
                  <a:ext uri="{FF2B5EF4-FFF2-40B4-BE49-F238E27FC236}">
                    <a16:creationId xmlns:a16="http://schemas.microsoft.com/office/drawing/2014/main" id="{F956E6A4-D9E4-44B3-7353-5D69B429F4E9}"/>
                  </a:ext>
                </a:extLst>
              </p:cNvPr>
              <p:cNvSpPr txBox="1">
                <a:spLocks noChangeArrowheads="1"/>
              </p:cNvSpPr>
              <p:nvPr/>
            </p:nvSpPr>
            <p:spPr bwMode="auto">
              <a:xfrm>
                <a:off x="1774" y="2606"/>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40" name="Text Box 38">
                <a:extLst>
                  <a:ext uri="{FF2B5EF4-FFF2-40B4-BE49-F238E27FC236}">
                    <a16:creationId xmlns:a16="http://schemas.microsoft.com/office/drawing/2014/main" id="{819B52EA-9B56-B336-E5C3-A8F01788AC69}"/>
                  </a:ext>
                </a:extLst>
              </p:cNvPr>
              <p:cNvSpPr txBox="1">
                <a:spLocks noChangeArrowheads="1"/>
              </p:cNvSpPr>
              <p:nvPr/>
            </p:nvSpPr>
            <p:spPr bwMode="auto">
              <a:xfrm>
                <a:off x="2147" y="2854"/>
                <a:ext cx="22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41" name="Text Box 39">
                <a:extLst>
                  <a:ext uri="{FF2B5EF4-FFF2-40B4-BE49-F238E27FC236}">
                    <a16:creationId xmlns:a16="http://schemas.microsoft.com/office/drawing/2014/main" id="{25DA2925-10C7-4A7D-FDF8-BF001A2D2116}"/>
                  </a:ext>
                </a:extLst>
              </p:cNvPr>
              <p:cNvSpPr txBox="1">
                <a:spLocks noChangeArrowheads="1"/>
              </p:cNvSpPr>
              <p:nvPr/>
            </p:nvSpPr>
            <p:spPr bwMode="auto">
              <a:xfrm>
                <a:off x="1774" y="2854"/>
                <a:ext cx="22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42" name="Text Box 40">
                <a:extLst>
                  <a:ext uri="{FF2B5EF4-FFF2-40B4-BE49-F238E27FC236}">
                    <a16:creationId xmlns:a16="http://schemas.microsoft.com/office/drawing/2014/main" id="{E073DA26-244B-CDFC-5034-F7CC4EC61FE5}"/>
                  </a:ext>
                </a:extLst>
              </p:cNvPr>
              <p:cNvSpPr txBox="1">
                <a:spLocks noChangeArrowheads="1"/>
              </p:cNvSpPr>
              <p:nvPr/>
            </p:nvSpPr>
            <p:spPr bwMode="auto">
              <a:xfrm>
                <a:off x="660" y="2355"/>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43" name="Text Box 41">
                <a:extLst>
                  <a:ext uri="{FF2B5EF4-FFF2-40B4-BE49-F238E27FC236}">
                    <a16:creationId xmlns:a16="http://schemas.microsoft.com/office/drawing/2014/main" id="{6327EB7E-2F49-EBB1-FD51-3D2BDE1CE6E6}"/>
                  </a:ext>
                </a:extLst>
              </p:cNvPr>
              <p:cNvSpPr txBox="1">
                <a:spLocks noChangeArrowheads="1"/>
              </p:cNvSpPr>
              <p:nvPr/>
            </p:nvSpPr>
            <p:spPr bwMode="auto">
              <a:xfrm>
                <a:off x="660" y="2603"/>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44" name="Text Box 42">
                <a:extLst>
                  <a:ext uri="{FF2B5EF4-FFF2-40B4-BE49-F238E27FC236}">
                    <a16:creationId xmlns:a16="http://schemas.microsoft.com/office/drawing/2014/main" id="{D32C179E-48BD-645A-99E1-FD333FE15ABA}"/>
                  </a:ext>
                </a:extLst>
              </p:cNvPr>
              <p:cNvSpPr txBox="1">
                <a:spLocks noChangeArrowheads="1"/>
              </p:cNvSpPr>
              <p:nvPr/>
            </p:nvSpPr>
            <p:spPr bwMode="auto">
              <a:xfrm>
                <a:off x="660" y="2851"/>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45" name="Text Box 43">
                <a:extLst>
                  <a:ext uri="{FF2B5EF4-FFF2-40B4-BE49-F238E27FC236}">
                    <a16:creationId xmlns:a16="http://schemas.microsoft.com/office/drawing/2014/main" id="{D905E6ED-709E-2732-3B49-13CDE95E1564}"/>
                  </a:ext>
                </a:extLst>
              </p:cNvPr>
              <p:cNvSpPr txBox="1">
                <a:spLocks noChangeArrowheads="1"/>
              </p:cNvSpPr>
              <p:nvPr/>
            </p:nvSpPr>
            <p:spPr bwMode="auto">
              <a:xfrm>
                <a:off x="998" y="3826"/>
                <a:ext cx="56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1    1</a:t>
                </a:r>
              </a:p>
            </p:txBody>
          </p:sp>
          <p:sp>
            <p:nvSpPr>
              <p:cNvPr id="46" name="Text Box 44">
                <a:extLst>
                  <a:ext uri="{FF2B5EF4-FFF2-40B4-BE49-F238E27FC236}">
                    <a16:creationId xmlns:a16="http://schemas.microsoft.com/office/drawing/2014/main" id="{12A5809B-C997-2E5A-B048-351B57A994EC}"/>
                  </a:ext>
                </a:extLst>
              </p:cNvPr>
              <p:cNvSpPr txBox="1">
                <a:spLocks noChangeArrowheads="1"/>
              </p:cNvSpPr>
              <p:nvPr/>
            </p:nvSpPr>
            <p:spPr bwMode="auto">
              <a:xfrm>
                <a:off x="1004" y="3090"/>
                <a:ext cx="56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0    0</a:t>
                </a:r>
              </a:p>
            </p:txBody>
          </p:sp>
          <p:sp>
            <p:nvSpPr>
              <p:cNvPr id="47" name="Text Box 45">
                <a:extLst>
                  <a:ext uri="{FF2B5EF4-FFF2-40B4-BE49-F238E27FC236}">
                    <a16:creationId xmlns:a16="http://schemas.microsoft.com/office/drawing/2014/main" id="{EC1BBD7C-2F55-C351-8901-FDA90D2726BA}"/>
                  </a:ext>
                </a:extLst>
              </p:cNvPr>
              <p:cNvSpPr txBox="1">
                <a:spLocks noChangeArrowheads="1"/>
              </p:cNvSpPr>
              <p:nvPr/>
            </p:nvSpPr>
            <p:spPr bwMode="auto">
              <a:xfrm>
                <a:off x="998" y="3330"/>
                <a:ext cx="56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0    1</a:t>
                </a:r>
              </a:p>
            </p:txBody>
          </p:sp>
          <p:sp>
            <p:nvSpPr>
              <p:cNvPr id="48" name="Text Box 46">
                <a:extLst>
                  <a:ext uri="{FF2B5EF4-FFF2-40B4-BE49-F238E27FC236}">
                    <a16:creationId xmlns:a16="http://schemas.microsoft.com/office/drawing/2014/main" id="{4F921CCB-F549-441F-9F11-EF18E2B625B3}"/>
                  </a:ext>
                </a:extLst>
              </p:cNvPr>
              <p:cNvSpPr txBox="1">
                <a:spLocks noChangeArrowheads="1"/>
              </p:cNvSpPr>
              <p:nvPr/>
            </p:nvSpPr>
            <p:spPr bwMode="auto">
              <a:xfrm>
                <a:off x="998" y="3578"/>
                <a:ext cx="56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1    0</a:t>
                </a:r>
              </a:p>
            </p:txBody>
          </p:sp>
          <p:sp>
            <p:nvSpPr>
              <p:cNvPr id="49" name="Text Box 47">
                <a:extLst>
                  <a:ext uri="{FF2B5EF4-FFF2-40B4-BE49-F238E27FC236}">
                    <a16:creationId xmlns:a16="http://schemas.microsoft.com/office/drawing/2014/main" id="{B55F8DCD-61BA-73C0-A80C-DEE2CB14198F}"/>
                  </a:ext>
                </a:extLst>
              </p:cNvPr>
              <p:cNvSpPr txBox="1">
                <a:spLocks noChangeArrowheads="1"/>
              </p:cNvSpPr>
              <p:nvPr/>
            </p:nvSpPr>
            <p:spPr bwMode="auto">
              <a:xfrm>
                <a:off x="2151" y="3098"/>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50" name="Text Box 48">
                <a:extLst>
                  <a:ext uri="{FF2B5EF4-FFF2-40B4-BE49-F238E27FC236}">
                    <a16:creationId xmlns:a16="http://schemas.microsoft.com/office/drawing/2014/main" id="{71DCD8F0-AD9A-5584-E9C5-B0A5D54C5089}"/>
                  </a:ext>
                </a:extLst>
              </p:cNvPr>
              <p:cNvSpPr txBox="1">
                <a:spLocks noChangeArrowheads="1"/>
              </p:cNvSpPr>
              <p:nvPr/>
            </p:nvSpPr>
            <p:spPr bwMode="auto">
              <a:xfrm>
                <a:off x="1788" y="3090"/>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51" name="Text Box 49">
                <a:extLst>
                  <a:ext uri="{FF2B5EF4-FFF2-40B4-BE49-F238E27FC236}">
                    <a16:creationId xmlns:a16="http://schemas.microsoft.com/office/drawing/2014/main" id="{61F9A4E9-54CD-7987-DC2C-17F87845F93D}"/>
                  </a:ext>
                </a:extLst>
              </p:cNvPr>
              <p:cNvSpPr txBox="1">
                <a:spLocks noChangeArrowheads="1"/>
              </p:cNvSpPr>
              <p:nvPr/>
            </p:nvSpPr>
            <p:spPr bwMode="auto">
              <a:xfrm>
                <a:off x="2151" y="3330"/>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52" name="Text Box 50">
                <a:extLst>
                  <a:ext uri="{FF2B5EF4-FFF2-40B4-BE49-F238E27FC236}">
                    <a16:creationId xmlns:a16="http://schemas.microsoft.com/office/drawing/2014/main" id="{809D5A18-02D5-EEDD-0783-F604176F9B9B}"/>
                  </a:ext>
                </a:extLst>
              </p:cNvPr>
              <p:cNvSpPr txBox="1">
                <a:spLocks noChangeArrowheads="1"/>
              </p:cNvSpPr>
              <p:nvPr/>
            </p:nvSpPr>
            <p:spPr bwMode="auto">
              <a:xfrm>
                <a:off x="1784" y="3330"/>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53" name="Text Box 51">
                <a:extLst>
                  <a:ext uri="{FF2B5EF4-FFF2-40B4-BE49-F238E27FC236}">
                    <a16:creationId xmlns:a16="http://schemas.microsoft.com/office/drawing/2014/main" id="{51B86136-D925-19D2-85E6-DAF4501374D6}"/>
                  </a:ext>
                </a:extLst>
              </p:cNvPr>
              <p:cNvSpPr txBox="1">
                <a:spLocks noChangeArrowheads="1"/>
              </p:cNvSpPr>
              <p:nvPr/>
            </p:nvSpPr>
            <p:spPr bwMode="auto">
              <a:xfrm>
                <a:off x="2151" y="3584"/>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0</a:t>
                </a:r>
              </a:p>
            </p:txBody>
          </p:sp>
          <p:sp>
            <p:nvSpPr>
              <p:cNvPr id="54" name="Text Box 52">
                <a:extLst>
                  <a:ext uri="{FF2B5EF4-FFF2-40B4-BE49-F238E27FC236}">
                    <a16:creationId xmlns:a16="http://schemas.microsoft.com/office/drawing/2014/main" id="{02ACFFCC-98B8-EB4C-F759-10678C7F804C}"/>
                  </a:ext>
                </a:extLst>
              </p:cNvPr>
              <p:cNvSpPr txBox="1">
                <a:spLocks noChangeArrowheads="1"/>
              </p:cNvSpPr>
              <p:nvPr/>
            </p:nvSpPr>
            <p:spPr bwMode="auto">
              <a:xfrm>
                <a:off x="1784" y="3578"/>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55" name="Text Box 53">
                <a:extLst>
                  <a:ext uri="{FF2B5EF4-FFF2-40B4-BE49-F238E27FC236}">
                    <a16:creationId xmlns:a16="http://schemas.microsoft.com/office/drawing/2014/main" id="{F7162655-451D-05D6-33B4-CC35176637CB}"/>
                  </a:ext>
                </a:extLst>
              </p:cNvPr>
              <p:cNvSpPr txBox="1">
                <a:spLocks noChangeArrowheads="1"/>
              </p:cNvSpPr>
              <p:nvPr/>
            </p:nvSpPr>
            <p:spPr bwMode="auto">
              <a:xfrm>
                <a:off x="2157" y="3826"/>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56" name="Text Box 54">
                <a:extLst>
                  <a:ext uri="{FF2B5EF4-FFF2-40B4-BE49-F238E27FC236}">
                    <a16:creationId xmlns:a16="http://schemas.microsoft.com/office/drawing/2014/main" id="{DECD0FCC-537B-3B67-E481-C4376F35B7F9}"/>
                  </a:ext>
                </a:extLst>
              </p:cNvPr>
              <p:cNvSpPr txBox="1">
                <a:spLocks noChangeArrowheads="1"/>
              </p:cNvSpPr>
              <p:nvPr/>
            </p:nvSpPr>
            <p:spPr bwMode="auto">
              <a:xfrm>
                <a:off x="1784" y="3826"/>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57" name="Text Box 55">
                <a:extLst>
                  <a:ext uri="{FF2B5EF4-FFF2-40B4-BE49-F238E27FC236}">
                    <a16:creationId xmlns:a16="http://schemas.microsoft.com/office/drawing/2014/main" id="{2EBE40F2-8E67-5060-A938-9641EBB61467}"/>
                  </a:ext>
                </a:extLst>
              </p:cNvPr>
              <p:cNvSpPr txBox="1">
                <a:spLocks noChangeArrowheads="1"/>
              </p:cNvSpPr>
              <p:nvPr/>
            </p:nvSpPr>
            <p:spPr bwMode="auto">
              <a:xfrm>
                <a:off x="674" y="3086"/>
                <a:ext cx="22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58" name="Text Box 56">
                <a:extLst>
                  <a:ext uri="{FF2B5EF4-FFF2-40B4-BE49-F238E27FC236}">
                    <a16:creationId xmlns:a16="http://schemas.microsoft.com/office/drawing/2014/main" id="{8261555F-3369-EA3E-2039-6BFAEDFC5C1F}"/>
                  </a:ext>
                </a:extLst>
              </p:cNvPr>
              <p:cNvSpPr txBox="1">
                <a:spLocks noChangeArrowheads="1"/>
              </p:cNvSpPr>
              <p:nvPr/>
            </p:nvSpPr>
            <p:spPr bwMode="auto">
              <a:xfrm>
                <a:off x="670" y="3327"/>
                <a:ext cx="22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59" name="Text Box 57">
                <a:extLst>
                  <a:ext uri="{FF2B5EF4-FFF2-40B4-BE49-F238E27FC236}">
                    <a16:creationId xmlns:a16="http://schemas.microsoft.com/office/drawing/2014/main" id="{142B5ABC-C09A-F922-5C2D-2429DC9E9D43}"/>
                  </a:ext>
                </a:extLst>
              </p:cNvPr>
              <p:cNvSpPr txBox="1">
                <a:spLocks noChangeArrowheads="1"/>
              </p:cNvSpPr>
              <p:nvPr/>
            </p:nvSpPr>
            <p:spPr bwMode="auto">
              <a:xfrm>
                <a:off x="670" y="3575"/>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sp>
            <p:nvSpPr>
              <p:cNvPr id="60" name="Text Box 58">
                <a:extLst>
                  <a:ext uri="{FF2B5EF4-FFF2-40B4-BE49-F238E27FC236}">
                    <a16:creationId xmlns:a16="http://schemas.microsoft.com/office/drawing/2014/main" id="{DE1C9EED-BBAE-57A8-7C19-D8F22EB3063B}"/>
                  </a:ext>
                </a:extLst>
              </p:cNvPr>
              <p:cNvSpPr txBox="1">
                <a:spLocks noChangeArrowheads="1"/>
              </p:cNvSpPr>
              <p:nvPr/>
            </p:nvSpPr>
            <p:spPr bwMode="auto">
              <a:xfrm>
                <a:off x="670" y="3823"/>
                <a:ext cx="22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b="0"/>
                  <a:t>1</a:t>
                </a:r>
              </a:p>
            </p:txBody>
          </p:sp>
        </p:grpSp>
      </p:grpSp>
      <p:graphicFrame>
        <p:nvGraphicFramePr>
          <p:cNvPr id="61" name="Object 59">
            <a:extLst>
              <a:ext uri="{FF2B5EF4-FFF2-40B4-BE49-F238E27FC236}">
                <a16:creationId xmlns:a16="http://schemas.microsoft.com/office/drawing/2014/main" id="{BF5C5BD6-A7C5-1309-F8AD-651BA2CC516D}"/>
              </a:ext>
            </a:extLst>
          </p:cNvPr>
          <p:cNvGraphicFramePr>
            <a:graphicFrameLocks noChangeAspect="1"/>
          </p:cNvGraphicFramePr>
          <p:nvPr>
            <p:extLst>
              <p:ext uri="{D42A27DB-BD31-4B8C-83A1-F6EECF244321}">
                <p14:modId xmlns:p14="http://schemas.microsoft.com/office/powerpoint/2010/main" val="734213032"/>
              </p:ext>
            </p:extLst>
          </p:nvPr>
        </p:nvGraphicFramePr>
        <p:xfrm>
          <a:off x="4600258" y="4119880"/>
          <a:ext cx="4137025" cy="463550"/>
        </p:xfrm>
        <a:graphic>
          <a:graphicData uri="http://schemas.openxmlformats.org/presentationml/2006/ole">
            <mc:AlternateContent xmlns:mc="http://schemas.openxmlformats.org/markup-compatibility/2006">
              <mc:Choice xmlns:v="urn:schemas-microsoft-com:vml" Requires="v">
                <p:oleObj name="公式" r:id="rId3" imgW="2159000" imgH="241300" progId="Equation.3">
                  <p:embed/>
                </p:oleObj>
              </mc:Choice>
              <mc:Fallback>
                <p:oleObj name="公式" r:id="rId3" imgW="2159000" imgH="241300" progId="Equation.3">
                  <p:embed/>
                  <p:pic>
                    <p:nvPicPr>
                      <p:cNvPr id="18453"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0258" y="4119880"/>
                        <a:ext cx="41370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Object 60">
            <a:extLst>
              <a:ext uri="{FF2B5EF4-FFF2-40B4-BE49-F238E27FC236}">
                <a16:creationId xmlns:a16="http://schemas.microsoft.com/office/drawing/2014/main" id="{F52F396E-ACFF-348E-B272-5A157A1782D8}"/>
              </a:ext>
            </a:extLst>
          </p:cNvPr>
          <p:cNvGraphicFramePr>
            <a:graphicFrameLocks noChangeAspect="1"/>
          </p:cNvGraphicFramePr>
          <p:nvPr>
            <p:extLst>
              <p:ext uri="{D42A27DB-BD31-4B8C-83A1-F6EECF244321}">
                <p14:modId xmlns:p14="http://schemas.microsoft.com/office/powerpoint/2010/main" val="64690213"/>
              </p:ext>
            </p:extLst>
          </p:nvPr>
        </p:nvGraphicFramePr>
        <p:xfrm>
          <a:off x="4536758" y="5056505"/>
          <a:ext cx="4176712" cy="508000"/>
        </p:xfrm>
        <a:graphic>
          <a:graphicData uri="http://schemas.openxmlformats.org/presentationml/2006/ole">
            <mc:AlternateContent xmlns:mc="http://schemas.openxmlformats.org/markup-compatibility/2006">
              <mc:Choice xmlns:v="urn:schemas-microsoft-com:vml" Requires="v">
                <p:oleObj name="公式" r:id="rId5" imgW="2222500" imgH="254000" progId="Equation.3">
                  <p:embed/>
                </p:oleObj>
              </mc:Choice>
              <mc:Fallback>
                <p:oleObj name="公式" r:id="rId5" imgW="2222500" imgH="254000" progId="Equation.3">
                  <p:embed/>
                  <p:pic>
                    <p:nvPicPr>
                      <p:cNvPr id="18454"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6758" y="5056505"/>
                        <a:ext cx="417671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 name="Object 61">
            <a:extLst>
              <a:ext uri="{FF2B5EF4-FFF2-40B4-BE49-F238E27FC236}">
                <a16:creationId xmlns:a16="http://schemas.microsoft.com/office/drawing/2014/main" id="{42B741B7-F34A-790C-9318-19DD44E1E51B}"/>
              </a:ext>
            </a:extLst>
          </p:cNvPr>
          <p:cNvGraphicFramePr>
            <a:graphicFrameLocks noChangeAspect="1"/>
          </p:cNvGraphicFramePr>
          <p:nvPr>
            <p:extLst>
              <p:ext uri="{D42A27DB-BD31-4B8C-83A1-F6EECF244321}">
                <p14:modId xmlns:p14="http://schemas.microsoft.com/office/powerpoint/2010/main" val="1413786862"/>
              </p:ext>
            </p:extLst>
          </p:nvPr>
        </p:nvGraphicFramePr>
        <p:xfrm>
          <a:off x="5703570" y="4661218"/>
          <a:ext cx="1606550" cy="414337"/>
        </p:xfrm>
        <a:graphic>
          <a:graphicData uri="http://schemas.openxmlformats.org/presentationml/2006/ole">
            <mc:AlternateContent xmlns:mc="http://schemas.openxmlformats.org/markup-compatibility/2006">
              <mc:Choice xmlns:v="urn:schemas-microsoft-com:vml" Requires="v">
                <p:oleObj name="公式" r:id="rId7" imgW="837836" imgH="215806" progId="Equation.3">
                  <p:embed/>
                </p:oleObj>
              </mc:Choice>
              <mc:Fallback>
                <p:oleObj name="公式" r:id="rId7" imgW="837836" imgH="215806" progId="Equation.3">
                  <p:embed/>
                  <p:pic>
                    <p:nvPicPr>
                      <p:cNvPr id="18455" name="Object 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03570" y="4661218"/>
                        <a:ext cx="160655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Object 62">
            <a:extLst>
              <a:ext uri="{FF2B5EF4-FFF2-40B4-BE49-F238E27FC236}">
                <a16:creationId xmlns:a16="http://schemas.microsoft.com/office/drawing/2014/main" id="{ADB631C8-F635-BD64-7670-9E6F1B228B72}"/>
              </a:ext>
            </a:extLst>
          </p:cNvPr>
          <p:cNvGraphicFramePr>
            <a:graphicFrameLocks noChangeAspect="1"/>
          </p:cNvGraphicFramePr>
          <p:nvPr>
            <p:extLst>
              <p:ext uri="{D42A27DB-BD31-4B8C-83A1-F6EECF244321}">
                <p14:modId xmlns:p14="http://schemas.microsoft.com/office/powerpoint/2010/main" val="1364558425"/>
              </p:ext>
            </p:extLst>
          </p:nvPr>
        </p:nvGraphicFramePr>
        <p:xfrm>
          <a:off x="5473383" y="5561330"/>
          <a:ext cx="2238375" cy="431800"/>
        </p:xfrm>
        <a:graphic>
          <a:graphicData uri="http://schemas.openxmlformats.org/presentationml/2006/ole">
            <mc:AlternateContent xmlns:mc="http://schemas.openxmlformats.org/markup-compatibility/2006">
              <mc:Choice xmlns:v="urn:schemas-microsoft-com:vml" Requires="v">
                <p:oleObj name="公式" r:id="rId9" imgW="1117115" imgH="215806" progId="Equation.3">
                  <p:embed/>
                </p:oleObj>
              </mc:Choice>
              <mc:Fallback>
                <p:oleObj name="公式" r:id="rId9" imgW="1117115" imgH="215806" progId="Equation.3">
                  <p:embed/>
                  <p:pic>
                    <p:nvPicPr>
                      <p:cNvPr id="18456" name="Object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73383" y="5561330"/>
                        <a:ext cx="22383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5" name="直接连接符 2">
            <a:extLst>
              <a:ext uri="{FF2B5EF4-FFF2-40B4-BE49-F238E27FC236}">
                <a16:creationId xmlns:a16="http://schemas.microsoft.com/office/drawing/2014/main" id="{7D4FBC8D-8601-F64A-A7AE-ADB5E01319AE}"/>
              </a:ext>
            </a:extLst>
          </p:cNvPr>
          <p:cNvCxnSpPr/>
          <p:nvPr/>
        </p:nvCxnSpPr>
        <p:spPr>
          <a:xfrm>
            <a:off x="5282883" y="5531168"/>
            <a:ext cx="647700" cy="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66" name="直接连接符 67">
            <a:extLst>
              <a:ext uri="{FF2B5EF4-FFF2-40B4-BE49-F238E27FC236}">
                <a16:creationId xmlns:a16="http://schemas.microsoft.com/office/drawing/2014/main" id="{3C711CAE-A91B-9925-35AA-65925518774A}"/>
              </a:ext>
            </a:extLst>
          </p:cNvPr>
          <p:cNvCxnSpPr/>
          <p:nvPr/>
        </p:nvCxnSpPr>
        <p:spPr>
          <a:xfrm>
            <a:off x="7962583" y="5561330"/>
            <a:ext cx="647700" cy="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67" name="直接连接符 68">
            <a:extLst>
              <a:ext uri="{FF2B5EF4-FFF2-40B4-BE49-F238E27FC236}">
                <a16:creationId xmlns:a16="http://schemas.microsoft.com/office/drawing/2014/main" id="{6C2B0BD0-F185-4805-9191-9DA958231515}"/>
              </a:ext>
            </a:extLst>
          </p:cNvPr>
          <p:cNvCxnSpPr/>
          <p:nvPr/>
        </p:nvCxnSpPr>
        <p:spPr>
          <a:xfrm>
            <a:off x="6168708" y="5531168"/>
            <a:ext cx="6477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接连接符 69">
            <a:extLst>
              <a:ext uri="{FF2B5EF4-FFF2-40B4-BE49-F238E27FC236}">
                <a16:creationId xmlns:a16="http://schemas.microsoft.com/office/drawing/2014/main" id="{CDF70362-4657-F95C-7A35-9B7284440F67}"/>
              </a:ext>
            </a:extLst>
          </p:cNvPr>
          <p:cNvCxnSpPr/>
          <p:nvPr/>
        </p:nvCxnSpPr>
        <p:spPr>
          <a:xfrm>
            <a:off x="7078345" y="5532755"/>
            <a:ext cx="6477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6048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029444-24BE-0665-8F7D-DC3F13B0AD08}"/>
              </a:ext>
            </a:extLst>
          </p:cNvPr>
          <p:cNvSpPr>
            <a:spLocks noGrp="1"/>
          </p:cNvSpPr>
          <p:nvPr>
            <p:ph type="title"/>
          </p:nvPr>
        </p:nvSpPr>
        <p:spPr/>
        <p:txBody>
          <a:bodyPr>
            <a:normAutofit fontScale="90000"/>
          </a:bodyPr>
          <a:lstStyle/>
          <a:p>
            <a:r>
              <a:rPr kumimoji="1" lang="en-US" altLang="zh-CN" dirty="0"/>
              <a:t>1</a:t>
            </a:r>
            <a:r>
              <a:rPr kumimoji="1" lang="zh-CN" altLang="en-US" dirty="0"/>
              <a:t>位全加器逻辑图</a:t>
            </a:r>
          </a:p>
        </p:txBody>
      </p:sp>
      <p:sp>
        <p:nvSpPr>
          <p:cNvPr id="4" name="页脚占位符 3">
            <a:extLst>
              <a:ext uri="{FF2B5EF4-FFF2-40B4-BE49-F238E27FC236}">
                <a16:creationId xmlns:a16="http://schemas.microsoft.com/office/drawing/2014/main" id="{499A2EB6-2BAA-FF9B-25F0-01E35DC635ED}"/>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0FE4029A-6960-DDF9-040B-146F84B41148}"/>
              </a:ext>
            </a:extLst>
          </p:cNvPr>
          <p:cNvSpPr>
            <a:spLocks noGrp="1"/>
          </p:cNvSpPr>
          <p:nvPr>
            <p:ph type="sldNum" sz="quarter" idx="12"/>
          </p:nvPr>
        </p:nvSpPr>
        <p:spPr/>
        <p:txBody>
          <a:bodyPr/>
          <a:lstStyle/>
          <a:p>
            <a:fld id="{9E260BC5-5BF3-8746-862B-DC45E9CAA88B}" type="slidenum">
              <a:rPr lang="en-US" smtClean="0"/>
              <a:pPr/>
              <a:t>12</a:t>
            </a:fld>
            <a:r>
              <a:rPr lang="en-US" altLang="zh-CN" dirty="0"/>
              <a:t>/25</a:t>
            </a:r>
            <a:endParaRPr lang="en-US" dirty="0"/>
          </a:p>
        </p:txBody>
      </p:sp>
      <p:graphicFrame>
        <p:nvGraphicFramePr>
          <p:cNvPr id="6" name="Object 3">
            <a:extLst>
              <a:ext uri="{FF2B5EF4-FFF2-40B4-BE49-F238E27FC236}">
                <a16:creationId xmlns:a16="http://schemas.microsoft.com/office/drawing/2014/main" id="{F8E9A6C2-644A-0030-184F-A9EDF961A51D}"/>
              </a:ext>
            </a:extLst>
          </p:cNvPr>
          <p:cNvGraphicFramePr>
            <a:graphicFrameLocks noChangeAspect="1"/>
          </p:cNvGraphicFramePr>
          <p:nvPr>
            <p:extLst>
              <p:ext uri="{D42A27DB-BD31-4B8C-83A1-F6EECF244321}">
                <p14:modId xmlns:p14="http://schemas.microsoft.com/office/powerpoint/2010/main" val="1489066734"/>
              </p:ext>
            </p:extLst>
          </p:nvPr>
        </p:nvGraphicFramePr>
        <p:xfrm>
          <a:off x="4799330" y="988427"/>
          <a:ext cx="2663825" cy="554037"/>
        </p:xfrm>
        <a:graphic>
          <a:graphicData uri="http://schemas.openxmlformats.org/presentationml/2006/ole">
            <mc:AlternateContent xmlns:mc="http://schemas.openxmlformats.org/markup-compatibility/2006">
              <mc:Choice xmlns:v="urn:schemas-microsoft-com:vml" Requires="v">
                <p:oleObj name="公式" r:id="rId3" imgW="952087" imgH="215806" progId="Equation.3">
                  <p:embed/>
                </p:oleObj>
              </mc:Choice>
              <mc:Fallback>
                <p:oleObj name="公式" r:id="rId3" imgW="952087" imgH="215806" progId="Equation.3">
                  <p:embed/>
                  <p:pic>
                    <p:nvPicPr>
                      <p:cNvPr id="2048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9330" y="988427"/>
                        <a:ext cx="26638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a:extLst>
              <a:ext uri="{FF2B5EF4-FFF2-40B4-BE49-F238E27FC236}">
                <a16:creationId xmlns:a16="http://schemas.microsoft.com/office/drawing/2014/main" id="{832EDF4E-E9E7-6E08-892A-8C664E1A7107}"/>
              </a:ext>
            </a:extLst>
          </p:cNvPr>
          <p:cNvGraphicFramePr>
            <a:graphicFrameLocks noChangeAspect="1"/>
          </p:cNvGraphicFramePr>
          <p:nvPr>
            <p:extLst>
              <p:ext uri="{D42A27DB-BD31-4B8C-83A1-F6EECF244321}">
                <p14:modId xmlns:p14="http://schemas.microsoft.com/office/powerpoint/2010/main" val="189766234"/>
              </p:ext>
            </p:extLst>
          </p:nvPr>
        </p:nvGraphicFramePr>
        <p:xfrm>
          <a:off x="4432618" y="1528177"/>
          <a:ext cx="3427412" cy="609600"/>
        </p:xfrm>
        <a:graphic>
          <a:graphicData uri="http://schemas.openxmlformats.org/presentationml/2006/ole">
            <mc:AlternateContent xmlns:mc="http://schemas.openxmlformats.org/markup-compatibility/2006">
              <mc:Choice xmlns:v="urn:schemas-microsoft-com:vml" Requires="v">
                <p:oleObj name="公式" r:id="rId5" imgW="1346200" imgH="228600" progId="Equation.3">
                  <p:embed/>
                </p:oleObj>
              </mc:Choice>
              <mc:Fallback>
                <p:oleObj name="公式" r:id="rId5" imgW="1346200" imgH="228600" progId="Equation.3">
                  <p:embed/>
                  <p:pic>
                    <p:nvPicPr>
                      <p:cNvPr id="20487"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2618" y="1528177"/>
                        <a:ext cx="34274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Group 5">
            <a:extLst>
              <a:ext uri="{FF2B5EF4-FFF2-40B4-BE49-F238E27FC236}">
                <a16:creationId xmlns:a16="http://schemas.microsoft.com/office/drawing/2014/main" id="{B0A17692-BF14-9A3D-2DB3-92FF92DBFA1F}"/>
              </a:ext>
            </a:extLst>
          </p:cNvPr>
          <p:cNvGrpSpPr>
            <a:grpSpLocks/>
          </p:cNvGrpSpPr>
          <p:nvPr/>
        </p:nvGrpSpPr>
        <p:grpSpPr bwMode="auto">
          <a:xfrm>
            <a:off x="1127443" y="1204327"/>
            <a:ext cx="6883400" cy="4860925"/>
            <a:chOff x="703" y="935"/>
            <a:chExt cx="4336" cy="3062"/>
          </a:xfrm>
        </p:grpSpPr>
        <p:sp>
          <p:nvSpPr>
            <p:cNvPr id="9" name="Rectangle 6">
              <a:extLst>
                <a:ext uri="{FF2B5EF4-FFF2-40B4-BE49-F238E27FC236}">
                  <a16:creationId xmlns:a16="http://schemas.microsoft.com/office/drawing/2014/main" id="{2170798C-C83B-CC3F-5D55-C7128458C967}"/>
                </a:ext>
              </a:extLst>
            </p:cNvPr>
            <p:cNvSpPr>
              <a:spLocks noChangeArrowheads="1"/>
            </p:cNvSpPr>
            <p:nvPr/>
          </p:nvSpPr>
          <p:spPr bwMode="auto">
            <a:xfrm>
              <a:off x="998" y="935"/>
              <a:ext cx="752" cy="976"/>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 name="Line 7">
              <a:extLst>
                <a:ext uri="{FF2B5EF4-FFF2-40B4-BE49-F238E27FC236}">
                  <a16:creationId xmlns:a16="http://schemas.microsoft.com/office/drawing/2014/main" id="{C3F2EBAA-14E3-7DB6-569F-56B1A09CF58F}"/>
                </a:ext>
              </a:extLst>
            </p:cNvPr>
            <p:cNvSpPr>
              <a:spLocks noChangeShapeType="1"/>
            </p:cNvSpPr>
            <p:nvPr/>
          </p:nvSpPr>
          <p:spPr bwMode="auto">
            <a:xfrm>
              <a:off x="710" y="1155"/>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8">
              <a:extLst>
                <a:ext uri="{FF2B5EF4-FFF2-40B4-BE49-F238E27FC236}">
                  <a16:creationId xmlns:a16="http://schemas.microsoft.com/office/drawing/2014/main" id="{DCFA8DFE-BCA5-8D11-367D-9CD725E0C287}"/>
                </a:ext>
              </a:extLst>
            </p:cNvPr>
            <p:cNvSpPr>
              <a:spLocks noChangeShapeType="1"/>
            </p:cNvSpPr>
            <p:nvPr/>
          </p:nvSpPr>
          <p:spPr bwMode="auto">
            <a:xfrm>
              <a:off x="710" y="1422"/>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9">
              <a:extLst>
                <a:ext uri="{FF2B5EF4-FFF2-40B4-BE49-F238E27FC236}">
                  <a16:creationId xmlns:a16="http://schemas.microsoft.com/office/drawing/2014/main" id="{8CC6402A-C1E6-79E9-27C7-0C80400130AF}"/>
                </a:ext>
              </a:extLst>
            </p:cNvPr>
            <p:cNvSpPr>
              <a:spLocks noChangeShapeType="1"/>
            </p:cNvSpPr>
            <p:nvPr/>
          </p:nvSpPr>
          <p:spPr bwMode="auto">
            <a:xfrm>
              <a:off x="1756" y="1155"/>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0">
              <a:extLst>
                <a:ext uri="{FF2B5EF4-FFF2-40B4-BE49-F238E27FC236}">
                  <a16:creationId xmlns:a16="http://schemas.microsoft.com/office/drawing/2014/main" id="{933499DB-2AC7-394E-A523-DC05387127D3}"/>
                </a:ext>
              </a:extLst>
            </p:cNvPr>
            <p:cNvSpPr>
              <a:spLocks noChangeShapeType="1"/>
            </p:cNvSpPr>
            <p:nvPr/>
          </p:nvSpPr>
          <p:spPr bwMode="auto">
            <a:xfrm>
              <a:off x="1756" y="1710"/>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Text Box 11">
              <a:extLst>
                <a:ext uri="{FF2B5EF4-FFF2-40B4-BE49-F238E27FC236}">
                  <a16:creationId xmlns:a16="http://schemas.microsoft.com/office/drawing/2014/main" id="{40B537F8-F473-BF83-B1A4-C61B755B21F6}"/>
                </a:ext>
              </a:extLst>
            </p:cNvPr>
            <p:cNvSpPr txBox="1">
              <a:spLocks noChangeArrowheads="1"/>
            </p:cNvSpPr>
            <p:nvPr/>
          </p:nvSpPr>
          <p:spPr bwMode="auto">
            <a:xfrm>
              <a:off x="995" y="98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15" name="Text Box 12">
              <a:extLst>
                <a:ext uri="{FF2B5EF4-FFF2-40B4-BE49-F238E27FC236}">
                  <a16:creationId xmlns:a16="http://schemas.microsoft.com/office/drawing/2014/main" id="{88A6230E-A903-9E3E-4E61-511741AA9590}"/>
                </a:ext>
              </a:extLst>
            </p:cNvPr>
            <p:cNvSpPr txBox="1">
              <a:spLocks noChangeArrowheads="1"/>
            </p:cNvSpPr>
            <p:nvPr/>
          </p:nvSpPr>
          <p:spPr bwMode="auto">
            <a:xfrm>
              <a:off x="1005" y="126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16" name="Text Box 13">
              <a:extLst>
                <a:ext uri="{FF2B5EF4-FFF2-40B4-BE49-F238E27FC236}">
                  <a16:creationId xmlns:a16="http://schemas.microsoft.com/office/drawing/2014/main" id="{3C824DC8-B2D3-FE4D-444E-F0707C742FD8}"/>
                </a:ext>
              </a:extLst>
            </p:cNvPr>
            <p:cNvSpPr txBox="1">
              <a:spLocks noChangeArrowheads="1"/>
            </p:cNvSpPr>
            <p:nvPr/>
          </p:nvSpPr>
          <p:spPr bwMode="auto">
            <a:xfrm>
              <a:off x="1500" y="1026"/>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17" name="Text Box 14">
              <a:extLst>
                <a:ext uri="{FF2B5EF4-FFF2-40B4-BE49-F238E27FC236}">
                  <a16:creationId xmlns:a16="http://schemas.microsoft.com/office/drawing/2014/main" id="{49F65F5A-054A-4CF5-3C2F-DBA6F8DD8363}"/>
                </a:ext>
              </a:extLst>
            </p:cNvPr>
            <p:cNvSpPr txBox="1">
              <a:spLocks noChangeArrowheads="1"/>
            </p:cNvSpPr>
            <p:nvPr/>
          </p:nvSpPr>
          <p:spPr bwMode="auto">
            <a:xfrm>
              <a:off x="1395" y="1570"/>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Co</a:t>
              </a:r>
            </a:p>
          </p:txBody>
        </p:sp>
        <p:sp>
          <p:nvSpPr>
            <p:cNvPr id="18" name="Text Box 15">
              <a:extLst>
                <a:ext uri="{FF2B5EF4-FFF2-40B4-BE49-F238E27FC236}">
                  <a16:creationId xmlns:a16="http://schemas.microsoft.com/office/drawing/2014/main" id="{C7A1D2C3-775D-F526-0319-7990603CCCD2}"/>
                </a:ext>
              </a:extLst>
            </p:cNvPr>
            <p:cNvSpPr txBox="1">
              <a:spLocks noChangeArrowheads="1"/>
            </p:cNvSpPr>
            <p:nvPr/>
          </p:nvSpPr>
          <p:spPr bwMode="auto">
            <a:xfrm>
              <a:off x="1240" y="958"/>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sp>
          <p:nvSpPr>
            <p:cNvPr id="19" name="Line 16">
              <a:extLst>
                <a:ext uri="{FF2B5EF4-FFF2-40B4-BE49-F238E27FC236}">
                  <a16:creationId xmlns:a16="http://schemas.microsoft.com/office/drawing/2014/main" id="{B35EC5B9-9391-330D-A0EB-CDB7C3371A9D}"/>
                </a:ext>
              </a:extLst>
            </p:cNvPr>
            <p:cNvSpPr>
              <a:spLocks noChangeShapeType="1"/>
            </p:cNvSpPr>
            <p:nvPr/>
          </p:nvSpPr>
          <p:spPr bwMode="auto">
            <a:xfrm>
              <a:off x="703" y="1719"/>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7">
              <a:extLst>
                <a:ext uri="{FF2B5EF4-FFF2-40B4-BE49-F238E27FC236}">
                  <a16:creationId xmlns:a16="http://schemas.microsoft.com/office/drawing/2014/main" id="{DD91D555-B7B7-0C64-5897-3AF91BD59E7A}"/>
                </a:ext>
              </a:extLst>
            </p:cNvPr>
            <p:cNvSpPr txBox="1">
              <a:spLocks noChangeArrowheads="1"/>
            </p:cNvSpPr>
            <p:nvPr/>
          </p:nvSpPr>
          <p:spPr bwMode="auto">
            <a:xfrm>
              <a:off x="998" y="1570"/>
              <a:ext cx="2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000">
                  <a:ea typeface="楷体_GB2312" pitchFamily="49" charset="-122"/>
                </a:rPr>
                <a:t>i</a:t>
              </a:r>
            </a:p>
          </p:txBody>
        </p:sp>
        <p:sp>
          <p:nvSpPr>
            <p:cNvPr id="21" name="Rectangle 18">
              <a:extLst>
                <a:ext uri="{FF2B5EF4-FFF2-40B4-BE49-F238E27FC236}">
                  <a16:creationId xmlns:a16="http://schemas.microsoft.com/office/drawing/2014/main" id="{2478ADA9-5A6F-77CD-5195-AA25F052818B}"/>
                </a:ext>
              </a:extLst>
            </p:cNvPr>
            <p:cNvSpPr>
              <a:spLocks noChangeArrowheads="1"/>
            </p:cNvSpPr>
            <p:nvPr/>
          </p:nvSpPr>
          <p:spPr bwMode="auto">
            <a:xfrm>
              <a:off x="2725" y="1593"/>
              <a:ext cx="2314" cy="2404"/>
            </a:xfrm>
            <a:prstGeom prst="rect">
              <a:avLst/>
            </a:prstGeom>
            <a:noFill/>
            <a:ln w="28575">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grpSp>
        <p:nvGrpSpPr>
          <p:cNvPr id="22" name="Group 19">
            <a:extLst>
              <a:ext uri="{FF2B5EF4-FFF2-40B4-BE49-F238E27FC236}">
                <a16:creationId xmlns:a16="http://schemas.microsoft.com/office/drawing/2014/main" id="{63BCD15F-2284-A188-295E-C06C83FA8A1A}"/>
              </a:ext>
            </a:extLst>
          </p:cNvPr>
          <p:cNvGrpSpPr>
            <a:grpSpLocks/>
          </p:cNvGrpSpPr>
          <p:nvPr/>
        </p:nvGrpSpPr>
        <p:grpSpPr bwMode="auto">
          <a:xfrm>
            <a:off x="1133793" y="3417302"/>
            <a:ext cx="2117725" cy="2498725"/>
            <a:chOff x="707" y="2329"/>
            <a:chExt cx="1334" cy="1574"/>
          </a:xfrm>
        </p:grpSpPr>
        <p:sp>
          <p:nvSpPr>
            <p:cNvPr id="23" name="Text Box 20">
              <a:extLst>
                <a:ext uri="{FF2B5EF4-FFF2-40B4-BE49-F238E27FC236}">
                  <a16:creationId xmlns:a16="http://schemas.microsoft.com/office/drawing/2014/main" id="{3C83F2CB-220F-110D-3D48-D7B17E567CEA}"/>
                </a:ext>
              </a:extLst>
            </p:cNvPr>
            <p:cNvSpPr txBox="1">
              <a:spLocks noChangeArrowheads="1"/>
            </p:cNvSpPr>
            <p:nvPr/>
          </p:nvSpPr>
          <p:spPr bwMode="auto">
            <a:xfrm>
              <a:off x="869" y="3576"/>
              <a:ext cx="9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b="0"/>
                <a:t>C</a:t>
              </a:r>
              <a:r>
                <a:rPr kumimoji="1" lang="en-US" altLang="zh-CN" sz="1800" b="0"/>
                <a:t>O </a:t>
              </a:r>
              <a:r>
                <a:rPr kumimoji="1" lang="en-US" altLang="zh-CN" b="0"/>
                <a:t>= A B</a:t>
              </a:r>
            </a:p>
          </p:txBody>
        </p:sp>
        <p:sp>
          <p:nvSpPr>
            <p:cNvPr id="24" name="Text Box 21">
              <a:extLst>
                <a:ext uri="{FF2B5EF4-FFF2-40B4-BE49-F238E27FC236}">
                  <a16:creationId xmlns:a16="http://schemas.microsoft.com/office/drawing/2014/main" id="{F6D4D1AC-A959-C4EA-F057-7DEB41850130}"/>
                </a:ext>
              </a:extLst>
            </p:cNvPr>
            <p:cNvSpPr txBox="1">
              <a:spLocks noChangeArrowheads="1"/>
            </p:cNvSpPr>
            <p:nvPr/>
          </p:nvSpPr>
          <p:spPr bwMode="auto">
            <a:xfrm>
              <a:off x="891" y="3294"/>
              <a:ext cx="101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b="0"/>
                <a:t>S = A⊕B</a:t>
              </a:r>
            </a:p>
          </p:txBody>
        </p:sp>
        <p:sp>
          <p:nvSpPr>
            <p:cNvPr id="25" name="Rectangle 22">
              <a:extLst>
                <a:ext uri="{FF2B5EF4-FFF2-40B4-BE49-F238E27FC236}">
                  <a16:creationId xmlns:a16="http://schemas.microsoft.com/office/drawing/2014/main" id="{51904446-6D5E-7EAC-8EBD-D01C9F72384C}"/>
                </a:ext>
              </a:extLst>
            </p:cNvPr>
            <p:cNvSpPr>
              <a:spLocks noChangeArrowheads="1"/>
            </p:cNvSpPr>
            <p:nvPr/>
          </p:nvSpPr>
          <p:spPr bwMode="auto">
            <a:xfrm>
              <a:off x="995" y="2329"/>
              <a:ext cx="752" cy="88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6" name="Line 23">
              <a:extLst>
                <a:ext uri="{FF2B5EF4-FFF2-40B4-BE49-F238E27FC236}">
                  <a16:creationId xmlns:a16="http://schemas.microsoft.com/office/drawing/2014/main" id="{41EF9CD8-38E1-1F9E-9078-BCB927DDFE50}"/>
                </a:ext>
              </a:extLst>
            </p:cNvPr>
            <p:cNvSpPr>
              <a:spLocks noChangeShapeType="1"/>
            </p:cNvSpPr>
            <p:nvPr/>
          </p:nvSpPr>
          <p:spPr bwMode="auto">
            <a:xfrm>
              <a:off x="707" y="2549"/>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4">
              <a:extLst>
                <a:ext uri="{FF2B5EF4-FFF2-40B4-BE49-F238E27FC236}">
                  <a16:creationId xmlns:a16="http://schemas.microsoft.com/office/drawing/2014/main" id="{2B7BF5F8-65CA-F6E4-532B-22E02FAC9BDD}"/>
                </a:ext>
              </a:extLst>
            </p:cNvPr>
            <p:cNvSpPr>
              <a:spLocks noChangeShapeType="1"/>
            </p:cNvSpPr>
            <p:nvPr/>
          </p:nvSpPr>
          <p:spPr bwMode="auto">
            <a:xfrm>
              <a:off x="707" y="3023"/>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8200D6FF-B2A7-1FA5-68BF-2DF6A1E397A0}"/>
                </a:ext>
              </a:extLst>
            </p:cNvPr>
            <p:cNvSpPr>
              <a:spLocks noChangeShapeType="1"/>
            </p:cNvSpPr>
            <p:nvPr/>
          </p:nvSpPr>
          <p:spPr bwMode="auto">
            <a:xfrm>
              <a:off x="1753" y="2549"/>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6">
              <a:extLst>
                <a:ext uri="{FF2B5EF4-FFF2-40B4-BE49-F238E27FC236}">
                  <a16:creationId xmlns:a16="http://schemas.microsoft.com/office/drawing/2014/main" id="{7A39E202-E373-2BB5-0DD5-CD4E0674B619}"/>
                </a:ext>
              </a:extLst>
            </p:cNvPr>
            <p:cNvSpPr>
              <a:spLocks noChangeShapeType="1"/>
            </p:cNvSpPr>
            <p:nvPr/>
          </p:nvSpPr>
          <p:spPr bwMode="auto">
            <a:xfrm>
              <a:off x="1753" y="3023"/>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Text Box 27">
              <a:extLst>
                <a:ext uri="{FF2B5EF4-FFF2-40B4-BE49-F238E27FC236}">
                  <a16:creationId xmlns:a16="http://schemas.microsoft.com/office/drawing/2014/main" id="{A2283800-31A0-93E1-13F2-2AC58CE38620}"/>
                </a:ext>
              </a:extLst>
            </p:cNvPr>
            <p:cNvSpPr txBox="1">
              <a:spLocks noChangeArrowheads="1"/>
            </p:cNvSpPr>
            <p:nvPr/>
          </p:nvSpPr>
          <p:spPr bwMode="auto">
            <a:xfrm>
              <a:off x="992" y="241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31" name="Text Box 28">
              <a:extLst>
                <a:ext uri="{FF2B5EF4-FFF2-40B4-BE49-F238E27FC236}">
                  <a16:creationId xmlns:a16="http://schemas.microsoft.com/office/drawing/2014/main" id="{E31CD4E4-4F94-D1D6-6861-15DA1C0E0F51}"/>
                </a:ext>
              </a:extLst>
            </p:cNvPr>
            <p:cNvSpPr txBox="1">
              <a:spLocks noChangeArrowheads="1"/>
            </p:cNvSpPr>
            <p:nvPr/>
          </p:nvSpPr>
          <p:spPr bwMode="auto">
            <a:xfrm>
              <a:off x="1002" y="288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32" name="Text Box 29">
              <a:extLst>
                <a:ext uri="{FF2B5EF4-FFF2-40B4-BE49-F238E27FC236}">
                  <a16:creationId xmlns:a16="http://schemas.microsoft.com/office/drawing/2014/main" id="{6FE65525-1951-DB3D-3072-213E91AC25FE}"/>
                </a:ext>
              </a:extLst>
            </p:cNvPr>
            <p:cNvSpPr txBox="1">
              <a:spLocks noChangeArrowheads="1"/>
            </p:cNvSpPr>
            <p:nvPr/>
          </p:nvSpPr>
          <p:spPr bwMode="auto">
            <a:xfrm>
              <a:off x="1474" y="242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33" name="Text Box 30">
              <a:extLst>
                <a:ext uri="{FF2B5EF4-FFF2-40B4-BE49-F238E27FC236}">
                  <a16:creationId xmlns:a16="http://schemas.microsoft.com/office/drawing/2014/main" id="{E87135DD-3E2E-31FF-A2C8-CE040C34947B}"/>
                </a:ext>
              </a:extLst>
            </p:cNvPr>
            <p:cNvSpPr txBox="1">
              <a:spLocks noChangeArrowheads="1"/>
            </p:cNvSpPr>
            <p:nvPr/>
          </p:nvSpPr>
          <p:spPr bwMode="auto">
            <a:xfrm>
              <a:off x="1361" y="2872"/>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Co</a:t>
              </a:r>
            </a:p>
          </p:txBody>
        </p:sp>
        <p:sp>
          <p:nvSpPr>
            <p:cNvPr id="34" name="Text Box 31">
              <a:extLst>
                <a:ext uri="{FF2B5EF4-FFF2-40B4-BE49-F238E27FC236}">
                  <a16:creationId xmlns:a16="http://schemas.microsoft.com/office/drawing/2014/main" id="{7363B1B7-8D93-4D9E-7226-99594686E82C}"/>
                </a:ext>
              </a:extLst>
            </p:cNvPr>
            <p:cNvSpPr txBox="1">
              <a:spLocks noChangeArrowheads="1"/>
            </p:cNvSpPr>
            <p:nvPr/>
          </p:nvSpPr>
          <p:spPr bwMode="auto">
            <a:xfrm>
              <a:off x="1225" y="2351"/>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grpSp>
      <p:grpSp>
        <p:nvGrpSpPr>
          <p:cNvPr id="35" name="Group 32">
            <a:extLst>
              <a:ext uri="{FF2B5EF4-FFF2-40B4-BE49-F238E27FC236}">
                <a16:creationId xmlns:a16="http://schemas.microsoft.com/office/drawing/2014/main" id="{932682FD-DF3E-E5C6-21CF-1B447C800D54}"/>
              </a:ext>
            </a:extLst>
          </p:cNvPr>
          <p:cNvGrpSpPr>
            <a:grpSpLocks/>
          </p:cNvGrpSpPr>
          <p:nvPr/>
        </p:nvGrpSpPr>
        <p:grpSpPr bwMode="auto">
          <a:xfrm>
            <a:off x="3683318" y="2426702"/>
            <a:ext cx="5119687" cy="3492500"/>
            <a:chOff x="2313" y="1705"/>
            <a:chExt cx="3225" cy="2200"/>
          </a:xfrm>
        </p:grpSpPr>
        <p:sp>
          <p:nvSpPr>
            <p:cNvPr id="36" name="Text Box 33">
              <a:extLst>
                <a:ext uri="{FF2B5EF4-FFF2-40B4-BE49-F238E27FC236}">
                  <a16:creationId xmlns:a16="http://schemas.microsoft.com/office/drawing/2014/main" id="{652E2674-874B-8989-FD89-CD89C78AE2B6}"/>
                </a:ext>
              </a:extLst>
            </p:cNvPr>
            <p:cNvSpPr txBox="1">
              <a:spLocks noChangeArrowheads="1"/>
            </p:cNvSpPr>
            <p:nvPr/>
          </p:nvSpPr>
          <p:spPr bwMode="auto">
            <a:xfrm>
              <a:off x="2340" y="3067"/>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A</a:t>
              </a:r>
            </a:p>
          </p:txBody>
        </p:sp>
        <p:sp>
          <p:nvSpPr>
            <p:cNvPr id="37" name="Text Box 34">
              <a:extLst>
                <a:ext uri="{FF2B5EF4-FFF2-40B4-BE49-F238E27FC236}">
                  <a16:creationId xmlns:a16="http://schemas.microsoft.com/office/drawing/2014/main" id="{91739EDA-8635-1090-95CE-06F18FEA8E2B}"/>
                </a:ext>
              </a:extLst>
            </p:cNvPr>
            <p:cNvSpPr txBox="1">
              <a:spLocks noChangeArrowheads="1"/>
            </p:cNvSpPr>
            <p:nvPr/>
          </p:nvSpPr>
          <p:spPr bwMode="auto">
            <a:xfrm>
              <a:off x="2353" y="3535"/>
              <a:ext cx="26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B</a:t>
              </a:r>
            </a:p>
          </p:txBody>
        </p:sp>
        <p:sp>
          <p:nvSpPr>
            <p:cNvPr id="38" name="Text Box 35">
              <a:extLst>
                <a:ext uri="{FF2B5EF4-FFF2-40B4-BE49-F238E27FC236}">
                  <a16:creationId xmlns:a16="http://schemas.microsoft.com/office/drawing/2014/main" id="{5096DC1B-29DD-F4E6-A324-A0F1882444D3}"/>
                </a:ext>
              </a:extLst>
            </p:cNvPr>
            <p:cNvSpPr txBox="1">
              <a:spLocks noChangeArrowheads="1"/>
            </p:cNvSpPr>
            <p:nvPr/>
          </p:nvSpPr>
          <p:spPr bwMode="auto">
            <a:xfrm>
              <a:off x="5162" y="1752"/>
              <a:ext cx="2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S</a:t>
              </a:r>
            </a:p>
          </p:txBody>
        </p:sp>
        <p:sp>
          <p:nvSpPr>
            <p:cNvPr id="39" name="Text Box 36">
              <a:extLst>
                <a:ext uri="{FF2B5EF4-FFF2-40B4-BE49-F238E27FC236}">
                  <a16:creationId xmlns:a16="http://schemas.microsoft.com/office/drawing/2014/main" id="{513C2844-B6F0-18A3-1B47-5617FBF9F9BE}"/>
                </a:ext>
              </a:extLst>
            </p:cNvPr>
            <p:cNvSpPr txBox="1">
              <a:spLocks noChangeArrowheads="1"/>
            </p:cNvSpPr>
            <p:nvPr/>
          </p:nvSpPr>
          <p:spPr bwMode="auto">
            <a:xfrm>
              <a:off x="2313" y="1729"/>
              <a:ext cx="3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C</a:t>
              </a:r>
              <a:r>
                <a:rPr kumimoji="1" lang="en-US" altLang="zh-CN" sz="2000"/>
                <a:t>i</a:t>
              </a:r>
              <a:endParaRPr kumimoji="1" lang="en-US" altLang="zh-CN" sz="2400"/>
            </a:p>
          </p:txBody>
        </p:sp>
        <p:sp>
          <p:nvSpPr>
            <p:cNvPr id="40" name="Text Box 37">
              <a:extLst>
                <a:ext uri="{FF2B5EF4-FFF2-40B4-BE49-F238E27FC236}">
                  <a16:creationId xmlns:a16="http://schemas.microsoft.com/office/drawing/2014/main" id="{88AB8424-B993-D7E5-394C-D403ED958FCA}"/>
                </a:ext>
              </a:extLst>
            </p:cNvPr>
            <p:cNvSpPr txBox="1">
              <a:spLocks noChangeArrowheads="1"/>
            </p:cNvSpPr>
            <p:nvPr/>
          </p:nvSpPr>
          <p:spPr bwMode="auto">
            <a:xfrm>
              <a:off x="5148" y="2332"/>
              <a:ext cx="3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C</a:t>
              </a:r>
              <a:r>
                <a:rPr kumimoji="1" lang="en-US" altLang="zh-CN" sz="1800"/>
                <a:t>O</a:t>
              </a:r>
              <a:endParaRPr kumimoji="1" lang="en-US" altLang="zh-CN" sz="2000"/>
            </a:p>
          </p:txBody>
        </p:sp>
        <p:grpSp>
          <p:nvGrpSpPr>
            <p:cNvPr id="41" name="Group 38">
              <a:extLst>
                <a:ext uri="{FF2B5EF4-FFF2-40B4-BE49-F238E27FC236}">
                  <a16:creationId xmlns:a16="http://schemas.microsoft.com/office/drawing/2014/main" id="{AD9641F0-E91E-2562-DB0D-69E270702CD0}"/>
                </a:ext>
              </a:extLst>
            </p:cNvPr>
            <p:cNvGrpSpPr>
              <a:grpSpLocks/>
            </p:cNvGrpSpPr>
            <p:nvPr/>
          </p:nvGrpSpPr>
          <p:grpSpPr bwMode="auto">
            <a:xfrm>
              <a:off x="3063" y="3021"/>
              <a:ext cx="755" cy="884"/>
              <a:chOff x="3063" y="3021"/>
              <a:chExt cx="755" cy="884"/>
            </a:xfrm>
          </p:grpSpPr>
          <p:sp>
            <p:nvSpPr>
              <p:cNvPr id="49" name="Rectangle 39">
                <a:extLst>
                  <a:ext uri="{FF2B5EF4-FFF2-40B4-BE49-F238E27FC236}">
                    <a16:creationId xmlns:a16="http://schemas.microsoft.com/office/drawing/2014/main" id="{D056C539-9319-3513-456B-1C0D005920E6}"/>
                  </a:ext>
                </a:extLst>
              </p:cNvPr>
              <p:cNvSpPr>
                <a:spLocks noChangeArrowheads="1"/>
              </p:cNvSpPr>
              <p:nvPr/>
            </p:nvSpPr>
            <p:spPr bwMode="auto">
              <a:xfrm>
                <a:off x="3066" y="3021"/>
                <a:ext cx="752" cy="88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0" name="Text Box 40">
                <a:extLst>
                  <a:ext uri="{FF2B5EF4-FFF2-40B4-BE49-F238E27FC236}">
                    <a16:creationId xmlns:a16="http://schemas.microsoft.com/office/drawing/2014/main" id="{C0FED8B0-E8B0-1252-8E86-00155F254071}"/>
                  </a:ext>
                </a:extLst>
              </p:cNvPr>
              <p:cNvSpPr txBox="1">
                <a:spLocks noChangeArrowheads="1"/>
              </p:cNvSpPr>
              <p:nvPr/>
            </p:nvSpPr>
            <p:spPr bwMode="auto">
              <a:xfrm>
                <a:off x="3063" y="311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51" name="Text Box 41">
                <a:extLst>
                  <a:ext uri="{FF2B5EF4-FFF2-40B4-BE49-F238E27FC236}">
                    <a16:creationId xmlns:a16="http://schemas.microsoft.com/office/drawing/2014/main" id="{F0C85F67-4BC4-82CC-0FE1-B8EF529D90D6}"/>
                  </a:ext>
                </a:extLst>
              </p:cNvPr>
              <p:cNvSpPr txBox="1">
                <a:spLocks noChangeArrowheads="1"/>
              </p:cNvSpPr>
              <p:nvPr/>
            </p:nvSpPr>
            <p:spPr bwMode="auto">
              <a:xfrm>
                <a:off x="3073" y="357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52" name="Text Box 42">
                <a:extLst>
                  <a:ext uri="{FF2B5EF4-FFF2-40B4-BE49-F238E27FC236}">
                    <a16:creationId xmlns:a16="http://schemas.microsoft.com/office/drawing/2014/main" id="{B14FE628-28CA-969F-9321-26F475F79A16}"/>
                  </a:ext>
                </a:extLst>
              </p:cNvPr>
              <p:cNvSpPr txBox="1">
                <a:spLocks noChangeArrowheads="1"/>
              </p:cNvSpPr>
              <p:nvPr/>
            </p:nvSpPr>
            <p:spPr bwMode="auto">
              <a:xfrm>
                <a:off x="3545" y="311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53" name="Text Box 43">
                <a:extLst>
                  <a:ext uri="{FF2B5EF4-FFF2-40B4-BE49-F238E27FC236}">
                    <a16:creationId xmlns:a16="http://schemas.microsoft.com/office/drawing/2014/main" id="{FE472BC9-C07C-DCCE-CB30-97AEA84034B2}"/>
                  </a:ext>
                </a:extLst>
              </p:cNvPr>
              <p:cNvSpPr txBox="1">
                <a:spLocks noChangeArrowheads="1"/>
              </p:cNvSpPr>
              <p:nvPr/>
            </p:nvSpPr>
            <p:spPr bwMode="auto">
              <a:xfrm>
                <a:off x="3432" y="3564"/>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Co</a:t>
                </a:r>
              </a:p>
            </p:txBody>
          </p:sp>
          <p:sp>
            <p:nvSpPr>
              <p:cNvPr id="54" name="Text Box 44">
                <a:extLst>
                  <a:ext uri="{FF2B5EF4-FFF2-40B4-BE49-F238E27FC236}">
                    <a16:creationId xmlns:a16="http://schemas.microsoft.com/office/drawing/2014/main" id="{603C1566-E03B-5AD7-624B-85B10FD15104}"/>
                  </a:ext>
                </a:extLst>
              </p:cNvPr>
              <p:cNvSpPr txBox="1">
                <a:spLocks noChangeArrowheads="1"/>
              </p:cNvSpPr>
              <p:nvPr/>
            </p:nvSpPr>
            <p:spPr bwMode="auto">
              <a:xfrm>
                <a:off x="3296" y="3043"/>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grpSp>
        <p:grpSp>
          <p:nvGrpSpPr>
            <p:cNvPr id="42" name="Group 45">
              <a:extLst>
                <a:ext uri="{FF2B5EF4-FFF2-40B4-BE49-F238E27FC236}">
                  <a16:creationId xmlns:a16="http://schemas.microsoft.com/office/drawing/2014/main" id="{4CA240A4-4C3F-5661-63AF-56B2B0691E7D}"/>
                </a:ext>
              </a:extLst>
            </p:cNvPr>
            <p:cNvGrpSpPr>
              <a:grpSpLocks/>
            </p:cNvGrpSpPr>
            <p:nvPr/>
          </p:nvGrpSpPr>
          <p:grpSpPr bwMode="auto">
            <a:xfrm>
              <a:off x="3063" y="1705"/>
              <a:ext cx="755" cy="884"/>
              <a:chOff x="3063" y="1705"/>
              <a:chExt cx="755" cy="884"/>
            </a:xfrm>
          </p:grpSpPr>
          <p:sp>
            <p:nvSpPr>
              <p:cNvPr id="43" name="Rectangle 46">
                <a:extLst>
                  <a:ext uri="{FF2B5EF4-FFF2-40B4-BE49-F238E27FC236}">
                    <a16:creationId xmlns:a16="http://schemas.microsoft.com/office/drawing/2014/main" id="{4345AE01-E598-5951-CDDD-8F63ABE0E60D}"/>
                  </a:ext>
                </a:extLst>
              </p:cNvPr>
              <p:cNvSpPr>
                <a:spLocks noChangeArrowheads="1"/>
              </p:cNvSpPr>
              <p:nvPr/>
            </p:nvSpPr>
            <p:spPr bwMode="auto">
              <a:xfrm>
                <a:off x="3066" y="1705"/>
                <a:ext cx="752" cy="88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4" name="Text Box 47">
                <a:extLst>
                  <a:ext uri="{FF2B5EF4-FFF2-40B4-BE49-F238E27FC236}">
                    <a16:creationId xmlns:a16="http://schemas.microsoft.com/office/drawing/2014/main" id="{CE0D5C07-F3B3-DB92-7118-E2E0401FC4F4}"/>
                  </a:ext>
                </a:extLst>
              </p:cNvPr>
              <p:cNvSpPr txBox="1">
                <a:spLocks noChangeArrowheads="1"/>
              </p:cNvSpPr>
              <p:nvPr/>
            </p:nvSpPr>
            <p:spPr bwMode="auto">
              <a:xfrm>
                <a:off x="3063" y="1795"/>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45" name="Text Box 48">
                <a:extLst>
                  <a:ext uri="{FF2B5EF4-FFF2-40B4-BE49-F238E27FC236}">
                    <a16:creationId xmlns:a16="http://schemas.microsoft.com/office/drawing/2014/main" id="{66B233F4-1676-77BD-FFE9-5ACACF0374AC}"/>
                  </a:ext>
                </a:extLst>
              </p:cNvPr>
              <p:cNvSpPr txBox="1">
                <a:spLocks noChangeArrowheads="1"/>
              </p:cNvSpPr>
              <p:nvPr/>
            </p:nvSpPr>
            <p:spPr bwMode="auto">
              <a:xfrm>
                <a:off x="3073" y="225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46" name="Text Box 49">
                <a:extLst>
                  <a:ext uri="{FF2B5EF4-FFF2-40B4-BE49-F238E27FC236}">
                    <a16:creationId xmlns:a16="http://schemas.microsoft.com/office/drawing/2014/main" id="{D652F6EF-71DC-88EA-E395-730902B11685}"/>
                  </a:ext>
                </a:extLst>
              </p:cNvPr>
              <p:cNvSpPr txBox="1">
                <a:spLocks noChangeArrowheads="1"/>
              </p:cNvSpPr>
              <p:nvPr/>
            </p:nvSpPr>
            <p:spPr bwMode="auto">
              <a:xfrm>
                <a:off x="3545" y="1796"/>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47" name="Text Box 50">
                <a:extLst>
                  <a:ext uri="{FF2B5EF4-FFF2-40B4-BE49-F238E27FC236}">
                    <a16:creationId xmlns:a16="http://schemas.microsoft.com/office/drawing/2014/main" id="{A06A33B8-81B6-8F43-5093-A9221147B6E9}"/>
                  </a:ext>
                </a:extLst>
              </p:cNvPr>
              <p:cNvSpPr txBox="1">
                <a:spLocks noChangeArrowheads="1"/>
              </p:cNvSpPr>
              <p:nvPr/>
            </p:nvSpPr>
            <p:spPr bwMode="auto">
              <a:xfrm>
                <a:off x="3432" y="2248"/>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Co</a:t>
                </a:r>
              </a:p>
            </p:txBody>
          </p:sp>
          <p:sp>
            <p:nvSpPr>
              <p:cNvPr id="48" name="Text Box 51">
                <a:extLst>
                  <a:ext uri="{FF2B5EF4-FFF2-40B4-BE49-F238E27FC236}">
                    <a16:creationId xmlns:a16="http://schemas.microsoft.com/office/drawing/2014/main" id="{FEABC719-F342-ADE4-8DEE-58A8D1423F8D}"/>
                  </a:ext>
                </a:extLst>
              </p:cNvPr>
              <p:cNvSpPr txBox="1">
                <a:spLocks noChangeArrowheads="1"/>
              </p:cNvSpPr>
              <p:nvPr/>
            </p:nvSpPr>
            <p:spPr bwMode="auto">
              <a:xfrm>
                <a:off x="3296" y="1727"/>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grpSp>
      </p:grpSp>
      <p:grpSp>
        <p:nvGrpSpPr>
          <p:cNvPr id="55" name="Group 52">
            <a:extLst>
              <a:ext uri="{FF2B5EF4-FFF2-40B4-BE49-F238E27FC236}">
                <a16:creationId xmlns:a16="http://schemas.microsoft.com/office/drawing/2014/main" id="{B21A3CE4-1337-D316-7976-DE6117FCDACC}"/>
              </a:ext>
            </a:extLst>
          </p:cNvPr>
          <p:cNvGrpSpPr>
            <a:grpSpLocks/>
          </p:cNvGrpSpPr>
          <p:nvPr/>
        </p:nvGrpSpPr>
        <p:grpSpPr bwMode="auto">
          <a:xfrm>
            <a:off x="4194493" y="2741027"/>
            <a:ext cx="4032250" cy="2892425"/>
            <a:chOff x="2635" y="1903"/>
            <a:chExt cx="2540" cy="1822"/>
          </a:xfrm>
        </p:grpSpPr>
        <p:sp>
          <p:nvSpPr>
            <p:cNvPr id="56" name="Line 53">
              <a:extLst>
                <a:ext uri="{FF2B5EF4-FFF2-40B4-BE49-F238E27FC236}">
                  <a16:creationId xmlns:a16="http://schemas.microsoft.com/office/drawing/2014/main" id="{3EEF963E-BD28-3FDF-B889-C2532CD9C680}"/>
                </a:ext>
              </a:extLst>
            </p:cNvPr>
            <p:cNvSpPr>
              <a:spLocks noChangeShapeType="1"/>
            </p:cNvSpPr>
            <p:nvPr/>
          </p:nvSpPr>
          <p:spPr bwMode="auto">
            <a:xfrm flipV="1">
              <a:off x="4041" y="2816"/>
              <a:ext cx="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4">
              <a:extLst>
                <a:ext uri="{FF2B5EF4-FFF2-40B4-BE49-F238E27FC236}">
                  <a16:creationId xmlns:a16="http://schemas.microsoft.com/office/drawing/2014/main" id="{5E5F1134-9FC0-EE6D-0717-E3AABABCC682}"/>
                </a:ext>
              </a:extLst>
            </p:cNvPr>
            <p:cNvSpPr>
              <a:spLocks noChangeShapeType="1"/>
            </p:cNvSpPr>
            <p:nvPr/>
          </p:nvSpPr>
          <p:spPr bwMode="auto">
            <a:xfrm flipH="1">
              <a:off x="2862" y="2817"/>
              <a:ext cx="117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5">
              <a:extLst>
                <a:ext uri="{FF2B5EF4-FFF2-40B4-BE49-F238E27FC236}">
                  <a16:creationId xmlns:a16="http://schemas.microsoft.com/office/drawing/2014/main" id="{B106A09A-C34F-0BBF-66EC-82601EBC8527}"/>
                </a:ext>
              </a:extLst>
            </p:cNvPr>
            <p:cNvSpPr>
              <a:spLocks noChangeShapeType="1"/>
            </p:cNvSpPr>
            <p:nvPr/>
          </p:nvSpPr>
          <p:spPr bwMode="auto">
            <a:xfrm flipV="1">
              <a:off x="2861" y="2385"/>
              <a:ext cx="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56">
              <a:extLst>
                <a:ext uri="{FF2B5EF4-FFF2-40B4-BE49-F238E27FC236}">
                  <a16:creationId xmlns:a16="http://schemas.microsoft.com/office/drawing/2014/main" id="{4FCA734C-6CBD-7392-90A8-146BC9017B47}"/>
                </a:ext>
              </a:extLst>
            </p:cNvPr>
            <p:cNvSpPr>
              <a:spLocks noChangeShapeType="1"/>
            </p:cNvSpPr>
            <p:nvPr/>
          </p:nvSpPr>
          <p:spPr bwMode="auto">
            <a:xfrm>
              <a:off x="3824" y="3241"/>
              <a:ext cx="2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7">
              <a:extLst>
                <a:ext uri="{FF2B5EF4-FFF2-40B4-BE49-F238E27FC236}">
                  <a16:creationId xmlns:a16="http://schemas.microsoft.com/office/drawing/2014/main" id="{67757EA6-F3FF-627B-98F4-2170EFD2CA92}"/>
                </a:ext>
              </a:extLst>
            </p:cNvPr>
            <p:cNvSpPr>
              <a:spLocks noChangeShapeType="1"/>
            </p:cNvSpPr>
            <p:nvPr/>
          </p:nvSpPr>
          <p:spPr bwMode="auto">
            <a:xfrm>
              <a:off x="3824" y="3715"/>
              <a:ext cx="46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1" name="Group 58">
              <a:extLst>
                <a:ext uri="{FF2B5EF4-FFF2-40B4-BE49-F238E27FC236}">
                  <a16:creationId xmlns:a16="http://schemas.microsoft.com/office/drawing/2014/main" id="{C18E82D2-5026-BB1D-DA8C-EF32E9995275}"/>
                </a:ext>
              </a:extLst>
            </p:cNvPr>
            <p:cNvGrpSpPr>
              <a:grpSpLocks/>
            </p:cNvGrpSpPr>
            <p:nvPr/>
          </p:nvGrpSpPr>
          <p:grpSpPr bwMode="auto">
            <a:xfrm>
              <a:off x="2635" y="1903"/>
              <a:ext cx="431" cy="1812"/>
              <a:chOff x="2978" y="1495"/>
              <a:chExt cx="288" cy="1812"/>
            </a:xfrm>
          </p:grpSpPr>
          <p:sp>
            <p:nvSpPr>
              <p:cNvPr id="74" name="Line 59">
                <a:extLst>
                  <a:ext uri="{FF2B5EF4-FFF2-40B4-BE49-F238E27FC236}">
                    <a16:creationId xmlns:a16="http://schemas.microsoft.com/office/drawing/2014/main" id="{E4F1322B-C4E9-567B-B4EC-CA0F2ABA6851}"/>
                  </a:ext>
                </a:extLst>
              </p:cNvPr>
              <p:cNvSpPr>
                <a:spLocks noChangeShapeType="1"/>
              </p:cNvSpPr>
              <p:nvPr/>
            </p:nvSpPr>
            <p:spPr bwMode="auto">
              <a:xfrm>
                <a:off x="2978" y="2833"/>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60">
                <a:extLst>
                  <a:ext uri="{FF2B5EF4-FFF2-40B4-BE49-F238E27FC236}">
                    <a16:creationId xmlns:a16="http://schemas.microsoft.com/office/drawing/2014/main" id="{4D31A765-9772-C569-AEC5-37C4EEE0151E}"/>
                  </a:ext>
                </a:extLst>
              </p:cNvPr>
              <p:cNvSpPr>
                <a:spLocks noChangeShapeType="1"/>
              </p:cNvSpPr>
              <p:nvPr/>
            </p:nvSpPr>
            <p:spPr bwMode="auto">
              <a:xfrm>
                <a:off x="2978" y="3307"/>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61">
                <a:extLst>
                  <a:ext uri="{FF2B5EF4-FFF2-40B4-BE49-F238E27FC236}">
                    <a16:creationId xmlns:a16="http://schemas.microsoft.com/office/drawing/2014/main" id="{5136EE29-FF2F-9DB0-B7C1-23341F8D0926}"/>
                  </a:ext>
                </a:extLst>
              </p:cNvPr>
              <p:cNvSpPr>
                <a:spLocks noChangeShapeType="1"/>
              </p:cNvSpPr>
              <p:nvPr/>
            </p:nvSpPr>
            <p:spPr bwMode="auto">
              <a:xfrm>
                <a:off x="2978" y="1495"/>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2" name="Line 62">
              <a:extLst>
                <a:ext uri="{FF2B5EF4-FFF2-40B4-BE49-F238E27FC236}">
                  <a16:creationId xmlns:a16="http://schemas.microsoft.com/office/drawing/2014/main" id="{69885022-A67F-4676-F14F-7AF8505DE1FB}"/>
                </a:ext>
              </a:extLst>
            </p:cNvPr>
            <p:cNvSpPr>
              <a:spLocks noChangeShapeType="1"/>
            </p:cNvSpPr>
            <p:nvPr/>
          </p:nvSpPr>
          <p:spPr bwMode="auto">
            <a:xfrm>
              <a:off x="2861" y="2399"/>
              <a:ext cx="20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63">
              <a:extLst>
                <a:ext uri="{FF2B5EF4-FFF2-40B4-BE49-F238E27FC236}">
                  <a16:creationId xmlns:a16="http://schemas.microsoft.com/office/drawing/2014/main" id="{4F8400CD-8074-8550-8EEF-82B760C915CD}"/>
                </a:ext>
              </a:extLst>
            </p:cNvPr>
            <p:cNvSpPr>
              <a:spLocks noChangeShapeType="1"/>
            </p:cNvSpPr>
            <p:nvPr/>
          </p:nvSpPr>
          <p:spPr bwMode="auto">
            <a:xfrm>
              <a:off x="3824" y="1925"/>
              <a:ext cx="135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4">
              <a:extLst>
                <a:ext uri="{FF2B5EF4-FFF2-40B4-BE49-F238E27FC236}">
                  <a16:creationId xmlns:a16="http://schemas.microsoft.com/office/drawing/2014/main" id="{C3394996-66F5-BCA0-C64E-2FAFB20C527E}"/>
                </a:ext>
              </a:extLst>
            </p:cNvPr>
            <p:cNvSpPr>
              <a:spLocks noChangeShapeType="1"/>
            </p:cNvSpPr>
            <p:nvPr/>
          </p:nvSpPr>
          <p:spPr bwMode="auto">
            <a:xfrm>
              <a:off x="3824" y="2399"/>
              <a:ext cx="6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5">
              <a:extLst>
                <a:ext uri="{FF2B5EF4-FFF2-40B4-BE49-F238E27FC236}">
                  <a16:creationId xmlns:a16="http://schemas.microsoft.com/office/drawing/2014/main" id="{8C122761-A34B-80D5-8ACE-AF6DA7216BF9}"/>
                </a:ext>
              </a:extLst>
            </p:cNvPr>
            <p:cNvSpPr>
              <a:spLocks noChangeShapeType="1"/>
            </p:cNvSpPr>
            <p:nvPr/>
          </p:nvSpPr>
          <p:spPr bwMode="auto">
            <a:xfrm flipV="1">
              <a:off x="4297" y="2591"/>
              <a:ext cx="0" cy="11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6">
              <a:extLst>
                <a:ext uri="{FF2B5EF4-FFF2-40B4-BE49-F238E27FC236}">
                  <a16:creationId xmlns:a16="http://schemas.microsoft.com/office/drawing/2014/main" id="{3150641D-8302-1BBE-CBDB-C29EB2420319}"/>
                </a:ext>
              </a:extLst>
            </p:cNvPr>
            <p:cNvSpPr>
              <a:spLocks noChangeShapeType="1"/>
            </p:cNvSpPr>
            <p:nvPr/>
          </p:nvSpPr>
          <p:spPr bwMode="auto">
            <a:xfrm>
              <a:off x="4297" y="2590"/>
              <a:ext cx="21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7">
              <a:extLst>
                <a:ext uri="{FF2B5EF4-FFF2-40B4-BE49-F238E27FC236}">
                  <a16:creationId xmlns:a16="http://schemas.microsoft.com/office/drawing/2014/main" id="{A2408704-3234-F47F-2A7A-4FF987B9D46F}"/>
                </a:ext>
              </a:extLst>
            </p:cNvPr>
            <p:cNvSpPr>
              <a:spLocks noChangeShapeType="1"/>
            </p:cNvSpPr>
            <p:nvPr/>
          </p:nvSpPr>
          <p:spPr bwMode="auto">
            <a:xfrm>
              <a:off x="4880" y="2500"/>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8" name="Group 68">
              <a:extLst>
                <a:ext uri="{FF2B5EF4-FFF2-40B4-BE49-F238E27FC236}">
                  <a16:creationId xmlns:a16="http://schemas.microsoft.com/office/drawing/2014/main" id="{BFA07B8A-DF21-9B0B-62D7-75FCF1F7936B}"/>
                </a:ext>
              </a:extLst>
            </p:cNvPr>
            <p:cNvGrpSpPr>
              <a:grpSpLocks/>
            </p:cNvGrpSpPr>
            <p:nvPr/>
          </p:nvGrpSpPr>
          <p:grpSpPr bwMode="auto">
            <a:xfrm>
              <a:off x="3972" y="2304"/>
              <a:ext cx="904" cy="378"/>
              <a:chOff x="986" y="3158"/>
              <a:chExt cx="1671" cy="658"/>
            </a:xfrm>
          </p:grpSpPr>
          <p:sp>
            <p:nvSpPr>
              <p:cNvPr id="69" name="Arc 69">
                <a:extLst>
                  <a:ext uri="{FF2B5EF4-FFF2-40B4-BE49-F238E27FC236}">
                    <a16:creationId xmlns:a16="http://schemas.microsoft.com/office/drawing/2014/main" id="{5DCA3DCD-90E3-0196-37FE-D5D336BF2415}"/>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 name="Arc 70">
                <a:extLst>
                  <a:ext uri="{FF2B5EF4-FFF2-40B4-BE49-F238E27FC236}">
                    <a16:creationId xmlns:a16="http://schemas.microsoft.com/office/drawing/2014/main" id="{AAE2DE82-546E-8FB2-B536-60898049FFAD}"/>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71" name="Arc 71">
                <a:extLst>
                  <a:ext uri="{FF2B5EF4-FFF2-40B4-BE49-F238E27FC236}">
                    <a16:creationId xmlns:a16="http://schemas.microsoft.com/office/drawing/2014/main" id="{67B73383-7731-A7CC-033C-E53C8EDC7003}"/>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 name="Line 72">
                <a:extLst>
                  <a:ext uri="{FF2B5EF4-FFF2-40B4-BE49-F238E27FC236}">
                    <a16:creationId xmlns:a16="http://schemas.microsoft.com/office/drawing/2014/main" id="{2B239979-23E7-741C-3C30-1B1C410F6111}"/>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73">
                <a:extLst>
                  <a:ext uri="{FF2B5EF4-FFF2-40B4-BE49-F238E27FC236}">
                    <a16:creationId xmlns:a16="http://schemas.microsoft.com/office/drawing/2014/main" id="{6686F304-1DA1-D8DE-C11A-12AF03331021}"/>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7" name="文本框 1">
            <a:extLst>
              <a:ext uri="{FF2B5EF4-FFF2-40B4-BE49-F238E27FC236}">
                <a16:creationId xmlns:a16="http://schemas.microsoft.com/office/drawing/2014/main" id="{41EFCBD4-8A56-DE2F-F394-94890C9180AA}"/>
              </a:ext>
            </a:extLst>
          </p:cNvPr>
          <p:cNvSpPr txBox="1">
            <a:spLocks noChangeArrowheads="1"/>
          </p:cNvSpPr>
          <p:nvPr/>
        </p:nvSpPr>
        <p:spPr bwMode="auto">
          <a:xfrm>
            <a:off x="5196205" y="3828464"/>
            <a:ext cx="1225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solidFill>
                  <a:srgbClr val="0033CC"/>
                </a:solidFill>
                <a:latin typeface="宋体" panose="02010600030101010101" pitchFamily="2" charset="-122"/>
              </a:rPr>
              <a:t>A</a:t>
            </a:r>
            <a:r>
              <a:rPr lang="zh-CN" altLang="en-US" sz="1800" b="0">
                <a:solidFill>
                  <a:srgbClr val="0033CC"/>
                </a:solidFill>
                <a:latin typeface="宋体" panose="02010600030101010101" pitchFamily="2" charset="-122"/>
              </a:rPr>
              <a:t>⊕</a:t>
            </a:r>
            <a:r>
              <a:rPr lang="en-US" altLang="zh-CN" sz="1800" b="0">
                <a:solidFill>
                  <a:srgbClr val="0033CC"/>
                </a:solidFill>
                <a:latin typeface="宋体" panose="02010600030101010101" pitchFamily="2" charset="-122"/>
              </a:rPr>
              <a:t>B</a:t>
            </a:r>
            <a:endParaRPr lang="zh-CN" altLang="en-US" sz="1800" b="0">
              <a:solidFill>
                <a:srgbClr val="0033CC"/>
              </a:solidFill>
              <a:latin typeface="Arial" panose="020B0604020202020204" pitchFamily="34" charset="0"/>
            </a:endParaRPr>
          </a:p>
        </p:txBody>
      </p:sp>
      <p:sp>
        <p:nvSpPr>
          <p:cNvPr id="78" name="文本框 77">
            <a:extLst>
              <a:ext uri="{FF2B5EF4-FFF2-40B4-BE49-F238E27FC236}">
                <a16:creationId xmlns:a16="http://schemas.microsoft.com/office/drawing/2014/main" id="{A72451BB-C19B-C034-92BD-90ECC2869607}"/>
              </a:ext>
            </a:extLst>
          </p:cNvPr>
          <p:cNvSpPr txBox="1">
            <a:spLocks noChangeArrowheads="1"/>
          </p:cNvSpPr>
          <p:nvPr/>
        </p:nvSpPr>
        <p:spPr bwMode="auto">
          <a:xfrm>
            <a:off x="6023293" y="2393364"/>
            <a:ext cx="1223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solidFill>
                  <a:srgbClr val="0033CC"/>
                </a:solidFill>
                <a:latin typeface="宋体" panose="02010600030101010101" pitchFamily="2" charset="-122"/>
              </a:rPr>
              <a:t>A</a:t>
            </a:r>
            <a:r>
              <a:rPr lang="zh-CN" altLang="en-US" sz="1800" b="0">
                <a:solidFill>
                  <a:srgbClr val="0033CC"/>
                </a:solidFill>
                <a:latin typeface="宋体" panose="02010600030101010101" pitchFamily="2" charset="-122"/>
              </a:rPr>
              <a:t>⊕</a:t>
            </a:r>
            <a:r>
              <a:rPr lang="en-US" altLang="zh-CN" sz="1800" b="0">
                <a:solidFill>
                  <a:srgbClr val="0033CC"/>
                </a:solidFill>
                <a:latin typeface="宋体" panose="02010600030101010101" pitchFamily="2" charset="-122"/>
              </a:rPr>
              <a:t>B</a:t>
            </a:r>
            <a:r>
              <a:rPr lang="zh-CN" altLang="en-US" sz="1800" b="0">
                <a:solidFill>
                  <a:srgbClr val="0033CC"/>
                </a:solidFill>
                <a:latin typeface="宋体" panose="02010600030101010101" pitchFamily="2" charset="-122"/>
              </a:rPr>
              <a:t>⊕</a:t>
            </a:r>
            <a:r>
              <a:rPr lang="en-US" altLang="zh-CN" sz="1800" b="0">
                <a:solidFill>
                  <a:srgbClr val="0033CC"/>
                </a:solidFill>
                <a:latin typeface="宋体" panose="02010600030101010101" pitchFamily="2" charset="-122"/>
              </a:rPr>
              <a:t>C</a:t>
            </a:r>
            <a:r>
              <a:rPr lang="en-US" altLang="zh-CN" sz="1800" b="0" baseline="-25000">
                <a:solidFill>
                  <a:srgbClr val="0033CC"/>
                </a:solidFill>
                <a:latin typeface="宋体" panose="02010600030101010101" pitchFamily="2" charset="-122"/>
              </a:rPr>
              <a:t>i</a:t>
            </a:r>
            <a:endParaRPr lang="zh-CN" altLang="en-US" sz="1800" b="0" baseline="-25000">
              <a:solidFill>
                <a:srgbClr val="0033CC"/>
              </a:solidFill>
              <a:latin typeface="宋体" panose="02010600030101010101" pitchFamily="2" charset="-122"/>
            </a:endParaRPr>
          </a:p>
        </p:txBody>
      </p:sp>
      <p:sp>
        <p:nvSpPr>
          <p:cNvPr id="79" name="文本框 78">
            <a:extLst>
              <a:ext uri="{FF2B5EF4-FFF2-40B4-BE49-F238E27FC236}">
                <a16:creationId xmlns:a16="http://schemas.microsoft.com/office/drawing/2014/main" id="{E2CA1E38-4DF9-82E7-4A5F-7858A5A8095F}"/>
              </a:ext>
            </a:extLst>
          </p:cNvPr>
          <p:cNvSpPr txBox="1">
            <a:spLocks noChangeArrowheads="1"/>
          </p:cNvSpPr>
          <p:nvPr/>
        </p:nvSpPr>
        <p:spPr bwMode="auto">
          <a:xfrm>
            <a:off x="6023293" y="3176002"/>
            <a:ext cx="1223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solidFill>
                  <a:srgbClr val="0033CC"/>
                </a:solidFill>
                <a:latin typeface="宋体" panose="02010600030101010101" pitchFamily="2" charset="-122"/>
              </a:rPr>
              <a:t>(A</a:t>
            </a:r>
            <a:r>
              <a:rPr lang="zh-CN" altLang="en-US" sz="1800" b="0">
                <a:solidFill>
                  <a:srgbClr val="0033CC"/>
                </a:solidFill>
                <a:latin typeface="宋体" panose="02010600030101010101" pitchFamily="2" charset="-122"/>
              </a:rPr>
              <a:t>⊕</a:t>
            </a:r>
            <a:r>
              <a:rPr lang="en-US" altLang="zh-CN" sz="1800" b="0">
                <a:solidFill>
                  <a:srgbClr val="0033CC"/>
                </a:solidFill>
                <a:latin typeface="宋体" panose="02010600030101010101" pitchFamily="2" charset="-122"/>
              </a:rPr>
              <a:t>B)C</a:t>
            </a:r>
            <a:r>
              <a:rPr lang="en-US" altLang="zh-CN" sz="1800" b="0" baseline="-25000">
                <a:solidFill>
                  <a:srgbClr val="0033CC"/>
                </a:solidFill>
                <a:latin typeface="宋体" panose="02010600030101010101" pitchFamily="2" charset="-122"/>
              </a:rPr>
              <a:t>i</a:t>
            </a:r>
            <a:endParaRPr lang="zh-CN" altLang="en-US" sz="1800" b="0" baseline="-25000">
              <a:solidFill>
                <a:srgbClr val="0033CC"/>
              </a:solidFill>
              <a:latin typeface="宋体" panose="02010600030101010101" pitchFamily="2" charset="-122"/>
            </a:endParaRPr>
          </a:p>
        </p:txBody>
      </p:sp>
      <p:sp>
        <p:nvSpPr>
          <p:cNvPr id="80" name="文本框 79">
            <a:extLst>
              <a:ext uri="{FF2B5EF4-FFF2-40B4-BE49-F238E27FC236}">
                <a16:creationId xmlns:a16="http://schemas.microsoft.com/office/drawing/2014/main" id="{FCDA281D-5553-BE09-1E46-041F8E878CAA}"/>
              </a:ext>
            </a:extLst>
          </p:cNvPr>
          <p:cNvSpPr txBox="1">
            <a:spLocks noChangeArrowheads="1"/>
          </p:cNvSpPr>
          <p:nvPr/>
        </p:nvSpPr>
        <p:spPr bwMode="auto">
          <a:xfrm>
            <a:off x="6082030" y="5239752"/>
            <a:ext cx="1223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solidFill>
                  <a:srgbClr val="0033CC"/>
                </a:solidFill>
                <a:latin typeface="宋体" panose="02010600030101010101" pitchFamily="2" charset="-122"/>
              </a:rPr>
              <a:t>AB</a:t>
            </a:r>
            <a:endParaRPr lang="zh-CN" altLang="en-US" sz="1800" b="0">
              <a:solidFill>
                <a:srgbClr val="0033CC"/>
              </a:solidFill>
              <a:latin typeface="Arial" panose="020B0604020202020204" pitchFamily="34" charset="0"/>
            </a:endParaRPr>
          </a:p>
        </p:txBody>
      </p:sp>
    </p:spTree>
    <p:extLst>
      <p:ext uri="{BB962C8B-B14F-4D97-AF65-F5344CB8AC3E}">
        <p14:creationId xmlns:p14="http://schemas.microsoft.com/office/powerpoint/2010/main" val="1843622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629E25-7423-4E75-6C73-F62CACF64E40}"/>
              </a:ext>
            </a:extLst>
          </p:cNvPr>
          <p:cNvSpPr>
            <a:spLocks noGrp="1"/>
          </p:cNvSpPr>
          <p:nvPr>
            <p:ph type="title"/>
          </p:nvPr>
        </p:nvSpPr>
        <p:spPr/>
        <p:txBody>
          <a:bodyPr>
            <a:normAutofit fontScale="90000"/>
          </a:bodyPr>
          <a:lstStyle/>
          <a:p>
            <a:r>
              <a:rPr lang="zh-CN" altLang="en-US" dirty="0"/>
              <a:t>串行进位加法器</a:t>
            </a:r>
            <a:endParaRPr kumimoji="1" lang="zh-CN" altLang="en-US" dirty="0"/>
          </a:p>
        </p:txBody>
      </p:sp>
      <p:sp>
        <p:nvSpPr>
          <p:cNvPr id="3" name="内容占位符 2">
            <a:extLst>
              <a:ext uri="{FF2B5EF4-FFF2-40B4-BE49-F238E27FC236}">
                <a16:creationId xmlns:a16="http://schemas.microsoft.com/office/drawing/2014/main" id="{735DC06D-1080-5917-FC8D-6E96AE1C7E60}"/>
              </a:ext>
            </a:extLst>
          </p:cNvPr>
          <p:cNvSpPr>
            <a:spLocks noGrp="1"/>
          </p:cNvSpPr>
          <p:nvPr>
            <p:ph idx="1"/>
          </p:nvPr>
        </p:nvSpPr>
        <p:spPr/>
        <p:txBody>
          <a:bodyPr/>
          <a:lstStyle/>
          <a:p>
            <a:r>
              <a:rPr lang="zh-CN" altLang="en-US" dirty="0"/>
              <a:t>用</a:t>
            </a:r>
            <a:r>
              <a:rPr lang="en-US" altLang="zh-CN" dirty="0"/>
              <a:t>1</a:t>
            </a:r>
            <a:r>
              <a:rPr lang="zh-CN" altLang="en-US" dirty="0"/>
              <a:t>位全加器构造</a:t>
            </a:r>
            <a:r>
              <a:rPr lang="en-US" altLang="zh-CN" dirty="0"/>
              <a:t>4</a:t>
            </a:r>
            <a:r>
              <a:rPr lang="zh-CN" altLang="en-US" dirty="0"/>
              <a:t>位加法器</a:t>
            </a:r>
            <a:endParaRPr lang="en-US" altLang="zh-CN" dirty="0"/>
          </a:p>
          <a:p>
            <a:pPr lvl="1"/>
            <a:r>
              <a:rPr lang="zh-CN" altLang="en-US" dirty="0"/>
              <a:t>优点：简单，易于扩展；缺点：速度慢</a:t>
            </a:r>
          </a:p>
          <a:p>
            <a:pPr lvl="1"/>
            <a:endParaRPr lang="zh-CN" altLang="en-US" sz="2800" dirty="0"/>
          </a:p>
          <a:p>
            <a:endParaRPr kumimoji="1" lang="zh-CN" altLang="en-US" dirty="0"/>
          </a:p>
        </p:txBody>
      </p:sp>
      <p:sp>
        <p:nvSpPr>
          <p:cNvPr id="4" name="页脚占位符 3">
            <a:extLst>
              <a:ext uri="{FF2B5EF4-FFF2-40B4-BE49-F238E27FC236}">
                <a16:creationId xmlns:a16="http://schemas.microsoft.com/office/drawing/2014/main" id="{1BD9F712-F27D-8079-368A-129995C0FAF2}"/>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7732D453-1455-A9E3-4E91-1E2586A7DEF7}"/>
              </a:ext>
            </a:extLst>
          </p:cNvPr>
          <p:cNvSpPr>
            <a:spLocks noGrp="1"/>
          </p:cNvSpPr>
          <p:nvPr>
            <p:ph type="sldNum" sz="quarter" idx="12"/>
          </p:nvPr>
        </p:nvSpPr>
        <p:spPr/>
        <p:txBody>
          <a:bodyPr/>
          <a:lstStyle/>
          <a:p>
            <a:fld id="{9E260BC5-5BF3-8746-862B-DC45E9CAA88B}" type="slidenum">
              <a:rPr lang="en-US" smtClean="0"/>
              <a:pPr/>
              <a:t>13</a:t>
            </a:fld>
            <a:r>
              <a:rPr lang="en-US" altLang="zh-CN" dirty="0"/>
              <a:t>/25</a:t>
            </a:r>
            <a:endParaRPr lang="en-US" dirty="0"/>
          </a:p>
        </p:txBody>
      </p:sp>
      <p:sp>
        <p:nvSpPr>
          <p:cNvPr id="6" name="Line 4">
            <a:extLst>
              <a:ext uri="{FF2B5EF4-FFF2-40B4-BE49-F238E27FC236}">
                <a16:creationId xmlns:a16="http://schemas.microsoft.com/office/drawing/2014/main" id="{731B3106-660E-668C-56F4-24C8365CB3BD}"/>
              </a:ext>
            </a:extLst>
          </p:cNvPr>
          <p:cNvSpPr>
            <a:spLocks noChangeShapeType="1"/>
          </p:cNvSpPr>
          <p:nvPr/>
        </p:nvSpPr>
        <p:spPr bwMode="auto">
          <a:xfrm>
            <a:off x="1902778" y="4236403"/>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5">
            <a:extLst>
              <a:ext uri="{FF2B5EF4-FFF2-40B4-BE49-F238E27FC236}">
                <a16:creationId xmlns:a16="http://schemas.microsoft.com/office/drawing/2014/main" id="{371246A6-138F-DFD9-BA4C-CAC036DE41A9}"/>
              </a:ext>
            </a:extLst>
          </p:cNvPr>
          <p:cNvSpPr>
            <a:spLocks noChangeShapeType="1"/>
          </p:cNvSpPr>
          <p:nvPr/>
        </p:nvSpPr>
        <p:spPr bwMode="auto">
          <a:xfrm>
            <a:off x="2480628" y="4236403"/>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6">
            <a:extLst>
              <a:ext uri="{FF2B5EF4-FFF2-40B4-BE49-F238E27FC236}">
                <a16:creationId xmlns:a16="http://schemas.microsoft.com/office/drawing/2014/main" id="{7A3D615C-96C7-6E19-19A3-B6DC960959CC}"/>
              </a:ext>
            </a:extLst>
          </p:cNvPr>
          <p:cNvSpPr>
            <a:spLocks noChangeShapeType="1"/>
          </p:cNvSpPr>
          <p:nvPr/>
        </p:nvSpPr>
        <p:spPr bwMode="auto">
          <a:xfrm>
            <a:off x="3798253" y="4236403"/>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7">
            <a:extLst>
              <a:ext uri="{FF2B5EF4-FFF2-40B4-BE49-F238E27FC236}">
                <a16:creationId xmlns:a16="http://schemas.microsoft.com/office/drawing/2014/main" id="{3F428BE6-4396-777A-E91D-363859CB8138}"/>
              </a:ext>
            </a:extLst>
          </p:cNvPr>
          <p:cNvSpPr>
            <a:spLocks noChangeShapeType="1"/>
          </p:cNvSpPr>
          <p:nvPr/>
        </p:nvSpPr>
        <p:spPr bwMode="auto">
          <a:xfrm>
            <a:off x="4353878" y="4236403"/>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8">
            <a:extLst>
              <a:ext uri="{FF2B5EF4-FFF2-40B4-BE49-F238E27FC236}">
                <a16:creationId xmlns:a16="http://schemas.microsoft.com/office/drawing/2014/main" id="{FFBF5502-5AD0-35F6-05BD-7B70734DFA99}"/>
              </a:ext>
            </a:extLst>
          </p:cNvPr>
          <p:cNvSpPr>
            <a:spLocks noChangeShapeType="1"/>
          </p:cNvSpPr>
          <p:nvPr/>
        </p:nvSpPr>
        <p:spPr bwMode="auto">
          <a:xfrm>
            <a:off x="4069715" y="2513965"/>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9">
            <a:extLst>
              <a:ext uri="{FF2B5EF4-FFF2-40B4-BE49-F238E27FC236}">
                <a16:creationId xmlns:a16="http://schemas.microsoft.com/office/drawing/2014/main" id="{FD27D325-2F82-73F7-D085-A30BE2000848}"/>
              </a:ext>
            </a:extLst>
          </p:cNvPr>
          <p:cNvSpPr>
            <a:spLocks noChangeShapeType="1"/>
          </p:cNvSpPr>
          <p:nvPr/>
        </p:nvSpPr>
        <p:spPr bwMode="auto">
          <a:xfrm>
            <a:off x="2234565" y="2513965"/>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0">
            <a:extLst>
              <a:ext uri="{FF2B5EF4-FFF2-40B4-BE49-F238E27FC236}">
                <a16:creationId xmlns:a16="http://schemas.microsoft.com/office/drawing/2014/main" id="{AE2358B7-EF38-EECC-05FB-566FED75181C}"/>
              </a:ext>
            </a:extLst>
          </p:cNvPr>
          <p:cNvSpPr>
            <a:spLocks noChangeShapeType="1"/>
          </p:cNvSpPr>
          <p:nvPr/>
        </p:nvSpPr>
        <p:spPr bwMode="auto">
          <a:xfrm>
            <a:off x="5676265" y="4252278"/>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1">
            <a:extLst>
              <a:ext uri="{FF2B5EF4-FFF2-40B4-BE49-F238E27FC236}">
                <a16:creationId xmlns:a16="http://schemas.microsoft.com/office/drawing/2014/main" id="{A4F69C84-4A50-CD78-DC5C-02144C237127}"/>
              </a:ext>
            </a:extLst>
          </p:cNvPr>
          <p:cNvSpPr>
            <a:spLocks noChangeShapeType="1"/>
          </p:cNvSpPr>
          <p:nvPr/>
        </p:nvSpPr>
        <p:spPr bwMode="auto">
          <a:xfrm>
            <a:off x="6230303" y="4252278"/>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2">
            <a:extLst>
              <a:ext uri="{FF2B5EF4-FFF2-40B4-BE49-F238E27FC236}">
                <a16:creationId xmlns:a16="http://schemas.microsoft.com/office/drawing/2014/main" id="{6C16B009-9210-3670-4D22-CB3FFE3EE353}"/>
              </a:ext>
            </a:extLst>
          </p:cNvPr>
          <p:cNvSpPr>
            <a:spLocks noChangeShapeType="1"/>
          </p:cNvSpPr>
          <p:nvPr/>
        </p:nvSpPr>
        <p:spPr bwMode="auto">
          <a:xfrm>
            <a:off x="7549515" y="4252278"/>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3">
            <a:extLst>
              <a:ext uri="{FF2B5EF4-FFF2-40B4-BE49-F238E27FC236}">
                <a16:creationId xmlns:a16="http://schemas.microsoft.com/office/drawing/2014/main" id="{10EB9AEE-C9C2-5273-4A22-1D678ABB66D9}"/>
              </a:ext>
            </a:extLst>
          </p:cNvPr>
          <p:cNvSpPr>
            <a:spLocks noChangeShapeType="1"/>
          </p:cNvSpPr>
          <p:nvPr/>
        </p:nvSpPr>
        <p:spPr bwMode="auto">
          <a:xfrm>
            <a:off x="8103553" y="4252278"/>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4">
            <a:extLst>
              <a:ext uri="{FF2B5EF4-FFF2-40B4-BE49-F238E27FC236}">
                <a16:creationId xmlns:a16="http://schemas.microsoft.com/office/drawing/2014/main" id="{0CFE6669-5B6D-058F-9B11-13CEFA2D82AD}"/>
              </a:ext>
            </a:extLst>
          </p:cNvPr>
          <p:cNvSpPr>
            <a:spLocks noChangeShapeType="1"/>
          </p:cNvSpPr>
          <p:nvPr/>
        </p:nvSpPr>
        <p:spPr bwMode="auto">
          <a:xfrm>
            <a:off x="7819390" y="2529840"/>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5">
            <a:extLst>
              <a:ext uri="{FF2B5EF4-FFF2-40B4-BE49-F238E27FC236}">
                <a16:creationId xmlns:a16="http://schemas.microsoft.com/office/drawing/2014/main" id="{C7B2E8EF-E634-93E9-AD64-86D0628996EA}"/>
              </a:ext>
            </a:extLst>
          </p:cNvPr>
          <p:cNvSpPr>
            <a:spLocks noChangeShapeType="1"/>
          </p:cNvSpPr>
          <p:nvPr/>
        </p:nvSpPr>
        <p:spPr bwMode="auto">
          <a:xfrm>
            <a:off x="5984240" y="2529840"/>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16">
            <a:extLst>
              <a:ext uri="{FF2B5EF4-FFF2-40B4-BE49-F238E27FC236}">
                <a16:creationId xmlns:a16="http://schemas.microsoft.com/office/drawing/2014/main" id="{1EEE0F07-CADF-26AA-2F4C-FA01D1A45F70}"/>
              </a:ext>
            </a:extLst>
          </p:cNvPr>
          <p:cNvSpPr txBox="1">
            <a:spLocks noChangeArrowheads="1"/>
          </p:cNvSpPr>
          <p:nvPr/>
        </p:nvSpPr>
        <p:spPr bwMode="auto">
          <a:xfrm>
            <a:off x="1636078" y="4676140"/>
            <a:ext cx="56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A</a:t>
            </a:r>
            <a:r>
              <a:rPr kumimoji="1" lang="en-US" altLang="zh-CN" baseline="-25000">
                <a:ea typeface="楷体_GB2312" pitchFamily="49" charset="-122"/>
              </a:rPr>
              <a:t>3</a:t>
            </a:r>
            <a:endParaRPr kumimoji="1" lang="en-US" altLang="zh-CN">
              <a:ea typeface="楷体_GB2312" pitchFamily="49" charset="-122"/>
            </a:endParaRPr>
          </a:p>
        </p:txBody>
      </p:sp>
      <p:sp>
        <p:nvSpPr>
          <p:cNvPr id="19" name="Text Box 17">
            <a:extLst>
              <a:ext uri="{FF2B5EF4-FFF2-40B4-BE49-F238E27FC236}">
                <a16:creationId xmlns:a16="http://schemas.microsoft.com/office/drawing/2014/main" id="{ACA170EB-C32E-E413-991F-E15D39D5450F}"/>
              </a:ext>
            </a:extLst>
          </p:cNvPr>
          <p:cNvSpPr txBox="1">
            <a:spLocks noChangeArrowheads="1"/>
          </p:cNvSpPr>
          <p:nvPr/>
        </p:nvSpPr>
        <p:spPr bwMode="auto">
          <a:xfrm>
            <a:off x="2236153" y="4676140"/>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B</a:t>
            </a:r>
            <a:r>
              <a:rPr kumimoji="1" lang="en-US" altLang="zh-CN" baseline="-25000">
                <a:ea typeface="楷体_GB2312" pitchFamily="49" charset="-122"/>
              </a:rPr>
              <a:t>3</a:t>
            </a:r>
            <a:endParaRPr kumimoji="1" lang="en-US" altLang="zh-CN">
              <a:ea typeface="楷体_GB2312" pitchFamily="49" charset="-122"/>
            </a:endParaRPr>
          </a:p>
        </p:txBody>
      </p:sp>
      <p:sp>
        <p:nvSpPr>
          <p:cNvPr id="20" name="Text Box 18">
            <a:extLst>
              <a:ext uri="{FF2B5EF4-FFF2-40B4-BE49-F238E27FC236}">
                <a16:creationId xmlns:a16="http://schemas.microsoft.com/office/drawing/2014/main" id="{EC49C7BA-0780-4593-5B32-8C5A1B2665E3}"/>
              </a:ext>
            </a:extLst>
          </p:cNvPr>
          <p:cNvSpPr txBox="1">
            <a:spLocks noChangeArrowheads="1"/>
          </p:cNvSpPr>
          <p:nvPr/>
        </p:nvSpPr>
        <p:spPr bwMode="auto">
          <a:xfrm>
            <a:off x="3544253" y="4676140"/>
            <a:ext cx="56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A</a:t>
            </a:r>
            <a:r>
              <a:rPr kumimoji="1" lang="en-US" altLang="zh-CN" baseline="-25000">
                <a:ea typeface="楷体_GB2312" pitchFamily="49" charset="-122"/>
              </a:rPr>
              <a:t>2</a:t>
            </a:r>
            <a:endParaRPr kumimoji="1" lang="en-US" altLang="zh-CN">
              <a:ea typeface="楷体_GB2312" pitchFamily="49" charset="-122"/>
            </a:endParaRPr>
          </a:p>
        </p:txBody>
      </p:sp>
      <p:sp>
        <p:nvSpPr>
          <p:cNvPr id="21" name="Text Box 19">
            <a:extLst>
              <a:ext uri="{FF2B5EF4-FFF2-40B4-BE49-F238E27FC236}">
                <a16:creationId xmlns:a16="http://schemas.microsoft.com/office/drawing/2014/main" id="{573D4887-CEDC-95AE-EB56-B2AEDC956374}"/>
              </a:ext>
            </a:extLst>
          </p:cNvPr>
          <p:cNvSpPr txBox="1">
            <a:spLocks noChangeArrowheads="1"/>
          </p:cNvSpPr>
          <p:nvPr/>
        </p:nvSpPr>
        <p:spPr bwMode="auto">
          <a:xfrm>
            <a:off x="4141153" y="4676140"/>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B</a:t>
            </a:r>
            <a:r>
              <a:rPr kumimoji="1" lang="en-US" altLang="zh-CN" baseline="-25000">
                <a:ea typeface="楷体_GB2312" pitchFamily="49" charset="-122"/>
              </a:rPr>
              <a:t>2</a:t>
            </a:r>
            <a:endParaRPr kumimoji="1" lang="en-US" altLang="zh-CN">
              <a:ea typeface="楷体_GB2312" pitchFamily="49" charset="-122"/>
            </a:endParaRPr>
          </a:p>
        </p:txBody>
      </p:sp>
      <p:sp>
        <p:nvSpPr>
          <p:cNvPr id="22" name="Text Box 20">
            <a:extLst>
              <a:ext uri="{FF2B5EF4-FFF2-40B4-BE49-F238E27FC236}">
                <a16:creationId xmlns:a16="http://schemas.microsoft.com/office/drawing/2014/main" id="{4D5DE108-A235-7E11-0B70-A103C2714F97}"/>
              </a:ext>
            </a:extLst>
          </p:cNvPr>
          <p:cNvSpPr txBox="1">
            <a:spLocks noChangeArrowheads="1"/>
          </p:cNvSpPr>
          <p:nvPr/>
        </p:nvSpPr>
        <p:spPr bwMode="auto">
          <a:xfrm>
            <a:off x="5417503" y="4676140"/>
            <a:ext cx="56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A</a:t>
            </a:r>
            <a:r>
              <a:rPr kumimoji="1" lang="en-US" altLang="zh-CN" baseline="-25000">
                <a:ea typeface="楷体_GB2312" pitchFamily="49" charset="-122"/>
              </a:rPr>
              <a:t>1</a:t>
            </a:r>
            <a:endParaRPr kumimoji="1" lang="en-US" altLang="zh-CN">
              <a:ea typeface="楷体_GB2312" pitchFamily="49" charset="-122"/>
            </a:endParaRPr>
          </a:p>
        </p:txBody>
      </p:sp>
      <p:sp>
        <p:nvSpPr>
          <p:cNvPr id="23" name="Text Box 21">
            <a:extLst>
              <a:ext uri="{FF2B5EF4-FFF2-40B4-BE49-F238E27FC236}">
                <a16:creationId xmlns:a16="http://schemas.microsoft.com/office/drawing/2014/main" id="{4510AEAF-E3C0-2521-DC60-8F881FAD678A}"/>
              </a:ext>
            </a:extLst>
          </p:cNvPr>
          <p:cNvSpPr txBox="1">
            <a:spLocks noChangeArrowheads="1"/>
          </p:cNvSpPr>
          <p:nvPr/>
        </p:nvSpPr>
        <p:spPr bwMode="auto">
          <a:xfrm>
            <a:off x="6028690" y="467614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B</a:t>
            </a:r>
            <a:r>
              <a:rPr kumimoji="1" lang="en-US" altLang="zh-CN" baseline="-25000">
                <a:ea typeface="楷体_GB2312" pitchFamily="49" charset="-122"/>
              </a:rPr>
              <a:t>1</a:t>
            </a:r>
            <a:endParaRPr kumimoji="1" lang="en-US" altLang="zh-CN">
              <a:ea typeface="楷体_GB2312" pitchFamily="49" charset="-122"/>
            </a:endParaRPr>
          </a:p>
        </p:txBody>
      </p:sp>
      <p:sp>
        <p:nvSpPr>
          <p:cNvPr id="24" name="Text Box 22">
            <a:extLst>
              <a:ext uri="{FF2B5EF4-FFF2-40B4-BE49-F238E27FC236}">
                <a16:creationId xmlns:a16="http://schemas.microsoft.com/office/drawing/2014/main" id="{32872042-C918-EF01-54CA-250A4DFCC0BC}"/>
              </a:ext>
            </a:extLst>
          </p:cNvPr>
          <p:cNvSpPr txBox="1">
            <a:spLocks noChangeArrowheads="1"/>
          </p:cNvSpPr>
          <p:nvPr/>
        </p:nvSpPr>
        <p:spPr bwMode="auto">
          <a:xfrm>
            <a:off x="7289165" y="4676140"/>
            <a:ext cx="56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A</a:t>
            </a:r>
            <a:r>
              <a:rPr kumimoji="1" lang="en-US" altLang="zh-CN" baseline="-25000">
                <a:ea typeface="楷体_GB2312" pitchFamily="49" charset="-122"/>
              </a:rPr>
              <a:t>0</a:t>
            </a:r>
            <a:endParaRPr kumimoji="1" lang="en-US" altLang="zh-CN">
              <a:ea typeface="楷体_GB2312" pitchFamily="49" charset="-122"/>
            </a:endParaRPr>
          </a:p>
        </p:txBody>
      </p:sp>
      <p:sp>
        <p:nvSpPr>
          <p:cNvPr id="25" name="Text Box 23">
            <a:extLst>
              <a:ext uri="{FF2B5EF4-FFF2-40B4-BE49-F238E27FC236}">
                <a16:creationId xmlns:a16="http://schemas.microsoft.com/office/drawing/2014/main" id="{CF653700-B317-CF4A-9367-EC1F61670425}"/>
              </a:ext>
            </a:extLst>
          </p:cNvPr>
          <p:cNvSpPr txBox="1">
            <a:spLocks noChangeArrowheads="1"/>
          </p:cNvSpPr>
          <p:nvPr/>
        </p:nvSpPr>
        <p:spPr bwMode="auto">
          <a:xfrm>
            <a:off x="7900353" y="4676140"/>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B</a:t>
            </a:r>
            <a:r>
              <a:rPr kumimoji="1" lang="en-US" altLang="zh-CN" baseline="-25000">
                <a:ea typeface="楷体_GB2312" pitchFamily="49" charset="-122"/>
              </a:rPr>
              <a:t>0</a:t>
            </a:r>
            <a:endParaRPr kumimoji="1" lang="en-US" altLang="zh-CN">
              <a:ea typeface="楷体_GB2312" pitchFamily="49" charset="-122"/>
            </a:endParaRPr>
          </a:p>
        </p:txBody>
      </p:sp>
      <p:sp>
        <p:nvSpPr>
          <p:cNvPr id="26" name="Text Box 24">
            <a:extLst>
              <a:ext uri="{FF2B5EF4-FFF2-40B4-BE49-F238E27FC236}">
                <a16:creationId xmlns:a16="http://schemas.microsoft.com/office/drawing/2014/main" id="{14753A6A-D8FE-0DC6-4222-7F57AB17371C}"/>
              </a:ext>
            </a:extLst>
          </p:cNvPr>
          <p:cNvSpPr txBox="1">
            <a:spLocks noChangeArrowheads="1"/>
          </p:cNvSpPr>
          <p:nvPr/>
        </p:nvSpPr>
        <p:spPr bwMode="auto">
          <a:xfrm>
            <a:off x="2039303" y="1996440"/>
            <a:ext cx="5032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S</a:t>
            </a:r>
            <a:r>
              <a:rPr kumimoji="1" lang="en-US" altLang="zh-CN" baseline="-25000">
                <a:ea typeface="楷体_GB2312" pitchFamily="49" charset="-122"/>
              </a:rPr>
              <a:t>3</a:t>
            </a:r>
            <a:endParaRPr kumimoji="1" lang="en-US" altLang="zh-CN">
              <a:ea typeface="楷体_GB2312" pitchFamily="49" charset="-122"/>
            </a:endParaRPr>
          </a:p>
        </p:txBody>
      </p:sp>
      <p:sp>
        <p:nvSpPr>
          <p:cNvPr id="27" name="Text Box 25">
            <a:extLst>
              <a:ext uri="{FF2B5EF4-FFF2-40B4-BE49-F238E27FC236}">
                <a16:creationId xmlns:a16="http://schemas.microsoft.com/office/drawing/2014/main" id="{D57F33D0-791C-6008-4EF1-A0F951181F07}"/>
              </a:ext>
            </a:extLst>
          </p:cNvPr>
          <p:cNvSpPr txBox="1">
            <a:spLocks noChangeArrowheads="1"/>
          </p:cNvSpPr>
          <p:nvPr/>
        </p:nvSpPr>
        <p:spPr bwMode="auto">
          <a:xfrm>
            <a:off x="3869690" y="1996440"/>
            <a:ext cx="503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S</a:t>
            </a:r>
            <a:r>
              <a:rPr kumimoji="1" lang="en-US" altLang="zh-CN" baseline="-25000">
                <a:ea typeface="楷体_GB2312" pitchFamily="49" charset="-122"/>
              </a:rPr>
              <a:t>2</a:t>
            </a:r>
            <a:endParaRPr kumimoji="1" lang="en-US" altLang="zh-CN">
              <a:ea typeface="楷体_GB2312" pitchFamily="49" charset="-122"/>
            </a:endParaRPr>
          </a:p>
        </p:txBody>
      </p:sp>
      <p:sp>
        <p:nvSpPr>
          <p:cNvPr id="28" name="Text Box 26">
            <a:extLst>
              <a:ext uri="{FF2B5EF4-FFF2-40B4-BE49-F238E27FC236}">
                <a16:creationId xmlns:a16="http://schemas.microsoft.com/office/drawing/2014/main" id="{7E53D35E-E836-DA9B-92BE-0D97873D6094}"/>
              </a:ext>
            </a:extLst>
          </p:cNvPr>
          <p:cNvSpPr txBox="1">
            <a:spLocks noChangeArrowheads="1"/>
          </p:cNvSpPr>
          <p:nvPr/>
        </p:nvSpPr>
        <p:spPr bwMode="auto">
          <a:xfrm>
            <a:off x="5777865" y="1996440"/>
            <a:ext cx="503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S</a:t>
            </a:r>
            <a:r>
              <a:rPr kumimoji="1" lang="en-US" altLang="zh-CN" baseline="-25000">
                <a:ea typeface="楷体_GB2312" pitchFamily="49" charset="-122"/>
              </a:rPr>
              <a:t>1</a:t>
            </a:r>
            <a:endParaRPr kumimoji="1" lang="en-US" altLang="zh-CN">
              <a:ea typeface="楷体_GB2312" pitchFamily="49" charset="-122"/>
            </a:endParaRPr>
          </a:p>
        </p:txBody>
      </p:sp>
      <p:sp>
        <p:nvSpPr>
          <p:cNvPr id="29" name="Text Box 27">
            <a:extLst>
              <a:ext uri="{FF2B5EF4-FFF2-40B4-BE49-F238E27FC236}">
                <a16:creationId xmlns:a16="http://schemas.microsoft.com/office/drawing/2014/main" id="{A2C74587-238E-0D7C-78F2-1C34B1DE5EA1}"/>
              </a:ext>
            </a:extLst>
          </p:cNvPr>
          <p:cNvSpPr txBox="1">
            <a:spLocks noChangeArrowheads="1"/>
          </p:cNvSpPr>
          <p:nvPr/>
        </p:nvSpPr>
        <p:spPr bwMode="auto">
          <a:xfrm>
            <a:off x="7614603" y="1996440"/>
            <a:ext cx="5032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S</a:t>
            </a:r>
            <a:r>
              <a:rPr kumimoji="1" lang="en-US" altLang="zh-CN" baseline="-25000">
                <a:ea typeface="楷体_GB2312" pitchFamily="49" charset="-122"/>
              </a:rPr>
              <a:t>0</a:t>
            </a:r>
            <a:endParaRPr kumimoji="1" lang="en-US" altLang="zh-CN">
              <a:ea typeface="楷体_GB2312" pitchFamily="49" charset="-122"/>
            </a:endParaRPr>
          </a:p>
        </p:txBody>
      </p:sp>
      <p:sp>
        <p:nvSpPr>
          <p:cNvPr id="30" name="Text Box 28">
            <a:extLst>
              <a:ext uri="{FF2B5EF4-FFF2-40B4-BE49-F238E27FC236}">
                <a16:creationId xmlns:a16="http://schemas.microsoft.com/office/drawing/2014/main" id="{02676A8E-7809-6F55-CDB4-6D1191AF52FF}"/>
              </a:ext>
            </a:extLst>
          </p:cNvPr>
          <p:cNvSpPr txBox="1">
            <a:spLocks noChangeArrowheads="1"/>
          </p:cNvSpPr>
          <p:nvPr/>
        </p:nvSpPr>
        <p:spPr bwMode="auto">
          <a:xfrm>
            <a:off x="2983865" y="3158490"/>
            <a:ext cx="3222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400" baseline="-25000">
                <a:ea typeface="楷体_GB2312" pitchFamily="49" charset="-122"/>
              </a:rPr>
              <a:t>2</a:t>
            </a:r>
            <a:endParaRPr kumimoji="1" lang="en-US" altLang="zh-CN" sz="2400">
              <a:ea typeface="楷体_GB2312" pitchFamily="49" charset="-122"/>
            </a:endParaRPr>
          </a:p>
        </p:txBody>
      </p:sp>
      <p:sp>
        <p:nvSpPr>
          <p:cNvPr id="31" name="Rectangle 29">
            <a:extLst>
              <a:ext uri="{FF2B5EF4-FFF2-40B4-BE49-F238E27FC236}">
                <a16:creationId xmlns:a16="http://schemas.microsoft.com/office/drawing/2014/main" id="{8146A429-6BE9-5200-2B22-459B888D0085}"/>
              </a:ext>
            </a:extLst>
          </p:cNvPr>
          <p:cNvSpPr>
            <a:spLocks noChangeArrowheads="1"/>
          </p:cNvSpPr>
          <p:nvPr/>
        </p:nvSpPr>
        <p:spPr bwMode="auto">
          <a:xfrm>
            <a:off x="1548765" y="3004503"/>
            <a:ext cx="1327150" cy="12350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2" name="Line 30">
            <a:extLst>
              <a:ext uri="{FF2B5EF4-FFF2-40B4-BE49-F238E27FC236}">
                <a16:creationId xmlns:a16="http://schemas.microsoft.com/office/drawing/2014/main" id="{21DD319B-2FDD-BE3C-02FC-9E1D3C7E5567}"/>
              </a:ext>
            </a:extLst>
          </p:cNvPr>
          <p:cNvSpPr>
            <a:spLocks noChangeShapeType="1"/>
          </p:cNvSpPr>
          <p:nvPr/>
        </p:nvSpPr>
        <p:spPr bwMode="auto">
          <a:xfrm>
            <a:off x="2887028" y="3625215"/>
            <a:ext cx="5286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Text Box 31">
            <a:extLst>
              <a:ext uri="{FF2B5EF4-FFF2-40B4-BE49-F238E27FC236}">
                <a16:creationId xmlns:a16="http://schemas.microsoft.com/office/drawing/2014/main" id="{4C731209-E19A-8565-C41D-8824133FE831}"/>
              </a:ext>
            </a:extLst>
          </p:cNvPr>
          <p:cNvSpPr txBox="1">
            <a:spLocks noChangeArrowheads="1"/>
          </p:cNvSpPr>
          <p:nvPr/>
        </p:nvSpPr>
        <p:spPr bwMode="auto">
          <a:xfrm>
            <a:off x="1709103" y="379666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34" name="Text Box 32">
            <a:extLst>
              <a:ext uri="{FF2B5EF4-FFF2-40B4-BE49-F238E27FC236}">
                <a16:creationId xmlns:a16="http://schemas.microsoft.com/office/drawing/2014/main" id="{2071E89A-F347-6D99-AB95-29E0BB51815D}"/>
              </a:ext>
            </a:extLst>
          </p:cNvPr>
          <p:cNvSpPr txBox="1">
            <a:spLocks noChangeArrowheads="1"/>
          </p:cNvSpPr>
          <p:nvPr/>
        </p:nvSpPr>
        <p:spPr bwMode="auto">
          <a:xfrm>
            <a:off x="2264728" y="379666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35" name="Text Box 33">
            <a:extLst>
              <a:ext uri="{FF2B5EF4-FFF2-40B4-BE49-F238E27FC236}">
                <a16:creationId xmlns:a16="http://schemas.microsoft.com/office/drawing/2014/main" id="{7FF2FE6F-3DFE-90D2-B880-E7F1C513A723}"/>
              </a:ext>
            </a:extLst>
          </p:cNvPr>
          <p:cNvSpPr txBox="1">
            <a:spLocks noChangeArrowheads="1"/>
          </p:cNvSpPr>
          <p:nvPr/>
        </p:nvSpPr>
        <p:spPr bwMode="auto">
          <a:xfrm>
            <a:off x="2012315" y="298704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36" name="Text Box 34">
            <a:extLst>
              <a:ext uri="{FF2B5EF4-FFF2-40B4-BE49-F238E27FC236}">
                <a16:creationId xmlns:a16="http://schemas.microsoft.com/office/drawing/2014/main" id="{16C95BFD-27F6-D6E6-699B-6AE4EE5D72C4}"/>
              </a:ext>
            </a:extLst>
          </p:cNvPr>
          <p:cNvSpPr txBox="1">
            <a:spLocks noChangeArrowheads="1"/>
          </p:cNvSpPr>
          <p:nvPr/>
        </p:nvSpPr>
        <p:spPr bwMode="auto">
          <a:xfrm>
            <a:off x="2356803" y="34410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Ci</a:t>
            </a:r>
          </a:p>
        </p:txBody>
      </p:sp>
      <p:sp>
        <p:nvSpPr>
          <p:cNvPr id="37" name="Text Box 35">
            <a:extLst>
              <a:ext uri="{FF2B5EF4-FFF2-40B4-BE49-F238E27FC236}">
                <a16:creationId xmlns:a16="http://schemas.microsoft.com/office/drawing/2014/main" id="{42C9845F-81E0-6239-D84F-9D190C5FA3BA}"/>
              </a:ext>
            </a:extLst>
          </p:cNvPr>
          <p:cNvSpPr txBox="1">
            <a:spLocks noChangeArrowheads="1"/>
          </p:cNvSpPr>
          <p:nvPr/>
        </p:nvSpPr>
        <p:spPr bwMode="auto">
          <a:xfrm>
            <a:off x="2461578" y="2967990"/>
            <a:ext cx="35718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sp>
        <p:nvSpPr>
          <p:cNvPr id="38" name="Text Box 36">
            <a:extLst>
              <a:ext uri="{FF2B5EF4-FFF2-40B4-BE49-F238E27FC236}">
                <a16:creationId xmlns:a16="http://schemas.microsoft.com/office/drawing/2014/main" id="{8C0696C6-3DA6-5F96-DDBE-A9B84D2EE509}"/>
              </a:ext>
            </a:extLst>
          </p:cNvPr>
          <p:cNvSpPr txBox="1">
            <a:spLocks noChangeArrowheads="1"/>
          </p:cNvSpPr>
          <p:nvPr/>
        </p:nvSpPr>
        <p:spPr bwMode="auto">
          <a:xfrm>
            <a:off x="1532890" y="3441065"/>
            <a:ext cx="60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000">
                <a:ea typeface="楷体_GB2312" pitchFamily="49" charset="-122"/>
              </a:rPr>
              <a:t>O</a:t>
            </a:r>
          </a:p>
        </p:txBody>
      </p:sp>
      <p:sp>
        <p:nvSpPr>
          <p:cNvPr id="39" name="Text Box 37">
            <a:extLst>
              <a:ext uri="{FF2B5EF4-FFF2-40B4-BE49-F238E27FC236}">
                <a16:creationId xmlns:a16="http://schemas.microsoft.com/office/drawing/2014/main" id="{BACBEE53-3A61-438B-2D87-52D685B2A42B}"/>
              </a:ext>
            </a:extLst>
          </p:cNvPr>
          <p:cNvSpPr txBox="1">
            <a:spLocks noChangeArrowheads="1"/>
          </p:cNvSpPr>
          <p:nvPr/>
        </p:nvSpPr>
        <p:spPr bwMode="auto">
          <a:xfrm>
            <a:off x="4857115" y="3158490"/>
            <a:ext cx="3222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400" baseline="-25000">
                <a:ea typeface="楷体_GB2312" pitchFamily="49" charset="-122"/>
              </a:rPr>
              <a:t>1</a:t>
            </a:r>
            <a:endParaRPr kumimoji="1" lang="en-US" altLang="zh-CN" sz="2400">
              <a:ea typeface="楷体_GB2312" pitchFamily="49" charset="-122"/>
            </a:endParaRPr>
          </a:p>
        </p:txBody>
      </p:sp>
      <p:sp>
        <p:nvSpPr>
          <p:cNvPr id="40" name="Rectangle 38">
            <a:extLst>
              <a:ext uri="{FF2B5EF4-FFF2-40B4-BE49-F238E27FC236}">
                <a16:creationId xmlns:a16="http://schemas.microsoft.com/office/drawing/2014/main" id="{F8859BDA-CAC0-88D4-E990-2AFA2801DC24}"/>
              </a:ext>
            </a:extLst>
          </p:cNvPr>
          <p:cNvSpPr>
            <a:spLocks noChangeArrowheads="1"/>
          </p:cNvSpPr>
          <p:nvPr/>
        </p:nvSpPr>
        <p:spPr bwMode="auto">
          <a:xfrm>
            <a:off x="3422015" y="3004503"/>
            <a:ext cx="1327150" cy="12350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1" name="Line 39">
            <a:extLst>
              <a:ext uri="{FF2B5EF4-FFF2-40B4-BE49-F238E27FC236}">
                <a16:creationId xmlns:a16="http://schemas.microsoft.com/office/drawing/2014/main" id="{805C9101-1B8D-B568-2B4E-71BBFD121804}"/>
              </a:ext>
            </a:extLst>
          </p:cNvPr>
          <p:cNvSpPr>
            <a:spLocks noChangeShapeType="1"/>
          </p:cNvSpPr>
          <p:nvPr/>
        </p:nvSpPr>
        <p:spPr bwMode="auto">
          <a:xfrm>
            <a:off x="4760278" y="3625215"/>
            <a:ext cx="5286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Text Box 40">
            <a:extLst>
              <a:ext uri="{FF2B5EF4-FFF2-40B4-BE49-F238E27FC236}">
                <a16:creationId xmlns:a16="http://schemas.microsoft.com/office/drawing/2014/main" id="{EBFDD933-5997-F54C-6CD0-6FD75D2E4679}"/>
              </a:ext>
            </a:extLst>
          </p:cNvPr>
          <p:cNvSpPr txBox="1">
            <a:spLocks noChangeArrowheads="1"/>
          </p:cNvSpPr>
          <p:nvPr/>
        </p:nvSpPr>
        <p:spPr bwMode="auto">
          <a:xfrm>
            <a:off x="3582353" y="379666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43" name="Text Box 41">
            <a:extLst>
              <a:ext uri="{FF2B5EF4-FFF2-40B4-BE49-F238E27FC236}">
                <a16:creationId xmlns:a16="http://schemas.microsoft.com/office/drawing/2014/main" id="{26F1A207-E7FC-E724-CC45-40D6D5DEC30A}"/>
              </a:ext>
            </a:extLst>
          </p:cNvPr>
          <p:cNvSpPr txBox="1">
            <a:spLocks noChangeArrowheads="1"/>
          </p:cNvSpPr>
          <p:nvPr/>
        </p:nvSpPr>
        <p:spPr bwMode="auto">
          <a:xfrm>
            <a:off x="4137978" y="379666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44" name="Text Box 42">
            <a:extLst>
              <a:ext uri="{FF2B5EF4-FFF2-40B4-BE49-F238E27FC236}">
                <a16:creationId xmlns:a16="http://schemas.microsoft.com/office/drawing/2014/main" id="{20ECD754-09AE-7054-5D00-A3B11D4C6B68}"/>
              </a:ext>
            </a:extLst>
          </p:cNvPr>
          <p:cNvSpPr txBox="1">
            <a:spLocks noChangeArrowheads="1"/>
          </p:cNvSpPr>
          <p:nvPr/>
        </p:nvSpPr>
        <p:spPr bwMode="auto">
          <a:xfrm>
            <a:off x="3885565" y="298704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45" name="Text Box 43">
            <a:extLst>
              <a:ext uri="{FF2B5EF4-FFF2-40B4-BE49-F238E27FC236}">
                <a16:creationId xmlns:a16="http://schemas.microsoft.com/office/drawing/2014/main" id="{55C6FA84-BDA3-A276-D655-79ACF78C032C}"/>
              </a:ext>
            </a:extLst>
          </p:cNvPr>
          <p:cNvSpPr txBox="1">
            <a:spLocks noChangeArrowheads="1"/>
          </p:cNvSpPr>
          <p:nvPr/>
        </p:nvSpPr>
        <p:spPr bwMode="auto">
          <a:xfrm>
            <a:off x="4230053" y="34410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Ci</a:t>
            </a:r>
          </a:p>
        </p:txBody>
      </p:sp>
      <p:sp>
        <p:nvSpPr>
          <p:cNvPr id="46" name="Text Box 44">
            <a:extLst>
              <a:ext uri="{FF2B5EF4-FFF2-40B4-BE49-F238E27FC236}">
                <a16:creationId xmlns:a16="http://schemas.microsoft.com/office/drawing/2014/main" id="{E03BC1E6-D316-DDF9-CB7C-2EC050098377}"/>
              </a:ext>
            </a:extLst>
          </p:cNvPr>
          <p:cNvSpPr txBox="1">
            <a:spLocks noChangeArrowheads="1"/>
          </p:cNvSpPr>
          <p:nvPr/>
        </p:nvSpPr>
        <p:spPr bwMode="auto">
          <a:xfrm>
            <a:off x="4334828" y="2967990"/>
            <a:ext cx="35718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sp>
        <p:nvSpPr>
          <p:cNvPr id="47" name="Text Box 45">
            <a:extLst>
              <a:ext uri="{FF2B5EF4-FFF2-40B4-BE49-F238E27FC236}">
                <a16:creationId xmlns:a16="http://schemas.microsoft.com/office/drawing/2014/main" id="{57023003-8D84-EFD2-1652-B1B5E16220AD}"/>
              </a:ext>
            </a:extLst>
          </p:cNvPr>
          <p:cNvSpPr txBox="1">
            <a:spLocks noChangeArrowheads="1"/>
          </p:cNvSpPr>
          <p:nvPr/>
        </p:nvSpPr>
        <p:spPr bwMode="auto">
          <a:xfrm>
            <a:off x="3406140" y="3441065"/>
            <a:ext cx="60166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000">
                <a:ea typeface="楷体_GB2312" pitchFamily="49" charset="-122"/>
              </a:rPr>
              <a:t>O</a:t>
            </a:r>
          </a:p>
        </p:txBody>
      </p:sp>
      <p:sp>
        <p:nvSpPr>
          <p:cNvPr id="48" name="Line 46">
            <a:extLst>
              <a:ext uri="{FF2B5EF4-FFF2-40B4-BE49-F238E27FC236}">
                <a16:creationId xmlns:a16="http://schemas.microsoft.com/office/drawing/2014/main" id="{7593CC61-D8AA-4E59-D9B2-AAEA08271868}"/>
              </a:ext>
            </a:extLst>
          </p:cNvPr>
          <p:cNvSpPr>
            <a:spLocks noChangeShapeType="1"/>
          </p:cNvSpPr>
          <p:nvPr/>
        </p:nvSpPr>
        <p:spPr bwMode="auto">
          <a:xfrm>
            <a:off x="1009015" y="3639503"/>
            <a:ext cx="5286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Text Box 47">
            <a:extLst>
              <a:ext uri="{FF2B5EF4-FFF2-40B4-BE49-F238E27FC236}">
                <a16:creationId xmlns:a16="http://schemas.microsoft.com/office/drawing/2014/main" id="{355FAF31-9C0E-15EF-3A8F-1A1D9865B626}"/>
              </a:ext>
            </a:extLst>
          </p:cNvPr>
          <p:cNvSpPr txBox="1">
            <a:spLocks noChangeArrowheads="1"/>
          </p:cNvSpPr>
          <p:nvPr/>
        </p:nvSpPr>
        <p:spPr bwMode="auto">
          <a:xfrm>
            <a:off x="6733540" y="3171190"/>
            <a:ext cx="322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400" baseline="-25000">
                <a:ea typeface="楷体_GB2312" pitchFamily="49" charset="-122"/>
              </a:rPr>
              <a:t>0</a:t>
            </a:r>
            <a:endParaRPr kumimoji="1" lang="en-US" altLang="zh-CN" sz="2400">
              <a:ea typeface="楷体_GB2312" pitchFamily="49" charset="-122"/>
            </a:endParaRPr>
          </a:p>
        </p:txBody>
      </p:sp>
      <p:sp>
        <p:nvSpPr>
          <p:cNvPr id="50" name="Rectangle 48">
            <a:extLst>
              <a:ext uri="{FF2B5EF4-FFF2-40B4-BE49-F238E27FC236}">
                <a16:creationId xmlns:a16="http://schemas.microsoft.com/office/drawing/2014/main" id="{521FCE2B-C2E3-977D-3428-33417BA20FF2}"/>
              </a:ext>
            </a:extLst>
          </p:cNvPr>
          <p:cNvSpPr>
            <a:spLocks noChangeArrowheads="1"/>
          </p:cNvSpPr>
          <p:nvPr/>
        </p:nvSpPr>
        <p:spPr bwMode="auto">
          <a:xfrm>
            <a:off x="5298440" y="3018790"/>
            <a:ext cx="1327150" cy="12334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1" name="Line 49">
            <a:extLst>
              <a:ext uri="{FF2B5EF4-FFF2-40B4-BE49-F238E27FC236}">
                <a16:creationId xmlns:a16="http://schemas.microsoft.com/office/drawing/2014/main" id="{88E76B9D-6662-FF0A-356A-12EE3E2B2E4E}"/>
              </a:ext>
            </a:extLst>
          </p:cNvPr>
          <p:cNvSpPr>
            <a:spLocks noChangeShapeType="1"/>
          </p:cNvSpPr>
          <p:nvPr/>
        </p:nvSpPr>
        <p:spPr bwMode="auto">
          <a:xfrm>
            <a:off x="6636703" y="3637915"/>
            <a:ext cx="5286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Text Box 50">
            <a:extLst>
              <a:ext uri="{FF2B5EF4-FFF2-40B4-BE49-F238E27FC236}">
                <a16:creationId xmlns:a16="http://schemas.microsoft.com/office/drawing/2014/main" id="{830C2233-DD3F-337D-2D08-5BF2E74F783B}"/>
              </a:ext>
            </a:extLst>
          </p:cNvPr>
          <p:cNvSpPr txBox="1">
            <a:spLocks noChangeArrowheads="1"/>
          </p:cNvSpPr>
          <p:nvPr/>
        </p:nvSpPr>
        <p:spPr bwMode="auto">
          <a:xfrm>
            <a:off x="5458778" y="380936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53" name="Text Box 51">
            <a:extLst>
              <a:ext uri="{FF2B5EF4-FFF2-40B4-BE49-F238E27FC236}">
                <a16:creationId xmlns:a16="http://schemas.microsoft.com/office/drawing/2014/main" id="{8971D81F-E3C2-4C31-A0CA-C2B566A9627A}"/>
              </a:ext>
            </a:extLst>
          </p:cNvPr>
          <p:cNvSpPr txBox="1">
            <a:spLocks noChangeArrowheads="1"/>
          </p:cNvSpPr>
          <p:nvPr/>
        </p:nvSpPr>
        <p:spPr bwMode="auto">
          <a:xfrm>
            <a:off x="6014403" y="380936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54" name="Text Box 52">
            <a:extLst>
              <a:ext uri="{FF2B5EF4-FFF2-40B4-BE49-F238E27FC236}">
                <a16:creationId xmlns:a16="http://schemas.microsoft.com/office/drawing/2014/main" id="{EEBB1635-8508-A49C-78E2-450ECCFF64D5}"/>
              </a:ext>
            </a:extLst>
          </p:cNvPr>
          <p:cNvSpPr txBox="1">
            <a:spLocks noChangeArrowheads="1"/>
          </p:cNvSpPr>
          <p:nvPr/>
        </p:nvSpPr>
        <p:spPr bwMode="auto">
          <a:xfrm>
            <a:off x="5761990" y="299974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55" name="Text Box 53">
            <a:extLst>
              <a:ext uri="{FF2B5EF4-FFF2-40B4-BE49-F238E27FC236}">
                <a16:creationId xmlns:a16="http://schemas.microsoft.com/office/drawing/2014/main" id="{3B1612EA-3E92-4354-7D1B-1FC05E79B373}"/>
              </a:ext>
            </a:extLst>
          </p:cNvPr>
          <p:cNvSpPr txBox="1">
            <a:spLocks noChangeArrowheads="1"/>
          </p:cNvSpPr>
          <p:nvPr/>
        </p:nvSpPr>
        <p:spPr bwMode="auto">
          <a:xfrm>
            <a:off x="6106478" y="34537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Ci</a:t>
            </a:r>
          </a:p>
        </p:txBody>
      </p:sp>
      <p:sp>
        <p:nvSpPr>
          <p:cNvPr id="56" name="Text Box 54">
            <a:extLst>
              <a:ext uri="{FF2B5EF4-FFF2-40B4-BE49-F238E27FC236}">
                <a16:creationId xmlns:a16="http://schemas.microsoft.com/office/drawing/2014/main" id="{79A88D34-C6A6-8C2B-C689-92AC1A7416DA}"/>
              </a:ext>
            </a:extLst>
          </p:cNvPr>
          <p:cNvSpPr txBox="1">
            <a:spLocks noChangeArrowheads="1"/>
          </p:cNvSpPr>
          <p:nvPr/>
        </p:nvSpPr>
        <p:spPr bwMode="auto">
          <a:xfrm>
            <a:off x="6211253" y="2980690"/>
            <a:ext cx="35718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sp>
        <p:nvSpPr>
          <p:cNvPr id="57" name="Text Box 55">
            <a:extLst>
              <a:ext uri="{FF2B5EF4-FFF2-40B4-BE49-F238E27FC236}">
                <a16:creationId xmlns:a16="http://schemas.microsoft.com/office/drawing/2014/main" id="{04EE9C77-2142-E141-665E-19A515BD183A}"/>
              </a:ext>
            </a:extLst>
          </p:cNvPr>
          <p:cNvSpPr txBox="1">
            <a:spLocks noChangeArrowheads="1"/>
          </p:cNvSpPr>
          <p:nvPr/>
        </p:nvSpPr>
        <p:spPr bwMode="auto">
          <a:xfrm>
            <a:off x="5282565" y="3453765"/>
            <a:ext cx="60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000">
                <a:ea typeface="楷体_GB2312" pitchFamily="49" charset="-122"/>
              </a:rPr>
              <a:t>O</a:t>
            </a:r>
          </a:p>
        </p:txBody>
      </p:sp>
      <p:sp>
        <p:nvSpPr>
          <p:cNvPr id="58" name="Rectangle 56">
            <a:extLst>
              <a:ext uri="{FF2B5EF4-FFF2-40B4-BE49-F238E27FC236}">
                <a16:creationId xmlns:a16="http://schemas.microsoft.com/office/drawing/2014/main" id="{EAE5CD58-677A-1195-4868-E6F5D93A2D22}"/>
              </a:ext>
            </a:extLst>
          </p:cNvPr>
          <p:cNvSpPr>
            <a:spLocks noChangeArrowheads="1"/>
          </p:cNvSpPr>
          <p:nvPr/>
        </p:nvSpPr>
        <p:spPr bwMode="auto">
          <a:xfrm>
            <a:off x="7171690" y="3018790"/>
            <a:ext cx="1327150" cy="12334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59" name="Line 57">
            <a:extLst>
              <a:ext uri="{FF2B5EF4-FFF2-40B4-BE49-F238E27FC236}">
                <a16:creationId xmlns:a16="http://schemas.microsoft.com/office/drawing/2014/main" id="{63528A6F-1C85-D1EF-4DFC-23340876ED0A}"/>
              </a:ext>
            </a:extLst>
          </p:cNvPr>
          <p:cNvSpPr>
            <a:spLocks noChangeShapeType="1"/>
          </p:cNvSpPr>
          <p:nvPr/>
        </p:nvSpPr>
        <p:spPr bwMode="auto">
          <a:xfrm>
            <a:off x="8509953" y="3637915"/>
            <a:ext cx="4206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Text Box 58">
            <a:extLst>
              <a:ext uri="{FF2B5EF4-FFF2-40B4-BE49-F238E27FC236}">
                <a16:creationId xmlns:a16="http://schemas.microsoft.com/office/drawing/2014/main" id="{4087ECA1-90E6-647C-D1A4-B5880706CCE7}"/>
              </a:ext>
            </a:extLst>
          </p:cNvPr>
          <p:cNvSpPr txBox="1">
            <a:spLocks noChangeArrowheads="1"/>
          </p:cNvSpPr>
          <p:nvPr/>
        </p:nvSpPr>
        <p:spPr bwMode="auto">
          <a:xfrm>
            <a:off x="7332028" y="380936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61" name="Text Box 59">
            <a:extLst>
              <a:ext uri="{FF2B5EF4-FFF2-40B4-BE49-F238E27FC236}">
                <a16:creationId xmlns:a16="http://schemas.microsoft.com/office/drawing/2014/main" id="{A5785CF0-F753-439A-5AC7-E2731A898B9D}"/>
              </a:ext>
            </a:extLst>
          </p:cNvPr>
          <p:cNvSpPr txBox="1">
            <a:spLocks noChangeArrowheads="1"/>
          </p:cNvSpPr>
          <p:nvPr/>
        </p:nvSpPr>
        <p:spPr bwMode="auto">
          <a:xfrm>
            <a:off x="7887653" y="380936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62" name="Text Box 60">
            <a:extLst>
              <a:ext uri="{FF2B5EF4-FFF2-40B4-BE49-F238E27FC236}">
                <a16:creationId xmlns:a16="http://schemas.microsoft.com/office/drawing/2014/main" id="{4613E2C4-2AC6-1D11-43D5-D0A838B319EB}"/>
              </a:ext>
            </a:extLst>
          </p:cNvPr>
          <p:cNvSpPr txBox="1">
            <a:spLocks noChangeArrowheads="1"/>
          </p:cNvSpPr>
          <p:nvPr/>
        </p:nvSpPr>
        <p:spPr bwMode="auto">
          <a:xfrm>
            <a:off x="7635240" y="299974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dirty="0">
                <a:ea typeface="楷体_GB2312" pitchFamily="49" charset="-122"/>
              </a:rPr>
              <a:t>S</a:t>
            </a:r>
          </a:p>
        </p:txBody>
      </p:sp>
      <p:sp>
        <p:nvSpPr>
          <p:cNvPr id="63" name="Text Box 61">
            <a:extLst>
              <a:ext uri="{FF2B5EF4-FFF2-40B4-BE49-F238E27FC236}">
                <a16:creationId xmlns:a16="http://schemas.microsoft.com/office/drawing/2014/main" id="{A23C9E97-5C4D-C32C-50E9-090C53219673}"/>
              </a:ext>
            </a:extLst>
          </p:cNvPr>
          <p:cNvSpPr txBox="1">
            <a:spLocks noChangeArrowheads="1"/>
          </p:cNvSpPr>
          <p:nvPr/>
        </p:nvSpPr>
        <p:spPr bwMode="auto">
          <a:xfrm>
            <a:off x="7979728" y="34537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Ci</a:t>
            </a:r>
          </a:p>
        </p:txBody>
      </p:sp>
      <p:sp>
        <p:nvSpPr>
          <p:cNvPr id="64" name="Text Box 62">
            <a:extLst>
              <a:ext uri="{FF2B5EF4-FFF2-40B4-BE49-F238E27FC236}">
                <a16:creationId xmlns:a16="http://schemas.microsoft.com/office/drawing/2014/main" id="{5510720F-7F6D-FC64-09C1-9049D41398D2}"/>
              </a:ext>
            </a:extLst>
          </p:cNvPr>
          <p:cNvSpPr txBox="1">
            <a:spLocks noChangeArrowheads="1"/>
          </p:cNvSpPr>
          <p:nvPr/>
        </p:nvSpPr>
        <p:spPr bwMode="auto">
          <a:xfrm>
            <a:off x="8084503" y="2980690"/>
            <a:ext cx="35718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t>Σ</a:t>
            </a:r>
          </a:p>
        </p:txBody>
      </p:sp>
      <p:sp>
        <p:nvSpPr>
          <p:cNvPr id="65" name="Text Box 63">
            <a:extLst>
              <a:ext uri="{FF2B5EF4-FFF2-40B4-BE49-F238E27FC236}">
                <a16:creationId xmlns:a16="http://schemas.microsoft.com/office/drawing/2014/main" id="{A7AF5099-8623-0E33-9D75-F8EBEB89BED7}"/>
              </a:ext>
            </a:extLst>
          </p:cNvPr>
          <p:cNvSpPr txBox="1">
            <a:spLocks noChangeArrowheads="1"/>
          </p:cNvSpPr>
          <p:nvPr/>
        </p:nvSpPr>
        <p:spPr bwMode="auto">
          <a:xfrm>
            <a:off x="7155815" y="3452178"/>
            <a:ext cx="6016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000">
                <a:ea typeface="楷体_GB2312" pitchFamily="49" charset="-122"/>
              </a:rPr>
              <a:t>O</a:t>
            </a:r>
          </a:p>
        </p:txBody>
      </p:sp>
      <p:sp>
        <p:nvSpPr>
          <p:cNvPr id="66" name="Line 64">
            <a:extLst>
              <a:ext uri="{FF2B5EF4-FFF2-40B4-BE49-F238E27FC236}">
                <a16:creationId xmlns:a16="http://schemas.microsoft.com/office/drawing/2014/main" id="{35F53FE2-8404-E7C0-7D50-E6746F19DD6F}"/>
              </a:ext>
            </a:extLst>
          </p:cNvPr>
          <p:cNvSpPr>
            <a:spLocks noChangeShapeType="1"/>
          </p:cNvSpPr>
          <p:nvPr/>
        </p:nvSpPr>
        <p:spPr bwMode="auto">
          <a:xfrm>
            <a:off x="8936990" y="3639503"/>
            <a:ext cx="0" cy="3159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65">
            <a:extLst>
              <a:ext uri="{FF2B5EF4-FFF2-40B4-BE49-F238E27FC236}">
                <a16:creationId xmlns:a16="http://schemas.microsoft.com/office/drawing/2014/main" id="{954EBE4C-FD45-C3A1-9E73-D08F3A552E69}"/>
              </a:ext>
            </a:extLst>
          </p:cNvPr>
          <p:cNvSpPr>
            <a:spLocks noChangeShapeType="1"/>
          </p:cNvSpPr>
          <p:nvPr/>
        </p:nvSpPr>
        <p:spPr bwMode="auto">
          <a:xfrm>
            <a:off x="8749665" y="3955415"/>
            <a:ext cx="39687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Text Box 66">
            <a:extLst>
              <a:ext uri="{FF2B5EF4-FFF2-40B4-BE49-F238E27FC236}">
                <a16:creationId xmlns:a16="http://schemas.microsoft.com/office/drawing/2014/main" id="{2C9C7735-0794-B404-0CA5-81EE47A7762C}"/>
              </a:ext>
            </a:extLst>
          </p:cNvPr>
          <p:cNvSpPr txBox="1">
            <a:spLocks noChangeArrowheads="1"/>
          </p:cNvSpPr>
          <p:nvPr/>
        </p:nvSpPr>
        <p:spPr bwMode="auto">
          <a:xfrm>
            <a:off x="1116965" y="3147378"/>
            <a:ext cx="322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400" baseline="-25000">
                <a:ea typeface="楷体_GB2312" pitchFamily="49" charset="-122"/>
              </a:rPr>
              <a:t>3</a:t>
            </a:r>
            <a:endParaRPr kumimoji="1" lang="en-US" altLang="zh-CN" sz="2400">
              <a:ea typeface="楷体_GB2312" pitchFamily="49" charset="-122"/>
            </a:endParaRPr>
          </a:p>
        </p:txBody>
      </p:sp>
    </p:spTree>
    <p:extLst>
      <p:ext uri="{BB962C8B-B14F-4D97-AF65-F5344CB8AC3E}">
        <p14:creationId xmlns:p14="http://schemas.microsoft.com/office/powerpoint/2010/main" val="2800256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DE42F4-0F99-676D-9274-E4A9DA369543}"/>
              </a:ext>
            </a:extLst>
          </p:cNvPr>
          <p:cNvSpPr>
            <a:spLocks noGrp="1"/>
          </p:cNvSpPr>
          <p:nvPr>
            <p:ph type="title"/>
          </p:nvPr>
        </p:nvSpPr>
        <p:spPr/>
        <p:txBody>
          <a:bodyPr>
            <a:normAutofit fontScale="90000"/>
          </a:bodyPr>
          <a:lstStyle/>
          <a:p>
            <a:r>
              <a:rPr kumimoji="1" lang="zh-CN" altLang="en-US" dirty="0"/>
              <a:t>超前进位加法器</a:t>
            </a:r>
          </a:p>
        </p:txBody>
      </p:sp>
      <p:sp>
        <p:nvSpPr>
          <p:cNvPr id="3" name="内容占位符 2">
            <a:extLst>
              <a:ext uri="{FF2B5EF4-FFF2-40B4-BE49-F238E27FC236}">
                <a16:creationId xmlns:a16="http://schemas.microsoft.com/office/drawing/2014/main" id="{FB2E151C-0170-1061-7D5E-FFBFB3A8DADB}"/>
              </a:ext>
            </a:extLst>
          </p:cNvPr>
          <p:cNvSpPr>
            <a:spLocks noGrp="1"/>
          </p:cNvSpPr>
          <p:nvPr>
            <p:ph idx="1"/>
          </p:nvPr>
        </p:nvSpPr>
        <p:spPr/>
        <p:txBody>
          <a:bodyPr/>
          <a:lstStyle/>
          <a:p>
            <a:r>
              <a:rPr kumimoji="1" lang="zh-CN" altLang="en-US" dirty="0"/>
              <a:t>基本原理</a:t>
            </a:r>
          </a:p>
          <a:p>
            <a:pPr lvl="1"/>
            <a:r>
              <a:rPr kumimoji="1" lang="en-US" altLang="zh-CN" dirty="0"/>
              <a:t>C</a:t>
            </a:r>
            <a:r>
              <a:rPr kumimoji="1" lang="en-US" altLang="zh-CN" baseline="-25000" dirty="0"/>
              <a:t>i-1</a:t>
            </a:r>
            <a:r>
              <a:rPr kumimoji="1" lang="zh-CN" altLang="en-US" dirty="0"/>
              <a:t>是</a:t>
            </a:r>
            <a:r>
              <a:rPr kumimoji="1" lang="en-US" altLang="zh-CN" dirty="0"/>
              <a:t>A</a:t>
            </a:r>
            <a:r>
              <a:rPr kumimoji="1" lang="en-US" altLang="zh-CN" baseline="-25000" dirty="0"/>
              <a:t>i-1</a:t>
            </a:r>
            <a:r>
              <a:rPr kumimoji="1" lang="en-US" altLang="zh-CN" dirty="0"/>
              <a:t>~A</a:t>
            </a:r>
            <a:r>
              <a:rPr kumimoji="1" lang="en-US" altLang="zh-CN" baseline="-25000" dirty="0"/>
              <a:t>0</a:t>
            </a:r>
            <a:r>
              <a:rPr kumimoji="1" lang="zh-CN" altLang="en-US" dirty="0"/>
              <a:t>和</a:t>
            </a:r>
            <a:r>
              <a:rPr kumimoji="1" lang="en-US" altLang="zh-CN" dirty="0"/>
              <a:t>B</a:t>
            </a:r>
            <a:r>
              <a:rPr kumimoji="1" lang="en-US" altLang="zh-CN" baseline="-25000" dirty="0"/>
              <a:t>i-1</a:t>
            </a:r>
            <a:r>
              <a:rPr kumimoji="1" lang="en-US" altLang="zh-CN" dirty="0"/>
              <a:t>~B</a:t>
            </a:r>
            <a:r>
              <a:rPr kumimoji="1" lang="en-US" altLang="zh-CN" baseline="-25000" dirty="0"/>
              <a:t>0</a:t>
            </a:r>
            <a:r>
              <a:rPr kumimoji="1" lang="zh-CN" altLang="en-US" dirty="0"/>
              <a:t>的函数</a:t>
            </a:r>
          </a:p>
          <a:p>
            <a:pPr lvl="1"/>
            <a:r>
              <a:rPr kumimoji="1" lang="zh-CN" altLang="en-US" dirty="0"/>
              <a:t>设计每位进位信号产生电路：根据输入加数和被加数，同时获得该位全加的进位信号，无需等待最低位的进位信号</a:t>
            </a:r>
          </a:p>
          <a:p>
            <a:endParaRPr kumimoji="1" lang="en-US" altLang="zh-CN" dirty="0"/>
          </a:p>
          <a:p>
            <a:r>
              <a:rPr kumimoji="1" lang="zh-CN" altLang="en-US" dirty="0"/>
              <a:t>优点：速度快</a:t>
            </a:r>
          </a:p>
          <a:p>
            <a:r>
              <a:rPr kumimoji="1" lang="zh-CN" altLang="en-US" dirty="0"/>
              <a:t>缺点：电路复杂</a:t>
            </a:r>
          </a:p>
          <a:p>
            <a:r>
              <a:rPr kumimoji="1" lang="en-US" altLang="zh-CN" dirty="0"/>
              <a:t>4</a:t>
            </a:r>
            <a:r>
              <a:rPr kumimoji="1" lang="zh-CN" altLang="en-US" dirty="0"/>
              <a:t>位超前进位加法器</a:t>
            </a:r>
            <a:r>
              <a:rPr kumimoji="1" lang="en-US" altLang="zh-CN" dirty="0"/>
              <a:t>74x283</a:t>
            </a:r>
            <a:endParaRPr kumimoji="1" lang="zh-CN" altLang="en-US" dirty="0"/>
          </a:p>
        </p:txBody>
      </p:sp>
      <p:sp>
        <p:nvSpPr>
          <p:cNvPr id="4" name="页脚占位符 3">
            <a:extLst>
              <a:ext uri="{FF2B5EF4-FFF2-40B4-BE49-F238E27FC236}">
                <a16:creationId xmlns:a16="http://schemas.microsoft.com/office/drawing/2014/main" id="{4D585A58-218F-AC5B-D9AC-5711E513D0AD}"/>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FA4A65D9-10D3-81A8-CAEA-1230EBC673AE}"/>
              </a:ext>
            </a:extLst>
          </p:cNvPr>
          <p:cNvSpPr>
            <a:spLocks noGrp="1"/>
          </p:cNvSpPr>
          <p:nvPr>
            <p:ph type="sldNum" sz="quarter" idx="12"/>
          </p:nvPr>
        </p:nvSpPr>
        <p:spPr/>
        <p:txBody>
          <a:bodyPr/>
          <a:lstStyle/>
          <a:p>
            <a:fld id="{9E260BC5-5BF3-8746-862B-DC45E9CAA88B}" type="slidenum">
              <a:rPr lang="en-US" smtClean="0"/>
              <a:pPr/>
              <a:t>14</a:t>
            </a:fld>
            <a:r>
              <a:rPr lang="en-US" altLang="zh-CN" dirty="0"/>
              <a:t>/25</a:t>
            </a:r>
            <a:endParaRPr lang="en-US" dirty="0"/>
          </a:p>
        </p:txBody>
      </p:sp>
      <p:sp>
        <p:nvSpPr>
          <p:cNvPr id="6" name="Text Box 4">
            <a:extLst>
              <a:ext uri="{FF2B5EF4-FFF2-40B4-BE49-F238E27FC236}">
                <a16:creationId xmlns:a16="http://schemas.microsoft.com/office/drawing/2014/main" id="{16D62D56-EF23-BFA8-7806-1D443E493269}"/>
              </a:ext>
            </a:extLst>
          </p:cNvPr>
          <p:cNvSpPr txBox="1">
            <a:spLocks noChangeArrowheads="1"/>
          </p:cNvSpPr>
          <p:nvPr/>
        </p:nvSpPr>
        <p:spPr bwMode="auto">
          <a:xfrm>
            <a:off x="6392545" y="3687763"/>
            <a:ext cx="2778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400" baseline="-25000">
                <a:ea typeface="楷体_GB2312" pitchFamily="49" charset="-122"/>
              </a:rPr>
              <a:t>i</a:t>
            </a:r>
            <a:endParaRPr kumimoji="1" lang="en-US" altLang="zh-CN" sz="2400">
              <a:ea typeface="楷体_GB2312" pitchFamily="49" charset="-122"/>
            </a:endParaRPr>
          </a:p>
        </p:txBody>
      </p:sp>
      <p:sp>
        <p:nvSpPr>
          <p:cNvPr id="7" name="Line 5">
            <a:extLst>
              <a:ext uri="{FF2B5EF4-FFF2-40B4-BE49-F238E27FC236}">
                <a16:creationId xmlns:a16="http://schemas.microsoft.com/office/drawing/2014/main" id="{B2BA0B83-BA4C-2364-3A19-54BE0B9DE09B}"/>
              </a:ext>
            </a:extLst>
          </p:cNvPr>
          <p:cNvSpPr>
            <a:spLocks noChangeShapeType="1"/>
          </p:cNvSpPr>
          <p:nvPr/>
        </p:nvSpPr>
        <p:spPr bwMode="auto">
          <a:xfrm>
            <a:off x="6273482" y="4125913"/>
            <a:ext cx="5286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Text Box 6">
            <a:extLst>
              <a:ext uri="{FF2B5EF4-FFF2-40B4-BE49-F238E27FC236}">
                <a16:creationId xmlns:a16="http://schemas.microsoft.com/office/drawing/2014/main" id="{2EEF720B-A2EF-0BED-A8BF-CA4F530B8C23}"/>
              </a:ext>
            </a:extLst>
          </p:cNvPr>
          <p:cNvSpPr txBox="1">
            <a:spLocks noChangeArrowheads="1"/>
          </p:cNvSpPr>
          <p:nvPr/>
        </p:nvSpPr>
        <p:spPr bwMode="auto">
          <a:xfrm>
            <a:off x="8184832" y="3703638"/>
            <a:ext cx="4476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400" baseline="-25000">
                <a:ea typeface="楷体_GB2312" pitchFamily="49" charset="-122"/>
              </a:rPr>
              <a:t>i-1</a:t>
            </a:r>
            <a:endParaRPr kumimoji="1" lang="en-US" altLang="zh-CN" sz="2400">
              <a:ea typeface="楷体_GB2312" pitchFamily="49" charset="-122"/>
            </a:endParaRPr>
          </a:p>
        </p:txBody>
      </p:sp>
      <p:sp>
        <p:nvSpPr>
          <p:cNvPr id="9" name="Rectangle 7">
            <a:extLst>
              <a:ext uri="{FF2B5EF4-FFF2-40B4-BE49-F238E27FC236}">
                <a16:creationId xmlns:a16="http://schemas.microsoft.com/office/drawing/2014/main" id="{767A9F35-6EB6-76FC-912A-AB17B8D16065}"/>
              </a:ext>
            </a:extLst>
          </p:cNvPr>
          <p:cNvSpPr>
            <a:spLocks noChangeArrowheads="1"/>
          </p:cNvSpPr>
          <p:nvPr/>
        </p:nvSpPr>
        <p:spPr bwMode="auto">
          <a:xfrm>
            <a:off x="6811645" y="3344863"/>
            <a:ext cx="1327150" cy="14890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 name="Line 8">
            <a:extLst>
              <a:ext uri="{FF2B5EF4-FFF2-40B4-BE49-F238E27FC236}">
                <a16:creationId xmlns:a16="http://schemas.microsoft.com/office/drawing/2014/main" id="{6AAC8222-95F2-FC62-B565-60A9B88A7CBB}"/>
              </a:ext>
            </a:extLst>
          </p:cNvPr>
          <p:cNvSpPr>
            <a:spLocks noChangeShapeType="1"/>
          </p:cNvSpPr>
          <p:nvPr/>
        </p:nvSpPr>
        <p:spPr bwMode="auto">
          <a:xfrm>
            <a:off x="7189470" y="4833938"/>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9">
            <a:extLst>
              <a:ext uri="{FF2B5EF4-FFF2-40B4-BE49-F238E27FC236}">
                <a16:creationId xmlns:a16="http://schemas.microsoft.com/office/drawing/2014/main" id="{B706525A-6C3E-3D8E-1AB4-8D87B31E3F7E}"/>
              </a:ext>
            </a:extLst>
          </p:cNvPr>
          <p:cNvSpPr>
            <a:spLocks noChangeShapeType="1"/>
          </p:cNvSpPr>
          <p:nvPr/>
        </p:nvSpPr>
        <p:spPr bwMode="auto">
          <a:xfrm>
            <a:off x="8149907" y="4141788"/>
            <a:ext cx="5286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Text Box 10">
            <a:extLst>
              <a:ext uri="{FF2B5EF4-FFF2-40B4-BE49-F238E27FC236}">
                <a16:creationId xmlns:a16="http://schemas.microsoft.com/office/drawing/2014/main" id="{7417CDEC-311B-BC64-FE06-A47C10969E6A}"/>
              </a:ext>
            </a:extLst>
          </p:cNvPr>
          <p:cNvSpPr txBox="1">
            <a:spLocks noChangeArrowheads="1"/>
          </p:cNvSpPr>
          <p:nvPr/>
        </p:nvSpPr>
        <p:spPr bwMode="auto">
          <a:xfrm>
            <a:off x="6971982" y="4367213"/>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A</a:t>
            </a:r>
          </a:p>
        </p:txBody>
      </p:sp>
      <p:sp>
        <p:nvSpPr>
          <p:cNvPr id="13" name="Text Box 11">
            <a:extLst>
              <a:ext uri="{FF2B5EF4-FFF2-40B4-BE49-F238E27FC236}">
                <a16:creationId xmlns:a16="http://schemas.microsoft.com/office/drawing/2014/main" id="{47E9D935-F996-982E-F9AD-1866B0A62D1E}"/>
              </a:ext>
            </a:extLst>
          </p:cNvPr>
          <p:cNvSpPr txBox="1">
            <a:spLocks noChangeArrowheads="1"/>
          </p:cNvSpPr>
          <p:nvPr/>
        </p:nvSpPr>
        <p:spPr bwMode="auto">
          <a:xfrm>
            <a:off x="7527607" y="436721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B</a:t>
            </a:r>
          </a:p>
        </p:txBody>
      </p:sp>
      <p:sp>
        <p:nvSpPr>
          <p:cNvPr id="14" name="Text Box 12">
            <a:extLst>
              <a:ext uri="{FF2B5EF4-FFF2-40B4-BE49-F238E27FC236}">
                <a16:creationId xmlns:a16="http://schemas.microsoft.com/office/drawing/2014/main" id="{07410D63-6C0E-03D8-3C44-815779A108A9}"/>
              </a:ext>
            </a:extLst>
          </p:cNvPr>
          <p:cNvSpPr txBox="1">
            <a:spLocks noChangeArrowheads="1"/>
          </p:cNvSpPr>
          <p:nvPr/>
        </p:nvSpPr>
        <p:spPr bwMode="auto">
          <a:xfrm>
            <a:off x="7275195" y="3322638"/>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S</a:t>
            </a:r>
          </a:p>
        </p:txBody>
      </p:sp>
      <p:sp>
        <p:nvSpPr>
          <p:cNvPr id="15" name="Text Box 13">
            <a:extLst>
              <a:ext uri="{FF2B5EF4-FFF2-40B4-BE49-F238E27FC236}">
                <a16:creationId xmlns:a16="http://schemas.microsoft.com/office/drawing/2014/main" id="{7D8CD626-78E8-8A31-DC04-D4B8B9F11881}"/>
              </a:ext>
            </a:extLst>
          </p:cNvPr>
          <p:cNvSpPr txBox="1">
            <a:spLocks noChangeArrowheads="1"/>
          </p:cNvSpPr>
          <p:nvPr/>
        </p:nvSpPr>
        <p:spPr bwMode="auto">
          <a:xfrm>
            <a:off x="7619682" y="39195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Ci</a:t>
            </a:r>
          </a:p>
        </p:txBody>
      </p:sp>
      <p:sp>
        <p:nvSpPr>
          <p:cNvPr id="16" name="Text Box 14">
            <a:extLst>
              <a:ext uri="{FF2B5EF4-FFF2-40B4-BE49-F238E27FC236}">
                <a16:creationId xmlns:a16="http://schemas.microsoft.com/office/drawing/2014/main" id="{21C54638-BF10-2F88-751A-E1E98CDC7334}"/>
              </a:ext>
            </a:extLst>
          </p:cNvPr>
          <p:cNvSpPr txBox="1">
            <a:spLocks noChangeArrowheads="1"/>
          </p:cNvSpPr>
          <p:nvPr/>
        </p:nvSpPr>
        <p:spPr bwMode="auto">
          <a:xfrm>
            <a:off x="7724457" y="3344863"/>
            <a:ext cx="3571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dirty="0" err="1"/>
              <a:t>Σ</a:t>
            </a:r>
            <a:endParaRPr kumimoji="1" lang="en-US" altLang="zh-CN" dirty="0"/>
          </a:p>
        </p:txBody>
      </p:sp>
      <p:sp>
        <p:nvSpPr>
          <p:cNvPr id="17" name="Text Box 15">
            <a:extLst>
              <a:ext uri="{FF2B5EF4-FFF2-40B4-BE49-F238E27FC236}">
                <a16:creationId xmlns:a16="http://schemas.microsoft.com/office/drawing/2014/main" id="{DD5A2D11-4A0C-05C2-3E87-995D0310764F}"/>
              </a:ext>
            </a:extLst>
          </p:cNvPr>
          <p:cNvSpPr txBox="1">
            <a:spLocks noChangeArrowheads="1"/>
          </p:cNvSpPr>
          <p:nvPr/>
        </p:nvSpPr>
        <p:spPr bwMode="auto">
          <a:xfrm>
            <a:off x="6795770" y="3919538"/>
            <a:ext cx="601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ea typeface="楷体_GB2312" pitchFamily="49" charset="-122"/>
              </a:rPr>
              <a:t>C</a:t>
            </a:r>
            <a:r>
              <a:rPr kumimoji="1" lang="en-US" altLang="zh-CN" sz="2000">
                <a:ea typeface="楷体_GB2312" pitchFamily="49" charset="-122"/>
              </a:rPr>
              <a:t>O</a:t>
            </a:r>
          </a:p>
        </p:txBody>
      </p:sp>
      <p:sp>
        <p:nvSpPr>
          <p:cNvPr id="18" name="Line 16">
            <a:extLst>
              <a:ext uri="{FF2B5EF4-FFF2-40B4-BE49-F238E27FC236}">
                <a16:creationId xmlns:a16="http://schemas.microsoft.com/office/drawing/2014/main" id="{4D9386DB-28B6-D73C-1968-76410BB17E02}"/>
              </a:ext>
            </a:extLst>
          </p:cNvPr>
          <p:cNvSpPr>
            <a:spLocks noChangeShapeType="1"/>
          </p:cNvSpPr>
          <p:nvPr/>
        </p:nvSpPr>
        <p:spPr bwMode="auto">
          <a:xfrm>
            <a:off x="7743507" y="4833938"/>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7">
            <a:extLst>
              <a:ext uri="{FF2B5EF4-FFF2-40B4-BE49-F238E27FC236}">
                <a16:creationId xmlns:a16="http://schemas.microsoft.com/office/drawing/2014/main" id="{1FDED766-F0D4-DD59-A0DB-D5F88DE6DAC8}"/>
              </a:ext>
            </a:extLst>
          </p:cNvPr>
          <p:cNvSpPr>
            <a:spLocks noChangeShapeType="1"/>
          </p:cNvSpPr>
          <p:nvPr/>
        </p:nvSpPr>
        <p:spPr bwMode="auto">
          <a:xfrm>
            <a:off x="7497445" y="2876550"/>
            <a:ext cx="0" cy="476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8">
            <a:extLst>
              <a:ext uri="{FF2B5EF4-FFF2-40B4-BE49-F238E27FC236}">
                <a16:creationId xmlns:a16="http://schemas.microsoft.com/office/drawing/2014/main" id="{277C166A-9B39-1853-9F3A-543552FC27E2}"/>
              </a:ext>
            </a:extLst>
          </p:cNvPr>
          <p:cNvSpPr txBox="1">
            <a:spLocks noChangeArrowheads="1"/>
          </p:cNvSpPr>
          <p:nvPr/>
        </p:nvSpPr>
        <p:spPr bwMode="auto">
          <a:xfrm>
            <a:off x="6632257" y="48402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A</a:t>
            </a:r>
            <a:r>
              <a:rPr kumimoji="1" lang="en-US" altLang="zh-CN" baseline="-25000">
                <a:ea typeface="楷体_GB2312" pitchFamily="49" charset="-122"/>
              </a:rPr>
              <a:t>i</a:t>
            </a:r>
            <a:endParaRPr kumimoji="1" lang="en-US" altLang="zh-CN">
              <a:ea typeface="楷体_GB2312" pitchFamily="49" charset="-122"/>
            </a:endParaRPr>
          </a:p>
        </p:txBody>
      </p:sp>
      <p:sp>
        <p:nvSpPr>
          <p:cNvPr id="21" name="Text Box 19">
            <a:extLst>
              <a:ext uri="{FF2B5EF4-FFF2-40B4-BE49-F238E27FC236}">
                <a16:creationId xmlns:a16="http://schemas.microsoft.com/office/drawing/2014/main" id="{486163C4-E36B-0D31-0FE7-62C036842A62}"/>
              </a:ext>
            </a:extLst>
          </p:cNvPr>
          <p:cNvSpPr txBox="1">
            <a:spLocks noChangeArrowheads="1"/>
          </p:cNvSpPr>
          <p:nvPr/>
        </p:nvSpPr>
        <p:spPr bwMode="auto">
          <a:xfrm>
            <a:off x="7819707" y="4876800"/>
            <a:ext cx="487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B</a:t>
            </a:r>
            <a:r>
              <a:rPr kumimoji="1" lang="en-US" altLang="zh-CN" baseline="-25000">
                <a:ea typeface="楷体_GB2312" pitchFamily="49" charset="-122"/>
              </a:rPr>
              <a:t>i</a:t>
            </a:r>
            <a:endParaRPr kumimoji="1" lang="en-US" altLang="zh-CN">
              <a:ea typeface="楷体_GB2312" pitchFamily="49" charset="-122"/>
            </a:endParaRPr>
          </a:p>
        </p:txBody>
      </p:sp>
      <p:sp>
        <p:nvSpPr>
          <p:cNvPr id="22" name="Text Box 20">
            <a:extLst>
              <a:ext uri="{FF2B5EF4-FFF2-40B4-BE49-F238E27FC236}">
                <a16:creationId xmlns:a16="http://schemas.microsoft.com/office/drawing/2014/main" id="{7B9626B1-5C32-99B2-33BD-51DB01A43EE2}"/>
              </a:ext>
            </a:extLst>
          </p:cNvPr>
          <p:cNvSpPr txBox="1">
            <a:spLocks noChangeArrowheads="1"/>
          </p:cNvSpPr>
          <p:nvPr/>
        </p:nvSpPr>
        <p:spPr bwMode="auto">
          <a:xfrm>
            <a:off x="6956107" y="2716213"/>
            <a:ext cx="449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S</a:t>
            </a:r>
            <a:r>
              <a:rPr kumimoji="1" lang="en-US" altLang="zh-CN" baseline="-25000">
                <a:ea typeface="楷体_GB2312" pitchFamily="49" charset="-122"/>
              </a:rPr>
              <a:t>i</a:t>
            </a:r>
            <a:endParaRPr kumimoji="1" lang="en-US" altLang="zh-CN">
              <a:ea typeface="楷体_GB2312" pitchFamily="49" charset="-122"/>
            </a:endParaRPr>
          </a:p>
        </p:txBody>
      </p:sp>
    </p:spTree>
    <p:extLst>
      <p:ext uri="{BB962C8B-B14F-4D97-AF65-F5344CB8AC3E}">
        <p14:creationId xmlns:p14="http://schemas.microsoft.com/office/powerpoint/2010/main" val="197416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9FEBA6-E913-C14D-D1F1-43087AEAB105}"/>
              </a:ext>
            </a:extLst>
          </p:cNvPr>
          <p:cNvSpPr>
            <a:spLocks noGrp="1"/>
          </p:cNvSpPr>
          <p:nvPr>
            <p:ph type="title"/>
          </p:nvPr>
        </p:nvSpPr>
        <p:spPr/>
        <p:txBody>
          <a:bodyPr>
            <a:normAutofit fontScale="90000"/>
          </a:bodyPr>
          <a:lstStyle/>
          <a:p>
            <a:pPr algn="l"/>
            <a:r>
              <a:rPr lang="zh-CN" altLang="en-US" dirty="0"/>
              <a:t>进位信号超前产生</a:t>
            </a:r>
            <a:endParaRPr kumimoji="1" lang="zh-CN" altLang="en-US" dirty="0"/>
          </a:p>
        </p:txBody>
      </p:sp>
      <p:sp>
        <p:nvSpPr>
          <p:cNvPr id="4" name="页脚占位符 3">
            <a:extLst>
              <a:ext uri="{FF2B5EF4-FFF2-40B4-BE49-F238E27FC236}">
                <a16:creationId xmlns:a16="http://schemas.microsoft.com/office/drawing/2014/main" id="{F92C4BDE-B2BA-9D1C-E5E8-FB8B54601B44}"/>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248AC827-0748-0DEB-4AE1-643A6906C534}"/>
              </a:ext>
            </a:extLst>
          </p:cNvPr>
          <p:cNvSpPr>
            <a:spLocks noGrp="1"/>
          </p:cNvSpPr>
          <p:nvPr>
            <p:ph type="sldNum" sz="quarter" idx="12"/>
          </p:nvPr>
        </p:nvSpPr>
        <p:spPr/>
        <p:txBody>
          <a:bodyPr/>
          <a:lstStyle/>
          <a:p>
            <a:fld id="{9E260BC5-5BF3-8746-862B-DC45E9CAA88B}" type="slidenum">
              <a:rPr lang="en-US" smtClean="0"/>
              <a:pPr/>
              <a:t>15</a:t>
            </a:fld>
            <a:r>
              <a:rPr lang="en-US" altLang="zh-CN" dirty="0"/>
              <a:t>/25</a:t>
            </a:r>
            <a:endParaRPr lang="en-US" dirty="0"/>
          </a:p>
        </p:txBody>
      </p:sp>
      <p:graphicFrame>
        <p:nvGraphicFramePr>
          <p:cNvPr id="6" name="Object 3">
            <a:extLst>
              <a:ext uri="{FF2B5EF4-FFF2-40B4-BE49-F238E27FC236}">
                <a16:creationId xmlns:a16="http://schemas.microsoft.com/office/drawing/2014/main" id="{B445A6E7-8D1A-3791-7735-064144505CB6}"/>
              </a:ext>
            </a:extLst>
          </p:cNvPr>
          <p:cNvGraphicFramePr>
            <a:graphicFrameLocks noChangeAspect="1"/>
          </p:cNvGraphicFramePr>
          <p:nvPr>
            <p:extLst>
              <p:ext uri="{D42A27DB-BD31-4B8C-83A1-F6EECF244321}">
                <p14:modId xmlns:p14="http://schemas.microsoft.com/office/powerpoint/2010/main" val="1059369750"/>
              </p:ext>
            </p:extLst>
          </p:nvPr>
        </p:nvGraphicFramePr>
        <p:xfrm>
          <a:off x="336794" y="647163"/>
          <a:ext cx="3595688" cy="539750"/>
        </p:xfrm>
        <a:graphic>
          <a:graphicData uri="http://schemas.openxmlformats.org/presentationml/2006/ole">
            <mc:AlternateContent xmlns:mc="http://schemas.openxmlformats.org/markup-compatibility/2006">
              <mc:Choice xmlns:v="urn:schemas-microsoft-com:vml" Requires="v">
                <p:oleObj name="公式" r:id="rId3" imgW="1574117" imgH="215806" progId="Equation.3">
                  <p:embed/>
                </p:oleObj>
              </mc:Choice>
              <mc:Fallback>
                <p:oleObj name="公式" r:id="rId3" imgW="1574117" imgH="215806" progId="Equation.3">
                  <p:embed/>
                  <p:pic>
                    <p:nvPicPr>
                      <p:cNvPr id="2458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794" y="647163"/>
                        <a:ext cx="35956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8">
            <a:extLst>
              <a:ext uri="{FF2B5EF4-FFF2-40B4-BE49-F238E27FC236}">
                <a16:creationId xmlns:a16="http://schemas.microsoft.com/office/drawing/2014/main" id="{28A3B56A-AF86-E73F-256A-6770266B689E}"/>
              </a:ext>
            </a:extLst>
          </p:cNvPr>
          <p:cNvGraphicFramePr>
            <a:graphicFrameLocks noChangeAspect="1"/>
          </p:cNvGraphicFramePr>
          <p:nvPr>
            <p:extLst>
              <p:ext uri="{D42A27DB-BD31-4B8C-83A1-F6EECF244321}">
                <p14:modId xmlns:p14="http://schemas.microsoft.com/office/powerpoint/2010/main" val="167876348"/>
              </p:ext>
            </p:extLst>
          </p:nvPr>
        </p:nvGraphicFramePr>
        <p:xfrm>
          <a:off x="348102" y="1902669"/>
          <a:ext cx="4819650" cy="525462"/>
        </p:xfrm>
        <a:graphic>
          <a:graphicData uri="http://schemas.openxmlformats.org/presentationml/2006/ole">
            <mc:AlternateContent xmlns:mc="http://schemas.openxmlformats.org/markup-compatibility/2006">
              <mc:Choice xmlns:v="urn:schemas-microsoft-com:vml" Requires="v">
                <p:oleObj name="公式" r:id="rId5" imgW="1943100" imgH="215900" progId="Equation.3">
                  <p:embed/>
                </p:oleObj>
              </mc:Choice>
              <mc:Fallback>
                <p:oleObj name="公式" r:id="rId5" imgW="1943100" imgH="215900" progId="Equation.3">
                  <p:embed/>
                  <p:pic>
                    <p:nvPicPr>
                      <p:cNvPr id="24583"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102" y="1902669"/>
                        <a:ext cx="48196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ED481B16-7D4D-C5A9-F48E-448914A50C98}"/>
              </a:ext>
            </a:extLst>
          </p:cNvPr>
          <p:cNvGrpSpPr>
            <a:grpSpLocks/>
          </p:cNvGrpSpPr>
          <p:nvPr/>
        </p:nvGrpSpPr>
        <p:grpSpPr bwMode="auto">
          <a:xfrm>
            <a:off x="373502" y="2724676"/>
            <a:ext cx="7869238" cy="3563938"/>
            <a:chOff x="879475" y="2889398"/>
            <a:chExt cx="7869238" cy="3563938"/>
          </a:xfrm>
        </p:grpSpPr>
        <p:sp>
          <p:nvSpPr>
            <p:cNvPr id="9" name="Text Box 4">
              <a:extLst>
                <a:ext uri="{FF2B5EF4-FFF2-40B4-BE49-F238E27FC236}">
                  <a16:creationId xmlns:a16="http://schemas.microsoft.com/office/drawing/2014/main" id="{AAF0217A-49AA-7481-5205-E57B7698C672}"/>
                </a:ext>
              </a:extLst>
            </p:cNvPr>
            <p:cNvSpPr txBox="1">
              <a:spLocks noChangeArrowheads="1"/>
            </p:cNvSpPr>
            <p:nvPr/>
          </p:nvSpPr>
          <p:spPr bwMode="auto">
            <a:xfrm>
              <a:off x="935038" y="2889398"/>
              <a:ext cx="2794000" cy="531813"/>
            </a:xfrm>
            <a:prstGeom prst="rect">
              <a:avLst/>
            </a:prstGeom>
            <a:noFill/>
            <a:ln w="19050">
              <a:solidFill>
                <a:srgbClr val="000000">
                  <a:alpha val="0"/>
                </a:srgbClr>
              </a:solidFill>
              <a:miter lim="800000"/>
              <a:headEnd/>
              <a:tailEnd type="none" w="lg" len="lg"/>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a:t>C</a:t>
              </a:r>
              <a:r>
                <a:rPr lang="en-US" altLang="zh-CN" baseline="-30000"/>
                <a:t>0</a:t>
              </a:r>
              <a:r>
                <a:rPr lang="en-US" altLang="zh-CN"/>
                <a:t>= G</a:t>
              </a:r>
              <a:r>
                <a:rPr lang="en-US" altLang="zh-CN" baseline="-30000"/>
                <a:t>0</a:t>
              </a:r>
              <a:r>
                <a:rPr lang="en-US" altLang="zh-CN">
                  <a:latin typeface="宋体" panose="02010600030101010101" pitchFamily="2" charset="-122"/>
                </a:rPr>
                <a:t>+</a:t>
              </a:r>
              <a:r>
                <a:rPr lang="en-US" altLang="zh-CN"/>
                <a:t>P</a:t>
              </a:r>
              <a:r>
                <a:rPr lang="en-US" altLang="zh-CN" baseline="-30000"/>
                <a:t>0</a:t>
              </a:r>
              <a:r>
                <a:rPr lang="en-US" altLang="zh-CN"/>
                <a:t>C</a:t>
              </a:r>
              <a:r>
                <a:rPr lang="en-US" altLang="zh-CN" baseline="-30000"/>
                <a:t>-1</a:t>
              </a:r>
              <a:r>
                <a:rPr lang="en-US" altLang="zh-CN">
                  <a:cs typeface="Times New Roman" panose="02020603050405020304" pitchFamily="18" charset="0"/>
                </a:rPr>
                <a:t> </a:t>
              </a:r>
            </a:p>
          </p:txBody>
        </p:sp>
        <p:sp>
          <p:nvSpPr>
            <p:cNvPr id="10" name="Text Box 5">
              <a:extLst>
                <a:ext uri="{FF2B5EF4-FFF2-40B4-BE49-F238E27FC236}">
                  <a16:creationId xmlns:a16="http://schemas.microsoft.com/office/drawing/2014/main" id="{03EBA980-1D03-6511-93E0-EF739DC75DAE}"/>
                </a:ext>
              </a:extLst>
            </p:cNvPr>
            <p:cNvSpPr txBox="1">
              <a:spLocks noChangeArrowheads="1"/>
            </p:cNvSpPr>
            <p:nvPr/>
          </p:nvSpPr>
          <p:spPr bwMode="auto">
            <a:xfrm>
              <a:off x="935038" y="3637111"/>
              <a:ext cx="6002337"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dirty="0"/>
                <a:t>C</a:t>
              </a:r>
              <a:r>
                <a:rPr lang="en-US" altLang="zh-CN" baseline="-30000" dirty="0"/>
                <a:t>1</a:t>
              </a:r>
              <a:r>
                <a:rPr lang="en-US" altLang="zh-CN" dirty="0"/>
                <a:t>= G</a:t>
              </a:r>
              <a:r>
                <a:rPr lang="en-US" altLang="zh-CN" baseline="-30000" dirty="0"/>
                <a:t>1</a:t>
              </a:r>
              <a:r>
                <a:rPr lang="en-US" altLang="zh-CN" dirty="0">
                  <a:latin typeface="宋体" panose="02010600030101010101" pitchFamily="2" charset="-122"/>
                </a:rPr>
                <a:t>+</a:t>
              </a:r>
              <a:r>
                <a:rPr lang="en-US" altLang="zh-CN" dirty="0"/>
                <a:t>P</a:t>
              </a:r>
              <a:r>
                <a:rPr lang="en-US" altLang="zh-CN" baseline="-30000" dirty="0"/>
                <a:t>1</a:t>
              </a:r>
              <a:r>
                <a:rPr lang="en-US" altLang="zh-CN" dirty="0"/>
                <a:t>C</a:t>
              </a:r>
              <a:r>
                <a:rPr lang="en-US" altLang="zh-CN" baseline="-30000" dirty="0"/>
                <a:t>0 </a:t>
              </a:r>
              <a:r>
                <a:rPr lang="en-US" altLang="zh-CN" dirty="0"/>
                <a:t>= G</a:t>
              </a:r>
              <a:r>
                <a:rPr lang="en-US" altLang="zh-CN" baseline="-30000" dirty="0"/>
                <a:t>1</a:t>
              </a:r>
              <a:r>
                <a:rPr lang="en-US" altLang="zh-CN" dirty="0">
                  <a:latin typeface="宋体" panose="02010600030101010101" pitchFamily="2" charset="-122"/>
                </a:rPr>
                <a:t>+</a:t>
              </a:r>
              <a:r>
                <a:rPr lang="en-US" altLang="zh-CN" dirty="0"/>
                <a:t>P</a:t>
              </a:r>
              <a:r>
                <a:rPr lang="en-US" altLang="zh-CN" baseline="-30000" dirty="0"/>
                <a:t>1</a:t>
              </a:r>
              <a:r>
                <a:rPr lang="en-US" altLang="zh-CN" dirty="0"/>
                <a:t>G</a:t>
              </a:r>
              <a:r>
                <a:rPr lang="en-US" altLang="zh-CN" baseline="-30000" dirty="0"/>
                <a:t>0</a:t>
              </a:r>
              <a:r>
                <a:rPr lang="en-US" altLang="zh-CN" dirty="0"/>
                <a:t>+ P</a:t>
              </a:r>
              <a:r>
                <a:rPr lang="en-US" altLang="zh-CN" baseline="-30000" dirty="0"/>
                <a:t>1</a:t>
              </a:r>
              <a:r>
                <a:rPr lang="en-US" altLang="zh-CN" dirty="0"/>
                <a:t>P</a:t>
              </a:r>
              <a:r>
                <a:rPr lang="en-US" altLang="zh-CN" baseline="-30000" dirty="0"/>
                <a:t>0</a:t>
              </a:r>
              <a:r>
                <a:rPr lang="en-US" altLang="zh-CN" dirty="0"/>
                <a:t>C</a:t>
              </a:r>
              <a:r>
                <a:rPr lang="en-US" altLang="zh-CN" baseline="-30000" dirty="0"/>
                <a:t>-1</a:t>
              </a:r>
              <a:r>
                <a:rPr lang="en-US" altLang="zh-CN" dirty="0">
                  <a:cs typeface="Times New Roman" panose="02020603050405020304" pitchFamily="18" charset="0"/>
                </a:rPr>
                <a:t> </a:t>
              </a:r>
            </a:p>
          </p:txBody>
        </p:sp>
        <p:sp>
          <p:nvSpPr>
            <p:cNvPr id="11" name="Text Box 6">
              <a:extLst>
                <a:ext uri="{FF2B5EF4-FFF2-40B4-BE49-F238E27FC236}">
                  <a16:creationId xmlns:a16="http://schemas.microsoft.com/office/drawing/2014/main" id="{34340EDC-C9A6-49DE-E8D2-8BFDF530A12B}"/>
                </a:ext>
              </a:extLst>
            </p:cNvPr>
            <p:cNvSpPr txBox="1">
              <a:spLocks noChangeArrowheads="1"/>
            </p:cNvSpPr>
            <p:nvPr/>
          </p:nvSpPr>
          <p:spPr bwMode="auto">
            <a:xfrm>
              <a:off x="900113" y="4510236"/>
              <a:ext cx="7848600" cy="531812"/>
            </a:xfrm>
            <a:prstGeom prst="rect">
              <a:avLst/>
            </a:prstGeom>
            <a:noFill/>
            <a:ln w="19050">
              <a:solidFill>
                <a:srgbClr val="000000">
                  <a:alpha val="0"/>
                </a:srgbClr>
              </a:solidFill>
              <a:miter lim="800000"/>
              <a:headEnd/>
              <a:tailEnd type="none" w="lg" len="lg"/>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dirty="0"/>
                <a:t>C</a:t>
              </a:r>
              <a:r>
                <a:rPr lang="en-US" altLang="zh-CN" baseline="-30000" dirty="0"/>
                <a:t>2</a:t>
              </a:r>
              <a:r>
                <a:rPr lang="en-US" altLang="zh-CN" dirty="0"/>
                <a:t>= G</a:t>
              </a:r>
              <a:r>
                <a:rPr lang="en-US" altLang="zh-CN" baseline="-30000" dirty="0"/>
                <a:t>2</a:t>
              </a:r>
              <a:r>
                <a:rPr lang="en-US" altLang="zh-CN" dirty="0">
                  <a:latin typeface="宋体" panose="02010600030101010101" pitchFamily="2" charset="-122"/>
                </a:rPr>
                <a:t>+</a:t>
              </a:r>
              <a:r>
                <a:rPr lang="en-US" altLang="zh-CN" dirty="0"/>
                <a:t>P</a:t>
              </a:r>
              <a:r>
                <a:rPr lang="en-US" altLang="zh-CN" baseline="-30000" dirty="0"/>
                <a:t>2</a:t>
              </a:r>
              <a:r>
                <a:rPr lang="en-US" altLang="zh-CN" dirty="0"/>
                <a:t>C</a:t>
              </a:r>
              <a:r>
                <a:rPr lang="en-US" altLang="zh-CN" baseline="-30000" dirty="0"/>
                <a:t>1</a:t>
              </a:r>
              <a:r>
                <a:rPr lang="en-US" altLang="zh-CN" dirty="0"/>
                <a:t>= G</a:t>
              </a:r>
              <a:r>
                <a:rPr lang="en-US" altLang="zh-CN" baseline="-30000" dirty="0"/>
                <a:t>2</a:t>
              </a:r>
              <a:r>
                <a:rPr lang="en-US" altLang="zh-CN" dirty="0">
                  <a:latin typeface="宋体" panose="02010600030101010101" pitchFamily="2" charset="-122"/>
                </a:rPr>
                <a:t>+</a:t>
              </a:r>
              <a:r>
                <a:rPr lang="en-US" altLang="zh-CN" dirty="0"/>
                <a:t>P</a:t>
              </a:r>
              <a:r>
                <a:rPr lang="en-US" altLang="zh-CN" baseline="-30000" dirty="0"/>
                <a:t>2</a:t>
              </a:r>
              <a:r>
                <a:rPr lang="en-US" altLang="zh-CN" dirty="0"/>
                <a:t>G</a:t>
              </a:r>
              <a:r>
                <a:rPr lang="en-US" altLang="zh-CN" baseline="-30000" dirty="0"/>
                <a:t>1</a:t>
              </a:r>
              <a:r>
                <a:rPr lang="en-US" altLang="zh-CN" dirty="0"/>
                <a:t>+ P</a:t>
              </a:r>
              <a:r>
                <a:rPr lang="en-US" altLang="zh-CN" baseline="-30000" dirty="0"/>
                <a:t>2</a:t>
              </a:r>
              <a:r>
                <a:rPr lang="en-US" altLang="zh-CN" dirty="0"/>
                <a:t>P</a:t>
              </a:r>
              <a:r>
                <a:rPr lang="en-US" altLang="zh-CN" baseline="-30000" dirty="0"/>
                <a:t>1</a:t>
              </a:r>
              <a:r>
                <a:rPr lang="en-US" altLang="zh-CN" dirty="0"/>
                <a:t>G</a:t>
              </a:r>
              <a:r>
                <a:rPr lang="en-US" altLang="zh-CN" baseline="-30000" dirty="0"/>
                <a:t>0</a:t>
              </a:r>
              <a:r>
                <a:rPr lang="en-US" altLang="zh-CN" dirty="0"/>
                <a:t>+ P</a:t>
              </a:r>
              <a:r>
                <a:rPr lang="en-US" altLang="zh-CN" baseline="-30000" dirty="0"/>
                <a:t>2</a:t>
              </a:r>
              <a:r>
                <a:rPr lang="en-US" altLang="zh-CN" dirty="0"/>
                <a:t>P</a:t>
              </a:r>
              <a:r>
                <a:rPr lang="en-US" altLang="zh-CN" baseline="-30000" dirty="0"/>
                <a:t>1</a:t>
              </a:r>
              <a:r>
                <a:rPr lang="en-US" altLang="zh-CN" dirty="0"/>
                <a:t>P</a:t>
              </a:r>
              <a:r>
                <a:rPr lang="en-US" altLang="zh-CN" baseline="-30000" dirty="0"/>
                <a:t>0</a:t>
              </a:r>
              <a:r>
                <a:rPr lang="en-US" altLang="zh-CN" dirty="0"/>
                <a:t>C</a:t>
              </a:r>
              <a:r>
                <a:rPr lang="en-US" altLang="zh-CN" baseline="-30000" dirty="0"/>
                <a:t>-1</a:t>
              </a:r>
              <a:r>
                <a:rPr lang="en-US" altLang="zh-CN" dirty="0">
                  <a:cs typeface="Times New Roman" panose="02020603050405020304" pitchFamily="18" charset="0"/>
                </a:rPr>
                <a:t> </a:t>
              </a:r>
            </a:p>
          </p:txBody>
        </p:sp>
        <p:sp>
          <p:nvSpPr>
            <p:cNvPr id="12" name="Text Box 7">
              <a:extLst>
                <a:ext uri="{FF2B5EF4-FFF2-40B4-BE49-F238E27FC236}">
                  <a16:creationId xmlns:a16="http://schemas.microsoft.com/office/drawing/2014/main" id="{0C0AF38B-8D00-B67E-7589-FE132A7FD914}"/>
                </a:ext>
              </a:extLst>
            </p:cNvPr>
            <p:cNvSpPr txBox="1">
              <a:spLocks noChangeArrowheads="1"/>
            </p:cNvSpPr>
            <p:nvPr/>
          </p:nvSpPr>
          <p:spPr bwMode="auto">
            <a:xfrm>
              <a:off x="879475" y="5229373"/>
              <a:ext cx="7364413"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a:t>C</a:t>
              </a:r>
              <a:r>
                <a:rPr lang="en-US" altLang="zh-CN" baseline="-30000"/>
                <a:t>3</a:t>
              </a:r>
              <a:r>
                <a:rPr lang="en-US" altLang="zh-CN"/>
                <a:t>= G</a:t>
              </a:r>
              <a:r>
                <a:rPr lang="en-US" altLang="zh-CN" baseline="-30000"/>
                <a:t>3</a:t>
              </a:r>
              <a:r>
                <a:rPr lang="en-US" altLang="zh-CN">
                  <a:latin typeface="宋体" panose="02010600030101010101" pitchFamily="2" charset="-122"/>
                </a:rPr>
                <a:t>+</a:t>
              </a:r>
              <a:r>
                <a:rPr lang="en-US" altLang="zh-CN"/>
                <a:t>P</a:t>
              </a:r>
              <a:r>
                <a:rPr lang="en-US" altLang="zh-CN" baseline="-30000"/>
                <a:t>3</a:t>
              </a:r>
              <a:r>
                <a:rPr lang="en-US" altLang="zh-CN"/>
                <a:t>C</a:t>
              </a:r>
              <a:r>
                <a:rPr lang="en-US" altLang="zh-CN" baseline="-30000"/>
                <a:t>2 </a:t>
              </a:r>
              <a:r>
                <a:rPr lang="en-US" altLang="zh-CN"/>
                <a:t>= G</a:t>
              </a:r>
              <a:r>
                <a:rPr lang="en-US" altLang="zh-CN" baseline="-30000"/>
                <a:t>3</a:t>
              </a:r>
              <a:r>
                <a:rPr lang="en-US" altLang="zh-CN">
                  <a:latin typeface="宋体" panose="02010600030101010101" pitchFamily="2" charset="-122"/>
                </a:rPr>
                <a:t>+</a:t>
              </a:r>
              <a:r>
                <a:rPr lang="en-US" altLang="zh-CN"/>
                <a:t>P</a:t>
              </a:r>
              <a:r>
                <a:rPr lang="en-US" altLang="zh-CN" baseline="-30000"/>
                <a:t>3</a:t>
              </a:r>
              <a:r>
                <a:rPr lang="en-US" altLang="zh-CN"/>
                <a:t>G</a:t>
              </a:r>
              <a:r>
                <a:rPr lang="en-US" altLang="zh-CN" baseline="-30000"/>
                <a:t>2</a:t>
              </a:r>
              <a:r>
                <a:rPr lang="en-US" altLang="zh-CN"/>
                <a:t>+P</a:t>
              </a:r>
              <a:r>
                <a:rPr lang="en-US" altLang="zh-CN" baseline="-30000"/>
                <a:t>3</a:t>
              </a:r>
              <a:r>
                <a:rPr lang="en-US" altLang="zh-CN"/>
                <a:t>P</a:t>
              </a:r>
              <a:r>
                <a:rPr lang="en-US" altLang="zh-CN" baseline="-30000"/>
                <a:t>2</a:t>
              </a:r>
              <a:r>
                <a:rPr lang="en-US" altLang="zh-CN"/>
                <a:t>G</a:t>
              </a:r>
              <a:r>
                <a:rPr lang="en-US" altLang="zh-CN" baseline="-30000"/>
                <a:t>1</a:t>
              </a:r>
              <a:r>
                <a:rPr lang="en-US" altLang="zh-CN"/>
                <a:t>+ P</a:t>
              </a:r>
              <a:r>
                <a:rPr lang="en-US" altLang="zh-CN" baseline="-30000"/>
                <a:t>3</a:t>
              </a:r>
              <a:r>
                <a:rPr lang="en-US" altLang="zh-CN"/>
                <a:t>P</a:t>
              </a:r>
              <a:r>
                <a:rPr lang="en-US" altLang="zh-CN" baseline="-30000"/>
                <a:t>2</a:t>
              </a:r>
              <a:r>
                <a:rPr lang="en-US" altLang="zh-CN"/>
                <a:t>P</a:t>
              </a:r>
              <a:r>
                <a:rPr lang="en-US" altLang="zh-CN" baseline="-30000"/>
                <a:t>1</a:t>
              </a:r>
              <a:r>
                <a:rPr lang="en-US" altLang="zh-CN"/>
                <a:t>G</a:t>
              </a:r>
              <a:r>
                <a:rPr lang="en-US" altLang="zh-CN" baseline="-30000"/>
                <a:t>0</a:t>
              </a:r>
            </a:p>
            <a:p>
              <a:pPr eaLnBrk="1" hangingPunct="1">
                <a:lnSpc>
                  <a:spcPct val="120000"/>
                </a:lnSpc>
                <a:buFontTx/>
                <a:buNone/>
              </a:pPr>
              <a:r>
                <a:rPr lang="en-US" altLang="zh-CN" baseline="-30000"/>
                <a:t>                                      </a:t>
              </a:r>
              <a:r>
                <a:rPr lang="en-US" altLang="zh-CN"/>
                <a:t>+ P</a:t>
              </a:r>
              <a:r>
                <a:rPr lang="en-US" altLang="zh-CN" baseline="-30000"/>
                <a:t>3</a:t>
              </a:r>
              <a:r>
                <a:rPr lang="en-US" altLang="zh-CN"/>
                <a:t>P</a:t>
              </a:r>
              <a:r>
                <a:rPr lang="en-US" altLang="zh-CN" baseline="-30000"/>
                <a:t>2</a:t>
              </a:r>
              <a:r>
                <a:rPr lang="en-US" altLang="zh-CN"/>
                <a:t>P</a:t>
              </a:r>
              <a:r>
                <a:rPr lang="en-US" altLang="zh-CN" baseline="-30000"/>
                <a:t>1</a:t>
              </a:r>
              <a:r>
                <a:rPr lang="en-US" altLang="zh-CN"/>
                <a:t>P</a:t>
              </a:r>
              <a:r>
                <a:rPr lang="en-US" altLang="zh-CN" baseline="-30000"/>
                <a:t>0</a:t>
              </a:r>
              <a:r>
                <a:rPr lang="en-US" altLang="zh-CN"/>
                <a:t>C</a:t>
              </a:r>
              <a:r>
                <a:rPr lang="en-US" altLang="zh-CN" baseline="-30000"/>
                <a:t>-1</a:t>
              </a:r>
              <a:endParaRPr lang="en-US" altLang="zh-CN"/>
            </a:p>
          </p:txBody>
        </p:sp>
        <p:sp>
          <p:nvSpPr>
            <p:cNvPr id="13" name="Line 10">
              <a:extLst>
                <a:ext uri="{FF2B5EF4-FFF2-40B4-BE49-F238E27FC236}">
                  <a16:creationId xmlns:a16="http://schemas.microsoft.com/office/drawing/2014/main" id="{C4D466C9-BF08-0F86-7380-E9D86CF2CE04}"/>
                </a:ext>
              </a:extLst>
            </p:cNvPr>
            <p:cNvSpPr>
              <a:spLocks noChangeShapeType="1"/>
            </p:cNvSpPr>
            <p:nvPr/>
          </p:nvSpPr>
          <p:spPr bwMode="auto">
            <a:xfrm>
              <a:off x="1631950" y="3500586"/>
              <a:ext cx="1368425"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1">
              <a:extLst>
                <a:ext uri="{FF2B5EF4-FFF2-40B4-BE49-F238E27FC236}">
                  <a16:creationId xmlns:a16="http://schemas.microsoft.com/office/drawing/2014/main" id="{132F7E83-716D-18A6-0618-EC2CB92D29AC}"/>
                </a:ext>
              </a:extLst>
            </p:cNvPr>
            <p:cNvSpPr>
              <a:spLocks noChangeShapeType="1"/>
            </p:cNvSpPr>
            <p:nvPr/>
          </p:nvSpPr>
          <p:spPr bwMode="auto">
            <a:xfrm>
              <a:off x="3263900" y="4292748"/>
              <a:ext cx="2771775"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2">
              <a:extLst>
                <a:ext uri="{FF2B5EF4-FFF2-40B4-BE49-F238E27FC236}">
                  <a16:creationId xmlns:a16="http://schemas.microsoft.com/office/drawing/2014/main" id="{3376B0CE-95AD-616E-7861-67FB53C37CFC}"/>
                </a:ext>
              </a:extLst>
            </p:cNvPr>
            <p:cNvSpPr>
              <a:spLocks noChangeShapeType="1"/>
            </p:cNvSpPr>
            <p:nvPr/>
          </p:nvSpPr>
          <p:spPr bwMode="auto">
            <a:xfrm>
              <a:off x="3240088" y="5084911"/>
              <a:ext cx="4392612"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BC883CD8-2729-BAFF-FA2A-AB191B58E81B}"/>
                </a:ext>
              </a:extLst>
            </p:cNvPr>
            <p:cNvSpPr>
              <a:spLocks noChangeShapeType="1"/>
            </p:cNvSpPr>
            <p:nvPr/>
          </p:nvSpPr>
          <p:spPr bwMode="auto">
            <a:xfrm>
              <a:off x="3167063" y="6453336"/>
              <a:ext cx="4392612"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4">
            <a:extLst>
              <a:ext uri="{FF2B5EF4-FFF2-40B4-BE49-F238E27FC236}">
                <a16:creationId xmlns:a16="http://schemas.microsoft.com/office/drawing/2014/main" id="{0616D7DD-74E9-0ECC-5F3C-370767899181}"/>
              </a:ext>
            </a:extLst>
          </p:cNvPr>
          <p:cNvGrpSpPr>
            <a:grpSpLocks/>
          </p:cNvGrpSpPr>
          <p:nvPr/>
        </p:nvGrpSpPr>
        <p:grpSpPr bwMode="auto">
          <a:xfrm>
            <a:off x="7014601" y="1614698"/>
            <a:ext cx="2489200" cy="1171575"/>
            <a:chOff x="5899150" y="2306786"/>
            <a:chExt cx="2489200" cy="1171575"/>
          </a:xfrm>
        </p:grpSpPr>
        <p:graphicFrame>
          <p:nvGraphicFramePr>
            <p:cNvPr id="18" name="Object 9">
              <a:extLst>
                <a:ext uri="{FF2B5EF4-FFF2-40B4-BE49-F238E27FC236}">
                  <a16:creationId xmlns:a16="http://schemas.microsoft.com/office/drawing/2014/main" id="{6CCE2F40-39C6-45F5-1A58-1F18A48630F0}"/>
                </a:ext>
              </a:extLst>
            </p:cNvPr>
            <p:cNvGraphicFramePr>
              <a:graphicFrameLocks noChangeAspect="1"/>
            </p:cNvGraphicFramePr>
            <p:nvPr/>
          </p:nvGraphicFramePr>
          <p:xfrm>
            <a:off x="5899150" y="2306786"/>
            <a:ext cx="2489200" cy="525462"/>
          </p:xfrm>
          <a:graphic>
            <a:graphicData uri="http://schemas.openxmlformats.org/presentationml/2006/ole">
              <mc:AlternateContent xmlns:mc="http://schemas.openxmlformats.org/markup-compatibility/2006">
                <mc:Choice xmlns:v="urn:schemas-microsoft-com:vml" Requires="v">
                  <p:oleObj name="公式" r:id="rId7" imgW="1002865" imgH="215806" progId="Equation.3">
                    <p:embed/>
                  </p:oleObj>
                </mc:Choice>
                <mc:Fallback>
                  <p:oleObj name="公式" r:id="rId7" imgW="1002865" imgH="215806" progId="Equation.3">
                    <p:embed/>
                    <p:pic>
                      <p:nvPicPr>
                        <p:cNvPr id="24589"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99150" y="2306786"/>
                          <a:ext cx="24892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4">
              <a:extLst>
                <a:ext uri="{FF2B5EF4-FFF2-40B4-BE49-F238E27FC236}">
                  <a16:creationId xmlns:a16="http://schemas.microsoft.com/office/drawing/2014/main" id="{90071CF3-AE8E-0067-B9F1-494799E960D9}"/>
                </a:ext>
              </a:extLst>
            </p:cNvPr>
            <p:cNvGraphicFramePr>
              <a:graphicFrameLocks noChangeAspect="1"/>
            </p:cNvGraphicFramePr>
            <p:nvPr/>
          </p:nvGraphicFramePr>
          <p:xfrm>
            <a:off x="5954713" y="2924323"/>
            <a:ext cx="2238375" cy="554038"/>
          </p:xfrm>
          <a:graphic>
            <a:graphicData uri="http://schemas.openxmlformats.org/presentationml/2006/ole">
              <mc:AlternateContent xmlns:mc="http://schemas.openxmlformats.org/markup-compatibility/2006">
                <mc:Choice xmlns:v="urn:schemas-microsoft-com:vml" Requires="v">
                  <p:oleObj name="公式" r:id="rId9" imgW="799753" imgH="215806" progId="Equation.3">
                    <p:embed/>
                  </p:oleObj>
                </mc:Choice>
                <mc:Fallback>
                  <p:oleObj name="公式" r:id="rId9" imgW="799753" imgH="215806" progId="Equation.3">
                    <p:embed/>
                    <p:pic>
                      <p:nvPicPr>
                        <p:cNvPr id="2459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54713" y="2924323"/>
                          <a:ext cx="22383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0" name="文本框 1">
            <a:extLst>
              <a:ext uri="{FF2B5EF4-FFF2-40B4-BE49-F238E27FC236}">
                <a16:creationId xmlns:a16="http://schemas.microsoft.com/office/drawing/2014/main" id="{DF82E99D-0714-054A-CED5-EB3FE3D8E034}"/>
              </a:ext>
            </a:extLst>
          </p:cNvPr>
          <p:cNvSpPr txBox="1">
            <a:spLocks noChangeArrowheads="1"/>
          </p:cNvSpPr>
          <p:nvPr/>
        </p:nvSpPr>
        <p:spPr bwMode="auto">
          <a:xfrm>
            <a:off x="2803965" y="2082056"/>
            <a:ext cx="2365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latin typeface="Arial" panose="020B0604020202020204" pitchFamily="34" charset="0"/>
              </a:rPr>
              <a:t>i</a:t>
            </a:r>
            <a:endParaRPr lang="zh-CN" altLang="en-US" sz="1800" b="0">
              <a:latin typeface="Arial" panose="020B0604020202020204" pitchFamily="34" charset="0"/>
            </a:endParaRPr>
          </a:p>
        </p:txBody>
      </p:sp>
      <p:sp>
        <p:nvSpPr>
          <p:cNvPr id="21" name="文本框 20">
            <a:extLst>
              <a:ext uri="{FF2B5EF4-FFF2-40B4-BE49-F238E27FC236}">
                <a16:creationId xmlns:a16="http://schemas.microsoft.com/office/drawing/2014/main" id="{6FF07E01-D40F-2D40-73CE-E4ABB6F7D929}"/>
              </a:ext>
            </a:extLst>
          </p:cNvPr>
          <p:cNvSpPr txBox="1"/>
          <p:nvPr/>
        </p:nvSpPr>
        <p:spPr>
          <a:xfrm>
            <a:off x="403469" y="1251370"/>
            <a:ext cx="3462338" cy="430887"/>
          </a:xfrm>
          <a:prstGeom prst="rect">
            <a:avLst/>
          </a:prstGeom>
          <a:noFill/>
        </p:spPr>
        <p:txBody>
          <a:bodyPr wrap="square" lIns="0" tIns="0" rIns="0" bIns="0">
            <a:spAutoFit/>
          </a:bodyPr>
          <a:lstStyle/>
          <a:p>
            <a:pPr>
              <a:defRPr/>
            </a:pPr>
            <a:r>
              <a:rPr lang="en-US" altLang="zh-CN" sz="2800" dirty="0">
                <a:latin typeface="+mj-ea"/>
                <a:ea typeface="+mj-ea"/>
              </a:rPr>
              <a:t>S</a:t>
            </a:r>
            <a:r>
              <a:rPr lang="en-US" altLang="zh-CN" sz="2800" baseline="-25000" dirty="0">
                <a:latin typeface="+mj-ea"/>
                <a:ea typeface="+mj-ea"/>
              </a:rPr>
              <a:t>i </a:t>
            </a:r>
            <a:r>
              <a:rPr lang="en-US" altLang="zh-CN" sz="2800" dirty="0">
                <a:latin typeface="+mj-ea"/>
                <a:ea typeface="+mj-ea"/>
              </a:rPr>
              <a:t>= A</a:t>
            </a:r>
            <a:r>
              <a:rPr lang="en-US" altLang="zh-CN" sz="2800" baseline="-25000" dirty="0">
                <a:latin typeface="+mj-ea"/>
                <a:ea typeface="+mj-ea"/>
              </a:rPr>
              <a:t>i</a:t>
            </a:r>
            <a:r>
              <a:rPr lang="en-US" altLang="zh-CN" sz="2800" dirty="0">
                <a:latin typeface="+mj-ea"/>
                <a:ea typeface="+mj-ea"/>
              </a:rPr>
              <a:t>⊕B</a:t>
            </a:r>
            <a:r>
              <a:rPr lang="en-US" altLang="zh-CN" sz="2800" baseline="-25000" dirty="0">
                <a:latin typeface="+mj-ea"/>
                <a:ea typeface="+mj-ea"/>
              </a:rPr>
              <a:t>i</a:t>
            </a:r>
            <a:r>
              <a:rPr lang="en-US" altLang="zh-CN" sz="2800" dirty="0">
                <a:latin typeface="+mj-ea"/>
                <a:ea typeface="+mj-ea"/>
              </a:rPr>
              <a:t>⊕C</a:t>
            </a:r>
            <a:r>
              <a:rPr lang="en-US" altLang="zh-CN" sz="2800" baseline="-25000" dirty="0">
                <a:latin typeface="+mj-ea"/>
                <a:ea typeface="+mj-ea"/>
              </a:rPr>
              <a:t>i-1</a:t>
            </a:r>
            <a:endParaRPr lang="zh-CN" altLang="en-US" sz="2800" baseline="-25000" dirty="0">
              <a:latin typeface="+mj-ea"/>
              <a:ea typeface="+mj-ea"/>
            </a:endParaRPr>
          </a:p>
        </p:txBody>
      </p: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5C7F09EA-DF40-E496-5088-8604C3D905CB}"/>
                  </a:ext>
                </a:extLst>
              </p:cNvPr>
              <p:cNvSpPr/>
              <p:nvPr/>
            </p:nvSpPr>
            <p:spPr>
              <a:xfrm>
                <a:off x="6046471" y="2834218"/>
                <a:ext cx="3740150" cy="1003352"/>
              </a:xfrm>
              <a:prstGeom prst="rect">
                <a:avLst/>
              </a:prstGeom>
              <a:ln>
                <a:solidFill>
                  <a:srgbClr val="0033CC"/>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rgbClr val="836967"/>
                              </a:solidFill>
                              <a:latin typeface="Cambria Math" panose="02040503050406030204" pitchFamily="18" charset="0"/>
                            </a:rPr>
                          </m:ctrlPr>
                        </m:sSubPr>
                        <m:e>
                          <m:r>
                            <a:rPr lang="zh-CN" altLang="en-US" sz="2000" i="1">
                              <a:latin typeface="Cambria Math" panose="02040503050406030204" pitchFamily="18" charset="0"/>
                            </a:rPr>
                            <m:t>𝐶</m:t>
                          </m:r>
                        </m:e>
                        <m:sub>
                          <m:r>
                            <a:rPr lang="zh-CN" altLang="en-US" sz="2000" i="1">
                              <a:latin typeface="Cambria Math" panose="02040503050406030204" pitchFamily="18" charset="0"/>
                            </a:rPr>
                            <m:t>𝑖</m:t>
                          </m:r>
                        </m:sub>
                      </m:sSub>
                      <m:r>
                        <a:rPr lang="zh-CN" altLang="en-US" sz="2000" i="0">
                          <a:latin typeface="Cambria Math" panose="02040503050406030204" pitchFamily="18" charset="0"/>
                        </a:rPr>
                        <m:t>=</m:t>
                      </m:r>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𝑗</m:t>
                          </m:r>
                          <m:r>
                            <a:rPr lang="zh-CN" altLang="en-US" sz="2000" i="0">
                              <a:latin typeface="Cambria Math" panose="02040503050406030204" pitchFamily="18" charset="0"/>
                            </a:rPr>
                            <m:t>=0</m:t>
                          </m:r>
                        </m:sub>
                        <m:sup>
                          <m:r>
                            <a:rPr lang="zh-CN" altLang="en-US" sz="2000" i="1">
                              <a:latin typeface="Cambria Math" panose="02040503050406030204" pitchFamily="18" charset="0"/>
                            </a:rPr>
                            <m:t>𝑖</m:t>
                          </m:r>
                        </m:sup>
                        <m:e>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𝑘</m:t>
                              </m:r>
                              <m:r>
                                <a:rPr lang="zh-CN" altLang="en-US" sz="2000" i="0">
                                  <a:latin typeface="Cambria Math" panose="02040503050406030204" pitchFamily="18" charset="0"/>
                                </a:rPr>
                                <m:t>=</m:t>
                              </m:r>
                              <m:r>
                                <a:rPr lang="zh-CN" altLang="en-US" sz="2000" i="1">
                                  <a:latin typeface="Cambria Math" panose="02040503050406030204" pitchFamily="18" charset="0"/>
                                </a:rPr>
                                <m:t>𝑗</m:t>
                              </m:r>
                              <m:r>
                                <a:rPr lang="zh-CN" altLang="en-US" sz="2000" i="0">
                                  <a:latin typeface="Cambria Math" panose="02040503050406030204" pitchFamily="18" charset="0"/>
                                </a:rPr>
                                <m:t>+1</m:t>
                              </m:r>
                            </m:sub>
                            <m:sup>
                              <m:r>
                                <a:rPr lang="zh-CN" altLang="en-US" sz="2000" i="1">
                                  <a:latin typeface="Cambria Math" panose="02040503050406030204" pitchFamily="18" charset="0"/>
                                </a:rPr>
                                <m:t>𝑖</m:t>
                              </m:r>
                            </m:sup>
                            <m:e>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𝑃</m:t>
                                  </m:r>
                                </m:e>
                                <m:sub>
                                  <m:r>
                                    <a:rPr lang="zh-CN" altLang="en-US" sz="2000" i="1">
                                      <a:latin typeface="Cambria Math" panose="02040503050406030204" pitchFamily="18" charset="0"/>
                                    </a:rPr>
                                    <m:t>𝑘</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𝐺</m:t>
                                  </m:r>
                                </m:e>
                                <m:sub>
                                  <m:r>
                                    <a:rPr lang="zh-CN" altLang="en-US" sz="2000" i="1">
                                      <a:latin typeface="Cambria Math" panose="02040503050406030204" pitchFamily="18" charset="0"/>
                                    </a:rPr>
                                    <m:t>𝑗</m:t>
                                  </m:r>
                                </m:sub>
                              </m:sSub>
                            </m:e>
                          </m:nary>
                        </m:e>
                      </m:nary>
                      <m:r>
                        <a:rPr lang="zh-CN" altLang="en-US" sz="2000" i="0">
                          <a:latin typeface="Cambria Math" panose="02040503050406030204" pitchFamily="18" charset="0"/>
                        </a:rPr>
                        <m:t>+</m:t>
                      </m:r>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𝑘</m:t>
                          </m:r>
                          <m:r>
                            <a:rPr lang="zh-CN" altLang="en-US" sz="2000" i="0">
                              <a:latin typeface="Cambria Math" panose="02040503050406030204" pitchFamily="18" charset="0"/>
                            </a:rPr>
                            <m:t>=0</m:t>
                          </m:r>
                        </m:sub>
                        <m:sup>
                          <m:r>
                            <a:rPr lang="zh-CN" altLang="en-US" sz="2000" i="1">
                              <a:latin typeface="Cambria Math" panose="02040503050406030204" pitchFamily="18" charset="0"/>
                            </a:rPr>
                            <m:t>𝑖</m:t>
                          </m:r>
                        </m:sup>
                        <m:e>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𝑃</m:t>
                              </m:r>
                            </m:e>
                            <m:sub>
                              <m:r>
                                <a:rPr lang="en-US" altLang="zh-CN" sz="2000" b="0" i="1" smtClean="0">
                                  <a:latin typeface="Cambria Math" panose="02040503050406030204" pitchFamily="18" charset="0"/>
                                </a:rPr>
                                <m:t>𝑘</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𝐶</m:t>
                              </m:r>
                            </m:e>
                            <m:sub>
                              <m:r>
                                <a:rPr lang="zh-CN" altLang="en-US" sz="2000" i="0">
                                  <a:latin typeface="Cambria Math" panose="02040503050406030204" pitchFamily="18" charset="0"/>
                                </a:rPr>
                                <m:t>−1</m:t>
                              </m:r>
                            </m:sub>
                          </m:sSub>
                        </m:e>
                      </m:nary>
                    </m:oMath>
                  </m:oMathPara>
                </a14:m>
                <a:endParaRPr lang="zh-CN" altLang="en-US" sz="2000" dirty="0"/>
              </a:p>
            </p:txBody>
          </p:sp>
        </mc:Choice>
        <mc:Fallback xmlns="">
          <p:sp>
            <p:nvSpPr>
              <p:cNvPr id="22" name="矩形 21">
                <a:extLst>
                  <a:ext uri="{FF2B5EF4-FFF2-40B4-BE49-F238E27FC236}">
                    <a16:creationId xmlns:a16="http://schemas.microsoft.com/office/drawing/2014/main" id="{5C7F09EA-DF40-E496-5088-8604C3D905CB}"/>
                  </a:ext>
                </a:extLst>
              </p:cNvPr>
              <p:cNvSpPr>
                <a:spLocks noRot="1" noChangeAspect="1" noMove="1" noResize="1" noEditPoints="1" noAdjustHandles="1" noChangeArrowheads="1" noChangeShapeType="1" noTextEdit="1"/>
              </p:cNvSpPr>
              <p:nvPr/>
            </p:nvSpPr>
            <p:spPr>
              <a:xfrm>
                <a:off x="6046471" y="2834218"/>
                <a:ext cx="3740150" cy="1003352"/>
              </a:xfrm>
              <a:prstGeom prst="rect">
                <a:avLst/>
              </a:prstGeom>
              <a:blipFill>
                <a:blip r:embed="rId11"/>
                <a:stretch>
                  <a:fillRect l="-6757" t="-90123" b="-140741"/>
                </a:stretch>
              </a:blipFill>
              <a:ln>
                <a:solidFill>
                  <a:srgbClr val="0033CC"/>
                </a:solidFill>
              </a:ln>
            </p:spPr>
            <p:txBody>
              <a:bodyPr/>
              <a:lstStyle/>
              <a:p>
                <a:r>
                  <a:rPr lang="zh-CN" altLang="en-US">
                    <a:noFill/>
                  </a:rPr>
                  <a:t> </a:t>
                </a:r>
              </a:p>
            </p:txBody>
          </p:sp>
        </mc:Fallback>
      </mc:AlternateContent>
      <p:pic>
        <p:nvPicPr>
          <p:cNvPr id="23" name="图片 3">
            <a:extLst>
              <a:ext uri="{FF2B5EF4-FFF2-40B4-BE49-F238E27FC236}">
                <a16:creationId xmlns:a16="http://schemas.microsoft.com/office/drawing/2014/main" id="{E20C0979-2A68-1FD2-5BC3-9B4391F31BB7}"/>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5925942" y="64883"/>
            <a:ext cx="404812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604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DE829E-58A1-F9F9-9EE2-39E61F28E294}"/>
              </a:ext>
            </a:extLst>
          </p:cNvPr>
          <p:cNvSpPr>
            <a:spLocks noGrp="1"/>
          </p:cNvSpPr>
          <p:nvPr>
            <p:ph type="title"/>
          </p:nvPr>
        </p:nvSpPr>
        <p:spPr/>
        <p:txBody>
          <a:bodyPr>
            <a:normAutofit fontScale="90000"/>
          </a:bodyPr>
          <a:lstStyle/>
          <a:p>
            <a:r>
              <a:rPr kumimoji="1" lang="en-US" altLang="zh-CN" dirty="0"/>
              <a:t>4</a:t>
            </a:r>
            <a:r>
              <a:rPr kumimoji="1" lang="zh-CN" altLang="en-US" dirty="0"/>
              <a:t>位超前进位加法器</a:t>
            </a:r>
            <a:r>
              <a:rPr kumimoji="1" lang="en-US" altLang="zh-CN" dirty="0"/>
              <a:t>74x283</a:t>
            </a:r>
            <a:endParaRPr kumimoji="1" lang="zh-CN" altLang="en-US" dirty="0"/>
          </a:p>
        </p:txBody>
      </p:sp>
      <p:sp>
        <p:nvSpPr>
          <p:cNvPr id="4" name="页脚占位符 3">
            <a:extLst>
              <a:ext uri="{FF2B5EF4-FFF2-40B4-BE49-F238E27FC236}">
                <a16:creationId xmlns:a16="http://schemas.microsoft.com/office/drawing/2014/main" id="{F0BEDBB8-FA17-CA1A-BBA9-E9A510EEC474}"/>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A3D0E4AE-90E5-1519-8E78-D1A22ACBDC2A}"/>
              </a:ext>
            </a:extLst>
          </p:cNvPr>
          <p:cNvSpPr>
            <a:spLocks noGrp="1"/>
          </p:cNvSpPr>
          <p:nvPr>
            <p:ph type="sldNum" sz="quarter" idx="12"/>
          </p:nvPr>
        </p:nvSpPr>
        <p:spPr/>
        <p:txBody>
          <a:bodyPr/>
          <a:lstStyle/>
          <a:p>
            <a:fld id="{9E260BC5-5BF3-8746-862B-DC45E9CAA88B}" type="slidenum">
              <a:rPr lang="en-US" smtClean="0"/>
              <a:pPr/>
              <a:t>16</a:t>
            </a:fld>
            <a:r>
              <a:rPr lang="en-US" altLang="zh-CN" dirty="0"/>
              <a:t>/25</a:t>
            </a:r>
            <a:endParaRPr lang="en-US" dirty="0"/>
          </a:p>
        </p:txBody>
      </p:sp>
      <p:graphicFrame>
        <p:nvGraphicFramePr>
          <p:cNvPr id="6" name="Object 21">
            <a:extLst>
              <a:ext uri="{FF2B5EF4-FFF2-40B4-BE49-F238E27FC236}">
                <a16:creationId xmlns:a16="http://schemas.microsoft.com/office/drawing/2014/main" id="{1FF8BB08-8774-D91D-3C00-8C98C1F04453}"/>
              </a:ext>
            </a:extLst>
          </p:cNvPr>
          <p:cNvGraphicFramePr>
            <a:graphicFrameLocks noChangeAspect="1"/>
          </p:cNvGraphicFramePr>
          <p:nvPr>
            <p:extLst>
              <p:ext uri="{D42A27DB-BD31-4B8C-83A1-F6EECF244321}">
                <p14:modId xmlns:p14="http://schemas.microsoft.com/office/powerpoint/2010/main" val="3324338888"/>
              </p:ext>
            </p:extLst>
          </p:nvPr>
        </p:nvGraphicFramePr>
        <p:xfrm>
          <a:off x="1481503" y="756978"/>
          <a:ext cx="1404937" cy="2892425"/>
        </p:xfrm>
        <a:graphic>
          <a:graphicData uri="http://schemas.openxmlformats.org/presentationml/2006/ole">
            <mc:AlternateContent xmlns:mc="http://schemas.openxmlformats.org/markup-compatibility/2006">
              <mc:Choice xmlns:v="urn:schemas-microsoft-com:vml" Requires="v">
                <p:oleObj name="Picture" r:id="rId3" imgW="825500" imgH="1612900" progId="Word.Picture.8">
                  <p:embed/>
                </p:oleObj>
              </mc:Choice>
              <mc:Fallback>
                <p:oleObj name="Picture" r:id="rId3" imgW="825500" imgH="1612900" progId="Word.Picture.8">
                  <p:embed/>
                  <p:pic>
                    <p:nvPicPr>
                      <p:cNvPr id="25608" name="Object 21"/>
                      <p:cNvPicPr>
                        <a:picLocks noChangeAspect="1" noChangeArrowheads="1"/>
                      </p:cNvPicPr>
                      <p:nvPr/>
                    </p:nvPicPr>
                    <p:blipFill>
                      <a:blip r:embed="rId4">
                        <a:extLst>
                          <a:ext uri="{28A0092B-C50C-407E-A947-70E740481C1C}">
                            <a14:useLocalDpi xmlns:a14="http://schemas.microsoft.com/office/drawing/2010/main" val="0"/>
                          </a:ext>
                        </a:extLst>
                      </a:blip>
                      <a:srcRect t="-1878"/>
                      <a:stretch>
                        <a:fillRect/>
                      </a:stretch>
                    </p:blipFill>
                    <p:spPr bwMode="auto">
                      <a:xfrm>
                        <a:off x="1481503" y="756978"/>
                        <a:ext cx="1404937" cy="2892425"/>
                      </a:xfrm>
                      <a:prstGeom prst="rect">
                        <a:avLst/>
                      </a:prstGeom>
                      <a:noFill/>
                      <a:ln>
                        <a:noFill/>
                      </a:ln>
                    </p:spPr>
                  </p:pic>
                </p:oleObj>
              </mc:Fallback>
            </mc:AlternateContent>
          </a:graphicData>
        </a:graphic>
      </p:graphicFrame>
      <p:sp>
        <p:nvSpPr>
          <p:cNvPr id="7" name="Line 6">
            <a:extLst>
              <a:ext uri="{FF2B5EF4-FFF2-40B4-BE49-F238E27FC236}">
                <a16:creationId xmlns:a16="http://schemas.microsoft.com/office/drawing/2014/main" id="{02494B43-BD8E-1272-D3DB-C215413A40A8}"/>
              </a:ext>
            </a:extLst>
          </p:cNvPr>
          <p:cNvSpPr>
            <a:spLocks noChangeShapeType="1"/>
          </p:cNvSpPr>
          <p:nvPr/>
        </p:nvSpPr>
        <p:spPr bwMode="auto">
          <a:xfrm>
            <a:off x="1121140" y="1117340"/>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7">
            <a:extLst>
              <a:ext uri="{FF2B5EF4-FFF2-40B4-BE49-F238E27FC236}">
                <a16:creationId xmlns:a16="http://schemas.microsoft.com/office/drawing/2014/main" id="{5FFD7635-039A-5A4D-9073-41F3F6D3E2E8}"/>
              </a:ext>
            </a:extLst>
          </p:cNvPr>
          <p:cNvSpPr>
            <a:spLocks noChangeShapeType="1"/>
          </p:cNvSpPr>
          <p:nvPr/>
        </p:nvSpPr>
        <p:spPr bwMode="auto">
          <a:xfrm>
            <a:off x="1121140" y="1369753"/>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8">
            <a:extLst>
              <a:ext uri="{FF2B5EF4-FFF2-40B4-BE49-F238E27FC236}">
                <a16:creationId xmlns:a16="http://schemas.microsoft.com/office/drawing/2014/main" id="{9161CBCA-A2C2-FDA6-CC29-212D3BF1BF1B}"/>
              </a:ext>
            </a:extLst>
          </p:cNvPr>
          <p:cNvSpPr>
            <a:spLocks noChangeShapeType="1"/>
          </p:cNvSpPr>
          <p:nvPr/>
        </p:nvSpPr>
        <p:spPr bwMode="auto">
          <a:xfrm>
            <a:off x="1121140" y="1620578"/>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9">
            <a:extLst>
              <a:ext uri="{FF2B5EF4-FFF2-40B4-BE49-F238E27FC236}">
                <a16:creationId xmlns:a16="http://schemas.microsoft.com/office/drawing/2014/main" id="{90C2033B-E37A-D96E-AC55-96E8F3BA0439}"/>
              </a:ext>
            </a:extLst>
          </p:cNvPr>
          <p:cNvSpPr>
            <a:spLocks noChangeShapeType="1"/>
          </p:cNvSpPr>
          <p:nvPr/>
        </p:nvSpPr>
        <p:spPr bwMode="auto">
          <a:xfrm>
            <a:off x="1121140" y="1872990"/>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0">
            <a:extLst>
              <a:ext uri="{FF2B5EF4-FFF2-40B4-BE49-F238E27FC236}">
                <a16:creationId xmlns:a16="http://schemas.microsoft.com/office/drawing/2014/main" id="{6EE3C9D1-65A5-D739-1C01-DF3B4C9BF89D}"/>
              </a:ext>
            </a:extLst>
          </p:cNvPr>
          <p:cNvSpPr>
            <a:spLocks noChangeShapeType="1"/>
          </p:cNvSpPr>
          <p:nvPr/>
        </p:nvSpPr>
        <p:spPr bwMode="auto">
          <a:xfrm>
            <a:off x="1121140" y="2198428"/>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1">
            <a:extLst>
              <a:ext uri="{FF2B5EF4-FFF2-40B4-BE49-F238E27FC236}">
                <a16:creationId xmlns:a16="http://schemas.microsoft.com/office/drawing/2014/main" id="{039E67E4-296E-0D6B-E19C-4C89BB4D6460}"/>
              </a:ext>
            </a:extLst>
          </p:cNvPr>
          <p:cNvSpPr>
            <a:spLocks noChangeShapeType="1"/>
          </p:cNvSpPr>
          <p:nvPr/>
        </p:nvSpPr>
        <p:spPr bwMode="auto">
          <a:xfrm>
            <a:off x="1121140" y="2450840"/>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2">
            <a:extLst>
              <a:ext uri="{FF2B5EF4-FFF2-40B4-BE49-F238E27FC236}">
                <a16:creationId xmlns:a16="http://schemas.microsoft.com/office/drawing/2014/main" id="{1AA911BB-175E-D66E-A26E-72CC12DBF2B4}"/>
              </a:ext>
            </a:extLst>
          </p:cNvPr>
          <p:cNvSpPr>
            <a:spLocks noChangeShapeType="1"/>
          </p:cNvSpPr>
          <p:nvPr/>
        </p:nvSpPr>
        <p:spPr bwMode="auto">
          <a:xfrm>
            <a:off x="1121140" y="2701665"/>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3">
            <a:extLst>
              <a:ext uri="{FF2B5EF4-FFF2-40B4-BE49-F238E27FC236}">
                <a16:creationId xmlns:a16="http://schemas.microsoft.com/office/drawing/2014/main" id="{AAB18D00-961A-1191-41CE-56111542EC7E}"/>
              </a:ext>
            </a:extLst>
          </p:cNvPr>
          <p:cNvSpPr>
            <a:spLocks noChangeShapeType="1"/>
          </p:cNvSpPr>
          <p:nvPr/>
        </p:nvSpPr>
        <p:spPr bwMode="auto">
          <a:xfrm>
            <a:off x="1121140" y="2954078"/>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4">
            <a:extLst>
              <a:ext uri="{FF2B5EF4-FFF2-40B4-BE49-F238E27FC236}">
                <a16:creationId xmlns:a16="http://schemas.microsoft.com/office/drawing/2014/main" id="{1747794B-5858-655E-D65D-A4E41020D95C}"/>
              </a:ext>
            </a:extLst>
          </p:cNvPr>
          <p:cNvSpPr>
            <a:spLocks noChangeShapeType="1"/>
          </p:cNvSpPr>
          <p:nvPr/>
        </p:nvSpPr>
        <p:spPr bwMode="auto">
          <a:xfrm>
            <a:off x="1121140" y="3312853"/>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5">
            <a:extLst>
              <a:ext uri="{FF2B5EF4-FFF2-40B4-BE49-F238E27FC236}">
                <a16:creationId xmlns:a16="http://schemas.microsoft.com/office/drawing/2014/main" id="{04E95540-BF0E-F312-4207-AAB410F01F87}"/>
              </a:ext>
            </a:extLst>
          </p:cNvPr>
          <p:cNvSpPr>
            <a:spLocks noChangeShapeType="1"/>
          </p:cNvSpPr>
          <p:nvPr/>
        </p:nvSpPr>
        <p:spPr bwMode="auto">
          <a:xfrm>
            <a:off x="2849928" y="1620578"/>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6">
            <a:extLst>
              <a:ext uri="{FF2B5EF4-FFF2-40B4-BE49-F238E27FC236}">
                <a16:creationId xmlns:a16="http://schemas.microsoft.com/office/drawing/2014/main" id="{4C4B6AAD-204B-7FEC-2920-B6E05879829F}"/>
              </a:ext>
            </a:extLst>
          </p:cNvPr>
          <p:cNvSpPr>
            <a:spLocks noChangeShapeType="1"/>
          </p:cNvSpPr>
          <p:nvPr/>
        </p:nvSpPr>
        <p:spPr bwMode="auto">
          <a:xfrm>
            <a:off x="2849928" y="2304790"/>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7">
            <a:extLst>
              <a:ext uri="{FF2B5EF4-FFF2-40B4-BE49-F238E27FC236}">
                <a16:creationId xmlns:a16="http://schemas.microsoft.com/office/drawing/2014/main" id="{C0332163-6D2A-9E75-0A08-182D5531E3BC}"/>
              </a:ext>
            </a:extLst>
          </p:cNvPr>
          <p:cNvSpPr>
            <a:spLocks noChangeShapeType="1"/>
          </p:cNvSpPr>
          <p:nvPr/>
        </p:nvSpPr>
        <p:spPr bwMode="auto">
          <a:xfrm>
            <a:off x="2849928" y="2557203"/>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8">
            <a:extLst>
              <a:ext uri="{FF2B5EF4-FFF2-40B4-BE49-F238E27FC236}">
                <a16:creationId xmlns:a16="http://schemas.microsoft.com/office/drawing/2014/main" id="{7DA4B327-0E37-37F8-D0AE-07BA9EC731E5}"/>
              </a:ext>
            </a:extLst>
          </p:cNvPr>
          <p:cNvSpPr>
            <a:spLocks noChangeShapeType="1"/>
          </p:cNvSpPr>
          <p:nvPr/>
        </p:nvSpPr>
        <p:spPr bwMode="auto">
          <a:xfrm>
            <a:off x="2849928" y="2844540"/>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9">
            <a:extLst>
              <a:ext uri="{FF2B5EF4-FFF2-40B4-BE49-F238E27FC236}">
                <a16:creationId xmlns:a16="http://schemas.microsoft.com/office/drawing/2014/main" id="{CA30ECC4-EE4B-4F14-A50F-257738349676}"/>
              </a:ext>
            </a:extLst>
          </p:cNvPr>
          <p:cNvSpPr>
            <a:spLocks noChangeShapeType="1"/>
          </p:cNvSpPr>
          <p:nvPr/>
        </p:nvSpPr>
        <p:spPr bwMode="auto">
          <a:xfrm>
            <a:off x="2849928" y="2017453"/>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Text Box 20">
            <a:extLst>
              <a:ext uri="{FF2B5EF4-FFF2-40B4-BE49-F238E27FC236}">
                <a16:creationId xmlns:a16="http://schemas.microsoft.com/office/drawing/2014/main" id="{F922627B-F2D2-7ECC-B1A0-9FF10F23FB3C}"/>
              </a:ext>
            </a:extLst>
          </p:cNvPr>
          <p:cNvSpPr txBox="1">
            <a:spLocks noChangeArrowheads="1"/>
          </p:cNvSpPr>
          <p:nvPr/>
        </p:nvSpPr>
        <p:spPr bwMode="auto">
          <a:xfrm>
            <a:off x="1410065" y="378116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a:t>逻辑符号</a:t>
            </a:r>
          </a:p>
        </p:txBody>
      </p:sp>
      <p:graphicFrame>
        <p:nvGraphicFramePr>
          <p:cNvPr id="22" name="Object 19">
            <a:extLst>
              <a:ext uri="{FF2B5EF4-FFF2-40B4-BE49-F238E27FC236}">
                <a16:creationId xmlns:a16="http://schemas.microsoft.com/office/drawing/2014/main" id="{69B2E0DA-9388-5F82-9953-CBC5111B3B3B}"/>
              </a:ext>
            </a:extLst>
          </p:cNvPr>
          <p:cNvGraphicFramePr>
            <a:graphicFrameLocks noChangeAspect="1"/>
          </p:cNvGraphicFramePr>
          <p:nvPr>
            <p:extLst>
              <p:ext uri="{D42A27DB-BD31-4B8C-83A1-F6EECF244321}">
                <p14:modId xmlns:p14="http://schemas.microsoft.com/office/powerpoint/2010/main" val="95611327"/>
              </p:ext>
            </p:extLst>
          </p:nvPr>
        </p:nvGraphicFramePr>
        <p:xfrm>
          <a:off x="5351489" y="510639"/>
          <a:ext cx="4435131" cy="5934755"/>
        </p:xfrm>
        <a:graphic>
          <a:graphicData uri="http://schemas.openxmlformats.org/presentationml/2006/ole">
            <mc:AlternateContent xmlns:mc="http://schemas.openxmlformats.org/markup-compatibility/2006">
              <mc:Choice xmlns:v="urn:schemas-microsoft-com:vml" Requires="v">
                <p:oleObj name="Picture" r:id="rId5" imgW="2986430" imgH="3960205" progId="Word.Picture.8">
                  <p:embed/>
                </p:oleObj>
              </mc:Choice>
              <mc:Fallback>
                <p:oleObj name="Picture" r:id="rId5" imgW="2986430" imgH="3960205" progId="Word.Picture.8">
                  <p:embed/>
                  <p:pic>
                    <p:nvPicPr>
                      <p:cNvPr id="25607" name="Object 19"/>
                      <p:cNvPicPr>
                        <a:picLocks noChangeAspect="1" noChangeArrowheads="1"/>
                      </p:cNvPicPr>
                      <p:nvPr/>
                    </p:nvPicPr>
                    <p:blipFill>
                      <a:blip r:embed="rId6">
                        <a:extLst>
                          <a:ext uri="{28A0092B-C50C-407E-A947-70E740481C1C}">
                            <a14:useLocalDpi xmlns:a14="http://schemas.microsoft.com/office/drawing/2010/main" val="0"/>
                          </a:ext>
                        </a:extLst>
                      </a:blip>
                      <a:srcRect t="-1364"/>
                      <a:stretch>
                        <a:fillRect/>
                      </a:stretch>
                    </p:blipFill>
                    <p:spPr bwMode="auto">
                      <a:xfrm>
                        <a:off x="5351489" y="510639"/>
                        <a:ext cx="4435131" cy="5934755"/>
                      </a:xfrm>
                      <a:prstGeom prst="rect">
                        <a:avLst/>
                      </a:prstGeom>
                      <a:solidFill>
                        <a:schemeClr val="bg1"/>
                      </a:solidFill>
                      <a:ln>
                        <a:noFill/>
                      </a:ln>
                    </p:spPr>
                  </p:pic>
                </p:oleObj>
              </mc:Fallback>
            </mc:AlternateContent>
          </a:graphicData>
        </a:graphic>
      </p:graphicFrame>
      <p:graphicFrame>
        <p:nvGraphicFramePr>
          <p:cNvPr id="23" name="Object 17">
            <a:extLst>
              <a:ext uri="{FF2B5EF4-FFF2-40B4-BE49-F238E27FC236}">
                <a16:creationId xmlns:a16="http://schemas.microsoft.com/office/drawing/2014/main" id="{1953B57E-274C-EB94-4257-CD9608CD9F76}"/>
              </a:ext>
            </a:extLst>
          </p:cNvPr>
          <p:cNvGraphicFramePr>
            <a:graphicFrameLocks noChangeAspect="1"/>
          </p:cNvGraphicFramePr>
          <p:nvPr>
            <p:extLst>
              <p:ext uri="{D42A27DB-BD31-4B8C-83A1-F6EECF244321}">
                <p14:modId xmlns:p14="http://schemas.microsoft.com/office/powerpoint/2010/main" val="4098825620"/>
              </p:ext>
            </p:extLst>
          </p:nvPr>
        </p:nvGraphicFramePr>
        <p:xfrm>
          <a:off x="489315" y="5893336"/>
          <a:ext cx="1841500" cy="455613"/>
        </p:xfrm>
        <a:graphic>
          <a:graphicData uri="http://schemas.openxmlformats.org/presentationml/2006/ole">
            <mc:AlternateContent xmlns:mc="http://schemas.openxmlformats.org/markup-compatibility/2006">
              <mc:Choice xmlns:v="urn:schemas-microsoft-com:vml" Requires="v">
                <p:oleObj name="公式" r:id="rId7" imgW="799753" imgH="215806" progId="Equation.3">
                  <p:embed/>
                </p:oleObj>
              </mc:Choice>
              <mc:Fallback>
                <p:oleObj name="公式" r:id="rId7" imgW="799753" imgH="215806" progId="Equation.3">
                  <p:embed/>
                  <p:pic>
                    <p:nvPicPr>
                      <p:cNvPr id="25605"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315" y="5893336"/>
                        <a:ext cx="1841500" cy="455613"/>
                      </a:xfrm>
                      <a:prstGeom prst="rect">
                        <a:avLst/>
                      </a:prstGeom>
                      <a:noFill/>
                      <a:ln>
                        <a:noFill/>
                      </a:ln>
                    </p:spPr>
                  </p:pic>
                </p:oleObj>
              </mc:Fallback>
            </mc:AlternateContent>
          </a:graphicData>
        </a:graphic>
      </p:graphicFrame>
      <p:graphicFrame>
        <p:nvGraphicFramePr>
          <p:cNvPr id="24" name="Object 22">
            <a:extLst>
              <a:ext uri="{FF2B5EF4-FFF2-40B4-BE49-F238E27FC236}">
                <a16:creationId xmlns:a16="http://schemas.microsoft.com/office/drawing/2014/main" id="{12D501C6-C34F-8CF0-CBBF-64F1F104E0B8}"/>
              </a:ext>
            </a:extLst>
          </p:cNvPr>
          <p:cNvGraphicFramePr>
            <a:graphicFrameLocks noChangeAspect="1"/>
          </p:cNvGraphicFramePr>
          <p:nvPr>
            <p:extLst>
              <p:ext uri="{D42A27DB-BD31-4B8C-83A1-F6EECF244321}">
                <p14:modId xmlns:p14="http://schemas.microsoft.com/office/powerpoint/2010/main" val="3252644431"/>
              </p:ext>
            </p:extLst>
          </p:nvPr>
        </p:nvGraphicFramePr>
        <p:xfrm>
          <a:off x="448039" y="4408747"/>
          <a:ext cx="3471863" cy="431800"/>
        </p:xfrm>
        <a:graphic>
          <a:graphicData uri="http://schemas.openxmlformats.org/presentationml/2006/ole">
            <mc:AlternateContent xmlns:mc="http://schemas.openxmlformats.org/markup-compatibility/2006">
              <mc:Choice xmlns:v="urn:schemas-microsoft-com:vml" Requires="v">
                <p:oleObj name="公式" r:id="rId9" imgW="1701800" imgH="215900" progId="Equation.3">
                  <p:embed/>
                </p:oleObj>
              </mc:Choice>
              <mc:Fallback>
                <p:oleObj name="公式" r:id="rId9" imgW="1701800" imgH="215900" progId="Equation.3">
                  <p:embed/>
                  <p:pic>
                    <p:nvPicPr>
                      <p:cNvPr id="25624"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039" y="4408747"/>
                        <a:ext cx="3471863" cy="431800"/>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D010120D-F6E4-CBAB-FC5D-C7C6C21A9545}"/>
                  </a:ext>
                </a:extLst>
              </p:cNvPr>
              <p:cNvSpPr/>
              <p:nvPr/>
            </p:nvSpPr>
            <p:spPr>
              <a:xfrm>
                <a:off x="448039" y="4924210"/>
                <a:ext cx="3421706" cy="912173"/>
              </a:xfrm>
              <a:prstGeom prst="rect">
                <a:avLst/>
              </a:prstGeom>
              <a:ln>
                <a:solidFill>
                  <a:srgbClr val="0033CC"/>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𝑖</m:t>
                          </m:r>
                        </m:sub>
                      </m:sSub>
                      <m:r>
                        <a:rPr lang="zh-CN" altLang="en-US" i="0">
                          <a:latin typeface="Cambria Math" panose="02040503050406030204" pitchFamily="18" charset="0"/>
                        </a:rPr>
                        <m:t>=</m:t>
                      </m:r>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=0</m:t>
                          </m:r>
                        </m:sub>
                        <m:sup>
                          <m:r>
                            <a:rPr lang="zh-CN" altLang="en-US" i="1">
                              <a:latin typeface="Cambria Math" panose="02040503050406030204" pitchFamily="18" charset="0"/>
                            </a:rPr>
                            <m:t>𝑖</m:t>
                          </m:r>
                        </m:sup>
                        <m:e>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m:t>
                              </m:r>
                              <m:r>
                                <a:rPr lang="zh-CN" altLang="en-US" i="1">
                                  <a:latin typeface="Cambria Math" panose="02040503050406030204" pitchFamily="18" charset="0"/>
                                </a:rPr>
                                <m:t>𝑗</m:t>
                              </m:r>
                              <m:r>
                                <a:rPr lang="zh-CN" altLang="en-US" i="0">
                                  <a:latin typeface="Cambria Math" panose="02040503050406030204" pitchFamily="18" charset="0"/>
                                </a:rPr>
                                <m:t>+1</m:t>
                              </m:r>
                            </m:sub>
                            <m:sup>
                              <m:r>
                                <a:rPr lang="zh-CN" altLang="en-US" i="1">
                                  <a:latin typeface="Cambria Math" panose="02040503050406030204" pitchFamily="18" charset="0"/>
                                </a:rPr>
                                <m:t>𝑖</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𝑘</m:t>
                                  </m:r>
                                </m:sub>
                              </m:s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𝐺</m:t>
                                  </m:r>
                                </m:e>
                                <m:sub>
                                  <m:r>
                                    <a:rPr lang="zh-CN" altLang="en-US" i="1">
                                      <a:latin typeface="Cambria Math" panose="02040503050406030204" pitchFamily="18" charset="0"/>
                                    </a:rPr>
                                    <m:t>𝑗</m:t>
                                  </m:r>
                                </m:sub>
                              </m:sSub>
                            </m:e>
                          </m:nary>
                        </m:e>
                      </m:nary>
                      <m:r>
                        <a:rPr lang="zh-CN" altLang="en-US" i="0">
                          <a:latin typeface="Cambria Math" panose="02040503050406030204" pitchFamily="18" charset="0"/>
                        </a:rPr>
                        <m:t>+</m:t>
                      </m:r>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=0</m:t>
                          </m:r>
                        </m:sub>
                        <m:sup>
                          <m:r>
                            <a:rPr lang="zh-CN" altLang="en-US" i="1">
                              <a:latin typeface="Cambria Math" panose="02040503050406030204" pitchFamily="18" charset="0"/>
                            </a:rPr>
                            <m:t>𝑖</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𝑃</m:t>
                              </m:r>
                            </m:e>
                            <m:sub>
                              <m:r>
                                <a:rPr lang="en-US" altLang="zh-CN" b="0" i="1" smtClean="0">
                                  <a:latin typeface="Cambria Math" panose="02040503050406030204" pitchFamily="18" charset="0"/>
                                </a:rPr>
                                <m:t>𝑘</m:t>
                              </m:r>
                            </m:sub>
                          </m:s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𝐶</m:t>
                              </m:r>
                            </m:e>
                            <m:sub>
                              <m:r>
                                <a:rPr lang="zh-CN" altLang="en-US" i="0">
                                  <a:latin typeface="Cambria Math" panose="02040503050406030204" pitchFamily="18" charset="0"/>
                                </a:rPr>
                                <m:t>−1</m:t>
                              </m:r>
                            </m:sub>
                          </m:sSub>
                        </m:e>
                      </m:nary>
                    </m:oMath>
                  </m:oMathPara>
                </a14:m>
                <a:endParaRPr lang="zh-CN" altLang="en-US" dirty="0"/>
              </a:p>
            </p:txBody>
          </p:sp>
        </mc:Choice>
        <mc:Fallback xmlns="">
          <p:sp>
            <p:nvSpPr>
              <p:cNvPr id="25" name="矩形 24">
                <a:extLst>
                  <a:ext uri="{FF2B5EF4-FFF2-40B4-BE49-F238E27FC236}">
                    <a16:creationId xmlns:a16="http://schemas.microsoft.com/office/drawing/2014/main" id="{D010120D-F6E4-CBAB-FC5D-C7C6C21A9545}"/>
                  </a:ext>
                </a:extLst>
              </p:cNvPr>
              <p:cNvSpPr>
                <a:spLocks noRot="1" noChangeAspect="1" noMove="1" noResize="1" noEditPoints="1" noAdjustHandles="1" noChangeArrowheads="1" noChangeShapeType="1" noTextEdit="1"/>
              </p:cNvSpPr>
              <p:nvPr/>
            </p:nvSpPr>
            <p:spPr>
              <a:xfrm>
                <a:off x="448039" y="4924210"/>
                <a:ext cx="3421706" cy="912173"/>
              </a:xfrm>
              <a:prstGeom prst="rect">
                <a:avLst/>
              </a:prstGeom>
              <a:blipFill>
                <a:blip r:embed="rId11"/>
                <a:stretch>
                  <a:fillRect l="-5515" t="-89041" b="-138356"/>
                </a:stretch>
              </a:blipFill>
              <a:ln>
                <a:solidFill>
                  <a:srgbClr val="0033CC"/>
                </a:solidFill>
              </a:ln>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AF5F7AC3-CE4C-E530-E465-B93EED1E51EB}"/>
              </a:ext>
            </a:extLst>
          </p:cNvPr>
          <p:cNvSpPr txBox="1"/>
          <p:nvPr/>
        </p:nvSpPr>
        <p:spPr>
          <a:xfrm flipH="1">
            <a:off x="609899" y="4582374"/>
            <a:ext cx="88322" cy="307777"/>
          </a:xfrm>
          <a:prstGeom prst="rect">
            <a:avLst/>
          </a:prstGeom>
          <a:noFill/>
        </p:spPr>
        <p:txBody>
          <a:bodyPr wrap="square" rtlCol="0">
            <a:spAutoFit/>
          </a:bodyPr>
          <a:lstStyle/>
          <a:p>
            <a:r>
              <a:rPr kumimoji="1" lang="en-US" altLang="zh-CN" sz="1400" dirty="0" err="1"/>
              <a:t>i</a:t>
            </a:r>
            <a:endParaRPr kumimoji="1" lang="zh-CN" altLang="en-US" sz="1400" dirty="0"/>
          </a:p>
        </p:txBody>
      </p:sp>
    </p:spTree>
    <p:extLst>
      <p:ext uri="{BB962C8B-B14F-4D97-AF65-F5344CB8AC3E}">
        <p14:creationId xmlns:p14="http://schemas.microsoft.com/office/powerpoint/2010/main" val="2792629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7F19EC-2635-C91C-FC41-FFF97316E22D}"/>
              </a:ext>
            </a:extLst>
          </p:cNvPr>
          <p:cNvSpPr>
            <a:spLocks noGrp="1"/>
          </p:cNvSpPr>
          <p:nvPr>
            <p:ph type="title"/>
          </p:nvPr>
        </p:nvSpPr>
        <p:spPr/>
        <p:txBody>
          <a:bodyPr>
            <a:normAutofit fontScale="90000"/>
          </a:bodyPr>
          <a:lstStyle/>
          <a:p>
            <a:r>
              <a:rPr lang="zh-CN" altLang="en-US" dirty="0"/>
              <a:t>门延迟 </a:t>
            </a:r>
            <a:r>
              <a:rPr lang="en-US" altLang="zh-CN" b="0" dirty="0"/>
              <a:t>(gate delay)</a:t>
            </a:r>
            <a:endParaRPr kumimoji="1" lang="zh-CN" altLang="en-US" dirty="0"/>
          </a:p>
        </p:txBody>
      </p:sp>
      <p:sp>
        <p:nvSpPr>
          <p:cNvPr id="3" name="内容占位符 2">
            <a:extLst>
              <a:ext uri="{FF2B5EF4-FFF2-40B4-BE49-F238E27FC236}">
                <a16:creationId xmlns:a16="http://schemas.microsoft.com/office/drawing/2014/main" id="{B3F2ADBE-2A3C-F3EE-F6D3-E186A1EB9559}"/>
              </a:ext>
            </a:extLst>
          </p:cNvPr>
          <p:cNvSpPr>
            <a:spLocks noGrp="1"/>
          </p:cNvSpPr>
          <p:nvPr>
            <p:ph idx="1"/>
          </p:nvPr>
        </p:nvSpPr>
        <p:spPr>
          <a:xfrm>
            <a:off x="17780" y="585760"/>
            <a:ext cx="9276122" cy="5947119"/>
          </a:xfrm>
        </p:spPr>
        <p:txBody>
          <a:bodyPr/>
          <a:lstStyle/>
          <a:p>
            <a:pPr algn="just"/>
            <a:r>
              <a:rPr lang="en-US" altLang="zh-CN" sz="2000" b="0" dirty="0">
                <a:solidFill>
                  <a:srgbClr val="222222"/>
                </a:solidFill>
                <a:latin typeface="Arial" panose="020B0604020202020204" pitchFamily="34" charset="0"/>
              </a:rPr>
              <a:t>In </a:t>
            </a:r>
            <a:r>
              <a:rPr lang="en-US" altLang="zh-CN" sz="2000" b="0" dirty="0">
                <a:solidFill>
                  <a:srgbClr val="0645AD"/>
                </a:solidFill>
                <a:latin typeface="Arial" panose="020B0604020202020204" pitchFamily="34" charset="0"/>
                <a:hlinkClick r:id="rId2" tooltip="Electronics"/>
              </a:rPr>
              <a:t>electronics</a:t>
            </a:r>
            <a:r>
              <a:rPr lang="en-US" altLang="zh-CN" sz="2000" b="0" dirty="0">
                <a:solidFill>
                  <a:srgbClr val="222222"/>
                </a:solidFill>
                <a:latin typeface="Arial" panose="020B0604020202020204" pitchFamily="34" charset="0"/>
              </a:rPr>
              <a:t>, </a:t>
            </a:r>
            <a:r>
              <a:rPr lang="en-US" altLang="zh-CN" sz="2000" b="0" dirty="0">
                <a:solidFill>
                  <a:srgbClr val="0645AD"/>
                </a:solidFill>
                <a:latin typeface="Arial" panose="020B0604020202020204" pitchFamily="34" charset="0"/>
                <a:hlinkClick r:id="rId3" tooltip="Digital circuit"/>
              </a:rPr>
              <a:t>digital circuits</a:t>
            </a:r>
            <a:r>
              <a:rPr lang="en-US" altLang="zh-CN" sz="2000" b="0" dirty="0">
                <a:solidFill>
                  <a:srgbClr val="222222"/>
                </a:solidFill>
                <a:latin typeface="Arial" panose="020B0604020202020204" pitchFamily="34" charset="0"/>
              </a:rPr>
              <a:t> and </a:t>
            </a:r>
            <a:r>
              <a:rPr lang="en-US" altLang="zh-CN" sz="2000" b="0" dirty="0">
                <a:solidFill>
                  <a:srgbClr val="0645AD"/>
                </a:solidFill>
                <a:latin typeface="Arial" panose="020B0604020202020204" pitchFamily="34" charset="0"/>
                <a:hlinkClick r:id="rId4" tooltip="Digital electronics"/>
              </a:rPr>
              <a:t>digital electronics</a:t>
            </a:r>
            <a:r>
              <a:rPr lang="en-US" altLang="zh-CN" sz="2000" b="0" dirty="0">
                <a:solidFill>
                  <a:srgbClr val="222222"/>
                </a:solidFill>
                <a:latin typeface="Arial" panose="020B0604020202020204" pitchFamily="34" charset="0"/>
              </a:rPr>
              <a:t>, the propagation delay, or </a:t>
            </a:r>
            <a:r>
              <a:rPr lang="en-US" altLang="zh-CN" sz="2000" dirty="0">
                <a:solidFill>
                  <a:srgbClr val="222222"/>
                </a:solidFill>
                <a:latin typeface="Arial" panose="020B0604020202020204" pitchFamily="34" charset="0"/>
              </a:rPr>
              <a:t>gate delay</a:t>
            </a:r>
            <a:r>
              <a:rPr lang="en-US" altLang="zh-CN" sz="2000" b="0" dirty="0">
                <a:solidFill>
                  <a:srgbClr val="222222"/>
                </a:solidFill>
                <a:latin typeface="Arial" panose="020B0604020202020204" pitchFamily="34" charset="0"/>
              </a:rPr>
              <a:t>, is the length of time which starts when the input to a </a:t>
            </a:r>
            <a:r>
              <a:rPr lang="en-US" altLang="zh-CN" sz="2000" b="0" dirty="0">
                <a:solidFill>
                  <a:srgbClr val="0645AD"/>
                </a:solidFill>
                <a:latin typeface="Arial" panose="020B0604020202020204" pitchFamily="34" charset="0"/>
                <a:hlinkClick r:id="rId5" tooltip="Logic gate"/>
              </a:rPr>
              <a:t>logic gate</a:t>
            </a:r>
            <a:r>
              <a:rPr lang="en-US" altLang="zh-CN" sz="2000" b="0" dirty="0">
                <a:solidFill>
                  <a:srgbClr val="222222"/>
                </a:solidFill>
                <a:latin typeface="Arial" panose="020B0604020202020204" pitchFamily="34" charset="0"/>
              </a:rPr>
              <a:t> becomes stable and valid to change, to the time that the output of that logic gate is stable and valid to change. Often on manufacturers' datasheets this refers to the time required for the output to reach 50% of its final output level when the input changes to 50% of its final input level. </a:t>
            </a:r>
            <a:endParaRPr lang="zh-CN" altLang="en-US" sz="2000" b="0" dirty="0">
              <a:latin typeface="Arial" panose="020B0604020202020204" pitchFamily="34" charset="0"/>
            </a:endParaRPr>
          </a:p>
          <a:p>
            <a:pPr algn="just"/>
            <a:endParaRPr kumimoji="1" lang="zh-CN" altLang="en-US" dirty="0"/>
          </a:p>
        </p:txBody>
      </p:sp>
      <p:sp>
        <p:nvSpPr>
          <p:cNvPr id="4" name="页脚占位符 3">
            <a:extLst>
              <a:ext uri="{FF2B5EF4-FFF2-40B4-BE49-F238E27FC236}">
                <a16:creationId xmlns:a16="http://schemas.microsoft.com/office/drawing/2014/main" id="{43C9B037-F886-52E7-7DB2-863BC7C03738}"/>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4D23FFF5-4B65-118F-0B90-5E47A84F8D93}"/>
              </a:ext>
            </a:extLst>
          </p:cNvPr>
          <p:cNvSpPr>
            <a:spLocks noGrp="1"/>
          </p:cNvSpPr>
          <p:nvPr>
            <p:ph type="sldNum" sz="quarter" idx="12"/>
          </p:nvPr>
        </p:nvSpPr>
        <p:spPr/>
        <p:txBody>
          <a:bodyPr/>
          <a:lstStyle/>
          <a:p>
            <a:fld id="{9E260BC5-5BF3-8746-862B-DC45E9CAA88B}" type="slidenum">
              <a:rPr lang="en-US" smtClean="0"/>
              <a:pPr/>
              <a:t>17</a:t>
            </a:fld>
            <a:r>
              <a:rPr lang="en-US" altLang="zh-CN" dirty="0"/>
              <a:t>/25</a:t>
            </a:r>
            <a:endParaRPr lang="en-US" dirty="0"/>
          </a:p>
        </p:txBody>
      </p:sp>
      <p:pic>
        <p:nvPicPr>
          <p:cNvPr id="6" name="图片 11">
            <a:extLst>
              <a:ext uri="{FF2B5EF4-FFF2-40B4-BE49-F238E27FC236}">
                <a16:creationId xmlns:a16="http://schemas.microsoft.com/office/drawing/2014/main" id="{20D5105B-DEFB-6E92-AF02-C6DD4E72A99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49902" y="2909732"/>
            <a:ext cx="9144000"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9">
            <a:extLst>
              <a:ext uri="{FF2B5EF4-FFF2-40B4-BE49-F238E27FC236}">
                <a16:creationId xmlns:a16="http://schemas.microsoft.com/office/drawing/2014/main" id="{06980DD8-97B6-4C60-E835-282E2D340523}"/>
              </a:ext>
            </a:extLst>
          </p:cNvPr>
          <p:cNvSpPr>
            <a:spLocks noChangeArrowheads="1"/>
          </p:cNvSpPr>
          <p:nvPr/>
        </p:nvSpPr>
        <p:spPr bwMode="auto">
          <a:xfrm>
            <a:off x="351410" y="6087296"/>
            <a:ext cx="5040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*https://en.wikipedia.org/wiki/Propagation_delay</a:t>
            </a:r>
          </a:p>
        </p:txBody>
      </p:sp>
    </p:spTree>
    <p:extLst>
      <p:ext uri="{BB962C8B-B14F-4D97-AF65-F5344CB8AC3E}">
        <p14:creationId xmlns:p14="http://schemas.microsoft.com/office/powerpoint/2010/main" val="4218087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F0FAC-4AF0-9B3A-DB69-346C8485675D}"/>
              </a:ext>
            </a:extLst>
          </p:cNvPr>
          <p:cNvSpPr>
            <a:spLocks noGrp="1"/>
          </p:cNvSpPr>
          <p:nvPr>
            <p:ph type="title"/>
          </p:nvPr>
        </p:nvSpPr>
        <p:spPr/>
        <p:txBody>
          <a:bodyPr>
            <a:normAutofit fontScale="90000"/>
          </a:bodyPr>
          <a:lstStyle/>
          <a:p>
            <a:r>
              <a:rPr lang="zh-CN" altLang="en-US" dirty="0"/>
              <a:t>门延迟 </a:t>
            </a:r>
            <a:r>
              <a:rPr lang="en-US" altLang="zh-CN" b="0" dirty="0"/>
              <a:t>(gate delay)</a:t>
            </a:r>
            <a:endParaRPr kumimoji="1" lang="zh-CN" altLang="en-US" dirty="0"/>
          </a:p>
        </p:txBody>
      </p:sp>
      <p:sp>
        <p:nvSpPr>
          <p:cNvPr id="3" name="内容占位符 2">
            <a:extLst>
              <a:ext uri="{FF2B5EF4-FFF2-40B4-BE49-F238E27FC236}">
                <a16:creationId xmlns:a16="http://schemas.microsoft.com/office/drawing/2014/main" id="{A74A62E4-0230-C33C-9926-48DC6375787B}"/>
              </a:ext>
            </a:extLst>
          </p:cNvPr>
          <p:cNvSpPr>
            <a:spLocks noGrp="1"/>
          </p:cNvSpPr>
          <p:nvPr>
            <p:ph idx="1"/>
          </p:nvPr>
        </p:nvSpPr>
        <p:spPr>
          <a:xfrm>
            <a:off x="17780" y="585760"/>
            <a:ext cx="9141210" cy="5947119"/>
          </a:xfrm>
        </p:spPr>
        <p:txBody>
          <a:bodyPr/>
          <a:lstStyle/>
          <a:p>
            <a:pPr algn="just"/>
            <a:r>
              <a:rPr lang="en-US" altLang="zh-CN" sz="2000" b="0" dirty="0">
                <a:solidFill>
                  <a:srgbClr val="222222"/>
                </a:solidFill>
                <a:latin typeface="Arial" panose="020B0604020202020204" pitchFamily="34" charset="0"/>
              </a:rPr>
              <a:t>Reducing gate delays in </a:t>
            </a:r>
            <a:r>
              <a:rPr lang="en-US" altLang="zh-CN" sz="2000" b="0" dirty="0">
                <a:solidFill>
                  <a:srgbClr val="0645AD"/>
                </a:solidFill>
                <a:latin typeface="Arial" panose="020B0604020202020204" pitchFamily="34" charset="0"/>
                <a:hlinkClick r:id="rId2" tooltip="Digital circuit"/>
              </a:rPr>
              <a:t>digital circuits</a:t>
            </a:r>
            <a:r>
              <a:rPr lang="en-US" altLang="zh-CN" sz="2000" b="0" dirty="0">
                <a:solidFill>
                  <a:srgbClr val="222222"/>
                </a:solidFill>
                <a:latin typeface="Arial" panose="020B0604020202020204" pitchFamily="34" charset="0"/>
              </a:rPr>
              <a:t> allows them to process data at a faster rate and improve overall performance. The determination of the propagation delay of a combined circuit requires identifying the longest path of propagation delays from input to output and by adding each </a:t>
            </a:r>
            <a:r>
              <a:rPr lang="en-US" altLang="zh-CN" sz="2000" b="0" dirty="0" err="1">
                <a:solidFill>
                  <a:srgbClr val="222222"/>
                </a:solidFill>
                <a:latin typeface="Arial" panose="020B0604020202020204" pitchFamily="34" charset="0"/>
              </a:rPr>
              <a:t>tpd</a:t>
            </a:r>
            <a:r>
              <a:rPr lang="en-US" altLang="zh-CN" sz="2000" b="0" dirty="0">
                <a:solidFill>
                  <a:srgbClr val="222222"/>
                </a:solidFill>
                <a:latin typeface="Arial" panose="020B0604020202020204" pitchFamily="34" charset="0"/>
              </a:rPr>
              <a:t> time along this path. </a:t>
            </a:r>
            <a:endParaRPr lang="zh-CN" altLang="en-US" sz="2000" b="0" dirty="0">
              <a:latin typeface="Arial" panose="020B0604020202020204" pitchFamily="34" charset="0"/>
            </a:endParaRPr>
          </a:p>
          <a:p>
            <a:endParaRPr kumimoji="1" lang="zh-CN" altLang="en-US" dirty="0"/>
          </a:p>
        </p:txBody>
      </p:sp>
      <p:sp>
        <p:nvSpPr>
          <p:cNvPr id="4" name="页脚占位符 3">
            <a:extLst>
              <a:ext uri="{FF2B5EF4-FFF2-40B4-BE49-F238E27FC236}">
                <a16:creationId xmlns:a16="http://schemas.microsoft.com/office/drawing/2014/main" id="{F2EEB665-2C16-8317-C296-06BA6C50C4AA}"/>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FD508BF6-7663-870A-A685-ABEF114A6DEB}"/>
              </a:ext>
            </a:extLst>
          </p:cNvPr>
          <p:cNvSpPr>
            <a:spLocks noGrp="1"/>
          </p:cNvSpPr>
          <p:nvPr>
            <p:ph type="sldNum" sz="quarter" idx="12"/>
          </p:nvPr>
        </p:nvSpPr>
        <p:spPr/>
        <p:txBody>
          <a:bodyPr/>
          <a:lstStyle/>
          <a:p>
            <a:fld id="{9E260BC5-5BF3-8746-862B-DC45E9CAA88B}" type="slidenum">
              <a:rPr lang="en-US" smtClean="0"/>
              <a:pPr/>
              <a:t>18</a:t>
            </a:fld>
            <a:r>
              <a:rPr lang="en-US" altLang="zh-CN" dirty="0"/>
              <a:t>/25</a:t>
            </a:r>
            <a:endParaRPr lang="en-US" dirty="0"/>
          </a:p>
        </p:txBody>
      </p:sp>
      <p:sp>
        <p:nvSpPr>
          <p:cNvPr id="6" name="矩形 9">
            <a:extLst>
              <a:ext uri="{FF2B5EF4-FFF2-40B4-BE49-F238E27FC236}">
                <a16:creationId xmlns:a16="http://schemas.microsoft.com/office/drawing/2014/main" id="{4F2064D8-2C97-DBBF-B387-C3B67B5038CE}"/>
              </a:ext>
            </a:extLst>
          </p:cNvPr>
          <p:cNvSpPr>
            <a:spLocks noChangeArrowheads="1"/>
          </p:cNvSpPr>
          <p:nvPr/>
        </p:nvSpPr>
        <p:spPr bwMode="auto">
          <a:xfrm>
            <a:off x="351410" y="6087296"/>
            <a:ext cx="5040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*https://en.wikipedia.org/wiki/Propagation_delay</a:t>
            </a:r>
          </a:p>
        </p:txBody>
      </p:sp>
      <p:pic>
        <p:nvPicPr>
          <p:cNvPr id="7" name="图片 8">
            <a:extLst>
              <a:ext uri="{FF2B5EF4-FFF2-40B4-BE49-F238E27FC236}">
                <a16:creationId xmlns:a16="http://schemas.microsoft.com/office/drawing/2014/main" id="{1247BC30-9AAB-5623-78FB-FDBCFBF65020}"/>
              </a:ext>
            </a:extLst>
          </p:cNvPr>
          <p:cNvPicPr>
            <a:picLocks noChangeAspect="1"/>
          </p:cNvPicPr>
          <p:nvPr/>
        </p:nvPicPr>
        <p:blipFill>
          <a:blip r:embed="rId3">
            <a:extLst>
              <a:ext uri="{28A0092B-C50C-407E-A947-70E740481C1C}">
                <a14:useLocalDpi xmlns:a14="http://schemas.microsoft.com/office/drawing/2010/main" val="0"/>
              </a:ext>
            </a:extLst>
          </a:blip>
          <a:srcRect t="3572"/>
          <a:stretch>
            <a:fillRect/>
          </a:stretch>
        </p:blipFill>
        <p:spPr bwMode="auto">
          <a:xfrm>
            <a:off x="1943100" y="2636838"/>
            <a:ext cx="5221288" cy="291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1295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7DBEB-87A4-7452-8182-B3B95A053A06}"/>
              </a:ext>
            </a:extLst>
          </p:cNvPr>
          <p:cNvSpPr>
            <a:spLocks noGrp="1"/>
          </p:cNvSpPr>
          <p:nvPr>
            <p:ph type="title"/>
          </p:nvPr>
        </p:nvSpPr>
        <p:spPr/>
        <p:txBody>
          <a:bodyPr>
            <a:normAutofit fontScale="90000"/>
          </a:bodyPr>
          <a:lstStyle/>
          <a:p>
            <a:r>
              <a:rPr lang="zh-CN" altLang="en-US" dirty="0"/>
              <a:t>延迟分析</a:t>
            </a:r>
            <a:endParaRPr kumimoji="1" lang="zh-CN" altLang="en-US" dirty="0"/>
          </a:p>
        </p:txBody>
      </p:sp>
      <p:sp>
        <p:nvSpPr>
          <p:cNvPr id="3" name="内容占位符 2">
            <a:extLst>
              <a:ext uri="{FF2B5EF4-FFF2-40B4-BE49-F238E27FC236}">
                <a16:creationId xmlns:a16="http://schemas.microsoft.com/office/drawing/2014/main" id="{15CFD1A4-1C93-216F-017A-F519FCBDD304}"/>
              </a:ext>
            </a:extLst>
          </p:cNvPr>
          <p:cNvSpPr>
            <a:spLocks noGrp="1"/>
          </p:cNvSpPr>
          <p:nvPr>
            <p:ph idx="1"/>
          </p:nvPr>
        </p:nvSpPr>
        <p:spPr/>
        <p:txBody>
          <a:bodyPr/>
          <a:lstStyle/>
          <a:p>
            <a:r>
              <a:rPr lang="zh-CN" altLang="en-US" dirty="0"/>
              <a:t>使用</a:t>
            </a:r>
            <a:r>
              <a:rPr lang="en-US" altLang="zh-CN" dirty="0"/>
              <a:t>1</a:t>
            </a:r>
            <a:r>
              <a:rPr lang="zh-CN" altLang="en-US" dirty="0"/>
              <a:t>位全加器实现</a:t>
            </a:r>
            <a:r>
              <a:rPr lang="en-US" altLang="zh-CN" dirty="0"/>
              <a:t>4</a:t>
            </a:r>
            <a:r>
              <a:rPr lang="zh-CN" altLang="en-US" dirty="0"/>
              <a:t>位全加器</a:t>
            </a:r>
          </a:p>
        </p:txBody>
      </p:sp>
      <p:sp>
        <p:nvSpPr>
          <p:cNvPr id="4" name="页脚占位符 3">
            <a:extLst>
              <a:ext uri="{FF2B5EF4-FFF2-40B4-BE49-F238E27FC236}">
                <a16:creationId xmlns:a16="http://schemas.microsoft.com/office/drawing/2014/main" id="{A4AFA1EA-D647-7F74-6E2D-E11BE696D89C}"/>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D112DEFF-D180-8D8D-4648-42168A433AAA}"/>
              </a:ext>
            </a:extLst>
          </p:cNvPr>
          <p:cNvSpPr>
            <a:spLocks noGrp="1"/>
          </p:cNvSpPr>
          <p:nvPr>
            <p:ph type="sldNum" sz="quarter" idx="12"/>
          </p:nvPr>
        </p:nvSpPr>
        <p:spPr/>
        <p:txBody>
          <a:bodyPr/>
          <a:lstStyle/>
          <a:p>
            <a:fld id="{9E260BC5-5BF3-8746-862B-DC45E9CAA88B}" type="slidenum">
              <a:rPr lang="en-US" smtClean="0"/>
              <a:pPr/>
              <a:t>19</a:t>
            </a:fld>
            <a:r>
              <a:rPr lang="en-US" altLang="zh-CN" dirty="0"/>
              <a:t>/25</a:t>
            </a:r>
            <a:endParaRPr lang="en-US" dirty="0"/>
          </a:p>
        </p:txBody>
      </p:sp>
      <p:pic>
        <p:nvPicPr>
          <p:cNvPr id="6" name="图片 6">
            <a:extLst>
              <a:ext uri="{FF2B5EF4-FFF2-40B4-BE49-F238E27FC236}">
                <a16:creationId xmlns:a16="http://schemas.microsoft.com/office/drawing/2014/main" id="{DE82CCE9-DAB2-218A-B140-4A7C43C815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105" y="1690688"/>
            <a:ext cx="2138363" cy="128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7">
            <a:extLst>
              <a:ext uri="{FF2B5EF4-FFF2-40B4-BE49-F238E27FC236}">
                <a16:creationId xmlns:a16="http://schemas.microsoft.com/office/drawing/2014/main" id="{141678B9-BA57-CB33-2E38-FACA8524E1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105" y="3125788"/>
            <a:ext cx="2216150"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8">
            <a:extLst>
              <a:ext uri="{FF2B5EF4-FFF2-40B4-BE49-F238E27FC236}">
                <a16:creationId xmlns:a16="http://schemas.microsoft.com/office/drawing/2014/main" id="{1C302219-4BFB-A758-96E5-649AFC0E7BB1}"/>
              </a:ext>
            </a:extLst>
          </p:cNvPr>
          <p:cNvSpPr>
            <a:spLocks noChangeArrowheads="1"/>
          </p:cNvSpPr>
          <p:nvPr/>
        </p:nvSpPr>
        <p:spPr bwMode="auto">
          <a:xfrm>
            <a:off x="762955" y="4335673"/>
            <a:ext cx="1236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Microsoft YaHei" panose="020B0503020204020204" pitchFamily="34" charset="-122"/>
                <a:ea typeface="Microsoft YaHei" panose="020B0503020204020204" pitchFamily="34" charset="-122"/>
              </a:rPr>
              <a:t>1</a:t>
            </a:r>
            <a:r>
              <a:rPr lang="zh-CN" altLang="en-US" sz="1800" b="0" dirty="0">
                <a:latin typeface="Microsoft YaHei" panose="020B0503020204020204" pitchFamily="34" charset="-122"/>
                <a:ea typeface="Microsoft YaHei" panose="020B0503020204020204" pitchFamily="34" charset="-122"/>
              </a:rPr>
              <a:t>位半加器</a:t>
            </a:r>
          </a:p>
        </p:txBody>
      </p:sp>
      <p:pic>
        <p:nvPicPr>
          <p:cNvPr id="9" name="图片 9">
            <a:extLst>
              <a:ext uri="{FF2B5EF4-FFF2-40B4-BE49-F238E27FC236}">
                <a16:creationId xmlns:a16="http://schemas.microsoft.com/office/drawing/2014/main" id="{659349A7-8AEE-6B1A-5C15-03424C017B9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09875" y="1971675"/>
            <a:ext cx="2709862"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10">
            <a:extLst>
              <a:ext uri="{FF2B5EF4-FFF2-40B4-BE49-F238E27FC236}">
                <a16:creationId xmlns:a16="http://schemas.microsoft.com/office/drawing/2014/main" id="{6F1ECB1B-6F73-9530-198D-E07B99D6E669}"/>
              </a:ext>
            </a:extLst>
          </p:cNvPr>
          <p:cNvSpPr>
            <a:spLocks noChangeArrowheads="1"/>
          </p:cNvSpPr>
          <p:nvPr/>
        </p:nvSpPr>
        <p:spPr bwMode="auto">
          <a:xfrm>
            <a:off x="3351212" y="4315036"/>
            <a:ext cx="1236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Microsoft YaHei" panose="020B0503020204020204" pitchFamily="34" charset="-122"/>
                <a:ea typeface="Microsoft YaHei" panose="020B0503020204020204" pitchFamily="34" charset="-122"/>
              </a:rPr>
              <a:t>1</a:t>
            </a:r>
            <a:r>
              <a:rPr lang="zh-CN" altLang="en-US" sz="1800" b="0" dirty="0">
                <a:latin typeface="Microsoft YaHei" panose="020B0503020204020204" pitchFamily="34" charset="-122"/>
                <a:ea typeface="Microsoft YaHei" panose="020B0503020204020204" pitchFamily="34" charset="-122"/>
              </a:rPr>
              <a:t>位全加器</a:t>
            </a:r>
          </a:p>
        </p:txBody>
      </p:sp>
      <p:pic>
        <p:nvPicPr>
          <p:cNvPr id="11" name="图片 11">
            <a:extLst>
              <a:ext uri="{FF2B5EF4-FFF2-40B4-BE49-F238E27FC236}">
                <a16:creationId xmlns:a16="http://schemas.microsoft.com/office/drawing/2014/main" id="{5BD4F8E7-A7CB-6A0C-5566-A95019F32BF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535612" y="1962150"/>
            <a:ext cx="404812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3">
            <a:extLst>
              <a:ext uri="{FF2B5EF4-FFF2-40B4-BE49-F238E27FC236}">
                <a16:creationId xmlns:a16="http://schemas.microsoft.com/office/drawing/2014/main" id="{FA47AA0E-235D-BC61-BBA6-3DA3A9B165BE}"/>
              </a:ext>
            </a:extLst>
          </p:cNvPr>
          <p:cNvSpPr txBox="1">
            <a:spLocks noChangeArrowheads="1"/>
          </p:cNvSpPr>
          <p:nvPr/>
        </p:nvSpPr>
        <p:spPr bwMode="auto">
          <a:xfrm>
            <a:off x="688343" y="4781761"/>
            <a:ext cx="15684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latin typeface="Microsoft YaHei" panose="020B0503020204020204" pitchFamily="34" charset="-122"/>
                <a:ea typeface="Microsoft YaHei" panose="020B0503020204020204" pitchFamily="34" charset="-122"/>
              </a:rPr>
              <a:t>使用 </a:t>
            </a:r>
            <a:r>
              <a:rPr lang="en-US" altLang="zh-CN" sz="1800" b="0">
                <a:latin typeface="Microsoft YaHei" panose="020B0503020204020204" pitchFamily="34" charset="-122"/>
                <a:ea typeface="Microsoft YaHei" panose="020B0503020204020204" pitchFamily="34" charset="-122"/>
              </a:rPr>
              <a:t>2</a:t>
            </a:r>
            <a:r>
              <a:rPr lang="zh-CN" altLang="en-US" sz="1800" b="0">
                <a:latin typeface="Microsoft YaHei" panose="020B0503020204020204" pitchFamily="34" charset="-122"/>
                <a:ea typeface="Microsoft YaHei" panose="020B0503020204020204" pitchFamily="34" charset="-122"/>
              </a:rPr>
              <a:t>个门</a:t>
            </a:r>
            <a:endParaRPr lang="en-US" altLang="zh-CN" sz="1800" b="0">
              <a:latin typeface="Microsoft YaHei" panose="020B0503020204020204" pitchFamily="34" charset="-122"/>
              <a:ea typeface="Microsoft YaHei" panose="020B0503020204020204" pitchFamily="34" charset="-122"/>
            </a:endParaRPr>
          </a:p>
          <a:p>
            <a:pPr>
              <a:spcAft>
                <a:spcPct val="0"/>
              </a:spcAft>
              <a:buFontTx/>
              <a:buNone/>
            </a:pPr>
            <a:r>
              <a:rPr lang="en-US" altLang="zh-CN" sz="1800" b="0">
                <a:latin typeface="Microsoft YaHei" panose="020B0503020204020204" pitchFamily="34" charset="-122"/>
                <a:ea typeface="Microsoft YaHei" panose="020B0503020204020204" pitchFamily="34" charset="-122"/>
              </a:rPr>
              <a:t>S</a:t>
            </a:r>
            <a:r>
              <a:rPr lang="zh-CN" altLang="en-US" sz="1800" b="0">
                <a:latin typeface="Microsoft YaHei" panose="020B0503020204020204" pitchFamily="34" charset="-122"/>
                <a:ea typeface="Microsoft YaHei" panose="020B0503020204020204" pitchFamily="34" charset="-122"/>
              </a:rPr>
              <a:t>门延迟 </a:t>
            </a:r>
            <a:r>
              <a:rPr lang="en-US" altLang="zh-CN" sz="1800" b="0">
                <a:latin typeface="Microsoft YaHei" panose="020B0503020204020204" pitchFamily="34" charset="-122"/>
                <a:ea typeface="Microsoft YaHei" panose="020B0503020204020204" pitchFamily="34" charset="-122"/>
              </a:rPr>
              <a:t>	1</a:t>
            </a:r>
          </a:p>
          <a:p>
            <a:pPr>
              <a:spcAft>
                <a:spcPct val="0"/>
              </a:spcAft>
              <a:buFontTx/>
              <a:buNone/>
            </a:pPr>
            <a:r>
              <a:rPr lang="en-US" altLang="zh-CN" sz="1800" b="0">
                <a:latin typeface="Microsoft YaHei" panose="020B0503020204020204" pitchFamily="34" charset="-122"/>
                <a:ea typeface="Microsoft YaHei" panose="020B0503020204020204" pitchFamily="34" charset="-122"/>
              </a:rPr>
              <a:t>Co</a:t>
            </a:r>
            <a:r>
              <a:rPr lang="zh-CN" altLang="en-US" sz="1800" b="0">
                <a:latin typeface="Microsoft YaHei" panose="020B0503020204020204" pitchFamily="34" charset="-122"/>
                <a:ea typeface="Microsoft YaHei" panose="020B0503020204020204" pitchFamily="34" charset="-122"/>
              </a:rPr>
              <a:t>门延迟 </a:t>
            </a:r>
            <a:r>
              <a:rPr lang="en-US" altLang="zh-CN" sz="1800" b="0">
                <a:latin typeface="Microsoft YaHei" panose="020B0503020204020204" pitchFamily="34" charset="-122"/>
                <a:ea typeface="Microsoft YaHei" panose="020B0503020204020204" pitchFamily="34" charset="-122"/>
              </a:rPr>
              <a:t>1</a:t>
            </a:r>
            <a:endParaRPr lang="zh-CN" altLang="en-US" sz="1800" b="0">
              <a:latin typeface="Microsoft YaHei" panose="020B0503020204020204" pitchFamily="34" charset="-122"/>
              <a:ea typeface="Microsoft YaHei" panose="020B0503020204020204" pitchFamily="34" charset="-122"/>
            </a:endParaRPr>
          </a:p>
        </p:txBody>
      </p:sp>
      <p:sp>
        <p:nvSpPr>
          <p:cNvPr id="13" name="文本框 14">
            <a:extLst>
              <a:ext uri="{FF2B5EF4-FFF2-40B4-BE49-F238E27FC236}">
                <a16:creationId xmlns:a16="http://schemas.microsoft.com/office/drawing/2014/main" id="{9E87B7F5-CC99-C098-7A1D-8C384FFB4CFF}"/>
              </a:ext>
            </a:extLst>
          </p:cNvPr>
          <p:cNvSpPr txBox="1">
            <a:spLocks noChangeArrowheads="1"/>
          </p:cNvSpPr>
          <p:nvPr/>
        </p:nvSpPr>
        <p:spPr bwMode="auto">
          <a:xfrm>
            <a:off x="2316199" y="4791087"/>
            <a:ext cx="379630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Microsoft YaHei" panose="020B0503020204020204" pitchFamily="34" charset="-122"/>
                <a:ea typeface="Microsoft YaHei" panose="020B0503020204020204" pitchFamily="34" charset="-122"/>
              </a:rPr>
              <a:t>使用 </a:t>
            </a:r>
            <a:r>
              <a:rPr lang="en-US" altLang="zh-CN" sz="1800" b="0" dirty="0">
                <a:latin typeface="Microsoft YaHei" panose="020B0503020204020204" pitchFamily="34" charset="-122"/>
                <a:ea typeface="Microsoft YaHei" panose="020B0503020204020204" pitchFamily="34" charset="-122"/>
              </a:rPr>
              <a:t>2</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2+1 = 5</a:t>
            </a:r>
            <a:r>
              <a:rPr lang="zh-CN" altLang="en-US" sz="1800" b="0" dirty="0">
                <a:latin typeface="Microsoft YaHei" panose="020B0503020204020204" pitchFamily="34" charset="-122"/>
                <a:ea typeface="Microsoft YaHei" panose="020B0503020204020204" pitchFamily="34" charset="-122"/>
              </a:rPr>
              <a:t>个门</a:t>
            </a:r>
            <a:endParaRPr lang="en-US" altLang="zh-CN" sz="1800" b="0" dirty="0">
              <a:latin typeface="Microsoft YaHei" panose="020B0503020204020204" pitchFamily="34" charset="-122"/>
              <a:ea typeface="Microsoft YaHei" panose="020B0503020204020204" pitchFamily="34" charset="-122"/>
            </a:endParaRPr>
          </a:p>
          <a:p>
            <a:pPr>
              <a:spcAft>
                <a:spcPct val="0"/>
              </a:spcAft>
              <a:buFontTx/>
              <a:buNone/>
            </a:pPr>
            <a:r>
              <a:rPr lang="en-US" altLang="zh-CN" sz="1800" b="0" dirty="0">
                <a:latin typeface="Microsoft YaHei" panose="020B0503020204020204" pitchFamily="34" charset="-122"/>
                <a:ea typeface="Microsoft YaHei" panose="020B0503020204020204" pitchFamily="34" charset="-122"/>
              </a:rPr>
              <a:t>S</a:t>
            </a:r>
            <a:r>
              <a:rPr lang="zh-CN" altLang="en-US" sz="1800" b="0" dirty="0">
                <a:latin typeface="Microsoft YaHei" panose="020B0503020204020204" pitchFamily="34" charset="-122"/>
                <a:ea typeface="Microsoft YaHei" panose="020B0503020204020204" pitchFamily="34" charset="-122"/>
              </a:rPr>
              <a:t>门延迟 </a:t>
            </a:r>
            <a:r>
              <a:rPr lang="en-US" altLang="zh-CN" sz="1800" b="0" dirty="0">
                <a:latin typeface="Microsoft YaHei" panose="020B0503020204020204" pitchFamily="34" charset="-122"/>
                <a:ea typeface="Microsoft YaHei" panose="020B0503020204020204" pitchFamily="34" charset="-122"/>
              </a:rPr>
              <a:t>	  2 (Ci-&gt;S,1; A/B-&gt;S,2) </a:t>
            </a:r>
          </a:p>
          <a:p>
            <a:pPr>
              <a:spcAft>
                <a:spcPct val="0"/>
              </a:spcAft>
              <a:buFontTx/>
              <a:buNone/>
            </a:pPr>
            <a:r>
              <a:rPr lang="en-US" altLang="zh-CN" sz="1800" b="0" dirty="0">
                <a:latin typeface="Microsoft YaHei" panose="020B0503020204020204" pitchFamily="34" charset="-122"/>
                <a:ea typeface="Microsoft YaHei" panose="020B0503020204020204" pitchFamily="34" charset="-122"/>
              </a:rPr>
              <a:t>Co</a:t>
            </a:r>
            <a:r>
              <a:rPr lang="zh-CN" altLang="en-US" sz="1800" b="0" dirty="0">
                <a:latin typeface="Microsoft YaHei" panose="020B0503020204020204" pitchFamily="34" charset="-122"/>
                <a:ea typeface="Microsoft YaHei" panose="020B0503020204020204" pitchFamily="34" charset="-122"/>
              </a:rPr>
              <a:t>门延迟 </a:t>
            </a:r>
            <a:r>
              <a:rPr lang="en-US" altLang="zh-CN" sz="1800" b="0" dirty="0">
                <a:latin typeface="Microsoft YaHei" panose="020B0503020204020204" pitchFamily="34" charset="-122"/>
                <a:ea typeface="Microsoft YaHei" panose="020B0503020204020204" pitchFamily="34" charset="-122"/>
              </a:rPr>
              <a:t>3 (Ci-&gt;Co,2;A/B-&gt;Co,3)</a:t>
            </a:r>
            <a:endParaRPr lang="zh-CN" altLang="en-US" sz="1800" b="0" dirty="0">
              <a:latin typeface="Microsoft YaHei" panose="020B0503020204020204" pitchFamily="34" charset="-122"/>
              <a:ea typeface="Microsoft YaHei" panose="020B0503020204020204" pitchFamily="34" charset="-122"/>
            </a:endParaRPr>
          </a:p>
        </p:txBody>
      </p:sp>
      <p:sp>
        <p:nvSpPr>
          <p:cNvPr id="14" name="文本框 15">
            <a:extLst>
              <a:ext uri="{FF2B5EF4-FFF2-40B4-BE49-F238E27FC236}">
                <a16:creationId xmlns:a16="http://schemas.microsoft.com/office/drawing/2014/main" id="{D3B20746-179A-4697-E878-AFC87286A4A2}"/>
              </a:ext>
            </a:extLst>
          </p:cNvPr>
          <p:cNvSpPr txBox="1">
            <a:spLocks noChangeArrowheads="1"/>
          </p:cNvSpPr>
          <p:nvPr/>
        </p:nvSpPr>
        <p:spPr bwMode="auto">
          <a:xfrm>
            <a:off x="5993243" y="4315036"/>
            <a:ext cx="40671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dirty="0">
                <a:solidFill>
                  <a:srgbClr val="FF0000"/>
                </a:solidFill>
                <a:latin typeface="Microsoft YaHei" panose="020B0503020204020204" pitchFamily="34" charset="-122"/>
                <a:ea typeface="Microsoft YaHei" panose="020B0503020204020204" pitchFamily="34" charset="-122"/>
              </a:rPr>
              <a:t>使用 </a:t>
            </a:r>
            <a:r>
              <a:rPr lang="en-US" altLang="zh-CN" sz="1800" dirty="0">
                <a:solidFill>
                  <a:srgbClr val="FF0000"/>
                </a:solidFill>
                <a:latin typeface="Microsoft YaHei" panose="020B0503020204020204" pitchFamily="34" charset="-122"/>
                <a:ea typeface="Microsoft YaHei" panose="020B0503020204020204" pitchFamily="34" charset="-122"/>
              </a:rPr>
              <a:t>5*4 = 20</a:t>
            </a:r>
            <a:r>
              <a:rPr lang="zh-CN" altLang="en-US" sz="1800" dirty="0">
                <a:solidFill>
                  <a:srgbClr val="FF0000"/>
                </a:solidFill>
                <a:latin typeface="Microsoft YaHei" panose="020B0503020204020204" pitchFamily="34" charset="-122"/>
                <a:ea typeface="Microsoft YaHei" panose="020B0503020204020204" pitchFamily="34" charset="-122"/>
              </a:rPr>
              <a:t>个门</a:t>
            </a:r>
            <a:endParaRPr lang="en-US" altLang="zh-CN" sz="1800" dirty="0">
              <a:solidFill>
                <a:srgbClr val="FF0000"/>
              </a:solidFill>
              <a:latin typeface="Microsoft YaHei" panose="020B0503020204020204" pitchFamily="34" charset="-122"/>
              <a:ea typeface="Microsoft YaHei" panose="020B0503020204020204" pitchFamily="34" charset="-122"/>
            </a:endParaRPr>
          </a:p>
          <a:p>
            <a:pPr>
              <a:spcAft>
                <a:spcPct val="0"/>
              </a:spcAft>
              <a:buFontTx/>
              <a:buNone/>
            </a:pPr>
            <a:r>
              <a:rPr lang="en-US" altLang="zh-CN" sz="1800" b="0" dirty="0">
                <a:latin typeface="Microsoft YaHei" panose="020B0503020204020204" pitchFamily="34" charset="-122"/>
                <a:ea typeface="Microsoft YaHei" panose="020B0503020204020204" pitchFamily="34" charset="-122"/>
              </a:rPr>
              <a:t>S0</a:t>
            </a:r>
            <a:r>
              <a:rPr lang="zh-CN" altLang="en-US" sz="1800" b="0" dirty="0">
                <a:latin typeface="Microsoft YaHei" panose="020B0503020204020204" pitchFamily="34" charset="-122"/>
                <a:ea typeface="Microsoft YaHei" panose="020B0503020204020204" pitchFamily="34" charset="-122"/>
              </a:rPr>
              <a:t>门延迟 </a:t>
            </a:r>
            <a:r>
              <a:rPr lang="en-US" altLang="zh-CN" sz="1800" b="0" dirty="0">
                <a:latin typeface="Microsoft YaHei" panose="020B0503020204020204" pitchFamily="34" charset="-122"/>
                <a:ea typeface="Microsoft YaHei" panose="020B0503020204020204" pitchFamily="34" charset="-122"/>
              </a:rPr>
              <a:t>2,Co</a:t>
            </a:r>
            <a:r>
              <a:rPr lang="zh-CN" altLang="en-US" sz="1800" b="0" dirty="0">
                <a:latin typeface="Microsoft YaHei" panose="020B0503020204020204" pitchFamily="34" charset="-122"/>
                <a:ea typeface="Microsoft YaHei" panose="020B0503020204020204" pitchFamily="34" charset="-122"/>
              </a:rPr>
              <a:t>门延迟 </a:t>
            </a:r>
            <a:r>
              <a:rPr lang="en-US" altLang="zh-CN" sz="1800" b="0" dirty="0">
                <a:latin typeface="Microsoft YaHei" panose="020B0503020204020204" pitchFamily="34" charset="-122"/>
                <a:ea typeface="Microsoft YaHei" panose="020B0503020204020204" pitchFamily="34" charset="-122"/>
              </a:rPr>
              <a:t>3</a:t>
            </a:r>
          </a:p>
          <a:p>
            <a:pPr>
              <a:spcAft>
                <a:spcPct val="0"/>
              </a:spcAft>
              <a:buFontTx/>
              <a:buNone/>
            </a:pPr>
            <a:r>
              <a:rPr lang="en-US" altLang="zh-CN" sz="1800" b="0" dirty="0">
                <a:latin typeface="Microsoft YaHei" panose="020B0503020204020204" pitchFamily="34" charset="-122"/>
                <a:ea typeface="Microsoft YaHei" panose="020B0503020204020204" pitchFamily="34" charset="-122"/>
              </a:rPr>
              <a:t>S1</a:t>
            </a:r>
            <a:r>
              <a:rPr lang="zh-CN" altLang="en-US" sz="1800" b="0" dirty="0">
                <a:latin typeface="Microsoft YaHei" panose="020B0503020204020204" pitchFamily="34" charset="-122"/>
                <a:ea typeface="Microsoft YaHei" panose="020B0503020204020204" pitchFamily="34" charset="-122"/>
              </a:rPr>
              <a:t>门延迟</a:t>
            </a:r>
            <a:r>
              <a:rPr lang="en-US" altLang="zh-CN" sz="1800" b="0" dirty="0">
                <a:latin typeface="Microsoft YaHei" panose="020B0503020204020204" pitchFamily="34" charset="-122"/>
                <a:ea typeface="Microsoft YaHei" panose="020B0503020204020204" pitchFamily="34" charset="-122"/>
              </a:rPr>
              <a:t>3+1=4, C1</a:t>
            </a:r>
            <a:r>
              <a:rPr lang="zh-CN" altLang="en-US" sz="1800" b="0" dirty="0">
                <a:latin typeface="Microsoft YaHei" panose="020B0503020204020204" pitchFamily="34" charset="-122"/>
                <a:ea typeface="Microsoft YaHei" panose="020B0503020204020204" pitchFamily="34" charset="-122"/>
              </a:rPr>
              <a:t>门延迟</a:t>
            </a:r>
            <a:r>
              <a:rPr lang="en-US" altLang="zh-CN" sz="1800" b="0" dirty="0">
                <a:latin typeface="Microsoft YaHei" panose="020B0503020204020204" pitchFamily="34" charset="-122"/>
                <a:ea typeface="Microsoft YaHei" panose="020B0503020204020204" pitchFamily="34" charset="-122"/>
              </a:rPr>
              <a:t>3+2=5</a:t>
            </a:r>
          </a:p>
          <a:p>
            <a:pPr>
              <a:spcAft>
                <a:spcPct val="0"/>
              </a:spcAft>
              <a:buFontTx/>
              <a:buNone/>
            </a:pPr>
            <a:r>
              <a:rPr lang="en-US" altLang="zh-CN" sz="1800" b="0" dirty="0">
                <a:latin typeface="Microsoft YaHei" panose="020B0503020204020204" pitchFamily="34" charset="-122"/>
                <a:ea typeface="Microsoft YaHei" panose="020B0503020204020204" pitchFamily="34" charset="-122"/>
              </a:rPr>
              <a:t>S2</a:t>
            </a:r>
            <a:r>
              <a:rPr lang="zh-CN" altLang="en-US" sz="1800" b="0" dirty="0">
                <a:latin typeface="Microsoft YaHei" panose="020B0503020204020204" pitchFamily="34" charset="-122"/>
                <a:ea typeface="Microsoft YaHei" panose="020B0503020204020204" pitchFamily="34" charset="-122"/>
              </a:rPr>
              <a:t>门延迟</a:t>
            </a:r>
            <a:r>
              <a:rPr lang="en-US" altLang="zh-CN" sz="1800" b="0" dirty="0">
                <a:latin typeface="Microsoft YaHei" panose="020B0503020204020204" pitchFamily="34" charset="-122"/>
                <a:ea typeface="Microsoft YaHei" panose="020B0503020204020204" pitchFamily="34" charset="-122"/>
              </a:rPr>
              <a:t>5+1=6,C2</a:t>
            </a:r>
            <a:r>
              <a:rPr lang="zh-CN" altLang="en-US" sz="1800" b="0" dirty="0">
                <a:latin typeface="Microsoft YaHei" panose="020B0503020204020204" pitchFamily="34" charset="-122"/>
                <a:ea typeface="Microsoft YaHei" panose="020B0503020204020204" pitchFamily="34" charset="-122"/>
              </a:rPr>
              <a:t>门延迟 </a:t>
            </a:r>
            <a:r>
              <a:rPr lang="en-US" altLang="zh-CN" sz="1800" b="0" dirty="0">
                <a:latin typeface="Microsoft YaHei" panose="020B0503020204020204" pitchFamily="34" charset="-122"/>
                <a:ea typeface="Microsoft YaHei" panose="020B0503020204020204" pitchFamily="34" charset="-122"/>
              </a:rPr>
              <a:t>5+2=7</a:t>
            </a:r>
          </a:p>
          <a:p>
            <a:pPr>
              <a:spcAft>
                <a:spcPct val="0"/>
              </a:spcAft>
              <a:buFontTx/>
              <a:buNone/>
            </a:pPr>
            <a:r>
              <a:rPr lang="en-US" altLang="zh-CN" sz="1800" b="0" dirty="0">
                <a:latin typeface="Microsoft YaHei" panose="020B0503020204020204" pitchFamily="34" charset="-122"/>
                <a:ea typeface="Microsoft YaHei" panose="020B0503020204020204" pitchFamily="34" charset="-122"/>
              </a:rPr>
              <a:t>S3</a:t>
            </a:r>
            <a:r>
              <a:rPr lang="zh-CN" altLang="en-US" sz="1800" b="0" dirty="0">
                <a:latin typeface="Microsoft YaHei" panose="020B0503020204020204" pitchFamily="34" charset="-122"/>
                <a:ea typeface="Microsoft YaHei" panose="020B0503020204020204" pitchFamily="34" charset="-122"/>
              </a:rPr>
              <a:t>门延迟</a:t>
            </a:r>
            <a:r>
              <a:rPr lang="en-US" altLang="zh-CN" sz="1800" b="0" dirty="0">
                <a:latin typeface="Microsoft YaHei" panose="020B0503020204020204" pitchFamily="34" charset="-122"/>
                <a:ea typeface="Microsoft YaHei" panose="020B0503020204020204" pitchFamily="34" charset="-122"/>
              </a:rPr>
              <a:t>7+1=8, </a:t>
            </a:r>
            <a:r>
              <a:rPr lang="en-US" altLang="zh-CN" sz="1800" dirty="0">
                <a:solidFill>
                  <a:srgbClr val="FF0000"/>
                </a:solidFill>
                <a:latin typeface="Microsoft YaHei" panose="020B0503020204020204" pitchFamily="34" charset="-122"/>
                <a:ea typeface="Microsoft YaHei" panose="020B0503020204020204" pitchFamily="34" charset="-122"/>
              </a:rPr>
              <a:t>C3</a:t>
            </a:r>
            <a:r>
              <a:rPr lang="zh-CN" altLang="en-US" sz="1800" dirty="0">
                <a:solidFill>
                  <a:srgbClr val="FF0000"/>
                </a:solidFill>
                <a:latin typeface="Microsoft YaHei" panose="020B0503020204020204" pitchFamily="34" charset="-122"/>
                <a:ea typeface="Microsoft YaHei" panose="020B0503020204020204" pitchFamily="34" charset="-122"/>
              </a:rPr>
              <a:t>门延迟</a:t>
            </a:r>
            <a:r>
              <a:rPr lang="en-US" altLang="zh-CN" sz="1800" dirty="0">
                <a:solidFill>
                  <a:srgbClr val="FF0000"/>
                </a:solidFill>
                <a:latin typeface="Microsoft YaHei" panose="020B0503020204020204" pitchFamily="34" charset="-122"/>
                <a:ea typeface="Microsoft YaHei" panose="020B0503020204020204" pitchFamily="34" charset="-122"/>
              </a:rPr>
              <a:t>7+2=9</a:t>
            </a:r>
            <a:endParaRPr lang="zh-CN" altLang="en-US" sz="1800" dirty="0">
              <a:solidFill>
                <a:srgbClr val="FF0000"/>
              </a:solidFill>
              <a:latin typeface="Microsoft YaHei" panose="020B0503020204020204" pitchFamily="34" charset="-122"/>
              <a:ea typeface="Microsoft YaHei" panose="020B0503020204020204" pitchFamily="34" charset="-122"/>
            </a:endParaRPr>
          </a:p>
          <a:p>
            <a:pPr>
              <a:spcAft>
                <a:spcPct val="0"/>
              </a:spcAft>
              <a:buFontTx/>
              <a:buNone/>
            </a:pPr>
            <a:endParaRPr lang="zh-CN" altLang="en-US" sz="1800" b="0"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1011B11A-4FEE-6A18-696D-C6EE163AA57D}"/>
              </a:ext>
            </a:extLst>
          </p:cNvPr>
          <p:cNvSpPr txBox="1"/>
          <p:nvPr/>
        </p:nvSpPr>
        <p:spPr>
          <a:xfrm>
            <a:off x="464680" y="6016981"/>
            <a:ext cx="5081664" cy="369332"/>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 理想化每个门的延迟一致</a:t>
            </a:r>
          </a:p>
        </p:txBody>
      </p:sp>
    </p:spTree>
    <p:extLst>
      <p:ext uri="{BB962C8B-B14F-4D97-AF65-F5344CB8AC3E}">
        <p14:creationId xmlns:p14="http://schemas.microsoft.com/office/powerpoint/2010/main" val="2280445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14296-5BC8-B422-3F3C-60FFAC9363C0}"/>
              </a:ext>
            </a:extLst>
          </p:cNvPr>
          <p:cNvSpPr>
            <a:spLocks noGrp="1"/>
          </p:cNvSpPr>
          <p:nvPr>
            <p:ph type="title"/>
          </p:nvPr>
        </p:nvSpPr>
        <p:spPr/>
        <p:txBody>
          <a:bodyPr>
            <a:normAutofit fontScale="90000"/>
          </a:bodyPr>
          <a:lstStyle/>
          <a:p>
            <a:pPr algn="l"/>
            <a:r>
              <a:rPr kumimoji="1" lang="zh-CN" altLang="en-US" dirty="0"/>
              <a:t>延迟分析</a:t>
            </a:r>
          </a:p>
        </p:txBody>
      </p:sp>
      <p:sp>
        <p:nvSpPr>
          <p:cNvPr id="4" name="页脚占位符 3">
            <a:extLst>
              <a:ext uri="{FF2B5EF4-FFF2-40B4-BE49-F238E27FC236}">
                <a16:creationId xmlns:a16="http://schemas.microsoft.com/office/drawing/2014/main" id="{D7F5184F-8A46-8633-FDA4-8E526CB830BF}"/>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A43B7DE3-BDF0-10A1-6C01-A7C25ECD1550}"/>
              </a:ext>
            </a:extLst>
          </p:cNvPr>
          <p:cNvSpPr>
            <a:spLocks noGrp="1"/>
          </p:cNvSpPr>
          <p:nvPr>
            <p:ph type="sldNum" sz="quarter" idx="12"/>
          </p:nvPr>
        </p:nvSpPr>
        <p:spPr/>
        <p:txBody>
          <a:bodyPr/>
          <a:lstStyle/>
          <a:p>
            <a:fld id="{9E260BC5-5BF3-8746-862B-DC45E9CAA88B}" type="slidenum">
              <a:rPr lang="en-US" smtClean="0"/>
              <a:pPr/>
              <a:t>20</a:t>
            </a:fld>
            <a:r>
              <a:rPr lang="en-US" altLang="zh-CN" dirty="0"/>
              <a:t>/25</a:t>
            </a:r>
            <a:endParaRPr lang="en-US" dirty="0"/>
          </a:p>
        </p:txBody>
      </p:sp>
      <p:sp>
        <p:nvSpPr>
          <p:cNvPr id="6" name="Rectangle 2">
            <a:extLst>
              <a:ext uri="{FF2B5EF4-FFF2-40B4-BE49-F238E27FC236}">
                <a16:creationId xmlns:a16="http://schemas.microsoft.com/office/drawing/2014/main" id="{1C9DF8B6-818C-76AA-B1F7-882F9543BF40}"/>
              </a:ext>
            </a:extLst>
          </p:cNvPr>
          <p:cNvSpPr txBox="1">
            <a:spLocks noChangeArrowheads="1"/>
          </p:cNvSpPr>
          <p:nvPr/>
        </p:nvSpPr>
        <p:spPr>
          <a:xfrm>
            <a:off x="208756" y="483865"/>
            <a:ext cx="3968750" cy="1375420"/>
          </a:xfrm>
          <a:prstGeom prst="rect">
            <a:avLst/>
          </a:prstGeom>
          <a:noFill/>
          <a:ln>
            <a:noFill/>
          </a:ln>
        </p:spPr>
        <p:txBody>
          <a:bodyPr vert="horz" lIns="91440" tIns="45720" rIns="91440" bIns="45720" rtlCol="0" anchor="ctr">
            <a:norm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r>
              <a:rPr lang="zh-CN" altLang="en-US" dirty="0">
                <a:solidFill>
                  <a:schemeClr val="tx1"/>
                </a:solidFill>
              </a:rPr>
              <a:t>总共</a:t>
            </a:r>
            <a:r>
              <a:rPr lang="zh-CN" altLang="en-US" dirty="0">
                <a:solidFill>
                  <a:srgbClr val="FF0000"/>
                </a:solidFill>
              </a:rPr>
              <a:t>使用门数</a:t>
            </a:r>
            <a:br>
              <a:rPr lang="en-US" altLang="zh-CN" dirty="0">
                <a:solidFill>
                  <a:schemeClr val="tx1"/>
                </a:solidFill>
              </a:rPr>
            </a:br>
            <a:r>
              <a:rPr lang="en-US" altLang="zh-CN" dirty="0">
                <a:solidFill>
                  <a:schemeClr val="tx1"/>
                </a:solidFill>
              </a:rPr>
              <a:t>4+4+14+4=</a:t>
            </a:r>
            <a:r>
              <a:rPr lang="en-US" altLang="zh-CN" dirty="0">
                <a:solidFill>
                  <a:srgbClr val="FF0000"/>
                </a:solidFill>
              </a:rPr>
              <a:t>30</a:t>
            </a:r>
          </a:p>
        </p:txBody>
      </p:sp>
      <p:graphicFrame>
        <p:nvGraphicFramePr>
          <p:cNvPr id="7" name="Object 17">
            <a:extLst>
              <a:ext uri="{FF2B5EF4-FFF2-40B4-BE49-F238E27FC236}">
                <a16:creationId xmlns:a16="http://schemas.microsoft.com/office/drawing/2014/main" id="{414CD6E8-7F89-A385-BBA2-D7343B2FE4D0}"/>
              </a:ext>
            </a:extLst>
          </p:cNvPr>
          <p:cNvGraphicFramePr>
            <a:graphicFrameLocks noChangeAspect="1"/>
          </p:cNvGraphicFramePr>
          <p:nvPr>
            <p:extLst>
              <p:ext uri="{D42A27DB-BD31-4B8C-83A1-F6EECF244321}">
                <p14:modId xmlns:p14="http://schemas.microsoft.com/office/powerpoint/2010/main" val="819748579"/>
              </p:ext>
            </p:extLst>
          </p:nvPr>
        </p:nvGraphicFramePr>
        <p:xfrm>
          <a:off x="7931150" y="4972051"/>
          <a:ext cx="1841500" cy="455612"/>
        </p:xfrm>
        <a:graphic>
          <a:graphicData uri="http://schemas.openxmlformats.org/presentationml/2006/ole">
            <mc:AlternateContent xmlns:mc="http://schemas.openxmlformats.org/markup-compatibility/2006">
              <mc:Choice xmlns:v="urn:schemas-microsoft-com:vml" Requires="v">
                <p:oleObj name="公式" r:id="rId2" imgW="799753" imgH="215806" progId="Equation.3">
                  <p:embed/>
                </p:oleObj>
              </mc:Choice>
              <mc:Fallback>
                <p:oleObj name="公式" r:id="rId2" imgW="799753" imgH="215806" progId="Equation.3">
                  <p:embed/>
                  <p:pic>
                    <p:nvPicPr>
                      <p:cNvPr id="3175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1150" y="4972051"/>
                        <a:ext cx="18415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9">
            <a:extLst>
              <a:ext uri="{FF2B5EF4-FFF2-40B4-BE49-F238E27FC236}">
                <a16:creationId xmlns:a16="http://schemas.microsoft.com/office/drawing/2014/main" id="{98F88BAA-096A-BF26-C8A6-0DC6DADC6489}"/>
              </a:ext>
            </a:extLst>
          </p:cNvPr>
          <p:cNvGraphicFramePr>
            <a:graphicFrameLocks noChangeAspect="1"/>
          </p:cNvGraphicFramePr>
          <p:nvPr>
            <p:extLst>
              <p:ext uri="{D42A27DB-BD31-4B8C-83A1-F6EECF244321}">
                <p14:modId xmlns:p14="http://schemas.microsoft.com/office/powerpoint/2010/main" val="578272231"/>
              </p:ext>
            </p:extLst>
          </p:nvPr>
        </p:nvGraphicFramePr>
        <p:xfrm>
          <a:off x="4561497" y="140366"/>
          <a:ext cx="3421062" cy="4578350"/>
        </p:xfrm>
        <a:graphic>
          <a:graphicData uri="http://schemas.openxmlformats.org/presentationml/2006/ole">
            <mc:AlternateContent xmlns:mc="http://schemas.openxmlformats.org/markup-compatibility/2006">
              <mc:Choice xmlns:v="urn:schemas-microsoft-com:vml" Requires="v">
                <p:oleObj name="Picture" r:id="rId4" imgW="2986430" imgH="3960205" progId="Word.Picture.8">
                  <p:embed/>
                </p:oleObj>
              </mc:Choice>
              <mc:Fallback>
                <p:oleObj name="Picture" r:id="rId4" imgW="2986430" imgH="3960205" progId="Word.Picture.8">
                  <p:embed/>
                  <p:pic>
                    <p:nvPicPr>
                      <p:cNvPr id="31752" name="Object 19"/>
                      <p:cNvPicPr>
                        <a:picLocks noChangeAspect="1" noChangeArrowheads="1"/>
                      </p:cNvPicPr>
                      <p:nvPr/>
                    </p:nvPicPr>
                    <p:blipFill>
                      <a:blip r:embed="rId5">
                        <a:extLst>
                          <a:ext uri="{28A0092B-C50C-407E-A947-70E740481C1C}">
                            <a14:useLocalDpi xmlns:a14="http://schemas.microsoft.com/office/drawing/2010/main" val="0"/>
                          </a:ext>
                        </a:extLst>
                      </a:blip>
                      <a:srcRect t="-1364"/>
                      <a:stretch>
                        <a:fillRect/>
                      </a:stretch>
                    </p:blipFill>
                    <p:spPr bwMode="auto">
                      <a:xfrm>
                        <a:off x="4561497" y="140366"/>
                        <a:ext cx="3421062" cy="4578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21">
            <a:extLst>
              <a:ext uri="{FF2B5EF4-FFF2-40B4-BE49-F238E27FC236}">
                <a16:creationId xmlns:a16="http://schemas.microsoft.com/office/drawing/2014/main" id="{D097B6E7-9DB2-4B9E-010F-9A69E46E5BFD}"/>
              </a:ext>
            </a:extLst>
          </p:cNvPr>
          <p:cNvGraphicFramePr>
            <a:graphicFrameLocks noChangeAspect="1"/>
          </p:cNvGraphicFramePr>
          <p:nvPr/>
        </p:nvGraphicFramePr>
        <p:xfrm>
          <a:off x="1541463" y="2151063"/>
          <a:ext cx="1404937" cy="2892425"/>
        </p:xfrm>
        <a:graphic>
          <a:graphicData uri="http://schemas.openxmlformats.org/presentationml/2006/ole">
            <mc:AlternateContent xmlns:mc="http://schemas.openxmlformats.org/markup-compatibility/2006">
              <mc:Choice xmlns:v="urn:schemas-microsoft-com:vml" Requires="v">
                <p:oleObj name="Picture" r:id="rId6" imgW="825500" imgH="1612900" progId="Word.Picture.8">
                  <p:embed/>
                </p:oleObj>
              </mc:Choice>
              <mc:Fallback>
                <p:oleObj name="Picture" r:id="rId6" imgW="825500" imgH="1612900" progId="Word.Picture.8">
                  <p:embed/>
                  <p:pic>
                    <p:nvPicPr>
                      <p:cNvPr id="31753" name="Object 21"/>
                      <p:cNvPicPr>
                        <a:picLocks noChangeAspect="1" noChangeArrowheads="1"/>
                      </p:cNvPicPr>
                      <p:nvPr/>
                    </p:nvPicPr>
                    <p:blipFill>
                      <a:blip r:embed="rId7">
                        <a:extLst>
                          <a:ext uri="{28A0092B-C50C-407E-A947-70E740481C1C}">
                            <a14:useLocalDpi xmlns:a14="http://schemas.microsoft.com/office/drawing/2010/main" val="0"/>
                          </a:ext>
                        </a:extLst>
                      </a:blip>
                      <a:srcRect t="-1878"/>
                      <a:stretch>
                        <a:fillRect/>
                      </a:stretch>
                    </p:blipFill>
                    <p:spPr bwMode="auto">
                      <a:xfrm>
                        <a:off x="1541463" y="2151063"/>
                        <a:ext cx="1404937"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Line 6">
            <a:extLst>
              <a:ext uri="{FF2B5EF4-FFF2-40B4-BE49-F238E27FC236}">
                <a16:creationId xmlns:a16="http://schemas.microsoft.com/office/drawing/2014/main" id="{A7D0431C-136B-4610-7F36-7D7C3C0E807E}"/>
              </a:ext>
            </a:extLst>
          </p:cNvPr>
          <p:cNvSpPr>
            <a:spLocks noChangeShapeType="1"/>
          </p:cNvSpPr>
          <p:nvPr/>
        </p:nvSpPr>
        <p:spPr bwMode="auto">
          <a:xfrm>
            <a:off x="1181100" y="2511425"/>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7">
            <a:extLst>
              <a:ext uri="{FF2B5EF4-FFF2-40B4-BE49-F238E27FC236}">
                <a16:creationId xmlns:a16="http://schemas.microsoft.com/office/drawing/2014/main" id="{1FA3D0EC-2FC8-8AEE-112D-DBD7C72FC13C}"/>
              </a:ext>
            </a:extLst>
          </p:cNvPr>
          <p:cNvSpPr>
            <a:spLocks noChangeShapeType="1"/>
          </p:cNvSpPr>
          <p:nvPr/>
        </p:nvSpPr>
        <p:spPr bwMode="auto">
          <a:xfrm>
            <a:off x="1181100" y="2763838"/>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8">
            <a:extLst>
              <a:ext uri="{FF2B5EF4-FFF2-40B4-BE49-F238E27FC236}">
                <a16:creationId xmlns:a16="http://schemas.microsoft.com/office/drawing/2014/main" id="{A6093E82-A9CB-7376-64E3-531C00507E84}"/>
              </a:ext>
            </a:extLst>
          </p:cNvPr>
          <p:cNvSpPr>
            <a:spLocks noChangeShapeType="1"/>
          </p:cNvSpPr>
          <p:nvPr/>
        </p:nvSpPr>
        <p:spPr bwMode="auto">
          <a:xfrm>
            <a:off x="1181100" y="3014663"/>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9">
            <a:extLst>
              <a:ext uri="{FF2B5EF4-FFF2-40B4-BE49-F238E27FC236}">
                <a16:creationId xmlns:a16="http://schemas.microsoft.com/office/drawing/2014/main" id="{055BD2A0-7354-CB74-9862-58F1C3170ED1}"/>
              </a:ext>
            </a:extLst>
          </p:cNvPr>
          <p:cNvSpPr>
            <a:spLocks noChangeShapeType="1"/>
          </p:cNvSpPr>
          <p:nvPr/>
        </p:nvSpPr>
        <p:spPr bwMode="auto">
          <a:xfrm>
            <a:off x="1181100" y="3267075"/>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0">
            <a:extLst>
              <a:ext uri="{FF2B5EF4-FFF2-40B4-BE49-F238E27FC236}">
                <a16:creationId xmlns:a16="http://schemas.microsoft.com/office/drawing/2014/main" id="{7B518593-A46E-ED05-6B1D-BFF2EBC78C58}"/>
              </a:ext>
            </a:extLst>
          </p:cNvPr>
          <p:cNvSpPr>
            <a:spLocks noChangeShapeType="1"/>
          </p:cNvSpPr>
          <p:nvPr/>
        </p:nvSpPr>
        <p:spPr bwMode="auto">
          <a:xfrm>
            <a:off x="1181100" y="3592513"/>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1">
            <a:extLst>
              <a:ext uri="{FF2B5EF4-FFF2-40B4-BE49-F238E27FC236}">
                <a16:creationId xmlns:a16="http://schemas.microsoft.com/office/drawing/2014/main" id="{C02DD9BB-2C85-9630-0834-1694919BBDC2}"/>
              </a:ext>
            </a:extLst>
          </p:cNvPr>
          <p:cNvSpPr>
            <a:spLocks noChangeShapeType="1"/>
          </p:cNvSpPr>
          <p:nvPr/>
        </p:nvSpPr>
        <p:spPr bwMode="auto">
          <a:xfrm>
            <a:off x="1181100" y="3844925"/>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2">
            <a:extLst>
              <a:ext uri="{FF2B5EF4-FFF2-40B4-BE49-F238E27FC236}">
                <a16:creationId xmlns:a16="http://schemas.microsoft.com/office/drawing/2014/main" id="{CED7247A-6330-797B-D94A-D4D840F254C6}"/>
              </a:ext>
            </a:extLst>
          </p:cNvPr>
          <p:cNvSpPr>
            <a:spLocks noChangeShapeType="1"/>
          </p:cNvSpPr>
          <p:nvPr/>
        </p:nvSpPr>
        <p:spPr bwMode="auto">
          <a:xfrm>
            <a:off x="1181100" y="4095750"/>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3">
            <a:extLst>
              <a:ext uri="{FF2B5EF4-FFF2-40B4-BE49-F238E27FC236}">
                <a16:creationId xmlns:a16="http://schemas.microsoft.com/office/drawing/2014/main" id="{289B21B0-4713-5D35-87D1-0378B81964E3}"/>
              </a:ext>
            </a:extLst>
          </p:cNvPr>
          <p:cNvSpPr>
            <a:spLocks noChangeShapeType="1"/>
          </p:cNvSpPr>
          <p:nvPr/>
        </p:nvSpPr>
        <p:spPr bwMode="auto">
          <a:xfrm>
            <a:off x="1181100" y="4348163"/>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4">
            <a:extLst>
              <a:ext uri="{FF2B5EF4-FFF2-40B4-BE49-F238E27FC236}">
                <a16:creationId xmlns:a16="http://schemas.microsoft.com/office/drawing/2014/main" id="{35863A07-5D11-B095-893B-A2E23E1B4431}"/>
              </a:ext>
            </a:extLst>
          </p:cNvPr>
          <p:cNvSpPr>
            <a:spLocks noChangeShapeType="1"/>
          </p:cNvSpPr>
          <p:nvPr/>
        </p:nvSpPr>
        <p:spPr bwMode="auto">
          <a:xfrm>
            <a:off x="1181100" y="4706938"/>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5">
            <a:extLst>
              <a:ext uri="{FF2B5EF4-FFF2-40B4-BE49-F238E27FC236}">
                <a16:creationId xmlns:a16="http://schemas.microsoft.com/office/drawing/2014/main" id="{9C6B547D-5E51-7FCD-3C40-D79CB44C58C9}"/>
              </a:ext>
            </a:extLst>
          </p:cNvPr>
          <p:cNvSpPr>
            <a:spLocks noChangeShapeType="1"/>
          </p:cNvSpPr>
          <p:nvPr/>
        </p:nvSpPr>
        <p:spPr bwMode="auto">
          <a:xfrm>
            <a:off x="2909888" y="3014663"/>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6">
            <a:extLst>
              <a:ext uri="{FF2B5EF4-FFF2-40B4-BE49-F238E27FC236}">
                <a16:creationId xmlns:a16="http://schemas.microsoft.com/office/drawing/2014/main" id="{840B15AC-EDFE-4F10-71AD-DDD2FE9AC6E7}"/>
              </a:ext>
            </a:extLst>
          </p:cNvPr>
          <p:cNvSpPr>
            <a:spLocks noChangeShapeType="1"/>
          </p:cNvSpPr>
          <p:nvPr/>
        </p:nvSpPr>
        <p:spPr bwMode="auto">
          <a:xfrm>
            <a:off x="2909888" y="3698875"/>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7">
            <a:extLst>
              <a:ext uri="{FF2B5EF4-FFF2-40B4-BE49-F238E27FC236}">
                <a16:creationId xmlns:a16="http://schemas.microsoft.com/office/drawing/2014/main" id="{F969A335-A72A-F67F-34DE-8EAC29B05607}"/>
              </a:ext>
            </a:extLst>
          </p:cNvPr>
          <p:cNvSpPr>
            <a:spLocks noChangeShapeType="1"/>
          </p:cNvSpPr>
          <p:nvPr/>
        </p:nvSpPr>
        <p:spPr bwMode="auto">
          <a:xfrm>
            <a:off x="2909888" y="3951288"/>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8">
            <a:extLst>
              <a:ext uri="{FF2B5EF4-FFF2-40B4-BE49-F238E27FC236}">
                <a16:creationId xmlns:a16="http://schemas.microsoft.com/office/drawing/2014/main" id="{7FBF929E-FEE1-EF48-64CD-C10CD0EB8BB4}"/>
              </a:ext>
            </a:extLst>
          </p:cNvPr>
          <p:cNvSpPr>
            <a:spLocks noChangeShapeType="1"/>
          </p:cNvSpPr>
          <p:nvPr/>
        </p:nvSpPr>
        <p:spPr bwMode="auto">
          <a:xfrm>
            <a:off x="2909888" y="4238625"/>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19">
            <a:extLst>
              <a:ext uri="{FF2B5EF4-FFF2-40B4-BE49-F238E27FC236}">
                <a16:creationId xmlns:a16="http://schemas.microsoft.com/office/drawing/2014/main" id="{43984AC9-CD36-4E5D-6075-39AFCCDAEF70}"/>
              </a:ext>
            </a:extLst>
          </p:cNvPr>
          <p:cNvSpPr>
            <a:spLocks noChangeShapeType="1"/>
          </p:cNvSpPr>
          <p:nvPr/>
        </p:nvSpPr>
        <p:spPr bwMode="auto">
          <a:xfrm>
            <a:off x="2909888" y="3411538"/>
            <a:ext cx="360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4" name="Object 22">
            <a:extLst>
              <a:ext uri="{FF2B5EF4-FFF2-40B4-BE49-F238E27FC236}">
                <a16:creationId xmlns:a16="http://schemas.microsoft.com/office/drawing/2014/main" id="{73AABC55-1700-0B37-DC02-B941ADC42E9D}"/>
              </a:ext>
            </a:extLst>
          </p:cNvPr>
          <p:cNvGraphicFramePr>
            <a:graphicFrameLocks noChangeAspect="1"/>
          </p:cNvGraphicFramePr>
          <p:nvPr/>
        </p:nvGraphicFramePr>
        <p:xfrm>
          <a:off x="457200" y="5111750"/>
          <a:ext cx="3471863" cy="431800"/>
        </p:xfrm>
        <a:graphic>
          <a:graphicData uri="http://schemas.openxmlformats.org/presentationml/2006/ole">
            <mc:AlternateContent xmlns:mc="http://schemas.openxmlformats.org/markup-compatibility/2006">
              <mc:Choice xmlns:v="urn:schemas-microsoft-com:vml" Requires="v">
                <p:oleObj name="公式" r:id="rId8" imgW="1701800" imgH="215900" progId="Equation.3">
                  <p:embed/>
                </p:oleObj>
              </mc:Choice>
              <mc:Fallback>
                <p:oleObj name="公式" r:id="rId8" imgW="1701800" imgH="215900" progId="Equation.3">
                  <p:embed/>
                  <p:pic>
                    <p:nvPicPr>
                      <p:cNvPr id="31768"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5111750"/>
                        <a:ext cx="34718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文本框 1">
            <a:extLst>
              <a:ext uri="{FF2B5EF4-FFF2-40B4-BE49-F238E27FC236}">
                <a16:creationId xmlns:a16="http://schemas.microsoft.com/office/drawing/2014/main" id="{8742E309-543B-D097-021D-BEDF9B1CDAE7}"/>
              </a:ext>
            </a:extLst>
          </p:cNvPr>
          <p:cNvSpPr txBox="1">
            <a:spLocks noChangeArrowheads="1"/>
          </p:cNvSpPr>
          <p:nvPr/>
        </p:nvSpPr>
        <p:spPr bwMode="auto">
          <a:xfrm>
            <a:off x="576263" y="5243513"/>
            <a:ext cx="234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latin typeface="Arial" panose="020B0604020202020204" pitchFamily="34" charset="0"/>
              </a:rPr>
              <a:t>i</a:t>
            </a:r>
            <a:endParaRPr lang="zh-CN" altLang="en-US" sz="1800" b="0">
              <a:latin typeface="Arial" panose="020B0604020202020204" pitchFamily="34" charset="0"/>
            </a:endParaRPr>
          </a:p>
        </p:txBody>
      </p:sp>
      <p:sp>
        <p:nvSpPr>
          <p:cNvPr id="26" name="文本框 2">
            <a:extLst>
              <a:ext uri="{FF2B5EF4-FFF2-40B4-BE49-F238E27FC236}">
                <a16:creationId xmlns:a16="http://schemas.microsoft.com/office/drawing/2014/main" id="{A07B612B-83A6-5361-E25D-98ECB9609D86}"/>
              </a:ext>
            </a:extLst>
          </p:cNvPr>
          <p:cNvSpPr txBox="1">
            <a:spLocks noChangeArrowheads="1"/>
          </p:cNvSpPr>
          <p:nvPr/>
        </p:nvSpPr>
        <p:spPr bwMode="auto">
          <a:xfrm>
            <a:off x="431800" y="5675313"/>
            <a:ext cx="28384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Microsoft YaHei" panose="020B0503020204020204" pitchFamily="34" charset="-122"/>
                <a:ea typeface="Microsoft YaHei" panose="020B0503020204020204" pitchFamily="34" charset="-122"/>
              </a:rPr>
              <a:t>P</a:t>
            </a:r>
            <a:r>
              <a:rPr lang="en-US" altLang="zh-CN" sz="1800" b="0" baseline="-25000" dirty="0">
                <a:latin typeface="Microsoft YaHei" panose="020B0503020204020204" pitchFamily="34" charset="-122"/>
                <a:ea typeface="Microsoft YaHei" panose="020B0503020204020204" pitchFamily="34" charset="-122"/>
              </a:rPr>
              <a:t>0</a:t>
            </a:r>
            <a:r>
              <a:rPr lang="en-US" altLang="zh-CN" sz="1800" b="0" dirty="0">
                <a:latin typeface="Microsoft YaHei" panose="020B0503020204020204" pitchFamily="34" charset="-122"/>
                <a:ea typeface="Microsoft YaHei" panose="020B0503020204020204" pitchFamily="34" charset="-122"/>
              </a:rPr>
              <a:t>,P</a:t>
            </a:r>
            <a:r>
              <a:rPr lang="en-US" altLang="zh-CN" sz="1800" b="0" baseline="-25000" dirty="0">
                <a:latin typeface="Microsoft YaHei" panose="020B0503020204020204" pitchFamily="34" charset="-122"/>
                <a:ea typeface="Microsoft YaHei" panose="020B0503020204020204" pitchFamily="34" charset="-122"/>
              </a:rPr>
              <a:t>1</a:t>
            </a:r>
            <a:r>
              <a:rPr lang="en-US" altLang="zh-CN" sz="1800" b="0" dirty="0">
                <a:latin typeface="Microsoft YaHei" panose="020B0503020204020204" pitchFamily="34" charset="-122"/>
                <a:ea typeface="Microsoft YaHei" panose="020B0503020204020204" pitchFamily="34" charset="-122"/>
              </a:rPr>
              <a:t>,P</a:t>
            </a:r>
            <a:r>
              <a:rPr lang="en-US" altLang="zh-CN" sz="1800" b="0" baseline="-25000" dirty="0">
                <a:latin typeface="Microsoft YaHei" panose="020B0503020204020204" pitchFamily="34" charset="-122"/>
                <a:ea typeface="Microsoft YaHei" panose="020B0503020204020204" pitchFamily="34" charset="-122"/>
              </a:rPr>
              <a:t>2</a:t>
            </a:r>
            <a:r>
              <a:rPr lang="en-US" altLang="zh-CN" sz="1800" b="0" dirty="0">
                <a:latin typeface="Microsoft YaHei" panose="020B0503020204020204" pitchFamily="34" charset="-122"/>
                <a:ea typeface="Microsoft YaHei" panose="020B0503020204020204" pitchFamily="34" charset="-122"/>
              </a:rPr>
              <a:t>,P</a:t>
            </a:r>
            <a:r>
              <a:rPr lang="en-US" altLang="zh-CN" sz="1800" b="0" baseline="-25000" dirty="0">
                <a:latin typeface="Microsoft YaHei" panose="020B0503020204020204" pitchFamily="34" charset="-122"/>
                <a:ea typeface="Microsoft YaHei" panose="020B0503020204020204" pitchFamily="34" charset="-122"/>
              </a:rPr>
              <a:t>3 </a:t>
            </a:r>
            <a:r>
              <a:rPr lang="zh-CN" altLang="en-US" sz="1800" b="0" dirty="0">
                <a:latin typeface="Microsoft YaHei" panose="020B0503020204020204" pitchFamily="34" charset="-122"/>
                <a:ea typeface="Microsoft YaHei" panose="020B0503020204020204" pitchFamily="34" charset="-122"/>
              </a:rPr>
              <a:t>门延迟均为</a:t>
            </a:r>
            <a:r>
              <a:rPr lang="en-US" altLang="zh-CN" sz="1800" b="0" dirty="0">
                <a:latin typeface="Microsoft YaHei" panose="020B0503020204020204" pitchFamily="34" charset="-122"/>
                <a:ea typeface="Microsoft YaHei" panose="020B0503020204020204" pitchFamily="34" charset="-122"/>
              </a:rPr>
              <a:t>1</a:t>
            </a:r>
          </a:p>
          <a:p>
            <a:pPr>
              <a:spcAft>
                <a:spcPct val="0"/>
              </a:spcAft>
              <a:buFontTx/>
              <a:buNone/>
            </a:pPr>
            <a:r>
              <a:rPr lang="en-US" altLang="zh-CN" sz="1800" b="0" dirty="0">
                <a:latin typeface="Microsoft YaHei" panose="020B0503020204020204" pitchFamily="34" charset="-122"/>
                <a:ea typeface="Microsoft YaHei" panose="020B0503020204020204" pitchFamily="34" charset="-122"/>
              </a:rPr>
              <a:t>G</a:t>
            </a:r>
            <a:r>
              <a:rPr lang="en-US" altLang="zh-CN" sz="1800" b="0" baseline="-25000" dirty="0">
                <a:latin typeface="Microsoft YaHei" panose="020B0503020204020204" pitchFamily="34" charset="-122"/>
                <a:ea typeface="Microsoft YaHei" panose="020B0503020204020204" pitchFamily="34" charset="-122"/>
              </a:rPr>
              <a:t>0</a:t>
            </a:r>
            <a:r>
              <a:rPr lang="en-US" altLang="zh-CN" sz="1800" b="0" dirty="0">
                <a:latin typeface="Microsoft YaHei" panose="020B0503020204020204" pitchFamily="34" charset="-122"/>
                <a:ea typeface="Microsoft YaHei" panose="020B0503020204020204" pitchFamily="34" charset="-122"/>
              </a:rPr>
              <a:t>,G</a:t>
            </a:r>
            <a:r>
              <a:rPr lang="en-US" altLang="zh-CN" sz="1800" b="0" baseline="-25000" dirty="0">
                <a:latin typeface="Microsoft YaHei" panose="020B0503020204020204" pitchFamily="34" charset="-122"/>
                <a:ea typeface="Microsoft YaHei" panose="020B0503020204020204" pitchFamily="34" charset="-122"/>
              </a:rPr>
              <a:t>1</a:t>
            </a:r>
            <a:r>
              <a:rPr lang="en-US" altLang="zh-CN" sz="1800" b="0" dirty="0">
                <a:latin typeface="Microsoft YaHei" panose="020B0503020204020204" pitchFamily="34" charset="-122"/>
                <a:ea typeface="Microsoft YaHei" panose="020B0503020204020204" pitchFamily="34" charset="-122"/>
              </a:rPr>
              <a:t>,G</a:t>
            </a:r>
            <a:r>
              <a:rPr lang="en-US" altLang="zh-CN" sz="1800" b="0" baseline="-25000" dirty="0">
                <a:latin typeface="Microsoft YaHei" panose="020B0503020204020204" pitchFamily="34" charset="-122"/>
                <a:ea typeface="Microsoft YaHei" panose="020B0503020204020204" pitchFamily="34" charset="-122"/>
              </a:rPr>
              <a:t>2</a:t>
            </a:r>
            <a:r>
              <a:rPr lang="en-US" altLang="zh-CN" sz="1800" b="0" dirty="0">
                <a:latin typeface="Microsoft YaHei" panose="020B0503020204020204" pitchFamily="34" charset="-122"/>
                <a:ea typeface="Microsoft YaHei" panose="020B0503020204020204" pitchFamily="34" charset="-122"/>
              </a:rPr>
              <a:t>,G</a:t>
            </a:r>
            <a:r>
              <a:rPr lang="en-US" altLang="zh-CN" sz="1800" b="0" baseline="-25000" dirty="0">
                <a:latin typeface="Microsoft YaHei" panose="020B0503020204020204" pitchFamily="34" charset="-122"/>
                <a:ea typeface="Microsoft YaHei" panose="020B0503020204020204" pitchFamily="34" charset="-122"/>
              </a:rPr>
              <a:t>3 </a:t>
            </a:r>
            <a:r>
              <a:rPr lang="zh-CN" altLang="en-US" sz="1800" b="0" dirty="0">
                <a:latin typeface="Microsoft YaHei" panose="020B0503020204020204" pitchFamily="34" charset="-122"/>
                <a:ea typeface="Microsoft YaHei" panose="020B0503020204020204" pitchFamily="34" charset="-122"/>
              </a:rPr>
              <a:t>门延迟均为</a:t>
            </a:r>
            <a:r>
              <a:rPr lang="en-US" altLang="zh-CN" sz="1800" b="0" dirty="0">
                <a:latin typeface="Microsoft YaHei" panose="020B0503020204020204" pitchFamily="34" charset="-122"/>
                <a:ea typeface="Microsoft YaHei" panose="020B0503020204020204" pitchFamily="34" charset="-122"/>
              </a:rPr>
              <a:t>1</a:t>
            </a:r>
          </a:p>
          <a:p>
            <a:pPr>
              <a:spcAft>
                <a:spcPct val="0"/>
              </a:spcAft>
              <a:buFontTx/>
              <a:buNone/>
            </a:pPr>
            <a:endParaRPr lang="zh-CN" altLang="en-US" sz="1800" b="0" dirty="0">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0B1771E1-A274-55A0-153C-0626A7B3F216}"/>
              </a:ext>
            </a:extLst>
          </p:cNvPr>
          <p:cNvSpPr txBox="1">
            <a:spLocks noChangeArrowheads="1"/>
          </p:cNvSpPr>
          <p:nvPr/>
        </p:nvSpPr>
        <p:spPr bwMode="auto">
          <a:xfrm>
            <a:off x="4425950" y="5656154"/>
            <a:ext cx="4546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Microsoft YaHei" panose="020B0503020204020204" pitchFamily="34" charset="-122"/>
                <a:ea typeface="Microsoft YaHei" panose="020B0503020204020204" pitchFamily="34" charset="-122"/>
              </a:rPr>
              <a:t>C</a:t>
            </a:r>
            <a:r>
              <a:rPr lang="en-US" altLang="zh-CN" sz="1800" b="0" baseline="-25000" dirty="0">
                <a:latin typeface="Microsoft YaHei" panose="020B0503020204020204" pitchFamily="34" charset="-122"/>
                <a:ea typeface="Microsoft YaHei" panose="020B0503020204020204" pitchFamily="34" charset="-122"/>
              </a:rPr>
              <a:t>0</a:t>
            </a:r>
            <a:r>
              <a:rPr lang="en-US" altLang="zh-CN" sz="1800" b="0" dirty="0">
                <a:latin typeface="Microsoft YaHei" panose="020B0503020204020204" pitchFamily="34" charset="-122"/>
                <a:ea typeface="Microsoft YaHei" panose="020B0503020204020204" pitchFamily="34" charset="-122"/>
              </a:rPr>
              <a:t>,C</a:t>
            </a:r>
            <a:r>
              <a:rPr lang="en-US" altLang="zh-CN" sz="1800" b="0" baseline="-25000" dirty="0">
                <a:latin typeface="Microsoft YaHei" panose="020B0503020204020204" pitchFamily="34" charset="-122"/>
                <a:ea typeface="Microsoft YaHei" panose="020B0503020204020204" pitchFamily="34" charset="-122"/>
              </a:rPr>
              <a:t>1</a:t>
            </a:r>
            <a:r>
              <a:rPr lang="en-US" altLang="zh-CN" sz="1800" b="0" dirty="0">
                <a:latin typeface="Microsoft YaHei" panose="020B0503020204020204" pitchFamily="34" charset="-122"/>
                <a:ea typeface="Microsoft YaHei" panose="020B0503020204020204" pitchFamily="34" charset="-122"/>
              </a:rPr>
              <a:t>,C</a:t>
            </a:r>
            <a:r>
              <a:rPr lang="en-US" altLang="zh-CN" sz="1800" b="0" baseline="-25000" dirty="0">
                <a:latin typeface="Microsoft YaHei" panose="020B0503020204020204" pitchFamily="34" charset="-122"/>
                <a:ea typeface="Microsoft YaHei" panose="020B0503020204020204" pitchFamily="34" charset="-122"/>
              </a:rPr>
              <a:t>2</a:t>
            </a:r>
            <a:r>
              <a:rPr lang="en-US" altLang="zh-CN" sz="1800" b="0" dirty="0">
                <a:latin typeface="Microsoft YaHei" panose="020B0503020204020204" pitchFamily="34" charset="-122"/>
                <a:ea typeface="Microsoft YaHei" panose="020B0503020204020204" pitchFamily="34" charset="-122"/>
              </a:rPr>
              <a:t>,C</a:t>
            </a:r>
            <a:r>
              <a:rPr lang="en-US" altLang="zh-CN" sz="1800" b="0" baseline="-25000" dirty="0">
                <a:latin typeface="Microsoft YaHei" panose="020B0503020204020204" pitchFamily="34" charset="-122"/>
                <a:ea typeface="Microsoft YaHei" panose="020B0503020204020204" pitchFamily="34" charset="-122"/>
              </a:rPr>
              <a:t>3 </a:t>
            </a:r>
            <a:r>
              <a:rPr lang="zh-CN" altLang="en-US" sz="1800" b="0" dirty="0">
                <a:latin typeface="Microsoft YaHei" panose="020B0503020204020204" pitchFamily="34" charset="-122"/>
                <a:ea typeface="Microsoft YaHei" panose="020B0503020204020204" pitchFamily="34" charset="-122"/>
              </a:rPr>
              <a:t>门延迟均为</a:t>
            </a:r>
            <a:r>
              <a:rPr lang="en-US" altLang="zh-CN" sz="1800" b="0" dirty="0">
                <a:latin typeface="Microsoft YaHei" panose="020B0503020204020204" pitchFamily="34" charset="-122"/>
                <a:ea typeface="Microsoft YaHei" panose="020B0503020204020204" pitchFamily="34" charset="-122"/>
              </a:rPr>
              <a:t>1+2=3</a:t>
            </a:r>
          </a:p>
          <a:p>
            <a:pPr>
              <a:spcAft>
                <a:spcPct val="0"/>
              </a:spcAft>
              <a:buFontTx/>
              <a:buNone/>
            </a:pPr>
            <a:r>
              <a:rPr lang="en-US" altLang="zh-CN" sz="1800" dirty="0">
                <a:solidFill>
                  <a:srgbClr val="FF0000"/>
                </a:solidFill>
                <a:latin typeface="Microsoft YaHei" panose="020B0503020204020204" pitchFamily="34" charset="-122"/>
                <a:ea typeface="Microsoft YaHei" panose="020B0503020204020204" pitchFamily="34" charset="-122"/>
              </a:rPr>
              <a:t>S</a:t>
            </a:r>
            <a:r>
              <a:rPr lang="en-US" altLang="zh-CN" sz="1800" baseline="-25000" dirty="0">
                <a:solidFill>
                  <a:srgbClr val="FF0000"/>
                </a:solidFill>
                <a:latin typeface="Microsoft YaHei" panose="020B0503020204020204" pitchFamily="34" charset="-122"/>
                <a:ea typeface="Microsoft YaHei" panose="020B0503020204020204" pitchFamily="34" charset="-122"/>
              </a:rPr>
              <a:t>0</a:t>
            </a:r>
            <a:r>
              <a:rPr lang="zh-CN" altLang="en-US" sz="1800" dirty="0">
                <a:solidFill>
                  <a:srgbClr val="FF0000"/>
                </a:solidFill>
                <a:latin typeface="Microsoft YaHei" panose="020B0503020204020204" pitchFamily="34" charset="-122"/>
                <a:ea typeface="Microsoft YaHei" panose="020B0503020204020204" pitchFamily="34" charset="-122"/>
              </a:rPr>
              <a:t>门延迟</a:t>
            </a:r>
            <a:r>
              <a:rPr lang="en-US" altLang="zh-CN" sz="1800" dirty="0">
                <a:solidFill>
                  <a:srgbClr val="FF0000"/>
                </a:solidFill>
                <a:latin typeface="Microsoft YaHei" panose="020B0503020204020204" pitchFamily="34" charset="-122"/>
                <a:ea typeface="Microsoft YaHei" panose="020B0503020204020204" pitchFamily="34" charset="-122"/>
              </a:rPr>
              <a:t>2</a:t>
            </a:r>
            <a:r>
              <a:rPr lang="zh-CN" altLang="en-US" sz="1800" dirty="0">
                <a:solidFill>
                  <a:srgbClr val="FF0000"/>
                </a:solidFill>
                <a:latin typeface="Microsoft YaHei" panose="020B0503020204020204" pitchFamily="34" charset="-122"/>
                <a:ea typeface="Microsoft YaHei" panose="020B0503020204020204" pitchFamily="34" charset="-122"/>
              </a:rPr>
              <a:t>；</a:t>
            </a:r>
            <a:r>
              <a:rPr lang="en-US" altLang="zh-CN" sz="1800" dirty="0">
                <a:solidFill>
                  <a:srgbClr val="FF0000"/>
                </a:solidFill>
                <a:latin typeface="Microsoft YaHei" panose="020B0503020204020204" pitchFamily="34" charset="-122"/>
                <a:ea typeface="Microsoft YaHei" panose="020B0503020204020204" pitchFamily="34" charset="-122"/>
              </a:rPr>
              <a:t>S</a:t>
            </a:r>
            <a:r>
              <a:rPr lang="en-US" altLang="zh-CN" sz="1800" baseline="-25000" dirty="0">
                <a:solidFill>
                  <a:srgbClr val="FF0000"/>
                </a:solidFill>
                <a:latin typeface="Microsoft YaHei" panose="020B0503020204020204" pitchFamily="34" charset="-122"/>
                <a:ea typeface="Microsoft YaHei" panose="020B0503020204020204" pitchFamily="34" charset="-122"/>
              </a:rPr>
              <a:t>1</a:t>
            </a:r>
            <a:r>
              <a:rPr lang="en-US" altLang="zh-CN" sz="1800" dirty="0">
                <a:solidFill>
                  <a:srgbClr val="FF0000"/>
                </a:solidFill>
                <a:latin typeface="Microsoft YaHei" panose="020B0503020204020204" pitchFamily="34" charset="-122"/>
                <a:ea typeface="Microsoft YaHei" panose="020B0503020204020204" pitchFamily="34" charset="-122"/>
              </a:rPr>
              <a:t>,S</a:t>
            </a:r>
            <a:r>
              <a:rPr lang="en-US" altLang="zh-CN" sz="1800" baseline="-25000" dirty="0">
                <a:solidFill>
                  <a:srgbClr val="FF0000"/>
                </a:solidFill>
                <a:latin typeface="Microsoft YaHei" panose="020B0503020204020204" pitchFamily="34" charset="-122"/>
                <a:ea typeface="Microsoft YaHei" panose="020B0503020204020204" pitchFamily="34" charset="-122"/>
              </a:rPr>
              <a:t>2</a:t>
            </a:r>
            <a:r>
              <a:rPr lang="en-US" altLang="zh-CN" sz="1800" dirty="0">
                <a:solidFill>
                  <a:srgbClr val="FF0000"/>
                </a:solidFill>
                <a:latin typeface="Microsoft YaHei" panose="020B0503020204020204" pitchFamily="34" charset="-122"/>
                <a:ea typeface="Microsoft YaHei" panose="020B0503020204020204" pitchFamily="34" charset="-122"/>
              </a:rPr>
              <a:t>,S</a:t>
            </a:r>
            <a:r>
              <a:rPr lang="en-US" altLang="zh-CN" sz="1800" baseline="-25000" dirty="0">
                <a:solidFill>
                  <a:srgbClr val="FF0000"/>
                </a:solidFill>
                <a:latin typeface="Microsoft YaHei" panose="020B0503020204020204" pitchFamily="34" charset="-122"/>
                <a:ea typeface="Microsoft YaHei" panose="020B0503020204020204" pitchFamily="34" charset="-122"/>
              </a:rPr>
              <a:t>3 </a:t>
            </a:r>
            <a:r>
              <a:rPr lang="zh-CN" altLang="en-US" sz="1800" dirty="0">
                <a:solidFill>
                  <a:srgbClr val="FF0000"/>
                </a:solidFill>
                <a:latin typeface="Microsoft YaHei" panose="020B0503020204020204" pitchFamily="34" charset="-122"/>
                <a:ea typeface="Microsoft YaHei" panose="020B0503020204020204" pitchFamily="34" charset="-122"/>
              </a:rPr>
              <a:t>门延迟均为 </a:t>
            </a:r>
            <a:r>
              <a:rPr lang="en-US" altLang="zh-CN" sz="1800" dirty="0">
                <a:solidFill>
                  <a:srgbClr val="FF0000"/>
                </a:solidFill>
                <a:latin typeface="Microsoft YaHei" panose="020B0503020204020204" pitchFamily="34" charset="-122"/>
                <a:ea typeface="Microsoft YaHei" panose="020B0503020204020204" pitchFamily="34" charset="-122"/>
              </a:rPr>
              <a:t>3+1=4</a:t>
            </a:r>
          </a:p>
          <a:p>
            <a:pPr>
              <a:spcAft>
                <a:spcPct val="0"/>
              </a:spcAft>
              <a:buFontTx/>
              <a:buNone/>
            </a:pPr>
            <a:r>
              <a:rPr lang="zh-CN" altLang="en-US" sz="1800" b="0" dirty="0">
                <a:latin typeface="Microsoft YaHei" panose="020B0503020204020204" pitchFamily="34" charset="-122"/>
                <a:ea typeface="Microsoft YaHei" panose="020B0503020204020204" pitchFamily="34" charset="-122"/>
              </a:rPr>
              <a:t>且不随着位数增加而增加！</a:t>
            </a:r>
            <a:endParaRPr lang="en-US" altLang="zh-CN" sz="1800" b="0" dirty="0">
              <a:latin typeface="Microsoft YaHei" panose="020B0503020204020204" pitchFamily="34" charset="-122"/>
              <a:ea typeface="Microsoft YaHei" panose="020B0503020204020204" pitchFamily="34" charset="-122"/>
            </a:endParaRPr>
          </a:p>
          <a:p>
            <a:pPr>
              <a:spcAft>
                <a:spcPct val="0"/>
              </a:spcAft>
              <a:buFontTx/>
              <a:buNone/>
            </a:pPr>
            <a:endParaRPr lang="zh-CN" altLang="en-US" sz="1800" b="0" dirty="0">
              <a:latin typeface="Arial" panose="020B0604020202020204" pitchFamily="34" charset="0"/>
            </a:endParaRPr>
          </a:p>
        </p:txBody>
      </p:sp>
      <p:sp>
        <p:nvSpPr>
          <p:cNvPr id="28" name="文本框 1">
            <a:extLst>
              <a:ext uri="{FF2B5EF4-FFF2-40B4-BE49-F238E27FC236}">
                <a16:creationId xmlns:a16="http://schemas.microsoft.com/office/drawing/2014/main" id="{19FF24A9-242E-264A-872A-AEBF0BA5C6B5}"/>
              </a:ext>
            </a:extLst>
          </p:cNvPr>
          <p:cNvSpPr txBox="1">
            <a:spLocks noChangeArrowheads="1"/>
          </p:cNvSpPr>
          <p:nvPr/>
        </p:nvSpPr>
        <p:spPr bwMode="auto">
          <a:xfrm>
            <a:off x="736263" y="1657350"/>
            <a:ext cx="2198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Arial" panose="020B0604020202020204" pitchFamily="34" charset="0"/>
              </a:rPr>
              <a:t>Pi     Gi       Ci      Si</a:t>
            </a:r>
            <a:endParaRPr lang="zh-CN" altLang="en-US" sz="1800" b="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E796A3D4-F743-513B-6742-2589BB74242D}"/>
                  </a:ext>
                </a:extLst>
              </p:cNvPr>
              <p:cNvSpPr/>
              <p:nvPr/>
            </p:nvSpPr>
            <p:spPr>
              <a:xfrm>
                <a:off x="4425950" y="4763140"/>
                <a:ext cx="3319947" cy="912173"/>
              </a:xfrm>
              <a:prstGeom prst="rect">
                <a:avLst/>
              </a:prstGeom>
              <a:ln>
                <a:solidFill>
                  <a:srgbClr val="0033CC"/>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𝑖</m:t>
                          </m:r>
                        </m:sub>
                      </m:sSub>
                      <m:r>
                        <a:rPr lang="zh-CN" altLang="en-US" i="0">
                          <a:latin typeface="Cambria Math" panose="02040503050406030204" pitchFamily="18" charset="0"/>
                        </a:rPr>
                        <m:t>=</m:t>
                      </m:r>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=0</m:t>
                          </m:r>
                        </m:sub>
                        <m:sup>
                          <m:r>
                            <a:rPr lang="zh-CN" altLang="en-US" i="1">
                              <a:latin typeface="Cambria Math" panose="02040503050406030204" pitchFamily="18" charset="0"/>
                            </a:rPr>
                            <m:t>𝑖</m:t>
                          </m:r>
                        </m:sup>
                        <m:e>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m:t>
                              </m:r>
                              <m:r>
                                <a:rPr lang="zh-CN" altLang="en-US" i="1">
                                  <a:latin typeface="Cambria Math" panose="02040503050406030204" pitchFamily="18" charset="0"/>
                                </a:rPr>
                                <m:t>𝑗</m:t>
                              </m:r>
                              <m:r>
                                <a:rPr lang="zh-CN" altLang="en-US" i="0">
                                  <a:latin typeface="Cambria Math" panose="02040503050406030204" pitchFamily="18" charset="0"/>
                                </a:rPr>
                                <m:t>+1</m:t>
                              </m:r>
                            </m:sub>
                            <m:sup>
                              <m:r>
                                <a:rPr lang="zh-CN" altLang="en-US" i="1">
                                  <a:latin typeface="Cambria Math" panose="02040503050406030204" pitchFamily="18" charset="0"/>
                                </a:rPr>
                                <m:t>𝑖</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𝑘</m:t>
                                  </m:r>
                                </m:sub>
                              </m:s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𝐺</m:t>
                                  </m:r>
                                </m:e>
                                <m:sub>
                                  <m:r>
                                    <a:rPr lang="zh-CN" altLang="en-US" i="1">
                                      <a:latin typeface="Cambria Math" panose="02040503050406030204" pitchFamily="18" charset="0"/>
                                    </a:rPr>
                                    <m:t>𝑗</m:t>
                                  </m:r>
                                </m:sub>
                              </m:sSub>
                            </m:e>
                          </m:nary>
                        </m:e>
                      </m:nary>
                      <m:r>
                        <a:rPr lang="zh-CN" altLang="en-US" i="0">
                          <a:latin typeface="Cambria Math" panose="02040503050406030204" pitchFamily="18" charset="0"/>
                        </a:rPr>
                        <m:t>+</m:t>
                      </m:r>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=0</m:t>
                          </m:r>
                        </m:sub>
                        <m:sup>
                          <m:r>
                            <a:rPr lang="zh-CN" altLang="en-US" i="1">
                              <a:latin typeface="Cambria Math" panose="02040503050406030204" pitchFamily="18" charset="0"/>
                            </a:rPr>
                            <m:t>𝑖</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𝑗</m:t>
                              </m:r>
                            </m:sub>
                          </m:s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𝐶</m:t>
                              </m:r>
                            </m:e>
                            <m:sub>
                              <m:r>
                                <a:rPr lang="zh-CN" altLang="en-US" i="0">
                                  <a:latin typeface="Cambria Math" panose="02040503050406030204" pitchFamily="18" charset="0"/>
                                </a:rPr>
                                <m:t>−1</m:t>
                              </m:r>
                            </m:sub>
                          </m:sSub>
                        </m:e>
                      </m:nary>
                    </m:oMath>
                  </m:oMathPara>
                </a14:m>
                <a:endParaRPr lang="zh-CN" altLang="en-US" dirty="0"/>
              </a:p>
            </p:txBody>
          </p:sp>
        </mc:Choice>
        <mc:Fallback xmlns="">
          <p:sp>
            <p:nvSpPr>
              <p:cNvPr id="29" name="矩形 28">
                <a:extLst>
                  <a:ext uri="{FF2B5EF4-FFF2-40B4-BE49-F238E27FC236}">
                    <a16:creationId xmlns:a16="http://schemas.microsoft.com/office/drawing/2014/main" id="{E796A3D4-F743-513B-6742-2589BB74242D}"/>
                  </a:ext>
                </a:extLst>
              </p:cNvPr>
              <p:cNvSpPr>
                <a:spLocks noRot="1" noChangeAspect="1" noMove="1" noResize="1" noEditPoints="1" noAdjustHandles="1" noChangeArrowheads="1" noChangeShapeType="1" noTextEdit="1"/>
              </p:cNvSpPr>
              <p:nvPr/>
            </p:nvSpPr>
            <p:spPr>
              <a:xfrm>
                <a:off x="4425950" y="4763140"/>
                <a:ext cx="3319947" cy="912173"/>
              </a:xfrm>
              <a:prstGeom prst="rect">
                <a:avLst/>
              </a:prstGeom>
              <a:blipFill>
                <a:blip r:embed="rId10"/>
                <a:stretch>
                  <a:fillRect l="-6844" t="-87838" b="-135135"/>
                </a:stretch>
              </a:blipFill>
              <a:ln>
                <a:solidFill>
                  <a:srgbClr val="0033CC"/>
                </a:solidFill>
              </a:ln>
            </p:spPr>
            <p:txBody>
              <a:bodyPr/>
              <a:lstStyle/>
              <a:p>
                <a:r>
                  <a:rPr lang="zh-CN" altLang="en-US">
                    <a:noFill/>
                  </a:rPr>
                  <a:t> </a:t>
                </a:r>
              </a:p>
            </p:txBody>
          </p:sp>
        </mc:Fallback>
      </mc:AlternateContent>
    </p:spTree>
    <p:extLst>
      <p:ext uri="{BB962C8B-B14F-4D97-AF65-F5344CB8AC3E}">
        <p14:creationId xmlns:p14="http://schemas.microsoft.com/office/powerpoint/2010/main" val="1611070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799DCE-9EBA-917D-B82A-34F89B1C4EA8}"/>
              </a:ext>
            </a:extLst>
          </p:cNvPr>
          <p:cNvSpPr>
            <a:spLocks noGrp="1"/>
          </p:cNvSpPr>
          <p:nvPr>
            <p:ph type="title"/>
          </p:nvPr>
        </p:nvSpPr>
        <p:spPr/>
        <p:txBody>
          <a:bodyPr>
            <a:normAutofit fontScale="90000"/>
          </a:bodyPr>
          <a:lstStyle/>
          <a:p>
            <a:r>
              <a:rPr lang="zh-CN" altLang="en-US" dirty="0"/>
              <a:t>延迟分析</a:t>
            </a:r>
            <a:endParaRPr kumimoji="1" lang="zh-CN" altLang="en-US" dirty="0"/>
          </a:p>
        </p:txBody>
      </p:sp>
      <p:sp>
        <p:nvSpPr>
          <p:cNvPr id="3" name="内容占位符 2">
            <a:extLst>
              <a:ext uri="{FF2B5EF4-FFF2-40B4-BE49-F238E27FC236}">
                <a16:creationId xmlns:a16="http://schemas.microsoft.com/office/drawing/2014/main" id="{A1A60A93-6101-4578-6AF4-7AE53073F101}"/>
              </a:ext>
            </a:extLst>
          </p:cNvPr>
          <p:cNvSpPr>
            <a:spLocks noGrp="1"/>
          </p:cNvSpPr>
          <p:nvPr>
            <p:ph idx="1"/>
          </p:nvPr>
        </p:nvSpPr>
        <p:spPr/>
        <p:txBody>
          <a:bodyPr/>
          <a:lstStyle/>
          <a:p>
            <a:r>
              <a:rPr lang="en-US" altLang="zh-CN" dirty="0"/>
              <a:t>4</a:t>
            </a:r>
            <a:r>
              <a:rPr lang="zh-CN" altLang="en-US" dirty="0"/>
              <a:t>位全加器</a:t>
            </a:r>
            <a:endParaRPr lang="en-US" altLang="zh-CN" dirty="0"/>
          </a:p>
          <a:p>
            <a:pPr lvl="1"/>
            <a:r>
              <a:rPr lang="en-US" altLang="zh-CN" dirty="0"/>
              <a:t>1</a:t>
            </a:r>
            <a:r>
              <a:rPr lang="zh-CN" altLang="en-US" dirty="0"/>
              <a:t>位全加器串联：</a:t>
            </a:r>
            <a:endParaRPr lang="en-US" altLang="zh-CN" dirty="0"/>
          </a:p>
          <a:p>
            <a:pPr lvl="2"/>
            <a:r>
              <a:rPr lang="zh-CN" altLang="en-US" dirty="0"/>
              <a:t>使用</a:t>
            </a:r>
            <a:r>
              <a:rPr lang="en-US" altLang="zh-CN" dirty="0"/>
              <a:t>20</a:t>
            </a:r>
            <a:r>
              <a:rPr lang="zh-CN" altLang="en-US" dirty="0"/>
              <a:t>个门，最大门延迟 </a:t>
            </a:r>
            <a:r>
              <a:rPr lang="en-US" altLang="zh-CN" dirty="0"/>
              <a:t>3+2</a:t>
            </a:r>
            <a:r>
              <a:rPr lang="zh-CN" altLang="en-US" dirty="0"/>
              <a:t>*</a:t>
            </a:r>
            <a:r>
              <a:rPr lang="en-US" altLang="zh-CN" dirty="0"/>
              <a:t>3=9</a:t>
            </a:r>
          </a:p>
          <a:p>
            <a:pPr lvl="1"/>
            <a:r>
              <a:rPr lang="zh-CN" altLang="en-US" dirty="0"/>
              <a:t>超前进位：</a:t>
            </a:r>
            <a:endParaRPr lang="en-US" altLang="zh-CN" dirty="0"/>
          </a:p>
          <a:p>
            <a:pPr lvl="2"/>
            <a:r>
              <a:rPr lang="zh-CN" altLang="en-US" dirty="0"/>
              <a:t>使用</a:t>
            </a:r>
            <a:r>
              <a:rPr lang="en-US" altLang="zh-CN" dirty="0"/>
              <a:t>30</a:t>
            </a:r>
            <a:r>
              <a:rPr lang="zh-CN" altLang="en-US" dirty="0"/>
              <a:t>个门，最大门延迟</a:t>
            </a:r>
            <a:r>
              <a:rPr lang="en-US" altLang="zh-CN" dirty="0"/>
              <a:t>4</a:t>
            </a:r>
          </a:p>
          <a:p>
            <a:r>
              <a:rPr lang="en-US" altLang="zh-CN" dirty="0"/>
              <a:t>8</a:t>
            </a:r>
            <a:r>
              <a:rPr lang="zh-CN" altLang="en-US" dirty="0"/>
              <a:t>位全加器</a:t>
            </a:r>
            <a:endParaRPr lang="en-US" altLang="zh-CN" dirty="0"/>
          </a:p>
          <a:p>
            <a:pPr lvl="1"/>
            <a:r>
              <a:rPr lang="en-US" altLang="zh-CN" dirty="0"/>
              <a:t>1</a:t>
            </a:r>
            <a:r>
              <a:rPr lang="zh-CN" altLang="en-US" dirty="0"/>
              <a:t>位全加器串联：</a:t>
            </a:r>
            <a:endParaRPr lang="en-US" altLang="zh-CN" dirty="0"/>
          </a:p>
          <a:p>
            <a:pPr lvl="2"/>
            <a:r>
              <a:rPr lang="zh-CN" altLang="en-US" dirty="0"/>
              <a:t>使用</a:t>
            </a:r>
            <a:r>
              <a:rPr lang="en-US" altLang="zh-CN" dirty="0"/>
              <a:t>40</a:t>
            </a:r>
            <a:r>
              <a:rPr lang="zh-CN" altLang="en-US" dirty="0"/>
              <a:t>个门，最大门延迟 </a:t>
            </a:r>
            <a:r>
              <a:rPr lang="en-US" altLang="zh-CN" dirty="0"/>
              <a:t>3+</a:t>
            </a:r>
            <a:r>
              <a:rPr lang="zh-CN" altLang="en-US" dirty="0"/>
              <a:t>（</a:t>
            </a:r>
            <a:r>
              <a:rPr lang="en-US" altLang="zh-CN" dirty="0"/>
              <a:t>2</a:t>
            </a:r>
            <a:r>
              <a:rPr lang="zh-CN" altLang="en-US" dirty="0"/>
              <a:t>*</a:t>
            </a:r>
            <a:r>
              <a:rPr lang="en-US" altLang="zh-CN" dirty="0"/>
              <a:t>7</a:t>
            </a:r>
            <a:r>
              <a:rPr lang="zh-CN" altLang="en-US" dirty="0"/>
              <a:t>）</a:t>
            </a:r>
            <a:r>
              <a:rPr lang="en-US" altLang="zh-CN" dirty="0"/>
              <a:t>=17</a:t>
            </a:r>
          </a:p>
          <a:p>
            <a:pPr lvl="1"/>
            <a:r>
              <a:rPr lang="zh-CN" altLang="en-US" dirty="0"/>
              <a:t>超前进位：</a:t>
            </a:r>
            <a:endParaRPr lang="en-US" altLang="zh-CN" dirty="0"/>
          </a:p>
          <a:p>
            <a:pPr lvl="2"/>
            <a:r>
              <a:rPr lang="zh-CN" altLang="en-US" dirty="0"/>
              <a:t>使用</a:t>
            </a:r>
            <a:r>
              <a:rPr lang="en-US" altLang="zh-CN" dirty="0"/>
              <a:t>60</a:t>
            </a:r>
            <a:r>
              <a:rPr lang="zh-CN" altLang="en-US" dirty="0"/>
              <a:t>个门，最大门延迟</a:t>
            </a:r>
            <a:r>
              <a:rPr lang="en-US" altLang="zh-CN" dirty="0"/>
              <a:t>4</a:t>
            </a:r>
            <a:endParaRPr lang="zh-CN" altLang="en-US" dirty="0"/>
          </a:p>
          <a:p>
            <a:endParaRPr kumimoji="1" lang="zh-CN" altLang="en-US" dirty="0"/>
          </a:p>
        </p:txBody>
      </p:sp>
      <p:sp>
        <p:nvSpPr>
          <p:cNvPr id="4" name="页脚占位符 3">
            <a:extLst>
              <a:ext uri="{FF2B5EF4-FFF2-40B4-BE49-F238E27FC236}">
                <a16:creationId xmlns:a16="http://schemas.microsoft.com/office/drawing/2014/main" id="{32E996D4-A2CE-4B65-7283-95A9A1D88B3F}"/>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5C248C12-8AD6-F66E-8AE8-E395269B483E}"/>
              </a:ext>
            </a:extLst>
          </p:cNvPr>
          <p:cNvSpPr>
            <a:spLocks noGrp="1"/>
          </p:cNvSpPr>
          <p:nvPr>
            <p:ph type="sldNum" sz="quarter" idx="12"/>
          </p:nvPr>
        </p:nvSpPr>
        <p:spPr/>
        <p:txBody>
          <a:bodyPr/>
          <a:lstStyle/>
          <a:p>
            <a:fld id="{9E260BC5-5BF3-8746-862B-DC45E9CAA88B}" type="slidenum">
              <a:rPr lang="en-US" smtClean="0"/>
              <a:pPr/>
              <a:t>21</a:t>
            </a:fld>
            <a:r>
              <a:rPr lang="en-US" altLang="zh-CN" dirty="0"/>
              <a:t>/25</a:t>
            </a:r>
            <a:endParaRPr lang="en-US" dirty="0"/>
          </a:p>
        </p:txBody>
      </p:sp>
      <p:sp>
        <p:nvSpPr>
          <p:cNvPr id="6" name="矩形 5">
            <a:extLst>
              <a:ext uri="{FF2B5EF4-FFF2-40B4-BE49-F238E27FC236}">
                <a16:creationId xmlns:a16="http://schemas.microsoft.com/office/drawing/2014/main" id="{A29CD481-F720-7ECA-E34B-467F4F6CA2C9}"/>
              </a:ext>
            </a:extLst>
          </p:cNvPr>
          <p:cNvSpPr/>
          <p:nvPr/>
        </p:nvSpPr>
        <p:spPr>
          <a:xfrm>
            <a:off x="6648450" y="2458126"/>
            <a:ext cx="1925637" cy="646113"/>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p>
            <a:pPr>
              <a:defRPr/>
            </a:pPr>
            <a:r>
              <a:rPr kumimoji="1" lang="zh-CN" altLang="en-US" dirty="0">
                <a:latin typeface="+mj-ea"/>
                <a:ea typeface="+mj-ea"/>
              </a:rPr>
              <a:t>优点：速度快</a:t>
            </a:r>
          </a:p>
          <a:p>
            <a:pPr>
              <a:defRPr/>
            </a:pPr>
            <a:r>
              <a:rPr kumimoji="1" lang="zh-CN" altLang="en-US" dirty="0">
                <a:latin typeface="+mj-ea"/>
                <a:ea typeface="+mj-ea"/>
              </a:rPr>
              <a:t>缺点：电路复杂</a:t>
            </a:r>
          </a:p>
        </p:txBody>
      </p:sp>
      <p:cxnSp>
        <p:nvCxnSpPr>
          <p:cNvPr id="7" name="直接箭头连接符 9">
            <a:extLst>
              <a:ext uri="{FF2B5EF4-FFF2-40B4-BE49-F238E27FC236}">
                <a16:creationId xmlns:a16="http://schemas.microsoft.com/office/drawing/2014/main" id="{3CB7A608-2B47-EE83-383C-1A2E7AA1F719}"/>
              </a:ext>
            </a:extLst>
          </p:cNvPr>
          <p:cNvCxnSpPr/>
          <p:nvPr/>
        </p:nvCxnSpPr>
        <p:spPr>
          <a:xfrm>
            <a:off x="4711700" y="2627989"/>
            <a:ext cx="1809750" cy="15240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cxnSp>
        <p:nvCxnSpPr>
          <p:cNvPr id="8" name="直接箭头连接符 10">
            <a:extLst>
              <a:ext uri="{FF2B5EF4-FFF2-40B4-BE49-F238E27FC236}">
                <a16:creationId xmlns:a16="http://schemas.microsoft.com/office/drawing/2014/main" id="{CA6F63DA-99A8-58C5-2049-554F11D28886}"/>
              </a:ext>
            </a:extLst>
          </p:cNvPr>
          <p:cNvCxnSpPr>
            <a:cxnSpLocks/>
          </p:cNvCxnSpPr>
          <p:nvPr/>
        </p:nvCxnSpPr>
        <p:spPr>
          <a:xfrm flipV="1">
            <a:off x="4302177" y="2780389"/>
            <a:ext cx="2219273" cy="1821591"/>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grpSp>
        <p:nvGrpSpPr>
          <p:cNvPr id="9" name="组合 8">
            <a:extLst>
              <a:ext uri="{FF2B5EF4-FFF2-40B4-BE49-F238E27FC236}">
                <a16:creationId xmlns:a16="http://schemas.microsoft.com/office/drawing/2014/main" id="{A71996D1-DDEF-AA67-F859-0932AE4FE7BC}"/>
              </a:ext>
            </a:extLst>
          </p:cNvPr>
          <p:cNvGrpSpPr/>
          <p:nvPr/>
        </p:nvGrpSpPr>
        <p:grpSpPr>
          <a:xfrm>
            <a:off x="1095810" y="5298868"/>
            <a:ext cx="7853318" cy="431649"/>
            <a:chOff x="1258438" y="5733256"/>
            <a:chExt cx="9103583" cy="431649"/>
          </a:xfrm>
        </p:grpSpPr>
        <p:sp>
          <p:nvSpPr>
            <p:cNvPr id="10" name="文本框 9">
              <a:extLst>
                <a:ext uri="{FF2B5EF4-FFF2-40B4-BE49-F238E27FC236}">
                  <a16:creationId xmlns:a16="http://schemas.microsoft.com/office/drawing/2014/main" id="{64CB427C-9DC6-A47A-4DAA-5484487DD5F0}"/>
                </a:ext>
              </a:extLst>
            </p:cNvPr>
            <p:cNvSpPr txBox="1"/>
            <p:nvPr/>
          </p:nvSpPr>
          <p:spPr>
            <a:xfrm>
              <a:off x="1258438" y="5795573"/>
              <a:ext cx="9103583" cy="369332"/>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kumimoji="1" lang="zh-CN" altLang="en-US" dirty="0">
                  <a:solidFill>
                    <a:schemeClr val="accent1">
                      <a:lumMod val="50000"/>
                    </a:schemeClr>
                  </a:solidFill>
                  <a:latin typeface="+mj-ea"/>
                  <a:ea typeface="+mj-ea"/>
                </a:rPr>
                <a:t>考虑到每个门的驱动能力有限，实际芯片中要使用的门可能比理论值略多</a:t>
              </a:r>
            </a:p>
          </p:txBody>
        </p:sp>
        <p:cxnSp>
          <p:nvCxnSpPr>
            <p:cNvPr id="11" name="直线连接符 10">
              <a:extLst>
                <a:ext uri="{FF2B5EF4-FFF2-40B4-BE49-F238E27FC236}">
                  <a16:creationId xmlns:a16="http://schemas.microsoft.com/office/drawing/2014/main" id="{63E876AA-D51A-834F-499F-E24FD1F1220C}"/>
                </a:ext>
              </a:extLst>
            </p:cNvPr>
            <p:cNvCxnSpPr/>
            <p:nvPr/>
          </p:nvCxnSpPr>
          <p:spPr>
            <a:xfrm>
              <a:off x="2087724" y="5733256"/>
              <a:ext cx="900100" cy="0"/>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69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4958EA-FEC1-6459-90DA-BBDF47652D49}"/>
              </a:ext>
            </a:extLst>
          </p:cNvPr>
          <p:cNvSpPr>
            <a:spLocks noGrp="1"/>
          </p:cNvSpPr>
          <p:nvPr>
            <p:ph type="title"/>
          </p:nvPr>
        </p:nvSpPr>
        <p:spPr/>
        <p:txBody>
          <a:bodyPr>
            <a:normAutofit fontScale="90000"/>
          </a:bodyPr>
          <a:lstStyle/>
          <a:p>
            <a:r>
              <a:rPr lang="en-US" altLang="zh-CN" dirty="0">
                <a:latin typeface="Times New Roman" panose="02020603050405020304" pitchFamily="18" charset="0"/>
                <a:cs typeface="Times New Roman" panose="02020603050405020304" pitchFamily="18" charset="0"/>
              </a:rPr>
              <a:t>74x283</a:t>
            </a:r>
            <a:r>
              <a:rPr lang="zh-CN" altLang="en-US" dirty="0">
                <a:latin typeface="Times New Roman" panose="02020603050405020304" pitchFamily="18" charset="0"/>
                <a:cs typeface="Times New Roman" panose="02020603050405020304" pitchFamily="18" charset="0"/>
              </a:rPr>
              <a:t>应用 </a:t>
            </a:r>
            <a:r>
              <a:rPr lang="en-US" altLang="zh-CN" dirty="0">
                <a:latin typeface="Times New Roman" panose="02020603050405020304" pitchFamily="18" charset="0"/>
                <a:cs typeface="Times New Roman" panose="02020603050405020304" pitchFamily="18" charset="0"/>
              </a:rPr>
              <a:t>(1)</a:t>
            </a:r>
            <a:endParaRPr kumimoji="1" lang="zh-CN" altLang="en-US" dirty="0"/>
          </a:p>
        </p:txBody>
      </p:sp>
      <p:sp>
        <p:nvSpPr>
          <p:cNvPr id="3" name="内容占位符 2">
            <a:extLst>
              <a:ext uri="{FF2B5EF4-FFF2-40B4-BE49-F238E27FC236}">
                <a16:creationId xmlns:a16="http://schemas.microsoft.com/office/drawing/2014/main" id="{DD3E6FE9-EAD8-271A-A554-827C045D6440}"/>
              </a:ext>
            </a:extLst>
          </p:cNvPr>
          <p:cNvSpPr>
            <a:spLocks noGrp="1"/>
          </p:cNvSpPr>
          <p:nvPr>
            <p:ph idx="1"/>
          </p:nvPr>
        </p:nvSpPr>
        <p:spPr/>
        <p:txBody>
          <a:bodyPr/>
          <a:lstStyle/>
          <a:p>
            <a:r>
              <a:rPr lang="en-US" altLang="zh-CN" dirty="0"/>
              <a:t>8</a:t>
            </a:r>
            <a:r>
              <a:rPr lang="zh-CN" altLang="en-US" dirty="0"/>
              <a:t>位二进制数加法器</a:t>
            </a:r>
          </a:p>
          <a:p>
            <a:pPr lvl="1"/>
            <a:r>
              <a:rPr lang="zh-CN" altLang="en-US" dirty="0"/>
              <a:t>片内超前进位，片间串行进位</a:t>
            </a:r>
          </a:p>
          <a:p>
            <a:endParaRPr kumimoji="1" lang="zh-CN" altLang="en-US" dirty="0"/>
          </a:p>
        </p:txBody>
      </p:sp>
      <p:sp>
        <p:nvSpPr>
          <p:cNvPr id="4" name="页脚占位符 3">
            <a:extLst>
              <a:ext uri="{FF2B5EF4-FFF2-40B4-BE49-F238E27FC236}">
                <a16:creationId xmlns:a16="http://schemas.microsoft.com/office/drawing/2014/main" id="{3711D623-4265-A169-0579-1584BAA491B6}"/>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0F8ACCBD-BB9D-C6AD-E01B-3FF81817AFAB}"/>
              </a:ext>
            </a:extLst>
          </p:cNvPr>
          <p:cNvSpPr>
            <a:spLocks noGrp="1"/>
          </p:cNvSpPr>
          <p:nvPr>
            <p:ph type="sldNum" sz="quarter" idx="12"/>
          </p:nvPr>
        </p:nvSpPr>
        <p:spPr/>
        <p:txBody>
          <a:bodyPr/>
          <a:lstStyle/>
          <a:p>
            <a:fld id="{9E260BC5-5BF3-8746-862B-DC45E9CAA88B}" type="slidenum">
              <a:rPr lang="en-US" smtClean="0"/>
              <a:pPr/>
              <a:t>22</a:t>
            </a:fld>
            <a:r>
              <a:rPr lang="en-US" altLang="zh-CN" dirty="0"/>
              <a:t>/25</a:t>
            </a:r>
            <a:endParaRPr lang="en-US" dirty="0"/>
          </a:p>
        </p:txBody>
      </p:sp>
      <p:graphicFrame>
        <p:nvGraphicFramePr>
          <p:cNvPr id="6" name="Object 5">
            <a:extLst>
              <a:ext uri="{FF2B5EF4-FFF2-40B4-BE49-F238E27FC236}">
                <a16:creationId xmlns:a16="http://schemas.microsoft.com/office/drawing/2014/main" id="{83730837-858E-67AF-CE19-8139C2FF9307}"/>
              </a:ext>
            </a:extLst>
          </p:cNvPr>
          <p:cNvGraphicFramePr>
            <a:graphicFrameLocks noChangeAspect="1"/>
          </p:cNvGraphicFramePr>
          <p:nvPr>
            <p:extLst>
              <p:ext uri="{D42A27DB-BD31-4B8C-83A1-F6EECF244321}">
                <p14:modId xmlns:p14="http://schemas.microsoft.com/office/powerpoint/2010/main" val="3827102710"/>
              </p:ext>
            </p:extLst>
          </p:nvPr>
        </p:nvGraphicFramePr>
        <p:xfrm>
          <a:off x="1114425" y="2528888"/>
          <a:ext cx="7223125" cy="3271837"/>
        </p:xfrm>
        <a:graphic>
          <a:graphicData uri="http://schemas.openxmlformats.org/presentationml/2006/ole">
            <mc:AlternateContent xmlns:mc="http://schemas.openxmlformats.org/markup-compatibility/2006">
              <mc:Choice xmlns:v="urn:schemas-microsoft-com:vml" Requires="v">
                <p:oleObj name="图片" r:id="rId2" imgW="3124200" imgH="1435100" progId="Word.Picture.8">
                  <p:embed/>
                </p:oleObj>
              </mc:Choice>
              <mc:Fallback>
                <p:oleObj name="图片" r:id="rId2" imgW="3124200" imgH="1435100" progId="Word.Picture.8">
                  <p:embed/>
                  <p:pic>
                    <p:nvPicPr>
                      <p:cNvPr id="33800" name="Object 5"/>
                      <p:cNvPicPr>
                        <a:picLocks noChangeAspect="1" noChangeArrowheads="1"/>
                      </p:cNvPicPr>
                      <p:nvPr/>
                    </p:nvPicPr>
                    <p:blipFill>
                      <a:blip r:embed="rId3"/>
                      <a:srcRect/>
                      <a:stretch>
                        <a:fillRect/>
                      </a:stretch>
                    </p:blipFill>
                    <p:spPr bwMode="auto">
                      <a:xfrm>
                        <a:off x="1114425" y="2528888"/>
                        <a:ext cx="7223125" cy="327183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643412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B2EB16-9609-A235-2950-73069D4CF975}"/>
              </a:ext>
            </a:extLst>
          </p:cNvPr>
          <p:cNvSpPr>
            <a:spLocks noGrp="1"/>
          </p:cNvSpPr>
          <p:nvPr>
            <p:ph type="title"/>
          </p:nvPr>
        </p:nvSpPr>
        <p:spPr/>
        <p:txBody>
          <a:bodyPr>
            <a:normAutofit fontScale="90000"/>
          </a:bodyPr>
          <a:lstStyle/>
          <a:p>
            <a:r>
              <a:rPr lang="en-US" altLang="zh-CN" dirty="0">
                <a:latin typeface="Times New Roman" panose="02020603050405020304" pitchFamily="18" charset="0"/>
                <a:cs typeface="Times New Roman" panose="02020603050405020304" pitchFamily="18" charset="0"/>
              </a:rPr>
              <a:t>74x283</a:t>
            </a:r>
            <a:r>
              <a:rPr lang="zh-CN" altLang="en-US" dirty="0">
                <a:latin typeface="Times New Roman" panose="02020603050405020304" pitchFamily="18" charset="0"/>
                <a:cs typeface="Times New Roman" panose="02020603050405020304" pitchFamily="18" charset="0"/>
              </a:rPr>
              <a:t>应用</a:t>
            </a:r>
            <a:r>
              <a:rPr lang="en-US" altLang="zh-CN" dirty="0">
                <a:latin typeface="Times New Roman" panose="02020603050405020304" pitchFamily="18" charset="0"/>
                <a:cs typeface="Times New Roman" panose="02020603050405020304" pitchFamily="18" charset="0"/>
              </a:rPr>
              <a:t> (2)</a:t>
            </a:r>
            <a:endParaRPr kumimoji="1" lang="zh-CN" altLang="en-US" dirty="0"/>
          </a:p>
        </p:txBody>
      </p:sp>
      <p:sp>
        <p:nvSpPr>
          <p:cNvPr id="3" name="内容占位符 2">
            <a:extLst>
              <a:ext uri="{FF2B5EF4-FFF2-40B4-BE49-F238E27FC236}">
                <a16:creationId xmlns:a16="http://schemas.microsoft.com/office/drawing/2014/main" id="{CBE953F5-E47F-5E07-5A0B-BFE312B00219}"/>
              </a:ext>
            </a:extLst>
          </p:cNvPr>
          <p:cNvSpPr>
            <a:spLocks noGrp="1"/>
          </p:cNvSpPr>
          <p:nvPr>
            <p:ph idx="1"/>
          </p:nvPr>
        </p:nvSpPr>
        <p:spPr/>
        <p:txBody>
          <a:bodyPr/>
          <a:lstStyle/>
          <a:p>
            <a:r>
              <a:rPr kumimoji="1" lang="en-US" altLang="zh-CN" dirty="0"/>
              <a:t>74x283(0)</a:t>
            </a:r>
          </a:p>
          <a:p>
            <a:pPr lvl="1"/>
            <a:r>
              <a:rPr kumimoji="1" lang="zh-CN" altLang="en-US" dirty="0"/>
              <a:t>按补码执行</a:t>
            </a:r>
            <a:r>
              <a:rPr kumimoji="1" lang="en-US" altLang="zh-CN" dirty="0"/>
              <a:t>D’=X-Y</a:t>
            </a:r>
            <a:r>
              <a:rPr kumimoji="1" lang="zh-CN" altLang="en-US" dirty="0"/>
              <a:t>运算</a:t>
            </a:r>
          </a:p>
          <a:p>
            <a:pPr lvl="1"/>
            <a:r>
              <a:rPr kumimoji="1" lang="en-US" altLang="zh-CN" dirty="0">
                <a:cs typeface="Times New Roman" panose="02020603050405020304" pitchFamily="18" charset="0"/>
              </a:rPr>
              <a:t>X ≥ Y</a:t>
            </a:r>
            <a:r>
              <a:rPr kumimoji="1" lang="zh-CN" altLang="en-US" dirty="0">
                <a:ea typeface="MS PGothic" panose="020B0600070205080204" pitchFamily="34" charset="-128"/>
              </a:rPr>
              <a:t>：无借位，</a:t>
            </a:r>
            <a:r>
              <a:rPr kumimoji="1" lang="en-US" altLang="zh-CN" dirty="0">
                <a:ea typeface="MS PGothic" panose="020B0600070205080204" pitchFamily="34" charset="-128"/>
                <a:cs typeface="Times New Roman" panose="02020603050405020304" pitchFamily="18" charset="0"/>
              </a:rPr>
              <a:t>V = 0</a:t>
            </a:r>
          </a:p>
          <a:p>
            <a:pPr lvl="1"/>
            <a:r>
              <a:rPr kumimoji="1" lang="en-US" altLang="zh-CN" dirty="0">
                <a:ea typeface="MS PGothic" panose="020B0600070205080204" pitchFamily="34" charset="-128"/>
                <a:cs typeface="Times New Roman" panose="02020603050405020304" pitchFamily="18" charset="0"/>
              </a:rPr>
              <a:t>X &lt; Y</a:t>
            </a:r>
            <a:r>
              <a:rPr kumimoji="1" lang="zh-CN" altLang="en-US" dirty="0">
                <a:ea typeface="MS PGothic" panose="020B0600070205080204" pitchFamily="34" charset="-128"/>
              </a:rPr>
              <a:t>：有借位，</a:t>
            </a:r>
            <a:r>
              <a:rPr kumimoji="1" lang="en-US" altLang="zh-CN" dirty="0">
                <a:cs typeface="Times New Roman" panose="02020603050405020304" pitchFamily="18" charset="0"/>
              </a:rPr>
              <a:t>V = 1</a:t>
            </a:r>
          </a:p>
          <a:p>
            <a:pPr lvl="1"/>
            <a:endParaRPr kumimoji="1" lang="en-US" altLang="zh-CN" sz="1200" dirty="0">
              <a:cs typeface="Times New Roman" panose="02020603050405020304" pitchFamily="18" charset="0"/>
            </a:endParaRPr>
          </a:p>
          <a:p>
            <a:r>
              <a:rPr kumimoji="1" lang="en-US" altLang="zh-CN" dirty="0"/>
              <a:t>74x283(1)</a:t>
            </a:r>
          </a:p>
          <a:p>
            <a:pPr lvl="1"/>
            <a:r>
              <a:rPr kumimoji="1" lang="en-US" altLang="zh-CN" dirty="0">
                <a:cs typeface="Times New Roman" panose="02020603050405020304" pitchFamily="18" charset="0"/>
              </a:rPr>
              <a:t>V = 0</a:t>
            </a:r>
            <a:r>
              <a:rPr kumimoji="1" lang="zh-CN" altLang="en-US" dirty="0">
                <a:ea typeface="MS PGothic" panose="020B0600070205080204" pitchFamily="34" charset="-128"/>
              </a:rPr>
              <a:t>：</a:t>
            </a:r>
            <a:r>
              <a:rPr kumimoji="1" lang="en-US" altLang="zh-CN" dirty="0">
                <a:cs typeface="Times New Roman" panose="02020603050405020304" pitchFamily="18" charset="0"/>
              </a:rPr>
              <a:t>D = 0+D’ = D</a:t>
            </a:r>
          </a:p>
          <a:p>
            <a:pPr lvl="1"/>
            <a:r>
              <a:rPr kumimoji="1" lang="en-US" altLang="zh-CN" dirty="0">
                <a:cs typeface="Times New Roman" panose="02020603050405020304" pitchFamily="18" charset="0"/>
              </a:rPr>
              <a:t>V = 1</a:t>
            </a:r>
            <a:r>
              <a:rPr kumimoji="1" lang="zh-CN" altLang="en-US" dirty="0">
                <a:ea typeface="MS PGothic" panose="020B0600070205080204" pitchFamily="34" charset="-128"/>
              </a:rPr>
              <a:t>：</a:t>
            </a:r>
            <a:r>
              <a:rPr kumimoji="1" lang="en-US" altLang="zh-CN" dirty="0">
                <a:cs typeface="Times New Roman" panose="02020603050405020304" pitchFamily="18" charset="0"/>
              </a:rPr>
              <a:t>D = 0−D’ = −D</a:t>
            </a:r>
            <a:endParaRPr kumimoji="1" lang="zh-CN" altLang="en-US" dirty="0"/>
          </a:p>
          <a:p>
            <a:endParaRPr kumimoji="1" lang="zh-CN" altLang="en-US" dirty="0"/>
          </a:p>
        </p:txBody>
      </p:sp>
      <p:sp>
        <p:nvSpPr>
          <p:cNvPr id="4" name="页脚占位符 3">
            <a:extLst>
              <a:ext uri="{FF2B5EF4-FFF2-40B4-BE49-F238E27FC236}">
                <a16:creationId xmlns:a16="http://schemas.microsoft.com/office/drawing/2014/main" id="{40EB0363-F72D-699C-0089-8C56576848C3}"/>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FC9D25C2-2486-48BD-4B7F-E452CA7CD610}"/>
              </a:ext>
            </a:extLst>
          </p:cNvPr>
          <p:cNvSpPr>
            <a:spLocks noGrp="1"/>
          </p:cNvSpPr>
          <p:nvPr>
            <p:ph type="sldNum" sz="quarter" idx="12"/>
          </p:nvPr>
        </p:nvSpPr>
        <p:spPr/>
        <p:txBody>
          <a:bodyPr/>
          <a:lstStyle/>
          <a:p>
            <a:fld id="{9E260BC5-5BF3-8746-862B-DC45E9CAA88B}" type="slidenum">
              <a:rPr lang="en-US" smtClean="0"/>
              <a:pPr/>
              <a:t>23</a:t>
            </a:fld>
            <a:r>
              <a:rPr lang="en-US" altLang="zh-CN" dirty="0"/>
              <a:t>/25</a:t>
            </a:r>
            <a:endParaRPr lang="en-US" dirty="0"/>
          </a:p>
        </p:txBody>
      </p:sp>
      <p:graphicFrame>
        <p:nvGraphicFramePr>
          <p:cNvPr id="6" name="Object 15">
            <a:extLst>
              <a:ext uri="{FF2B5EF4-FFF2-40B4-BE49-F238E27FC236}">
                <a16:creationId xmlns:a16="http://schemas.microsoft.com/office/drawing/2014/main" id="{626D4891-6163-507D-5E97-E847E9600E7D}"/>
              </a:ext>
            </a:extLst>
          </p:cNvPr>
          <p:cNvGraphicFramePr>
            <a:graphicFrameLocks noChangeAspect="1"/>
          </p:cNvGraphicFramePr>
          <p:nvPr>
            <p:extLst>
              <p:ext uri="{D42A27DB-BD31-4B8C-83A1-F6EECF244321}">
                <p14:modId xmlns:p14="http://schemas.microsoft.com/office/powerpoint/2010/main" val="3390819439"/>
              </p:ext>
            </p:extLst>
          </p:nvPr>
        </p:nvGraphicFramePr>
        <p:xfrm>
          <a:off x="5509895" y="510639"/>
          <a:ext cx="4378325" cy="5862638"/>
        </p:xfrm>
        <a:graphic>
          <a:graphicData uri="http://schemas.openxmlformats.org/presentationml/2006/ole">
            <mc:AlternateContent xmlns:mc="http://schemas.openxmlformats.org/markup-compatibility/2006">
              <mc:Choice xmlns:v="urn:schemas-microsoft-com:vml" Requires="v">
                <p:oleObj name="Bild" r:id="rId3" imgW="2779200" imgH="3748320" progId="Word.Picture.8">
                  <p:embed/>
                </p:oleObj>
              </mc:Choice>
              <mc:Fallback>
                <p:oleObj name="Bild" r:id="rId3" imgW="2779200" imgH="3748320" progId="Word.Picture.8">
                  <p:embed/>
                  <p:pic>
                    <p:nvPicPr>
                      <p:cNvPr id="34818" name="Object 15"/>
                      <p:cNvPicPr>
                        <a:picLocks noChangeAspect="1" noChangeArrowheads="1"/>
                      </p:cNvPicPr>
                      <p:nvPr/>
                    </p:nvPicPr>
                    <p:blipFill>
                      <a:blip r:embed="rId4">
                        <a:extLst>
                          <a:ext uri="{28A0092B-C50C-407E-A947-70E740481C1C}">
                            <a14:useLocalDpi xmlns:a14="http://schemas.microsoft.com/office/drawing/2010/main" val="0"/>
                          </a:ext>
                        </a:extLst>
                      </a:blip>
                      <a:srcRect t="-1344"/>
                      <a:stretch>
                        <a:fillRect/>
                      </a:stretch>
                    </p:blipFill>
                    <p:spPr bwMode="auto">
                      <a:xfrm>
                        <a:off x="5509895" y="510639"/>
                        <a:ext cx="4378325" cy="5862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14">
            <a:extLst>
              <a:ext uri="{FF2B5EF4-FFF2-40B4-BE49-F238E27FC236}">
                <a16:creationId xmlns:a16="http://schemas.microsoft.com/office/drawing/2014/main" id="{F354DCED-6AB8-2FA3-8E7A-510C7D29E925}"/>
              </a:ext>
            </a:extLst>
          </p:cNvPr>
          <p:cNvSpPr txBox="1">
            <a:spLocks noChangeArrowheads="1"/>
          </p:cNvSpPr>
          <p:nvPr/>
        </p:nvSpPr>
        <p:spPr bwMode="auto">
          <a:xfrm>
            <a:off x="1158875" y="4834042"/>
            <a:ext cx="2225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dirty="0"/>
              <a:t>即  </a:t>
            </a:r>
            <a:r>
              <a:rPr lang="en-US" altLang="zh-CN" dirty="0"/>
              <a:t>D = </a:t>
            </a:r>
            <a:r>
              <a:rPr kumimoji="1" lang="en-US" altLang="zh-CN" dirty="0"/>
              <a:t>|X</a:t>
            </a:r>
            <a:r>
              <a:rPr kumimoji="1" lang="en-US" altLang="zh-CN" sz="2400" dirty="0">
                <a:latin typeface="Arial" panose="020B0604020202020204" pitchFamily="34" charset="0"/>
              </a:rPr>
              <a:t>−</a:t>
            </a:r>
            <a:r>
              <a:rPr kumimoji="1" lang="en-US" altLang="zh-CN" dirty="0"/>
              <a:t>Y|</a:t>
            </a:r>
          </a:p>
        </p:txBody>
      </p:sp>
    </p:spTree>
    <p:extLst>
      <p:ext uri="{BB962C8B-B14F-4D97-AF65-F5344CB8AC3E}">
        <p14:creationId xmlns:p14="http://schemas.microsoft.com/office/powerpoint/2010/main" val="298134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E5CAF-DF39-D4B0-4898-8083DD18FBBC}"/>
              </a:ext>
            </a:extLst>
          </p:cNvPr>
          <p:cNvSpPr>
            <a:spLocks noGrp="1"/>
          </p:cNvSpPr>
          <p:nvPr>
            <p:ph type="title"/>
          </p:nvPr>
        </p:nvSpPr>
        <p:spPr/>
        <p:txBody>
          <a:bodyPr>
            <a:normAutofit fontScale="90000"/>
          </a:bodyPr>
          <a:lstStyle/>
          <a:p>
            <a:r>
              <a:rPr lang="zh-CN" altLang="en-US" dirty="0"/>
              <a:t>隐藏条件</a:t>
            </a:r>
            <a:endParaRPr kumimoji="1" lang="zh-CN" altLang="en-US" dirty="0"/>
          </a:p>
        </p:txBody>
      </p:sp>
      <p:sp>
        <p:nvSpPr>
          <p:cNvPr id="3" name="内容占位符 2">
            <a:extLst>
              <a:ext uri="{FF2B5EF4-FFF2-40B4-BE49-F238E27FC236}">
                <a16:creationId xmlns:a16="http://schemas.microsoft.com/office/drawing/2014/main" id="{EA488658-D749-AFB6-26FD-7A9BF44F9078}"/>
              </a:ext>
            </a:extLst>
          </p:cNvPr>
          <p:cNvSpPr>
            <a:spLocks noGrp="1"/>
          </p:cNvSpPr>
          <p:nvPr>
            <p:ph idx="1"/>
          </p:nvPr>
        </p:nvSpPr>
        <p:spPr/>
        <p:txBody>
          <a:bodyPr/>
          <a:lstStyle/>
          <a:p>
            <a:r>
              <a:rPr lang="en-US" altLang="zh-CN" sz="2800" dirty="0">
                <a:latin typeface="+mj-ea"/>
                <a:ea typeface="+mj-ea"/>
              </a:rPr>
              <a:t>X</a:t>
            </a:r>
            <a:r>
              <a:rPr lang="zh-CN" altLang="zh-CN" sz="2800" dirty="0">
                <a:latin typeface="+mj-ea"/>
                <a:ea typeface="+mj-ea"/>
              </a:rPr>
              <a:t>和</a:t>
            </a:r>
            <a:r>
              <a:rPr lang="en-US" altLang="zh-CN" sz="2800" dirty="0">
                <a:latin typeface="+mj-ea"/>
                <a:ea typeface="+mj-ea"/>
              </a:rPr>
              <a:t>Y</a:t>
            </a:r>
            <a:r>
              <a:rPr lang="zh-CN" altLang="zh-CN" sz="2800" dirty="0">
                <a:latin typeface="+mj-ea"/>
                <a:ea typeface="+mj-ea"/>
              </a:rPr>
              <a:t>都大于零或者都小于零时才成立</a:t>
            </a:r>
          </a:p>
          <a:p>
            <a:endParaRPr kumimoji="1" lang="zh-CN" altLang="en-US" dirty="0"/>
          </a:p>
        </p:txBody>
      </p:sp>
      <p:sp>
        <p:nvSpPr>
          <p:cNvPr id="4" name="页脚占位符 3">
            <a:extLst>
              <a:ext uri="{FF2B5EF4-FFF2-40B4-BE49-F238E27FC236}">
                <a16:creationId xmlns:a16="http://schemas.microsoft.com/office/drawing/2014/main" id="{55C060FB-20B9-F797-4E0E-7C637ACC486F}"/>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471701C7-70F6-47EF-260A-E962F5DCE49C}"/>
              </a:ext>
            </a:extLst>
          </p:cNvPr>
          <p:cNvSpPr>
            <a:spLocks noGrp="1"/>
          </p:cNvSpPr>
          <p:nvPr>
            <p:ph type="sldNum" sz="quarter" idx="12"/>
          </p:nvPr>
        </p:nvSpPr>
        <p:spPr/>
        <p:txBody>
          <a:bodyPr/>
          <a:lstStyle/>
          <a:p>
            <a:fld id="{9E260BC5-5BF3-8746-862B-DC45E9CAA88B}" type="slidenum">
              <a:rPr lang="en-US" smtClean="0"/>
              <a:pPr/>
              <a:t>24</a:t>
            </a:fld>
            <a:r>
              <a:rPr lang="en-US" altLang="zh-CN" dirty="0"/>
              <a:t>/25</a:t>
            </a:r>
            <a:endParaRPr lang="en-US" dirty="0"/>
          </a:p>
        </p:txBody>
      </p:sp>
      <p:pic>
        <p:nvPicPr>
          <p:cNvPr id="6" name="Bild 9" descr="Screen Shot 2018-08-07 at 14.50.58.png">
            <a:extLst>
              <a:ext uri="{FF2B5EF4-FFF2-40B4-BE49-F238E27FC236}">
                <a16:creationId xmlns:a16="http://schemas.microsoft.com/office/drawing/2014/main" id="{71F1C886-E7B6-2CBF-B988-140CC6BBB8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19875"/>
            <a:ext cx="9144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5343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sz="2800" kern="0" dirty="0">
                <a:latin typeface="Microsoft YaHei" panose="020B0503020204020204" pitchFamily="34" charset="-122"/>
                <a:ea typeface="Microsoft YaHei" panose="020B0503020204020204" pitchFamily="34" charset="-122"/>
              </a:rPr>
              <a:t>数字部分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P215</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4.4.29</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4.4.33</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4.4.35</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4.4.36</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4.4.38</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8.</a:t>
            </a:r>
            <a:r>
              <a:rPr lang="zh-CN" altLang="en-US"/>
              <a:t>组合逻辑电路</a:t>
            </a:r>
            <a:r>
              <a:rPr lang="en-US" altLang="zh-CN"/>
              <a:t>4</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25</a:t>
            </a:fld>
            <a:r>
              <a:rPr lang="en-US" altLang="zh-CN" dirty="0"/>
              <a:t>/25</a:t>
            </a:r>
            <a:endParaRPr lang="en-US" dirty="0"/>
          </a:p>
        </p:txBody>
      </p:sp>
    </p:spTree>
    <p:extLst>
      <p:ext uri="{BB962C8B-B14F-4D97-AF65-F5344CB8AC3E}">
        <p14:creationId xmlns:p14="http://schemas.microsoft.com/office/powerpoint/2010/main" val="701391540"/>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19316</TotalTime>
  <Words>2397</Words>
  <Application>Microsoft Macintosh PowerPoint</Application>
  <PresentationFormat>A4 纸张(210x297 毫米)</PresentationFormat>
  <Paragraphs>441</Paragraphs>
  <Slides>25</Slides>
  <Notes>10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25</vt:i4>
      </vt:variant>
    </vt:vector>
  </HeadingPairs>
  <TitlesOfParts>
    <vt:vector size="40" baseType="lpstr">
      <vt:lpstr>等线</vt:lpstr>
      <vt:lpstr>黑体</vt:lpstr>
      <vt:lpstr>宋体</vt:lpstr>
      <vt:lpstr>Microsoft YaHei</vt:lpstr>
      <vt:lpstr>Microsoft YaHei</vt:lpstr>
      <vt:lpstr>ＭＳ ゴシック</vt:lpstr>
      <vt:lpstr>Arial</vt:lpstr>
      <vt:lpstr>Arial Black</vt:lpstr>
      <vt:lpstr>Cambria Math</vt:lpstr>
      <vt:lpstr>Times New Roman</vt:lpstr>
      <vt:lpstr>Office-Design</vt:lpstr>
      <vt:lpstr>公式</vt:lpstr>
      <vt:lpstr>Picture</vt:lpstr>
      <vt:lpstr>Bild</vt:lpstr>
      <vt:lpstr>图片</vt:lpstr>
      <vt:lpstr>  模拟与数字电路 Analog and Digital Circuits</vt:lpstr>
      <vt:lpstr>内容提纲</vt:lpstr>
      <vt:lpstr>数值比较器</vt:lpstr>
      <vt:lpstr>两位数值比较器</vt:lpstr>
      <vt:lpstr>两位数值比较器(续)</vt:lpstr>
      <vt:lpstr>四位数值比较器74x85 </vt:lpstr>
      <vt:lpstr>看看：电路设计错误</vt:lpstr>
      <vt:lpstr>看看：还有这样的大神</vt:lpstr>
      <vt:lpstr>加法器</vt:lpstr>
      <vt:lpstr>1位半加器</vt:lpstr>
      <vt:lpstr>1位全加器</vt:lpstr>
      <vt:lpstr>1位全加器逻辑图</vt:lpstr>
      <vt:lpstr>串行进位加法器</vt:lpstr>
      <vt:lpstr>超前进位加法器</vt:lpstr>
      <vt:lpstr>进位信号超前产生</vt:lpstr>
      <vt:lpstr>4位超前进位加法器74x283</vt:lpstr>
      <vt:lpstr>门延迟 (gate delay)</vt:lpstr>
      <vt:lpstr>门延迟 (gate delay)</vt:lpstr>
      <vt:lpstr>延迟分析</vt:lpstr>
      <vt:lpstr>延迟分析</vt:lpstr>
      <vt:lpstr>延迟分析</vt:lpstr>
      <vt:lpstr>74x283应用 (1)</vt:lpstr>
      <vt:lpstr>74x283应用 (2)</vt:lpstr>
      <vt:lpstr>隐藏条件</vt:lpstr>
      <vt:lpstr>作业</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2533</cp:revision>
  <cp:lastPrinted>2020-05-26T13:24:01Z</cp:lastPrinted>
  <dcterms:created xsi:type="dcterms:W3CDTF">2020-04-07T12:23:01Z</dcterms:created>
  <dcterms:modified xsi:type="dcterms:W3CDTF">2024-10-08T07:18:24Z</dcterms:modified>
</cp:coreProperties>
</file>