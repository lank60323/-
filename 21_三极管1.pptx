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256" r:id="rId2"/>
    <p:sldId id="444" r:id="rId3"/>
    <p:sldId id="512" r:id="rId4"/>
    <p:sldId id="513" r:id="rId5"/>
    <p:sldId id="514" r:id="rId6"/>
    <p:sldId id="515" r:id="rId7"/>
    <p:sldId id="516" r:id="rId8"/>
    <p:sldId id="517" r:id="rId9"/>
    <p:sldId id="518" r:id="rId10"/>
    <p:sldId id="519" r:id="rId11"/>
    <p:sldId id="520" r:id="rId12"/>
    <p:sldId id="511" r:id="rId13"/>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62"/>
    <p:restoredTop sz="74003"/>
  </p:normalViewPr>
  <p:slideViewPr>
    <p:cSldViewPr snapToGrid="0" snapToObjects="1">
      <p:cViewPr varScale="1">
        <p:scale>
          <a:sx n="77" d="100"/>
          <a:sy n="77" d="100"/>
        </p:scale>
        <p:origin x="2200" y="184"/>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2024/10/31</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2024/10/31</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The transistor is considered by many to be one of the greatest inventions of the twentieth century. It is the fundamental building block of modern electronic devices, and is ubiquitous in modern electronic systems. Today, some transistors are packaged individually, but many more are found embedded in integrated circuits. Although several companies each produce over a billion individually packaged (known as </a:t>
            </a:r>
            <a:r>
              <a:rPr lang="en-US" altLang="zh-CN" i="1" dirty="0"/>
              <a:t>discrete</a:t>
            </a:r>
            <a:r>
              <a:rPr lang="en-US" altLang="zh-CN" dirty="0"/>
              <a:t>) transistors every year,[10] the vast majority of transistors now produced are in integrated circuits (often shortened to </a:t>
            </a:r>
            <a:r>
              <a:rPr lang="en-US" altLang="zh-CN" i="1" dirty="0"/>
              <a:t>IC</a:t>
            </a:r>
            <a:r>
              <a:rPr lang="en-US" altLang="zh-CN" dirty="0"/>
              <a:t>, </a:t>
            </a:r>
            <a:r>
              <a:rPr lang="en-US" altLang="zh-CN" i="1" dirty="0"/>
              <a:t>microchips</a:t>
            </a:r>
            <a:r>
              <a:rPr lang="en-US" altLang="zh-CN" dirty="0"/>
              <a:t> or simply </a:t>
            </a:r>
            <a:r>
              <a:rPr lang="en-US" altLang="zh-CN" i="1" dirty="0"/>
              <a:t>chips</a:t>
            </a:r>
            <a:r>
              <a:rPr lang="en-US" altLang="zh-CN" dirty="0"/>
              <a:t>), along with diodes, resistors, capacitors and other electronic components, to produce complete electronic circuits. A logic gate consists of up to about twenty transistors whereas an advanced microprocessor, as of 2011, can use as many as 3 billion transistors (MOSFETs).</a:t>
            </a:r>
          </a:p>
          <a:p>
            <a:pPr eaLnBrk="1" hangingPunct="1"/>
            <a:endParaRPr lang="zh-CN" altLang="en-US" dirty="0"/>
          </a:p>
          <a:p>
            <a:pPr eaLnBrk="1" hangingPunct="1"/>
            <a:r>
              <a:rPr lang="en-US" altLang="zh-CN" dirty="0"/>
              <a:t>The essential usefulness of a transistor comes from its ability to use a small signal applied between one pair of its terminals to control a much larger signal at another pair of terminals. A transistor can control its output in proportion to the input signal; that is, it can act as an amplifier. Alternatively, the transistor can be used to turn current on or off in a circuit as an electrically controlled switch.</a:t>
            </a:r>
          </a:p>
          <a:p>
            <a:pPr eaLnBrk="1" hangingPunct="1"/>
            <a:endParaRPr lang="en-US" altLang="zh-CN" dirty="0"/>
          </a:p>
          <a:p>
            <a:pPr eaLnBrk="1" hangingPunct="1"/>
            <a:r>
              <a:rPr lang="en-US" altLang="zh-CN" dirty="0"/>
              <a:t>Transistors are categorized by:</a:t>
            </a:r>
          </a:p>
          <a:p>
            <a:pPr lvl="1" eaLnBrk="1" hangingPunct="1">
              <a:buFontTx/>
              <a:buChar char="•"/>
            </a:pPr>
            <a:r>
              <a:rPr lang="en-US" altLang="zh-CN" dirty="0"/>
              <a:t>Semiconductor material: germanium, silicon, gallium arsenide, silicon carbide, etc. </a:t>
            </a:r>
          </a:p>
          <a:p>
            <a:pPr lvl="1" eaLnBrk="1" hangingPunct="1">
              <a:buFontTx/>
              <a:buChar char="•"/>
            </a:pPr>
            <a:r>
              <a:rPr lang="en-US" altLang="zh-CN" dirty="0"/>
              <a:t>Structure: BJT, JFET, IGFET (MOSFET), IGBT, "other types" </a:t>
            </a:r>
          </a:p>
          <a:p>
            <a:pPr lvl="1" eaLnBrk="1" hangingPunct="1">
              <a:buFontTx/>
              <a:buChar char="•"/>
            </a:pPr>
            <a:r>
              <a:rPr lang="en-US" altLang="zh-CN" dirty="0"/>
              <a:t>Polarity: NPN, PNP (BJTs); N-channel, P-channel (FETs) </a:t>
            </a:r>
          </a:p>
          <a:p>
            <a:pPr lvl="1" eaLnBrk="1" hangingPunct="1">
              <a:buFontTx/>
              <a:buChar char="•"/>
            </a:pPr>
            <a:r>
              <a:rPr lang="en-US" altLang="zh-CN" dirty="0"/>
              <a:t>Maximum power rating: low, medium, high </a:t>
            </a:r>
          </a:p>
          <a:p>
            <a:pPr lvl="1" eaLnBrk="1" hangingPunct="1">
              <a:buFontTx/>
              <a:buChar char="•"/>
            </a:pPr>
            <a:r>
              <a:rPr lang="en-US" altLang="zh-CN" dirty="0"/>
              <a:t>Maximum operating frequency: low, medium, high, radio frequency (RF), microwave (The maximum effective frequency of a transistor is denoted by the term </a:t>
            </a:r>
            <a:r>
              <a:rPr lang="en-US" altLang="zh-CN" dirty="0" err="1"/>
              <a:t>fT</a:t>
            </a:r>
            <a:r>
              <a:rPr lang="en-US" altLang="zh-CN" dirty="0"/>
              <a:t>, an abbreviation for "frequency of transition". The frequency of transition is the frequency at which the transistor yields unity gain). </a:t>
            </a:r>
          </a:p>
          <a:p>
            <a:pPr lvl="1" eaLnBrk="1" hangingPunct="1">
              <a:buFontTx/>
              <a:buChar char="•"/>
            </a:pPr>
            <a:r>
              <a:rPr lang="en-US" altLang="zh-CN" dirty="0"/>
              <a:t>Application: switch, general purpose, audio, high voltage, super-beta, matched pair </a:t>
            </a:r>
          </a:p>
          <a:p>
            <a:pPr lvl="1" eaLnBrk="1" hangingPunct="1">
              <a:buFontTx/>
              <a:buChar char="•"/>
            </a:pPr>
            <a:r>
              <a:rPr lang="en-US" altLang="zh-CN" dirty="0"/>
              <a:t>Physical packaging: through hole metal, through hole plastic, surface mount, ball grid array, power modules </a:t>
            </a:r>
          </a:p>
          <a:p>
            <a:pPr lvl="1" eaLnBrk="1" hangingPunct="1">
              <a:buFontTx/>
              <a:buChar char="•"/>
            </a:pPr>
            <a:r>
              <a:rPr lang="en-US" altLang="zh-CN" dirty="0"/>
              <a:t>Amplification factor </a:t>
            </a:r>
            <a:r>
              <a:rPr lang="en-US" altLang="zh-CN" dirty="0" err="1"/>
              <a:t>hfe</a:t>
            </a:r>
            <a:r>
              <a:rPr lang="en-US" altLang="zh-CN" dirty="0"/>
              <a:t> (transistor beta)[14] </a:t>
            </a:r>
          </a:p>
          <a:p>
            <a:pPr eaLnBrk="1" hangingPunct="1"/>
            <a:r>
              <a:rPr lang="en-US" altLang="zh-CN" dirty="0"/>
              <a:t>Thus, a particular transistor may be described as silicon, surface mount, BJT, NPN, low power, high frequency switch.</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3</a:t>
            </a:fld>
            <a:endParaRPr lang="zh-CN" altLang="en-US"/>
          </a:p>
        </p:txBody>
      </p:sp>
    </p:spTree>
    <p:extLst>
      <p:ext uri="{BB962C8B-B14F-4D97-AF65-F5344CB8AC3E}">
        <p14:creationId xmlns:p14="http://schemas.microsoft.com/office/powerpoint/2010/main" val="4233189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0" dirty="0">
                <a:solidFill>
                  <a:srgbClr val="3333FF"/>
                </a:solidFill>
                <a:latin typeface="华文楷体" panose="02010600040101010101" pitchFamily="2" charset="-122"/>
                <a:ea typeface="华文楷体" panose="02010600040101010101" pitchFamily="2" charset="-122"/>
              </a:rPr>
              <a:t>分类：</a:t>
            </a:r>
          </a:p>
          <a:p>
            <a:pPr eaLnBrk="1" hangingPunct="1"/>
            <a:r>
              <a:rPr lang="zh-CN" altLang="en-US" b="0" dirty="0">
                <a:solidFill>
                  <a:srgbClr val="3333FF"/>
                </a:solidFill>
                <a:latin typeface="华文楷体" panose="02010600040101010101" pitchFamily="2" charset="-122"/>
                <a:ea typeface="华文楷体" panose="02010600040101010101" pitchFamily="2" charset="-122"/>
              </a:rPr>
              <a:t>①按结构分为结型</a:t>
            </a:r>
            <a:r>
              <a:rPr lang="en-US" altLang="zh-CN" b="0" dirty="0">
                <a:latin typeface="Times New Roman" panose="02020603050405020304" pitchFamily="18" charset="0"/>
              </a:rPr>
              <a:t>(Junction FET</a:t>
            </a:r>
            <a:r>
              <a:rPr lang="zh-CN" altLang="en-US" b="0" dirty="0">
                <a:latin typeface="Times New Roman" panose="02020603050405020304" pitchFamily="18" charset="0"/>
              </a:rPr>
              <a:t>，</a:t>
            </a:r>
            <a:r>
              <a:rPr lang="en-US" altLang="zh-CN" b="0" dirty="0">
                <a:latin typeface="Times New Roman" panose="02020603050405020304" pitchFamily="18" charset="0"/>
              </a:rPr>
              <a:t>JFET)</a:t>
            </a:r>
            <a:r>
              <a:rPr lang="zh-CN" altLang="en-US" b="0" dirty="0">
                <a:solidFill>
                  <a:srgbClr val="3333FF"/>
                </a:solidFill>
                <a:latin typeface="华文楷体" panose="02010600040101010101" pitchFamily="2" charset="-122"/>
                <a:ea typeface="华文楷体" panose="02010600040101010101" pitchFamily="2" charset="-122"/>
              </a:rPr>
              <a:t>和绝缘栅型</a:t>
            </a:r>
            <a:r>
              <a:rPr lang="en-US" altLang="zh-CN" b="0" dirty="0">
                <a:latin typeface="Times New Roman" panose="02020603050405020304" pitchFamily="18" charset="0"/>
              </a:rPr>
              <a:t>(Insulated Gate FET</a:t>
            </a:r>
            <a:r>
              <a:rPr lang="zh-CN" altLang="en-US" b="0" dirty="0">
                <a:latin typeface="Times New Roman" panose="02020603050405020304" pitchFamily="18" charset="0"/>
              </a:rPr>
              <a:t>，</a:t>
            </a:r>
            <a:r>
              <a:rPr lang="en-US" altLang="zh-CN" b="0" dirty="0">
                <a:latin typeface="Times New Roman" panose="02020603050405020304" pitchFamily="18" charset="0"/>
              </a:rPr>
              <a:t>IGFET)</a:t>
            </a:r>
            <a:r>
              <a:rPr lang="zh-CN" altLang="en-US" b="0" dirty="0">
                <a:solidFill>
                  <a:srgbClr val="3333FF"/>
                </a:solidFill>
                <a:latin typeface="华文楷体" panose="02010600040101010101" pitchFamily="2" charset="-122"/>
                <a:ea typeface="华文楷体" panose="02010600040101010101" pitchFamily="2" charset="-122"/>
              </a:rPr>
              <a:t> 。</a:t>
            </a:r>
            <a:r>
              <a:rPr lang="en-US" altLang="zh-CN" b="0" dirty="0">
                <a:solidFill>
                  <a:srgbClr val="3333FF"/>
                </a:solidFill>
                <a:latin typeface="华文楷体" panose="02010600040101010101" pitchFamily="2" charset="-122"/>
                <a:ea typeface="华文楷体" panose="02010600040101010101" pitchFamily="2" charset="-122"/>
              </a:rPr>
              <a:t>JFET</a:t>
            </a:r>
            <a:r>
              <a:rPr lang="zh-CN" altLang="en-US" b="0" dirty="0">
                <a:solidFill>
                  <a:srgbClr val="3333FF"/>
                </a:solidFill>
                <a:latin typeface="华文楷体" panose="02010600040101010101" pitchFamily="2" charset="-122"/>
                <a:ea typeface="华文楷体" panose="02010600040101010101" pitchFamily="2" charset="-122"/>
              </a:rPr>
              <a:t>是利用</a:t>
            </a:r>
            <a:r>
              <a:rPr lang="en-US" altLang="zh-CN" b="0" dirty="0">
                <a:solidFill>
                  <a:srgbClr val="3333FF"/>
                </a:solidFill>
                <a:latin typeface="华文楷体" panose="02010600040101010101" pitchFamily="2" charset="-122"/>
                <a:ea typeface="华文楷体" panose="02010600040101010101" pitchFamily="2" charset="-122"/>
              </a:rPr>
              <a:t>PN</a:t>
            </a:r>
            <a:r>
              <a:rPr lang="zh-CN" altLang="en-US" b="0" dirty="0">
                <a:solidFill>
                  <a:srgbClr val="3333FF"/>
                </a:solidFill>
                <a:latin typeface="华文楷体" panose="02010600040101010101" pitchFamily="2" charset="-122"/>
                <a:ea typeface="华文楷体" panose="02010600040101010101" pitchFamily="2" charset="-122"/>
              </a:rPr>
              <a:t>结反向电压对耗尽层厚度的控制，来改变导电沟道的宽窄，从而控制漏极电流的大小；</a:t>
            </a:r>
            <a:r>
              <a:rPr lang="en-US" altLang="zh-CN" b="0" dirty="0">
                <a:solidFill>
                  <a:srgbClr val="3333FF"/>
                </a:solidFill>
                <a:latin typeface="华文楷体" panose="02010600040101010101" pitchFamily="2" charset="-122"/>
                <a:ea typeface="华文楷体" panose="02010600040101010101" pitchFamily="2" charset="-122"/>
              </a:rPr>
              <a:t>MOSFET</a:t>
            </a:r>
            <a:r>
              <a:rPr lang="zh-CN" altLang="en-US" b="0" dirty="0">
                <a:solidFill>
                  <a:srgbClr val="3333FF"/>
                </a:solidFill>
                <a:latin typeface="华文楷体" panose="02010600040101010101" pitchFamily="2" charset="-122"/>
                <a:ea typeface="华文楷体" panose="02010600040101010101" pitchFamily="2" charset="-122"/>
              </a:rPr>
              <a:t>则是利用栅源电压的大小，来改变半导体表面感生电荷的多少，从而控制漏极电流的大小。</a:t>
            </a:r>
          </a:p>
          <a:p>
            <a:pPr algn="just" eaLnBrk="1" hangingPunct="1"/>
            <a:r>
              <a:rPr lang="zh-CN" altLang="en-US" b="0" dirty="0">
                <a:solidFill>
                  <a:srgbClr val="3333FF"/>
                </a:solidFill>
                <a:latin typeface="华文楷体" panose="02010600040101010101" pitchFamily="2" charset="-122"/>
                <a:ea typeface="华文楷体" panose="02010600040101010101" pitchFamily="2" charset="-122"/>
              </a:rPr>
              <a:t>②按导电沟道分有</a:t>
            </a:r>
            <a:r>
              <a:rPr lang="en-US" altLang="zh-CN" b="0" dirty="0">
                <a:solidFill>
                  <a:srgbClr val="3333FF"/>
                </a:solidFill>
                <a:latin typeface="华文楷体" panose="02010600040101010101" pitchFamily="2" charset="-122"/>
                <a:ea typeface="华文楷体" panose="02010600040101010101" pitchFamily="2" charset="-122"/>
              </a:rPr>
              <a:t>N</a:t>
            </a:r>
            <a:r>
              <a:rPr lang="zh-CN" altLang="en-US" b="0" dirty="0">
                <a:solidFill>
                  <a:srgbClr val="3333FF"/>
                </a:solidFill>
                <a:latin typeface="华文楷体" panose="02010600040101010101" pitchFamily="2" charset="-122"/>
                <a:ea typeface="华文楷体" panose="02010600040101010101" pitchFamily="2" charset="-122"/>
              </a:rPr>
              <a:t>沟道和</a:t>
            </a:r>
            <a:r>
              <a:rPr lang="en-US" altLang="zh-CN" b="0" dirty="0">
                <a:solidFill>
                  <a:srgbClr val="3333FF"/>
                </a:solidFill>
                <a:latin typeface="华文楷体" panose="02010600040101010101" pitchFamily="2" charset="-122"/>
                <a:ea typeface="华文楷体" panose="02010600040101010101" pitchFamily="2" charset="-122"/>
              </a:rPr>
              <a:t>P</a:t>
            </a:r>
            <a:r>
              <a:rPr lang="zh-CN" altLang="en-US" b="0" dirty="0">
                <a:solidFill>
                  <a:srgbClr val="3333FF"/>
                </a:solidFill>
                <a:latin typeface="华文楷体" panose="02010600040101010101" pitchFamily="2" charset="-122"/>
                <a:ea typeface="华文楷体" panose="02010600040101010101" pitchFamily="2" charset="-122"/>
              </a:rPr>
              <a:t>沟道，</a:t>
            </a:r>
            <a:r>
              <a:rPr lang="en-US" altLang="zh-CN" b="0" dirty="0">
                <a:solidFill>
                  <a:srgbClr val="3333FF"/>
                </a:solidFill>
                <a:latin typeface="华文楷体" panose="02010600040101010101" pitchFamily="2" charset="-122"/>
                <a:ea typeface="华文楷体" panose="02010600040101010101" pitchFamily="2" charset="-122"/>
              </a:rPr>
              <a:t>N</a:t>
            </a:r>
            <a:r>
              <a:rPr lang="zh-CN" altLang="en-US" b="0" dirty="0">
                <a:solidFill>
                  <a:srgbClr val="3333FF"/>
                </a:solidFill>
                <a:latin typeface="华文楷体" panose="02010600040101010101" pitchFamily="2" charset="-122"/>
                <a:ea typeface="华文楷体" panose="02010600040101010101" pitchFamily="2" charset="-122"/>
              </a:rPr>
              <a:t>沟道主要靠电子导电，</a:t>
            </a:r>
            <a:r>
              <a:rPr lang="en-US" altLang="zh-CN" b="0" dirty="0">
                <a:solidFill>
                  <a:srgbClr val="3333FF"/>
                </a:solidFill>
                <a:latin typeface="华文楷体" panose="02010600040101010101" pitchFamily="2" charset="-122"/>
                <a:ea typeface="华文楷体" panose="02010600040101010101" pitchFamily="2" charset="-122"/>
              </a:rPr>
              <a:t>P</a:t>
            </a:r>
            <a:r>
              <a:rPr lang="zh-CN" altLang="en-US" b="0" dirty="0">
                <a:solidFill>
                  <a:srgbClr val="3333FF"/>
                </a:solidFill>
                <a:latin typeface="华文楷体" panose="02010600040101010101" pitchFamily="2" charset="-122"/>
                <a:ea typeface="华文楷体" panose="02010600040101010101" pitchFamily="2" charset="-122"/>
              </a:rPr>
              <a:t>沟道主要靠空穴导电。</a:t>
            </a:r>
          </a:p>
          <a:p>
            <a:pPr algn="just" eaLnBrk="1" hangingPunct="1"/>
            <a:r>
              <a:rPr lang="zh-CN" altLang="en-US" b="0" dirty="0">
                <a:solidFill>
                  <a:srgbClr val="3333FF"/>
                </a:solidFill>
                <a:latin typeface="华文楷体" panose="02010600040101010101" pitchFamily="2" charset="-122"/>
                <a:ea typeface="华文楷体" panose="02010600040101010101" pitchFamily="2" charset="-122"/>
              </a:rPr>
              <a:t>③按工作方式分有增强型和耗尽型。增强型管内无原始导电沟道，耗尽型管内有原始导电沟道。</a:t>
            </a:r>
          </a:p>
          <a:p>
            <a:pPr algn="just" eaLnBrk="1" hangingPunct="1"/>
            <a:endParaRPr lang="zh-CN" altLang="en-US" b="0" dirty="0">
              <a:solidFill>
                <a:srgbClr val="3333FF"/>
              </a:solidFill>
              <a:latin typeface="华文新魏" panose="02010800040101010101" pitchFamily="2" charset="-122"/>
              <a:ea typeface="华文新魏" panose="02010800040101010101" pitchFamily="2" charset="-122"/>
            </a:endParaRPr>
          </a:p>
        </p:txBody>
      </p:sp>
      <p:sp>
        <p:nvSpPr>
          <p:cNvPr id="4" name="灯片编号占位符 3"/>
          <p:cNvSpPr>
            <a:spLocks noGrp="1"/>
          </p:cNvSpPr>
          <p:nvPr>
            <p:ph type="sldNum" sz="quarter" idx="5"/>
          </p:nvPr>
        </p:nvSpPr>
        <p:spPr/>
        <p:txBody>
          <a:bodyPr/>
          <a:lstStyle/>
          <a:p>
            <a:fld id="{6BB7EB77-94AC-4128-8DFB-759E46F1AD99}" type="slidenum">
              <a:rPr lang="zh-CN" altLang="en-US" smtClean="0"/>
              <a:t>5</a:t>
            </a:fld>
            <a:endParaRPr lang="zh-CN" altLang="en-US"/>
          </a:p>
        </p:txBody>
      </p:sp>
    </p:spTree>
    <p:extLst>
      <p:ext uri="{BB962C8B-B14F-4D97-AF65-F5344CB8AC3E}">
        <p14:creationId xmlns:p14="http://schemas.microsoft.com/office/powerpoint/2010/main" val="4020601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S (Source)</a:t>
            </a:r>
            <a:r>
              <a:rPr lang="zh-CN" altLang="en-US" dirty="0"/>
              <a:t>：源极</a:t>
            </a:r>
          </a:p>
          <a:p>
            <a:pPr eaLnBrk="1" hangingPunct="1"/>
            <a:r>
              <a:rPr lang="en-US" altLang="zh-CN" dirty="0"/>
              <a:t>G (Gate)</a:t>
            </a:r>
            <a:r>
              <a:rPr lang="zh-CN" altLang="en-US" dirty="0"/>
              <a:t>：栅极</a:t>
            </a:r>
          </a:p>
          <a:p>
            <a:pPr eaLnBrk="1" hangingPunct="1"/>
            <a:r>
              <a:rPr lang="en-US" altLang="zh-CN" dirty="0"/>
              <a:t>D (Drain)</a:t>
            </a:r>
            <a:r>
              <a:rPr lang="zh-CN" altLang="en-US" dirty="0"/>
              <a:t>：漏极</a:t>
            </a:r>
          </a:p>
          <a:p>
            <a:pPr eaLnBrk="1" hangingPunct="1"/>
            <a:r>
              <a:rPr lang="en-US" altLang="zh-CN" dirty="0"/>
              <a:t>B (Substrate):</a:t>
            </a:r>
            <a:r>
              <a:rPr lang="zh-CN" altLang="en-US" dirty="0"/>
              <a:t>衬底</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6</a:t>
            </a:fld>
            <a:endParaRPr lang="zh-CN" altLang="en-US"/>
          </a:p>
        </p:txBody>
      </p:sp>
    </p:spTree>
    <p:extLst>
      <p:ext uri="{BB962C8B-B14F-4D97-AF65-F5344CB8AC3E}">
        <p14:creationId xmlns:p14="http://schemas.microsoft.com/office/powerpoint/2010/main" val="1718886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5000"/>
              </a:lnSpc>
              <a:spcBef>
                <a:spcPct val="0"/>
              </a:spcBef>
            </a:pPr>
            <a:r>
              <a:rPr kumimoji="1" lang="zh-CN" altLang="en-US" dirty="0">
                <a:solidFill>
                  <a:srgbClr val="F52950"/>
                </a:solidFill>
              </a:rPr>
              <a:t>当</a:t>
            </a:r>
            <a:r>
              <a:rPr kumimoji="1" lang="en-US" altLang="zh-CN" i="1" dirty="0">
                <a:solidFill>
                  <a:srgbClr val="F52950"/>
                </a:solidFill>
              </a:rPr>
              <a:t>V</a:t>
            </a:r>
            <a:r>
              <a:rPr kumimoji="1" lang="en-US" altLang="zh-CN" dirty="0">
                <a:solidFill>
                  <a:srgbClr val="F52950"/>
                </a:solidFill>
              </a:rPr>
              <a:t>GS=0V</a:t>
            </a:r>
            <a:r>
              <a:rPr kumimoji="1" lang="zh-CN" altLang="en-US" dirty="0">
                <a:solidFill>
                  <a:srgbClr val="F52950"/>
                </a:solidFill>
              </a:rPr>
              <a:t>时</a:t>
            </a:r>
            <a:r>
              <a:rPr kumimoji="1" lang="zh-CN" altLang="en-US" dirty="0">
                <a:solidFill>
                  <a:schemeClr val="bg2"/>
                </a:solidFill>
              </a:rPr>
              <a:t>，因为漏源之间被两个背靠背的 </a:t>
            </a:r>
            <a:r>
              <a:rPr kumimoji="1" lang="en-US" altLang="zh-CN" dirty="0">
                <a:solidFill>
                  <a:schemeClr val="bg2"/>
                </a:solidFill>
              </a:rPr>
              <a:t>PN</a:t>
            </a:r>
            <a:r>
              <a:rPr kumimoji="1" lang="zh-CN" altLang="en-US" dirty="0">
                <a:solidFill>
                  <a:schemeClr val="bg2"/>
                </a:solidFill>
              </a:rPr>
              <a:t>结隔离，因此，即使在</a:t>
            </a:r>
            <a:r>
              <a:rPr kumimoji="1" lang="en-US" altLang="zh-CN" dirty="0">
                <a:solidFill>
                  <a:schemeClr val="bg2"/>
                </a:solidFill>
              </a:rPr>
              <a:t>D</a:t>
            </a:r>
            <a:r>
              <a:rPr kumimoji="1" lang="zh-CN" altLang="en-US" dirty="0">
                <a:solidFill>
                  <a:schemeClr val="bg2"/>
                </a:solidFill>
              </a:rPr>
              <a:t>、</a:t>
            </a:r>
            <a:r>
              <a:rPr kumimoji="1" lang="en-US" altLang="zh-CN" dirty="0">
                <a:solidFill>
                  <a:schemeClr val="bg2"/>
                </a:solidFill>
              </a:rPr>
              <a:t>S</a:t>
            </a:r>
            <a:r>
              <a:rPr kumimoji="1" lang="zh-CN" altLang="en-US" dirty="0">
                <a:solidFill>
                  <a:schemeClr val="bg2"/>
                </a:solidFill>
              </a:rPr>
              <a:t>之间加上电压</a:t>
            </a:r>
            <a:r>
              <a:rPr kumimoji="1" lang="en-US" altLang="zh-CN" dirty="0">
                <a:solidFill>
                  <a:schemeClr val="bg2"/>
                </a:solidFill>
              </a:rPr>
              <a:t>, </a:t>
            </a:r>
            <a:r>
              <a:rPr kumimoji="1" lang="zh-CN" altLang="en-US" dirty="0">
                <a:solidFill>
                  <a:srgbClr val="0000FF"/>
                </a:solidFill>
              </a:rPr>
              <a:t>在</a:t>
            </a:r>
            <a:r>
              <a:rPr kumimoji="1" lang="en-US" altLang="zh-CN" dirty="0">
                <a:solidFill>
                  <a:srgbClr val="0000FF"/>
                </a:solidFill>
              </a:rPr>
              <a:t>D</a:t>
            </a:r>
            <a:r>
              <a:rPr kumimoji="1" lang="zh-CN" altLang="en-US" dirty="0">
                <a:solidFill>
                  <a:srgbClr val="0000FF"/>
                </a:solidFill>
              </a:rPr>
              <a:t>、</a:t>
            </a:r>
            <a:r>
              <a:rPr kumimoji="1" lang="en-US" altLang="zh-CN" dirty="0">
                <a:solidFill>
                  <a:srgbClr val="0000FF"/>
                </a:solidFill>
              </a:rPr>
              <a:t>S</a:t>
            </a:r>
            <a:r>
              <a:rPr kumimoji="1" lang="zh-CN" altLang="en-US" dirty="0">
                <a:solidFill>
                  <a:srgbClr val="0000FF"/>
                </a:solidFill>
              </a:rPr>
              <a:t>间也不可能形成电流。</a:t>
            </a:r>
          </a:p>
          <a:p>
            <a:pPr eaLnBrk="1" hangingPunct="1">
              <a:lnSpc>
                <a:spcPct val="125000"/>
              </a:lnSpc>
              <a:spcBef>
                <a:spcPct val="0"/>
              </a:spcBef>
            </a:pPr>
            <a:endParaRPr kumimoji="1" lang="zh-CN" altLang="en-US" dirty="0">
              <a:solidFill>
                <a:srgbClr val="0000FF"/>
              </a:solidFill>
            </a:endParaRPr>
          </a:p>
          <a:p>
            <a:pPr eaLnBrk="1" hangingPunct="1">
              <a:lnSpc>
                <a:spcPct val="125000"/>
              </a:lnSpc>
              <a:spcBef>
                <a:spcPct val="0"/>
              </a:spcBef>
            </a:pPr>
            <a:r>
              <a:rPr kumimoji="1" lang="zh-CN" altLang="en-US" dirty="0">
                <a:solidFill>
                  <a:srgbClr val="FF0000"/>
                </a:solidFill>
              </a:rPr>
              <a:t>当 </a:t>
            </a:r>
            <a:r>
              <a:rPr kumimoji="1" lang="en-US" altLang="zh-CN" dirty="0">
                <a:solidFill>
                  <a:srgbClr val="FF0000"/>
                </a:solidFill>
              </a:rPr>
              <a:t>0</a:t>
            </a:r>
            <a:r>
              <a:rPr kumimoji="1" lang="zh-CN" altLang="en-US" dirty="0">
                <a:solidFill>
                  <a:srgbClr val="FF0000"/>
                </a:solidFill>
              </a:rPr>
              <a:t>＜</a:t>
            </a:r>
            <a:r>
              <a:rPr kumimoji="1" lang="en-US" altLang="zh-CN" i="1" dirty="0">
                <a:solidFill>
                  <a:srgbClr val="FF0000"/>
                </a:solidFill>
              </a:rPr>
              <a:t>V</a:t>
            </a:r>
            <a:r>
              <a:rPr kumimoji="1" lang="en-US" altLang="zh-CN" dirty="0">
                <a:solidFill>
                  <a:srgbClr val="FF0000"/>
                </a:solidFill>
              </a:rPr>
              <a:t>GS</a:t>
            </a:r>
            <a:r>
              <a:rPr kumimoji="1" lang="zh-CN" altLang="en-US" dirty="0">
                <a:solidFill>
                  <a:srgbClr val="FF0000"/>
                </a:solidFill>
              </a:rPr>
              <a:t>＜</a:t>
            </a:r>
            <a:r>
              <a:rPr kumimoji="1" lang="en-US" altLang="zh-CN" i="1" dirty="0">
                <a:solidFill>
                  <a:srgbClr val="FF0000"/>
                </a:solidFill>
              </a:rPr>
              <a:t>V</a:t>
            </a:r>
            <a:r>
              <a:rPr kumimoji="1" lang="en-US" altLang="zh-CN" dirty="0">
                <a:solidFill>
                  <a:srgbClr val="FF0000"/>
                </a:solidFill>
              </a:rPr>
              <a:t>T (</a:t>
            </a:r>
            <a:r>
              <a:rPr kumimoji="1" lang="zh-CN" altLang="en-US" dirty="0">
                <a:solidFill>
                  <a:srgbClr val="FF0000"/>
                </a:solidFill>
              </a:rPr>
              <a:t>开启电压</a:t>
            </a:r>
            <a:r>
              <a:rPr kumimoji="1" lang="en-US" altLang="zh-CN" dirty="0">
                <a:solidFill>
                  <a:srgbClr val="FF0000"/>
                </a:solidFill>
              </a:rPr>
              <a:t>)</a:t>
            </a:r>
            <a:r>
              <a:rPr kumimoji="1" lang="zh-CN" altLang="en-US" dirty="0">
                <a:solidFill>
                  <a:srgbClr val="FF0000"/>
                </a:solidFill>
              </a:rPr>
              <a:t>时</a:t>
            </a:r>
            <a:r>
              <a:rPr kumimoji="1" lang="zh-CN" altLang="en-US" dirty="0">
                <a:solidFill>
                  <a:schemeClr val="bg2"/>
                </a:solidFill>
              </a:rPr>
              <a:t>，通过栅极和衬底间的电容作用，将栅极下方</a:t>
            </a:r>
            <a:r>
              <a:rPr kumimoji="1" lang="en-US" altLang="zh-CN" dirty="0">
                <a:solidFill>
                  <a:schemeClr val="bg2"/>
                </a:solidFill>
              </a:rPr>
              <a:t>P</a:t>
            </a:r>
            <a:r>
              <a:rPr kumimoji="1" lang="zh-CN" altLang="en-US" dirty="0">
                <a:solidFill>
                  <a:schemeClr val="bg2"/>
                </a:solidFill>
              </a:rPr>
              <a:t>型衬底表层的空穴向下排斥，同时，使两个</a:t>
            </a:r>
            <a:r>
              <a:rPr kumimoji="1" lang="en-US" altLang="zh-CN" dirty="0">
                <a:solidFill>
                  <a:schemeClr val="bg2"/>
                </a:solidFill>
              </a:rPr>
              <a:t>N</a:t>
            </a:r>
            <a:r>
              <a:rPr kumimoji="1" lang="zh-CN" altLang="en-US" dirty="0">
                <a:solidFill>
                  <a:schemeClr val="bg2"/>
                </a:solidFill>
              </a:rPr>
              <a:t>区和衬底中的自由电子吸向衬底表层，并与空穴复合而消失，结果在衬底表面形成一薄层负离子的耗尽层。漏源间仍无载流子的通道。</a:t>
            </a:r>
            <a:r>
              <a:rPr kumimoji="1" lang="zh-CN" altLang="en-US" dirty="0">
                <a:solidFill>
                  <a:srgbClr val="0000FF"/>
                </a:solidFill>
              </a:rPr>
              <a:t>管子仍不能导通，处于截止状态。</a:t>
            </a:r>
          </a:p>
          <a:p>
            <a:pPr eaLnBrk="1" hangingPunct="1">
              <a:lnSpc>
                <a:spcPct val="125000"/>
              </a:lnSpc>
              <a:spcBef>
                <a:spcPct val="0"/>
              </a:spcBef>
            </a:pPr>
            <a:endParaRPr kumimoji="1" lang="zh-CN" altLang="en-US" dirty="0">
              <a:solidFill>
                <a:srgbClr val="FF0000"/>
              </a:solidFill>
            </a:endParaRPr>
          </a:p>
          <a:p>
            <a:pPr eaLnBrk="1" hangingPunct="1">
              <a:lnSpc>
                <a:spcPct val="125000"/>
              </a:lnSpc>
              <a:spcBef>
                <a:spcPct val="0"/>
              </a:spcBef>
            </a:pPr>
            <a:r>
              <a:rPr kumimoji="1" lang="zh-CN" altLang="en-US" dirty="0">
                <a:solidFill>
                  <a:srgbClr val="FF0000"/>
                </a:solidFill>
              </a:rPr>
              <a:t>当</a:t>
            </a:r>
            <a:r>
              <a:rPr kumimoji="1" lang="en-US" altLang="zh-CN" i="1" dirty="0">
                <a:solidFill>
                  <a:srgbClr val="FF0000"/>
                </a:solidFill>
              </a:rPr>
              <a:t>V</a:t>
            </a:r>
            <a:r>
              <a:rPr kumimoji="1" lang="en-US" altLang="zh-CN" dirty="0">
                <a:solidFill>
                  <a:srgbClr val="FF0000"/>
                </a:solidFill>
              </a:rPr>
              <a:t>GS</a:t>
            </a:r>
            <a:r>
              <a:rPr kumimoji="1" lang="zh-CN" altLang="en-US" dirty="0">
                <a:solidFill>
                  <a:srgbClr val="FF0000"/>
                </a:solidFill>
              </a:rPr>
              <a:t>＞</a:t>
            </a:r>
            <a:r>
              <a:rPr kumimoji="1" lang="en-US" altLang="zh-CN" i="1" dirty="0">
                <a:solidFill>
                  <a:srgbClr val="FF0000"/>
                </a:solidFill>
              </a:rPr>
              <a:t>V</a:t>
            </a:r>
            <a:r>
              <a:rPr kumimoji="1" lang="en-US" altLang="zh-CN" dirty="0">
                <a:solidFill>
                  <a:srgbClr val="FF0000"/>
                </a:solidFill>
              </a:rPr>
              <a:t>T</a:t>
            </a:r>
            <a:r>
              <a:rPr kumimoji="1" lang="zh-CN" altLang="en-US" dirty="0">
                <a:solidFill>
                  <a:srgbClr val="FF0000"/>
                </a:solidFill>
              </a:rPr>
              <a:t>时，</a:t>
            </a:r>
            <a:r>
              <a:rPr kumimoji="1" lang="zh-CN" altLang="en-US" dirty="0">
                <a:solidFill>
                  <a:srgbClr val="00060C"/>
                </a:solidFill>
              </a:rPr>
              <a:t>衬底中的电子进一步被吸至栅极下方的</a:t>
            </a:r>
            <a:r>
              <a:rPr kumimoji="1" lang="en-US" altLang="zh-CN" dirty="0">
                <a:solidFill>
                  <a:srgbClr val="00060C"/>
                </a:solidFill>
              </a:rPr>
              <a:t>P</a:t>
            </a:r>
            <a:r>
              <a:rPr kumimoji="1" lang="zh-CN" altLang="en-US" dirty="0">
                <a:solidFill>
                  <a:srgbClr val="00060C"/>
                </a:solidFill>
              </a:rPr>
              <a:t>型衬底表层，使衬底表层中的自由电子数量大于空穴数量，该薄层转换为</a:t>
            </a:r>
            <a:r>
              <a:rPr kumimoji="1" lang="en-US" altLang="zh-CN" dirty="0">
                <a:solidFill>
                  <a:srgbClr val="00060C"/>
                </a:solidFill>
              </a:rPr>
              <a:t>N</a:t>
            </a:r>
            <a:r>
              <a:rPr kumimoji="1" lang="zh-CN" altLang="en-US" dirty="0">
                <a:solidFill>
                  <a:srgbClr val="00060C"/>
                </a:solidFill>
              </a:rPr>
              <a:t>型半导体，称此为</a:t>
            </a:r>
            <a:r>
              <a:rPr kumimoji="1" lang="zh-CN" altLang="en-US" dirty="0">
                <a:solidFill>
                  <a:srgbClr val="FF0000"/>
                </a:solidFill>
              </a:rPr>
              <a:t>反型层</a:t>
            </a:r>
            <a:r>
              <a:rPr kumimoji="1" lang="zh-CN" altLang="en-US" dirty="0">
                <a:solidFill>
                  <a:srgbClr val="00060C"/>
                </a:solidFill>
              </a:rPr>
              <a:t>。形成</a:t>
            </a:r>
            <a:r>
              <a:rPr kumimoji="1" lang="en-US" altLang="zh-CN" dirty="0">
                <a:solidFill>
                  <a:srgbClr val="00060C"/>
                </a:solidFill>
              </a:rPr>
              <a:t>N</a:t>
            </a:r>
            <a:r>
              <a:rPr kumimoji="1" lang="zh-CN" altLang="en-US" dirty="0">
                <a:solidFill>
                  <a:srgbClr val="00060C"/>
                </a:solidFill>
              </a:rPr>
              <a:t>源区到</a:t>
            </a:r>
            <a:r>
              <a:rPr kumimoji="1" lang="en-US" altLang="zh-CN" dirty="0">
                <a:solidFill>
                  <a:srgbClr val="00060C"/>
                </a:solidFill>
              </a:rPr>
              <a:t>N</a:t>
            </a:r>
            <a:r>
              <a:rPr kumimoji="1" lang="zh-CN" altLang="en-US" dirty="0">
                <a:solidFill>
                  <a:srgbClr val="00060C"/>
                </a:solidFill>
              </a:rPr>
              <a:t>漏区的</a:t>
            </a:r>
            <a:r>
              <a:rPr kumimoji="1" lang="en-US" altLang="zh-CN" dirty="0">
                <a:solidFill>
                  <a:srgbClr val="00060C"/>
                </a:solidFill>
              </a:rPr>
              <a:t>N</a:t>
            </a:r>
            <a:r>
              <a:rPr kumimoji="1" lang="zh-CN" altLang="en-US" dirty="0">
                <a:solidFill>
                  <a:srgbClr val="00060C"/>
                </a:solidFill>
              </a:rPr>
              <a:t>型沟道。把</a:t>
            </a:r>
            <a:r>
              <a:rPr kumimoji="1" lang="zh-CN" altLang="en-US" dirty="0">
                <a:solidFill>
                  <a:srgbClr val="FF3300"/>
                </a:solidFill>
              </a:rPr>
              <a:t>开始形成反型层的</a:t>
            </a:r>
            <a:r>
              <a:rPr kumimoji="1" lang="en-US" altLang="zh-CN" i="1" dirty="0">
                <a:solidFill>
                  <a:srgbClr val="FF3300"/>
                </a:solidFill>
              </a:rPr>
              <a:t>V</a:t>
            </a:r>
            <a:r>
              <a:rPr kumimoji="1" lang="en-US" altLang="zh-CN" dirty="0">
                <a:solidFill>
                  <a:srgbClr val="FF3300"/>
                </a:solidFill>
              </a:rPr>
              <a:t>GS</a:t>
            </a:r>
            <a:r>
              <a:rPr kumimoji="1" lang="zh-CN" altLang="en-US" dirty="0">
                <a:solidFill>
                  <a:srgbClr val="FF3300"/>
                </a:solidFill>
              </a:rPr>
              <a:t>值</a:t>
            </a:r>
            <a:r>
              <a:rPr kumimoji="1" lang="zh-CN" altLang="en-US" dirty="0">
                <a:solidFill>
                  <a:srgbClr val="00060C"/>
                </a:solidFill>
              </a:rPr>
              <a:t>称为该管的</a:t>
            </a:r>
            <a:r>
              <a:rPr kumimoji="1" lang="zh-CN" altLang="en-US" dirty="0">
                <a:solidFill>
                  <a:srgbClr val="FF3300"/>
                </a:solidFill>
              </a:rPr>
              <a:t>开启电压</a:t>
            </a:r>
            <a:r>
              <a:rPr kumimoji="1" lang="en-US" altLang="zh-CN" i="1" dirty="0">
                <a:solidFill>
                  <a:srgbClr val="FF0000"/>
                </a:solidFill>
              </a:rPr>
              <a:t>V</a:t>
            </a:r>
            <a:r>
              <a:rPr kumimoji="1" lang="en-US" altLang="zh-CN" dirty="0">
                <a:solidFill>
                  <a:srgbClr val="FF0000"/>
                </a:solidFill>
              </a:rPr>
              <a:t>T</a:t>
            </a:r>
            <a:r>
              <a:rPr kumimoji="1" lang="zh-CN" altLang="en-US" dirty="0">
                <a:solidFill>
                  <a:srgbClr val="00060C"/>
                </a:solidFill>
              </a:rPr>
              <a:t>。这时，若在漏源间加电压 </a:t>
            </a:r>
            <a:r>
              <a:rPr kumimoji="1" lang="en-US" altLang="zh-CN" i="1" dirty="0">
                <a:solidFill>
                  <a:srgbClr val="00060C"/>
                </a:solidFill>
              </a:rPr>
              <a:t>VDS</a:t>
            </a:r>
            <a:r>
              <a:rPr kumimoji="1" lang="zh-CN" altLang="en-US" dirty="0">
                <a:solidFill>
                  <a:srgbClr val="00060C"/>
                </a:solidFill>
              </a:rPr>
              <a:t>，就能产生漏极电流</a:t>
            </a:r>
            <a:r>
              <a:rPr kumimoji="1" lang="zh-CN" altLang="en-US" dirty="0"/>
              <a:t> </a:t>
            </a:r>
            <a:r>
              <a:rPr kumimoji="1" lang="en-US" altLang="zh-CN" i="1" dirty="0">
                <a:solidFill>
                  <a:srgbClr val="00060C"/>
                </a:solidFill>
              </a:rPr>
              <a:t>I D</a:t>
            </a:r>
            <a:r>
              <a:rPr kumimoji="1" lang="zh-CN" altLang="en-US" i="1" dirty="0">
                <a:solidFill>
                  <a:srgbClr val="00060C"/>
                </a:solidFill>
              </a:rPr>
              <a:t>，</a:t>
            </a:r>
            <a:r>
              <a:rPr kumimoji="1" lang="zh-CN" altLang="en-US" dirty="0">
                <a:solidFill>
                  <a:srgbClr val="00060C"/>
                </a:solidFill>
              </a:rPr>
              <a:t>即管子开启。</a:t>
            </a:r>
            <a:r>
              <a:rPr kumimoji="1" lang="zh-CN" altLang="en-US" i="1" dirty="0">
                <a:solidFill>
                  <a:srgbClr val="00060C"/>
                </a:solidFill>
              </a:rPr>
              <a:t> </a:t>
            </a:r>
            <a:r>
              <a:rPr kumimoji="1" lang="en-US" altLang="zh-CN" i="1" dirty="0">
                <a:solidFill>
                  <a:srgbClr val="00060C"/>
                </a:solidFill>
              </a:rPr>
              <a:t>V</a:t>
            </a:r>
            <a:r>
              <a:rPr kumimoji="1" lang="en-US" altLang="zh-CN" dirty="0">
                <a:solidFill>
                  <a:srgbClr val="00060C"/>
                </a:solidFill>
              </a:rPr>
              <a:t>GS</a:t>
            </a:r>
            <a:r>
              <a:rPr kumimoji="1" lang="zh-CN" altLang="en-US" dirty="0">
                <a:solidFill>
                  <a:srgbClr val="00060C"/>
                </a:solidFill>
              </a:rPr>
              <a:t>值越大，沟道内自由电子越多，沟道电阻越小，在同样 </a:t>
            </a:r>
            <a:r>
              <a:rPr kumimoji="1" lang="en-US" altLang="zh-CN" i="1" dirty="0">
                <a:solidFill>
                  <a:srgbClr val="00060C"/>
                </a:solidFill>
              </a:rPr>
              <a:t>VDS </a:t>
            </a:r>
            <a:r>
              <a:rPr kumimoji="1" lang="zh-CN" altLang="en-US" dirty="0">
                <a:solidFill>
                  <a:srgbClr val="00060C"/>
                </a:solidFill>
              </a:rPr>
              <a:t>电压作用下， </a:t>
            </a:r>
            <a:r>
              <a:rPr kumimoji="1" lang="en-US" altLang="zh-CN" i="1" dirty="0">
                <a:solidFill>
                  <a:srgbClr val="00060C"/>
                </a:solidFill>
              </a:rPr>
              <a:t>I D  </a:t>
            </a:r>
            <a:r>
              <a:rPr kumimoji="1" lang="zh-CN" altLang="en-US" dirty="0">
                <a:solidFill>
                  <a:srgbClr val="00060C"/>
                </a:solidFill>
              </a:rPr>
              <a:t>越大。这样，</a:t>
            </a:r>
            <a:r>
              <a:rPr kumimoji="1" lang="zh-CN" altLang="en-US" dirty="0">
                <a:solidFill>
                  <a:srgbClr val="FF3300"/>
                </a:solidFill>
              </a:rPr>
              <a:t>就实现了输入电压 </a:t>
            </a:r>
            <a:r>
              <a:rPr kumimoji="1" lang="en-US" altLang="zh-CN" i="1" dirty="0">
                <a:solidFill>
                  <a:srgbClr val="FF3300"/>
                </a:solidFill>
              </a:rPr>
              <a:t>V</a:t>
            </a:r>
            <a:r>
              <a:rPr kumimoji="1" lang="en-US" altLang="zh-CN" dirty="0">
                <a:solidFill>
                  <a:srgbClr val="FF3300"/>
                </a:solidFill>
              </a:rPr>
              <a:t>GS </a:t>
            </a:r>
            <a:r>
              <a:rPr kumimoji="1" lang="zh-CN" altLang="en-US" dirty="0">
                <a:solidFill>
                  <a:srgbClr val="FF3300"/>
                </a:solidFill>
              </a:rPr>
              <a:t>对输出电流 </a:t>
            </a:r>
            <a:r>
              <a:rPr kumimoji="1" lang="en-US" altLang="zh-CN" i="1" dirty="0">
                <a:solidFill>
                  <a:srgbClr val="FF3300"/>
                </a:solidFill>
              </a:rPr>
              <a:t>I D </a:t>
            </a:r>
            <a:r>
              <a:rPr kumimoji="1" lang="zh-CN" altLang="en-US" dirty="0">
                <a:solidFill>
                  <a:srgbClr val="FF3300"/>
                </a:solidFill>
              </a:rPr>
              <a:t>的控制</a:t>
            </a:r>
            <a:r>
              <a:rPr kumimoji="1" lang="zh-CN" altLang="en-US" dirty="0"/>
              <a:t>。</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1573572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sz="1200" dirty="0">
                <a:solidFill>
                  <a:srgbClr val="F52950"/>
                </a:solidFill>
              </a:rPr>
              <a:t>当</a:t>
            </a:r>
            <a:r>
              <a:rPr lang="en-US" altLang="zh-CN" sz="1200" i="1" dirty="0">
                <a:solidFill>
                  <a:srgbClr val="F52950"/>
                </a:solidFill>
                <a:latin typeface="Times New Roman" panose="02020603050405020304" pitchFamily="18" charset="0"/>
              </a:rPr>
              <a:t>V</a:t>
            </a:r>
            <a:r>
              <a:rPr lang="en-US" altLang="zh-CN" sz="1200" baseline="-25000" dirty="0">
                <a:solidFill>
                  <a:srgbClr val="F52950"/>
                </a:solidFill>
                <a:latin typeface="Times New Roman" panose="02020603050405020304" pitchFamily="18" charset="0"/>
              </a:rPr>
              <a:t>GS</a:t>
            </a:r>
            <a:r>
              <a:rPr lang="zh-CN" altLang="en-US" sz="1100" dirty="0">
                <a:solidFill>
                  <a:srgbClr val="F52950"/>
                </a:solidFill>
                <a:latin typeface="Times New Roman" panose="02020603050405020304" pitchFamily="18" charset="0"/>
              </a:rPr>
              <a:t>＞</a:t>
            </a:r>
            <a:r>
              <a:rPr lang="en-US" altLang="zh-CN" sz="1200" i="1" dirty="0">
                <a:solidFill>
                  <a:srgbClr val="F52950"/>
                </a:solidFill>
                <a:latin typeface="Times New Roman" panose="02020603050405020304" pitchFamily="18" charset="0"/>
              </a:rPr>
              <a:t>V</a:t>
            </a:r>
            <a:r>
              <a:rPr lang="en-US" altLang="zh-CN" sz="1200" baseline="-25000" dirty="0">
                <a:solidFill>
                  <a:srgbClr val="F52950"/>
                </a:solidFill>
                <a:latin typeface="Times New Roman" panose="02020603050405020304" pitchFamily="18" charset="0"/>
              </a:rPr>
              <a:t>T</a:t>
            </a:r>
            <a:r>
              <a:rPr lang="zh-CN" altLang="en-US" sz="1200" dirty="0">
                <a:solidFill>
                  <a:srgbClr val="FF3300"/>
                </a:solidFill>
              </a:rPr>
              <a:t>且固定为某值的情况下，</a:t>
            </a:r>
            <a:r>
              <a:rPr lang="zh-CN" altLang="en-US" sz="1200" dirty="0">
                <a:solidFill>
                  <a:srgbClr val="0224EE"/>
                </a:solidFill>
              </a:rPr>
              <a:t>若给漏源间加正电压</a:t>
            </a:r>
            <a:r>
              <a:rPr lang="en-US" altLang="zh-CN" sz="1200" i="1" dirty="0">
                <a:solidFill>
                  <a:srgbClr val="0224EE"/>
                </a:solidFill>
                <a:latin typeface="Times New Roman" panose="02020603050405020304" pitchFamily="18" charset="0"/>
              </a:rPr>
              <a:t>V</a:t>
            </a:r>
            <a:r>
              <a:rPr lang="en-US" altLang="zh-CN" sz="1200" baseline="-25000" dirty="0">
                <a:solidFill>
                  <a:srgbClr val="0224EE"/>
                </a:solidFill>
                <a:latin typeface="Times New Roman" panose="02020603050405020304" pitchFamily="18" charset="0"/>
              </a:rPr>
              <a:t>DS</a:t>
            </a:r>
            <a:r>
              <a:rPr lang="zh-CN" altLang="en-US" sz="1200" dirty="0">
                <a:solidFill>
                  <a:srgbClr val="0224EE"/>
                </a:solidFill>
              </a:rPr>
              <a:t>则源区的自由电子将沿着沟道漂移到漏区，形成漏极电流</a:t>
            </a:r>
            <a:r>
              <a:rPr lang="en-US" altLang="zh-CN" sz="1200" i="1" dirty="0">
                <a:solidFill>
                  <a:srgbClr val="0224EE"/>
                </a:solidFill>
                <a:latin typeface="Times New Roman" panose="02020603050405020304" pitchFamily="18" charset="0"/>
              </a:rPr>
              <a:t>I</a:t>
            </a:r>
            <a:r>
              <a:rPr lang="en-US" altLang="zh-CN" sz="1200" baseline="-25000" dirty="0">
                <a:solidFill>
                  <a:srgbClr val="0224EE"/>
                </a:solidFill>
                <a:latin typeface="Times New Roman" panose="02020603050405020304" pitchFamily="18" charset="0"/>
              </a:rPr>
              <a:t>D</a:t>
            </a:r>
            <a:r>
              <a:rPr lang="zh-CN" altLang="en-US" sz="1200" dirty="0">
                <a:solidFill>
                  <a:srgbClr val="0224EE"/>
                </a:solidFill>
              </a:rPr>
              <a:t>，</a:t>
            </a:r>
            <a:r>
              <a:rPr lang="zh-CN" altLang="en-US" sz="1200" dirty="0">
                <a:solidFill>
                  <a:srgbClr val="A50021"/>
                </a:solidFill>
              </a:rPr>
              <a:t>当</a:t>
            </a:r>
            <a:r>
              <a:rPr lang="en-US" altLang="zh-CN" sz="1200" i="1" dirty="0">
                <a:solidFill>
                  <a:srgbClr val="A50021"/>
                </a:solidFill>
                <a:latin typeface="Times New Roman" panose="02020603050405020304" pitchFamily="18" charset="0"/>
              </a:rPr>
              <a:t>I</a:t>
            </a:r>
            <a:r>
              <a:rPr lang="en-US" altLang="zh-CN" sz="1200" baseline="-25000" dirty="0">
                <a:solidFill>
                  <a:srgbClr val="A50021"/>
                </a:solidFill>
                <a:latin typeface="Times New Roman" panose="02020603050405020304" pitchFamily="18" charset="0"/>
              </a:rPr>
              <a:t>D</a:t>
            </a:r>
            <a:r>
              <a:rPr lang="zh-CN" altLang="en-US" sz="1200" dirty="0">
                <a:solidFill>
                  <a:srgbClr val="A50021"/>
                </a:solidFill>
              </a:rPr>
              <a:t>从</a:t>
            </a:r>
            <a:r>
              <a:rPr lang="en-US" altLang="zh-CN" sz="1200" dirty="0">
                <a:solidFill>
                  <a:srgbClr val="A50021"/>
                </a:solidFill>
                <a:latin typeface="Times New Roman" panose="02020603050405020304" pitchFamily="18" charset="0"/>
              </a:rPr>
              <a:t>D</a:t>
            </a:r>
            <a:r>
              <a:rPr lang="en-US" altLang="zh-CN" sz="1200" dirty="0">
                <a:solidFill>
                  <a:srgbClr val="A50021"/>
                </a:solidFill>
              </a:rPr>
              <a:t> </a:t>
            </a:r>
            <a:r>
              <a:rPr lang="en-US" altLang="zh-CN" sz="1200" dirty="0">
                <a:solidFill>
                  <a:srgbClr val="A50021"/>
                </a:solidFill>
                <a:sym typeface="Symbol" panose="05050102010706020507" pitchFamily="18" charset="2"/>
              </a:rPr>
              <a:t></a:t>
            </a:r>
            <a:r>
              <a:rPr lang="en-US" altLang="zh-CN" sz="1200" dirty="0">
                <a:solidFill>
                  <a:srgbClr val="A50021"/>
                </a:solidFill>
                <a:latin typeface="Times New Roman" panose="02020603050405020304" pitchFamily="18" charset="0"/>
                <a:sym typeface="Symbol" panose="05050102010706020507" pitchFamily="18" charset="2"/>
              </a:rPr>
              <a:t> </a:t>
            </a:r>
            <a:r>
              <a:rPr lang="en-US" altLang="zh-CN" sz="1200" dirty="0">
                <a:solidFill>
                  <a:srgbClr val="A50021"/>
                </a:solidFill>
                <a:latin typeface="Times New Roman" panose="02020603050405020304" pitchFamily="18" charset="0"/>
              </a:rPr>
              <a:t>S</a:t>
            </a:r>
            <a:r>
              <a:rPr lang="zh-CN" altLang="en-US" sz="1200" dirty="0">
                <a:solidFill>
                  <a:srgbClr val="A50021"/>
                </a:solidFill>
              </a:rPr>
              <a:t>流过沟道时，沿途会产生压降，进而导致沿着沟道长度上栅极与沟道间的电压分布不均匀</a:t>
            </a:r>
            <a:r>
              <a:rPr lang="zh-CN" altLang="en-US" sz="1200" dirty="0">
                <a:solidFill>
                  <a:srgbClr val="990000"/>
                </a:solidFill>
              </a:rPr>
              <a:t>。</a:t>
            </a:r>
            <a:r>
              <a:rPr lang="zh-CN" altLang="en-US" sz="1200" dirty="0">
                <a:solidFill>
                  <a:srgbClr val="008000"/>
                </a:solidFill>
              </a:rPr>
              <a:t>源极端电压最大，为</a:t>
            </a:r>
            <a:r>
              <a:rPr lang="en-US" altLang="zh-CN" sz="1200" i="1" dirty="0">
                <a:solidFill>
                  <a:srgbClr val="008000"/>
                </a:solidFill>
                <a:latin typeface="Times New Roman" panose="02020603050405020304" pitchFamily="18" charset="0"/>
              </a:rPr>
              <a:t>V</a:t>
            </a:r>
            <a:r>
              <a:rPr lang="en-US" altLang="zh-CN" sz="800" dirty="0">
                <a:solidFill>
                  <a:srgbClr val="008000"/>
                </a:solidFill>
                <a:latin typeface="Times New Roman" panose="02020603050405020304" pitchFamily="18" charset="0"/>
              </a:rPr>
              <a:t>GS</a:t>
            </a:r>
            <a:r>
              <a:rPr lang="en-US" altLang="zh-CN" sz="1200" dirty="0">
                <a:solidFill>
                  <a:srgbClr val="008000"/>
                </a:solidFill>
                <a:latin typeface="Times New Roman" panose="02020603050405020304" pitchFamily="18" charset="0"/>
              </a:rPr>
              <a:t> </a:t>
            </a:r>
            <a:r>
              <a:rPr lang="zh-CN" altLang="en-US" sz="1200" dirty="0">
                <a:solidFill>
                  <a:srgbClr val="008000"/>
                </a:solidFill>
              </a:rPr>
              <a:t>，由此感生的沟道最深；离开源极端，越向漏极端靠近，则栅</a:t>
            </a:r>
            <a:r>
              <a:rPr lang="en-US" altLang="zh-CN" sz="1200" dirty="0">
                <a:solidFill>
                  <a:srgbClr val="008000"/>
                </a:solidFill>
              </a:rPr>
              <a:t>—</a:t>
            </a:r>
            <a:r>
              <a:rPr lang="zh-CN" altLang="en-US" sz="1200" dirty="0">
                <a:solidFill>
                  <a:srgbClr val="008000"/>
                </a:solidFill>
              </a:rPr>
              <a:t>沟间的电压线性下降，由它们感生的沟道越来越浅；直到漏极端，栅漏</a:t>
            </a:r>
            <a:r>
              <a:rPr kumimoji="1" lang="zh-CN" altLang="en-US" dirty="0">
                <a:solidFill>
                  <a:srgbClr val="008000"/>
                </a:solidFill>
              </a:rPr>
              <a:t>间电压最小，其值为：</a:t>
            </a:r>
            <a:r>
              <a:rPr kumimoji="1" lang="en-US" altLang="ja-JP" i="1" dirty="0">
                <a:solidFill>
                  <a:srgbClr val="008000"/>
                </a:solidFill>
              </a:rPr>
              <a:t> </a:t>
            </a:r>
            <a:r>
              <a:rPr kumimoji="1" lang="en-US" altLang="zh-CN" i="1" dirty="0">
                <a:solidFill>
                  <a:srgbClr val="008000"/>
                </a:solidFill>
              </a:rPr>
              <a:t>V</a:t>
            </a:r>
            <a:r>
              <a:rPr kumimoji="1" lang="en-US" altLang="zh-CN" dirty="0">
                <a:solidFill>
                  <a:srgbClr val="008000"/>
                </a:solidFill>
              </a:rPr>
              <a:t>GD=</a:t>
            </a:r>
            <a:r>
              <a:rPr kumimoji="1" lang="en-US" altLang="zh-CN" i="1" dirty="0">
                <a:solidFill>
                  <a:srgbClr val="008000"/>
                </a:solidFill>
              </a:rPr>
              <a:t>V</a:t>
            </a:r>
            <a:r>
              <a:rPr kumimoji="1" lang="en-US" altLang="zh-CN" dirty="0">
                <a:solidFill>
                  <a:srgbClr val="008000"/>
                </a:solidFill>
              </a:rPr>
              <a:t>GS-</a:t>
            </a:r>
            <a:r>
              <a:rPr kumimoji="1" lang="en-US" altLang="zh-CN" i="1" dirty="0">
                <a:solidFill>
                  <a:srgbClr val="008000"/>
                </a:solidFill>
              </a:rPr>
              <a:t>V</a:t>
            </a:r>
            <a:r>
              <a:rPr kumimoji="1" lang="en-US" altLang="zh-CN" dirty="0">
                <a:solidFill>
                  <a:srgbClr val="008000"/>
                </a:solidFill>
              </a:rPr>
              <a:t>DS</a:t>
            </a:r>
            <a:r>
              <a:rPr kumimoji="1" lang="en-US" altLang="zh-CN" i="1" dirty="0">
                <a:solidFill>
                  <a:srgbClr val="008000"/>
                </a:solidFill>
              </a:rPr>
              <a:t> </a:t>
            </a:r>
            <a:r>
              <a:rPr kumimoji="1" lang="en-US" altLang="zh-CN" dirty="0">
                <a:solidFill>
                  <a:srgbClr val="008000"/>
                </a:solidFill>
              </a:rPr>
              <a:t>, </a:t>
            </a:r>
            <a:r>
              <a:rPr kumimoji="1" lang="zh-CN" altLang="en-US" dirty="0">
                <a:solidFill>
                  <a:srgbClr val="008000"/>
                </a:solidFill>
              </a:rPr>
              <a:t>由此 感生的沟道也最浅。</a:t>
            </a:r>
            <a:r>
              <a:rPr kumimoji="1" lang="zh-CN" altLang="en-US" dirty="0">
                <a:solidFill>
                  <a:srgbClr val="FF33CC"/>
                </a:solidFill>
              </a:rPr>
              <a:t>可见，在</a:t>
            </a:r>
            <a:r>
              <a:rPr kumimoji="1" lang="en-US" altLang="zh-CN" i="1" dirty="0">
                <a:solidFill>
                  <a:srgbClr val="FF33CC"/>
                </a:solidFill>
              </a:rPr>
              <a:t>V</a:t>
            </a:r>
            <a:r>
              <a:rPr kumimoji="1" lang="en-US" altLang="zh-CN" dirty="0">
                <a:solidFill>
                  <a:srgbClr val="FF33CC"/>
                </a:solidFill>
              </a:rPr>
              <a:t>DS</a:t>
            </a:r>
            <a:r>
              <a:rPr kumimoji="1" lang="zh-CN" altLang="en-US" dirty="0">
                <a:solidFill>
                  <a:srgbClr val="FF33CC"/>
                </a:solidFill>
              </a:rPr>
              <a:t>作用下导电沟道的深度是不均匀的，沟道呈锥形分布。</a:t>
            </a:r>
            <a:r>
              <a:rPr kumimoji="1" lang="zh-CN" altLang="en-US" dirty="0">
                <a:solidFill>
                  <a:srgbClr val="6600CC"/>
                </a:solidFill>
              </a:rPr>
              <a:t>若</a:t>
            </a:r>
            <a:r>
              <a:rPr kumimoji="1" lang="en-US" altLang="zh-CN" i="1" dirty="0">
                <a:solidFill>
                  <a:srgbClr val="6600CC"/>
                </a:solidFill>
              </a:rPr>
              <a:t>V</a:t>
            </a:r>
            <a:r>
              <a:rPr kumimoji="1" lang="en-US" altLang="zh-CN" dirty="0">
                <a:solidFill>
                  <a:srgbClr val="6600CC"/>
                </a:solidFill>
              </a:rPr>
              <a:t>DS</a:t>
            </a:r>
            <a:r>
              <a:rPr kumimoji="1" lang="zh-CN" altLang="en-US" dirty="0">
                <a:solidFill>
                  <a:srgbClr val="6600CC"/>
                </a:solidFill>
              </a:rPr>
              <a:t>进一步增大，直至</a:t>
            </a:r>
            <a:r>
              <a:rPr kumimoji="1" lang="en-US" altLang="zh-CN" i="1" dirty="0">
                <a:solidFill>
                  <a:srgbClr val="6600CC"/>
                </a:solidFill>
              </a:rPr>
              <a:t>V</a:t>
            </a:r>
            <a:r>
              <a:rPr kumimoji="1" lang="en-US" altLang="zh-CN" dirty="0">
                <a:solidFill>
                  <a:srgbClr val="6600CC"/>
                </a:solidFill>
              </a:rPr>
              <a:t>GD</a:t>
            </a:r>
            <a:r>
              <a:rPr kumimoji="1" lang="en-US" altLang="zh-CN" i="1" dirty="0">
                <a:solidFill>
                  <a:srgbClr val="6600CC"/>
                </a:solidFill>
              </a:rPr>
              <a:t>=V</a:t>
            </a:r>
            <a:r>
              <a:rPr kumimoji="1" lang="en-US" altLang="zh-CN" dirty="0">
                <a:solidFill>
                  <a:srgbClr val="6600CC"/>
                </a:solidFill>
              </a:rPr>
              <a:t>T</a:t>
            </a:r>
            <a:r>
              <a:rPr kumimoji="1" lang="zh-CN" altLang="en-US" i="1" dirty="0">
                <a:solidFill>
                  <a:srgbClr val="6600CC"/>
                </a:solidFill>
              </a:rPr>
              <a:t>，</a:t>
            </a:r>
            <a:r>
              <a:rPr kumimoji="1" lang="zh-CN" altLang="en-US" dirty="0">
                <a:solidFill>
                  <a:srgbClr val="6600CC"/>
                </a:solidFill>
              </a:rPr>
              <a:t>即</a:t>
            </a:r>
            <a:r>
              <a:rPr kumimoji="1" lang="en-US" altLang="zh-CN" i="1" dirty="0">
                <a:solidFill>
                  <a:srgbClr val="6600CC"/>
                </a:solidFill>
              </a:rPr>
              <a:t>V</a:t>
            </a:r>
            <a:r>
              <a:rPr kumimoji="1" lang="en-US" altLang="zh-CN" dirty="0">
                <a:solidFill>
                  <a:srgbClr val="6600CC"/>
                </a:solidFill>
              </a:rPr>
              <a:t>GS-</a:t>
            </a:r>
            <a:r>
              <a:rPr kumimoji="1" lang="en-US" altLang="zh-CN" i="1" dirty="0">
                <a:solidFill>
                  <a:srgbClr val="6600CC"/>
                </a:solidFill>
              </a:rPr>
              <a:t>V</a:t>
            </a:r>
            <a:r>
              <a:rPr kumimoji="1" lang="en-US" altLang="zh-CN" dirty="0">
                <a:solidFill>
                  <a:srgbClr val="6600CC"/>
                </a:solidFill>
              </a:rPr>
              <a:t>DS=</a:t>
            </a:r>
            <a:r>
              <a:rPr kumimoji="1" lang="en-US" altLang="zh-CN" i="1" dirty="0">
                <a:solidFill>
                  <a:srgbClr val="6600CC"/>
                </a:solidFill>
              </a:rPr>
              <a:t>V</a:t>
            </a:r>
            <a:r>
              <a:rPr kumimoji="1" lang="en-US" altLang="zh-CN" dirty="0">
                <a:solidFill>
                  <a:srgbClr val="6600CC"/>
                </a:solidFill>
              </a:rPr>
              <a:t>T</a:t>
            </a:r>
            <a:r>
              <a:rPr kumimoji="1" lang="zh-CN" altLang="en-US" dirty="0">
                <a:solidFill>
                  <a:srgbClr val="6600CC"/>
                </a:solidFill>
              </a:rPr>
              <a:t>或</a:t>
            </a:r>
            <a:r>
              <a:rPr kumimoji="1" lang="en-US" altLang="zh-CN" i="1" dirty="0">
                <a:solidFill>
                  <a:srgbClr val="6600CC"/>
                </a:solidFill>
              </a:rPr>
              <a:t>V</a:t>
            </a:r>
            <a:r>
              <a:rPr kumimoji="1" lang="en-US" altLang="zh-CN" dirty="0">
                <a:solidFill>
                  <a:srgbClr val="6600CC"/>
                </a:solidFill>
              </a:rPr>
              <a:t>DS=</a:t>
            </a:r>
            <a:r>
              <a:rPr kumimoji="1" lang="en-US" altLang="zh-CN" i="1" dirty="0">
                <a:solidFill>
                  <a:srgbClr val="6600CC"/>
                </a:solidFill>
              </a:rPr>
              <a:t>V</a:t>
            </a:r>
            <a:r>
              <a:rPr kumimoji="1" lang="en-US" altLang="zh-CN" dirty="0">
                <a:solidFill>
                  <a:srgbClr val="6600CC"/>
                </a:solidFill>
              </a:rPr>
              <a:t>GS-</a:t>
            </a:r>
            <a:r>
              <a:rPr kumimoji="1" lang="en-US" altLang="zh-CN" i="1" dirty="0">
                <a:solidFill>
                  <a:srgbClr val="6600CC"/>
                </a:solidFill>
              </a:rPr>
              <a:t>V</a:t>
            </a:r>
            <a:r>
              <a:rPr kumimoji="1" lang="en-US" altLang="zh-CN" dirty="0">
                <a:solidFill>
                  <a:srgbClr val="6600CC"/>
                </a:solidFill>
              </a:rPr>
              <a:t>T </a:t>
            </a:r>
            <a:r>
              <a:rPr kumimoji="1" lang="zh-CN" altLang="en-US" dirty="0">
                <a:solidFill>
                  <a:srgbClr val="6600CC"/>
                </a:solidFill>
              </a:rPr>
              <a:t>时，则漏端沟道消失，出现预夹断点。</a:t>
            </a:r>
            <a:endParaRPr lang="zh-CN" altLang="en-US" dirty="0">
              <a:solidFill>
                <a:srgbClr val="008000"/>
              </a:solidFill>
            </a:endParaRPr>
          </a:p>
          <a:p>
            <a:pPr eaLnBrk="1" hangingPunct="1"/>
            <a:endParaRPr kumimoji="1" lang="zh-CN" altLang="en-US" dirty="0">
              <a:solidFill>
                <a:srgbClr val="FF33CC"/>
              </a:solidFill>
            </a:endParaRPr>
          </a:p>
          <a:p>
            <a:pPr eaLnBrk="1" hangingPunct="1"/>
            <a:r>
              <a:rPr kumimoji="1" lang="zh-CN" altLang="en-US" dirty="0">
                <a:solidFill>
                  <a:srgbClr val="FF33CC"/>
                </a:solidFill>
              </a:rPr>
              <a:t>当</a:t>
            </a:r>
            <a:r>
              <a:rPr kumimoji="1" lang="en-US" altLang="zh-CN" i="1" dirty="0">
                <a:solidFill>
                  <a:srgbClr val="FF33CC"/>
                </a:solidFill>
              </a:rPr>
              <a:t>V</a:t>
            </a:r>
            <a:r>
              <a:rPr kumimoji="1" lang="en-US" altLang="zh-CN" dirty="0">
                <a:solidFill>
                  <a:srgbClr val="FF33CC"/>
                </a:solidFill>
              </a:rPr>
              <a:t>DS</a:t>
            </a:r>
            <a:r>
              <a:rPr kumimoji="1" lang="zh-CN" altLang="en-US" dirty="0">
                <a:solidFill>
                  <a:srgbClr val="FF33CC"/>
                </a:solidFill>
              </a:rPr>
              <a:t>增加到使</a:t>
            </a:r>
            <a:r>
              <a:rPr kumimoji="1" lang="en-US" altLang="zh-CN" i="1" dirty="0">
                <a:solidFill>
                  <a:srgbClr val="F52950"/>
                </a:solidFill>
              </a:rPr>
              <a:t>V</a:t>
            </a:r>
            <a:r>
              <a:rPr kumimoji="1" lang="en-US" altLang="zh-CN" dirty="0">
                <a:solidFill>
                  <a:srgbClr val="F52950"/>
                </a:solidFill>
              </a:rPr>
              <a:t>GD=</a:t>
            </a:r>
            <a:r>
              <a:rPr kumimoji="1" lang="en-US" altLang="zh-CN" i="1" dirty="0">
                <a:solidFill>
                  <a:srgbClr val="F52950"/>
                </a:solidFill>
              </a:rPr>
              <a:t>V</a:t>
            </a:r>
            <a:r>
              <a:rPr kumimoji="1" lang="en-US" altLang="zh-CN" dirty="0">
                <a:solidFill>
                  <a:srgbClr val="F52950"/>
                </a:solidFill>
              </a:rPr>
              <a:t>T</a:t>
            </a:r>
            <a:r>
              <a:rPr kumimoji="1" lang="zh-CN" altLang="en-US" dirty="0">
                <a:solidFill>
                  <a:srgbClr val="FF33CC"/>
                </a:solidFill>
              </a:rPr>
              <a:t>时，漏极处沟道将缩减到刚刚开启的情况，称为预夹断。源区的自由电子在</a:t>
            </a:r>
            <a:r>
              <a:rPr kumimoji="1" lang="en-US" altLang="zh-CN" i="1" dirty="0">
                <a:solidFill>
                  <a:srgbClr val="FF33CC"/>
                </a:solidFill>
              </a:rPr>
              <a:t>V</a:t>
            </a:r>
            <a:r>
              <a:rPr kumimoji="1" lang="en-US" altLang="zh-CN" dirty="0">
                <a:solidFill>
                  <a:srgbClr val="FF33CC"/>
                </a:solidFill>
              </a:rPr>
              <a:t>DS</a:t>
            </a:r>
            <a:r>
              <a:rPr kumimoji="1" lang="zh-CN" altLang="en-US" dirty="0">
                <a:solidFill>
                  <a:srgbClr val="FF33CC"/>
                </a:solidFill>
              </a:rPr>
              <a:t>电场力的作用下，仍能沿着沟道向漏端漂移，一旦到达预夹断区的边界处，就能被预夹断区内的电场力扫至漏区，形成漏极电流。</a:t>
            </a:r>
          </a:p>
          <a:p>
            <a:pPr eaLnBrk="1" hangingPunct="1"/>
            <a:endParaRPr kumimoji="1" lang="zh-CN" altLang="en-US" dirty="0">
              <a:solidFill>
                <a:srgbClr val="FF33CC"/>
              </a:solidFill>
            </a:endParaRPr>
          </a:p>
          <a:p>
            <a:pPr eaLnBrk="1" hangingPunct="1"/>
            <a:r>
              <a:rPr kumimoji="1" lang="zh-CN" altLang="en-US" dirty="0">
                <a:solidFill>
                  <a:srgbClr val="0000FF"/>
                </a:solidFill>
              </a:rPr>
              <a:t>当</a:t>
            </a:r>
            <a:r>
              <a:rPr kumimoji="1" lang="en-US" altLang="zh-CN" i="1" dirty="0">
                <a:solidFill>
                  <a:srgbClr val="0000FF"/>
                </a:solidFill>
              </a:rPr>
              <a:t>V</a:t>
            </a:r>
            <a:r>
              <a:rPr kumimoji="1" lang="en-US" altLang="zh-CN" dirty="0">
                <a:solidFill>
                  <a:srgbClr val="0000FF"/>
                </a:solidFill>
              </a:rPr>
              <a:t>DS</a:t>
            </a:r>
            <a:r>
              <a:rPr kumimoji="1" lang="zh-CN" altLang="en-US" dirty="0">
                <a:solidFill>
                  <a:srgbClr val="0000FF"/>
                </a:solidFill>
              </a:rPr>
              <a:t>增加到使</a:t>
            </a:r>
            <a:r>
              <a:rPr kumimoji="1" lang="en-US" altLang="zh-CN" i="1" dirty="0">
                <a:solidFill>
                  <a:srgbClr val="F52950"/>
                </a:solidFill>
              </a:rPr>
              <a:t>V</a:t>
            </a:r>
            <a:r>
              <a:rPr kumimoji="1" lang="en-US" altLang="zh-CN" dirty="0">
                <a:solidFill>
                  <a:srgbClr val="F52950"/>
                </a:solidFill>
              </a:rPr>
              <a:t>GD</a:t>
            </a:r>
            <a:r>
              <a:rPr kumimoji="1" lang="en-US" altLang="zh-CN" dirty="0">
                <a:solidFill>
                  <a:srgbClr val="F52950"/>
                </a:solidFill>
                <a:sym typeface="Symbol" panose="05050102010706020507" pitchFamily="18" charset="2"/>
              </a:rPr>
              <a:t></a:t>
            </a:r>
            <a:r>
              <a:rPr kumimoji="1" lang="en-US" altLang="zh-CN" i="1" dirty="0">
                <a:solidFill>
                  <a:srgbClr val="F52950"/>
                </a:solidFill>
              </a:rPr>
              <a:t>V</a:t>
            </a:r>
            <a:r>
              <a:rPr kumimoji="1" lang="en-US" altLang="zh-CN" dirty="0">
                <a:solidFill>
                  <a:srgbClr val="F52950"/>
                </a:solidFill>
              </a:rPr>
              <a:t>T</a:t>
            </a:r>
            <a:r>
              <a:rPr kumimoji="1" lang="zh-CN" altLang="en-US" dirty="0">
                <a:solidFill>
                  <a:srgbClr val="0000FF"/>
                </a:solidFill>
              </a:rPr>
              <a:t>时，预夹断点向源极端延伸成小的夹断区。由于预夹断区呈现高阻，而未夹断沟道部分为低阻，因此， </a:t>
            </a:r>
            <a:r>
              <a:rPr kumimoji="1" lang="en-US" altLang="zh-CN" i="1" dirty="0">
                <a:solidFill>
                  <a:srgbClr val="0000FF"/>
                </a:solidFill>
              </a:rPr>
              <a:t>V</a:t>
            </a:r>
            <a:r>
              <a:rPr kumimoji="1" lang="en-US" altLang="zh-CN" dirty="0">
                <a:solidFill>
                  <a:srgbClr val="0000FF"/>
                </a:solidFill>
              </a:rPr>
              <a:t>DS</a:t>
            </a:r>
            <a:r>
              <a:rPr kumimoji="1" lang="zh-CN" altLang="en-US" dirty="0">
                <a:solidFill>
                  <a:srgbClr val="0000FF"/>
                </a:solidFill>
              </a:rPr>
              <a:t>增加的部分基本上降落在该夹断区内，而沟道中的电场力基本不变，漂移电流基本不变，所以，从漏端沟道出现预夹断点开始， </a:t>
            </a:r>
            <a:r>
              <a:rPr kumimoji="1" lang="en-US" altLang="zh-CN" i="1" dirty="0">
                <a:solidFill>
                  <a:srgbClr val="0000FF"/>
                </a:solidFill>
              </a:rPr>
              <a:t>I</a:t>
            </a:r>
            <a:r>
              <a:rPr kumimoji="1" lang="en-US" altLang="zh-CN" dirty="0">
                <a:solidFill>
                  <a:srgbClr val="0000FF"/>
                </a:solidFill>
              </a:rPr>
              <a:t>D</a:t>
            </a:r>
            <a:r>
              <a:rPr kumimoji="1" lang="zh-CN" altLang="en-US" dirty="0">
                <a:solidFill>
                  <a:srgbClr val="0000FF"/>
                </a:solidFill>
              </a:rPr>
              <a:t>基本不随</a:t>
            </a:r>
            <a:r>
              <a:rPr kumimoji="1" lang="en-US" altLang="zh-CN" i="1" dirty="0">
                <a:solidFill>
                  <a:srgbClr val="0000FF"/>
                </a:solidFill>
              </a:rPr>
              <a:t>V</a:t>
            </a:r>
            <a:r>
              <a:rPr kumimoji="1" lang="en-US" altLang="zh-CN" dirty="0">
                <a:solidFill>
                  <a:srgbClr val="0000FF"/>
                </a:solidFill>
              </a:rPr>
              <a:t>DS</a:t>
            </a:r>
            <a:r>
              <a:rPr kumimoji="1" lang="zh-CN" altLang="en-US" dirty="0">
                <a:solidFill>
                  <a:srgbClr val="0000FF"/>
                </a:solidFill>
              </a:rPr>
              <a:t>增加而变化。</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8</a:t>
            </a:fld>
            <a:endParaRPr lang="zh-CN" altLang="en-US"/>
          </a:p>
        </p:txBody>
      </p:sp>
    </p:spTree>
    <p:extLst>
      <p:ext uri="{BB962C8B-B14F-4D97-AF65-F5344CB8AC3E}">
        <p14:creationId xmlns:p14="http://schemas.microsoft.com/office/powerpoint/2010/main" val="1470360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60C"/>
                </a:solidFill>
              </a:rPr>
              <a:t>因此，使用时</a:t>
            </a:r>
            <a:r>
              <a:rPr kumimoji="1" lang="zh-CN" altLang="en-US" dirty="0">
                <a:solidFill>
                  <a:srgbClr val="FF3300"/>
                </a:solidFill>
              </a:rPr>
              <a:t>无须加开启电压（</a:t>
            </a:r>
            <a:r>
              <a:rPr kumimoji="1" lang="en-US" altLang="zh-CN" i="1" dirty="0">
                <a:solidFill>
                  <a:srgbClr val="FF3300"/>
                </a:solidFill>
              </a:rPr>
              <a:t>V</a:t>
            </a:r>
            <a:r>
              <a:rPr kumimoji="1" lang="en-US" altLang="zh-CN" dirty="0">
                <a:solidFill>
                  <a:srgbClr val="FF3300"/>
                </a:solidFill>
              </a:rPr>
              <a:t>GS=0</a:t>
            </a:r>
            <a:r>
              <a:rPr kumimoji="1" lang="zh-CN" altLang="en-US" dirty="0">
                <a:solidFill>
                  <a:srgbClr val="FF3300"/>
                </a:solidFill>
              </a:rPr>
              <a:t>），只要加漏源电压，就会有漏极电流。</a:t>
            </a:r>
            <a:r>
              <a:rPr kumimoji="1" lang="zh-CN" altLang="en-US" dirty="0">
                <a:solidFill>
                  <a:srgbClr val="3333FF"/>
                </a:solidFill>
              </a:rPr>
              <a:t>当</a:t>
            </a:r>
            <a:r>
              <a:rPr kumimoji="1" lang="en-US" altLang="zh-CN" i="1" dirty="0">
                <a:solidFill>
                  <a:srgbClr val="3333FF"/>
                </a:solidFill>
              </a:rPr>
              <a:t>V</a:t>
            </a:r>
            <a:r>
              <a:rPr kumimoji="1" lang="en-US" altLang="zh-CN" dirty="0">
                <a:solidFill>
                  <a:srgbClr val="3333FF"/>
                </a:solidFill>
              </a:rPr>
              <a:t>GS</a:t>
            </a:r>
            <a:r>
              <a:rPr kumimoji="1" lang="zh-CN" altLang="en-US" dirty="0">
                <a:solidFill>
                  <a:srgbClr val="3333FF"/>
                </a:solidFill>
              </a:rPr>
              <a:t>＞</a:t>
            </a:r>
            <a:r>
              <a:rPr kumimoji="1" lang="en-US" altLang="zh-CN" dirty="0">
                <a:solidFill>
                  <a:srgbClr val="3333FF"/>
                </a:solidFill>
              </a:rPr>
              <a:t>0 </a:t>
            </a:r>
            <a:r>
              <a:rPr kumimoji="1" lang="zh-CN" altLang="en-US" dirty="0">
                <a:solidFill>
                  <a:srgbClr val="3333FF"/>
                </a:solidFill>
              </a:rPr>
              <a:t>时，将使</a:t>
            </a:r>
            <a:r>
              <a:rPr kumimoji="1" lang="en-US" altLang="zh-CN" i="1" dirty="0">
                <a:solidFill>
                  <a:srgbClr val="3333FF"/>
                </a:solidFill>
              </a:rPr>
              <a:t>I</a:t>
            </a:r>
            <a:r>
              <a:rPr kumimoji="1" lang="en-US" altLang="zh-CN" dirty="0">
                <a:solidFill>
                  <a:srgbClr val="3333FF"/>
                </a:solidFill>
              </a:rPr>
              <a:t>D</a:t>
            </a:r>
            <a:r>
              <a:rPr kumimoji="1" lang="zh-CN" altLang="en-US" dirty="0">
                <a:solidFill>
                  <a:srgbClr val="3333FF"/>
                </a:solidFill>
              </a:rPr>
              <a:t>进一步增加。</a:t>
            </a:r>
            <a:r>
              <a:rPr kumimoji="1" lang="en-US" altLang="zh-CN" i="1" dirty="0">
                <a:solidFill>
                  <a:srgbClr val="990000"/>
                </a:solidFill>
              </a:rPr>
              <a:t>V</a:t>
            </a:r>
            <a:r>
              <a:rPr kumimoji="1" lang="en-US" altLang="zh-CN" dirty="0">
                <a:solidFill>
                  <a:srgbClr val="990000"/>
                </a:solidFill>
              </a:rPr>
              <a:t>GS</a:t>
            </a:r>
            <a:r>
              <a:rPr kumimoji="1" lang="zh-CN" altLang="en-US" dirty="0">
                <a:solidFill>
                  <a:srgbClr val="990000"/>
                </a:solidFill>
              </a:rPr>
              <a:t>＜</a:t>
            </a:r>
            <a:r>
              <a:rPr kumimoji="1" lang="en-US" altLang="zh-CN" dirty="0">
                <a:solidFill>
                  <a:srgbClr val="990000"/>
                </a:solidFill>
              </a:rPr>
              <a:t>0</a:t>
            </a:r>
            <a:r>
              <a:rPr kumimoji="1" lang="zh-CN" altLang="en-US" dirty="0">
                <a:solidFill>
                  <a:srgbClr val="990000"/>
                </a:solidFill>
              </a:rPr>
              <a:t>时，随着</a:t>
            </a:r>
            <a:r>
              <a:rPr kumimoji="1" lang="en-US" altLang="zh-CN" i="1" dirty="0">
                <a:solidFill>
                  <a:srgbClr val="990000"/>
                </a:solidFill>
              </a:rPr>
              <a:t>V</a:t>
            </a:r>
            <a:r>
              <a:rPr kumimoji="1" lang="en-US" altLang="zh-CN" dirty="0">
                <a:solidFill>
                  <a:srgbClr val="990000"/>
                </a:solidFill>
              </a:rPr>
              <a:t>GS</a:t>
            </a:r>
            <a:r>
              <a:rPr kumimoji="1" lang="zh-CN" altLang="en-US" dirty="0">
                <a:solidFill>
                  <a:srgbClr val="990000"/>
                </a:solidFill>
              </a:rPr>
              <a:t>的减小</a:t>
            </a:r>
            <a:r>
              <a:rPr kumimoji="1" lang="en-US" altLang="zh-CN" i="1" dirty="0">
                <a:solidFill>
                  <a:srgbClr val="990000"/>
                </a:solidFill>
              </a:rPr>
              <a:t>I</a:t>
            </a:r>
            <a:r>
              <a:rPr kumimoji="1" lang="en-US" altLang="zh-CN" dirty="0">
                <a:solidFill>
                  <a:srgbClr val="990000"/>
                </a:solidFill>
              </a:rPr>
              <a:t>D </a:t>
            </a:r>
            <a:r>
              <a:rPr kumimoji="1" lang="zh-CN" altLang="en-US" dirty="0">
                <a:solidFill>
                  <a:srgbClr val="990000"/>
                </a:solidFill>
              </a:rPr>
              <a:t>逐渐减小，直至 </a:t>
            </a:r>
            <a:r>
              <a:rPr kumimoji="1" lang="en-US" altLang="zh-CN" i="1" dirty="0">
                <a:solidFill>
                  <a:srgbClr val="990000"/>
                </a:solidFill>
              </a:rPr>
              <a:t>I</a:t>
            </a:r>
            <a:r>
              <a:rPr kumimoji="1" lang="en-US" altLang="zh-CN" dirty="0">
                <a:solidFill>
                  <a:srgbClr val="990000"/>
                </a:solidFill>
              </a:rPr>
              <a:t>D=0</a:t>
            </a:r>
            <a:r>
              <a:rPr kumimoji="1" lang="zh-CN" altLang="en-US" dirty="0">
                <a:solidFill>
                  <a:srgbClr val="990000"/>
                </a:solidFill>
              </a:rPr>
              <a:t>。对应</a:t>
            </a:r>
            <a:r>
              <a:rPr kumimoji="1" lang="en-US" altLang="zh-CN" i="1" dirty="0">
                <a:solidFill>
                  <a:srgbClr val="990000"/>
                </a:solidFill>
              </a:rPr>
              <a:t>I</a:t>
            </a:r>
            <a:r>
              <a:rPr kumimoji="1" lang="en-US" altLang="zh-CN" dirty="0">
                <a:solidFill>
                  <a:srgbClr val="990000"/>
                </a:solidFill>
              </a:rPr>
              <a:t>D=0 </a:t>
            </a:r>
            <a:r>
              <a:rPr kumimoji="1" lang="zh-CN" altLang="en-US" dirty="0">
                <a:solidFill>
                  <a:srgbClr val="990000"/>
                </a:solidFill>
              </a:rPr>
              <a:t>的 </a:t>
            </a:r>
            <a:r>
              <a:rPr kumimoji="1" lang="en-US" altLang="zh-CN" i="1" dirty="0">
                <a:solidFill>
                  <a:srgbClr val="990000"/>
                </a:solidFill>
              </a:rPr>
              <a:t>V</a:t>
            </a:r>
            <a:r>
              <a:rPr kumimoji="1" lang="en-US" altLang="zh-CN" dirty="0">
                <a:solidFill>
                  <a:srgbClr val="990000"/>
                </a:solidFill>
              </a:rPr>
              <a:t>GS </a:t>
            </a:r>
            <a:r>
              <a:rPr kumimoji="1" lang="zh-CN" altLang="en-US" dirty="0">
                <a:solidFill>
                  <a:srgbClr val="990000"/>
                </a:solidFill>
              </a:rPr>
              <a:t>值为夹断电压 </a:t>
            </a:r>
            <a:r>
              <a:rPr kumimoji="1" lang="en-US" altLang="zh-CN" i="1" dirty="0">
                <a:solidFill>
                  <a:srgbClr val="990000"/>
                </a:solidFill>
              </a:rPr>
              <a:t>V</a:t>
            </a:r>
            <a:r>
              <a:rPr kumimoji="1" lang="en-US" altLang="zh-CN" dirty="0">
                <a:solidFill>
                  <a:srgbClr val="990000"/>
                </a:solidFill>
              </a:rPr>
              <a:t>P </a:t>
            </a:r>
            <a:r>
              <a:rPr kumimoji="1" lang="zh-CN" altLang="en-US" dirty="0">
                <a:solidFill>
                  <a:srgbClr val="990000"/>
                </a:solidFill>
              </a:rPr>
              <a:t>。</a:t>
            </a:r>
          </a:p>
          <a:p>
            <a:pPr eaLnBrk="1" hangingPunct="1"/>
            <a:endParaRPr kumimoji="1" lang="zh-CN" altLang="en-US" b="1"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10</a:t>
            </a:fld>
            <a:endParaRPr lang="zh-CN" altLang="en-US"/>
          </a:p>
        </p:txBody>
      </p:sp>
    </p:spTree>
    <p:extLst>
      <p:ext uri="{BB962C8B-B14F-4D97-AF65-F5344CB8AC3E}">
        <p14:creationId xmlns:p14="http://schemas.microsoft.com/office/powerpoint/2010/main" val="2173027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21. </a:t>
            </a:r>
            <a:r>
              <a:rPr lang="zh-CN" altLang="en-US"/>
              <a:t>三极管</a:t>
            </a:r>
            <a:r>
              <a:rPr lang="en-US" altLang="zh-CN"/>
              <a:t>1</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2023</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21. </a:t>
            </a:r>
            <a:r>
              <a:rPr lang="zh-CN" altLang="en-US"/>
              <a:t>三极管</a:t>
            </a:r>
            <a:r>
              <a:rPr lang="en-US" altLang="zh-CN"/>
              <a:t>1</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upload.wikimedia.org/wikipedia/commons/f/f8/Transistor-photo.JPG" TargetMode="External"/><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26955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21_</a:t>
            </a:r>
            <a:r>
              <a:rPr lang="zh-CN" altLang="en-US" sz="3600" b="1" dirty="0">
                <a:solidFill>
                  <a:schemeClr val="tx1"/>
                </a:solidFill>
                <a:latin typeface="Microsoft YaHei" panose="020B0503020204020204" pitchFamily="34" charset="-122"/>
                <a:ea typeface="Microsoft YaHei" panose="020B0503020204020204" pitchFamily="34" charset="-122"/>
              </a:rPr>
              <a:t>三极管（</a:t>
            </a:r>
            <a:r>
              <a:rPr lang="en-US" altLang="zh-CN" sz="3600" b="1" dirty="0">
                <a:solidFill>
                  <a:schemeClr val="tx1"/>
                </a:solidFill>
                <a:latin typeface="Microsoft YaHei" panose="020B0503020204020204" pitchFamily="34" charset="-122"/>
                <a:ea typeface="Microsoft YaHei" panose="020B0503020204020204" pitchFamily="34" charset="-122"/>
              </a:rPr>
              <a:t>1</a:t>
            </a:r>
            <a:r>
              <a:rPr lang="zh-CN" altLang="en-US" sz="3600" b="1" dirty="0">
                <a:solidFill>
                  <a:schemeClr val="tx1"/>
                </a:solidFill>
                <a:latin typeface="Microsoft YaHei" panose="020B0503020204020204" pitchFamily="34" charset="-122"/>
                <a:ea typeface="Microsoft YaHei" panose="020B0503020204020204" pitchFamily="34" charset="-122"/>
              </a:rPr>
              <a:t>）</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（模电</a:t>
            </a:r>
            <a:r>
              <a:rPr lang="en-US" altLang="zh-CN" sz="2000" dirty="0">
                <a:solidFill>
                  <a:schemeClr val="tx1"/>
                </a:solidFill>
                <a:latin typeface="Microsoft YaHei" panose="020B0503020204020204" pitchFamily="34" charset="-122"/>
                <a:ea typeface="Microsoft YaHei" panose="020B0503020204020204" pitchFamily="34" charset="-122"/>
              </a:rPr>
              <a:t>P89-101</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zh-CN" altLang="en-US" dirty="0"/>
              <a:t>内容提纲</a:t>
            </a:r>
          </a:p>
        </p:txBody>
      </p:sp>
      <p:sp>
        <p:nvSpPr>
          <p:cNvPr id="3" name="内容占位符 2">
            <a:extLst>
              <a:ext uri="{FF2B5EF4-FFF2-40B4-BE49-F238E27FC236}">
                <a16:creationId xmlns:a16="http://schemas.microsoft.com/office/drawing/2014/main" id="{F106375B-3C17-2170-48EE-3E1111080382}"/>
              </a:ext>
            </a:extLst>
          </p:cNvPr>
          <p:cNvSpPr>
            <a:spLocks noGrp="1"/>
          </p:cNvSpPr>
          <p:nvPr>
            <p:ph idx="1"/>
          </p:nvPr>
        </p:nvSpPr>
        <p:spPr/>
        <p:txBody>
          <a:bodyPr>
            <a:normAutofit/>
          </a:bodyPr>
          <a:lstStyle/>
          <a:p>
            <a:pPr eaLnBrk="1" hangingPunct="1">
              <a:lnSpc>
                <a:spcPct val="120000"/>
              </a:lnSpc>
            </a:pPr>
            <a:r>
              <a:rPr lang="zh-CN" altLang="en-US" dirty="0"/>
              <a:t>三极管的结构类型</a:t>
            </a:r>
          </a:p>
          <a:p>
            <a:pPr eaLnBrk="1" hangingPunct="1">
              <a:lnSpc>
                <a:spcPct val="120000"/>
              </a:lnSpc>
            </a:pPr>
            <a:r>
              <a:rPr lang="zh-CN" altLang="en-US" dirty="0"/>
              <a:t>三极管的工作原理</a:t>
            </a:r>
          </a:p>
          <a:p>
            <a:pPr eaLnBrk="1" hangingPunct="1">
              <a:lnSpc>
                <a:spcPct val="120000"/>
              </a:lnSpc>
            </a:pPr>
            <a:r>
              <a:rPr lang="zh-CN" altLang="en-US" dirty="0"/>
              <a:t>三极管的特性曲线</a:t>
            </a:r>
          </a:p>
          <a:p>
            <a:pPr eaLnBrk="1" hangingPunct="1">
              <a:lnSpc>
                <a:spcPct val="120000"/>
              </a:lnSpc>
            </a:pPr>
            <a:r>
              <a:rPr lang="zh-CN" altLang="en-US" dirty="0"/>
              <a:t>三极管的主要参数</a:t>
            </a:r>
            <a:endParaRPr lang="en-US" altLang="zh-CN" dirty="0"/>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a:t>
            </a:fld>
            <a:r>
              <a:rPr lang="en-US" altLang="zh-CN" dirty="0"/>
              <a:t>/12</a:t>
            </a:r>
            <a:endParaRPr lang="en-US" dirty="0"/>
          </a:p>
        </p:txBody>
      </p:sp>
    </p:spTree>
    <p:extLst>
      <p:ext uri="{BB962C8B-B14F-4D97-AF65-F5344CB8AC3E}">
        <p14:creationId xmlns:p14="http://schemas.microsoft.com/office/powerpoint/2010/main" val="212930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82FFD9-F6D3-6886-81EF-BF1F1484C5D2}"/>
              </a:ext>
            </a:extLst>
          </p:cNvPr>
          <p:cNvSpPr>
            <a:spLocks noGrp="1"/>
          </p:cNvSpPr>
          <p:nvPr>
            <p:ph type="title"/>
          </p:nvPr>
        </p:nvSpPr>
        <p:spPr/>
        <p:txBody>
          <a:bodyPr>
            <a:normAutofit fontScale="90000"/>
          </a:bodyPr>
          <a:lstStyle/>
          <a:p>
            <a:r>
              <a:rPr lang="zh-CN" altLang="en-US" dirty="0"/>
              <a:t>三极管分类</a:t>
            </a:r>
            <a:endParaRPr kumimoji="1" lang="zh-CN" altLang="en-US" dirty="0"/>
          </a:p>
        </p:txBody>
      </p:sp>
      <p:sp>
        <p:nvSpPr>
          <p:cNvPr id="3" name="内容占位符 2">
            <a:extLst>
              <a:ext uri="{FF2B5EF4-FFF2-40B4-BE49-F238E27FC236}">
                <a16:creationId xmlns:a16="http://schemas.microsoft.com/office/drawing/2014/main" id="{AD070404-907C-991F-65A9-ACF95A67274D}"/>
              </a:ext>
            </a:extLst>
          </p:cNvPr>
          <p:cNvSpPr>
            <a:spLocks noGrp="1"/>
          </p:cNvSpPr>
          <p:nvPr>
            <p:ph idx="1"/>
          </p:nvPr>
        </p:nvSpPr>
        <p:spPr/>
        <p:txBody>
          <a:bodyPr/>
          <a:lstStyle/>
          <a:p>
            <a:r>
              <a:rPr lang="zh-CN" altLang="en-US" dirty="0">
                <a:latin typeface="宋体" panose="02010600030101010101" pitchFamily="2" charset="-122"/>
              </a:rPr>
              <a:t>按结构分类</a:t>
            </a:r>
            <a:endParaRPr kumimoji="1" lang="zh-CN" altLang="en-US" dirty="0"/>
          </a:p>
        </p:txBody>
      </p:sp>
      <p:sp>
        <p:nvSpPr>
          <p:cNvPr id="4" name="页脚占位符 3">
            <a:extLst>
              <a:ext uri="{FF2B5EF4-FFF2-40B4-BE49-F238E27FC236}">
                <a16:creationId xmlns:a16="http://schemas.microsoft.com/office/drawing/2014/main" id="{EE2AD5F6-FBD5-94A4-2461-1E3FA65CD62E}"/>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6AD0CB4C-9EAB-4CB9-8F0D-3EA97F5DCE93}"/>
              </a:ext>
            </a:extLst>
          </p:cNvPr>
          <p:cNvSpPr>
            <a:spLocks noGrp="1"/>
          </p:cNvSpPr>
          <p:nvPr>
            <p:ph type="sldNum" sz="quarter" idx="12"/>
          </p:nvPr>
        </p:nvSpPr>
        <p:spPr/>
        <p:txBody>
          <a:bodyPr/>
          <a:lstStyle/>
          <a:p>
            <a:fld id="{9E260BC5-5BF3-8746-862B-DC45E9CAA88B}" type="slidenum">
              <a:rPr lang="en-US" smtClean="0"/>
              <a:pPr/>
              <a:t>3</a:t>
            </a:fld>
            <a:r>
              <a:rPr lang="en-US" altLang="zh-CN" dirty="0"/>
              <a:t>/12</a:t>
            </a:r>
            <a:endParaRPr lang="en-US" dirty="0"/>
          </a:p>
        </p:txBody>
      </p:sp>
      <p:sp>
        <p:nvSpPr>
          <p:cNvPr id="6" name="Rectangle 4">
            <a:extLst>
              <a:ext uri="{FF2B5EF4-FFF2-40B4-BE49-F238E27FC236}">
                <a16:creationId xmlns:a16="http://schemas.microsoft.com/office/drawing/2014/main" id="{06B1BF18-ECC3-C653-E8B9-EC5198A2288E}"/>
              </a:ext>
            </a:extLst>
          </p:cNvPr>
          <p:cNvSpPr>
            <a:spLocks noChangeArrowheads="1"/>
          </p:cNvSpPr>
          <p:nvPr/>
        </p:nvSpPr>
        <p:spPr bwMode="auto">
          <a:xfrm>
            <a:off x="1104397" y="1898418"/>
            <a:ext cx="27003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 typeface="Times New Roman" panose="02020603050405020304" pitchFamily="18" charset="0"/>
              <a:buNone/>
            </a:pPr>
            <a:r>
              <a:rPr lang="zh-CN" altLang="en-US" sz="2800" b="0">
                <a:latin typeface="Microsoft YaHei" panose="020B0503020204020204" pitchFamily="34" charset="-122"/>
                <a:ea typeface="Microsoft YaHei" panose="020B0503020204020204" pitchFamily="34" charset="-122"/>
              </a:rPr>
              <a:t>双极结型三极管</a:t>
            </a:r>
            <a:endParaRPr lang="en-US" altLang="zh-CN" sz="2800" b="0">
              <a:latin typeface="Microsoft YaHei" panose="020B0503020204020204" pitchFamily="34" charset="-122"/>
              <a:ea typeface="Microsoft YaHei" panose="020B0503020204020204" pitchFamily="34" charset="-122"/>
            </a:endParaRPr>
          </a:p>
        </p:txBody>
      </p:sp>
      <p:sp>
        <p:nvSpPr>
          <p:cNvPr id="7" name="AutoShape 21">
            <a:extLst>
              <a:ext uri="{FF2B5EF4-FFF2-40B4-BE49-F238E27FC236}">
                <a16:creationId xmlns:a16="http://schemas.microsoft.com/office/drawing/2014/main" id="{6257C268-16A1-01C0-66F5-756314D96E97}"/>
              </a:ext>
            </a:extLst>
          </p:cNvPr>
          <p:cNvSpPr>
            <a:spLocks/>
          </p:cNvSpPr>
          <p:nvPr/>
        </p:nvSpPr>
        <p:spPr bwMode="auto">
          <a:xfrm>
            <a:off x="3912684" y="1738081"/>
            <a:ext cx="215900" cy="901700"/>
          </a:xfrm>
          <a:prstGeom prst="leftBrace">
            <a:avLst>
              <a:gd name="adj1" fmla="val 34804"/>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8" name="Rectangle 22">
            <a:extLst>
              <a:ext uri="{FF2B5EF4-FFF2-40B4-BE49-F238E27FC236}">
                <a16:creationId xmlns:a16="http://schemas.microsoft.com/office/drawing/2014/main" id="{15238756-D8D3-4D29-7829-2D6EA2A7BA82}"/>
              </a:ext>
            </a:extLst>
          </p:cNvPr>
          <p:cNvSpPr>
            <a:spLocks noChangeArrowheads="1"/>
          </p:cNvSpPr>
          <p:nvPr/>
        </p:nvSpPr>
        <p:spPr bwMode="auto">
          <a:xfrm>
            <a:off x="4128584" y="1615843"/>
            <a:ext cx="10080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a:latin typeface="Microsoft YaHei" panose="020B0503020204020204" pitchFamily="34" charset="-122"/>
                <a:ea typeface="Microsoft YaHei" panose="020B0503020204020204" pitchFamily="34" charset="-122"/>
              </a:rPr>
              <a:t>NPN</a:t>
            </a:r>
            <a:endParaRPr kumimoji="1" lang="zh-CN" altLang="en-US" sz="2800" b="0">
              <a:latin typeface="Microsoft YaHei" panose="020B0503020204020204" pitchFamily="34" charset="-122"/>
              <a:ea typeface="Microsoft YaHei" panose="020B0503020204020204" pitchFamily="34" charset="-122"/>
            </a:endParaRPr>
          </a:p>
        </p:txBody>
      </p:sp>
      <p:sp>
        <p:nvSpPr>
          <p:cNvPr id="9" name="Rectangle 23">
            <a:extLst>
              <a:ext uri="{FF2B5EF4-FFF2-40B4-BE49-F238E27FC236}">
                <a16:creationId xmlns:a16="http://schemas.microsoft.com/office/drawing/2014/main" id="{9BD3B2C9-A560-8636-A15D-8EDD62638AE1}"/>
              </a:ext>
            </a:extLst>
          </p:cNvPr>
          <p:cNvSpPr>
            <a:spLocks noChangeArrowheads="1"/>
          </p:cNvSpPr>
          <p:nvPr/>
        </p:nvSpPr>
        <p:spPr bwMode="auto">
          <a:xfrm>
            <a:off x="4128584" y="2206393"/>
            <a:ext cx="9350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b="0">
                <a:latin typeface="Microsoft YaHei" panose="020B0503020204020204" pitchFamily="34" charset="-122"/>
                <a:ea typeface="Microsoft YaHei" panose="020B0503020204020204" pitchFamily="34" charset="-122"/>
              </a:rPr>
              <a:t>PNP</a:t>
            </a:r>
          </a:p>
        </p:txBody>
      </p:sp>
      <p:sp>
        <p:nvSpPr>
          <p:cNvPr id="10" name="Rectangle 5">
            <a:extLst>
              <a:ext uri="{FF2B5EF4-FFF2-40B4-BE49-F238E27FC236}">
                <a16:creationId xmlns:a16="http://schemas.microsoft.com/office/drawing/2014/main" id="{D2C6EA1B-79A9-2624-F151-BAABBEFD32C9}"/>
              </a:ext>
            </a:extLst>
          </p:cNvPr>
          <p:cNvSpPr>
            <a:spLocks noChangeArrowheads="1"/>
          </p:cNvSpPr>
          <p:nvPr/>
        </p:nvSpPr>
        <p:spPr bwMode="auto">
          <a:xfrm>
            <a:off x="5460497" y="2862031"/>
            <a:ext cx="11890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b="0">
                <a:latin typeface="Microsoft YaHei" panose="020B0503020204020204" pitchFamily="34" charset="-122"/>
                <a:ea typeface="Microsoft YaHei" panose="020B0503020204020204" pitchFamily="34" charset="-122"/>
              </a:rPr>
              <a:t>N</a:t>
            </a:r>
            <a:r>
              <a:rPr kumimoji="1" lang="zh-CN" altLang="en-US" sz="2800" b="0">
                <a:latin typeface="Microsoft YaHei" panose="020B0503020204020204" pitchFamily="34" charset="-122"/>
                <a:ea typeface="Microsoft YaHei" panose="020B0503020204020204" pitchFamily="34" charset="-122"/>
              </a:rPr>
              <a:t>沟道</a:t>
            </a:r>
          </a:p>
        </p:txBody>
      </p:sp>
      <p:sp>
        <p:nvSpPr>
          <p:cNvPr id="11" name="Rectangle 6">
            <a:extLst>
              <a:ext uri="{FF2B5EF4-FFF2-40B4-BE49-F238E27FC236}">
                <a16:creationId xmlns:a16="http://schemas.microsoft.com/office/drawing/2014/main" id="{F1F07FC5-A524-B212-4872-1FFB18B34445}"/>
              </a:ext>
            </a:extLst>
          </p:cNvPr>
          <p:cNvSpPr>
            <a:spLocks noChangeArrowheads="1"/>
          </p:cNvSpPr>
          <p:nvPr/>
        </p:nvSpPr>
        <p:spPr bwMode="auto">
          <a:xfrm>
            <a:off x="5460497" y="3884381"/>
            <a:ext cx="11890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b="0">
                <a:latin typeface="Microsoft YaHei" panose="020B0503020204020204" pitchFamily="34" charset="-122"/>
                <a:ea typeface="Microsoft YaHei" panose="020B0503020204020204" pitchFamily="34" charset="-122"/>
              </a:rPr>
              <a:t>P</a:t>
            </a:r>
            <a:r>
              <a:rPr kumimoji="1" lang="zh-CN" altLang="en-US" sz="2800" b="0">
                <a:latin typeface="Microsoft YaHei" panose="020B0503020204020204" pitchFamily="34" charset="-122"/>
                <a:ea typeface="Microsoft YaHei" panose="020B0503020204020204" pitchFamily="34" charset="-122"/>
              </a:rPr>
              <a:t>沟道</a:t>
            </a:r>
          </a:p>
        </p:txBody>
      </p:sp>
      <p:sp>
        <p:nvSpPr>
          <p:cNvPr id="12" name="Rectangle 7">
            <a:extLst>
              <a:ext uri="{FF2B5EF4-FFF2-40B4-BE49-F238E27FC236}">
                <a16:creationId xmlns:a16="http://schemas.microsoft.com/office/drawing/2014/main" id="{72B38129-B246-8817-6DC3-3EE91D354EDF}"/>
              </a:ext>
            </a:extLst>
          </p:cNvPr>
          <p:cNvSpPr>
            <a:spLocks noChangeArrowheads="1"/>
          </p:cNvSpPr>
          <p:nvPr/>
        </p:nvSpPr>
        <p:spPr bwMode="auto">
          <a:xfrm>
            <a:off x="3733297" y="4778143"/>
            <a:ext cx="1006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b="0">
                <a:latin typeface="Microsoft YaHei" panose="020B0503020204020204" pitchFamily="34" charset="-122"/>
                <a:ea typeface="Microsoft YaHei" panose="020B0503020204020204" pitchFamily="34" charset="-122"/>
              </a:rPr>
              <a:t>结型</a:t>
            </a:r>
          </a:p>
        </p:txBody>
      </p:sp>
      <p:sp>
        <p:nvSpPr>
          <p:cNvPr id="13" name="Rectangle 8">
            <a:extLst>
              <a:ext uri="{FF2B5EF4-FFF2-40B4-BE49-F238E27FC236}">
                <a16:creationId xmlns:a16="http://schemas.microsoft.com/office/drawing/2014/main" id="{EDDE5CBE-C327-75C2-7D75-80DCDEA20992}"/>
              </a:ext>
            </a:extLst>
          </p:cNvPr>
          <p:cNvSpPr>
            <a:spLocks noChangeArrowheads="1"/>
          </p:cNvSpPr>
          <p:nvPr/>
        </p:nvSpPr>
        <p:spPr bwMode="auto">
          <a:xfrm>
            <a:off x="3744409" y="3403368"/>
            <a:ext cx="14221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dirty="0">
                <a:solidFill>
                  <a:srgbClr val="0000FF"/>
                </a:solidFill>
                <a:latin typeface="Microsoft YaHei" panose="020B0503020204020204" pitchFamily="34" charset="-122"/>
                <a:ea typeface="Microsoft YaHei" panose="020B0503020204020204" pitchFamily="34" charset="-122"/>
              </a:rPr>
              <a:t>MOS</a:t>
            </a:r>
            <a:r>
              <a:rPr lang="zh-CN" altLang="en-US" sz="2800" b="0" dirty="0">
                <a:solidFill>
                  <a:srgbClr val="0000FF"/>
                </a:solidFill>
                <a:latin typeface="Microsoft YaHei" panose="020B0503020204020204" pitchFamily="34" charset="-122"/>
                <a:ea typeface="Microsoft YaHei" panose="020B0503020204020204" pitchFamily="34" charset="-122"/>
              </a:rPr>
              <a:t>型</a:t>
            </a:r>
          </a:p>
        </p:txBody>
      </p:sp>
      <p:sp>
        <p:nvSpPr>
          <p:cNvPr id="14" name="Rectangle 9">
            <a:extLst>
              <a:ext uri="{FF2B5EF4-FFF2-40B4-BE49-F238E27FC236}">
                <a16:creationId xmlns:a16="http://schemas.microsoft.com/office/drawing/2014/main" id="{C772AF18-824C-6EDC-CD43-2D67EF99226F}"/>
              </a:ext>
            </a:extLst>
          </p:cNvPr>
          <p:cNvSpPr>
            <a:spLocks noChangeArrowheads="1"/>
          </p:cNvSpPr>
          <p:nvPr/>
        </p:nvSpPr>
        <p:spPr bwMode="auto">
          <a:xfrm>
            <a:off x="1104397" y="4065356"/>
            <a:ext cx="23487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800" b="0" dirty="0">
                <a:solidFill>
                  <a:srgbClr val="0000FF"/>
                </a:solidFill>
                <a:latin typeface="Microsoft YaHei" panose="020B0503020204020204" pitchFamily="34" charset="-122"/>
                <a:ea typeface="Microsoft YaHei" panose="020B0503020204020204" pitchFamily="34" charset="-122"/>
              </a:rPr>
              <a:t>场效应三极管</a:t>
            </a:r>
          </a:p>
        </p:txBody>
      </p:sp>
      <p:sp>
        <p:nvSpPr>
          <p:cNvPr id="15" name="AutoShape 10">
            <a:extLst>
              <a:ext uri="{FF2B5EF4-FFF2-40B4-BE49-F238E27FC236}">
                <a16:creationId xmlns:a16="http://schemas.microsoft.com/office/drawing/2014/main" id="{FB03C44C-279C-4E0A-213C-045A01652752}"/>
              </a:ext>
            </a:extLst>
          </p:cNvPr>
          <p:cNvSpPr>
            <a:spLocks/>
          </p:cNvSpPr>
          <p:nvPr/>
        </p:nvSpPr>
        <p:spPr bwMode="auto">
          <a:xfrm>
            <a:off x="3479297" y="3508143"/>
            <a:ext cx="252412" cy="1778000"/>
          </a:xfrm>
          <a:prstGeom prst="leftBrace">
            <a:avLst>
              <a:gd name="adj1" fmla="val 58700"/>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16" name="AutoShape 11">
            <a:extLst>
              <a:ext uri="{FF2B5EF4-FFF2-40B4-BE49-F238E27FC236}">
                <a16:creationId xmlns:a16="http://schemas.microsoft.com/office/drawing/2014/main" id="{D13A9025-F97B-80B6-AC95-55B2CC8EAF26}"/>
              </a:ext>
            </a:extLst>
          </p:cNvPr>
          <p:cNvSpPr>
            <a:spLocks/>
          </p:cNvSpPr>
          <p:nvPr/>
        </p:nvSpPr>
        <p:spPr bwMode="auto">
          <a:xfrm>
            <a:off x="5208084" y="3019193"/>
            <a:ext cx="217488" cy="1393825"/>
          </a:xfrm>
          <a:prstGeom prst="leftBrace">
            <a:avLst>
              <a:gd name="adj1" fmla="val 53406"/>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17" name="AutoShape 15">
            <a:extLst>
              <a:ext uri="{FF2B5EF4-FFF2-40B4-BE49-F238E27FC236}">
                <a16:creationId xmlns:a16="http://schemas.microsoft.com/office/drawing/2014/main" id="{EA2F5462-8E6C-5B29-037B-1AC16D4BB5F3}"/>
              </a:ext>
            </a:extLst>
          </p:cNvPr>
          <p:cNvSpPr>
            <a:spLocks/>
          </p:cNvSpPr>
          <p:nvPr/>
        </p:nvSpPr>
        <p:spPr bwMode="auto">
          <a:xfrm>
            <a:off x="6755897" y="2760431"/>
            <a:ext cx="252412" cy="774700"/>
          </a:xfrm>
          <a:prstGeom prst="leftBrace">
            <a:avLst>
              <a:gd name="adj1" fmla="val 25577"/>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18" name="Rectangle 16">
            <a:extLst>
              <a:ext uri="{FF2B5EF4-FFF2-40B4-BE49-F238E27FC236}">
                <a16:creationId xmlns:a16="http://schemas.microsoft.com/office/drawing/2014/main" id="{D80F9F06-D65B-2F51-3F64-369FECEF1C86}"/>
              </a:ext>
            </a:extLst>
          </p:cNvPr>
          <p:cNvSpPr>
            <a:spLocks noChangeArrowheads="1"/>
          </p:cNvSpPr>
          <p:nvPr/>
        </p:nvSpPr>
        <p:spPr bwMode="auto">
          <a:xfrm>
            <a:off x="7079747" y="2544531"/>
            <a:ext cx="1333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b="0">
                <a:latin typeface="Microsoft YaHei" panose="020B0503020204020204" pitchFamily="34" charset="-122"/>
                <a:ea typeface="Microsoft YaHei" panose="020B0503020204020204" pitchFamily="34" charset="-122"/>
              </a:rPr>
              <a:t>增强型</a:t>
            </a:r>
          </a:p>
        </p:txBody>
      </p:sp>
      <p:sp>
        <p:nvSpPr>
          <p:cNvPr id="19" name="Rectangle 17">
            <a:extLst>
              <a:ext uri="{FF2B5EF4-FFF2-40B4-BE49-F238E27FC236}">
                <a16:creationId xmlns:a16="http://schemas.microsoft.com/office/drawing/2014/main" id="{0B5D6B3B-C22C-EFEB-183D-4A539FC58117}"/>
              </a:ext>
            </a:extLst>
          </p:cNvPr>
          <p:cNvSpPr>
            <a:spLocks noChangeArrowheads="1"/>
          </p:cNvSpPr>
          <p:nvPr/>
        </p:nvSpPr>
        <p:spPr bwMode="auto">
          <a:xfrm>
            <a:off x="7116259" y="3071581"/>
            <a:ext cx="1368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b="0">
                <a:latin typeface="Microsoft YaHei" panose="020B0503020204020204" pitchFamily="34" charset="-122"/>
                <a:ea typeface="Microsoft YaHei" panose="020B0503020204020204" pitchFamily="34" charset="-122"/>
              </a:rPr>
              <a:t>耗尽型</a:t>
            </a:r>
          </a:p>
        </p:txBody>
      </p:sp>
      <p:sp>
        <p:nvSpPr>
          <p:cNvPr id="20" name="AutoShape 18">
            <a:extLst>
              <a:ext uri="{FF2B5EF4-FFF2-40B4-BE49-F238E27FC236}">
                <a16:creationId xmlns:a16="http://schemas.microsoft.com/office/drawing/2014/main" id="{67D92B2C-1AE0-CBBE-DCBE-E9F121B1E74B}"/>
              </a:ext>
            </a:extLst>
          </p:cNvPr>
          <p:cNvSpPr>
            <a:spLocks/>
          </p:cNvSpPr>
          <p:nvPr/>
        </p:nvSpPr>
        <p:spPr bwMode="auto">
          <a:xfrm>
            <a:off x="6755897" y="3847868"/>
            <a:ext cx="252412" cy="776288"/>
          </a:xfrm>
          <a:prstGeom prst="leftBrace">
            <a:avLst>
              <a:gd name="adj1" fmla="val 25629"/>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21" name="Rectangle 19">
            <a:extLst>
              <a:ext uri="{FF2B5EF4-FFF2-40B4-BE49-F238E27FC236}">
                <a16:creationId xmlns:a16="http://schemas.microsoft.com/office/drawing/2014/main" id="{2B6AEBF4-1D4E-CC26-9D0A-0863D48FEBA8}"/>
              </a:ext>
            </a:extLst>
          </p:cNvPr>
          <p:cNvSpPr>
            <a:spLocks noChangeArrowheads="1"/>
          </p:cNvSpPr>
          <p:nvPr/>
        </p:nvSpPr>
        <p:spPr bwMode="auto">
          <a:xfrm>
            <a:off x="7079747" y="3673243"/>
            <a:ext cx="1333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b="0">
                <a:latin typeface="Microsoft YaHei" panose="020B0503020204020204" pitchFamily="34" charset="-122"/>
                <a:ea typeface="Microsoft YaHei" panose="020B0503020204020204" pitchFamily="34" charset="-122"/>
              </a:rPr>
              <a:t>增强型</a:t>
            </a:r>
          </a:p>
        </p:txBody>
      </p:sp>
      <p:sp>
        <p:nvSpPr>
          <p:cNvPr id="22" name="Rectangle 20">
            <a:extLst>
              <a:ext uri="{FF2B5EF4-FFF2-40B4-BE49-F238E27FC236}">
                <a16:creationId xmlns:a16="http://schemas.microsoft.com/office/drawing/2014/main" id="{F71C4233-7F64-3AD6-A970-E161F6DA1FE2}"/>
              </a:ext>
            </a:extLst>
          </p:cNvPr>
          <p:cNvSpPr>
            <a:spLocks noChangeArrowheads="1"/>
          </p:cNvSpPr>
          <p:nvPr/>
        </p:nvSpPr>
        <p:spPr bwMode="auto">
          <a:xfrm>
            <a:off x="7116259" y="4138381"/>
            <a:ext cx="1368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b="0">
                <a:latin typeface="Microsoft YaHei" panose="020B0503020204020204" pitchFamily="34" charset="-122"/>
                <a:ea typeface="Microsoft YaHei" panose="020B0503020204020204" pitchFamily="34" charset="-122"/>
              </a:rPr>
              <a:t>耗尽型</a:t>
            </a:r>
          </a:p>
        </p:txBody>
      </p:sp>
      <p:sp>
        <p:nvSpPr>
          <p:cNvPr id="23" name="AutoShape 24">
            <a:extLst>
              <a:ext uri="{FF2B5EF4-FFF2-40B4-BE49-F238E27FC236}">
                <a16:creationId xmlns:a16="http://schemas.microsoft.com/office/drawing/2014/main" id="{F7A0181C-EDB8-2703-7EF8-D81D14A5BE65}"/>
              </a:ext>
            </a:extLst>
          </p:cNvPr>
          <p:cNvSpPr>
            <a:spLocks/>
          </p:cNvSpPr>
          <p:nvPr/>
        </p:nvSpPr>
        <p:spPr bwMode="auto">
          <a:xfrm>
            <a:off x="4704847" y="4767031"/>
            <a:ext cx="252412" cy="774700"/>
          </a:xfrm>
          <a:prstGeom prst="leftBrace">
            <a:avLst>
              <a:gd name="adj1" fmla="val 25577"/>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24" name="Rectangle 25">
            <a:extLst>
              <a:ext uri="{FF2B5EF4-FFF2-40B4-BE49-F238E27FC236}">
                <a16:creationId xmlns:a16="http://schemas.microsoft.com/office/drawing/2014/main" id="{2E22B581-91F7-E04A-76AC-FCC6E4F230DD}"/>
              </a:ext>
            </a:extLst>
          </p:cNvPr>
          <p:cNvSpPr>
            <a:spLocks noChangeArrowheads="1"/>
          </p:cNvSpPr>
          <p:nvPr/>
        </p:nvSpPr>
        <p:spPr bwMode="auto">
          <a:xfrm>
            <a:off x="5027109" y="4600343"/>
            <a:ext cx="1296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a:latin typeface="Microsoft YaHei" panose="020B0503020204020204" pitchFamily="34" charset="-122"/>
                <a:ea typeface="Microsoft YaHei" panose="020B0503020204020204" pitchFamily="34" charset="-122"/>
              </a:rPr>
              <a:t>N</a:t>
            </a:r>
            <a:r>
              <a:rPr kumimoji="1" lang="zh-CN" altLang="en-US" sz="2800" b="0">
                <a:latin typeface="Microsoft YaHei" panose="020B0503020204020204" pitchFamily="34" charset="-122"/>
                <a:ea typeface="Microsoft YaHei" panose="020B0503020204020204" pitchFamily="34" charset="-122"/>
              </a:rPr>
              <a:t>沟道</a:t>
            </a:r>
          </a:p>
        </p:txBody>
      </p:sp>
      <p:sp>
        <p:nvSpPr>
          <p:cNvPr id="25" name="Rectangle 26">
            <a:extLst>
              <a:ext uri="{FF2B5EF4-FFF2-40B4-BE49-F238E27FC236}">
                <a16:creationId xmlns:a16="http://schemas.microsoft.com/office/drawing/2014/main" id="{B85F5D6C-6586-8090-CF83-4B914DBB4A37}"/>
              </a:ext>
            </a:extLst>
          </p:cNvPr>
          <p:cNvSpPr>
            <a:spLocks noChangeArrowheads="1"/>
          </p:cNvSpPr>
          <p:nvPr/>
        </p:nvSpPr>
        <p:spPr bwMode="auto">
          <a:xfrm>
            <a:off x="5063622" y="5084531"/>
            <a:ext cx="1260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b="0">
                <a:latin typeface="Microsoft YaHei" panose="020B0503020204020204" pitchFamily="34" charset="-122"/>
                <a:ea typeface="Microsoft YaHei" panose="020B0503020204020204" pitchFamily="34" charset="-122"/>
              </a:rPr>
              <a:t>P</a:t>
            </a:r>
            <a:r>
              <a:rPr kumimoji="1" lang="zh-CN" altLang="en-US" sz="2800" b="0">
                <a:latin typeface="Microsoft YaHei" panose="020B0503020204020204" pitchFamily="34" charset="-122"/>
                <a:ea typeface="Microsoft YaHei" panose="020B0503020204020204" pitchFamily="34" charset="-122"/>
              </a:rPr>
              <a:t>沟道</a:t>
            </a:r>
            <a:endParaRPr kumimoji="1" lang="en-US" altLang="zh-CN" sz="2800" b="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58213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CF6FF2-E430-67AE-044C-D3F2AAD08982}"/>
              </a:ext>
            </a:extLst>
          </p:cNvPr>
          <p:cNvSpPr>
            <a:spLocks noGrp="1"/>
          </p:cNvSpPr>
          <p:nvPr>
            <p:ph type="title"/>
          </p:nvPr>
        </p:nvSpPr>
        <p:spPr/>
        <p:txBody>
          <a:bodyPr>
            <a:normAutofit fontScale="90000"/>
          </a:bodyPr>
          <a:lstStyle/>
          <a:p>
            <a:r>
              <a:rPr lang="zh-CN" altLang="en-US" dirty="0"/>
              <a:t>示例：三极管外形</a:t>
            </a:r>
            <a:endParaRPr kumimoji="1" lang="zh-CN" altLang="en-US" dirty="0"/>
          </a:p>
        </p:txBody>
      </p:sp>
      <p:sp>
        <p:nvSpPr>
          <p:cNvPr id="4" name="页脚占位符 3">
            <a:extLst>
              <a:ext uri="{FF2B5EF4-FFF2-40B4-BE49-F238E27FC236}">
                <a16:creationId xmlns:a16="http://schemas.microsoft.com/office/drawing/2014/main" id="{544E6D73-FAFC-1C88-B1D0-DA3DA9641EC9}"/>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7E874959-EC73-B568-BD05-5A14679DF96A}"/>
              </a:ext>
            </a:extLst>
          </p:cNvPr>
          <p:cNvSpPr>
            <a:spLocks noGrp="1"/>
          </p:cNvSpPr>
          <p:nvPr>
            <p:ph type="sldNum" sz="quarter" idx="12"/>
          </p:nvPr>
        </p:nvSpPr>
        <p:spPr/>
        <p:txBody>
          <a:bodyPr/>
          <a:lstStyle/>
          <a:p>
            <a:fld id="{9E260BC5-5BF3-8746-862B-DC45E9CAA88B}" type="slidenum">
              <a:rPr lang="en-US" smtClean="0"/>
              <a:pPr/>
              <a:t>4</a:t>
            </a:fld>
            <a:r>
              <a:rPr lang="en-US" altLang="zh-CN" dirty="0"/>
              <a:t>/12</a:t>
            </a:r>
            <a:endParaRPr lang="en-US" dirty="0"/>
          </a:p>
        </p:txBody>
      </p:sp>
      <p:pic>
        <p:nvPicPr>
          <p:cNvPr id="6" name="Picture 3" descr="Transistorer_%28croped%29">
            <a:extLst>
              <a:ext uri="{FF2B5EF4-FFF2-40B4-BE49-F238E27FC236}">
                <a16:creationId xmlns:a16="http://schemas.microsoft.com/office/drawing/2014/main" id="{0067B33F-A3B7-4063-4E81-E42EDBE81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387" y="1218614"/>
            <a:ext cx="33718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File:Transistor-photo.JPG">
            <a:hlinkClick r:id="rId3"/>
            <a:extLst>
              <a:ext uri="{FF2B5EF4-FFF2-40B4-BE49-F238E27FC236}">
                <a16:creationId xmlns:a16="http://schemas.microsoft.com/office/drawing/2014/main" id="{4754D788-1CD8-EFA4-6733-BDF5F12D28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2100" y="1215439"/>
            <a:ext cx="48387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2C8A2112-1C3A-2ABD-F655-08A75D87E4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3974514"/>
            <a:ext cx="2335212"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8052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A11122-57BC-2ECB-6568-1C93A4AACC88}"/>
              </a:ext>
            </a:extLst>
          </p:cNvPr>
          <p:cNvSpPr>
            <a:spLocks noGrp="1"/>
          </p:cNvSpPr>
          <p:nvPr>
            <p:ph type="title"/>
          </p:nvPr>
        </p:nvSpPr>
        <p:spPr/>
        <p:txBody>
          <a:bodyPr>
            <a:normAutofit fontScale="90000"/>
          </a:bodyPr>
          <a:lstStyle/>
          <a:p>
            <a:r>
              <a:rPr lang="zh-CN" altLang="en-US" dirty="0"/>
              <a:t>场效应</a:t>
            </a:r>
            <a:r>
              <a:rPr lang="zh-CN" altLang="en-US" dirty="0">
                <a:latin typeface="Times New Roman" panose="02020603050405020304" pitchFamily="18" charset="0"/>
              </a:rPr>
              <a:t>三极</a:t>
            </a:r>
            <a:r>
              <a:rPr lang="zh-CN" altLang="en-US" dirty="0"/>
              <a:t>管</a:t>
            </a:r>
            <a:endParaRPr kumimoji="1" lang="zh-CN" altLang="en-US" dirty="0"/>
          </a:p>
        </p:txBody>
      </p:sp>
      <p:sp>
        <p:nvSpPr>
          <p:cNvPr id="3" name="内容占位符 2">
            <a:extLst>
              <a:ext uri="{FF2B5EF4-FFF2-40B4-BE49-F238E27FC236}">
                <a16:creationId xmlns:a16="http://schemas.microsoft.com/office/drawing/2014/main" id="{6787B415-1D34-6A26-2B70-EE444ACCCD46}"/>
              </a:ext>
            </a:extLst>
          </p:cNvPr>
          <p:cNvSpPr>
            <a:spLocks noGrp="1"/>
          </p:cNvSpPr>
          <p:nvPr>
            <p:ph idx="1"/>
          </p:nvPr>
        </p:nvSpPr>
        <p:spPr/>
        <p:txBody>
          <a:bodyPr/>
          <a:lstStyle/>
          <a:p>
            <a:pPr eaLnBrk="1" hangingPunct="1">
              <a:spcBef>
                <a:spcPct val="10000"/>
              </a:spcBef>
            </a:pPr>
            <a:r>
              <a:rPr lang="en-US" altLang="zh-CN" sz="2800" dirty="0">
                <a:latin typeface="Microsoft YaHei" panose="020B0503020204020204" pitchFamily="34" charset="-122"/>
                <a:ea typeface="Microsoft YaHei" panose="020B0503020204020204" pitchFamily="34" charset="-122"/>
              </a:rPr>
              <a:t>Field Effect Transistor</a:t>
            </a:r>
            <a:r>
              <a:rPr lang="zh-CN" altLang="en-US" sz="2800" dirty="0">
                <a:latin typeface="Microsoft YaHei" panose="020B0503020204020204" pitchFamily="34" charset="-122"/>
                <a:ea typeface="Microsoft YaHei" panose="020B0503020204020204" pitchFamily="34" charset="-122"/>
              </a:rPr>
              <a:t>，</a:t>
            </a:r>
            <a:r>
              <a:rPr lang="en-US" altLang="zh-CN" sz="2800" dirty="0">
                <a:latin typeface="Microsoft YaHei" panose="020B0503020204020204" pitchFamily="34" charset="-122"/>
                <a:ea typeface="Microsoft YaHei" panose="020B0503020204020204" pitchFamily="34" charset="-122"/>
              </a:rPr>
              <a:t>FET</a:t>
            </a:r>
            <a:r>
              <a:rPr lang="zh-CN" altLang="en-US" sz="2800" dirty="0">
                <a:latin typeface="Microsoft YaHei" panose="020B0503020204020204" pitchFamily="34" charset="-122"/>
                <a:ea typeface="Microsoft YaHei" panose="020B0503020204020204" pitchFamily="34" charset="-122"/>
              </a:rPr>
              <a:t>，简称场效应管</a:t>
            </a:r>
          </a:p>
          <a:p>
            <a:pPr lvl="1">
              <a:spcBef>
                <a:spcPct val="10000"/>
              </a:spcBef>
            </a:pPr>
            <a:r>
              <a:rPr lang="zh-CN" altLang="en-US" dirty="0">
                <a:latin typeface="Microsoft YaHei" panose="020B0503020204020204" pitchFamily="34" charset="-122"/>
                <a:ea typeface="Microsoft YaHei" panose="020B0503020204020204" pitchFamily="34" charset="-122"/>
              </a:rPr>
              <a:t>利用输入电压产生的电场效应，控制输出电流，是一种电压控制电流型器件</a:t>
            </a:r>
          </a:p>
          <a:p>
            <a:pPr lvl="1">
              <a:spcBef>
                <a:spcPct val="10000"/>
              </a:spcBef>
            </a:pPr>
            <a:r>
              <a:rPr lang="zh-CN" altLang="en-US" dirty="0">
                <a:latin typeface="Microsoft YaHei" panose="020B0503020204020204" pitchFamily="34" charset="-122"/>
                <a:ea typeface="Microsoft YaHei" panose="020B0503020204020204" pitchFamily="34" charset="-122"/>
              </a:rPr>
              <a:t>由于起导电作用的是一种极性的多数载流子，又称单极型晶体管</a:t>
            </a:r>
          </a:p>
          <a:p>
            <a:pPr lvl="1">
              <a:spcBef>
                <a:spcPct val="10000"/>
              </a:spcBef>
            </a:pPr>
            <a:r>
              <a:rPr lang="zh-CN" altLang="en-US" dirty="0">
                <a:latin typeface="Microsoft YaHei" panose="020B0503020204020204" pitchFamily="34" charset="-122"/>
                <a:ea typeface="Microsoft YaHei" panose="020B0503020204020204" pitchFamily="34" charset="-122"/>
              </a:rPr>
              <a:t>具有输入阻抗高、功耗低、噪声低、热稳定好、工艺简单、易于大规模集成等特点</a:t>
            </a:r>
          </a:p>
          <a:p>
            <a:pPr lvl="1">
              <a:spcBef>
                <a:spcPct val="10000"/>
              </a:spcBef>
            </a:pPr>
            <a:r>
              <a:rPr lang="zh-CN" altLang="en-US" dirty="0">
                <a:latin typeface="Microsoft YaHei" panose="020B0503020204020204" pitchFamily="34" charset="-122"/>
                <a:ea typeface="Microsoft YaHei" panose="020B0503020204020204" pitchFamily="34" charset="-122"/>
              </a:rPr>
              <a:t>按结构分类：</a:t>
            </a:r>
            <a:r>
              <a:rPr lang="en-US" altLang="zh-CN" dirty="0">
                <a:latin typeface="Microsoft YaHei" panose="020B0503020204020204" pitchFamily="34" charset="-122"/>
                <a:ea typeface="Microsoft YaHei" panose="020B0503020204020204" pitchFamily="34" charset="-122"/>
              </a:rPr>
              <a:t>MOS</a:t>
            </a:r>
            <a:r>
              <a:rPr lang="zh-CN" altLang="en-US" dirty="0">
                <a:latin typeface="Microsoft YaHei" panose="020B0503020204020204" pitchFamily="34" charset="-122"/>
                <a:ea typeface="Microsoft YaHei" panose="020B0503020204020204" pitchFamily="34" charset="-122"/>
              </a:rPr>
              <a:t>型</a:t>
            </a:r>
            <a:r>
              <a:rPr lang="en-US" altLang="zh-CN" dirty="0">
                <a:latin typeface="Microsoft YaHei" panose="020B0503020204020204" pitchFamily="34" charset="-122"/>
                <a:ea typeface="Microsoft YaHei" panose="020B0503020204020204" pitchFamily="34" charset="-122"/>
              </a:rPr>
              <a:t>(MOSFET)</a:t>
            </a:r>
            <a:r>
              <a:rPr lang="zh-CN" altLang="en-US" dirty="0">
                <a:latin typeface="Microsoft YaHei" panose="020B0503020204020204" pitchFamily="34" charset="-122"/>
                <a:ea typeface="Microsoft YaHei" panose="020B0503020204020204" pitchFamily="34" charset="-122"/>
              </a:rPr>
              <a:t>和结型</a:t>
            </a:r>
            <a:r>
              <a:rPr lang="en-US" altLang="zh-CN" dirty="0">
                <a:latin typeface="Microsoft YaHei" panose="020B0503020204020204" pitchFamily="34" charset="-122"/>
                <a:ea typeface="Microsoft YaHei" panose="020B0503020204020204" pitchFamily="34" charset="-122"/>
              </a:rPr>
              <a:t>(JFET)</a:t>
            </a:r>
          </a:p>
          <a:p>
            <a:endParaRPr kumimoji="1" lang="zh-CN" altLang="en-US" dirty="0"/>
          </a:p>
        </p:txBody>
      </p:sp>
      <p:sp>
        <p:nvSpPr>
          <p:cNvPr id="4" name="页脚占位符 3">
            <a:extLst>
              <a:ext uri="{FF2B5EF4-FFF2-40B4-BE49-F238E27FC236}">
                <a16:creationId xmlns:a16="http://schemas.microsoft.com/office/drawing/2014/main" id="{89D9AF5D-9EDA-923A-BB3F-2AD61001D8EA}"/>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8EEBC3C8-914A-B8CC-427C-B1428E0FB092}"/>
              </a:ext>
            </a:extLst>
          </p:cNvPr>
          <p:cNvSpPr>
            <a:spLocks noGrp="1"/>
          </p:cNvSpPr>
          <p:nvPr>
            <p:ph type="sldNum" sz="quarter" idx="12"/>
          </p:nvPr>
        </p:nvSpPr>
        <p:spPr/>
        <p:txBody>
          <a:bodyPr/>
          <a:lstStyle/>
          <a:p>
            <a:fld id="{9E260BC5-5BF3-8746-862B-DC45E9CAA88B}" type="slidenum">
              <a:rPr lang="en-US" smtClean="0"/>
              <a:pPr/>
              <a:t>5</a:t>
            </a:fld>
            <a:r>
              <a:rPr lang="en-US" altLang="zh-CN" dirty="0"/>
              <a:t>/12</a:t>
            </a:r>
            <a:endParaRPr lang="en-US" dirty="0"/>
          </a:p>
        </p:txBody>
      </p:sp>
    </p:spTree>
    <p:extLst>
      <p:ext uri="{BB962C8B-B14F-4D97-AF65-F5344CB8AC3E}">
        <p14:creationId xmlns:p14="http://schemas.microsoft.com/office/powerpoint/2010/main" val="914999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BC24D2-131A-31AF-17AA-5313B06A0CCA}"/>
              </a:ext>
            </a:extLst>
          </p:cNvPr>
          <p:cNvSpPr>
            <a:spLocks noGrp="1"/>
          </p:cNvSpPr>
          <p:nvPr>
            <p:ph type="title"/>
          </p:nvPr>
        </p:nvSpPr>
        <p:spPr/>
        <p:txBody>
          <a:bodyPr>
            <a:normAutofit fontScale="90000"/>
          </a:bodyPr>
          <a:lstStyle/>
          <a:p>
            <a:r>
              <a:rPr lang="en-US" altLang="zh-CN" dirty="0"/>
              <a:t>MOSFET</a:t>
            </a:r>
            <a:r>
              <a:rPr lang="zh-CN" altLang="en-US" dirty="0"/>
              <a:t>结构和符号</a:t>
            </a:r>
            <a:endParaRPr kumimoji="1" lang="zh-CN" altLang="en-US" dirty="0"/>
          </a:p>
        </p:txBody>
      </p:sp>
      <p:sp>
        <p:nvSpPr>
          <p:cNvPr id="3" name="内容占位符 2">
            <a:extLst>
              <a:ext uri="{FF2B5EF4-FFF2-40B4-BE49-F238E27FC236}">
                <a16:creationId xmlns:a16="http://schemas.microsoft.com/office/drawing/2014/main" id="{F0F27D3C-4A6F-9AED-E7F3-102CB07619ED}"/>
              </a:ext>
            </a:extLst>
          </p:cNvPr>
          <p:cNvSpPr>
            <a:spLocks noGrp="1"/>
          </p:cNvSpPr>
          <p:nvPr>
            <p:ph idx="1"/>
          </p:nvPr>
        </p:nvSpPr>
        <p:spPr/>
        <p:txBody>
          <a:bodyPr/>
          <a:lstStyle/>
          <a:p>
            <a:r>
              <a:rPr lang="zh-CN" altLang="en-US" sz="2800" dirty="0">
                <a:latin typeface="Microsoft YaHei" panose="020B0503020204020204" pitchFamily="34" charset="-122"/>
                <a:ea typeface="Microsoft YaHei" panose="020B0503020204020204" pitchFamily="34" charset="-122"/>
              </a:rPr>
              <a:t>又称</a:t>
            </a:r>
            <a:r>
              <a:rPr lang="en-US" altLang="zh-CN" sz="2800" dirty="0">
                <a:latin typeface="Microsoft YaHei" panose="020B0503020204020204" pitchFamily="34" charset="-122"/>
                <a:ea typeface="Microsoft YaHei" panose="020B0503020204020204" pitchFamily="34" charset="-122"/>
              </a:rPr>
              <a:t>MOS</a:t>
            </a:r>
            <a:r>
              <a:rPr lang="zh-CN" altLang="en-US" sz="2800" dirty="0">
                <a:latin typeface="Microsoft YaHei" panose="020B0503020204020204" pitchFamily="34" charset="-122"/>
                <a:ea typeface="Microsoft YaHei" panose="020B0503020204020204" pitchFamily="34" charset="-122"/>
              </a:rPr>
              <a:t>管</a:t>
            </a:r>
            <a:r>
              <a:rPr lang="en-US" altLang="zh-CN" sz="2800" dirty="0">
                <a:latin typeface="Microsoft YaHei" panose="020B0503020204020204" pitchFamily="34" charset="-122"/>
                <a:ea typeface="Microsoft YaHei" panose="020B0503020204020204" pitchFamily="34" charset="-122"/>
              </a:rPr>
              <a:t>(Metal-</a:t>
            </a:r>
            <a:r>
              <a:rPr lang="en-US" altLang="zh-CN" sz="2800" dirty="0" err="1">
                <a:latin typeface="Microsoft YaHei" panose="020B0503020204020204" pitchFamily="34" charset="-122"/>
                <a:ea typeface="Microsoft YaHei" panose="020B0503020204020204" pitchFamily="34" charset="-122"/>
              </a:rPr>
              <a:t>Oxside</a:t>
            </a:r>
            <a:r>
              <a:rPr lang="en-US" altLang="zh-CN" sz="2800" dirty="0">
                <a:latin typeface="Microsoft YaHei" panose="020B0503020204020204" pitchFamily="34" charset="-122"/>
                <a:ea typeface="Microsoft YaHei" panose="020B0503020204020204" pitchFamily="34" charset="-122"/>
              </a:rPr>
              <a:t>-Semiconductor FET)</a:t>
            </a:r>
          </a:p>
          <a:p>
            <a:pPr lvl="1"/>
            <a:r>
              <a:rPr lang="zh-CN" altLang="en-US" dirty="0"/>
              <a:t>按导电沟道类型分为</a:t>
            </a:r>
          </a:p>
          <a:p>
            <a:endParaRPr lang="zh-CN" altLang="en-US" sz="2800" dirty="0">
              <a:latin typeface="Microsoft YaHei" panose="020B0503020204020204" pitchFamily="34" charset="-122"/>
              <a:ea typeface="Microsoft YaHei" panose="020B0503020204020204" pitchFamily="34" charset="-122"/>
            </a:endParaRPr>
          </a:p>
          <a:p>
            <a:endParaRPr kumimoji="1" lang="zh-CN" altLang="en-US" dirty="0"/>
          </a:p>
        </p:txBody>
      </p:sp>
      <p:sp>
        <p:nvSpPr>
          <p:cNvPr id="4" name="页脚占位符 3">
            <a:extLst>
              <a:ext uri="{FF2B5EF4-FFF2-40B4-BE49-F238E27FC236}">
                <a16:creationId xmlns:a16="http://schemas.microsoft.com/office/drawing/2014/main" id="{0803B87E-DBB0-05F9-C7B1-7541C9B1CA61}"/>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36A432C0-A453-AB4C-87B7-87F62DC06BCF}"/>
              </a:ext>
            </a:extLst>
          </p:cNvPr>
          <p:cNvSpPr>
            <a:spLocks noGrp="1"/>
          </p:cNvSpPr>
          <p:nvPr>
            <p:ph type="sldNum" sz="quarter" idx="12"/>
          </p:nvPr>
        </p:nvSpPr>
        <p:spPr/>
        <p:txBody>
          <a:bodyPr/>
          <a:lstStyle/>
          <a:p>
            <a:fld id="{9E260BC5-5BF3-8746-862B-DC45E9CAA88B}" type="slidenum">
              <a:rPr lang="en-US" smtClean="0"/>
              <a:pPr/>
              <a:t>6</a:t>
            </a:fld>
            <a:r>
              <a:rPr lang="en-US" altLang="zh-CN" dirty="0"/>
              <a:t>/12</a:t>
            </a:r>
            <a:endParaRPr lang="en-US" dirty="0"/>
          </a:p>
        </p:txBody>
      </p:sp>
      <p:pic>
        <p:nvPicPr>
          <p:cNvPr id="6" name="Picture 7">
            <a:extLst>
              <a:ext uri="{FF2B5EF4-FFF2-40B4-BE49-F238E27FC236}">
                <a16:creationId xmlns:a16="http://schemas.microsoft.com/office/drawing/2014/main" id="{6E176824-91AE-8D2B-5D06-2E3D941F9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182" y="1943101"/>
            <a:ext cx="4102100"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0">
            <a:extLst>
              <a:ext uri="{FF2B5EF4-FFF2-40B4-BE49-F238E27FC236}">
                <a16:creationId xmlns:a16="http://schemas.microsoft.com/office/drawing/2014/main" id="{5D6F524D-AEF6-4E33-DF1D-E3ABB04FBA54}"/>
              </a:ext>
            </a:extLst>
          </p:cNvPr>
          <p:cNvSpPr txBox="1">
            <a:spLocks noChangeArrowheads="1"/>
          </p:cNvSpPr>
          <p:nvPr/>
        </p:nvSpPr>
        <p:spPr bwMode="auto">
          <a:xfrm>
            <a:off x="5143182" y="5346701"/>
            <a:ext cx="4068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b="0">
                <a:latin typeface="Times New Roman" panose="02020603050405020304" pitchFamily="18" charset="0"/>
              </a:rPr>
              <a:t>增强型</a:t>
            </a:r>
            <a:r>
              <a:rPr kumimoji="1" lang="en-US" altLang="zh-CN" sz="2400" b="0">
                <a:latin typeface="Times New Roman" panose="02020603050405020304" pitchFamily="18" charset="0"/>
              </a:rPr>
              <a:t>N</a:t>
            </a:r>
            <a:r>
              <a:rPr lang="en-US" altLang="zh-CN" sz="2400" b="0">
                <a:latin typeface="Times New Roman" panose="02020603050405020304" pitchFamily="18" charset="0"/>
              </a:rPr>
              <a:t>MOS</a:t>
            </a:r>
            <a:r>
              <a:rPr lang="zh-CN" altLang="en-US" sz="2400" b="0">
                <a:latin typeface="Times New Roman" panose="02020603050405020304" pitchFamily="18" charset="0"/>
              </a:rPr>
              <a:t>管剖面图</a:t>
            </a:r>
            <a:endParaRPr lang="en-US" altLang="zh-CN" sz="2400" b="0">
              <a:latin typeface="Times New Roman" panose="02020603050405020304" pitchFamily="18" charset="0"/>
            </a:endParaRPr>
          </a:p>
        </p:txBody>
      </p:sp>
      <p:sp>
        <p:nvSpPr>
          <p:cNvPr id="8" name="Rectangle 11">
            <a:extLst>
              <a:ext uri="{FF2B5EF4-FFF2-40B4-BE49-F238E27FC236}">
                <a16:creationId xmlns:a16="http://schemas.microsoft.com/office/drawing/2014/main" id="{F38463A3-DD79-215C-8A29-6EAC431A8848}"/>
              </a:ext>
            </a:extLst>
          </p:cNvPr>
          <p:cNvSpPr>
            <a:spLocks noChangeArrowheads="1"/>
          </p:cNvSpPr>
          <p:nvPr/>
        </p:nvSpPr>
        <p:spPr bwMode="auto">
          <a:xfrm>
            <a:off x="32068" y="3419475"/>
            <a:ext cx="38385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lvl="1">
              <a:buFontTx/>
              <a:buNone/>
            </a:pPr>
            <a:r>
              <a:rPr lang="en-US" altLang="zh-CN" sz="2400"/>
              <a:t>N</a:t>
            </a:r>
            <a:r>
              <a:rPr lang="zh-CN" altLang="en-US" sz="2400"/>
              <a:t>沟道</a:t>
            </a:r>
            <a:r>
              <a:rPr lang="en-US" altLang="zh-CN" sz="2400"/>
              <a:t>: </a:t>
            </a:r>
            <a:r>
              <a:rPr kumimoji="1" lang="zh-CN" altLang="en-US" sz="2400"/>
              <a:t>增强型、</a:t>
            </a:r>
            <a:r>
              <a:rPr kumimoji="1" lang="zh-CN" altLang="en-US" sz="2400">
                <a:sym typeface="Symbol" panose="05050102010706020507" pitchFamily="18" charset="2"/>
              </a:rPr>
              <a:t>耗尽型</a:t>
            </a:r>
            <a:endParaRPr lang="zh-CN" altLang="en-US" sz="2400"/>
          </a:p>
        </p:txBody>
      </p:sp>
      <p:grpSp>
        <p:nvGrpSpPr>
          <p:cNvPr id="9" name="Group 85">
            <a:extLst>
              <a:ext uri="{FF2B5EF4-FFF2-40B4-BE49-F238E27FC236}">
                <a16:creationId xmlns:a16="http://schemas.microsoft.com/office/drawing/2014/main" id="{FF56FCBF-5DFF-F565-151B-FD401E59387E}"/>
              </a:ext>
            </a:extLst>
          </p:cNvPr>
          <p:cNvGrpSpPr>
            <a:grpSpLocks/>
          </p:cNvGrpSpPr>
          <p:nvPr/>
        </p:nvGrpSpPr>
        <p:grpSpPr bwMode="auto">
          <a:xfrm>
            <a:off x="659130" y="1798638"/>
            <a:ext cx="1211263" cy="1552575"/>
            <a:chOff x="676" y="1457"/>
            <a:chExt cx="763" cy="978"/>
          </a:xfrm>
        </p:grpSpPr>
        <p:sp>
          <p:nvSpPr>
            <p:cNvPr id="10" name="Line 12">
              <a:extLst>
                <a:ext uri="{FF2B5EF4-FFF2-40B4-BE49-F238E27FC236}">
                  <a16:creationId xmlns:a16="http://schemas.microsoft.com/office/drawing/2014/main" id="{03D1772C-C569-2339-642B-F79E50A4CCF4}"/>
                </a:ext>
              </a:extLst>
            </p:cNvPr>
            <p:cNvSpPr>
              <a:spLocks noChangeShapeType="1"/>
            </p:cNvSpPr>
            <p:nvPr/>
          </p:nvSpPr>
          <p:spPr bwMode="auto">
            <a:xfrm>
              <a:off x="1035" y="1774"/>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 name="Line 13">
              <a:extLst>
                <a:ext uri="{FF2B5EF4-FFF2-40B4-BE49-F238E27FC236}">
                  <a16:creationId xmlns:a16="http://schemas.microsoft.com/office/drawing/2014/main" id="{7C69B87B-52ED-2F08-A87C-2F5E702E2592}"/>
                </a:ext>
              </a:extLst>
            </p:cNvPr>
            <p:cNvSpPr>
              <a:spLocks noChangeShapeType="1"/>
            </p:cNvSpPr>
            <p:nvPr/>
          </p:nvSpPr>
          <p:spPr bwMode="auto">
            <a:xfrm>
              <a:off x="1035" y="1910"/>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2" name="Line 14">
              <a:extLst>
                <a:ext uri="{FF2B5EF4-FFF2-40B4-BE49-F238E27FC236}">
                  <a16:creationId xmlns:a16="http://schemas.microsoft.com/office/drawing/2014/main" id="{8A56EDEE-CDD9-E444-99A7-32F0E5D8FBA9}"/>
                </a:ext>
              </a:extLst>
            </p:cNvPr>
            <p:cNvSpPr>
              <a:spLocks noChangeShapeType="1"/>
            </p:cNvSpPr>
            <p:nvPr/>
          </p:nvSpPr>
          <p:spPr bwMode="auto">
            <a:xfrm>
              <a:off x="1035" y="2046"/>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3" name="Line 15">
              <a:extLst>
                <a:ext uri="{FF2B5EF4-FFF2-40B4-BE49-F238E27FC236}">
                  <a16:creationId xmlns:a16="http://schemas.microsoft.com/office/drawing/2014/main" id="{AD2CCE6D-ED92-F59D-58F2-0B49D2CB6BE8}"/>
                </a:ext>
              </a:extLst>
            </p:cNvPr>
            <p:cNvSpPr>
              <a:spLocks noChangeShapeType="1"/>
            </p:cNvSpPr>
            <p:nvPr/>
          </p:nvSpPr>
          <p:spPr bwMode="auto">
            <a:xfrm>
              <a:off x="1035" y="1956"/>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16">
              <a:extLst>
                <a:ext uri="{FF2B5EF4-FFF2-40B4-BE49-F238E27FC236}">
                  <a16:creationId xmlns:a16="http://schemas.microsoft.com/office/drawing/2014/main" id="{A0EC0D78-D0A9-9764-E4CB-A99C0DD1491E}"/>
                </a:ext>
              </a:extLst>
            </p:cNvPr>
            <p:cNvSpPr>
              <a:spLocks noChangeShapeType="1"/>
            </p:cNvSpPr>
            <p:nvPr/>
          </p:nvSpPr>
          <p:spPr bwMode="auto">
            <a:xfrm>
              <a:off x="944" y="1820"/>
              <a:ext cx="0" cy="2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7">
              <a:extLst>
                <a:ext uri="{FF2B5EF4-FFF2-40B4-BE49-F238E27FC236}">
                  <a16:creationId xmlns:a16="http://schemas.microsoft.com/office/drawing/2014/main" id="{3F00F4EA-6153-9629-15AA-13EA1B649C9B}"/>
                </a:ext>
              </a:extLst>
            </p:cNvPr>
            <p:cNvSpPr>
              <a:spLocks noChangeShapeType="1"/>
            </p:cNvSpPr>
            <p:nvPr/>
          </p:nvSpPr>
          <p:spPr bwMode="auto">
            <a:xfrm>
              <a:off x="1035" y="1820"/>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8">
              <a:extLst>
                <a:ext uri="{FF2B5EF4-FFF2-40B4-BE49-F238E27FC236}">
                  <a16:creationId xmlns:a16="http://schemas.microsoft.com/office/drawing/2014/main" id="{17D95B8A-423A-256D-B7F7-292F6BECE417}"/>
                </a:ext>
              </a:extLst>
            </p:cNvPr>
            <p:cNvSpPr>
              <a:spLocks noChangeShapeType="1"/>
            </p:cNvSpPr>
            <p:nvPr/>
          </p:nvSpPr>
          <p:spPr bwMode="auto">
            <a:xfrm>
              <a:off x="1035" y="2092"/>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Line 19">
              <a:extLst>
                <a:ext uri="{FF2B5EF4-FFF2-40B4-BE49-F238E27FC236}">
                  <a16:creationId xmlns:a16="http://schemas.microsoft.com/office/drawing/2014/main" id="{5D6FC27E-130D-69F0-EF70-46721475E9FC}"/>
                </a:ext>
              </a:extLst>
            </p:cNvPr>
            <p:cNvSpPr>
              <a:spLocks noChangeShapeType="1"/>
            </p:cNvSpPr>
            <p:nvPr/>
          </p:nvSpPr>
          <p:spPr bwMode="auto">
            <a:xfrm>
              <a:off x="1035" y="1956"/>
              <a:ext cx="230" cy="0"/>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Line 20">
              <a:extLst>
                <a:ext uri="{FF2B5EF4-FFF2-40B4-BE49-F238E27FC236}">
                  <a16:creationId xmlns:a16="http://schemas.microsoft.com/office/drawing/2014/main" id="{5EF7DEA7-0982-16B8-666C-A0468E1F60C1}"/>
                </a:ext>
              </a:extLst>
            </p:cNvPr>
            <p:cNvSpPr>
              <a:spLocks noChangeShapeType="1"/>
            </p:cNvSpPr>
            <p:nvPr/>
          </p:nvSpPr>
          <p:spPr bwMode="auto">
            <a:xfrm>
              <a:off x="766" y="2092"/>
              <a:ext cx="18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 name="Line 21">
              <a:extLst>
                <a:ext uri="{FF2B5EF4-FFF2-40B4-BE49-F238E27FC236}">
                  <a16:creationId xmlns:a16="http://schemas.microsoft.com/office/drawing/2014/main" id="{CAE53125-259A-B681-209E-5AF87490B8F0}"/>
                </a:ext>
              </a:extLst>
            </p:cNvPr>
            <p:cNvSpPr>
              <a:spLocks noChangeShapeType="1"/>
            </p:cNvSpPr>
            <p:nvPr/>
          </p:nvSpPr>
          <p:spPr bwMode="auto">
            <a:xfrm>
              <a:off x="1171" y="2092"/>
              <a:ext cx="0"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Line 22">
              <a:extLst>
                <a:ext uri="{FF2B5EF4-FFF2-40B4-BE49-F238E27FC236}">
                  <a16:creationId xmlns:a16="http://schemas.microsoft.com/office/drawing/2014/main" id="{A1181032-E78A-38E5-3AE2-74AAFB4E269F}"/>
                </a:ext>
              </a:extLst>
            </p:cNvPr>
            <p:cNvSpPr>
              <a:spLocks noChangeShapeType="1"/>
            </p:cNvSpPr>
            <p:nvPr/>
          </p:nvSpPr>
          <p:spPr bwMode="auto">
            <a:xfrm>
              <a:off x="1174" y="1616"/>
              <a:ext cx="0"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 name="Oval 23">
              <a:extLst>
                <a:ext uri="{FF2B5EF4-FFF2-40B4-BE49-F238E27FC236}">
                  <a16:creationId xmlns:a16="http://schemas.microsoft.com/office/drawing/2014/main" id="{F0A3A795-22D4-4748-CF18-942DA6E37B7B}"/>
                </a:ext>
              </a:extLst>
            </p:cNvPr>
            <p:cNvSpPr>
              <a:spLocks noChangeArrowheads="1"/>
            </p:cNvSpPr>
            <p:nvPr/>
          </p:nvSpPr>
          <p:spPr bwMode="auto">
            <a:xfrm>
              <a:off x="676" y="2046"/>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2" name="Rectangle 24">
              <a:extLst>
                <a:ext uri="{FF2B5EF4-FFF2-40B4-BE49-F238E27FC236}">
                  <a16:creationId xmlns:a16="http://schemas.microsoft.com/office/drawing/2014/main" id="{6AD0ED42-4579-36C6-4A84-9C4226CA9DE8}"/>
                </a:ext>
              </a:extLst>
            </p:cNvPr>
            <p:cNvSpPr>
              <a:spLocks noChangeArrowheads="1"/>
            </p:cNvSpPr>
            <p:nvPr/>
          </p:nvSpPr>
          <p:spPr bwMode="auto">
            <a:xfrm flipH="1">
              <a:off x="677" y="1774"/>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g</a:t>
              </a:r>
            </a:p>
          </p:txBody>
        </p:sp>
        <p:sp>
          <p:nvSpPr>
            <p:cNvPr id="23" name="Oval 25">
              <a:extLst>
                <a:ext uri="{FF2B5EF4-FFF2-40B4-BE49-F238E27FC236}">
                  <a16:creationId xmlns:a16="http://schemas.microsoft.com/office/drawing/2014/main" id="{30656F17-7CFE-10CE-FD00-7369837F70D8}"/>
                </a:ext>
              </a:extLst>
            </p:cNvPr>
            <p:cNvSpPr>
              <a:spLocks noChangeArrowheads="1"/>
            </p:cNvSpPr>
            <p:nvPr/>
          </p:nvSpPr>
          <p:spPr bwMode="auto">
            <a:xfrm>
              <a:off x="1129" y="2296"/>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4" name="Rectangle 26">
              <a:extLst>
                <a:ext uri="{FF2B5EF4-FFF2-40B4-BE49-F238E27FC236}">
                  <a16:creationId xmlns:a16="http://schemas.microsoft.com/office/drawing/2014/main" id="{DD4B0084-5428-6119-0D30-171643592316}"/>
                </a:ext>
              </a:extLst>
            </p:cNvPr>
            <p:cNvSpPr>
              <a:spLocks noChangeArrowheads="1"/>
            </p:cNvSpPr>
            <p:nvPr/>
          </p:nvSpPr>
          <p:spPr bwMode="auto">
            <a:xfrm flipH="1">
              <a:off x="1272" y="2205"/>
              <a:ext cx="7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s</a:t>
              </a:r>
            </a:p>
          </p:txBody>
        </p:sp>
        <p:sp>
          <p:nvSpPr>
            <p:cNvPr id="25" name="Oval 27">
              <a:extLst>
                <a:ext uri="{FF2B5EF4-FFF2-40B4-BE49-F238E27FC236}">
                  <a16:creationId xmlns:a16="http://schemas.microsoft.com/office/drawing/2014/main" id="{4D3391E8-B16C-DC5F-E964-B6075A8E5E77}"/>
                </a:ext>
              </a:extLst>
            </p:cNvPr>
            <p:cNvSpPr>
              <a:spLocks noChangeArrowheads="1"/>
            </p:cNvSpPr>
            <p:nvPr/>
          </p:nvSpPr>
          <p:spPr bwMode="auto">
            <a:xfrm>
              <a:off x="1129" y="1548"/>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Rectangle 28">
              <a:extLst>
                <a:ext uri="{FF2B5EF4-FFF2-40B4-BE49-F238E27FC236}">
                  <a16:creationId xmlns:a16="http://schemas.microsoft.com/office/drawing/2014/main" id="{0180422D-7503-7068-FECA-3854CE52D8D7}"/>
                </a:ext>
              </a:extLst>
            </p:cNvPr>
            <p:cNvSpPr>
              <a:spLocks noChangeArrowheads="1"/>
            </p:cNvSpPr>
            <p:nvPr/>
          </p:nvSpPr>
          <p:spPr bwMode="auto">
            <a:xfrm flipH="1">
              <a:off x="1273" y="1457"/>
              <a:ext cx="10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d</a:t>
              </a:r>
            </a:p>
          </p:txBody>
        </p:sp>
        <p:sp>
          <p:nvSpPr>
            <p:cNvPr id="27" name="Rectangle 29">
              <a:extLst>
                <a:ext uri="{FF2B5EF4-FFF2-40B4-BE49-F238E27FC236}">
                  <a16:creationId xmlns:a16="http://schemas.microsoft.com/office/drawing/2014/main" id="{B0A5151D-8588-EB47-D669-156754DBB513}"/>
                </a:ext>
              </a:extLst>
            </p:cNvPr>
            <p:cNvSpPr>
              <a:spLocks noChangeArrowheads="1"/>
            </p:cNvSpPr>
            <p:nvPr/>
          </p:nvSpPr>
          <p:spPr bwMode="auto">
            <a:xfrm flipH="1">
              <a:off x="1311" y="1839"/>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B</a:t>
              </a:r>
            </a:p>
          </p:txBody>
        </p:sp>
      </p:grpSp>
      <p:grpSp>
        <p:nvGrpSpPr>
          <p:cNvPr id="28" name="Group 86">
            <a:extLst>
              <a:ext uri="{FF2B5EF4-FFF2-40B4-BE49-F238E27FC236}">
                <a16:creationId xmlns:a16="http://schemas.microsoft.com/office/drawing/2014/main" id="{7CD5B7EA-CB03-A65B-C07F-5D27358DC96F}"/>
              </a:ext>
            </a:extLst>
          </p:cNvPr>
          <p:cNvGrpSpPr>
            <a:grpSpLocks/>
          </p:cNvGrpSpPr>
          <p:nvPr/>
        </p:nvGrpSpPr>
        <p:grpSpPr bwMode="auto">
          <a:xfrm>
            <a:off x="2392680" y="1798638"/>
            <a:ext cx="1211263" cy="1552575"/>
            <a:chOff x="1768" y="1457"/>
            <a:chExt cx="763" cy="978"/>
          </a:xfrm>
        </p:grpSpPr>
        <p:sp>
          <p:nvSpPr>
            <p:cNvPr id="29" name="Line 30">
              <a:extLst>
                <a:ext uri="{FF2B5EF4-FFF2-40B4-BE49-F238E27FC236}">
                  <a16:creationId xmlns:a16="http://schemas.microsoft.com/office/drawing/2014/main" id="{55EF7D4E-259C-00AF-DC78-751B08F3D8D4}"/>
                </a:ext>
              </a:extLst>
            </p:cNvPr>
            <p:cNvSpPr>
              <a:spLocks noChangeShapeType="1"/>
            </p:cNvSpPr>
            <p:nvPr/>
          </p:nvSpPr>
          <p:spPr bwMode="auto">
            <a:xfrm>
              <a:off x="2127" y="1774"/>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0" name="Line 31">
              <a:extLst>
                <a:ext uri="{FF2B5EF4-FFF2-40B4-BE49-F238E27FC236}">
                  <a16:creationId xmlns:a16="http://schemas.microsoft.com/office/drawing/2014/main" id="{20F37865-EE1B-8C16-CEF5-A1BA85BE0A5E}"/>
                </a:ext>
              </a:extLst>
            </p:cNvPr>
            <p:cNvSpPr>
              <a:spLocks noChangeShapeType="1"/>
            </p:cNvSpPr>
            <p:nvPr/>
          </p:nvSpPr>
          <p:spPr bwMode="auto">
            <a:xfrm>
              <a:off x="2127" y="1820"/>
              <a:ext cx="0" cy="2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1" name="Line 32">
              <a:extLst>
                <a:ext uri="{FF2B5EF4-FFF2-40B4-BE49-F238E27FC236}">
                  <a16:creationId xmlns:a16="http://schemas.microsoft.com/office/drawing/2014/main" id="{8395E97E-C115-1E4C-2747-42322ABE56CD}"/>
                </a:ext>
              </a:extLst>
            </p:cNvPr>
            <p:cNvSpPr>
              <a:spLocks noChangeShapeType="1"/>
            </p:cNvSpPr>
            <p:nvPr/>
          </p:nvSpPr>
          <p:spPr bwMode="auto">
            <a:xfrm>
              <a:off x="2127" y="2046"/>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2" name="Line 33">
              <a:extLst>
                <a:ext uri="{FF2B5EF4-FFF2-40B4-BE49-F238E27FC236}">
                  <a16:creationId xmlns:a16="http://schemas.microsoft.com/office/drawing/2014/main" id="{87F0E637-666F-1D99-0175-92571F0AF80A}"/>
                </a:ext>
              </a:extLst>
            </p:cNvPr>
            <p:cNvSpPr>
              <a:spLocks noChangeShapeType="1"/>
            </p:cNvSpPr>
            <p:nvPr/>
          </p:nvSpPr>
          <p:spPr bwMode="auto">
            <a:xfrm>
              <a:off x="2127" y="1956"/>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3" name="Line 34">
              <a:extLst>
                <a:ext uri="{FF2B5EF4-FFF2-40B4-BE49-F238E27FC236}">
                  <a16:creationId xmlns:a16="http://schemas.microsoft.com/office/drawing/2014/main" id="{DFF05FF0-221C-1346-4A1E-9ABB4D2F47ED}"/>
                </a:ext>
              </a:extLst>
            </p:cNvPr>
            <p:cNvSpPr>
              <a:spLocks noChangeShapeType="1"/>
            </p:cNvSpPr>
            <p:nvPr/>
          </p:nvSpPr>
          <p:spPr bwMode="auto">
            <a:xfrm>
              <a:off x="2036" y="1820"/>
              <a:ext cx="0" cy="2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 name="Line 35">
              <a:extLst>
                <a:ext uri="{FF2B5EF4-FFF2-40B4-BE49-F238E27FC236}">
                  <a16:creationId xmlns:a16="http://schemas.microsoft.com/office/drawing/2014/main" id="{56EAF775-8012-EA35-ACAE-98BD660E9CCE}"/>
                </a:ext>
              </a:extLst>
            </p:cNvPr>
            <p:cNvSpPr>
              <a:spLocks noChangeShapeType="1"/>
            </p:cNvSpPr>
            <p:nvPr/>
          </p:nvSpPr>
          <p:spPr bwMode="auto">
            <a:xfrm>
              <a:off x="2127" y="1820"/>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 name="Line 36">
              <a:extLst>
                <a:ext uri="{FF2B5EF4-FFF2-40B4-BE49-F238E27FC236}">
                  <a16:creationId xmlns:a16="http://schemas.microsoft.com/office/drawing/2014/main" id="{A31C2954-9262-FDEC-225C-D5486F78D6A7}"/>
                </a:ext>
              </a:extLst>
            </p:cNvPr>
            <p:cNvSpPr>
              <a:spLocks noChangeShapeType="1"/>
            </p:cNvSpPr>
            <p:nvPr/>
          </p:nvSpPr>
          <p:spPr bwMode="auto">
            <a:xfrm>
              <a:off x="2127" y="2092"/>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6" name="Line 37">
              <a:extLst>
                <a:ext uri="{FF2B5EF4-FFF2-40B4-BE49-F238E27FC236}">
                  <a16:creationId xmlns:a16="http://schemas.microsoft.com/office/drawing/2014/main" id="{FEA8E3B9-EA56-A4E4-BF88-93AE012FA073}"/>
                </a:ext>
              </a:extLst>
            </p:cNvPr>
            <p:cNvSpPr>
              <a:spLocks noChangeShapeType="1"/>
            </p:cNvSpPr>
            <p:nvPr/>
          </p:nvSpPr>
          <p:spPr bwMode="auto">
            <a:xfrm>
              <a:off x="2127" y="1956"/>
              <a:ext cx="230" cy="0"/>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7" name="Line 38">
              <a:extLst>
                <a:ext uri="{FF2B5EF4-FFF2-40B4-BE49-F238E27FC236}">
                  <a16:creationId xmlns:a16="http://schemas.microsoft.com/office/drawing/2014/main" id="{CA2B080E-6BB6-D0AD-0B4D-07FD43847846}"/>
                </a:ext>
              </a:extLst>
            </p:cNvPr>
            <p:cNvSpPr>
              <a:spLocks noChangeShapeType="1"/>
            </p:cNvSpPr>
            <p:nvPr/>
          </p:nvSpPr>
          <p:spPr bwMode="auto">
            <a:xfrm>
              <a:off x="1858" y="2092"/>
              <a:ext cx="18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8" name="Line 39">
              <a:extLst>
                <a:ext uri="{FF2B5EF4-FFF2-40B4-BE49-F238E27FC236}">
                  <a16:creationId xmlns:a16="http://schemas.microsoft.com/office/drawing/2014/main" id="{FA6DF89D-C052-4B51-B112-A6EBFAF3878C}"/>
                </a:ext>
              </a:extLst>
            </p:cNvPr>
            <p:cNvSpPr>
              <a:spLocks noChangeShapeType="1"/>
            </p:cNvSpPr>
            <p:nvPr/>
          </p:nvSpPr>
          <p:spPr bwMode="auto">
            <a:xfrm>
              <a:off x="2263" y="2092"/>
              <a:ext cx="0"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9" name="Line 40">
              <a:extLst>
                <a:ext uri="{FF2B5EF4-FFF2-40B4-BE49-F238E27FC236}">
                  <a16:creationId xmlns:a16="http://schemas.microsoft.com/office/drawing/2014/main" id="{62CF78F5-4BF1-CAAF-3F6D-0C753D30F2A5}"/>
                </a:ext>
              </a:extLst>
            </p:cNvPr>
            <p:cNvSpPr>
              <a:spLocks noChangeShapeType="1"/>
            </p:cNvSpPr>
            <p:nvPr/>
          </p:nvSpPr>
          <p:spPr bwMode="auto">
            <a:xfrm>
              <a:off x="2266" y="1616"/>
              <a:ext cx="0"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0" name="Oval 41">
              <a:extLst>
                <a:ext uri="{FF2B5EF4-FFF2-40B4-BE49-F238E27FC236}">
                  <a16:creationId xmlns:a16="http://schemas.microsoft.com/office/drawing/2014/main" id="{B2944CC0-8071-69BC-0DA2-7BFDE11CF6BC}"/>
                </a:ext>
              </a:extLst>
            </p:cNvPr>
            <p:cNvSpPr>
              <a:spLocks noChangeArrowheads="1"/>
            </p:cNvSpPr>
            <p:nvPr/>
          </p:nvSpPr>
          <p:spPr bwMode="auto">
            <a:xfrm>
              <a:off x="1768" y="2046"/>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1" name="Rectangle 42">
              <a:extLst>
                <a:ext uri="{FF2B5EF4-FFF2-40B4-BE49-F238E27FC236}">
                  <a16:creationId xmlns:a16="http://schemas.microsoft.com/office/drawing/2014/main" id="{226156BB-5B5F-DBB2-D61A-D7F053839B2C}"/>
                </a:ext>
              </a:extLst>
            </p:cNvPr>
            <p:cNvSpPr>
              <a:spLocks noChangeArrowheads="1"/>
            </p:cNvSpPr>
            <p:nvPr/>
          </p:nvSpPr>
          <p:spPr bwMode="auto">
            <a:xfrm flipH="1">
              <a:off x="1769" y="1774"/>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g</a:t>
              </a:r>
            </a:p>
          </p:txBody>
        </p:sp>
        <p:sp>
          <p:nvSpPr>
            <p:cNvPr id="42" name="Oval 43">
              <a:extLst>
                <a:ext uri="{FF2B5EF4-FFF2-40B4-BE49-F238E27FC236}">
                  <a16:creationId xmlns:a16="http://schemas.microsoft.com/office/drawing/2014/main" id="{532AB8BE-92EB-6CC3-86C5-BF3F99DBA50C}"/>
                </a:ext>
              </a:extLst>
            </p:cNvPr>
            <p:cNvSpPr>
              <a:spLocks noChangeArrowheads="1"/>
            </p:cNvSpPr>
            <p:nvPr/>
          </p:nvSpPr>
          <p:spPr bwMode="auto">
            <a:xfrm>
              <a:off x="2221" y="2296"/>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3" name="Rectangle 44">
              <a:extLst>
                <a:ext uri="{FF2B5EF4-FFF2-40B4-BE49-F238E27FC236}">
                  <a16:creationId xmlns:a16="http://schemas.microsoft.com/office/drawing/2014/main" id="{40E74957-B4BD-A079-DD75-DAB0E65A2601}"/>
                </a:ext>
              </a:extLst>
            </p:cNvPr>
            <p:cNvSpPr>
              <a:spLocks noChangeArrowheads="1"/>
            </p:cNvSpPr>
            <p:nvPr/>
          </p:nvSpPr>
          <p:spPr bwMode="auto">
            <a:xfrm flipH="1">
              <a:off x="2364" y="2205"/>
              <a:ext cx="7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s</a:t>
              </a:r>
            </a:p>
          </p:txBody>
        </p:sp>
        <p:sp>
          <p:nvSpPr>
            <p:cNvPr id="44" name="Oval 45">
              <a:extLst>
                <a:ext uri="{FF2B5EF4-FFF2-40B4-BE49-F238E27FC236}">
                  <a16:creationId xmlns:a16="http://schemas.microsoft.com/office/drawing/2014/main" id="{9D34E7CE-D263-A125-C1C6-9BC46FF1D974}"/>
                </a:ext>
              </a:extLst>
            </p:cNvPr>
            <p:cNvSpPr>
              <a:spLocks noChangeArrowheads="1"/>
            </p:cNvSpPr>
            <p:nvPr/>
          </p:nvSpPr>
          <p:spPr bwMode="auto">
            <a:xfrm>
              <a:off x="2221" y="1548"/>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5" name="Rectangle 46">
              <a:extLst>
                <a:ext uri="{FF2B5EF4-FFF2-40B4-BE49-F238E27FC236}">
                  <a16:creationId xmlns:a16="http://schemas.microsoft.com/office/drawing/2014/main" id="{74E528CB-248A-EBA8-2684-5083079DB01A}"/>
                </a:ext>
              </a:extLst>
            </p:cNvPr>
            <p:cNvSpPr>
              <a:spLocks noChangeArrowheads="1"/>
            </p:cNvSpPr>
            <p:nvPr/>
          </p:nvSpPr>
          <p:spPr bwMode="auto">
            <a:xfrm flipH="1">
              <a:off x="2365" y="1457"/>
              <a:ext cx="10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d</a:t>
              </a:r>
            </a:p>
          </p:txBody>
        </p:sp>
        <p:sp>
          <p:nvSpPr>
            <p:cNvPr id="46" name="Rectangle 47">
              <a:extLst>
                <a:ext uri="{FF2B5EF4-FFF2-40B4-BE49-F238E27FC236}">
                  <a16:creationId xmlns:a16="http://schemas.microsoft.com/office/drawing/2014/main" id="{637AEA6F-3404-664F-ACFC-3689E762B1AF}"/>
                </a:ext>
              </a:extLst>
            </p:cNvPr>
            <p:cNvSpPr>
              <a:spLocks noChangeArrowheads="1"/>
            </p:cNvSpPr>
            <p:nvPr/>
          </p:nvSpPr>
          <p:spPr bwMode="auto">
            <a:xfrm flipH="1">
              <a:off x="2403" y="1839"/>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B</a:t>
              </a:r>
            </a:p>
          </p:txBody>
        </p:sp>
      </p:grpSp>
      <p:grpSp>
        <p:nvGrpSpPr>
          <p:cNvPr id="47" name="Group 87">
            <a:extLst>
              <a:ext uri="{FF2B5EF4-FFF2-40B4-BE49-F238E27FC236}">
                <a16:creationId xmlns:a16="http://schemas.microsoft.com/office/drawing/2014/main" id="{55B6EED5-60DF-3989-E56F-2D8DD1B4940A}"/>
              </a:ext>
            </a:extLst>
          </p:cNvPr>
          <p:cNvGrpSpPr>
            <a:grpSpLocks/>
          </p:cNvGrpSpPr>
          <p:nvPr/>
        </p:nvGrpSpPr>
        <p:grpSpPr bwMode="auto">
          <a:xfrm>
            <a:off x="630555" y="3814763"/>
            <a:ext cx="1211263" cy="1552575"/>
            <a:chOff x="658" y="2727"/>
            <a:chExt cx="763" cy="978"/>
          </a:xfrm>
        </p:grpSpPr>
        <p:sp>
          <p:nvSpPr>
            <p:cNvPr id="48" name="Line 48">
              <a:extLst>
                <a:ext uri="{FF2B5EF4-FFF2-40B4-BE49-F238E27FC236}">
                  <a16:creationId xmlns:a16="http://schemas.microsoft.com/office/drawing/2014/main" id="{32E0428A-0689-EFA6-86EF-D73D1C65351F}"/>
                </a:ext>
              </a:extLst>
            </p:cNvPr>
            <p:cNvSpPr>
              <a:spLocks noChangeShapeType="1"/>
            </p:cNvSpPr>
            <p:nvPr/>
          </p:nvSpPr>
          <p:spPr bwMode="auto">
            <a:xfrm>
              <a:off x="1017" y="3044"/>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9" name="Line 49">
              <a:extLst>
                <a:ext uri="{FF2B5EF4-FFF2-40B4-BE49-F238E27FC236}">
                  <a16:creationId xmlns:a16="http://schemas.microsoft.com/office/drawing/2014/main" id="{D8A96888-6788-C8BC-5CDE-28E1AB1EB722}"/>
                </a:ext>
              </a:extLst>
            </p:cNvPr>
            <p:cNvSpPr>
              <a:spLocks noChangeShapeType="1"/>
            </p:cNvSpPr>
            <p:nvPr/>
          </p:nvSpPr>
          <p:spPr bwMode="auto">
            <a:xfrm>
              <a:off x="1017" y="3180"/>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0" name="Line 50">
              <a:extLst>
                <a:ext uri="{FF2B5EF4-FFF2-40B4-BE49-F238E27FC236}">
                  <a16:creationId xmlns:a16="http://schemas.microsoft.com/office/drawing/2014/main" id="{262BF8BA-DD67-613C-24E5-6CD7F8173ED9}"/>
                </a:ext>
              </a:extLst>
            </p:cNvPr>
            <p:cNvSpPr>
              <a:spLocks noChangeShapeType="1"/>
            </p:cNvSpPr>
            <p:nvPr/>
          </p:nvSpPr>
          <p:spPr bwMode="auto">
            <a:xfrm>
              <a:off x="1017" y="3316"/>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1" name="Line 51">
              <a:extLst>
                <a:ext uri="{FF2B5EF4-FFF2-40B4-BE49-F238E27FC236}">
                  <a16:creationId xmlns:a16="http://schemas.microsoft.com/office/drawing/2014/main" id="{12187D72-1670-42CC-73B4-ACEABD514D40}"/>
                </a:ext>
              </a:extLst>
            </p:cNvPr>
            <p:cNvSpPr>
              <a:spLocks noChangeShapeType="1"/>
            </p:cNvSpPr>
            <p:nvPr/>
          </p:nvSpPr>
          <p:spPr bwMode="auto">
            <a:xfrm>
              <a:off x="1017" y="3226"/>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2" name="Line 52">
              <a:extLst>
                <a:ext uri="{FF2B5EF4-FFF2-40B4-BE49-F238E27FC236}">
                  <a16:creationId xmlns:a16="http://schemas.microsoft.com/office/drawing/2014/main" id="{92DF6171-54EE-2744-7CB8-120DF9292927}"/>
                </a:ext>
              </a:extLst>
            </p:cNvPr>
            <p:cNvSpPr>
              <a:spLocks noChangeShapeType="1"/>
            </p:cNvSpPr>
            <p:nvPr/>
          </p:nvSpPr>
          <p:spPr bwMode="auto">
            <a:xfrm>
              <a:off x="926" y="3090"/>
              <a:ext cx="0" cy="2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3" name="Line 53">
              <a:extLst>
                <a:ext uri="{FF2B5EF4-FFF2-40B4-BE49-F238E27FC236}">
                  <a16:creationId xmlns:a16="http://schemas.microsoft.com/office/drawing/2014/main" id="{1B743AD4-E85D-E8A0-0A44-6CE3AC0C2718}"/>
                </a:ext>
              </a:extLst>
            </p:cNvPr>
            <p:cNvSpPr>
              <a:spLocks noChangeShapeType="1"/>
            </p:cNvSpPr>
            <p:nvPr/>
          </p:nvSpPr>
          <p:spPr bwMode="auto">
            <a:xfrm>
              <a:off x="1017" y="3090"/>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4" name="Line 54">
              <a:extLst>
                <a:ext uri="{FF2B5EF4-FFF2-40B4-BE49-F238E27FC236}">
                  <a16:creationId xmlns:a16="http://schemas.microsoft.com/office/drawing/2014/main" id="{3FA7DE6C-3D75-A066-3F5E-0D4B488F186C}"/>
                </a:ext>
              </a:extLst>
            </p:cNvPr>
            <p:cNvSpPr>
              <a:spLocks noChangeShapeType="1"/>
            </p:cNvSpPr>
            <p:nvPr/>
          </p:nvSpPr>
          <p:spPr bwMode="auto">
            <a:xfrm>
              <a:off x="1017" y="3362"/>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 name="Line 55">
              <a:extLst>
                <a:ext uri="{FF2B5EF4-FFF2-40B4-BE49-F238E27FC236}">
                  <a16:creationId xmlns:a16="http://schemas.microsoft.com/office/drawing/2014/main" id="{B758C315-6927-9894-BC60-8BC60CB88A13}"/>
                </a:ext>
              </a:extLst>
            </p:cNvPr>
            <p:cNvSpPr>
              <a:spLocks noChangeShapeType="1"/>
            </p:cNvSpPr>
            <p:nvPr/>
          </p:nvSpPr>
          <p:spPr bwMode="auto">
            <a:xfrm>
              <a:off x="1017" y="3226"/>
              <a:ext cx="230" cy="0"/>
            </a:xfrm>
            <a:prstGeom prst="line">
              <a:avLst/>
            </a:prstGeom>
            <a:noFill/>
            <a:ln w="28575">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6" name="Line 56">
              <a:extLst>
                <a:ext uri="{FF2B5EF4-FFF2-40B4-BE49-F238E27FC236}">
                  <a16:creationId xmlns:a16="http://schemas.microsoft.com/office/drawing/2014/main" id="{0D7D05EC-6C50-2DE3-477B-552392A380CD}"/>
                </a:ext>
              </a:extLst>
            </p:cNvPr>
            <p:cNvSpPr>
              <a:spLocks noChangeShapeType="1"/>
            </p:cNvSpPr>
            <p:nvPr/>
          </p:nvSpPr>
          <p:spPr bwMode="auto">
            <a:xfrm>
              <a:off x="748" y="3362"/>
              <a:ext cx="18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 name="Line 57">
              <a:extLst>
                <a:ext uri="{FF2B5EF4-FFF2-40B4-BE49-F238E27FC236}">
                  <a16:creationId xmlns:a16="http://schemas.microsoft.com/office/drawing/2014/main" id="{DAAFEE27-8DD8-F573-2A29-B7F5352C4245}"/>
                </a:ext>
              </a:extLst>
            </p:cNvPr>
            <p:cNvSpPr>
              <a:spLocks noChangeShapeType="1"/>
            </p:cNvSpPr>
            <p:nvPr/>
          </p:nvSpPr>
          <p:spPr bwMode="auto">
            <a:xfrm>
              <a:off x="1153" y="3362"/>
              <a:ext cx="0"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 name="Line 58">
              <a:extLst>
                <a:ext uri="{FF2B5EF4-FFF2-40B4-BE49-F238E27FC236}">
                  <a16:creationId xmlns:a16="http://schemas.microsoft.com/office/drawing/2014/main" id="{9A870CEB-058C-FFF5-58C3-E80065F9A652}"/>
                </a:ext>
              </a:extLst>
            </p:cNvPr>
            <p:cNvSpPr>
              <a:spLocks noChangeShapeType="1"/>
            </p:cNvSpPr>
            <p:nvPr/>
          </p:nvSpPr>
          <p:spPr bwMode="auto">
            <a:xfrm>
              <a:off x="1156" y="2886"/>
              <a:ext cx="0"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 name="Oval 59">
              <a:extLst>
                <a:ext uri="{FF2B5EF4-FFF2-40B4-BE49-F238E27FC236}">
                  <a16:creationId xmlns:a16="http://schemas.microsoft.com/office/drawing/2014/main" id="{DC7ADEE9-5CAD-DA14-10E2-579ABC3E2E56}"/>
                </a:ext>
              </a:extLst>
            </p:cNvPr>
            <p:cNvSpPr>
              <a:spLocks noChangeArrowheads="1"/>
            </p:cNvSpPr>
            <p:nvPr/>
          </p:nvSpPr>
          <p:spPr bwMode="auto">
            <a:xfrm>
              <a:off x="658" y="3316"/>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0" name="Rectangle 60">
              <a:extLst>
                <a:ext uri="{FF2B5EF4-FFF2-40B4-BE49-F238E27FC236}">
                  <a16:creationId xmlns:a16="http://schemas.microsoft.com/office/drawing/2014/main" id="{0C123891-6F88-AA48-692F-E57319E43F56}"/>
                </a:ext>
              </a:extLst>
            </p:cNvPr>
            <p:cNvSpPr>
              <a:spLocks noChangeArrowheads="1"/>
            </p:cNvSpPr>
            <p:nvPr/>
          </p:nvSpPr>
          <p:spPr bwMode="auto">
            <a:xfrm flipH="1">
              <a:off x="659" y="3044"/>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g</a:t>
              </a:r>
            </a:p>
          </p:txBody>
        </p:sp>
        <p:sp>
          <p:nvSpPr>
            <p:cNvPr id="61" name="Oval 61">
              <a:extLst>
                <a:ext uri="{FF2B5EF4-FFF2-40B4-BE49-F238E27FC236}">
                  <a16:creationId xmlns:a16="http://schemas.microsoft.com/office/drawing/2014/main" id="{1D0785D9-7C36-DFD6-BCC6-CD98B69C159D}"/>
                </a:ext>
              </a:extLst>
            </p:cNvPr>
            <p:cNvSpPr>
              <a:spLocks noChangeArrowheads="1"/>
            </p:cNvSpPr>
            <p:nvPr/>
          </p:nvSpPr>
          <p:spPr bwMode="auto">
            <a:xfrm>
              <a:off x="1111" y="3566"/>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2" name="Rectangle 62">
              <a:extLst>
                <a:ext uri="{FF2B5EF4-FFF2-40B4-BE49-F238E27FC236}">
                  <a16:creationId xmlns:a16="http://schemas.microsoft.com/office/drawing/2014/main" id="{FABC6218-34EE-9283-7DBC-539FB9D31560}"/>
                </a:ext>
              </a:extLst>
            </p:cNvPr>
            <p:cNvSpPr>
              <a:spLocks noChangeArrowheads="1"/>
            </p:cNvSpPr>
            <p:nvPr/>
          </p:nvSpPr>
          <p:spPr bwMode="auto">
            <a:xfrm flipH="1">
              <a:off x="1254" y="3475"/>
              <a:ext cx="7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s</a:t>
              </a:r>
            </a:p>
          </p:txBody>
        </p:sp>
        <p:sp>
          <p:nvSpPr>
            <p:cNvPr id="63" name="Oval 63">
              <a:extLst>
                <a:ext uri="{FF2B5EF4-FFF2-40B4-BE49-F238E27FC236}">
                  <a16:creationId xmlns:a16="http://schemas.microsoft.com/office/drawing/2014/main" id="{BCEB0AFC-4993-AAEB-A578-DAFE2986C053}"/>
                </a:ext>
              </a:extLst>
            </p:cNvPr>
            <p:cNvSpPr>
              <a:spLocks noChangeArrowheads="1"/>
            </p:cNvSpPr>
            <p:nvPr/>
          </p:nvSpPr>
          <p:spPr bwMode="auto">
            <a:xfrm>
              <a:off x="1111" y="2818"/>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4" name="Rectangle 64">
              <a:extLst>
                <a:ext uri="{FF2B5EF4-FFF2-40B4-BE49-F238E27FC236}">
                  <a16:creationId xmlns:a16="http://schemas.microsoft.com/office/drawing/2014/main" id="{3B815A27-9050-E3AC-EFFF-D24C2CD03256}"/>
                </a:ext>
              </a:extLst>
            </p:cNvPr>
            <p:cNvSpPr>
              <a:spLocks noChangeArrowheads="1"/>
            </p:cNvSpPr>
            <p:nvPr/>
          </p:nvSpPr>
          <p:spPr bwMode="auto">
            <a:xfrm flipH="1">
              <a:off x="1255" y="2727"/>
              <a:ext cx="10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d</a:t>
              </a:r>
            </a:p>
          </p:txBody>
        </p:sp>
        <p:sp>
          <p:nvSpPr>
            <p:cNvPr id="65" name="Rectangle 65">
              <a:extLst>
                <a:ext uri="{FF2B5EF4-FFF2-40B4-BE49-F238E27FC236}">
                  <a16:creationId xmlns:a16="http://schemas.microsoft.com/office/drawing/2014/main" id="{64809B00-36C8-9950-9971-2DAF7629A017}"/>
                </a:ext>
              </a:extLst>
            </p:cNvPr>
            <p:cNvSpPr>
              <a:spLocks noChangeArrowheads="1"/>
            </p:cNvSpPr>
            <p:nvPr/>
          </p:nvSpPr>
          <p:spPr bwMode="auto">
            <a:xfrm flipH="1">
              <a:off x="1293" y="3109"/>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B</a:t>
              </a:r>
            </a:p>
          </p:txBody>
        </p:sp>
      </p:grpSp>
      <p:grpSp>
        <p:nvGrpSpPr>
          <p:cNvPr id="66" name="Group 88">
            <a:extLst>
              <a:ext uri="{FF2B5EF4-FFF2-40B4-BE49-F238E27FC236}">
                <a16:creationId xmlns:a16="http://schemas.microsoft.com/office/drawing/2014/main" id="{F5CDA092-2859-6A60-4DA7-C7A3D7D73B96}"/>
              </a:ext>
            </a:extLst>
          </p:cNvPr>
          <p:cNvGrpSpPr>
            <a:grpSpLocks/>
          </p:cNvGrpSpPr>
          <p:nvPr/>
        </p:nvGrpSpPr>
        <p:grpSpPr bwMode="auto">
          <a:xfrm>
            <a:off x="2364105" y="3814763"/>
            <a:ext cx="1211263" cy="1552575"/>
            <a:chOff x="1750" y="2727"/>
            <a:chExt cx="763" cy="978"/>
          </a:xfrm>
        </p:grpSpPr>
        <p:sp>
          <p:nvSpPr>
            <p:cNvPr id="67" name="Line 66">
              <a:extLst>
                <a:ext uri="{FF2B5EF4-FFF2-40B4-BE49-F238E27FC236}">
                  <a16:creationId xmlns:a16="http://schemas.microsoft.com/office/drawing/2014/main" id="{716C909D-210F-77B0-28EA-39FE068CD29D}"/>
                </a:ext>
              </a:extLst>
            </p:cNvPr>
            <p:cNvSpPr>
              <a:spLocks noChangeShapeType="1"/>
            </p:cNvSpPr>
            <p:nvPr/>
          </p:nvSpPr>
          <p:spPr bwMode="auto">
            <a:xfrm>
              <a:off x="2109" y="3044"/>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8" name="Line 67">
              <a:extLst>
                <a:ext uri="{FF2B5EF4-FFF2-40B4-BE49-F238E27FC236}">
                  <a16:creationId xmlns:a16="http://schemas.microsoft.com/office/drawing/2014/main" id="{EE44616C-D7AD-BB5E-70F7-98190297162F}"/>
                </a:ext>
              </a:extLst>
            </p:cNvPr>
            <p:cNvSpPr>
              <a:spLocks noChangeShapeType="1"/>
            </p:cNvSpPr>
            <p:nvPr/>
          </p:nvSpPr>
          <p:spPr bwMode="auto">
            <a:xfrm>
              <a:off x="2109" y="3090"/>
              <a:ext cx="0" cy="2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9" name="Line 68">
              <a:extLst>
                <a:ext uri="{FF2B5EF4-FFF2-40B4-BE49-F238E27FC236}">
                  <a16:creationId xmlns:a16="http://schemas.microsoft.com/office/drawing/2014/main" id="{ACAFC8B5-62FE-46D8-A44D-A362944B61A9}"/>
                </a:ext>
              </a:extLst>
            </p:cNvPr>
            <p:cNvSpPr>
              <a:spLocks noChangeShapeType="1"/>
            </p:cNvSpPr>
            <p:nvPr/>
          </p:nvSpPr>
          <p:spPr bwMode="auto">
            <a:xfrm>
              <a:off x="2109" y="3316"/>
              <a:ext cx="0" cy="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0" name="Line 69">
              <a:extLst>
                <a:ext uri="{FF2B5EF4-FFF2-40B4-BE49-F238E27FC236}">
                  <a16:creationId xmlns:a16="http://schemas.microsoft.com/office/drawing/2014/main" id="{73E1C93F-9548-AEDD-2B36-10A41AF1EDC3}"/>
                </a:ext>
              </a:extLst>
            </p:cNvPr>
            <p:cNvSpPr>
              <a:spLocks noChangeShapeType="1"/>
            </p:cNvSpPr>
            <p:nvPr/>
          </p:nvSpPr>
          <p:spPr bwMode="auto">
            <a:xfrm>
              <a:off x="2109" y="3226"/>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1" name="Line 70">
              <a:extLst>
                <a:ext uri="{FF2B5EF4-FFF2-40B4-BE49-F238E27FC236}">
                  <a16:creationId xmlns:a16="http://schemas.microsoft.com/office/drawing/2014/main" id="{86173BCD-3C95-A29A-5099-7E7EBBBE681A}"/>
                </a:ext>
              </a:extLst>
            </p:cNvPr>
            <p:cNvSpPr>
              <a:spLocks noChangeShapeType="1"/>
            </p:cNvSpPr>
            <p:nvPr/>
          </p:nvSpPr>
          <p:spPr bwMode="auto">
            <a:xfrm>
              <a:off x="2018" y="3090"/>
              <a:ext cx="0" cy="2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2" name="Line 71">
              <a:extLst>
                <a:ext uri="{FF2B5EF4-FFF2-40B4-BE49-F238E27FC236}">
                  <a16:creationId xmlns:a16="http://schemas.microsoft.com/office/drawing/2014/main" id="{8E8F207A-F6A7-BE5A-58FD-4EEFBC767AE9}"/>
                </a:ext>
              </a:extLst>
            </p:cNvPr>
            <p:cNvSpPr>
              <a:spLocks noChangeShapeType="1"/>
            </p:cNvSpPr>
            <p:nvPr/>
          </p:nvSpPr>
          <p:spPr bwMode="auto">
            <a:xfrm>
              <a:off x="2109" y="3090"/>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3" name="Line 72">
              <a:extLst>
                <a:ext uri="{FF2B5EF4-FFF2-40B4-BE49-F238E27FC236}">
                  <a16:creationId xmlns:a16="http://schemas.microsoft.com/office/drawing/2014/main" id="{0FBF9307-34B7-FBD0-193D-0EABD782734C}"/>
                </a:ext>
              </a:extLst>
            </p:cNvPr>
            <p:cNvSpPr>
              <a:spLocks noChangeShapeType="1"/>
            </p:cNvSpPr>
            <p:nvPr/>
          </p:nvSpPr>
          <p:spPr bwMode="auto">
            <a:xfrm>
              <a:off x="2109" y="3362"/>
              <a:ext cx="1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4" name="Line 73">
              <a:extLst>
                <a:ext uri="{FF2B5EF4-FFF2-40B4-BE49-F238E27FC236}">
                  <a16:creationId xmlns:a16="http://schemas.microsoft.com/office/drawing/2014/main" id="{C4877F78-6B81-E48E-82EE-E11070EAC732}"/>
                </a:ext>
              </a:extLst>
            </p:cNvPr>
            <p:cNvSpPr>
              <a:spLocks noChangeShapeType="1"/>
            </p:cNvSpPr>
            <p:nvPr/>
          </p:nvSpPr>
          <p:spPr bwMode="auto">
            <a:xfrm>
              <a:off x="2109" y="3226"/>
              <a:ext cx="230" cy="0"/>
            </a:xfrm>
            <a:prstGeom prst="line">
              <a:avLst/>
            </a:prstGeom>
            <a:noFill/>
            <a:ln w="28575">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5" name="Line 74">
              <a:extLst>
                <a:ext uri="{FF2B5EF4-FFF2-40B4-BE49-F238E27FC236}">
                  <a16:creationId xmlns:a16="http://schemas.microsoft.com/office/drawing/2014/main" id="{51F224D5-ECC8-B1F0-614D-0045EB9B5B7F}"/>
                </a:ext>
              </a:extLst>
            </p:cNvPr>
            <p:cNvSpPr>
              <a:spLocks noChangeShapeType="1"/>
            </p:cNvSpPr>
            <p:nvPr/>
          </p:nvSpPr>
          <p:spPr bwMode="auto">
            <a:xfrm>
              <a:off x="1840" y="3362"/>
              <a:ext cx="18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6" name="Line 75">
              <a:extLst>
                <a:ext uri="{FF2B5EF4-FFF2-40B4-BE49-F238E27FC236}">
                  <a16:creationId xmlns:a16="http://schemas.microsoft.com/office/drawing/2014/main" id="{47CB5E01-9853-C626-69A0-7E0CDD23A293}"/>
                </a:ext>
              </a:extLst>
            </p:cNvPr>
            <p:cNvSpPr>
              <a:spLocks noChangeShapeType="1"/>
            </p:cNvSpPr>
            <p:nvPr/>
          </p:nvSpPr>
          <p:spPr bwMode="auto">
            <a:xfrm>
              <a:off x="2245" y="3362"/>
              <a:ext cx="0"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7" name="Line 76">
              <a:extLst>
                <a:ext uri="{FF2B5EF4-FFF2-40B4-BE49-F238E27FC236}">
                  <a16:creationId xmlns:a16="http://schemas.microsoft.com/office/drawing/2014/main" id="{CC39347E-D0B5-0089-F1F4-AEAC9F619D78}"/>
                </a:ext>
              </a:extLst>
            </p:cNvPr>
            <p:cNvSpPr>
              <a:spLocks noChangeShapeType="1"/>
            </p:cNvSpPr>
            <p:nvPr/>
          </p:nvSpPr>
          <p:spPr bwMode="auto">
            <a:xfrm>
              <a:off x="2248" y="2886"/>
              <a:ext cx="0"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8" name="Oval 77">
              <a:extLst>
                <a:ext uri="{FF2B5EF4-FFF2-40B4-BE49-F238E27FC236}">
                  <a16:creationId xmlns:a16="http://schemas.microsoft.com/office/drawing/2014/main" id="{DDFDB6A1-8133-1EFD-195F-244A790041C4}"/>
                </a:ext>
              </a:extLst>
            </p:cNvPr>
            <p:cNvSpPr>
              <a:spLocks noChangeArrowheads="1"/>
            </p:cNvSpPr>
            <p:nvPr/>
          </p:nvSpPr>
          <p:spPr bwMode="auto">
            <a:xfrm>
              <a:off x="1750" y="3316"/>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9" name="Rectangle 78">
              <a:extLst>
                <a:ext uri="{FF2B5EF4-FFF2-40B4-BE49-F238E27FC236}">
                  <a16:creationId xmlns:a16="http://schemas.microsoft.com/office/drawing/2014/main" id="{58F78222-6EDF-A4D4-1911-1CC5AC24A598}"/>
                </a:ext>
              </a:extLst>
            </p:cNvPr>
            <p:cNvSpPr>
              <a:spLocks noChangeArrowheads="1"/>
            </p:cNvSpPr>
            <p:nvPr/>
          </p:nvSpPr>
          <p:spPr bwMode="auto">
            <a:xfrm flipH="1">
              <a:off x="1751" y="3044"/>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g</a:t>
              </a:r>
            </a:p>
          </p:txBody>
        </p:sp>
        <p:sp>
          <p:nvSpPr>
            <p:cNvPr id="80" name="Oval 79">
              <a:extLst>
                <a:ext uri="{FF2B5EF4-FFF2-40B4-BE49-F238E27FC236}">
                  <a16:creationId xmlns:a16="http://schemas.microsoft.com/office/drawing/2014/main" id="{1BE7C585-FFFE-951E-20F1-2E386EFC6712}"/>
                </a:ext>
              </a:extLst>
            </p:cNvPr>
            <p:cNvSpPr>
              <a:spLocks noChangeArrowheads="1"/>
            </p:cNvSpPr>
            <p:nvPr/>
          </p:nvSpPr>
          <p:spPr bwMode="auto">
            <a:xfrm>
              <a:off x="2203" y="3566"/>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1" name="Rectangle 80">
              <a:extLst>
                <a:ext uri="{FF2B5EF4-FFF2-40B4-BE49-F238E27FC236}">
                  <a16:creationId xmlns:a16="http://schemas.microsoft.com/office/drawing/2014/main" id="{5B76638B-1721-B1C6-F254-01B864512113}"/>
                </a:ext>
              </a:extLst>
            </p:cNvPr>
            <p:cNvSpPr>
              <a:spLocks noChangeArrowheads="1"/>
            </p:cNvSpPr>
            <p:nvPr/>
          </p:nvSpPr>
          <p:spPr bwMode="auto">
            <a:xfrm flipH="1">
              <a:off x="2346" y="3475"/>
              <a:ext cx="7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s</a:t>
              </a:r>
            </a:p>
          </p:txBody>
        </p:sp>
        <p:sp>
          <p:nvSpPr>
            <p:cNvPr id="82" name="Oval 81">
              <a:extLst>
                <a:ext uri="{FF2B5EF4-FFF2-40B4-BE49-F238E27FC236}">
                  <a16:creationId xmlns:a16="http://schemas.microsoft.com/office/drawing/2014/main" id="{827B1517-565B-743A-4487-8D8A05FD3C6B}"/>
                </a:ext>
              </a:extLst>
            </p:cNvPr>
            <p:cNvSpPr>
              <a:spLocks noChangeArrowheads="1"/>
            </p:cNvSpPr>
            <p:nvPr/>
          </p:nvSpPr>
          <p:spPr bwMode="auto">
            <a:xfrm>
              <a:off x="2203" y="2818"/>
              <a:ext cx="80" cy="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3" name="Rectangle 82">
              <a:extLst>
                <a:ext uri="{FF2B5EF4-FFF2-40B4-BE49-F238E27FC236}">
                  <a16:creationId xmlns:a16="http://schemas.microsoft.com/office/drawing/2014/main" id="{3E73DB02-2416-3F29-3D5E-85CFDA4BD4E5}"/>
                </a:ext>
              </a:extLst>
            </p:cNvPr>
            <p:cNvSpPr>
              <a:spLocks noChangeArrowheads="1"/>
            </p:cNvSpPr>
            <p:nvPr/>
          </p:nvSpPr>
          <p:spPr bwMode="auto">
            <a:xfrm flipH="1">
              <a:off x="2023" y="2727"/>
              <a:ext cx="10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d</a:t>
              </a:r>
            </a:p>
          </p:txBody>
        </p:sp>
        <p:sp>
          <p:nvSpPr>
            <p:cNvPr id="84" name="Rectangle 83">
              <a:extLst>
                <a:ext uri="{FF2B5EF4-FFF2-40B4-BE49-F238E27FC236}">
                  <a16:creationId xmlns:a16="http://schemas.microsoft.com/office/drawing/2014/main" id="{2980A6A5-F43D-5120-E00D-1EF077604096}"/>
                </a:ext>
              </a:extLst>
            </p:cNvPr>
            <p:cNvSpPr>
              <a:spLocks noChangeArrowheads="1"/>
            </p:cNvSpPr>
            <p:nvPr/>
          </p:nvSpPr>
          <p:spPr bwMode="auto">
            <a:xfrm flipH="1">
              <a:off x="2385" y="3109"/>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B</a:t>
              </a:r>
            </a:p>
          </p:txBody>
        </p:sp>
      </p:grpSp>
      <p:sp>
        <p:nvSpPr>
          <p:cNvPr id="85" name="Rectangle 84">
            <a:extLst>
              <a:ext uri="{FF2B5EF4-FFF2-40B4-BE49-F238E27FC236}">
                <a16:creationId xmlns:a16="http://schemas.microsoft.com/office/drawing/2014/main" id="{86B2B07F-EADC-6524-8260-753B3322D1FD}"/>
              </a:ext>
            </a:extLst>
          </p:cNvPr>
          <p:cNvSpPr>
            <a:spLocks noChangeArrowheads="1"/>
          </p:cNvSpPr>
          <p:nvPr/>
        </p:nvSpPr>
        <p:spPr bwMode="auto">
          <a:xfrm>
            <a:off x="17780" y="5397500"/>
            <a:ext cx="38385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lvl="1">
              <a:buFontTx/>
              <a:buNone/>
            </a:pPr>
            <a:r>
              <a:rPr lang="en-US" altLang="zh-CN" sz="2400"/>
              <a:t>P</a:t>
            </a:r>
            <a:r>
              <a:rPr lang="zh-CN" altLang="en-US" sz="2400"/>
              <a:t>沟道</a:t>
            </a:r>
            <a:r>
              <a:rPr lang="en-US" altLang="zh-CN" sz="2400"/>
              <a:t>: </a:t>
            </a:r>
            <a:r>
              <a:rPr kumimoji="1" lang="zh-CN" altLang="en-US" sz="2400"/>
              <a:t>增强型、</a:t>
            </a:r>
            <a:r>
              <a:rPr kumimoji="1" lang="zh-CN" altLang="en-US" sz="2400">
                <a:sym typeface="Symbol" panose="05050102010706020507" pitchFamily="18" charset="2"/>
              </a:rPr>
              <a:t>耗尽型</a:t>
            </a:r>
            <a:endParaRPr lang="zh-CN" altLang="en-US" sz="2400"/>
          </a:p>
        </p:txBody>
      </p:sp>
    </p:spTree>
    <p:extLst>
      <p:ext uri="{BB962C8B-B14F-4D97-AF65-F5344CB8AC3E}">
        <p14:creationId xmlns:p14="http://schemas.microsoft.com/office/powerpoint/2010/main" val="1571923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85E95A-A60C-8605-D2A9-E0D5FD4F1229}"/>
              </a:ext>
            </a:extLst>
          </p:cNvPr>
          <p:cNvSpPr>
            <a:spLocks noGrp="1"/>
          </p:cNvSpPr>
          <p:nvPr>
            <p:ph type="title"/>
          </p:nvPr>
        </p:nvSpPr>
        <p:spPr/>
        <p:txBody>
          <a:bodyPr>
            <a:normAutofit fontScale="90000"/>
          </a:bodyPr>
          <a:lstStyle/>
          <a:p>
            <a:r>
              <a:rPr lang="zh-CN" altLang="en-US" dirty="0"/>
              <a:t>增强型</a:t>
            </a:r>
            <a:r>
              <a:rPr lang="en-US" altLang="zh-CN" dirty="0"/>
              <a:t>NMOS</a:t>
            </a:r>
            <a:r>
              <a:rPr lang="zh-CN" altLang="en-US" dirty="0"/>
              <a:t>管工作原理</a:t>
            </a:r>
            <a:endParaRPr kumimoji="1" lang="zh-CN" altLang="en-US" dirty="0"/>
          </a:p>
        </p:txBody>
      </p:sp>
      <p:sp>
        <p:nvSpPr>
          <p:cNvPr id="3" name="内容占位符 2">
            <a:extLst>
              <a:ext uri="{FF2B5EF4-FFF2-40B4-BE49-F238E27FC236}">
                <a16:creationId xmlns:a16="http://schemas.microsoft.com/office/drawing/2014/main" id="{7FF2B4B2-61D5-613A-68BC-E4E00CC6AE59}"/>
              </a:ext>
            </a:extLst>
          </p:cNvPr>
          <p:cNvSpPr>
            <a:spLocks noGrp="1"/>
          </p:cNvSpPr>
          <p:nvPr>
            <p:ph idx="1"/>
          </p:nvPr>
        </p:nvSpPr>
        <p:spPr>
          <a:xfrm>
            <a:off x="17780" y="585760"/>
            <a:ext cx="4935220" cy="5947119"/>
          </a:xfrm>
        </p:spPr>
        <p:txBody>
          <a:bodyPr/>
          <a:lstStyle/>
          <a:p>
            <a:pPr>
              <a:spcAft>
                <a:spcPct val="10000"/>
              </a:spcAft>
            </a:pPr>
            <a:r>
              <a:rPr lang="zh-CN" altLang="en-US" sz="2800" dirty="0"/>
              <a:t> </a:t>
            </a:r>
            <a:r>
              <a:rPr lang="en-US" altLang="zh-CN" sz="2800" dirty="0"/>
              <a:t>V</a:t>
            </a:r>
            <a:r>
              <a:rPr lang="en-US" altLang="zh-CN" sz="1800" dirty="0"/>
              <a:t>GS </a:t>
            </a:r>
            <a:r>
              <a:rPr lang="en-US" altLang="zh-CN" sz="2800" dirty="0"/>
              <a:t>&lt; V</a:t>
            </a:r>
            <a:r>
              <a:rPr lang="en-US" altLang="zh-CN" sz="1800" dirty="0"/>
              <a:t>T</a:t>
            </a:r>
            <a:r>
              <a:rPr lang="en-US" altLang="zh-CN" sz="2800" dirty="0"/>
              <a:t> (</a:t>
            </a:r>
            <a:r>
              <a:rPr lang="zh-CN" altLang="en-US" sz="2800" dirty="0"/>
              <a:t>开启电压</a:t>
            </a:r>
            <a:r>
              <a:rPr lang="en-US" altLang="zh-CN" sz="2800" dirty="0"/>
              <a:t>)</a:t>
            </a:r>
          </a:p>
          <a:p>
            <a:pPr lvl="1">
              <a:spcAft>
                <a:spcPct val="10000"/>
              </a:spcAft>
            </a:pPr>
            <a:r>
              <a:rPr lang="en-US" altLang="zh-CN" sz="2400" dirty="0"/>
              <a:t>d</a:t>
            </a:r>
            <a:r>
              <a:rPr lang="zh-CN" altLang="en-US" sz="2400" dirty="0"/>
              <a:t>、</a:t>
            </a:r>
            <a:r>
              <a:rPr lang="en-US" altLang="zh-CN" sz="2400" dirty="0"/>
              <a:t>s</a:t>
            </a:r>
            <a:r>
              <a:rPr lang="zh-CN" altLang="en-US" sz="2400" dirty="0"/>
              <a:t>间没有形成导电沟道，即使施加电压，也无电流产生</a:t>
            </a:r>
          </a:p>
          <a:p>
            <a:pPr lvl="1">
              <a:spcAft>
                <a:spcPct val="10000"/>
              </a:spcAft>
            </a:pPr>
            <a:r>
              <a:rPr lang="zh-CN" altLang="en-US" sz="2400" dirty="0"/>
              <a:t>称为夹断区或截止区</a:t>
            </a:r>
            <a:endParaRPr lang="en-US" altLang="zh-CN" sz="2400" dirty="0"/>
          </a:p>
          <a:p>
            <a:pPr lvl="1">
              <a:spcAft>
                <a:spcPct val="10000"/>
              </a:spcAft>
            </a:pPr>
            <a:endParaRPr lang="zh-CN" altLang="en-US" sz="2400" dirty="0"/>
          </a:p>
          <a:p>
            <a:pPr>
              <a:spcAft>
                <a:spcPct val="10000"/>
              </a:spcAft>
            </a:pPr>
            <a:r>
              <a:rPr lang="en-US" altLang="zh-CN" sz="2800" dirty="0"/>
              <a:t>V</a:t>
            </a:r>
            <a:r>
              <a:rPr lang="en-US" altLang="zh-CN" sz="1800" dirty="0"/>
              <a:t>GS </a:t>
            </a:r>
            <a:r>
              <a:rPr lang="en-US" altLang="zh-CN" sz="2800" dirty="0"/>
              <a:t>&gt; V</a:t>
            </a:r>
            <a:r>
              <a:rPr lang="en-US" altLang="zh-CN" sz="1800" dirty="0"/>
              <a:t>T</a:t>
            </a:r>
          </a:p>
          <a:p>
            <a:pPr lvl="1">
              <a:spcAft>
                <a:spcPct val="10000"/>
              </a:spcAft>
            </a:pPr>
            <a:r>
              <a:rPr lang="en-US" altLang="zh-CN" sz="2400" dirty="0"/>
              <a:t>d</a:t>
            </a:r>
            <a:r>
              <a:rPr lang="zh-CN" altLang="en-US" sz="2400" dirty="0"/>
              <a:t>、</a:t>
            </a:r>
            <a:r>
              <a:rPr lang="en-US" altLang="zh-CN" sz="2400" dirty="0"/>
              <a:t>s</a:t>
            </a:r>
            <a:r>
              <a:rPr lang="zh-CN" altLang="en-US" sz="2400" dirty="0"/>
              <a:t>间形成导电沟道，施加电压后，将有电流产生</a:t>
            </a:r>
          </a:p>
          <a:p>
            <a:pPr lvl="1">
              <a:spcAft>
                <a:spcPct val="10000"/>
              </a:spcAft>
            </a:pPr>
            <a:r>
              <a:rPr lang="en-US" altLang="zh-CN" sz="2400" dirty="0"/>
              <a:t>V</a:t>
            </a:r>
            <a:r>
              <a:rPr lang="en-US" altLang="zh-CN" sz="1800" dirty="0"/>
              <a:t>GS</a:t>
            </a:r>
            <a:r>
              <a:rPr lang="zh-CN" altLang="en-US" sz="2400" dirty="0"/>
              <a:t>增大，导电沟道增厚，电阻率减小</a:t>
            </a:r>
          </a:p>
          <a:p>
            <a:pPr lvl="1">
              <a:spcAft>
                <a:spcPct val="10000"/>
              </a:spcAft>
            </a:pPr>
            <a:r>
              <a:rPr lang="zh-CN" altLang="en-US" sz="2400" dirty="0"/>
              <a:t>称为可变电阻区</a:t>
            </a:r>
            <a:endParaRPr kumimoji="1" lang="zh-CN" altLang="en-US" dirty="0"/>
          </a:p>
        </p:txBody>
      </p:sp>
      <p:sp>
        <p:nvSpPr>
          <p:cNvPr id="4" name="页脚占位符 3">
            <a:extLst>
              <a:ext uri="{FF2B5EF4-FFF2-40B4-BE49-F238E27FC236}">
                <a16:creationId xmlns:a16="http://schemas.microsoft.com/office/drawing/2014/main" id="{21A3B126-E12E-A4DD-7435-6BEC456749A2}"/>
              </a:ext>
            </a:extLst>
          </p:cNvPr>
          <p:cNvSpPr>
            <a:spLocks noGrp="1"/>
          </p:cNvSpPr>
          <p:nvPr>
            <p:ph type="ftr" sz="quarter" idx="11"/>
          </p:nvPr>
        </p:nvSpPr>
        <p:spPr/>
        <p:txBody>
          <a:bodyPr/>
          <a:lstStyle/>
          <a:p>
            <a:r>
              <a:rPr lang="zh-CN" altLang="en-US" dirty="0"/>
              <a:t>模拟与数字电路：</a:t>
            </a:r>
            <a:r>
              <a:rPr lang="en-US" altLang="zh-CN" dirty="0"/>
              <a:t>21. </a:t>
            </a:r>
            <a:r>
              <a:rPr lang="zh-CN" altLang="en-US" dirty="0"/>
              <a:t>三极管</a:t>
            </a:r>
            <a:r>
              <a:rPr lang="en-US" altLang="zh-CN" dirty="0"/>
              <a:t>1</a:t>
            </a:r>
            <a:endParaRPr lang="en-US" dirty="0"/>
          </a:p>
        </p:txBody>
      </p:sp>
      <p:sp>
        <p:nvSpPr>
          <p:cNvPr id="5" name="灯片编号占位符 4">
            <a:extLst>
              <a:ext uri="{FF2B5EF4-FFF2-40B4-BE49-F238E27FC236}">
                <a16:creationId xmlns:a16="http://schemas.microsoft.com/office/drawing/2014/main" id="{7A8E8EE0-FD24-81D7-43D1-F5B5C6195C8E}"/>
              </a:ext>
            </a:extLst>
          </p:cNvPr>
          <p:cNvSpPr>
            <a:spLocks noGrp="1"/>
          </p:cNvSpPr>
          <p:nvPr>
            <p:ph type="sldNum" sz="quarter" idx="12"/>
          </p:nvPr>
        </p:nvSpPr>
        <p:spPr/>
        <p:txBody>
          <a:bodyPr/>
          <a:lstStyle/>
          <a:p>
            <a:fld id="{9E260BC5-5BF3-8746-862B-DC45E9CAA88B}" type="slidenum">
              <a:rPr lang="en-US" smtClean="0"/>
              <a:pPr/>
              <a:t>7</a:t>
            </a:fld>
            <a:r>
              <a:rPr lang="en-US" altLang="zh-CN" dirty="0"/>
              <a:t>/12</a:t>
            </a:r>
            <a:endParaRPr lang="en-US" dirty="0"/>
          </a:p>
        </p:txBody>
      </p:sp>
      <p:pic>
        <p:nvPicPr>
          <p:cNvPr id="6" name="Picture 6">
            <a:extLst>
              <a:ext uri="{FF2B5EF4-FFF2-40B4-BE49-F238E27FC236}">
                <a16:creationId xmlns:a16="http://schemas.microsoft.com/office/drawing/2014/main" id="{34717A6F-6A84-9C15-F0F5-160407A0BF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276" y="585760"/>
            <a:ext cx="3779837"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FF2B5EF4-FFF2-40B4-BE49-F238E27FC236}">
                <a16:creationId xmlns:a16="http://schemas.microsoft.com/office/drawing/2014/main" id="{B33F1F22-68E9-EFFC-CECA-FBBD67A89F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6863" y="3568845"/>
            <a:ext cx="3778250" cy="236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0660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BB9C57-6B5D-9005-DA24-3C81F7E4C56E}"/>
              </a:ext>
            </a:extLst>
          </p:cNvPr>
          <p:cNvSpPr>
            <a:spLocks noGrp="1"/>
          </p:cNvSpPr>
          <p:nvPr>
            <p:ph type="title"/>
          </p:nvPr>
        </p:nvSpPr>
        <p:spPr/>
        <p:txBody>
          <a:bodyPr>
            <a:normAutofit fontScale="90000"/>
          </a:bodyPr>
          <a:lstStyle/>
          <a:p>
            <a:r>
              <a:rPr lang="zh-CN" altLang="en-US" dirty="0"/>
              <a:t>增强型</a:t>
            </a:r>
            <a:r>
              <a:rPr lang="en-US" altLang="zh-CN" dirty="0"/>
              <a:t>NMOS</a:t>
            </a:r>
            <a:r>
              <a:rPr lang="zh-CN" altLang="en-US" dirty="0"/>
              <a:t>管工作原理</a:t>
            </a:r>
            <a:r>
              <a:rPr lang="en-US" altLang="zh-CN" dirty="0"/>
              <a:t>(</a:t>
            </a:r>
            <a:r>
              <a:rPr lang="zh-CN" altLang="en-US" dirty="0"/>
              <a:t>续</a:t>
            </a:r>
            <a:r>
              <a:rPr lang="en-US" altLang="zh-CN" dirty="0"/>
              <a:t>)</a:t>
            </a:r>
            <a:endParaRPr kumimoji="1" lang="zh-CN" altLang="en-US" dirty="0"/>
          </a:p>
        </p:txBody>
      </p:sp>
      <p:sp>
        <p:nvSpPr>
          <p:cNvPr id="3" name="内容占位符 2">
            <a:extLst>
              <a:ext uri="{FF2B5EF4-FFF2-40B4-BE49-F238E27FC236}">
                <a16:creationId xmlns:a16="http://schemas.microsoft.com/office/drawing/2014/main" id="{4F5F2B9B-528A-1F46-F391-B244B4F6FEBF}"/>
              </a:ext>
            </a:extLst>
          </p:cNvPr>
          <p:cNvSpPr>
            <a:spLocks noGrp="1"/>
          </p:cNvSpPr>
          <p:nvPr>
            <p:ph idx="1"/>
          </p:nvPr>
        </p:nvSpPr>
        <p:spPr>
          <a:xfrm>
            <a:off x="17780" y="585760"/>
            <a:ext cx="5100320" cy="5947119"/>
          </a:xfrm>
        </p:spPr>
        <p:txBody>
          <a:bodyPr/>
          <a:lstStyle/>
          <a:p>
            <a:r>
              <a:rPr lang="zh-CN" altLang="en-US" sz="2800" dirty="0"/>
              <a:t>在导电沟道形成后，保持</a:t>
            </a:r>
            <a:r>
              <a:rPr lang="en-US" altLang="zh-CN" sz="2800" dirty="0"/>
              <a:t>V</a:t>
            </a:r>
            <a:r>
              <a:rPr lang="en-US" altLang="zh-CN" sz="1800" dirty="0"/>
              <a:t>GS</a:t>
            </a:r>
            <a:r>
              <a:rPr lang="en-US" altLang="zh-CN" sz="2800" dirty="0"/>
              <a:t> </a:t>
            </a:r>
            <a:r>
              <a:rPr lang="zh-CN" altLang="en-US" sz="2800" dirty="0"/>
              <a:t>不变</a:t>
            </a:r>
          </a:p>
          <a:p>
            <a:r>
              <a:rPr lang="zh-CN" altLang="en-US" sz="2800" dirty="0"/>
              <a:t>增加</a:t>
            </a:r>
            <a:r>
              <a:rPr lang="en-US" altLang="zh-CN" sz="2800" dirty="0"/>
              <a:t>V</a:t>
            </a:r>
            <a:r>
              <a:rPr lang="en-US" altLang="zh-CN" sz="1800" dirty="0"/>
              <a:t>DS</a:t>
            </a:r>
            <a:r>
              <a:rPr lang="zh-CN" altLang="en-US" sz="1800" dirty="0"/>
              <a:t>， </a:t>
            </a:r>
            <a:r>
              <a:rPr lang="en-US" altLang="zh-CN" sz="2800" dirty="0"/>
              <a:t>I</a:t>
            </a:r>
            <a:r>
              <a:rPr lang="en-US" altLang="zh-CN" sz="1800" dirty="0"/>
              <a:t>D</a:t>
            </a:r>
            <a:r>
              <a:rPr lang="zh-CN" altLang="en-US" sz="2800" dirty="0"/>
              <a:t>随之增加</a:t>
            </a:r>
          </a:p>
          <a:p>
            <a:pPr lvl="1"/>
            <a:r>
              <a:rPr lang="zh-CN" altLang="en-US" sz="2400" dirty="0"/>
              <a:t>在</a:t>
            </a:r>
            <a:r>
              <a:rPr lang="en-US" altLang="zh-CN" sz="2400" dirty="0"/>
              <a:t>V</a:t>
            </a:r>
            <a:r>
              <a:rPr lang="en-US" altLang="zh-CN" sz="1800" dirty="0"/>
              <a:t>DS</a:t>
            </a:r>
            <a:r>
              <a:rPr lang="zh-CN" altLang="en-US" sz="2400" dirty="0"/>
              <a:t>作用下，导电沟道呈锥形分布</a:t>
            </a:r>
            <a:endParaRPr lang="zh-CN" altLang="en-US" sz="1200" dirty="0"/>
          </a:p>
          <a:p>
            <a:pPr lvl="1"/>
            <a:r>
              <a:rPr lang="zh-CN" altLang="en-US" sz="2400" dirty="0"/>
              <a:t>当</a:t>
            </a:r>
            <a:r>
              <a:rPr lang="en-US" altLang="zh-CN" sz="2400" dirty="0"/>
              <a:t>V</a:t>
            </a:r>
            <a:r>
              <a:rPr lang="en-US" altLang="zh-CN" sz="1800" dirty="0"/>
              <a:t>GD</a:t>
            </a:r>
            <a:r>
              <a:rPr lang="en-US" altLang="zh-CN" sz="2400" dirty="0"/>
              <a:t>=V</a:t>
            </a:r>
            <a:r>
              <a:rPr lang="en-US" altLang="zh-CN" sz="1600" dirty="0"/>
              <a:t>T</a:t>
            </a:r>
            <a:r>
              <a:rPr lang="zh-CN" altLang="en-US" sz="2400" dirty="0"/>
              <a:t>时，沟道出现预夹断</a:t>
            </a:r>
            <a:endParaRPr lang="en-US" altLang="zh-CN" sz="2400" dirty="0"/>
          </a:p>
          <a:p>
            <a:pPr lvl="1"/>
            <a:endParaRPr lang="en-US" altLang="zh-CN" sz="1800" dirty="0"/>
          </a:p>
          <a:p>
            <a:r>
              <a:rPr lang="zh-CN" altLang="en-US" sz="2800" dirty="0"/>
              <a:t>继续</a:t>
            </a:r>
            <a:r>
              <a:rPr lang="en-US" altLang="zh-CN" sz="2800" dirty="0" err="1"/>
              <a:t>增加</a:t>
            </a:r>
            <a:r>
              <a:rPr lang="zh-CN" altLang="en-US" sz="2800" dirty="0"/>
              <a:t> </a:t>
            </a:r>
            <a:r>
              <a:rPr lang="en-US" altLang="zh-CN" sz="2800" dirty="0"/>
              <a:t>V</a:t>
            </a:r>
            <a:r>
              <a:rPr lang="en-US" altLang="zh-CN" sz="1800" dirty="0"/>
              <a:t>DS</a:t>
            </a:r>
            <a:r>
              <a:rPr lang="zh-CN" altLang="en-US" sz="2800" dirty="0"/>
              <a:t>，夹断区延长，但</a:t>
            </a:r>
            <a:r>
              <a:rPr lang="en-US" altLang="zh-CN" sz="2800" dirty="0"/>
              <a:t>I</a:t>
            </a:r>
            <a:r>
              <a:rPr lang="en-US" altLang="zh-CN" sz="2000" dirty="0"/>
              <a:t>D</a:t>
            </a:r>
            <a:r>
              <a:rPr lang="zh-CN" altLang="en-US" sz="2800" dirty="0"/>
              <a:t>不随之增加</a:t>
            </a:r>
          </a:p>
          <a:p>
            <a:pPr lvl="1"/>
            <a:r>
              <a:rPr lang="zh-CN" altLang="en-US" sz="2400" dirty="0"/>
              <a:t>称为恒流区或饱和区</a:t>
            </a:r>
          </a:p>
          <a:p>
            <a:endParaRPr kumimoji="1" lang="zh-CN" altLang="en-US" dirty="0"/>
          </a:p>
        </p:txBody>
      </p:sp>
      <p:sp>
        <p:nvSpPr>
          <p:cNvPr id="4" name="页脚占位符 3">
            <a:extLst>
              <a:ext uri="{FF2B5EF4-FFF2-40B4-BE49-F238E27FC236}">
                <a16:creationId xmlns:a16="http://schemas.microsoft.com/office/drawing/2014/main" id="{B7A4CF4D-357F-D585-CBCB-757AB862D924}"/>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760FE91F-1930-B3DF-E95F-54FD3CD46CEA}"/>
              </a:ext>
            </a:extLst>
          </p:cNvPr>
          <p:cNvSpPr>
            <a:spLocks noGrp="1"/>
          </p:cNvSpPr>
          <p:nvPr>
            <p:ph type="sldNum" sz="quarter" idx="12"/>
          </p:nvPr>
        </p:nvSpPr>
        <p:spPr/>
        <p:txBody>
          <a:bodyPr/>
          <a:lstStyle/>
          <a:p>
            <a:fld id="{9E260BC5-5BF3-8746-862B-DC45E9CAA88B}" type="slidenum">
              <a:rPr lang="en-US" smtClean="0"/>
              <a:pPr/>
              <a:t>8</a:t>
            </a:fld>
            <a:r>
              <a:rPr lang="en-US" altLang="zh-CN" dirty="0"/>
              <a:t>/12</a:t>
            </a:r>
            <a:endParaRPr lang="en-US" dirty="0"/>
          </a:p>
        </p:txBody>
      </p:sp>
      <p:pic>
        <p:nvPicPr>
          <p:cNvPr id="7" name="Picture 7">
            <a:extLst>
              <a:ext uri="{FF2B5EF4-FFF2-40B4-BE49-F238E27FC236}">
                <a16:creationId xmlns:a16="http://schemas.microsoft.com/office/drawing/2014/main" id="{0444209A-709A-46E6-9234-AB715D90EF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9865" y="3597483"/>
            <a:ext cx="3600450" cy="253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a:extLst>
              <a:ext uri="{FF2B5EF4-FFF2-40B4-BE49-F238E27FC236}">
                <a16:creationId xmlns:a16="http://schemas.microsoft.com/office/drawing/2014/main" id="{FFB2C704-44E7-F65F-D208-1344C5079F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2245" y="601126"/>
            <a:ext cx="3698875"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2538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4ADC55-8462-C252-74C1-804262681962}"/>
              </a:ext>
            </a:extLst>
          </p:cNvPr>
          <p:cNvSpPr>
            <a:spLocks noGrp="1"/>
          </p:cNvSpPr>
          <p:nvPr>
            <p:ph type="title"/>
          </p:nvPr>
        </p:nvSpPr>
        <p:spPr/>
        <p:txBody>
          <a:bodyPr>
            <a:normAutofit fontScale="90000"/>
          </a:bodyPr>
          <a:lstStyle/>
          <a:p>
            <a:r>
              <a:rPr lang="zh-CN" altLang="en-US" dirty="0"/>
              <a:t>增强型</a:t>
            </a:r>
            <a:r>
              <a:rPr lang="en-US" altLang="zh-CN" dirty="0"/>
              <a:t>NMOS</a:t>
            </a:r>
            <a:r>
              <a:rPr lang="zh-CN" altLang="en-US" dirty="0"/>
              <a:t>管特性曲线</a:t>
            </a:r>
            <a:endParaRPr kumimoji="1" lang="zh-CN" altLang="en-US" dirty="0"/>
          </a:p>
        </p:txBody>
      </p:sp>
      <p:sp>
        <p:nvSpPr>
          <p:cNvPr id="4" name="页脚占位符 3">
            <a:extLst>
              <a:ext uri="{FF2B5EF4-FFF2-40B4-BE49-F238E27FC236}">
                <a16:creationId xmlns:a16="http://schemas.microsoft.com/office/drawing/2014/main" id="{4E1D31D3-6C69-16DC-BD42-AE85FFB970A3}"/>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47B9E1EE-A2EE-9ADB-CD67-CB75A2F2324E}"/>
              </a:ext>
            </a:extLst>
          </p:cNvPr>
          <p:cNvSpPr>
            <a:spLocks noGrp="1"/>
          </p:cNvSpPr>
          <p:nvPr>
            <p:ph type="sldNum" sz="quarter" idx="12"/>
          </p:nvPr>
        </p:nvSpPr>
        <p:spPr/>
        <p:txBody>
          <a:bodyPr/>
          <a:lstStyle/>
          <a:p>
            <a:fld id="{9E260BC5-5BF3-8746-862B-DC45E9CAA88B}" type="slidenum">
              <a:rPr lang="en-US" smtClean="0"/>
              <a:pPr/>
              <a:t>9</a:t>
            </a:fld>
            <a:r>
              <a:rPr lang="en-US" altLang="zh-CN" dirty="0"/>
              <a:t>/12</a:t>
            </a:r>
            <a:endParaRPr lang="en-US" dirty="0"/>
          </a:p>
        </p:txBody>
      </p:sp>
      <p:pic>
        <p:nvPicPr>
          <p:cNvPr id="6" name="Picture 36">
            <a:extLst>
              <a:ext uri="{FF2B5EF4-FFF2-40B4-BE49-F238E27FC236}">
                <a16:creationId xmlns:a16="http://schemas.microsoft.com/office/drawing/2014/main" id="{177F3776-4AA5-06E4-8B68-8045FD345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2163" y="2133600"/>
            <a:ext cx="2870200"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45">
            <a:extLst>
              <a:ext uri="{FF2B5EF4-FFF2-40B4-BE49-F238E27FC236}">
                <a16:creationId xmlns:a16="http://schemas.microsoft.com/office/drawing/2014/main" id="{45C3C488-B22D-9ADB-C237-BC1CD7B0E8F2}"/>
              </a:ext>
            </a:extLst>
          </p:cNvPr>
          <p:cNvGrpSpPr>
            <a:grpSpLocks/>
          </p:cNvGrpSpPr>
          <p:nvPr/>
        </p:nvGrpSpPr>
        <p:grpSpPr bwMode="auto">
          <a:xfrm>
            <a:off x="250825" y="2852738"/>
            <a:ext cx="1963738" cy="2328862"/>
            <a:chOff x="133" y="1879"/>
            <a:chExt cx="1237" cy="1467"/>
          </a:xfrm>
        </p:grpSpPr>
        <p:sp>
          <p:nvSpPr>
            <p:cNvPr id="8" name="Text Box 31">
              <a:extLst>
                <a:ext uri="{FF2B5EF4-FFF2-40B4-BE49-F238E27FC236}">
                  <a16:creationId xmlns:a16="http://schemas.microsoft.com/office/drawing/2014/main" id="{06E54AFF-C96A-A2F3-025E-F23DA8F36972}"/>
                </a:ext>
              </a:extLst>
            </p:cNvPr>
            <p:cNvSpPr txBox="1">
              <a:spLocks noChangeArrowheads="1"/>
            </p:cNvSpPr>
            <p:nvPr/>
          </p:nvSpPr>
          <p:spPr bwMode="auto">
            <a:xfrm>
              <a:off x="262" y="2837"/>
              <a:ext cx="3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800" b="0" baseline="-10000">
                  <a:latin typeface="Times New Roman" panose="02020603050405020304" pitchFamily="18" charset="0"/>
                </a:rPr>
                <a:t>gs</a:t>
              </a:r>
            </a:p>
          </p:txBody>
        </p:sp>
        <p:sp>
          <p:nvSpPr>
            <p:cNvPr id="9" name="Line 11">
              <a:extLst>
                <a:ext uri="{FF2B5EF4-FFF2-40B4-BE49-F238E27FC236}">
                  <a16:creationId xmlns:a16="http://schemas.microsoft.com/office/drawing/2014/main" id="{8D16DD09-A75E-B1AE-9249-B49D1985A3E6}"/>
                </a:ext>
              </a:extLst>
            </p:cNvPr>
            <p:cNvSpPr>
              <a:spLocks noChangeShapeType="1"/>
            </p:cNvSpPr>
            <p:nvPr/>
          </p:nvSpPr>
          <p:spPr bwMode="auto">
            <a:xfrm>
              <a:off x="743" y="2580"/>
              <a:ext cx="0" cy="8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0" name="Line 12">
              <a:extLst>
                <a:ext uri="{FF2B5EF4-FFF2-40B4-BE49-F238E27FC236}">
                  <a16:creationId xmlns:a16="http://schemas.microsoft.com/office/drawing/2014/main" id="{6FA83091-E24B-BF95-E4F9-E6B26A18A23C}"/>
                </a:ext>
              </a:extLst>
            </p:cNvPr>
            <p:cNvSpPr>
              <a:spLocks noChangeShapeType="1"/>
            </p:cNvSpPr>
            <p:nvPr/>
          </p:nvSpPr>
          <p:spPr bwMode="auto">
            <a:xfrm>
              <a:off x="743" y="2699"/>
              <a:ext cx="0" cy="8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 name="Line 13">
              <a:extLst>
                <a:ext uri="{FF2B5EF4-FFF2-40B4-BE49-F238E27FC236}">
                  <a16:creationId xmlns:a16="http://schemas.microsoft.com/office/drawing/2014/main" id="{AEB5896D-2D4A-A72C-A3E8-59F60CF1B081}"/>
                </a:ext>
              </a:extLst>
            </p:cNvPr>
            <p:cNvSpPr>
              <a:spLocks noChangeShapeType="1"/>
            </p:cNvSpPr>
            <p:nvPr/>
          </p:nvSpPr>
          <p:spPr bwMode="auto">
            <a:xfrm>
              <a:off x="743" y="2818"/>
              <a:ext cx="0" cy="8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2" name="Line 14">
              <a:extLst>
                <a:ext uri="{FF2B5EF4-FFF2-40B4-BE49-F238E27FC236}">
                  <a16:creationId xmlns:a16="http://schemas.microsoft.com/office/drawing/2014/main" id="{3FFD5D4B-C262-F2B0-36B5-7116E369F910}"/>
                </a:ext>
              </a:extLst>
            </p:cNvPr>
            <p:cNvSpPr>
              <a:spLocks noChangeShapeType="1"/>
            </p:cNvSpPr>
            <p:nvPr/>
          </p:nvSpPr>
          <p:spPr bwMode="auto">
            <a:xfrm>
              <a:off x="743" y="2740"/>
              <a:ext cx="1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3" name="Line 15">
              <a:extLst>
                <a:ext uri="{FF2B5EF4-FFF2-40B4-BE49-F238E27FC236}">
                  <a16:creationId xmlns:a16="http://schemas.microsoft.com/office/drawing/2014/main" id="{96F06B6F-46DC-9E52-409F-C567C6C62758}"/>
                </a:ext>
              </a:extLst>
            </p:cNvPr>
            <p:cNvSpPr>
              <a:spLocks noChangeShapeType="1"/>
            </p:cNvSpPr>
            <p:nvPr/>
          </p:nvSpPr>
          <p:spPr bwMode="auto">
            <a:xfrm>
              <a:off x="664" y="2620"/>
              <a:ext cx="0" cy="2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16">
              <a:extLst>
                <a:ext uri="{FF2B5EF4-FFF2-40B4-BE49-F238E27FC236}">
                  <a16:creationId xmlns:a16="http://schemas.microsoft.com/office/drawing/2014/main" id="{D32E4342-D26A-8EA2-0E0D-9859702B8CBC}"/>
                </a:ext>
              </a:extLst>
            </p:cNvPr>
            <p:cNvSpPr>
              <a:spLocks noChangeShapeType="1"/>
            </p:cNvSpPr>
            <p:nvPr/>
          </p:nvSpPr>
          <p:spPr bwMode="auto">
            <a:xfrm>
              <a:off x="743" y="2620"/>
              <a:ext cx="18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7">
              <a:extLst>
                <a:ext uri="{FF2B5EF4-FFF2-40B4-BE49-F238E27FC236}">
                  <a16:creationId xmlns:a16="http://schemas.microsoft.com/office/drawing/2014/main" id="{D67EECE3-8BDC-B2F9-C4F9-76CEC83DA750}"/>
                </a:ext>
              </a:extLst>
            </p:cNvPr>
            <p:cNvSpPr>
              <a:spLocks noChangeShapeType="1"/>
            </p:cNvSpPr>
            <p:nvPr/>
          </p:nvSpPr>
          <p:spPr bwMode="auto">
            <a:xfrm>
              <a:off x="743" y="2859"/>
              <a:ext cx="184" cy="0"/>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8">
              <a:extLst>
                <a:ext uri="{FF2B5EF4-FFF2-40B4-BE49-F238E27FC236}">
                  <a16:creationId xmlns:a16="http://schemas.microsoft.com/office/drawing/2014/main" id="{A108BA12-8B8D-9772-C9B5-1B7EC04E6AF9}"/>
                </a:ext>
              </a:extLst>
            </p:cNvPr>
            <p:cNvSpPr>
              <a:spLocks noChangeShapeType="1"/>
            </p:cNvSpPr>
            <p:nvPr/>
          </p:nvSpPr>
          <p:spPr bwMode="auto">
            <a:xfrm>
              <a:off x="743" y="2740"/>
              <a:ext cx="184" cy="0"/>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Line 19">
              <a:extLst>
                <a:ext uri="{FF2B5EF4-FFF2-40B4-BE49-F238E27FC236}">
                  <a16:creationId xmlns:a16="http://schemas.microsoft.com/office/drawing/2014/main" id="{BFA48D9B-BB2B-34F9-5C7B-7E10A7C14049}"/>
                </a:ext>
              </a:extLst>
            </p:cNvPr>
            <p:cNvSpPr>
              <a:spLocks noChangeShapeType="1"/>
            </p:cNvSpPr>
            <p:nvPr/>
          </p:nvSpPr>
          <p:spPr bwMode="auto">
            <a:xfrm>
              <a:off x="363" y="2859"/>
              <a:ext cx="3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Line 20">
              <a:extLst>
                <a:ext uri="{FF2B5EF4-FFF2-40B4-BE49-F238E27FC236}">
                  <a16:creationId xmlns:a16="http://schemas.microsoft.com/office/drawing/2014/main" id="{07DE573F-4ABD-8A21-3F9C-55FF50AF77CC}"/>
                </a:ext>
              </a:extLst>
            </p:cNvPr>
            <p:cNvSpPr>
              <a:spLocks noChangeShapeType="1"/>
            </p:cNvSpPr>
            <p:nvPr/>
          </p:nvSpPr>
          <p:spPr bwMode="auto">
            <a:xfrm>
              <a:off x="927" y="2302"/>
              <a:ext cx="0" cy="31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 name="Rectangle 21">
              <a:extLst>
                <a:ext uri="{FF2B5EF4-FFF2-40B4-BE49-F238E27FC236}">
                  <a16:creationId xmlns:a16="http://schemas.microsoft.com/office/drawing/2014/main" id="{15E7A877-B8AD-F842-DAEA-6326225AC6F3}"/>
                </a:ext>
              </a:extLst>
            </p:cNvPr>
            <p:cNvSpPr>
              <a:spLocks noChangeArrowheads="1"/>
            </p:cNvSpPr>
            <p:nvPr/>
          </p:nvSpPr>
          <p:spPr bwMode="auto">
            <a:xfrm flipH="1">
              <a:off x="434" y="258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ea typeface="楷体_GB2312" pitchFamily="49" charset="-122"/>
                </a:rPr>
                <a:t>g</a:t>
              </a:r>
            </a:p>
          </p:txBody>
        </p:sp>
        <p:sp>
          <p:nvSpPr>
            <p:cNvPr id="20" name="Rectangle 22">
              <a:extLst>
                <a:ext uri="{FF2B5EF4-FFF2-40B4-BE49-F238E27FC236}">
                  <a16:creationId xmlns:a16="http://schemas.microsoft.com/office/drawing/2014/main" id="{27D2CA85-E345-C9C4-5432-B6742BDDD5F9}"/>
                </a:ext>
              </a:extLst>
            </p:cNvPr>
            <p:cNvSpPr>
              <a:spLocks noChangeArrowheads="1"/>
            </p:cNvSpPr>
            <p:nvPr/>
          </p:nvSpPr>
          <p:spPr bwMode="auto">
            <a:xfrm flipH="1">
              <a:off x="771" y="2898"/>
              <a:ext cx="7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ea typeface="楷体_GB2312" pitchFamily="49" charset="-122"/>
                </a:rPr>
                <a:t>s</a:t>
              </a:r>
            </a:p>
          </p:txBody>
        </p:sp>
        <p:sp>
          <p:nvSpPr>
            <p:cNvPr id="21" name="Rectangle 23">
              <a:extLst>
                <a:ext uri="{FF2B5EF4-FFF2-40B4-BE49-F238E27FC236}">
                  <a16:creationId xmlns:a16="http://schemas.microsoft.com/office/drawing/2014/main" id="{A43D5A0B-277A-10D9-7006-F7D0BA22B606}"/>
                </a:ext>
              </a:extLst>
            </p:cNvPr>
            <p:cNvSpPr>
              <a:spLocks noChangeArrowheads="1"/>
            </p:cNvSpPr>
            <p:nvPr/>
          </p:nvSpPr>
          <p:spPr bwMode="auto">
            <a:xfrm flipH="1">
              <a:off x="777" y="230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ea typeface="楷体_GB2312" pitchFamily="49" charset="-122"/>
                </a:rPr>
                <a:t>d</a:t>
              </a:r>
            </a:p>
          </p:txBody>
        </p:sp>
        <p:sp>
          <p:nvSpPr>
            <p:cNvPr id="22" name="Line 24">
              <a:extLst>
                <a:ext uri="{FF2B5EF4-FFF2-40B4-BE49-F238E27FC236}">
                  <a16:creationId xmlns:a16="http://schemas.microsoft.com/office/drawing/2014/main" id="{1EBE841C-FEFC-982E-5015-D64FA25B447F}"/>
                </a:ext>
              </a:extLst>
            </p:cNvPr>
            <p:cNvSpPr>
              <a:spLocks noChangeShapeType="1"/>
            </p:cNvSpPr>
            <p:nvPr/>
          </p:nvSpPr>
          <p:spPr bwMode="auto">
            <a:xfrm>
              <a:off x="927" y="2740"/>
              <a:ext cx="0" cy="476"/>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5">
              <a:extLst>
                <a:ext uri="{FF2B5EF4-FFF2-40B4-BE49-F238E27FC236}">
                  <a16:creationId xmlns:a16="http://schemas.microsoft.com/office/drawing/2014/main" id="{D71DCDA9-4763-515B-20CB-ABEE66308EF1}"/>
                </a:ext>
              </a:extLst>
            </p:cNvPr>
            <p:cNvSpPr>
              <a:spLocks noChangeShapeType="1"/>
            </p:cNvSpPr>
            <p:nvPr/>
          </p:nvSpPr>
          <p:spPr bwMode="auto">
            <a:xfrm flipH="1">
              <a:off x="376" y="3216"/>
              <a:ext cx="9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6">
              <a:extLst>
                <a:ext uri="{FF2B5EF4-FFF2-40B4-BE49-F238E27FC236}">
                  <a16:creationId xmlns:a16="http://schemas.microsoft.com/office/drawing/2014/main" id="{83D26DA9-3CF7-285A-2D2E-97EC80C44C52}"/>
                </a:ext>
              </a:extLst>
            </p:cNvPr>
            <p:cNvSpPr>
              <a:spLocks noChangeShapeType="1"/>
            </p:cNvSpPr>
            <p:nvPr/>
          </p:nvSpPr>
          <p:spPr bwMode="auto">
            <a:xfrm flipH="1">
              <a:off x="925" y="2302"/>
              <a:ext cx="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Text Box 27">
              <a:extLst>
                <a:ext uri="{FF2B5EF4-FFF2-40B4-BE49-F238E27FC236}">
                  <a16:creationId xmlns:a16="http://schemas.microsoft.com/office/drawing/2014/main" id="{94A6ED11-73DE-7A29-C35E-5DCAF37C49B6}"/>
                </a:ext>
              </a:extLst>
            </p:cNvPr>
            <p:cNvSpPr txBox="1">
              <a:spLocks noChangeArrowheads="1"/>
            </p:cNvSpPr>
            <p:nvPr/>
          </p:nvSpPr>
          <p:spPr bwMode="auto">
            <a:xfrm>
              <a:off x="1050" y="1879"/>
              <a:ext cx="2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i</a:t>
              </a:r>
              <a:r>
                <a:rPr lang="en-US" altLang="zh-CN" sz="2800" b="0" baseline="-10000">
                  <a:latin typeface="Times New Roman" panose="02020603050405020304" pitchFamily="18" charset="0"/>
                </a:rPr>
                <a:t>d</a:t>
              </a:r>
            </a:p>
          </p:txBody>
        </p:sp>
        <p:sp>
          <p:nvSpPr>
            <p:cNvPr id="26" name="Line 28">
              <a:extLst>
                <a:ext uri="{FF2B5EF4-FFF2-40B4-BE49-F238E27FC236}">
                  <a16:creationId xmlns:a16="http://schemas.microsoft.com/office/drawing/2014/main" id="{FB698B14-F240-3E26-E05B-AFBBC63ED848}"/>
                </a:ext>
              </a:extLst>
            </p:cNvPr>
            <p:cNvSpPr>
              <a:spLocks noChangeShapeType="1"/>
            </p:cNvSpPr>
            <p:nvPr/>
          </p:nvSpPr>
          <p:spPr bwMode="auto">
            <a:xfrm flipH="1" flipV="1">
              <a:off x="985" y="2205"/>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 name="Text Box 29">
              <a:extLst>
                <a:ext uri="{FF2B5EF4-FFF2-40B4-BE49-F238E27FC236}">
                  <a16:creationId xmlns:a16="http://schemas.microsoft.com/office/drawing/2014/main" id="{72D5DAA7-573B-E65A-826C-FFA63145D526}"/>
                </a:ext>
              </a:extLst>
            </p:cNvPr>
            <p:cNvSpPr txBox="1">
              <a:spLocks noChangeArrowheads="1"/>
            </p:cNvSpPr>
            <p:nvPr/>
          </p:nvSpPr>
          <p:spPr bwMode="auto">
            <a:xfrm>
              <a:off x="133" y="2759"/>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28" name="Text Box 30">
              <a:extLst>
                <a:ext uri="{FF2B5EF4-FFF2-40B4-BE49-F238E27FC236}">
                  <a16:creationId xmlns:a16="http://schemas.microsoft.com/office/drawing/2014/main" id="{029DBD8B-BBC8-DC84-9E24-AC933C4178BA}"/>
                </a:ext>
              </a:extLst>
            </p:cNvPr>
            <p:cNvSpPr txBox="1">
              <a:spLocks noChangeArrowheads="1"/>
            </p:cNvSpPr>
            <p:nvPr/>
          </p:nvSpPr>
          <p:spPr bwMode="auto">
            <a:xfrm>
              <a:off x="133" y="3095"/>
              <a:ext cx="20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sp>
          <p:nvSpPr>
            <p:cNvPr id="29" name="Text Box 32">
              <a:extLst>
                <a:ext uri="{FF2B5EF4-FFF2-40B4-BE49-F238E27FC236}">
                  <a16:creationId xmlns:a16="http://schemas.microsoft.com/office/drawing/2014/main" id="{EE579141-06EC-478B-0AAF-82741217EC9A}"/>
                </a:ext>
              </a:extLst>
            </p:cNvPr>
            <p:cNvSpPr txBox="1">
              <a:spLocks noChangeArrowheads="1"/>
            </p:cNvSpPr>
            <p:nvPr/>
          </p:nvSpPr>
          <p:spPr bwMode="auto">
            <a:xfrm>
              <a:off x="1020" y="2582"/>
              <a:ext cx="3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b="0" i="1">
                  <a:latin typeface="Times New Roman" panose="02020603050405020304" pitchFamily="18" charset="0"/>
                </a:rPr>
                <a:t>v</a:t>
              </a:r>
              <a:r>
                <a:rPr lang="en-US" altLang="zh-CN" sz="2800" b="0" baseline="-15000">
                  <a:latin typeface="Times New Roman" panose="02020603050405020304" pitchFamily="18" charset="0"/>
                </a:rPr>
                <a:t>ds</a:t>
              </a:r>
            </a:p>
          </p:txBody>
        </p:sp>
        <p:sp>
          <p:nvSpPr>
            <p:cNvPr id="30" name="Text Box 33">
              <a:extLst>
                <a:ext uri="{FF2B5EF4-FFF2-40B4-BE49-F238E27FC236}">
                  <a16:creationId xmlns:a16="http://schemas.microsoft.com/office/drawing/2014/main" id="{C68F4A40-637E-98EB-6EA0-D2AC11BAC6A1}"/>
                </a:ext>
              </a:extLst>
            </p:cNvPr>
            <p:cNvSpPr txBox="1">
              <a:spLocks noChangeArrowheads="1"/>
            </p:cNvSpPr>
            <p:nvPr/>
          </p:nvSpPr>
          <p:spPr bwMode="auto">
            <a:xfrm>
              <a:off x="1134" y="2296"/>
              <a:ext cx="2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t>+</a:t>
              </a:r>
            </a:p>
          </p:txBody>
        </p:sp>
        <p:sp>
          <p:nvSpPr>
            <p:cNvPr id="31" name="Text Box 34">
              <a:extLst>
                <a:ext uri="{FF2B5EF4-FFF2-40B4-BE49-F238E27FC236}">
                  <a16:creationId xmlns:a16="http://schemas.microsoft.com/office/drawing/2014/main" id="{C986704A-184A-0F0D-9BAB-2AA20254564C}"/>
                </a:ext>
              </a:extLst>
            </p:cNvPr>
            <p:cNvSpPr txBox="1">
              <a:spLocks noChangeArrowheads="1"/>
            </p:cNvSpPr>
            <p:nvPr/>
          </p:nvSpPr>
          <p:spPr bwMode="auto">
            <a:xfrm>
              <a:off x="1111" y="2975"/>
              <a:ext cx="20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000" b="0">
                  <a:cs typeface="Arial" panose="020B0604020202020204" pitchFamily="34" charset="0"/>
                </a:rPr>
                <a:t>–</a:t>
              </a:r>
            </a:p>
          </p:txBody>
        </p:sp>
      </p:grpSp>
      <p:pic>
        <p:nvPicPr>
          <p:cNvPr id="32" name="Picture 37">
            <a:extLst>
              <a:ext uri="{FF2B5EF4-FFF2-40B4-BE49-F238E27FC236}">
                <a16:creationId xmlns:a16="http://schemas.microsoft.com/office/drawing/2014/main" id="{FED63741-FAC7-0629-696B-0DBD72E0E3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1651" y="2099468"/>
            <a:ext cx="3767137" cy="362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3" name="Group 43">
            <a:extLst>
              <a:ext uri="{FF2B5EF4-FFF2-40B4-BE49-F238E27FC236}">
                <a16:creationId xmlns:a16="http://schemas.microsoft.com/office/drawing/2014/main" id="{1262FC29-BEB7-D33F-D9FE-CC3B0E8752C2}"/>
              </a:ext>
            </a:extLst>
          </p:cNvPr>
          <p:cNvGrpSpPr>
            <a:grpSpLocks/>
          </p:cNvGrpSpPr>
          <p:nvPr/>
        </p:nvGrpSpPr>
        <p:grpSpPr bwMode="auto">
          <a:xfrm>
            <a:off x="1908175" y="1177925"/>
            <a:ext cx="3168650" cy="733425"/>
            <a:chOff x="544" y="777"/>
            <a:chExt cx="1996" cy="462"/>
          </a:xfrm>
        </p:grpSpPr>
        <p:sp>
          <p:nvSpPr>
            <p:cNvPr id="34" name="Text Box 9">
              <a:extLst>
                <a:ext uri="{FF2B5EF4-FFF2-40B4-BE49-F238E27FC236}">
                  <a16:creationId xmlns:a16="http://schemas.microsoft.com/office/drawing/2014/main" id="{F9138B46-7EAF-2658-E870-1633C742BF39}"/>
                </a:ext>
              </a:extLst>
            </p:cNvPr>
            <p:cNvSpPr txBox="1">
              <a:spLocks noChangeArrowheads="1"/>
            </p:cNvSpPr>
            <p:nvPr/>
          </p:nvSpPr>
          <p:spPr bwMode="auto">
            <a:xfrm>
              <a:off x="544" y="777"/>
              <a:ext cx="199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Aft>
                  <a:spcPct val="0"/>
                </a:spcAft>
                <a:buFontTx/>
                <a:buNone/>
              </a:pPr>
              <a:r>
                <a:rPr kumimoji="1" lang="en-US" altLang="zh-CN" sz="2800" i="1" dirty="0">
                  <a:latin typeface="Times New Roman" panose="02020603050405020304" pitchFamily="18" charset="0"/>
                  <a:ea typeface="黑体" panose="02010609060101010101" pitchFamily="49" charset="-122"/>
                </a:rPr>
                <a:t>i</a:t>
              </a:r>
              <a:r>
                <a:rPr kumimoji="1" lang="en-US" altLang="zh-CN" sz="2800" baseline="-25000" dirty="0">
                  <a:latin typeface="Times New Roman" panose="02020603050405020304" pitchFamily="18" charset="0"/>
                  <a:ea typeface="黑体" panose="02010609060101010101" pitchFamily="49" charset="-122"/>
                </a:rPr>
                <a:t>d </a:t>
              </a:r>
              <a:r>
                <a:rPr kumimoji="1" lang="en-US" altLang="zh-CN" sz="2800" dirty="0">
                  <a:latin typeface="Times New Roman" panose="02020603050405020304" pitchFamily="18" charset="0"/>
                  <a:ea typeface="黑体" panose="02010609060101010101" pitchFamily="49" charset="-122"/>
                </a:rPr>
                <a:t>= </a:t>
              </a:r>
              <a:r>
                <a:rPr kumimoji="1" lang="en-US" altLang="zh-CN" sz="2800" i="1" dirty="0">
                  <a:latin typeface="Times New Roman" panose="02020603050405020304" pitchFamily="18" charset="0"/>
                  <a:ea typeface="黑体" panose="02010609060101010101" pitchFamily="49" charset="-122"/>
                </a:rPr>
                <a:t>f </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err="1">
                  <a:latin typeface="Times New Roman" panose="02020603050405020304" pitchFamily="18" charset="0"/>
                  <a:ea typeface="黑体" panose="02010609060101010101" pitchFamily="49" charset="-122"/>
                </a:rPr>
                <a:t>v</a:t>
              </a:r>
              <a:r>
                <a:rPr kumimoji="1" lang="en-US" altLang="zh-CN" sz="2800" baseline="-25000" dirty="0" err="1">
                  <a:latin typeface="Times New Roman" panose="02020603050405020304" pitchFamily="18" charset="0"/>
                  <a:ea typeface="黑体" panose="02010609060101010101" pitchFamily="49" charset="-122"/>
                </a:rPr>
                <a:t>gs</a:t>
              </a:r>
              <a:r>
                <a:rPr kumimoji="1" lang="en-US" altLang="zh-CN" sz="2800" dirty="0">
                  <a:latin typeface="Times New Roman" panose="02020603050405020304" pitchFamily="18" charset="0"/>
                  <a:ea typeface="黑体" panose="02010609060101010101" pitchFamily="49" charset="-122"/>
                </a:rPr>
                <a:t>)</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endParaRPr kumimoji="1" lang="zh-CN" altLang="en-US" sz="2800" dirty="0">
                <a:latin typeface="Times New Roman" panose="02020603050405020304" pitchFamily="18" charset="0"/>
                <a:ea typeface="黑体" panose="02010609060101010101" pitchFamily="49" charset="-122"/>
              </a:endParaRPr>
            </a:p>
          </p:txBody>
        </p:sp>
        <p:sp>
          <p:nvSpPr>
            <p:cNvPr id="35" name="Rectangle 40">
              <a:extLst>
                <a:ext uri="{FF2B5EF4-FFF2-40B4-BE49-F238E27FC236}">
                  <a16:creationId xmlns:a16="http://schemas.microsoft.com/office/drawing/2014/main" id="{8141B4BA-174F-F9A7-2F7F-6303ACAD1233}"/>
                </a:ext>
              </a:extLst>
            </p:cNvPr>
            <p:cNvSpPr>
              <a:spLocks noChangeArrowheads="1"/>
            </p:cNvSpPr>
            <p:nvPr/>
          </p:nvSpPr>
          <p:spPr bwMode="auto">
            <a:xfrm>
              <a:off x="1587" y="957"/>
              <a:ext cx="769"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i="1" baseline="-10000">
                  <a:latin typeface="Times New Roman" panose="02020603050405020304" pitchFamily="18" charset="0"/>
                  <a:ea typeface="黑体" panose="02010609060101010101" pitchFamily="49" charset="-122"/>
                </a:rPr>
                <a:t>v</a:t>
              </a:r>
              <a:r>
                <a:rPr kumimoji="1" lang="en-US" altLang="zh-CN" sz="2800" baseline="-30000">
                  <a:latin typeface="Times New Roman" panose="02020603050405020304" pitchFamily="18" charset="0"/>
                  <a:ea typeface="黑体" panose="02010609060101010101" pitchFamily="49" charset="-122"/>
                </a:rPr>
                <a:t>ds</a:t>
              </a:r>
              <a:r>
                <a:rPr kumimoji="1" lang="en-US" altLang="zh-CN" baseline="-10000">
                  <a:latin typeface="Times New Roman" panose="02020603050405020304" pitchFamily="18" charset="0"/>
                  <a:ea typeface="黑体" panose="02010609060101010101" pitchFamily="49" charset="-122"/>
                </a:rPr>
                <a:t>=</a:t>
              </a:r>
              <a:r>
                <a:rPr kumimoji="1" lang="zh-CN" altLang="en-US" baseline="-10000">
                  <a:latin typeface="Times New Roman" panose="02020603050405020304" pitchFamily="18" charset="0"/>
                  <a:ea typeface="黑体" panose="02010609060101010101" pitchFamily="49" charset="-122"/>
                </a:rPr>
                <a:t>常数</a:t>
              </a:r>
            </a:p>
          </p:txBody>
        </p:sp>
      </p:grpSp>
      <p:grpSp>
        <p:nvGrpSpPr>
          <p:cNvPr id="36" name="Group 44">
            <a:extLst>
              <a:ext uri="{FF2B5EF4-FFF2-40B4-BE49-F238E27FC236}">
                <a16:creationId xmlns:a16="http://schemas.microsoft.com/office/drawing/2014/main" id="{CC193682-5BD1-1F2C-5C0E-162C0E54CD10}"/>
              </a:ext>
            </a:extLst>
          </p:cNvPr>
          <p:cNvGrpSpPr>
            <a:grpSpLocks/>
          </p:cNvGrpSpPr>
          <p:nvPr/>
        </p:nvGrpSpPr>
        <p:grpSpPr bwMode="auto">
          <a:xfrm>
            <a:off x="5976687" y="1199194"/>
            <a:ext cx="3168650" cy="736600"/>
            <a:chOff x="3016" y="777"/>
            <a:chExt cx="1996" cy="464"/>
          </a:xfrm>
        </p:grpSpPr>
        <p:sp>
          <p:nvSpPr>
            <p:cNvPr id="37" name="Text Box 10">
              <a:extLst>
                <a:ext uri="{FF2B5EF4-FFF2-40B4-BE49-F238E27FC236}">
                  <a16:creationId xmlns:a16="http://schemas.microsoft.com/office/drawing/2014/main" id="{5C5662E3-47EB-CC71-8963-C50E06E5BEC4}"/>
                </a:ext>
              </a:extLst>
            </p:cNvPr>
            <p:cNvSpPr txBox="1">
              <a:spLocks noChangeArrowheads="1"/>
            </p:cNvSpPr>
            <p:nvPr/>
          </p:nvSpPr>
          <p:spPr bwMode="auto">
            <a:xfrm>
              <a:off x="3016" y="777"/>
              <a:ext cx="199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Aft>
                  <a:spcPct val="0"/>
                </a:spcAft>
                <a:buFontTx/>
                <a:buNone/>
              </a:pPr>
              <a:r>
                <a:rPr kumimoji="1" lang="en-US" altLang="zh-CN" sz="2800" i="1" dirty="0">
                  <a:latin typeface="Times New Roman" panose="02020603050405020304" pitchFamily="18" charset="0"/>
                  <a:ea typeface="黑体" panose="02010609060101010101" pitchFamily="49" charset="-122"/>
                </a:rPr>
                <a:t>i</a:t>
              </a:r>
              <a:r>
                <a:rPr kumimoji="1" lang="en-US" altLang="zh-CN" sz="2800" baseline="-25000" dirty="0">
                  <a:latin typeface="Times New Roman" panose="02020603050405020304" pitchFamily="18" charset="0"/>
                  <a:ea typeface="黑体" panose="02010609060101010101" pitchFamily="49" charset="-122"/>
                </a:rPr>
                <a:t>d </a:t>
              </a:r>
              <a:r>
                <a:rPr kumimoji="1" lang="en-US" altLang="zh-CN" sz="2800" dirty="0">
                  <a:latin typeface="Times New Roman" panose="02020603050405020304" pitchFamily="18" charset="0"/>
                  <a:ea typeface="黑体" panose="02010609060101010101" pitchFamily="49" charset="-122"/>
                </a:rPr>
                <a:t>= </a:t>
              </a:r>
              <a:r>
                <a:rPr kumimoji="1" lang="en-US" altLang="zh-CN" sz="2800" i="1" dirty="0">
                  <a:latin typeface="Times New Roman" panose="02020603050405020304" pitchFamily="18" charset="0"/>
                  <a:ea typeface="黑体" panose="02010609060101010101" pitchFamily="49" charset="-122"/>
                </a:rPr>
                <a:t>f </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err="1">
                  <a:latin typeface="Times New Roman" panose="02020603050405020304" pitchFamily="18" charset="0"/>
                  <a:ea typeface="黑体" panose="02010609060101010101" pitchFamily="49" charset="-122"/>
                </a:rPr>
                <a:t>v</a:t>
              </a:r>
              <a:r>
                <a:rPr kumimoji="1" lang="en-US" altLang="zh-CN" sz="2800" baseline="-25000" dirty="0" err="1">
                  <a:latin typeface="Times New Roman" panose="02020603050405020304" pitchFamily="18" charset="0"/>
                  <a:ea typeface="黑体" panose="02010609060101010101" pitchFamily="49" charset="-122"/>
                </a:rPr>
                <a:t>ds</a:t>
              </a:r>
              <a:r>
                <a:rPr kumimoji="1" lang="en-US" altLang="zh-CN" sz="2800" dirty="0">
                  <a:latin typeface="Times New Roman" panose="02020603050405020304" pitchFamily="18" charset="0"/>
                  <a:ea typeface="黑体" panose="02010609060101010101" pitchFamily="49" charset="-122"/>
                </a:rPr>
                <a:t>)</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endParaRPr kumimoji="1" lang="zh-CN" altLang="en-US" sz="2800" dirty="0">
                <a:latin typeface="Times New Roman" panose="02020603050405020304" pitchFamily="18" charset="0"/>
                <a:ea typeface="黑体" panose="02010609060101010101" pitchFamily="49" charset="-122"/>
              </a:endParaRPr>
            </a:p>
          </p:txBody>
        </p:sp>
        <p:sp>
          <p:nvSpPr>
            <p:cNvPr id="38" name="Rectangle 42">
              <a:extLst>
                <a:ext uri="{FF2B5EF4-FFF2-40B4-BE49-F238E27FC236}">
                  <a16:creationId xmlns:a16="http://schemas.microsoft.com/office/drawing/2014/main" id="{EF6A8C58-17CC-C49C-38C9-E00025E9C6EA}"/>
                </a:ext>
              </a:extLst>
            </p:cNvPr>
            <p:cNvSpPr>
              <a:spLocks noChangeArrowheads="1"/>
            </p:cNvSpPr>
            <p:nvPr/>
          </p:nvSpPr>
          <p:spPr bwMode="auto">
            <a:xfrm>
              <a:off x="4059" y="981"/>
              <a:ext cx="76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i="1" baseline="-10000">
                  <a:latin typeface="Times New Roman" panose="02020603050405020304" pitchFamily="18" charset="0"/>
                  <a:ea typeface="黑体" panose="02010609060101010101" pitchFamily="49" charset="-122"/>
                </a:rPr>
                <a:t>v</a:t>
              </a:r>
              <a:r>
                <a:rPr kumimoji="1" lang="en-US" altLang="zh-CN" sz="2800" baseline="-30000">
                  <a:latin typeface="Times New Roman" panose="02020603050405020304" pitchFamily="18" charset="0"/>
                  <a:ea typeface="黑体" panose="02010609060101010101" pitchFamily="49" charset="-122"/>
                </a:rPr>
                <a:t>gs</a:t>
              </a:r>
              <a:r>
                <a:rPr kumimoji="1" lang="en-US" altLang="zh-CN" baseline="-10000">
                  <a:latin typeface="Times New Roman" panose="02020603050405020304" pitchFamily="18" charset="0"/>
                  <a:ea typeface="黑体" panose="02010609060101010101" pitchFamily="49" charset="-122"/>
                </a:rPr>
                <a:t>=</a:t>
              </a:r>
              <a:r>
                <a:rPr kumimoji="1" lang="zh-CN" altLang="en-US" baseline="-10000">
                  <a:latin typeface="Times New Roman" panose="02020603050405020304" pitchFamily="18" charset="0"/>
                  <a:ea typeface="黑体" panose="02010609060101010101" pitchFamily="49" charset="-122"/>
                </a:rPr>
                <a:t>常数</a:t>
              </a:r>
            </a:p>
          </p:txBody>
        </p:sp>
      </p:grpSp>
      <p:sp>
        <p:nvSpPr>
          <p:cNvPr id="39" name="Rectangle 46">
            <a:extLst>
              <a:ext uri="{FF2B5EF4-FFF2-40B4-BE49-F238E27FC236}">
                <a16:creationId xmlns:a16="http://schemas.microsoft.com/office/drawing/2014/main" id="{D97A5606-993D-5C5C-9673-942013EE31D3}"/>
              </a:ext>
            </a:extLst>
          </p:cNvPr>
          <p:cNvSpPr>
            <a:spLocks noChangeArrowheads="1"/>
          </p:cNvSpPr>
          <p:nvPr/>
        </p:nvSpPr>
        <p:spPr bwMode="auto">
          <a:xfrm>
            <a:off x="2484438" y="58420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latin typeface="+mj-ea"/>
                <a:ea typeface="+mj-ea"/>
              </a:rPr>
              <a:t>转移</a:t>
            </a:r>
            <a:r>
              <a:rPr lang="zh-CN" altLang="en-US" sz="2400" b="0" dirty="0">
                <a:latin typeface="+mj-ea"/>
                <a:ea typeface="+mj-ea"/>
              </a:rPr>
              <a:t>特性曲线</a:t>
            </a:r>
          </a:p>
        </p:txBody>
      </p:sp>
      <p:sp>
        <p:nvSpPr>
          <p:cNvPr id="40" name="Rectangle 47">
            <a:extLst>
              <a:ext uri="{FF2B5EF4-FFF2-40B4-BE49-F238E27FC236}">
                <a16:creationId xmlns:a16="http://schemas.microsoft.com/office/drawing/2014/main" id="{4CFDF785-1742-939A-CB71-E547A7C396EB}"/>
              </a:ext>
            </a:extLst>
          </p:cNvPr>
          <p:cNvSpPr>
            <a:spLocks noChangeArrowheads="1"/>
          </p:cNvSpPr>
          <p:nvPr/>
        </p:nvSpPr>
        <p:spPr bwMode="auto">
          <a:xfrm>
            <a:off x="6513988" y="5820568"/>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a:latin typeface="+mj-ea"/>
                <a:ea typeface="+mj-ea"/>
              </a:rPr>
              <a:t>输出</a:t>
            </a:r>
            <a:r>
              <a:rPr lang="zh-CN" altLang="en-US" sz="2400" b="0">
                <a:latin typeface="+mj-ea"/>
                <a:ea typeface="+mj-ea"/>
              </a:rPr>
              <a:t>特性曲线</a:t>
            </a:r>
          </a:p>
        </p:txBody>
      </p:sp>
    </p:spTree>
    <p:extLst>
      <p:ext uri="{BB962C8B-B14F-4D97-AF65-F5344CB8AC3E}">
        <p14:creationId xmlns:p14="http://schemas.microsoft.com/office/powerpoint/2010/main" val="1340283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68181B-4309-1758-482F-FC96A896FFF7}"/>
              </a:ext>
            </a:extLst>
          </p:cNvPr>
          <p:cNvSpPr>
            <a:spLocks noGrp="1"/>
          </p:cNvSpPr>
          <p:nvPr>
            <p:ph type="title"/>
          </p:nvPr>
        </p:nvSpPr>
        <p:spPr/>
        <p:txBody>
          <a:bodyPr>
            <a:normAutofit fontScale="90000"/>
          </a:bodyPr>
          <a:lstStyle/>
          <a:p>
            <a:r>
              <a:rPr lang="zh-CN" altLang="en-US" dirty="0"/>
              <a:t>耗尽型</a:t>
            </a:r>
            <a:r>
              <a:rPr lang="en-US" altLang="zh-CN" dirty="0"/>
              <a:t>NMOS</a:t>
            </a:r>
            <a:r>
              <a:rPr lang="zh-CN" altLang="en-US" dirty="0"/>
              <a:t>管</a:t>
            </a:r>
            <a:endParaRPr kumimoji="1" lang="zh-CN" altLang="en-US" dirty="0"/>
          </a:p>
        </p:txBody>
      </p:sp>
      <p:sp>
        <p:nvSpPr>
          <p:cNvPr id="3" name="内容占位符 2">
            <a:extLst>
              <a:ext uri="{FF2B5EF4-FFF2-40B4-BE49-F238E27FC236}">
                <a16:creationId xmlns:a16="http://schemas.microsoft.com/office/drawing/2014/main" id="{A62B5E45-5C03-2E9A-9108-772120264B40}"/>
              </a:ext>
            </a:extLst>
          </p:cNvPr>
          <p:cNvSpPr>
            <a:spLocks noGrp="1"/>
          </p:cNvSpPr>
          <p:nvPr>
            <p:ph idx="1"/>
          </p:nvPr>
        </p:nvSpPr>
        <p:spPr>
          <a:xfrm>
            <a:off x="17780" y="585760"/>
            <a:ext cx="9270599" cy="5947119"/>
          </a:xfrm>
        </p:spPr>
        <p:txBody>
          <a:bodyPr/>
          <a:lstStyle/>
          <a:p>
            <a:r>
              <a:rPr kumimoji="1" lang="zh-CN" altLang="en-US" sz="2800" dirty="0"/>
              <a:t>在管子制造过程中，在栅极下方的绝缘层中掺入大量的金属正离子，从而预置了导电沟道</a:t>
            </a:r>
            <a:endParaRPr kumimoji="1" lang="en-US" altLang="zh-CN" sz="2800" dirty="0"/>
          </a:p>
          <a:p>
            <a:pPr lvl="1"/>
            <a:r>
              <a:rPr kumimoji="1" lang="zh-CN" altLang="en-US" dirty="0"/>
              <a:t>在正</a:t>
            </a:r>
            <a:r>
              <a:rPr kumimoji="1" lang="en-US" altLang="zh-CN" dirty="0"/>
              <a:t>/</a:t>
            </a:r>
            <a:r>
              <a:rPr kumimoji="1" lang="zh-CN" altLang="en-US" dirty="0"/>
              <a:t>负栅源电压下均可工作</a:t>
            </a:r>
          </a:p>
          <a:p>
            <a:endParaRPr kumimoji="1" lang="zh-CN" altLang="en-US" sz="2800" dirty="0"/>
          </a:p>
          <a:p>
            <a:endParaRPr kumimoji="1" lang="zh-CN" altLang="en-US" dirty="0"/>
          </a:p>
        </p:txBody>
      </p:sp>
      <p:sp>
        <p:nvSpPr>
          <p:cNvPr id="4" name="页脚占位符 3">
            <a:extLst>
              <a:ext uri="{FF2B5EF4-FFF2-40B4-BE49-F238E27FC236}">
                <a16:creationId xmlns:a16="http://schemas.microsoft.com/office/drawing/2014/main" id="{A68934D2-78FA-B102-1810-D781A35EC589}"/>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F14F1BD3-DBFE-2840-9B58-7B8A4E18AB44}"/>
              </a:ext>
            </a:extLst>
          </p:cNvPr>
          <p:cNvSpPr>
            <a:spLocks noGrp="1"/>
          </p:cNvSpPr>
          <p:nvPr>
            <p:ph type="sldNum" sz="quarter" idx="12"/>
          </p:nvPr>
        </p:nvSpPr>
        <p:spPr/>
        <p:txBody>
          <a:bodyPr/>
          <a:lstStyle/>
          <a:p>
            <a:fld id="{9E260BC5-5BF3-8746-862B-DC45E9CAA88B}" type="slidenum">
              <a:rPr lang="en-US" smtClean="0"/>
              <a:pPr/>
              <a:t>10</a:t>
            </a:fld>
            <a:r>
              <a:rPr lang="en-US" altLang="zh-CN" dirty="0"/>
              <a:t>/12</a:t>
            </a:r>
            <a:endParaRPr lang="en-US" dirty="0"/>
          </a:p>
        </p:txBody>
      </p:sp>
      <p:sp>
        <p:nvSpPr>
          <p:cNvPr id="6" name="Text Box 8">
            <a:extLst>
              <a:ext uri="{FF2B5EF4-FFF2-40B4-BE49-F238E27FC236}">
                <a16:creationId xmlns:a16="http://schemas.microsoft.com/office/drawing/2014/main" id="{A88BECA1-4482-5233-0584-E49ABD9AE45F}"/>
              </a:ext>
            </a:extLst>
          </p:cNvPr>
          <p:cNvSpPr txBox="1">
            <a:spLocks noChangeArrowheads="1"/>
          </p:cNvSpPr>
          <p:nvPr/>
        </p:nvSpPr>
        <p:spPr bwMode="auto">
          <a:xfrm>
            <a:off x="1258888" y="5373688"/>
            <a:ext cx="1547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b="0">
                <a:latin typeface="Times New Roman" panose="02020603050405020304" pitchFamily="18" charset="0"/>
              </a:rPr>
              <a:t>电路符号</a:t>
            </a:r>
            <a:endParaRPr lang="en-US" altLang="zh-CN" sz="2400" b="0">
              <a:latin typeface="Times New Roman" panose="02020603050405020304" pitchFamily="18" charset="0"/>
            </a:endParaRPr>
          </a:p>
        </p:txBody>
      </p:sp>
      <p:sp>
        <p:nvSpPr>
          <p:cNvPr id="7" name="Line 27">
            <a:extLst>
              <a:ext uri="{FF2B5EF4-FFF2-40B4-BE49-F238E27FC236}">
                <a16:creationId xmlns:a16="http://schemas.microsoft.com/office/drawing/2014/main" id="{C8517C45-DFAB-EB2D-0195-80EC0AC1954F}"/>
              </a:ext>
            </a:extLst>
          </p:cNvPr>
          <p:cNvSpPr>
            <a:spLocks noChangeShapeType="1"/>
          </p:cNvSpPr>
          <p:nvPr/>
        </p:nvSpPr>
        <p:spPr bwMode="auto">
          <a:xfrm>
            <a:off x="1903413" y="4148138"/>
            <a:ext cx="0" cy="1444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8" name="Line 28">
            <a:extLst>
              <a:ext uri="{FF2B5EF4-FFF2-40B4-BE49-F238E27FC236}">
                <a16:creationId xmlns:a16="http://schemas.microsoft.com/office/drawing/2014/main" id="{4B5FDD78-AFBB-88F6-66D7-FE41753B7BE9}"/>
              </a:ext>
            </a:extLst>
          </p:cNvPr>
          <p:cNvSpPr>
            <a:spLocks noChangeShapeType="1"/>
          </p:cNvSpPr>
          <p:nvPr/>
        </p:nvSpPr>
        <p:spPr bwMode="auto">
          <a:xfrm>
            <a:off x="1903413" y="4221163"/>
            <a:ext cx="0" cy="431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 name="Line 29">
            <a:extLst>
              <a:ext uri="{FF2B5EF4-FFF2-40B4-BE49-F238E27FC236}">
                <a16:creationId xmlns:a16="http://schemas.microsoft.com/office/drawing/2014/main" id="{86E44839-9FAB-91CD-2D9F-C48DA743913F}"/>
              </a:ext>
            </a:extLst>
          </p:cNvPr>
          <p:cNvSpPr>
            <a:spLocks noChangeShapeType="1"/>
          </p:cNvSpPr>
          <p:nvPr/>
        </p:nvSpPr>
        <p:spPr bwMode="auto">
          <a:xfrm>
            <a:off x="1903413" y="4579938"/>
            <a:ext cx="0" cy="1444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0" name="Line 30">
            <a:extLst>
              <a:ext uri="{FF2B5EF4-FFF2-40B4-BE49-F238E27FC236}">
                <a16:creationId xmlns:a16="http://schemas.microsoft.com/office/drawing/2014/main" id="{D0062781-E334-8F92-6976-687C427B7753}"/>
              </a:ext>
            </a:extLst>
          </p:cNvPr>
          <p:cNvSpPr>
            <a:spLocks noChangeShapeType="1"/>
          </p:cNvSpPr>
          <p:nvPr/>
        </p:nvSpPr>
        <p:spPr bwMode="auto">
          <a:xfrm>
            <a:off x="1903413" y="4437063"/>
            <a:ext cx="2159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 name="Line 31">
            <a:extLst>
              <a:ext uri="{FF2B5EF4-FFF2-40B4-BE49-F238E27FC236}">
                <a16:creationId xmlns:a16="http://schemas.microsoft.com/office/drawing/2014/main" id="{4FCC6530-35D3-1C44-36C2-2D2D73C46630}"/>
              </a:ext>
            </a:extLst>
          </p:cNvPr>
          <p:cNvSpPr>
            <a:spLocks noChangeShapeType="1"/>
          </p:cNvSpPr>
          <p:nvPr/>
        </p:nvSpPr>
        <p:spPr bwMode="auto">
          <a:xfrm>
            <a:off x="1758950" y="4221163"/>
            <a:ext cx="0" cy="4318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2" name="Line 32">
            <a:extLst>
              <a:ext uri="{FF2B5EF4-FFF2-40B4-BE49-F238E27FC236}">
                <a16:creationId xmlns:a16="http://schemas.microsoft.com/office/drawing/2014/main" id="{349C11CB-16CC-34C7-2E99-EC68DE3CBFCF}"/>
              </a:ext>
            </a:extLst>
          </p:cNvPr>
          <p:cNvSpPr>
            <a:spLocks noChangeShapeType="1"/>
          </p:cNvSpPr>
          <p:nvPr/>
        </p:nvSpPr>
        <p:spPr bwMode="auto">
          <a:xfrm>
            <a:off x="1903413" y="4221163"/>
            <a:ext cx="2159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3" name="Line 33">
            <a:extLst>
              <a:ext uri="{FF2B5EF4-FFF2-40B4-BE49-F238E27FC236}">
                <a16:creationId xmlns:a16="http://schemas.microsoft.com/office/drawing/2014/main" id="{6431959A-6338-A4D6-0809-CAA0A626C289}"/>
              </a:ext>
            </a:extLst>
          </p:cNvPr>
          <p:cNvSpPr>
            <a:spLocks noChangeShapeType="1"/>
          </p:cNvSpPr>
          <p:nvPr/>
        </p:nvSpPr>
        <p:spPr bwMode="auto">
          <a:xfrm>
            <a:off x="1903413" y="4652963"/>
            <a:ext cx="2159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34">
            <a:extLst>
              <a:ext uri="{FF2B5EF4-FFF2-40B4-BE49-F238E27FC236}">
                <a16:creationId xmlns:a16="http://schemas.microsoft.com/office/drawing/2014/main" id="{16BCFFEE-61BE-B010-C732-0D38B14854AE}"/>
              </a:ext>
            </a:extLst>
          </p:cNvPr>
          <p:cNvSpPr>
            <a:spLocks noChangeShapeType="1"/>
          </p:cNvSpPr>
          <p:nvPr/>
        </p:nvSpPr>
        <p:spPr bwMode="auto">
          <a:xfrm>
            <a:off x="1903413" y="4437063"/>
            <a:ext cx="365125" cy="0"/>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35">
            <a:extLst>
              <a:ext uri="{FF2B5EF4-FFF2-40B4-BE49-F238E27FC236}">
                <a16:creationId xmlns:a16="http://schemas.microsoft.com/office/drawing/2014/main" id="{AC43FCC7-AA3A-96D9-CA0B-41E3EF217E5A}"/>
              </a:ext>
            </a:extLst>
          </p:cNvPr>
          <p:cNvSpPr>
            <a:spLocks noChangeShapeType="1"/>
          </p:cNvSpPr>
          <p:nvPr/>
        </p:nvSpPr>
        <p:spPr bwMode="auto">
          <a:xfrm>
            <a:off x="1476375" y="4652963"/>
            <a:ext cx="287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36">
            <a:extLst>
              <a:ext uri="{FF2B5EF4-FFF2-40B4-BE49-F238E27FC236}">
                <a16:creationId xmlns:a16="http://schemas.microsoft.com/office/drawing/2014/main" id="{EC8E76AE-7C0B-4B02-6FF8-CE0AC44261D4}"/>
              </a:ext>
            </a:extLst>
          </p:cNvPr>
          <p:cNvSpPr>
            <a:spLocks noChangeShapeType="1"/>
          </p:cNvSpPr>
          <p:nvPr/>
        </p:nvSpPr>
        <p:spPr bwMode="auto">
          <a:xfrm>
            <a:off x="2119313" y="4652963"/>
            <a:ext cx="0" cy="3238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Line 37">
            <a:extLst>
              <a:ext uri="{FF2B5EF4-FFF2-40B4-BE49-F238E27FC236}">
                <a16:creationId xmlns:a16="http://schemas.microsoft.com/office/drawing/2014/main" id="{D58F7607-240F-EC9F-3BC1-E22167EB4958}"/>
              </a:ext>
            </a:extLst>
          </p:cNvPr>
          <p:cNvSpPr>
            <a:spLocks noChangeShapeType="1"/>
          </p:cNvSpPr>
          <p:nvPr/>
        </p:nvSpPr>
        <p:spPr bwMode="auto">
          <a:xfrm>
            <a:off x="2124075" y="3897313"/>
            <a:ext cx="0" cy="3238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Oval 38">
            <a:extLst>
              <a:ext uri="{FF2B5EF4-FFF2-40B4-BE49-F238E27FC236}">
                <a16:creationId xmlns:a16="http://schemas.microsoft.com/office/drawing/2014/main" id="{79FCFA03-D45A-77E3-7063-9D5BE75E3679}"/>
              </a:ext>
            </a:extLst>
          </p:cNvPr>
          <p:cNvSpPr>
            <a:spLocks noChangeArrowheads="1"/>
          </p:cNvSpPr>
          <p:nvPr/>
        </p:nvSpPr>
        <p:spPr bwMode="auto">
          <a:xfrm>
            <a:off x="1333500" y="4579938"/>
            <a:ext cx="127000" cy="1270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9" name="Rectangle 39">
            <a:extLst>
              <a:ext uri="{FF2B5EF4-FFF2-40B4-BE49-F238E27FC236}">
                <a16:creationId xmlns:a16="http://schemas.microsoft.com/office/drawing/2014/main" id="{F8139E73-A07E-2E3C-9EB2-967136887706}"/>
              </a:ext>
            </a:extLst>
          </p:cNvPr>
          <p:cNvSpPr>
            <a:spLocks noChangeArrowheads="1"/>
          </p:cNvSpPr>
          <p:nvPr/>
        </p:nvSpPr>
        <p:spPr bwMode="auto">
          <a:xfrm flipH="1">
            <a:off x="1335088" y="4148138"/>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g</a:t>
            </a:r>
          </a:p>
        </p:txBody>
      </p:sp>
      <p:sp>
        <p:nvSpPr>
          <p:cNvPr id="20" name="Oval 40">
            <a:extLst>
              <a:ext uri="{FF2B5EF4-FFF2-40B4-BE49-F238E27FC236}">
                <a16:creationId xmlns:a16="http://schemas.microsoft.com/office/drawing/2014/main" id="{99622C42-A1BE-6993-8626-6E548DD7E076}"/>
              </a:ext>
            </a:extLst>
          </p:cNvPr>
          <p:cNvSpPr>
            <a:spLocks noChangeArrowheads="1"/>
          </p:cNvSpPr>
          <p:nvPr/>
        </p:nvSpPr>
        <p:spPr bwMode="auto">
          <a:xfrm>
            <a:off x="2052638" y="4976813"/>
            <a:ext cx="127000" cy="1270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Rectangle 41">
            <a:extLst>
              <a:ext uri="{FF2B5EF4-FFF2-40B4-BE49-F238E27FC236}">
                <a16:creationId xmlns:a16="http://schemas.microsoft.com/office/drawing/2014/main" id="{D011714B-5BA1-7F10-8B40-9381F66247FA}"/>
              </a:ext>
            </a:extLst>
          </p:cNvPr>
          <p:cNvSpPr>
            <a:spLocks noChangeArrowheads="1"/>
          </p:cNvSpPr>
          <p:nvPr/>
        </p:nvSpPr>
        <p:spPr bwMode="auto">
          <a:xfrm flipH="1">
            <a:off x="2279650" y="4832350"/>
            <a:ext cx="1190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s</a:t>
            </a:r>
          </a:p>
        </p:txBody>
      </p:sp>
      <p:sp>
        <p:nvSpPr>
          <p:cNvPr id="22" name="Oval 42">
            <a:extLst>
              <a:ext uri="{FF2B5EF4-FFF2-40B4-BE49-F238E27FC236}">
                <a16:creationId xmlns:a16="http://schemas.microsoft.com/office/drawing/2014/main" id="{E2D7CC00-6F0B-BBF8-2C7B-EF344001E53C}"/>
              </a:ext>
            </a:extLst>
          </p:cNvPr>
          <p:cNvSpPr>
            <a:spLocks noChangeArrowheads="1"/>
          </p:cNvSpPr>
          <p:nvPr/>
        </p:nvSpPr>
        <p:spPr bwMode="auto">
          <a:xfrm>
            <a:off x="2052638" y="3789363"/>
            <a:ext cx="127000" cy="1270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3" name="Rectangle 43">
            <a:extLst>
              <a:ext uri="{FF2B5EF4-FFF2-40B4-BE49-F238E27FC236}">
                <a16:creationId xmlns:a16="http://schemas.microsoft.com/office/drawing/2014/main" id="{901D36BE-543E-4219-ED92-7D4776F0F092}"/>
              </a:ext>
            </a:extLst>
          </p:cNvPr>
          <p:cNvSpPr>
            <a:spLocks noChangeArrowheads="1"/>
          </p:cNvSpPr>
          <p:nvPr/>
        </p:nvSpPr>
        <p:spPr bwMode="auto">
          <a:xfrm flipH="1">
            <a:off x="2281238" y="3644900"/>
            <a:ext cx="1698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d</a:t>
            </a:r>
          </a:p>
        </p:txBody>
      </p:sp>
      <p:sp>
        <p:nvSpPr>
          <p:cNvPr id="24" name="Rectangle 44">
            <a:extLst>
              <a:ext uri="{FF2B5EF4-FFF2-40B4-BE49-F238E27FC236}">
                <a16:creationId xmlns:a16="http://schemas.microsoft.com/office/drawing/2014/main" id="{FDFFBCE6-D210-538A-7569-9743703BB569}"/>
              </a:ext>
            </a:extLst>
          </p:cNvPr>
          <p:cNvSpPr>
            <a:spLocks noChangeArrowheads="1"/>
          </p:cNvSpPr>
          <p:nvPr/>
        </p:nvSpPr>
        <p:spPr bwMode="auto">
          <a:xfrm flipH="1">
            <a:off x="2341563" y="4251325"/>
            <a:ext cx="20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B</a:t>
            </a:r>
          </a:p>
        </p:txBody>
      </p:sp>
      <p:pic>
        <p:nvPicPr>
          <p:cNvPr id="25" name="Picture 6">
            <a:extLst>
              <a:ext uri="{FF2B5EF4-FFF2-40B4-BE49-F238E27FC236}">
                <a16:creationId xmlns:a16="http://schemas.microsoft.com/office/drawing/2014/main" id="{778B63BB-529B-39F9-1B70-6D967F503D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8235" y="2149475"/>
            <a:ext cx="5010150"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7">
            <a:extLst>
              <a:ext uri="{FF2B5EF4-FFF2-40B4-BE49-F238E27FC236}">
                <a16:creationId xmlns:a16="http://schemas.microsoft.com/office/drawing/2014/main" id="{212A5D20-0362-E4E5-71D1-C051F95D66F4}"/>
              </a:ext>
            </a:extLst>
          </p:cNvPr>
          <p:cNvSpPr txBox="1">
            <a:spLocks noChangeArrowheads="1"/>
          </p:cNvSpPr>
          <p:nvPr/>
        </p:nvSpPr>
        <p:spPr bwMode="auto">
          <a:xfrm>
            <a:off x="5652210" y="5678487"/>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400" b="0">
                <a:latin typeface="Times New Roman" panose="02020603050405020304" pitchFamily="18" charset="0"/>
              </a:rPr>
              <a:t>管芯剖面图</a:t>
            </a:r>
            <a:endParaRPr lang="en-US" altLang="zh-CN" sz="2400" b="0">
              <a:latin typeface="Times New Roman" panose="02020603050405020304" pitchFamily="18" charset="0"/>
            </a:endParaRPr>
          </a:p>
        </p:txBody>
      </p:sp>
    </p:spTree>
    <p:extLst>
      <p:ext uri="{BB962C8B-B14F-4D97-AF65-F5344CB8AC3E}">
        <p14:creationId xmlns:p14="http://schemas.microsoft.com/office/powerpoint/2010/main" val="4213861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1F9E35-B9E9-767E-8BF3-CD2D5453AB23}"/>
              </a:ext>
            </a:extLst>
          </p:cNvPr>
          <p:cNvSpPr>
            <a:spLocks noGrp="1"/>
          </p:cNvSpPr>
          <p:nvPr>
            <p:ph type="title"/>
          </p:nvPr>
        </p:nvSpPr>
        <p:spPr/>
        <p:txBody>
          <a:bodyPr>
            <a:normAutofit fontScale="90000"/>
          </a:bodyPr>
          <a:lstStyle/>
          <a:p>
            <a:r>
              <a:rPr lang="en-US" altLang="zh-CN" sz="3200" dirty="0"/>
              <a:t>BJT</a:t>
            </a:r>
            <a:r>
              <a:rPr lang="zh-CN" altLang="en-US" sz="3200" dirty="0"/>
              <a:t>与场效应管比较</a:t>
            </a:r>
            <a:endParaRPr kumimoji="1" lang="zh-CN" altLang="en-US" dirty="0"/>
          </a:p>
        </p:txBody>
      </p:sp>
      <p:sp>
        <p:nvSpPr>
          <p:cNvPr id="4" name="页脚占位符 3">
            <a:extLst>
              <a:ext uri="{FF2B5EF4-FFF2-40B4-BE49-F238E27FC236}">
                <a16:creationId xmlns:a16="http://schemas.microsoft.com/office/drawing/2014/main" id="{B5AD6B8D-2D9D-3570-C2DC-F11587483351}"/>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27D941E7-339E-34E4-BB29-725289062BB5}"/>
              </a:ext>
            </a:extLst>
          </p:cNvPr>
          <p:cNvSpPr>
            <a:spLocks noGrp="1"/>
          </p:cNvSpPr>
          <p:nvPr>
            <p:ph type="sldNum" sz="quarter" idx="12"/>
          </p:nvPr>
        </p:nvSpPr>
        <p:spPr/>
        <p:txBody>
          <a:bodyPr/>
          <a:lstStyle/>
          <a:p>
            <a:fld id="{9E260BC5-5BF3-8746-862B-DC45E9CAA88B}" type="slidenum">
              <a:rPr lang="en-US" smtClean="0"/>
              <a:pPr/>
              <a:t>11</a:t>
            </a:fld>
            <a:r>
              <a:rPr lang="en-US" altLang="zh-CN" dirty="0"/>
              <a:t>/12</a:t>
            </a:r>
            <a:endParaRPr lang="en-US" dirty="0"/>
          </a:p>
        </p:txBody>
      </p:sp>
      <p:graphicFrame>
        <p:nvGraphicFramePr>
          <p:cNvPr id="11" name="Group 5">
            <a:extLst>
              <a:ext uri="{FF2B5EF4-FFF2-40B4-BE49-F238E27FC236}">
                <a16:creationId xmlns:a16="http://schemas.microsoft.com/office/drawing/2014/main" id="{F2BF5759-7202-47AE-B1A3-81AD2502AFA7}"/>
              </a:ext>
            </a:extLst>
          </p:cNvPr>
          <p:cNvGraphicFramePr>
            <a:graphicFrameLocks noGrp="1"/>
          </p:cNvGraphicFramePr>
          <p:nvPr>
            <p:extLst>
              <p:ext uri="{D42A27DB-BD31-4B8C-83A1-F6EECF244321}">
                <p14:modId xmlns:p14="http://schemas.microsoft.com/office/powerpoint/2010/main" val="1047684929"/>
              </p:ext>
            </p:extLst>
          </p:nvPr>
        </p:nvGraphicFramePr>
        <p:xfrm>
          <a:off x="815391" y="1090611"/>
          <a:ext cx="7921625" cy="4676777"/>
        </p:xfrm>
        <a:graphic>
          <a:graphicData uri="http://schemas.openxmlformats.org/drawingml/2006/table">
            <a:tbl>
              <a:tblPr/>
              <a:tblGrid>
                <a:gridCol w="1298575">
                  <a:extLst>
                    <a:ext uri="{9D8B030D-6E8A-4147-A177-3AD203B41FA5}">
                      <a16:colId xmlns:a16="http://schemas.microsoft.com/office/drawing/2014/main" val="20000"/>
                    </a:ext>
                  </a:extLst>
                </a:gridCol>
                <a:gridCol w="3014662">
                  <a:extLst>
                    <a:ext uri="{9D8B030D-6E8A-4147-A177-3AD203B41FA5}">
                      <a16:colId xmlns:a16="http://schemas.microsoft.com/office/drawing/2014/main" val="20001"/>
                    </a:ext>
                  </a:extLst>
                </a:gridCol>
                <a:gridCol w="3608388">
                  <a:extLst>
                    <a:ext uri="{9D8B030D-6E8A-4147-A177-3AD203B41FA5}">
                      <a16:colId xmlns:a16="http://schemas.microsoft.com/office/drawing/2014/main" val="20002"/>
                    </a:ext>
                  </a:extLst>
                </a:gridCol>
              </a:tblGrid>
              <a:tr h="576263">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dirty="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dirty="0">
                          <a:ln>
                            <a:noFill/>
                          </a:ln>
                          <a:solidFill>
                            <a:schemeClr val="bg1">
                              <a:lumMod val="50000"/>
                            </a:schemeClr>
                          </a:solidFill>
                          <a:effectLst/>
                          <a:latin typeface="+mj-ea"/>
                          <a:ea typeface="+mj-ea"/>
                          <a:cs typeface="Times New Roman" panose="02020603050405020304" pitchFamily="18" charset="0"/>
                        </a:rPr>
                        <a:t>BJT</a:t>
                      </a:r>
                      <a:r>
                        <a:rPr kumimoji="0" lang="zh-CN" altLang="en-US" sz="2000" b="1" i="0" u="none" strike="noStrike" cap="none" normalizeH="0" baseline="0" dirty="0">
                          <a:ln>
                            <a:noFill/>
                          </a:ln>
                          <a:solidFill>
                            <a:schemeClr val="bg1">
                              <a:lumMod val="50000"/>
                            </a:schemeClr>
                          </a:solidFill>
                          <a:effectLst/>
                          <a:latin typeface="+mj-ea"/>
                          <a:ea typeface="+mj-ea"/>
                          <a:cs typeface="Times New Roman" panose="02020603050405020304" pitchFamily="18" charset="0"/>
                        </a:rPr>
                        <a:t>（双极型）</a:t>
                      </a:r>
                      <a:endParaRPr kumimoji="0" lang="zh-CN" altLang="en-US" sz="2000" b="1"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2000" b="1" i="0" u="none" strike="noStrike" cap="none" normalizeH="0" baseline="0">
                          <a:ln>
                            <a:noFill/>
                          </a:ln>
                          <a:solidFill>
                            <a:schemeClr val="tx1"/>
                          </a:solidFill>
                          <a:effectLst/>
                          <a:latin typeface="+mj-ea"/>
                          <a:ea typeface="+mj-ea"/>
                          <a:cs typeface="Times New Roman" panose="02020603050405020304" pitchFamily="18" charset="0"/>
                        </a:rPr>
                        <a:t>场效应管（单极型）</a:t>
                      </a:r>
                      <a:endParaRPr kumimoji="0" lang="zh-CN" altLang="en-US" sz="2000" b="1"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1325">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导电特点</a:t>
                      </a: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多子和少子都参与导电</a:t>
                      </a:r>
                      <a:endParaRPr kumimoji="0" lang="zh-CN" altLang="en-US" sz="1800" b="0"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只有一种多子导电</a:t>
                      </a:r>
                      <a:endParaRPr kumimoji="0" lang="zh-CN" altLang="en-US" sz="1800" b="0"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1325">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控制方式</a:t>
                      </a: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电压</a:t>
                      </a:r>
                      <a:r>
                        <a:rPr kumimoji="0" lang="en-US" altLang="zh-CN"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a:t>
                      </a: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电流控制电流</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电压控制电流</a:t>
                      </a:r>
                      <a:endParaRPr kumimoji="0" lang="zh-CN" altLang="en-US" sz="1800" b="0"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2913">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类    型</a:t>
                      </a: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PNP</a:t>
                      </a: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a:t>
                      </a:r>
                      <a:r>
                        <a:rPr kumimoji="0" lang="en-US" altLang="zh-CN"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NPN</a:t>
                      </a:r>
                      <a:endParaRPr kumimoji="0" lang="en-US" altLang="zh-CN" sz="1800" b="0"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N</a:t>
                      </a: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沟道、</a:t>
                      </a: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P</a:t>
                      </a: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沟道、增强型、耗尽型</a:t>
                      </a:r>
                      <a:endParaRPr kumimoji="0" lang="zh-CN" altLang="en-US" sz="1800" b="0"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1325">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C</a:t>
                      </a: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a:t>
                      </a:r>
                      <a:r>
                        <a:rPr kumimoji="0" lang="en-US" altLang="zh-CN"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E</a:t>
                      </a: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一般不可倒置使用</a:t>
                      </a:r>
                      <a:endParaRPr kumimoji="0" lang="zh-CN" altLang="en-US" sz="1800" b="0"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D</a:t>
                      </a: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a:t>
                      </a:r>
                      <a:r>
                        <a:rPr kumimoji="0" lang="en-US" altLang="zh-CN" sz="1800" b="0" i="0" u="none" strike="noStrike" cap="none" normalizeH="0" baseline="0">
                          <a:ln>
                            <a:noFill/>
                          </a:ln>
                          <a:solidFill>
                            <a:schemeClr val="tx1"/>
                          </a:solidFill>
                          <a:effectLst/>
                          <a:latin typeface="+mj-ea"/>
                          <a:ea typeface="+mj-ea"/>
                          <a:cs typeface="Times New Roman" panose="02020603050405020304" pitchFamily="18" charset="0"/>
                        </a:rPr>
                        <a:t>S</a:t>
                      </a: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一般可倒置使用</a:t>
                      </a:r>
                      <a:endParaRPr kumimoji="0" lang="zh-CN" altLang="en-US" sz="1800" b="0"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1325">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输入电阻</a:t>
                      </a: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小</a:t>
                      </a:r>
                      <a:endParaRPr kumimoji="0" lang="zh-CN" altLang="en-US" sz="1800" b="0"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很大</a:t>
                      </a:r>
                      <a:endParaRPr kumimoji="0" lang="zh-CN" altLang="en-US" sz="1800" b="0"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2913">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噪    声</a:t>
                      </a: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较大</a:t>
                      </a:r>
                      <a:endParaRPr kumimoji="0" lang="zh-CN" altLang="en-US" sz="1800" b="0"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较小</a:t>
                      </a:r>
                      <a:endParaRPr kumimoji="0" lang="zh-CN" altLang="en-US" sz="1800" b="0"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1325">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热稳定性</a:t>
                      </a: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差</a:t>
                      </a:r>
                      <a:endParaRPr kumimoji="0" lang="zh-CN" altLang="en-US" sz="1800" b="0"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好</a:t>
                      </a:r>
                      <a:endParaRPr kumimoji="0" lang="zh-CN" altLang="en-US" sz="1800" b="0"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2913">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抗辐射性</a:t>
                      </a: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差</a:t>
                      </a:r>
                      <a:endParaRPr kumimoji="0" lang="zh-CN" altLang="en-US" sz="1800" b="0"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a:ln>
                            <a:noFill/>
                          </a:ln>
                          <a:solidFill>
                            <a:schemeClr val="tx1"/>
                          </a:solidFill>
                          <a:effectLst/>
                          <a:latin typeface="+mj-ea"/>
                          <a:ea typeface="+mj-ea"/>
                          <a:cs typeface="Times New Roman" panose="02020603050405020304" pitchFamily="18" charset="0"/>
                        </a:rPr>
                        <a:t>强</a:t>
                      </a:r>
                      <a:endParaRPr kumimoji="0" lang="zh-CN" altLang="en-US" sz="1800" b="0" i="0" u="none" strike="noStrike" cap="none" normalizeH="0" baseline="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65150">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1" i="0" u="none" strike="noStrike" cap="none" normalizeH="0" baseline="0">
                          <a:ln>
                            <a:noFill/>
                          </a:ln>
                          <a:solidFill>
                            <a:schemeClr val="tx1"/>
                          </a:solidFill>
                          <a:effectLst/>
                          <a:latin typeface="+mj-ea"/>
                          <a:ea typeface="+mj-ea"/>
                          <a:cs typeface="Times New Roman" panose="02020603050405020304" pitchFamily="18" charset="0"/>
                        </a:rPr>
                        <a:t>制造工艺</a:t>
                      </a:r>
                      <a:endParaRPr kumimoji="0" lang="zh-CN" altLang="en-US" sz="1800" b="1" i="0" u="none" strike="noStrike" cap="none" normalizeH="0" baseline="0">
                        <a:ln>
                          <a:noFill/>
                        </a:ln>
                        <a:solidFill>
                          <a:schemeClr val="tx1"/>
                        </a:solidFill>
                        <a:effectLst/>
                        <a:latin typeface="+mj-ea"/>
                        <a:ea typeface="+mj-ea"/>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dirty="0">
                          <a:ln>
                            <a:noFill/>
                          </a:ln>
                          <a:solidFill>
                            <a:schemeClr val="bg1">
                              <a:lumMod val="50000"/>
                            </a:schemeClr>
                          </a:solidFill>
                          <a:effectLst/>
                          <a:latin typeface="+mj-ea"/>
                          <a:ea typeface="+mj-ea"/>
                          <a:cs typeface="Times New Roman" panose="02020603050405020304" pitchFamily="18" charset="0"/>
                        </a:rPr>
                        <a:t>较复杂，不易大规模集成</a:t>
                      </a:r>
                      <a:endParaRPr kumimoji="0" lang="zh-CN" altLang="en-US" sz="1800" b="0" i="0" u="none" strike="noStrike" cap="none" normalizeH="0" baseline="0" dirty="0">
                        <a:ln>
                          <a:noFill/>
                        </a:ln>
                        <a:solidFill>
                          <a:schemeClr val="bg1">
                            <a:lumMod val="50000"/>
                          </a:schemeClr>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800" b="1">
                          <a:solidFill>
                            <a:schemeClr val="tx1"/>
                          </a:solidFill>
                          <a:latin typeface="Arial" panose="020B0604020202020204" pitchFamily="34" charset="0"/>
                          <a:ea typeface="宋体" panose="02010600030101010101" pitchFamily="2" charset="-122"/>
                        </a:defRPr>
                      </a:lvl1pPr>
                      <a:lvl2pPr marL="742950" indent="-285750" eaLnBrk="0" hangingPunct="0">
                        <a:spcAft>
                          <a:spcPct val="20000"/>
                        </a:spcAft>
                        <a:defRPr sz="2400">
                          <a:solidFill>
                            <a:schemeClr val="tx1"/>
                          </a:solidFill>
                          <a:latin typeface="Arial" panose="020B0604020202020204" pitchFamily="34" charset="0"/>
                          <a:ea typeface="宋体" panose="02010600030101010101" pitchFamily="2" charset="-122"/>
                        </a:defRPr>
                      </a:lvl2pPr>
                      <a:lvl3pPr marL="1143000" indent="-228600" eaLnBrk="0" hangingPunct="0">
                        <a:spcAft>
                          <a:spcPct val="20000"/>
                        </a:spcAft>
                        <a:defRPr sz="2000">
                          <a:solidFill>
                            <a:schemeClr val="tx1"/>
                          </a:solidFill>
                          <a:latin typeface="Arial" panose="020B0604020202020204" pitchFamily="34" charset="0"/>
                          <a:ea typeface="宋体" panose="02010600030101010101" pitchFamily="2" charset="-122"/>
                        </a:defRPr>
                      </a:lvl3pPr>
                      <a:lvl4pPr marL="1600200" indent="-228600" eaLnBrk="0" hangingPunct="0">
                        <a:spcAft>
                          <a:spcPct val="20000"/>
                        </a:spcAft>
                        <a:defRPr>
                          <a:solidFill>
                            <a:schemeClr val="tx1"/>
                          </a:solidFill>
                          <a:latin typeface="Arial" panose="020B0604020202020204" pitchFamily="34" charset="0"/>
                          <a:ea typeface="宋体" panose="02010600030101010101" pitchFamily="2" charset="-122"/>
                        </a:defRPr>
                      </a:lvl4pPr>
                      <a:lvl5pPr marL="2057400" indent="-228600" eaLnBrk="0" hangingPunct="0">
                        <a:spcAft>
                          <a:spcPct val="20000"/>
                        </a:spcAf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简单，易于大规模集成</a:t>
                      </a:r>
                      <a:endParaRPr kumimoji="0" lang="zh-CN" altLang="en-US" sz="1800" b="0" i="0" u="none" strike="noStrike" cap="none" normalizeH="0" baseline="0" dirty="0">
                        <a:ln>
                          <a:noFill/>
                        </a:ln>
                        <a:solidFill>
                          <a:schemeClr val="tx1"/>
                        </a:solidFill>
                        <a:effectLst/>
                        <a:latin typeface="+mj-ea"/>
                        <a:ea typeface="+mj-ea"/>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2" name="Line 67">
            <a:extLst>
              <a:ext uri="{FF2B5EF4-FFF2-40B4-BE49-F238E27FC236}">
                <a16:creationId xmlns:a16="http://schemas.microsoft.com/office/drawing/2014/main" id="{61AAAA75-BF47-6023-A370-9FAD15CE92F7}"/>
              </a:ext>
            </a:extLst>
          </p:cNvPr>
          <p:cNvSpPr>
            <a:spLocks noChangeShapeType="1"/>
          </p:cNvSpPr>
          <p:nvPr/>
        </p:nvSpPr>
        <p:spPr bwMode="auto">
          <a:xfrm>
            <a:off x="815391" y="1666874"/>
            <a:ext cx="79216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384335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lnSpc>
                <a:spcPct val="110000"/>
              </a:lnSpc>
              <a:spcAft>
                <a:spcPct val="30000"/>
              </a:spcAft>
              <a:defRPr/>
            </a:pPr>
            <a:r>
              <a:rPr lang="zh-CN" altLang="en-US" sz="2800" kern="0" dirty="0"/>
              <a:t>电子技术基础</a:t>
            </a:r>
            <a:r>
              <a:rPr lang="en-US" altLang="zh-CN" sz="2800" kern="0" dirty="0"/>
              <a:t>-</a:t>
            </a:r>
            <a:r>
              <a:rPr lang="zh-CN" altLang="en-US" kern="0" dirty="0"/>
              <a:t>模拟</a:t>
            </a:r>
            <a:r>
              <a:rPr lang="zh-CN" altLang="en-US" sz="2800" kern="0" dirty="0"/>
              <a:t>部分</a:t>
            </a:r>
            <a:endParaRPr lang="en-US" altLang="zh-CN" sz="2800" kern="0" dirty="0"/>
          </a:p>
          <a:p>
            <a:pPr>
              <a:lnSpc>
                <a:spcPct val="110000"/>
              </a:lnSpc>
              <a:spcAft>
                <a:spcPct val="30000"/>
              </a:spcAft>
              <a:defRPr/>
            </a:pPr>
            <a:r>
              <a:rPr lang="en-US" altLang="zh-CN" sz="2800" kern="0" dirty="0"/>
              <a:t>P101</a:t>
            </a:r>
            <a:r>
              <a:rPr lang="zh-CN" altLang="en-US" sz="2800" kern="0" dirty="0"/>
              <a:t>：</a:t>
            </a:r>
            <a:endParaRPr lang="en-US" altLang="zh-CN" sz="2800" kern="0" dirty="0"/>
          </a:p>
          <a:p>
            <a:pPr lvl="1">
              <a:lnSpc>
                <a:spcPct val="110000"/>
              </a:lnSpc>
              <a:spcAft>
                <a:spcPct val="30000"/>
              </a:spcAft>
              <a:defRPr/>
            </a:pPr>
            <a:r>
              <a:rPr lang="en-US" altLang="zh-CN" sz="2400" kern="0" dirty="0"/>
              <a:t>4.1.1</a:t>
            </a:r>
            <a:r>
              <a:rPr lang="zh-CN" altLang="en-US" sz="2400" kern="0" dirty="0"/>
              <a:t>，</a:t>
            </a:r>
            <a:r>
              <a:rPr lang="en-US" altLang="zh-CN" sz="2400" kern="0" dirty="0"/>
              <a:t>4.1.2</a:t>
            </a:r>
            <a:r>
              <a:rPr lang="zh-CN" altLang="en-US" sz="2400" kern="0" dirty="0"/>
              <a:t>，</a:t>
            </a:r>
            <a:r>
              <a:rPr lang="en-US" altLang="zh-CN" sz="2400" kern="0" dirty="0"/>
              <a:t>4.1.4</a:t>
            </a:r>
            <a:endParaRPr lang="en-US" altLang="zh-CN" sz="2800" kern="0" dirty="0"/>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21. </a:t>
            </a:r>
            <a:r>
              <a:rPr lang="zh-CN" altLang="en-US"/>
              <a:t>三极管</a:t>
            </a:r>
            <a:r>
              <a:rPr lang="en-US" altLang="zh-CN"/>
              <a:t>1</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12</a:t>
            </a:fld>
            <a:r>
              <a:rPr lang="en-US" altLang="zh-CN" dirty="0"/>
              <a:t>/12</a:t>
            </a:r>
            <a:endParaRPr lang="en-US" dirty="0"/>
          </a:p>
        </p:txBody>
      </p:sp>
    </p:spTree>
    <p:extLst>
      <p:ext uri="{BB962C8B-B14F-4D97-AF65-F5344CB8AC3E}">
        <p14:creationId xmlns:p14="http://schemas.microsoft.com/office/powerpoint/2010/main" val="701391540"/>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19061</TotalTime>
  <Words>2025</Words>
  <Application>Microsoft Macintosh PowerPoint</Application>
  <PresentationFormat>A4 纸张(210x297 毫米)</PresentationFormat>
  <Paragraphs>194</Paragraphs>
  <Slides>12</Slides>
  <Notes>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等线</vt:lpstr>
      <vt:lpstr>黑体</vt:lpstr>
      <vt:lpstr>华文楷体</vt:lpstr>
      <vt:lpstr>华文新魏</vt:lpstr>
      <vt:lpstr>宋体</vt:lpstr>
      <vt:lpstr>Microsoft YaHei</vt:lpstr>
      <vt:lpstr>Microsoft YaHei</vt:lpstr>
      <vt:lpstr>Arial</vt:lpstr>
      <vt:lpstr>Arial Black</vt:lpstr>
      <vt:lpstr>Times New Roman</vt:lpstr>
      <vt:lpstr>Office-Design</vt:lpstr>
      <vt:lpstr>  模拟与数字电路 Analog and Digital Circuits</vt:lpstr>
      <vt:lpstr>内容提纲</vt:lpstr>
      <vt:lpstr>三极管分类</vt:lpstr>
      <vt:lpstr>示例：三极管外形</vt:lpstr>
      <vt:lpstr>场效应三极管</vt:lpstr>
      <vt:lpstr>MOSFET结构和符号</vt:lpstr>
      <vt:lpstr>增强型NMOS管工作原理</vt:lpstr>
      <vt:lpstr>增强型NMOS管工作原理(续)</vt:lpstr>
      <vt:lpstr>增强型NMOS管特性曲线</vt:lpstr>
      <vt:lpstr>耗尽型NMOS管</vt:lpstr>
      <vt:lpstr>BJT与场效应管比较</vt:lpstr>
      <vt:lpstr>作业</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2511</cp:revision>
  <cp:lastPrinted>2020-05-26T13:24:01Z</cp:lastPrinted>
  <dcterms:created xsi:type="dcterms:W3CDTF">2020-04-07T12:23:01Z</dcterms:created>
  <dcterms:modified xsi:type="dcterms:W3CDTF">2024-10-31T04:10:41Z</dcterms:modified>
</cp:coreProperties>
</file>