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handoutMasterIdLst>
    <p:handoutMasterId r:id="rId36"/>
  </p:handoutMasterIdLst>
  <p:sldIdLst>
    <p:sldId id="256" r:id="rId2"/>
    <p:sldId id="444"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41" r:id="rId23"/>
    <p:sldId id="531" r:id="rId24"/>
    <p:sldId id="532" r:id="rId25"/>
    <p:sldId id="533" r:id="rId26"/>
    <p:sldId id="534" r:id="rId27"/>
    <p:sldId id="535" r:id="rId28"/>
    <p:sldId id="536" r:id="rId29"/>
    <p:sldId id="537" r:id="rId30"/>
    <p:sldId id="511" r:id="rId31"/>
    <p:sldId id="538" r:id="rId32"/>
    <p:sldId id="539" r:id="rId33"/>
    <p:sldId id="540" r:id="rId34"/>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50"/>
    <p:restoredTop sz="87179"/>
  </p:normalViewPr>
  <p:slideViewPr>
    <p:cSldViewPr snapToGrid="0" snapToObjects="1">
      <p:cViewPr varScale="1">
        <p:scale>
          <a:sx n="135" d="100"/>
          <a:sy n="135" d="100"/>
        </p:scale>
        <p:origin x="184" y="664"/>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2024/11/26</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2024/11/26</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solidFill>
                  <a:srgbClr val="000000"/>
                </a:solidFill>
                <a:latin typeface="Times New Roman" panose="02020603050405020304" pitchFamily="18" charset="0"/>
                <a:cs typeface="Times New Roman" panose="02020603050405020304" pitchFamily="18" charset="0"/>
              </a:rPr>
              <a:t>输入正弦信号</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en-US" altLang="zh-CN" baseline="-25000" dirty="0">
                <a:solidFill>
                  <a:srgbClr val="000000"/>
                </a:solidFill>
                <a:latin typeface="Times New Roman" panose="02020603050405020304" pitchFamily="18" charset="0"/>
                <a:cs typeface="Times New Roman" panose="02020603050405020304" pitchFamily="18" charset="0"/>
              </a:rPr>
              <a:t>s</a:t>
            </a:r>
            <a:r>
              <a:rPr kumimoji="1" lang="zh-CN" altLang="en-US" dirty="0">
                <a:solidFill>
                  <a:srgbClr val="000000"/>
                </a:solidFill>
                <a:latin typeface="Times New Roman" panose="02020603050405020304" pitchFamily="18" charset="0"/>
                <a:cs typeface="Times New Roman" panose="02020603050405020304" pitchFamily="18" charset="0"/>
              </a:rPr>
              <a:t>后，电路将处在动态工作情况。此时，</a:t>
            </a:r>
            <a:r>
              <a:rPr kumimoji="1" lang="en-US" altLang="zh-CN" dirty="0">
                <a:solidFill>
                  <a:srgbClr val="000000"/>
                </a:solidFill>
                <a:latin typeface="Times New Roman" panose="02020603050405020304" pitchFamily="18" charset="0"/>
                <a:cs typeface="Times New Roman" panose="02020603050405020304" pitchFamily="18" charset="0"/>
              </a:rPr>
              <a:t>BJT</a:t>
            </a:r>
            <a:r>
              <a:rPr kumimoji="1" lang="zh-CN" altLang="en-US" dirty="0">
                <a:solidFill>
                  <a:srgbClr val="000000"/>
                </a:solidFill>
                <a:latin typeface="Times New Roman" panose="02020603050405020304" pitchFamily="18" charset="0"/>
                <a:cs typeface="Times New Roman" panose="02020603050405020304" pitchFamily="18" charset="0"/>
              </a:rPr>
              <a:t>各极电流及电压都将在静态值的基础上随输入信号作相应的变化</a:t>
            </a:r>
            <a:endParaRPr kumimoji="1" lang="en-US" altLang="zh-CN" dirty="0">
              <a:solidFill>
                <a:srgbClr val="000000"/>
              </a:solidFill>
              <a:latin typeface="Times New Roman" panose="02020603050405020304" pitchFamily="18" charset="0"/>
              <a:cs typeface="Times New Roman" panose="02020603050405020304" pitchFamily="18" charset="0"/>
            </a:endParaRPr>
          </a:p>
          <a:p>
            <a:endParaRPr kumimoji="1" lang="en-US" altLang="zh-CN" dirty="0">
              <a:solidFill>
                <a:srgbClr val="000000"/>
              </a:solidFill>
              <a:latin typeface="Times New Roman" panose="02020603050405020304" pitchFamily="18" charset="0"/>
              <a:cs typeface="Times New Roman" panose="02020603050405020304" pitchFamily="18" charset="0"/>
            </a:endParaRPr>
          </a:p>
          <a:p>
            <a:r>
              <a:rPr lang="zh-CN" altLang="en-US" dirty="0"/>
              <a:t>本章中的电流电压符号有时大写，有时候小写</a:t>
            </a:r>
            <a:r>
              <a:rPr lang="en-US" altLang="ja-JP" dirty="0"/>
              <a:t> </a:t>
            </a:r>
            <a:r>
              <a:rPr lang="zh-CN" altLang="en-US" dirty="0"/>
              <a:t>，其规定如下：</a:t>
            </a:r>
            <a:endParaRPr lang="en-US" altLang="zh-CN" dirty="0"/>
          </a:p>
          <a:p>
            <a:r>
              <a:rPr lang="zh-CN" altLang="en-US" dirty="0"/>
              <a:t>如信号只有直流分量，则</a:t>
            </a:r>
            <a:r>
              <a:rPr lang="en-US" altLang="zh-CN" dirty="0"/>
              <a:t>I</a:t>
            </a:r>
            <a:r>
              <a:rPr lang="zh-CN" altLang="en-US" dirty="0"/>
              <a:t>和</a:t>
            </a:r>
            <a:r>
              <a:rPr lang="en-US" altLang="zh-CN" dirty="0"/>
              <a:t>V</a:t>
            </a:r>
            <a:r>
              <a:rPr lang="zh-CN" altLang="en-US" dirty="0"/>
              <a:t>以及其下标均为大写；</a:t>
            </a:r>
            <a:endParaRPr lang="en-US" altLang="zh-CN" dirty="0"/>
          </a:p>
          <a:p>
            <a:r>
              <a:rPr lang="zh-CN" altLang="en-US" dirty="0"/>
              <a:t>如信号只有交流分量（平均值为</a:t>
            </a:r>
            <a:r>
              <a:rPr lang="en-US" altLang="zh-CN" dirty="0"/>
              <a:t>0</a:t>
            </a:r>
            <a:r>
              <a:rPr lang="zh-CN" altLang="en-US" dirty="0"/>
              <a:t>），则</a:t>
            </a:r>
            <a:r>
              <a:rPr lang="en-US" altLang="zh-CN" dirty="0"/>
              <a:t>I</a:t>
            </a:r>
            <a:r>
              <a:rPr lang="zh-CN" altLang="en-US" dirty="0"/>
              <a:t>和</a:t>
            </a:r>
            <a:r>
              <a:rPr lang="en-US" altLang="zh-CN" dirty="0"/>
              <a:t>V</a:t>
            </a:r>
            <a:r>
              <a:rPr lang="zh-CN" altLang="en-US" dirty="0"/>
              <a:t>以及其下标均为小写；</a:t>
            </a:r>
            <a:endParaRPr lang="en-US" altLang="zh-CN" dirty="0"/>
          </a:p>
          <a:p>
            <a:r>
              <a:rPr lang="zh-CN" altLang="en-US" dirty="0"/>
              <a:t>如信号既有直流分量（平均值不为</a:t>
            </a:r>
            <a:r>
              <a:rPr lang="en-US" altLang="zh-CN" dirty="0"/>
              <a:t>0</a:t>
            </a:r>
            <a:r>
              <a:rPr lang="zh-CN" altLang="en-US" dirty="0"/>
              <a:t>），也有交流分量，则</a:t>
            </a:r>
            <a:r>
              <a:rPr lang="en-US" altLang="zh-CN" dirty="0" err="1"/>
              <a:t>i</a:t>
            </a:r>
            <a:r>
              <a:rPr lang="zh-CN" altLang="en-US" dirty="0"/>
              <a:t>和</a:t>
            </a:r>
            <a:r>
              <a:rPr lang="en-US" altLang="zh-CN" dirty="0"/>
              <a:t>v</a:t>
            </a:r>
            <a:r>
              <a:rPr lang="zh-CN" altLang="en-US" dirty="0"/>
              <a:t>小写，其下标为大写；</a:t>
            </a:r>
            <a:endParaRPr lang="en-US" altLang="zh-CN"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9</a:t>
            </a:fld>
            <a:endParaRPr lang="zh-CN" altLang="en-US"/>
          </a:p>
        </p:txBody>
      </p:sp>
    </p:spTree>
    <p:extLst>
      <p:ext uri="{BB962C8B-B14F-4D97-AF65-F5344CB8AC3E}">
        <p14:creationId xmlns:p14="http://schemas.microsoft.com/office/powerpoint/2010/main" val="2611731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静态工作点：既确定 </a:t>
            </a:r>
            <a:r>
              <a:rPr lang="en-US" altLang="zh-CN" dirty="0"/>
              <a:t>be</a:t>
            </a:r>
            <a:r>
              <a:rPr lang="zh-CN" altLang="en-US" dirty="0"/>
              <a:t>之间的电压电流</a:t>
            </a:r>
            <a:r>
              <a:rPr lang="en-US" altLang="zh-CN" dirty="0"/>
              <a:t>:</a:t>
            </a:r>
            <a:r>
              <a:rPr lang="en-US" altLang="zh-CN" baseline="0" dirty="0"/>
              <a:t> V_BEQ</a:t>
            </a:r>
            <a:r>
              <a:rPr lang="zh-CN" altLang="en-US" baseline="0" dirty="0"/>
              <a:t>和</a:t>
            </a:r>
            <a:r>
              <a:rPr lang="en-US" altLang="zh-CN" baseline="0" dirty="0"/>
              <a:t>I_BQ</a:t>
            </a:r>
            <a:r>
              <a:rPr lang="zh-CN" altLang="en-US" baseline="0" dirty="0"/>
              <a:t>和</a:t>
            </a:r>
            <a:r>
              <a:rPr lang="en-US" altLang="zh-CN" baseline="0" dirty="0" err="1"/>
              <a:t>ce</a:t>
            </a:r>
            <a:r>
              <a:rPr lang="zh-CN" altLang="en-US" baseline="0" dirty="0"/>
              <a:t>之间的电流电压</a:t>
            </a:r>
            <a:endParaRPr lang="en-US" altLang="zh-CN" baseline="0" dirty="0"/>
          </a:p>
          <a:p>
            <a:r>
              <a:rPr lang="en-US" altLang="zh-CN" baseline="0" dirty="0"/>
              <a:t>1</a:t>
            </a:r>
            <a:r>
              <a:rPr lang="zh-CN" altLang="en-US" baseline="0" dirty="0"/>
              <a:t>）通过</a:t>
            </a:r>
            <a:r>
              <a:rPr lang="en-US" altLang="zh-CN" baseline="0" dirty="0" err="1"/>
              <a:t>i_B</a:t>
            </a:r>
            <a:r>
              <a:rPr lang="en-US" altLang="zh-CN" baseline="0" dirty="0"/>
              <a:t> - </a:t>
            </a:r>
            <a:r>
              <a:rPr lang="en-US" altLang="zh-CN" baseline="0" dirty="0" err="1"/>
              <a:t>v_BE</a:t>
            </a:r>
            <a:r>
              <a:rPr lang="zh-CN" altLang="en-US" baseline="0" dirty="0"/>
              <a:t>曲线上画线，找到交点</a:t>
            </a:r>
            <a:r>
              <a:rPr lang="en-US" altLang="zh-CN" baseline="0" dirty="0"/>
              <a:t>V_BEQ</a:t>
            </a:r>
            <a:r>
              <a:rPr lang="zh-CN" altLang="en-US" baseline="0" dirty="0"/>
              <a:t>和</a:t>
            </a:r>
            <a:r>
              <a:rPr lang="en-US" altLang="zh-CN" baseline="0" dirty="0"/>
              <a:t>I_BQ</a:t>
            </a:r>
          </a:p>
          <a:p>
            <a:r>
              <a:rPr lang="en-US" altLang="zh-CN" baseline="0" dirty="0"/>
              <a:t>2) </a:t>
            </a:r>
            <a:r>
              <a:rPr lang="zh-CN" altLang="en-US" baseline="0" dirty="0"/>
              <a:t>在</a:t>
            </a:r>
            <a:r>
              <a:rPr lang="en-US" altLang="zh-CN" baseline="0" dirty="0" err="1"/>
              <a:t>i_C</a:t>
            </a:r>
            <a:r>
              <a:rPr lang="en-US" altLang="zh-CN" baseline="0" dirty="0"/>
              <a:t> – </a:t>
            </a:r>
            <a:r>
              <a:rPr lang="en-US" altLang="zh-CN" baseline="0" dirty="0" err="1"/>
              <a:t>v_CE</a:t>
            </a:r>
            <a:r>
              <a:rPr lang="zh-CN" altLang="en-US" baseline="0" dirty="0"/>
              <a:t>图上找到</a:t>
            </a:r>
            <a:r>
              <a:rPr lang="en-US" altLang="zh-CN" baseline="0" dirty="0" err="1"/>
              <a:t>i_B</a:t>
            </a:r>
            <a:r>
              <a:rPr lang="en-US" altLang="zh-CN" baseline="0" dirty="0"/>
              <a:t>=I_BQ</a:t>
            </a:r>
            <a:r>
              <a:rPr lang="zh-CN" altLang="en-US" baseline="0" dirty="0"/>
              <a:t>的那根曲线，然后画线，找到交点</a:t>
            </a:r>
            <a:r>
              <a:rPr lang="en-US" altLang="zh-CN" baseline="0" dirty="0"/>
              <a:t>V_CEQ</a:t>
            </a:r>
            <a:r>
              <a:rPr lang="zh-CN" altLang="en-US" baseline="0" dirty="0"/>
              <a:t>和</a:t>
            </a:r>
            <a:r>
              <a:rPr lang="en-US" altLang="zh-CN" baseline="0" dirty="0"/>
              <a:t>I_CQ</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10</a:t>
            </a:fld>
            <a:endParaRPr lang="zh-CN" altLang="en-US"/>
          </a:p>
        </p:txBody>
      </p:sp>
    </p:spTree>
    <p:extLst>
      <p:ext uri="{BB962C8B-B14F-4D97-AF65-F5344CB8AC3E}">
        <p14:creationId xmlns:p14="http://schemas.microsoft.com/office/powerpoint/2010/main" val="2094373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itchFamily="34" charset="0"/>
                <a:ea typeface="宋体" pitchFamily="2" charset="-122"/>
                <a:cs typeface="宋体" charset="0"/>
              </a:rPr>
              <a:t>输入交流电压</a:t>
            </a:r>
            <a:r>
              <a:rPr lang="en-US" altLang="zh-CN" sz="1200" kern="1200" dirty="0" err="1">
                <a:solidFill>
                  <a:schemeClr val="tx1"/>
                </a:solidFill>
                <a:effectLst/>
                <a:latin typeface="Arial" pitchFamily="34" charset="0"/>
                <a:ea typeface="宋体" pitchFamily="2" charset="-122"/>
                <a:cs typeface="宋体" charset="0"/>
              </a:rPr>
              <a:t>v_s</a:t>
            </a:r>
            <a:r>
              <a:rPr lang="zh-CN" altLang="zh-CN" sz="1200" kern="1200" dirty="0">
                <a:solidFill>
                  <a:schemeClr val="tx1"/>
                </a:solidFill>
                <a:effectLst/>
                <a:latin typeface="Arial" pitchFamily="34" charset="0"/>
                <a:ea typeface="宋体" pitchFamily="2" charset="-122"/>
                <a:cs typeface="宋体" charset="0"/>
              </a:rPr>
              <a:t>叠加在直流偏置电压</a:t>
            </a:r>
            <a:r>
              <a:rPr lang="en-US" altLang="zh-CN" sz="1200" kern="1200" dirty="0">
                <a:solidFill>
                  <a:schemeClr val="tx1"/>
                </a:solidFill>
                <a:effectLst/>
                <a:latin typeface="Arial" pitchFamily="34" charset="0"/>
                <a:ea typeface="宋体" pitchFamily="2" charset="-122"/>
                <a:cs typeface="宋体" charset="0"/>
              </a:rPr>
              <a:t>V_BB</a:t>
            </a:r>
            <a:r>
              <a:rPr lang="zh-CN" altLang="zh-CN" sz="1200" kern="1200" dirty="0">
                <a:solidFill>
                  <a:schemeClr val="tx1"/>
                </a:solidFill>
                <a:effectLst/>
                <a:latin typeface="Arial" pitchFamily="34" charset="0"/>
                <a:ea typeface="宋体" pitchFamily="2" charset="-122"/>
                <a:cs typeface="宋体" charset="0"/>
              </a:rPr>
              <a:t>的基础上，斜率仍然是</a:t>
            </a:r>
            <a:r>
              <a:rPr lang="en-US"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R_b</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所以对应的是左图的直线上下移动，且移动的范围对应横坐标轴上的</a:t>
            </a:r>
            <a:r>
              <a:rPr lang="en-US" altLang="zh-CN" sz="1200" kern="1200" dirty="0">
                <a:solidFill>
                  <a:schemeClr val="tx1"/>
                </a:solidFill>
                <a:effectLst/>
                <a:latin typeface="Arial" pitchFamily="34" charset="0"/>
                <a:ea typeface="宋体" pitchFamily="2" charset="-122"/>
                <a:cs typeface="宋体" charset="0"/>
              </a:rPr>
              <a:t>V_BB</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V_sm</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分别和</a:t>
            </a:r>
            <a:r>
              <a:rPr lang="en-US" altLang="zh-CN" sz="1200" kern="1200" dirty="0" err="1">
                <a:solidFill>
                  <a:schemeClr val="tx1"/>
                </a:solidFill>
                <a:effectLst/>
                <a:latin typeface="Arial" pitchFamily="34" charset="0"/>
                <a:ea typeface="宋体" pitchFamily="2" charset="-122"/>
                <a:cs typeface="宋体" charset="0"/>
              </a:rPr>
              <a:t>i_B</a:t>
            </a:r>
            <a:r>
              <a:rPr lang="en-US" altLang="zh-CN" sz="1200" kern="1200" dirty="0">
                <a:solidFill>
                  <a:schemeClr val="tx1"/>
                </a:solidFill>
                <a:effectLst/>
                <a:latin typeface="Arial" pitchFamily="34" charset="0"/>
                <a:ea typeface="宋体" pitchFamily="2" charset="-122"/>
                <a:cs typeface="宋体" charset="0"/>
              </a:rPr>
              <a:t> - </a:t>
            </a:r>
            <a:r>
              <a:rPr lang="en-US" altLang="zh-CN" sz="1200" kern="1200" dirty="0" err="1">
                <a:solidFill>
                  <a:schemeClr val="tx1"/>
                </a:solidFill>
                <a:effectLst/>
                <a:latin typeface="Arial" pitchFamily="34" charset="0"/>
                <a:ea typeface="宋体" pitchFamily="2" charset="-122"/>
                <a:cs typeface="宋体" charset="0"/>
              </a:rPr>
              <a:t>v_BE</a:t>
            </a:r>
            <a:r>
              <a:rPr lang="zh-CN" altLang="zh-CN" sz="1200" kern="1200" dirty="0">
                <a:solidFill>
                  <a:schemeClr val="tx1"/>
                </a:solidFill>
                <a:effectLst/>
                <a:latin typeface="Arial" pitchFamily="34" charset="0"/>
                <a:ea typeface="宋体" pitchFamily="2" charset="-122"/>
                <a:cs typeface="宋体" charset="0"/>
              </a:rPr>
              <a:t>曲线的交点，投影到横坐标和纵坐标轴上，就是</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v_BE</a:t>
            </a:r>
            <a:r>
              <a:rPr lang="zh-CN" altLang="zh-CN" sz="1200" kern="1200" dirty="0">
                <a:solidFill>
                  <a:schemeClr val="tx1"/>
                </a:solidFill>
                <a:effectLst/>
                <a:latin typeface="Arial" pitchFamily="34" charset="0"/>
                <a:ea typeface="宋体" pitchFamily="2" charset="-122"/>
                <a:cs typeface="宋体" charset="0"/>
              </a:rPr>
              <a:t>的变化。</a:t>
            </a:r>
          </a:p>
          <a:p>
            <a:r>
              <a:rPr lang="zh-CN" altLang="zh-CN" sz="1200" kern="1200" dirty="0">
                <a:solidFill>
                  <a:schemeClr val="tx1"/>
                </a:solidFill>
                <a:effectLst/>
                <a:latin typeface="Arial" pitchFamily="34" charset="0"/>
                <a:ea typeface="宋体" pitchFamily="2" charset="-122"/>
                <a:cs typeface="宋体" charset="0"/>
              </a:rPr>
              <a:t>如果</a:t>
            </a:r>
            <a:r>
              <a:rPr lang="en-US" altLang="zh-CN" sz="1200" kern="1200" dirty="0" err="1">
                <a:solidFill>
                  <a:schemeClr val="tx1"/>
                </a:solidFill>
                <a:effectLst/>
                <a:latin typeface="Arial" pitchFamily="34" charset="0"/>
                <a:ea typeface="宋体" pitchFamily="2" charset="-122"/>
                <a:cs typeface="宋体" charset="0"/>
              </a:rPr>
              <a:t>Vsm</a:t>
            </a:r>
            <a:r>
              <a:rPr lang="zh-CN" altLang="zh-CN" sz="1200" kern="1200" dirty="0">
                <a:solidFill>
                  <a:schemeClr val="tx1"/>
                </a:solidFill>
                <a:effectLst/>
                <a:latin typeface="Arial" pitchFamily="34" charset="0"/>
                <a:ea typeface="宋体" pitchFamily="2" charset="-122"/>
                <a:cs typeface="宋体" charset="0"/>
              </a:rPr>
              <a:t>的值较小，则在变化区域内</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v_BE</a:t>
            </a:r>
            <a:r>
              <a:rPr lang="zh-CN" altLang="zh-CN" sz="1200" kern="1200" dirty="0">
                <a:solidFill>
                  <a:schemeClr val="tx1"/>
                </a:solidFill>
                <a:effectLst/>
                <a:latin typeface="Arial" pitchFamily="34" charset="0"/>
                <a:ea typeface="宋体" pitchFamily="2" charset="-122"/>
                <a:cs typeface="宋体" charset="0"/>
              </a:rPr>
              <a:t>与</a:t>
            </a:r>
            <a:r>
              <a:rPr lang="en-US" altLang="zh-CN" sz="1200" kern="1200" dirty="0" err="1">
                <a:solidFill>
                  <a:schemeClr val="tx1"/>
                </a:solidFill>
                <a:effectLst/>
                <a:latin typeface="Arial" pitchFamily="34" charset="0"/>
                <a:ea typeface="宋体" pitchFamily="2" charset="-122"/>
                <a:cs typeface="宋体" charset="0"/>
              </a:rPr>
              <a:t>v_s</a:t>
            </a:r>
            <a:r>
              <a:rPr lang="zh-CN" altLang="zh-CN" sz="1200" kern="1200" dirty="0">
                <a:solidFill>
                  <a:schemeClr val="tx1"/>
                </a:solidFill>
                <a:effectLst/>
                <a:latin typeface="Arial" pitchFamily="34" charset="0"/>
                <a:ea typeface="宋体" pitchFamily="2" charset="-122"/>
                <a:cs typeface="宋体" charset="0"/>
              </a:rPr>
              <a:t>可以看作线性关系，近似为正弦信号。</a:t>
            </a:r>
          </a:p>
          <a:p>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的变化对应到反应</a:t>
            </a:r>
            <a:r>
              <a:rPr lang="en-US" altLang="zh-CN" sz="1200" kern="1200" dirty="0">
                <a:solidFill>
                  <a:schemeClr val="tx1"/>
                </a:solidFill>
                <a:effectLst/>
                <a:latin typeface="Arial" pitchFamily="34" charset="0"/>
                <a:ea typeface="宋体" pitchFamily="2" charset="-122"/>
                <a:cs typeface="宋体" charset="0"/>
              </a:rPr>
              <a:t>CE</a:t>
            </a:r>
            <a:r>
              <a:rPr lang="zh-CN" altLang="zh-CN" sz="1200" kern="1200" dirty="0">
                <a:solidFill>
                  <a:schemeClr val="tx1"/>
                </a:solidFill>
                <a:effectLst/>
                <a:latin typeface="Arial" pitchFamily="34" charset="0"/>
                <a:ea typeface="宋体" pitchFamily="2" charset="-122"/>
                <a:cs typeface="宋体" charset="0"/>
              </a:rPr>
              <a:t>电流电压关系的右图上，相当于选中不同的</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曲线，而剩下的直线不动，所以对应的是交点在</a:t>
            </a:r>
            <a:r>
              <a:rPr lang="en-US" altLang="zh-CN" sz="1200" kern="1200" dirty="0">
                <a:solidFill>
                  <a:schemeClr val="tx1"/>
                </a:solidFill>
                <a:effectLst/>
                <a:latin typeface="Arial" pitchFamily="34" charset="0"/>
                <a:ea typeface="宋体" pitchFamily="2" charset="-122"/>
                <a:cs typeface="宋体" charset="0"/>
              </a:rPr>
              <a:t>Q’,Q’’</a:t>
            </a:r>
            <a:r>
              <a:rPr lang="zh-CN" altLang="zh-CN" sz="1200" kern="1200" dirty="0">
                <a:solidFill>
                  <a:schemeClr val="tx1"/>
                </a:solidFill>
                <a:effectLst/>
                <a:latin typeface="Arial" pitchFamily="34" charset="0"/>
                <a:ea typeface="宋体" pitchFamily="2" charset="-122"/>
                <a:cs typeface="宋体" charset="0"/>
              </a:rPr>
              <a:t>之间变化，投影到横坐标和纵坐标轴上，就是</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v_CE</a:t>
            </a:r>
            <a:r>
              <a:rPr lang="zh-CN" altLang="zh-CN" sz="1200" kern="1200" dirty="0">
                <a:solidFill>
                  <a:schemeClr val="tx1"/>
                </a:solidFill>
                <a:effectLst/>
                <a:latin typeface="Arial" pitchFamily="34" charset="0"/>
                <a:ea typeface="宋体" pitchFamily="2" charset="-122"/>
                <a:cs typeface="宋体" charset="0"/>
              </a:rPr>
              <a:t>的变化。因为在放大区中，放大系数</a:t>
            </a:r>
            <a:r>
              <a:rPr lang="en-US" altLang="zh-CN" sz="1200" kern="1200" dirty="0" err="1">
                <a:solidFill>
                  <a:schemeClr val="tx1"/>
                </a:solidFill>
                <a:effectLst/>
                <a:latin typeface="Arial" pitchFamily="34" charset="0"/>
                <a:ea typeface="宋体" pitchFamily="2" charset="-122"/>
                <a:cs typeface="宋体" charset="0"/>
              </a:rPr>
              <a:t>ß</a:t>
            </a:r>
            <a:r>
              <a:rPr lang="en-US"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i_C</a:t>
            </a:r>
            <a:r>
              <a:rPr lang="en-US"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近似为常数，因此</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也是线性关系，近似为正弦信号，而</a:t>
            </a:r>
            <a:r>
              <a:rPr lang="en-US" altLang="zh-CN" sz="1200" kern="1200" dirty="0" err="1">
                <a:solidFill>
                  <a:schemeClr val="tx1"/>
                </a:solidFill>
                <a:effectLst/>
                <a:latin typeface="Arial" pitchFamily="34" charset="0"/>
                <a:ea typeface="宋体" pitchFamily="2" charset="-122"/>
                <a:cs typeface="宋体" charset="0"/>
              </a:rPr>
              <a:t>v_CE</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也是线性关系</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因此也近似为正弦信号，唯一要注意的是当</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增大，</a:t>
            </a:r>
            <a:r>
              <a:rPr lang="en-US" altLang="zh-CN" sz="1200" kern="1200" dirty="0" err="1">
                <a:solidFill>
                  <a:schemeClr val="tx1"/>
                </a:solidFill>
                <a:effectLst/>
                <a:latin typeface="Arial" pitchFamily="34" charset="0"/>
                <a:ea typeface="宋体" pitchFamily="2" charset="-122"/>
                <a:cs typeface="宋体" charset="0"/>
              </a:rPr>
              <a:t>v_CE</a:t>
            </a:r>
            <a:r>
              <a:rPr lang="zh-CN" altLang="zh-CN" sz="1200" kern="1200" dirty="0">
                <a:solidFill>
                  <a:schemeClr val="tx1"/>
                </a:solidFill>
                <a:effectLst/>
                <a:latin typeface="Arial" pitchFamily="34" charset="0"/>
                <a:ea typeface="宋体" pitchFamily="2" charset="-122"/>
                <a:cs typeface="宋体" charset="0"/>
              </a:rPr>
              <a:t>减小，因此是延迟了</a:t>
            </a:r>
            <a:r>
              <a:rPr lang="en-US" altLang="zh-CN" sz="1200" kern="1200" dirty="0">
                <a:solidFill>
                  <a:schemeClr val="tx1"/>
                </a:solidFill>
                <a:effectLst/>
                <a:latin typeface="Arial" pitchFamily="34" charset="0"/>
                <a:ea typeface="宋体" pitchFamily="2" charset="-122"/>
                <a:cs typeface="宋体" charset="0"/>
              </a:rPr>
              <a:t>180</a:t>
            </a:r>
            <a:r>
              <a:rPr lang="zh-CN" altLang="zh-CN" sz="1200" kern="1200" dirty="0">
                <a:solidFill>
                  <a:schemeClr val="tx1"/>
                </a:solidFill>
                <a:effectLst/>
                <a:latin typeface="Arial" pitchFamily="34" charset="0"/>
                <a:ea typeface="宋体" pitchFamily="2" charset="-122"/>
                <a:cs typeface="宋体" charset="0"/>
              </a:rPr>
              <a:t>度的正弦信号。</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152376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itchFamily="34" charset="0"/>
                <a:ea typeface="宋体" pitchFamily="2" charset="-122"/>
                <a:cs typeface="宋体" charset="0"/>
              </a:rPr>
              <a:t>输入交流电压</a:t>
            </a:r>
            <a:r>
              <a:rPr lang="en-US" altLang="zh-CN" sz="1200" kern="1200" dirty="0" err="1">
                <a:solidFill>
                  <a:schemeClr val="tx1"/>
                </a:solidFill>
                <a:effectLst/>
                <a:latin typeface="Arial" pitchFamily="34" charset="0"/>
                <a:ea typeface="宋体" pitchFamily="2" charset="-122"/>
                <a:cs typeface="宋体" charset="0"/>
              </a:rPr>
              <a:t>v_s</a:t>
            </a:r>
            <a:r>
              <a:rPr lang="zh-CN" altLang="zh-CN" sz="1200" kern="1200" dirty="0">
                <a:solidFill>
                  <a:schemeClr val="tx1"/>
                </a:solidFill>
                <a:effectLst/>
                <a:latin typeface="Arial" pitchFamily="34" charset="0"/>
                <a:ea typeface="宋体" pitchFamily="2" charset="-122"/>
                <a:cs typeface="宋体" charset="0"/>
              </a:rPr>
              <a:t>叠加在直流偏置电压</a:t>
            </a:r>
            <a:r>
              <a:rPr lang="en-US" altLang="zh-CN" sz="1200" kern="1200" dirty="0">
                <a:solidFill>
                  <a:schemeClr val="tx1"/>
                </a:solidFill>
                <a:effectLst/>
                <a:latin typeface="Arial" pitchFamily="34" charset="0"/>
                <a:ea typeface="宋体" pitchFamily="2" charset="-122"/>
                <a:cs typeface="宋体" charset="0"/>
              </a:rPr>
              <a:t>V_BB</a:t>
            </a:r>
            <a:r>
              <a:rPr lang="zh-CN" altLang="zh-CN" sz="1200" kern="1200" dirty="0">
                <a:solidFill>
                  <a:schemeClr val="tx1"/>
                </a:solidFill>
                <a:effectLst/>
                <a:latin typeface="Arial" pitchFamily="34" charset="0"/>
                <a:ea typeface="宋体" pitchFamily="2" charset="-122"/>
                <a:cs typeface="宋体" charset="0"/>
              </a:rPr>
              <a:t>的基础上，斜率仍然是</a:t>
            </a:r>
            <a:r>
              <a:rPr lang="en-US"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R_b</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所以对应的是左图的直线上下移动，且移动的范围对应横坐标轴上的</a:t>
            </a:r>
            <a:r>
              <a:rPr lang="en-US" altLang="zh-CN" sz="1200" kern="1200" dirty="0">
                <a:solidFill>
                  <a:schemeClr val="tx1"/>
                </a:solidFill>
                <a:effectLst/>
                <a:latin typeface="Arial" pitchFamily="34" charset="0"/>
                <a:ea typeface="宋体" pitchFamily="2" charset="-122"/>
                <a:cs typeface="宋体" charset="0"/>
              </a:rPr>
              <a:t>V_BB</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V_sm</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分别和</a:t>
            </a:r>
            <a:r>
              <a:rPr lang="en-US" altLang="zh-CN" sz="1200" kern="1200" dirty="0" err="1">
                <a:solidFill>
                  <a:schemeClr val="tx1"/>
                </a:solidFill>
                <a:effectLst/>
                <a:latin typeface="Arial" pitchFamily="34" charset="0"/>
                <a:ea typeface="宋体" pitchFamily="2" charset="-122"/>
                <a:cs typeface="宋体" charset="0"/>
              </a:rPr>
              <a:t>i_B</a:t>
            </a:r>
            <a:r>
              <a:rPr lang="en-US" altLang="zh-CN" sz="1200" kern="1200" dirty="0">
                <a:solidFill>
                  <a:schemeClr val="tx1"/>
                </a:solidFill>
                <a:effectLst/>
                <a:latin typeface="Arial" pitchFamily="34" charset="0"/>
                <a:ea typeface="宋体" pitchFamily="2" charset="-122"/>
                <a:cs typeface="宋体" charset="0"/>
              </a:rPr>
              <a:t> - </a:t>
            </a:r>
            <a:r>
              <a:rPr lang="en-US" altLang="zh-CN" sz="1200" kern="1200" dirty="0" err="1">
                <a:solidFill>
                  <a:schemeClr val="tx1"/>
                </a:solidFill>
                <a:effectLst/>
                <a:latin typeface="Arial" pitchFamily="34" charset="0"/>
                <a:ea typeface="宋体" pitchFamily="2" charset="-122"/>
                <a:cs typeface="宋体" charset="0"/>
              </a:rPr>
              <a:t>v_BE</a:t>
            </a:r>
            <a:r>
              <a:rPr lang="zh-CN" altLang="zh-CN" sz="1200" kern="1200" dirty="0">
                <a:solidFill>
                  <a:schemeClr val="tx1"/>
                </a:solidFill>
                <a:effectLst/>
                <a:latin typeface="Arial" pitchFamily="34" charset="0"/>
                <a:ea typeface="宋体" pitchFamily="2" charset="-122"/>
                <a:cs typeface="宋体" charset="0"/>
              </a:rPr>
              <a:t>曲线的交点，投影到横坐标和纵坐标轴上，就是</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v_BE</a:t>
            </a:r>
            <a:r>
              <a:rPr lang="zh-CN" altLang="zh-CN" sz="1200" kern="1200" dirty="0">
                <a:solidFill>
                  <a:schemeClr val="tx1"/>
                </a:solidFill>
                <a:effectLst/>
                <a:latin typeface="Arial" pitchFamily="34" charset="0"/>
                <a:ea typeface="宋体" pitchFamily="2" charset="-122"/>
                <a:cs typeface="宋体" charset="0"/>
              </a:rPr>
              <a:t>的变化。</a:t>
            </a:r>
          </a:p>
          <a:p>
            <a:r>
              <a:rPr lang="zh-CN" altLang="zh-CN" sz="1200" kern="1200" dirty="0">
                <a:solidFill>
                  <a:schemeClr val="tx1"/>
                </a:solidFill>
                <a:effectLst/>
                <a:latin typeface="Arial" pitchFamily="34" charset="0"/>
                <a:ea typeface="宋体" pitchFamily="2" charset="-122"/>
                <a:cs typeface="宋体" charset="0"/>
              </a:rPr>
              <a:t>如果</a:t>
            </a:r>
            <a:r>
              <a:rPr lang="en-US" altLang="zh-CN" sz="1200" kern="1200" dirty="0" err="1">
                <a:solidFill>
                  <a:schemeClr val="tx1"/>
                </a:solidFill>
                <a:effectLst/>
                <a:latin typeface="Arial" pitchFamily="34" charset="0"/>
                <a:ea typeface="宋体" pitchFamily="2" charset="-122"/>
                <a:cs typeface="宋体" charset="0"/>
              </a:rPr>
              <a:t>Vsm</a:t>
            </a:r>
            <a:r>
              <a:rPr lang="zh-CN" altLang="zh-CN" sz="1200" kern="1200" dirty="0">
                <a:solidFill>
                  <a:schemeClr val="tx1"/>
                </a:solidFill>
                <a:effectLst/>
                <a:latin typeface="Arial" pitchFamily="34" charset="0"/>
                <a:ea typeface="宋体" pitchFamily="2" charset="-122"/>
                <a:cs typeface="宋体" charset="0"/>
              </a:rPr>
              <a:t>的值较小，则在变化区域内</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v_BE</a:t>
            </a:r>
            <a:r>
              <a:rPr lang="zh-CN" altLang="zh-CN" sz="1200" kern="1200" dirty="0">
                <a:solidFill>
                  <a:schemeClr val="tx1"/>
                </a:solidFill>
                <a:effectLst/>
                <a:latin typeface="Arial" pitchFamily="34" charset="0"/>
                <a:ea typeface="宋体" pitchFamily="2" charset="-122"/>
                <a:cs typeface="宋体" charset="0"/>
              </a:rPr>
              <a:t>与</a:t>
            </a:r>
            <a:r>
              <a:rPr lang="en-US" altLang="zh-CN" sz="1200" kern="1200" dirty="0" err="1">
                <a:solidFill>
                  <a:schemeClr val="tx1"/>
                </a:solidFill>
                <a:effectLst/>
                <a:latin typeface="Arial" pitchFamily="34" charset="0"/>
                <a:ea typeface="宋体" pitchFamily="2" charset="-122"/>
                <a:cs typeface="宋体" charset="0"/>
              </a:rPr>
              <a:t>v_s</a:t>
            </a:r>
            <a:r>
              <a:rPr lang="zh-CN" altLang="zh-CN" sz="1200" kern="1200" dirty="0">
                <a:solidFill>
                  <a:schemeClr val="tx1"/>
                </a:solidFill>
                <a:effectLst/>
                <a:latin typeface="Arial" pitchFamily="34" charset="0"/>
                <a:ea typeface="宋体" pitchFamily="2" charset="-122"/>
                <a:cs typeface="宋体" charset="0"/>
              </a:rPr>
              <a:t>可以看作线性关系，近似为正弦信号。</a:t>
            </a:r>
          </a:p>
          <a:p>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的变化对应到反应</a:t>
            </a:r>
            <a:r>
              <a:rPr lang="en-US" altLang="zh-CN" sz="1200" kern="1200" dirty="0">
                <a:solidFill>
                  <a:schemeClr val="tx1"/>
                </a:solidFill>
                <a:effectLst/>
                <a:latin typeface="Arial" pitchFamily="34" charset="0"/>
                <a:ea typeface="宋体" pitchFamily="2" charset="-122"/>
                <a:cs typeface="宋体" charset="0"/>
              </a:rPr>
              <a:t>CE</a:t>
            </a:r>
            <a:r>
              <a:rPr lang="zh-CN" altLang="zh-CN" sz="1200" kern="1200" dirty="0">
                <a:solidFill>
                  <a:schemeClr val="tx1"/>
                </a:solidFill>
                <a:effectLst/>
                <a:latin typeface="Arial" pitchFamily="34" charset="0"/>
                <a:ea typeface="宋体" pitchFamily="2" charset="-122"/>
                <a:cs typeface="宋体" charset="0"/>
              </a:rPr>
              <a:t>电流电压关系的右图上，相当于选中不同的</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曲线，而剩下的直线不动，所以对应的是交点在</a:t>
            </a:r>
            <a:r>
              <a:rPr lang="en-US" altLang="zh-CN" sz="1200" kern="1200" dirty="0">
                <a:solidFill>
                  <a:schemeClr val="tx1"/>
                </a:solidFill>
                <a:effectLst/>
                <a:latin typeface="Arial" pitchFamily="34" charset="0"/>
                <a:ea typeface="宋体" pitchFamily="2" charset="-122"/>
                <a:cs typeface="宋体" charset="0"/>
              </a:rPr>
              <a:t>Q’,Q’’</a:t>
            </a:r>
            <a:r>
              <a:rPr lang="zh-CN" altLang="zh-CN" sz="1200" kern="1200" dirty="0">
                <a:solidFill>
                  <a:schemeClr val="tx1"/>
                </a:solidFill>
                <a:effectLst/>
                <a:latin typeface="Arial" pitchFamily="34" charset="0"/>
                <a:ea typeface="宋体" pitchFamily="2" charset="-122"/>
                <a:cs typeface="宋体" charset="0"/>
              </a:rPr>
              <a:t>之间变化，投影到横坐标和纵坐标轴上，就是</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v_CE</a:t>
            </a:r>
            <a:r>
              <a:rPr lang="zh-CN" altLang="zh-CN" sz="1200" kern="1200" dirty="0">
                <a:solidFill>
                  <a:schemeClr val="tx1"/>
                </a:solidFill>
                <a:effectLst/>
                <a:latin typeface="Arial" pitchFamily="34" charset="0"/>
                <a:ea typeface="宋体" pitchFamily="2" charset="-122"/>
                <a:cs typeface="宋体" charset="0"/>
              </a:rPr>
              <a:t>的变化。因为在放大区中，放大系数</a:t>
            </a:r>
            <a:r>
              <a:rPr lang="en-US" altLang="zh-CN" sz="1200" kern="1200" dirty="0" err="1">
                <a:solidFill>
                  <a:schemeClr val="tx1"/>
                </a:solidFill>
                <a:effectLst/>
                <a:latin typeface="Arial" pitchFamily="34" charset="0"/>
                <a:ea typeface="宋体" pitchFamily="2" charset="-122"/>
                <a:cs typeface="宋体" charset="0"/>
              </a:rPr>
              <a:t>ß</a:t>
            </a:r>
            <a:r>
              <a:rPr lang="en-US"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i_C</a:t>
            </a:r>
            <a:r>
              <a:rPr lang="en-US"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近似为常数，因此</a:t>
            </a:r>
            <a:r>
              <a:rPr lang="en-US" altLang="zh-CN" sz="1200" kern="1200" dirty="0" err="1">
                <a:solidFill>
                  <a:schemeClr val="tx1"/>
                </a:solidFill>
                <a:effectLst/>
                <a:latin typeface="Arial" pitchFamily="34" charset="0"/>
                <a:ea typeface="宋体" pitchFamily="2" charset="-122"/>
                <a:cs typeface="宋体" charset="0"/>
              </a:rPr>
              <a:t>i_B</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也是线性关系，近似为正弦信号，而</a:t>
            </a:r>
            <a:r>
              <a:rPr lang="en-US" altLang="zh-CN" sz="1200" kern="1200" dirty="0" err="1">
                <a:solidFill>
                  <a:schemeClr val="tx1"/>
                </a:solidFill>
                <a:effectLst/>
                <a:latin typeface="Arial" pitchFamily="34" charset="0"/>
                <a:ea typeface="宋体" pitchFamily="2" charset="-122"/>
                <a:cs typeface="宋体" charset="0"/>
              </a:rPr>
              <a:t>v_CE</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也是线性关系</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因此也近似为正弦信号，唯一要注意的是当</a:t>
            </a:r>
            <a:r>
              <a:rPr lang="en-US" altLang="zh-CN" sz="1200" kern="1200" dirty="0" err="1">
                <a:solidFill>
                  <a:schemeClr val="tx1"/>
                </a:solidFill>
                <a:effectLst/>
                <a:latin typeface="Arial" pitchFamily="34" charset="0"/>
                <a:ea typeface="宋体" pitchFamily="2" charset="-122"/>
                <a:cs typeface="宋体" charset="0"/>
              </a:rPr>
              <a:t>i_C</a:t>
            </a:r>
            <a:r>
              <a:rPr lang="zh-CN" altLang="zh-CN" sz="1200" kern="1200" dirty="0">
                <a:solidFill>
                  <a:schemeClr val="tx1"/>
                </a:solidFill>
                <a:effectLst/>
                <a:latin typeface="Arial" pitchFamily="34" charset="0"/>
                <a:ea typeface="宋体" pitchFamily="2" charset="-122"/>
                <a:cs typeface="宋体" charset="0"/>
              </a:rPr>
              <a:t>增大，</a:t>
            </a:r>
            <a:r>
              <a:rPr lang="en-US" altLang="zh-CN" sz="1200" kern="1200" dirty="0" err="1">
                <a:solidFill>
                  <a:schemeClr val="tx1"/>
                </a:solidFill>
                <a:effectLst/>
                <a:latin typeface="Arial" pitchFamily="34" charset="0"/>
                <a:ea typeface="宋体" pitchFamily="2" charset="-122"/>
                <a:cs typeface="宋体" charset="0"/>
              </a:rPr>
              <a:t>v_CE</a:t>
            </a:r>
            <a:r>
              <a:rPr lang="zh-CN" altLang="zh-CN" sz="1200" kern="1200" dirty="0">
                <a:solidFill>
                  <a:schemeClr val="tx1"/>
                </a:solidFill>
                <a:effectLst/>
                <a:latin typeface="Arial" pitchFamily="34" charset="0"/>
                <a:ea typeface="宋体" pitchFamily="2" charset="-122"/>
                <a:cs typeface="宋体" charset="0"/>
              </a:rPr>
              <a:t>减小，因此是延迟了</a:t>
            </a:r>
            <a:r>
              <a:rPr lang="en-US" altLang="zh-CN" sz="1200" kern="1200" dirty="0">
                <a:solidFill>
                  <a:schemeClr val="tx1"/>
                </a:solidFill>
                <a:effectLst/>
                <a:latin typeface="Arial" pitchFamily="34" charset="0"/>
                <a:ea typeface="宋体" pitchFamily="2" charset="-122"/>
                <a:cs typeface="宋体" charset="0"/>
              </a:rPr>
              <a:t>180</a:t>
            </a:r>
            <a:r>
              <a:rPr lang="zh-CN" altLang="zh-CN" sz="1200" kern="1200" dirty="0">
                <a:solidFill>
                  <a:schemeClr val="tx1"/>
                </a:solidFill>
                <a:effectLst/>
                <a:latin typeface="Arial" pitchFamily="34" charset="0"/>
                <a:ea typeface="宋体" pitchFamily="2" charset="-122"/>
                <a:cs typeface="宋体" charset="0"/>
              </a:rPr>
              <a:t>度的正弦信号。</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12</a:t>
            </a:fld>
            <a:endParaRPr lang="zh-CN" altLang="en-US"/>
          </a:p>
        </p:txBody>
      </p:sp>
    </p:spTree>
    <p:extLst>
      <p:ext uri="{BB962C8B-B14F-4D97-AF65-F5344CB8AC3E}">
        <p14:creationId xmlns:p14="http://schemas.microsoft.com/office/powerpoint/2010/main" val="1241606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当放大器的工作点选得太低或太高时，放大器将不能对输入信号实施正常的放大。</a:t>
            </a:r>
          </a:p>
          <a:p>
            <a:pPr eaLnBrk="1" hangingPunct="1"/>
            <a:r>
              <a:rPr kumimoji="1" lang="zh-CN" altLang="en-US" dirty="0">
                <a:solidFill>
                  <a:srgbClr val="000000"/>
                </a:solidFill>
              </a:rPr>
              <a:t>工作点太低时的截止失真，</a:t>
            </a:r>
            <a:r>
              <a:rPr kumimoji="1" lang="zh-CN" altLang="en-US" dirty="0"/>
              <a:t>截止失真是在输入回路首先产生失真！</a:t>
            </a:r>
            <a:r>
              <a:rPr lang="zh-CN" altLang="en-US" dirty="0">
                <a:solidFill>
                  <a:srgbClr val="010000"/>
                </a:solidFill>
              </a:rPr>
              <a:t>消除方法：增大</a:t>
            </a:r>
            <a:r>
              <a:rPr lang="en-US" altLang="zh-CN" i="1" dirty="0">
                <a:solidFill>
                  <a:srgbClr val="010000"/>
                </a:solidFill>
              </a:rPr>
              <a:t>V</a:t>
            </a:r>
            <a:r>
              <a:rPr lang="en-US" altLang="zh-CN" dirty="0">
                <a:solidFill>
                  <a:srgbClr val="010000"/>
                </a:solidFill>
              </a:rPr>
              <a:t>BB</a:t>
            </a:r>
            <a:r>
              <a:rPr lang="zh-CN" altLang="en-US" dirty="0">
                <a:solidFill>
                  <a:srgbClr val="010000"/>
                </a:solidFill>
              </a:rPr>
              <a:t>（定义在</a:t>
            </a:r>
            <a:r>
              <a:rPr lang="en-US" altLang="zh-CN" dirty="0">
                <a:solidFill>
                  <a:srgbClr val="010000"/>
                </a:solidFill>
              </a:rPr>
              <a:t>P8</a:t>
            </a:r>
            <a:r>
              <a:rPr lang="zh-CN" altLang="en-US" dirty="0">
                <a:solidFill>
                  <a:srgbClr val="010000"/>
                </a:solidFill>
              </a:rPr>
              <a:t>，参见</a:t>
            </a:r>
            <a:r>
              <a:rPr lang="en-US" altLang="zh-CN" dirty="0">
                <a:solidFill>
                  <a:srgbClr val="010000"/>
                </a:solidFill>
              </a:rPr>
              <a:t>P10</a:t>
            </a:r>
            <a:r>
              <a:rPr lang="zh-CN" altLang="en-US" dirty="0">
                <a:solidFill>
                  <a:srgbClr val="010000"/>
                </a:solidFill>
              </a:rPr>
              <a:t>），即向上平移输入回路负载线。</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13</a:t>
            </a:fld>
            <a:endParaRPr lang="zh-CN" altLang="en-US"/>
          </a:p>
        </p:txBody>
      </p:sp>
    </p:spTree>
    <p:extLst>
      <p:ext uri="{BB962C8B-B14F-4D97-AF65-F5344CB8AC3E}">
        <p14:creationId xmlns:p14="http://schemas.microsoft.com/office/powerpoint/2010/main" val="2051123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宋体" panose="02010600030101010101" pitchFamily="2" charset="-122"/>
              </a:rPr>
              <a:t>消除方法：</a:t>
            </a:r>
            <a:r>
              <a:rPr lang="zh-CN" altLang="en-US" dirty="0">
                <a:latin typeface="Times New Roman" panose="02020603050405020304" pitchFamily="18" charset="0"/>
              </a:rPr>
              <a:t>增大</a:t>
            </a:r>
            <a:r>
              <a:rPr lang="en-US" altLang="zh-CN" i="1" dirty="0">
                <a:latin typeface="Times New Roman" panose="02020603050405020304" pitchFamily="18" charset="0"/>
              </a:rPr>
              <a:t>R</a:t>
            </a:r>
            <a:r>
              <a:rPr lang="en-US" altLang="zh-CN" baseline="-25000" dirty="0">
                <a:latin typeface="Times New Roman" panose="02020603050405020304" pitchFamily="18" charset="0"/>
              </a:rPr>
              <a:t>b</a:t>
            </a:r>
            <a:r>
              <a:rPr lang="zh-CN" altLang="en-US" dirty="0">
                <a:latin typeface="Times New Roman" panose="02020603050405020304" pitchFamily="18" charset="0"/>
              </a:rPr>
              <a:t>，减小</a:t>
            </a:r>
            <a:r>
              <a:rPr lang="en-US" altLang="zh-CN" i="1" dirty="0" err="1">
                <a:latin typeface="Times New Roman" panose="02020603050405020304" pitchFamily="18" charset="0"/>
              </a:rPr>
              <a:t>R</a:t>
            </a:r>
            <a:r>
              <a:rPr lang="en-US" altLang="zh-CN" baseline="-25000" dirty="0" err="1">
                <a:latin typeface="Times New Roman" panose="02020603050405020304" pitchFamily="18" charset="0"/>
              </a:rPr>
              <a:t>c</a:t>
            </a:r>
            <a:r>
              <a:rPr lang="zh-CN" altLang="en-US" dirty="0">
                <a:latin typeface="Times New Roman" panose="02020603050405020304" pitchFamily="18" charset="0"/>
              </a:rPr>
              <a:t>，减小</a:t>
            </a:r>
            <a:r>
              <a:rPr lang="en-US" altLang="zh-CN" i="1" dirty="0">
                <a:latin typeface="Times New Roman" panose="02020603050405020304" pitchFamily="18" charset="0"/>
              </a:rPr>
              <a:t>β</a:t>
            </a:r>
            <a:r>
              <a:rPr lang="zh-CN" altLang="en-US" dirty="0">
                <a:latin typeface="Times New Roman" panose="02020603050405020304" pitchFamily="18" charset="0"/>
              </a:rPr>
              <a:t>，减小</a:t>
            </a:r>
            <a:r>
              <a:rPr lang="en-US" altLang="zh-CN" i="1" dirty="0">
                <a:latin typeface="Times New Roman" panose="02020603050405020304" pitchFamily="18" charset="0"/>
              </a:rPr>
              <a:t>V</a:t>
            </a:r>
            <a:r>
              <a:rPr lang="en-US" altLang="zh-CN" baseline="-25000" dirty="0">
                <a:latin typeface="Times New Roman" panose="02020603050405020304" pitchFamily="18" charset="0"/>
              </a:rPr>
              <a:t>BB</a:t>
            </a:r>
            <a:r>
              <a:rPr lang="zh-CN" altLang="en-US" dirty="0">
                <a:latin typeface="Times New Roman" panose="02020603050405020304" pitchFamily="18" charset="0"/>
              </a:rPr>
              <a:t>，增大</a:t>
            </a:r>
            <a:r>
              <a:rPr lang="en-US" altLang="zh-CN" i="1" dirty="0">
                <a:latin typeface="Times New Roman" panose="02020603050405020304" pitchFamily="18" charset="0"/>
              </a:rPr>
              <a:t>V</a:t>
            </a:r>
            <a:r>
              <a:rPr lang="en-US" altLang="zh-CN" baseline="-25000" dirty="0">
                <a:latin typeface="Times New Roman" panose="02020603050405020304" pitchFamily="18" charset="0"/>
              </a:rPr>
              <a:t>CC</a:t>
            </a:r>
            <a:r>
              <a:rPr lang="zh-CN" altLang="en-US" dirty="0">
                <a:latin typeface="Times New Roman" panose="02020603050405020304" pitchFamily="18" charset="0"/>
              </a:rPr>
              <a:t>。</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14</a:t>
            </a:fld>
            <a:endParaRPr lang="zh-CN" altLang="en-US"/>
          </a:p>
        </p:txBody>
      </p:sp>
    </p:spTree>
    <p:extLst>
      <p:ext uri="{BB962C8B-B14F-4D97-AF65-F5344CB8AC3E}">
        <p14:creationId xmlns:p14="http://schemas.microsoft.com/office/powerpoint/2010/main" val="1402624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静态工作点：既确定 </a:t>
            </a:r>
            <a:r>
              <a:rPr lang="en-US" altLang="zh-CN" dirty="0"/>
              <a:t>be</a:t>
            </a:r>
            <a:r>
              <a:rPr lang="zh-CN" altLang="en-US" dirty="0"/>
              <a:t>之间的电压电流</a:t>
            </a:r>
            <a:r>
              <a:rPr lang="en-US" altLang="zh-CN" dirty="0"/>
              <a:t>:</a:t>
            </a:r>
            <a:r>
              <a:rPr lang="en-US" altLang="zh-CN" baseline="0" dirty="0"/>
              <a:t> V_BEQ</a:t>
            </a:r>
            <a:r>
              <a:rPr lang="zh-CN" altLang="en-US" baseline="0" dirty="0"/>
              <a:t>和</a:t>
            </a:r>
            <a:r>
              <a:rPr lang="en-US" altLang="zh-CN" baseline="0" dirty="0"/>
              <a:t>I_BQ</a:t>
            </a:r>
            <a:r>
              <a:rPr lang="zh-CN" altLang="en-US" baseline="0" dirty="0"/>
              <a:t>和</a:t>
            </a:r>
            <a:r>
              <a:rPr lang="en-US" altLang="zh-CN" baseline="0" dirty="0" err="1"/>
              <a:t>ce</a:t>
            </a:r>
            <a:r>
              <a:rPr lang="zh-CN" altLang="en-US" baseline="0" dirty="0"/>
              <a:t>之间的电流电压</a:t>
            </a:r>
            <a:endParaRPr lang="en-US" altLang="zh-CN" baseline="0" dirty="0"/>
          </a:p>
          <a:p>
            <a:r>
              <a:rPr lang="en-US" altLang="zh-CN" baseline="0" dirty="0"/>
              <a:t>1</a:t>
            </a:r>
            <a:r>
              <a:rPr lang="zh-CN" altLang="en-US" baseline="0" dirty="0"/>
              <a:t>）通过</a:t>
            </a:r>
            <a:r>
              <a:rPr lang="en-US" altLang="zh-CN" baseline="0" dirty="0" err="1"/>
              <a:t>i_B</a:t>
            </a:r>
            <a:r>
              <a:rPr lang="en-US" altLang="zh-CN" baseline="0" dirty="0"/>
              <a:t> - </a:t>
            </a:r>
            <a:r>
              <a:rPr lang="en-US" altLang="zh-CN" baseline="0" dirty="0" err="1"/>
              <a:t>v_BE</a:t>
            </a:r>
            <a:r>
              <a:rPr lang="zh-CN" altLang="en-US" baseline="0" dirty="0"/>
              <a:t>曲线上画线，找到交点</a:t>
            </a:r>
            <a:r>
              <a:rPr lang="en-US" altLang="zh-CN" baseline="0" dirty="0"/>
              <a:t>V_BEQ</a:t>
            </a:r>
            <a:r>
              <a:rPr lang="zh-CN" altLang="en-US" baseline="0" dirty="0"/>
              <a:t>和</a:t>
            </a:r>
            <a:r>
              <a:rPr lang="en-US" altLang="zh-CN" baseline="0" dirty="0"/>
              <a:t>I_BQ</a:t>
            </a:r>
          </a:p>
          <a:p>
            <a:r>
              <a:rPr lang="en-US" altLang="zh-CN" baseline="0" dirty="0"/>
              <a:t>2) </a:t>
            </a:r>
            <a:r>
              <a:rPr lang="zh-CN" altLang="en-US" baseline="0" dirty="0"/>
              <a:t>在</a:t>
            </a:r>
            <a:r>
              <a:rPr lang="en-US" altLang="zh-CN" baseline="0" dirty="0" err="1"/>
              <a:t>i_C</a:t>
            </a:r>
            <a:r>
              <a:rPr lang="en-US" altLang="zh-CN" baseline="0" dirty="0"/>
              <a:t> – </a:t>
            </a:r>
            <a:r>
              <a:rPr lang="en-US" altLang="zh-CN" baseline="0" dirty="0" err="1"/>
              <a:t>v_CE</a:t>
            </a:r>
            <a:r>
              <a:rPr lang="zh-CN" altLang="en-US" baseline="0" dirty="0"/>
              <a:t>图上找到</a:t>
            </a:r>
            <a:r>
              <a:rPr lang="en-US" altLang="zh-CN" baseline="0" dirty="0" err="1"/>
              <a:t>i_B</a:t>
            </a:r>
            <a:r>
              <a:rPr lang="en-US" altLang="zh-CN" baseline="0" dirty="0"/>
              <a:t>=I_BQ</a:t>
            </a:r>
            <a:r>
              <a:rPr lang="zh-CN" altLang="en-US" baseline="0" dirty="0"/>
              <a:t>的那根曲线，然后画线，找到交点</a:t>
            </a:r>
            <a:r>
              <a:rPr lang="en-US" altLang="zh-CN" baseline="0" dirty="0"/>
              <a:t>V_CEQ</a:t>
            </a:r>
            <a:r>
              <a:rPr lang="zh-CN" altLang="en-US" baseline="0" dirty="0"/>
              <a:t>和</a:t>
            </a:r>
            <a:r>
              <a:rPr lang="en-US" altLang="zh-CN" baseline="0" dirty="0"/>
              <a:t>I_CQ</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15</a:t>
            </a:fld>
            <a:endParaRPr lang="zh-CN" altLang="en-US"/>
          </a:p>
        </p:txBody>
      </p:sp>
    </p:spTree>
    <p:extLst>
      <p:ext uri="{BB962C8B-B14F-4D97-AF65-F5344CB8AC3E}">
        <p14:creationId xmlns:p14="http://schemas.microsoft.com/office/powerpoint/2010/main" val="4045615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放大电路建立正确的静态，是保证动态工作的前提。分析放大电路必须要正确地区分静态和动态，正确地区分直流通路和交流通路。</a:t>
            </a:r>
          </a:p>
          <a:p>
            <a:pPr eaLnBrk="1" hangingPunct="1"/>
            <a:r>
              <a:rPr lang="zh-CN" altLang="en-US" dirty="0"/>
              <a:t>不同书写体字母的含义：</a:t>
            </a:r>
          </a:p>
          <a:p>
            <a:pPr eaLnBrk="1" hangingPunct="1"/>
            <a:r>
              <a:rPr lang="en-US" altLang="zh-CN" dirty="0"/>
              <a:t>IB  —</a:t>
            </a:r>
            <a:r>
              <a:rPr lang="zh-CN" altLang="en-US" dirty="0"/>
              <a:t>大写字母，大写下标，表示直流量</a:t>
            </a:r>
          </a:p>
          <a:p>
            <a:pPr eaLnBrk="1" hangingPunct="1"/>
            <a:r>
              <a:rPr lang="en-US" altLang="zh-CN" dirty="0" err="1"/>
              <a:t>ib</a:t>
            </a:r>
            <a:r>
              <a:rPr lang="en-US" altLang="zh-CN" dirty="0"/>
              <a:t> —</a:t>
            </a:r>
            <a:r>
              <a:rPr lang="zh-CN" altLang="en-US" dirty="0"/>
              <a:t>小写字母，小写下标，表示交流瞬时值</a:t>
            </a:r>
          </a:p>
          <a:p>
            <a:pPr eaLnBrk="1" hangingPunct="1"/>
            <a:r>
              <a:rPr lang="en-US" altLang="zh-CN" dirty="0" err="1"/>
              <a:t>iB</a:t>
            </a:r>
            <a:r>
              <a:rPr lang="en-US" altLang="zh-CN" dirty="0"/>
              <a:t> —</a:t>
            </a:r>
            <a:r>
              <a:rPr lang="zh-CN" altLang="en-US" dirty="0"/>
              <a:t>小写字母，大写下标，表示交、直混合量</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16</a:t>
            </a:fld>
            <a:endParaRPr lang="zh-CN" altLang="en-US"/>
          </a:p>
        </p:txBody>
      </p:sp>
    </p:spTree>
    <p:extLst>
      <p:ext uri="{BB962C8B-B14F-4D97-AF65-F5344CB8AC3E}">
        <p14:creationId xmlns:p14="http://schemas.microsoft.com/office/powerpoint/2010/main" val="2994017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chemeClr val="bg1"/>
                </a:solidFill>
              </a:rPr>
              <a:t>放大电路的动态分析是在静态分析的基础上，分析电路中的信号的传输情况，考虑的只是电压和电流的交流分量（信号分量）。</a:t>
            </a:r>
          </a:p>
          <a:p>
            <a:pPr eaLnBrk="1" hangingPunct="1"/>
            <a:r>
              <a:rPr kumimoji="1" lang="zh-CN" altLang="en-US" dirty="0">
                <a:solidFill>
                  <a:schemeClr val="bg1"/>
                </a:solidFill>
              </a:rPr>
              <a:t>静态是分析的出发点，动态则是最终目的。</a:t>
            </a:r>
          </a:p>
          <a:p>
            <a:pPr eaLnBrk="1" hangingPunct="1"/>
            <a:r>
              <a:rPr kumimoji="1" lang="zh-CN" altLang="en-US" dirty="0">
                <a:solidFill>
                  <a:srgbClr val="0000FF"/>
                </a:solidFill>
              </a:rPr>
              <a:t>直流电源和耦合电容对交流相当于短路</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18</a:t>
            </a:fld>
            <a:endParaRPr lang="zh-CN" altLang="en-US"/>
          </a:p>
        </p:txBody>
      </p:sp>
    </p:spTree>
    <p:extLst>
      <p:ext uri="{BB962C8B-B14F-4D97-AF65-F5344CB8AC3E}">
        <p14:creationId xmlns:p14="http://schemas.microsoft.com/office/powerpoint/2010/main" val="4202932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sz="1000" dirty="0"/>
              <a:t>三极管</a:t>
            </a:r>
            <a:r>
              <a:rPr kumimoji="1" lang="en-US" altLang="zh-CN" sz="1000" dirty="0"/>
              <a:t>T</a:t>
            </a:r>
            <a:r>
              <a:rPr kumimoji="1" lang="zh-CN" altLang="en-US" sz="1000" dirty="0"/>
              <a:t>：放大电路的核心器件，用来实现放大。</a:t>
            </a:r>
          </a:p>
          <a:p>
            <a:pPr eaLnBrk="1" hangingPunct="1"/>
            <a:r>
              <a:rPr kumimoji="1" lang="zh-CN" altLang="en-US" sz="1000" dirty="0"/>
              <a:t>基极电阻</a:t>
            </a:r>
            <a:r>
              <a:rPr kumimoji="1" lang="en-US" altLang="zh-CN" sz="1000" dirty="0"/>
              <a:t>Rb</a:t>
            </a:r>
          </a:p>
          <a:p>
            <a:pPr lvl="1" eaLnBrk="1" hangingPunct="1"/>
            <a:r>
              <a:rPr kumimoji="1" lang="zh-CN" altLang="en-US" sz="1000" dirty="0"/>
              <a:t>为基极提供合适偏置电流</a:t>
            </a:r>
          </a:p>
          <a:p>
            <a:pPr eaLnBrk="1" hangingPunct="1"/>
            <a:r>
              <a:rPr kumimoji="1" lang="zh-CN" altLang="en-US" sz="1000" dirty="0"/>
              <a:t>集电极电阻</a:t>
            </a:r>
            <a:r>
              <a:rPr kumimoji="1" lang="en-US" altLang="zh-CN" sz="1000" dirty="0"/>
              <a:t>R</a:t>
            </a:r>
            <a:r>
              <a:rPr kumimoji="1" lang="zh-CN" altLang="en-US" sz="1000" dirty="0"/>
              <a:t>c</a:t>
            </a:r>
          </a:p>
          <a:p>
            <a:pPr lvl="1" eaLnBrk="1" hangingPunct="1"/>
            <a:r>
              <a:rPr kumimoji="1" lang="zh-CN" altLang="en-US" sz="1000" dirty="0"/>
              <a:t>为集电极提供合适偏置电流</a:t>
            </a:r>
          </a:p>
          <a:p>
            <a:pPr lvl="1" eaLnBrk="1" hangingPunct="1"/>
            <a:r>
              <a:rPr kumimoji="1" lang="zh-CN" altLang="en-US" sz="1000" dirty="0"/>
              <a:t>将变化的集电极电流转换为电压</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3852810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特别注意由于负载是通过一个电容接上去的，因此交流负载线和直流负载线斜率不同！</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925073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放大倍数的计算将在下一</a:t>
            </a:r>
            <a:r>
              <a:rPr lang="en-US" altLang="zh-CN" dirty="0"/>
              <a:t>PPT</a:t>
            </a:r>
            <a:r>
              <a:rPr lang="zh-CN" altLang="en-US" dirty="0"/>
              <a:t>里介绍，这里只分析直流交流通路怎么简化。</a:t>
            </a:r>
            <a:endParaRPr lang="en-US" altLang="ja-JP" dirty="0"/>
          </a:p>
          <a:p>
            <a:r>
              <a:rPr lang="en-US" altLang="zh-CN" dirty="0"/>
              <a:t> </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27</a:t>
            </a:fld>
            <a:endParaRPr lang="zh-CN" altLang="en-US"/>
          </a:p>
        </p:txBody>
      </p:sp>
    </p:spTree>
    <p:extLst>
      <p:ext uri="{BB962C8B-B14F-4D97-AF65-F5344CB8AC3E}">
        <p14:creationId xmlns:p14="http://schemas.microsoft.com/office/powerpoint/2010/main" val="3692030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放大倍数的计算将在下一</a:t>
            </a:r>
            <a:r>
              <a:rPr lang="en-US" altLang="zh-CN" dirty="0"/>
              <a:t>PPT</a:t>
            </a:r>
            <a:r>
              <a:rPr lang="zh-CN" altLang="en-US" dirty="0"/>
              <a:t>里介绍，这里只分析直流交流通路怎么简化。</a:t>
            </a:r>
            <a:endParaRPr lang="en-US" altLang="ja-JP"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28</a:t>
            </a:fld>
            <a:endParaRPr lang="zh-CN" altLang="en-US"/>
          </a:p>
        </p:txBody>
      </p:sp>
    </p:spTree>
    <p:extLst>
      <p:ext uri="{BB962C8B-B14F-4D97-AF65-F5344CB8AC3E}">
        <p14:creationId xmlns:p14="http://schemas.microsoft.com/office/powerpoint/2010/main" val="973012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solidFill>
                  <a:srgbClr val="000000"/>
                </a:solidFill>
                <a:latin typeface="Times New Roman" panose="02020603050405020304" pitchFamily="18" charset="0"/>
                <a:cs typeface="Times New Roman" panose="02020603050405020304" pitchFamily="18" charset="0"/>
              </a:rPr>
              <a:t>输入正弦信号</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en-US" altLang="zh-CN" baseline="-25000" dirty="0">
                <a:solidFill>
                  <a:srgbClr val="000000"/>
                </a:solidFill>
                <a:latin typeface="Times New Roman" panose="02020603050405020304" pitchFamily="18" charset="0"/>
                <a:cs typeface="Times New Roman" panose="02020603050405020304" pitchFamily="18" charset="0"/>
              </a:rPr>
              <a:t>s</a:t>
            </a:r>
            <a:r>
              <a:rPr kumimoji="1" lang="zh-CN" altLang="en-US" dirty="0">
                <a:solidFill>
                  <a:srgbClr val="000000"/>
                </a:solidFill>
                <a:latin typeface="Times New Roman" panose="02020603050405020304" pitchFamily="18" charset="0"/>
                <a:cs typeface="Times New Roman" panose="02020603050405020304" pitchFamily="18" charset="0"/>
              </a:rPr>
              <a:t>后，电路将处在动态工作情况。此时，</a:t>
            </a:r>
            <a:r>
              <a:rPr kumimoji="1" lang="en-US" altLang="zh-CN" dirty="0">
                <a:solidFill>
                  <a:srgbClr val="000000"/>
                </a:solidFill>
                <a:latin typeface="Times New Roman" panose="02020603050405020304" pitchFamily="18" charset="0"/>
                <a:cs typeface="Times New Roman" panose="02020603050405020304" pitchFamily="18" charset="0"/>
              </a:rPr>
              <a:t>BJT</a:t>
            </a:r>
            <a:r>
              <a:rPr kumimoji="1" lang="zh-CN" altLang="en-US" dirty="0">
                <a:solidFill>
                  <a:srgbClr val="000000"/>
                </a:solidFill>
                <a:latin typeface="Times New Roman" panose="02020603050405020304" pitchFamily="18" charset="0"/>
                <a:cs typeface="Times New Roman" panose="02020603050405020304" pitchFamily="18" charset="0"/>
              </a:rPr>
              <a:t>各极电流及电压都将在静态值的基础上随输入信号作相应的变化</a:t>
            </a:r>
            <a:endParaRPr kumimoji="1" lang="en-US" altLang="zh-CN" dirty="0">
              <a:solidFill>
                <a:srgbClr val="000000"/>
              </a:solidFill>
              <a:latin typeface="Times New Roman" panose="02020603050405020304" pitchFamily="18" charset="0"/>
              <a:cs typeface="Times New Roman" panose="02020603050405020304" pitchFamily="18" charset="0"/>
            </a:endParaRPr>
          </a:p>
          <a:p>
            <a:endParaRPr kumimoji="1" lang="en-US" altLang="zh-CN" dirty="0">
              <a:solidFill>
                <a:srgbClr val="000000"/>
              </a:solidFill>
              <a:latin typeface="Times New Roman" panose="02020603050405020304" pitchFamily="18" charset="0"/>
              <a:cs typeface="Times New Roman" panose="02020603050405020304" pitchFamily="18" charset="0"/>
            </a:endParaRPr>
          </a:p>
          <a:p>
            <a:r>
              <a:rPr lang="zh-CN" altLang="en-US" dirty="0"/>
              <a:t>本章中的电流电压符号有时大写，有时候小写</a:t>
            </a:r>
            <a:r>
              <a:rPr lang="en-US" altLang="ja-JP" dirty="0"/>
              <a:t> </a:t>
            </a:r>
            <a:r>
              <a:rPr lang="zh-CN" altLang="en-US" dirty="0"/>
              <a:t>，其规定如下：</a:t>
            </a:r>
            <a:endParaRPr lang="en-US" altLang="zh-CN" dirty="0"/>
          </a:p>
          <a:p>
            <a:r>
              <a:rPr lang="zh-CN" altLang="en-US" dirty="0"/>
              <a:t>如信号只有直流分量，则</a:t>
            </a:r>
            <a:r>
              <a:rPr lang="en-US" altLang="zh-CN" dirty="0"/>
              <a:t>I</a:t>
            </a:r>
            <a:r>
              <a:rPr lang="zh-CN" altLang="en-US" dirty="0"/>
              <a:t>和</a:t>
            </a:r>
            <a:r>
              <a:rPr lang="en-US" altLang="zh-CN" dirty="0"/>
              <a:t>V</a:t>
            </a:r>
            <a:r>
              <a:rPr lang="zh-CN" altLang="en-US" dirty="0"/>
              <a:t>以及其下标均为大写；</a:t>
            </a:r>
            <a:endParaRPr lang="en-US" altLang="zh-CN" dirty="0"/>
          </a:p>
          <a:p>
            <a:r>
              <a:rPr lang="zh-CN" altLang="en-US" dirty="0"/>
              <a:t>如信号只有交流分量（平均值为</a:t>
            </a:r>
            <a:r>
              <a:rPr lang="en-US" altLang="zh-CN" dirty="0"/>
              <a:t>0</a:t>
            </a:r>
            <a:r>
              <a:rPr lang="zh-CN" altLang="en-US" dirty="0"/>
              <a:t>），则</a:t>
            </a:r>
            <a:r>
              <a:rPr lang="en-US" altLang="zh-CN" dirty="0"/>
              <a:t>I</a:t>
            </a:r>
            <a:r>
              <a:rPr lang="zh-CN" altLang="en-US" dirty="0"/>
              <a:t>和</a:t>
            </a:r>
            <a:r>
              <a:rPr lang="en-US" altLang="zh-CN" dirty="0"/>
              <a:t>V</a:t>
            </a:r>
            <a:r>
              <a:rPr lang="zh-CN" altLang="en-US" dirty="0"/>
              <a:t>以及其下标均为小写；</a:t>
            </a:r>
            <a:endParaRPr lang="en-US" altLang="zh-CN" dirty="0"/>
          </a:p>
          <a:p>
            <a:r>
              <a:rPr lang="zh-CN" altLang="en-US" dirty="0"/>
              <a:t>如信号既有直流分量（平均值不为</a:t>
            </a:r>
            <a:r>
              <a:rPr lang="en-US" altLang="zh-CN" dirty="0"/>
              <a:t>0</a:t>
            </a:r>
            <a:r>
              <a:rPr lang="zh-CN" altLang="en-US" dirty="0"/>
              <a:t>），也有交流分量，则</a:t>
            </a:r>
            <a:r>
              <a:rPr lang="en-US" altLang="zh-CN" dirty="0" err="1"/>
              <a:t>i</a:t>
            </a:r>
            <a:r>
              <a:rPr lang="zh-CN" altLang="en-US" dirty="0"/>
              <a:t>和</a:t>
            </a:r>
            <a:r>
              <a:rPr lang="en-US" altLang="zh-CN" dirty="0"/>
              <a:t>v</a:t>
            </a:r>
            <a:r>
              <a:rPr lang="zh-CN" altLang="en-US" dirty="0"/>
              <a:t>小写，其下标为大写；</a:t>
            </a:r>
            <a:endParaRPr lang="en-US" altLang="zh-CN"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29</a:t>
            </a:fld>
            <a:endParaRPr lang="zh-CN" altLang="en-US"/>
          </a:p>
        </p:txBody>
      </p:sp>
    </p:spTree>
    <p:extLst>
      <p:ext uri="{BB962C8B-B14F-4D97-AF65-F5344CB8AC3E}">
        <p14:creationId xmlns:p14="http://schemas.microsoft.com/office/powerpoint/2010/main" val="1528520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25. </a:t>
            </a:r>
            <a:r>
              <a:rPr lang="zh-CN" altLang="en-US"/>
              <a:t>基本放大电路</a:t>
            </a:r>
            <a:r>
              <a:rPr lang="en-US" altLang="zh-CN"/>
              <a:t>1</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25. </a:t>
            </a:r>
            <a:r>
              <a:rPr lang="zh-CN" altLang="en-US"/>
              <a:t>基本放大电路</a:t>
            </a:r>
            <a:r>
              <a:rPr lang="en-US" altLang="zh-CN"/>
              <a:t>1</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9.wmf"/><Relationship Id="rId18" Type="http://schemas.openxmlformats.org/officeDocument/2006/relationships/oleObject" Target="../embeddings/oleObject8.bin"/><Relationship Id="rId3" Type="http://schemas.openxmlformats.org/officeDocument/2006/relationships/image" Target="../media/image4.wmf"/><Relationship Id="rId21" Type="http://schemas.openxmlformats.org/officeDocument/2006/relationships/image" Target="../media/image14.wmf"/><Relationship Id="rId7" Type="http://schemas.openxmlformats.org/officeDocument/2006/relationships/image" Target="../media/image6.wmf"/><Relationship Id="rId12" Type="http://schemas.openxmlformats.org/officeDocument/2006/relationships/oleObject" Target="../embeddings/oleObject6.bin"/><Relationship Id="rId17" Type="http://schemas.openxmlformats.org/officeDocument/2006/relationships/image" Target="../media/image12.png"/><Relationship Id="rId2" Type="http://schemas.openxmlformats.org/officeDocument/2006/relationships/oleObject" Target="../embeddings/oleObject1.bin"/><Relationship Id="rId16" Type="http://schemas.openxmlformats.org/officeDocument/2006/relationships/image" Target="../media/image11.png"/><Relationship Id="rId20"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23" Type="http://schemas.openxmlformats.org/officeDocument/2006/relationships/image" Target="../media/image15.wmf"/><Relationship Id="rId10" Type="http://schemas.openxmlformats.org/officeDocument/2006/relationships/oleObject" Target="../embeddings/oleObject5.bin"/><Relationship Id="rId19" Type="http://schemas.openxmlformats.org/officeDocument/2006/relationships/image" Target="../media/image13.wmf"/><Relationship Id="rId4" Type="http://schemas.openxmlformats.org/officeDocument/2006/relationships/oleObject" Target="../embeddings/oleObject2.bin"/><Relationship Id="rId9" Type="http://schemas.openxmlformats.org/officeDocument/2006/relationships/image" Target="../media/image7.wmf"/><Relationship Id="rId14" Type="http://schemas.openxmlformats.org/officeDocument/2006/relationships/oleObject" Target="../embeddings/oleObject7.bin"/><Relationship Id="rId22"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4.png"/><Relationship Id="rId7"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25.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4.png"/><Relationship Id="rId7" Type="http://schemas.openxmlformats.org/officeDocument/2006/relationships/image" Target="../media/image29.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28.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14.bin"/><Relationship Id="rId4" Type="http://schemas.openxmlformats.org/officeDocument/2006/relationships/image" Target="../media/image32.jpe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16.bin"/></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8.jp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0.wmf"/><Relationship Id="rId11" Type="http://schemas.openxmlformats.org/officeDocument/2006/relationships/image" Target="../media/image43.png"/><Relationship Id="rId5" Type="http://schemas.openxmlformats.org/officeDocument/2006/relationships/oleObject" Target="../embeddings/oleObject19.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1.bin"/></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2.bin"/></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25_</a:t>
            </a:r>
            <a:r>
              <a:rPr lang="zh-CN" altLang="en-US" sz="3600" b="1" dirty="0">
                <a:solidFill>
                  <a:schemeClr val="tx1"/>
                </a:solidFill>
                <a:latin typeface="Microsoft YaHei" panose="020B0503020204020204" pitchFamily="34" charset="-122"/>
                <a:ea typeface="Microsoft YaHei" panose="020B0503020204020204" pitchFamily="34" charset="-122"/>
              </a:rPr>
              <a:t>基本放大电路</a:t>
            </a:r>
            <a:r>
              <a:rPr lang="en-US" altLang="zh-CN" sz="3600" b="1" dirty="0">
                <a:solidFill>
                  <a:schemeClr val="tx1"/>
                </a:solidFill>
                <a:latin typeface="Microsoft YaHei" panose="020B0503020204020204" pitchFamily="34" charset="-122"/>
                <a:ea typeface="Microsoft YaHei" panose="020B0503020204020204" pitchFamily="34" charset="-122"/>
              </a:rPr>
              <a:t>1</a:t>
            </a: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（模电</a:t>
            </a:r>
            <a:r>
              <a:rPr lang="en-US" altLang="zh-CN" sz="2000" dirty="0">
                <a:solidFill>
                  <a:schemeClr val="tx1"/>
                </a:solidFill>
                <a:latin typeface="Microsoft YaHei" panose="020B0503020204020204" pitchFamily="34" charset="-122"/>
                <a:ea typeface="Microsoft YaHei" panose="020B0503020204020204" pitchFamily="34" charset="-122"/>
              </a:rPr>
              <a:t>P162-164</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pPr>
              <a:lnSpc>
                <a:spcPct val="120000"/>
              </a:lnSpc>
            </a:pPr>
            <a:r>
              <a:rPr lang="zh-CN" altLang="en-US" dirty="0"/>
              <a:t>基本放大电路</a:t>
            </a:r>
          </a:p>
          <a:p>
            <a:pPr>
              <a:lnSpc>
                <a:spcPct val="120000"/>
              </a:lnSpc>
            </a:pPr>
            <a:r>
              <a:rPr lang="zh-CN" altLang="en-US" dirty="0"/>
              <a:t>放大电路的分析方法</a:t>
            </a:r>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/33</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076382-7DA0-768D-3763-63C905600538}"/>
              </a:ext>
            </a:extLst>
          </p:cNvPr>
          <p:cNvSpPr>
            <a:spLocks noGrp="1"/>
          </p:cNvSpPr>
          <p:nvPr>
            <p:ph type="title"/>
          </p:nvPr>
        </p:nvSpPr>
        <p:spPr/>
        <p:txBody>
          <a:bodyPr>
            <a:normAutofit fontScale="90000"/>
          </a:bodyPr>
          <a:lstStyle/>
          <a:p>
            <a:r>
              <a:rPr lang="zh-CN" altLang="en-US" kern="0" dirty="0"/>
              <a:t>为什么需要放大？</a:t>
            </a:r>
            <a:endParaRPr kumimoji="1" lang="zh-CN" altLang="en-US" dirty="0"/>
          </a:p>
        </p:txBody>
      </p:sp>
      <p:sp>
        <p:nvSpPr>
          <p:cNvPr id="4" name="页脚占位符 3">
            <a:extLst>
              <a:ext uri="{FF2B5EF4-FFF2-40B4-BE49-F238E27FC236}">
                <a16:creationId xmlns:a16="http://schemas.microsoft.com/office/drawing/2014/main" id="{F2454051-25F5-BB5A-4C5B-CC31C2D3A18B}"/>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E9D706D9-D857-5E94-0AC4-DA94311995CD}"/>
              </a:ext>
            </a:extLst>
          </p:cNvPr>
          <p:cNvSpPr>
            <a:spLocks noGrp="1"/>
          </p:cNvSpPr>
          <p:nvPr>
            <p:ph type="sldNum" sz="quarter" idx="12"/>
          </p:nvPr>
        </p:nvSpPr>
        <p:spPr/>
        <p:txBody>
          <a:bodyPr/>
          <a:lstStyle/>
          <a:p>
            <a:fld id="{9E260BC5-5BF3-8746-862B-DC45E9CAA88B}" type="slidenum">
              <a:rPr lang="en-US" smtClean="0"/>
              <a:pPr/>
              <a:t>3</a:t>
            </a:fld>
            <a:r>
              <a:rPr lang="en-US" altLang="zh-CN" dirty="0"/>
              <a:t>/33</a:t>
            </a:r>
            <a:endParaRPr lang="en-US" dirty="0"/>
          </a:p>
        </p:txBody>
      </p:sp>
      <p:sp>
        <p:nvSpPr>
          <p:cNvPr id="6" name="Rectangle 2">
            <a:extLst>
              <a:ext uri="{FF2B5EF4-FFF2-40B4-BE49-F238E27FC236}">
                <a16:creationId xmlns:a16="http://schemas.microsoft.com/office/drawing/2014/main" id="{4CB5E484-FAD3-A9C2-84AF-0FCFAD8BE0AA}"/>
              </a:ext>
            </a:extLst>
          </p:cNvPr>
          <p:cNvSpPr txBox="1">
            <a:spLocks noChangeArrowheads="1"/>
          </p:cNvSpPr>
          <p:nvPr/>
        </p:nvSpPr>
        <p:spPr bwMode="auto">
          <a:xfrm>
            <a:off x="3036773" y="1432848"/>
            <a:ext cx="4248472"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2"/>
                </a:solidFill>
                <a:latin typeface="+mj-lt"/>
                <a:ea typeface="+mj-ea"/>
                <a:cs typeface="宋体" charset="0"/>
              </a:defRPr>
            </a:lvl1pPr>
            <a:lvl2pPr algn="ctr" rtl="0" eaLnBrk="0" fontAlgn="base" hangingPunct="0">
              <a:spcBef>
                <a:spcPct val="0"/>
              </a:spcBef>
              <a:spcAft>
                <a:spcPct val="0"/>
              </a:spcAft>
              <a:defRPr sz="4400" b="1">
                <a:solidFill>
                  <a:schemeClr val="tx2"/>
                </a:solidFill>
                <a:latin typeface="Arial" pitchFamily="34" charset="0"/>
                <a:ea typeface="宋体" pitchFamily="2" charset="-122"/>
                <a:cs typeface="宋体" charset="0"/>
              </a:defRPr>
            </a:lvl2pPr>
            <a:lvl3pPr algn="ctr" rtl="0" eaLnBrk="0" fontAlgn="base" hangingPunct="0">
              <a:spcBef>
                <a:spcPct val="0"/>
              </a:spcBef>
              <a:spcAft>
                <a:spcPct val="0"/>
              </a:spcAft>
              <a:defRPr sz="4400" b="1">
                <a:solidFill>
                  <a:schemeClr val="tx2"/>
                </a:solidFill>
                <a:latin typeface="Arial" pitchFamily="34" charset="0"/>
                <a:ea typeface="宋体" pitchFamily="2" charset="-122"/>
                <a:cs typeface="宋体" charset="0"/>
              </a:defRPr>
            </a:lvl3pPr>
            <a:lvl4pPr algn="ctr" rtl="0" eaLnBrk="0" fontAlgn="base" hangingPunct="0">
              <a:spcBef>
                <a:spcPct val="0"/>
              </a:spcBef>
              <a:spcAft>
                <a:spcPct val="0"/>
              </a:spcAft>
              <a:defRPr sz="4400" b="1">
                <a:solidFill>
                  <a:schemeClr val="tx2"/>
                </a:solidFill>
                <a:latin typeface="Arial" pitchFamily="34" charset="0"/>
                <a:ea typeface="宋体" pitchFamily="2" charset="-122"/>
                <a:cs typeface="宋体" charset="0"/>
              </a:defRPr>
            </a:lvl4pPr>
            <a:lvl5pPr algn="ctr" rtl="0" eaLnBrk="0" fontAlgn="base" hangingPunct="0">
              <a:spcBef>
                <a:spcPct val="0"/>
              </a:spcBef>
              <a:spcAft>
                <a:spcPct val="0"/>
              </a:spcAft>
              <a:defRPr sz="4400" b="1">
                <a:solidFill>
                  <a:schemeClr val="tx2"/>
                </a:solidFill>
                <a:latin typeface="Arial" pitchFamily="34" charset="0"/>
                <a:ea typeface="宋体" pitchFamily="2" charset="-122"/>
                <a:cs typeface="宋体" charset="0"/>
              </a:defRPr>
            </a:lvl5pPr>
            <a:lvl6pPr marL="457200" algn="ctr" rtl="0" fontAlgn="base">
              <a:spcBef>
                <a:spcPct val="0"/>
              </a:spcBef>
              <a:spcAft>
                <a:spcPct val="0"/>
              </a:spcAft>
              <a:defRPr sz="4400" b="1">
                <a:solidFill>
                  <a:schemeClr val="tx2"/>
                </a:solidFill>
                <a:latin typeface="Arial" pitchFamily="34" charset="0"/>
                <a:ea typeface="宋体" pitchFamily="2" charset="-122"/>
              </a:defRPr>
            </a:lvl6pPr>
            <a:lvl7pPr marL="914400" algn="ctr" rtl="0" fontAlgn="base">
              <a:spcBef>
                <a:spcPct val="0"/>
              </a:spcBef>
              <a:spcAft>
                <a:spcPct val="0"/>
              </a:spcAft>
              <a:defRPr sz="4400" b="1">
                <a:solidFill>
                  <a:schemeClr val="tx2"/>
                </a:solidFill>
                <a:latin typeface="Arial" pitchFamily="34" charset="0"/>
                <a:ea typeface="宋体" pitchFamily="2" charset="-122"/>
              </a:defRPr>
            </a:lvl7pPr>
            <a:lvl8pPr marL="1371600" algn="ctr" rtl="0" fontAlgn="base">
              <a:spcBef>
                <a:spcPct val="0"/>
              </a:spcBef>
              <a:spcAft>
                <a:spcPct val="0"/>
              </a:spcAft>
              <a:defRPr sz="4400" b="1">
                <a:solidFill>
                  <a:schemeClr val="tx2"/>
                </a:solidFill>
                <a:latin typeface="Arial" pitchFamily="34" charset="0"/>
                <a:ea typeface="宋体" pitchFamily="2" charset="-122"/>
              </a:defRPr>
            </a:lvl8pPr>
            <a:lvl9pPr marL="1828800" algn="ctr" rtl="0" fontAlgn="base">
              <a:spcBef>
                <a:spcPct val="0"/>
              </a:spcBef>
              <a:spcAft>
                <a:spcPct val="0"/>
              </a:spcAft>
              <a:defRPr sz="4400" b="1">
                <a:solidFill>
                  <a:schemeClr val="tx2"/>
                </a:solidFill>
                <a:latin typeface="Arial" pitchFamily="34" charset="0"/>
                <a:ea typeface="宋体" pitchFamily="2" charset="-122"/>
              </a:defRPr>
            </a:lvl9pPr>
          </a:lstStyle>
          <a:p>
            <a:pPr eaLnBrk="1" hangingPunct="1"/>
            <a:r>
              <a:rPr lang="zh-CN" altLang="en-US" sz="800" kern="0" dirty="0"/>
              <a:t>因为不</a:t>
            </a:r>
            <a:r>
              <a:rPr lang="zh-CN" altLang="en-US" strike="sngStrike" kern="0" dirty="0"/>
              <a:t>放大</a:t>
            </a:r>
            <a:r>
              <a:rPr lang="zh-CN" altLang="en-US" sz="800" kern="0" dirty="0"/>
              <a:t>，信号实在</a:t>
            </a:r>
            <a:r>
              <a:rPr lang="zh-CN" altLang="en-US" kern="0" dirty="0"/>
              <a:t>看不见</a:t>
            </a:r>
          </a:p>
        </p:txBody>
      </p:sp>
      <p:pic>
        <p:nvPicPr>
          <p:cNvPr id="7" name="图片 6">
            <a:extLst>
              <a:ext uri="{FF2B5EF4-FFF2-40B4-BE49-F238E27FC236}">
                <a16:creationId xmlns:a16="http://schemas.microsoft.com/office/drawing/2014/main" id="{C6CC9F46-868D-E071-3C88-B0418C2098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1518" y="2524950"/>
            <a:ext cx="5269181" cy="3474068"/>
          </a:xfrm>
          <a:prstGeom prst="rect">
            <a:avLst/>
          </a:prstGeom>
        </p:spPr>
      </p:pic>
    </p:spTree>
    <p:extLst>
      <p:ext uri="{BB962C8B-B14F-4D97-AF65-F5344CB8AC3E}">
        <p14:creationId xmlns:p14="http://schemas.microsoft.com/office/powerpoint/2010/main" val="3982695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AB8BD-F53F-A3DB-13C8-D9C8711B463C}"/>
              </a:ext>
            </a:extLst>
          </p:cNvPr>
          <p:cNvSpPr>
            <a:spLocks noGrp="1"/>
          </p:cNvSpPr>
          <p:nvPr>
            <p:ph type="title"/>
          </p:nvPr>
        </p:nvSpPr>
        <p:spPr/>
        <p:txBody>
          <a:bodyPr>
            <a:normAutofit fontScale="90000"/>
          </a:bodyPr>
          <a:lstStyle/>
          <a:p>
            <a:r>
              <a:rPr lang="zh-CN" altLang="en-US" kern="0" dirty="0"/>
              <a:t>放大是什么？</a:t>
            </a:r>
            <a:endParaRPr kumimoji="1" lang="zh-CN" altLang="en-US" dirty="0"/>
          </a:p>
        </p:txBody>
      </p:sp>
      <p:sp>
        <p:nvSpPr>
          <p:cNvPr id="4" name="页脚占位符 3">
            <a:extLst>
              <a:ext uri="{FF2B5EF4-FFF2-40B4-BE49-F238E27FC236}">
                <a16:creationId xmlns:a16="http://schemas.microsoft.com/office/drawing/2014/main" id="{1F79FD35-2D25-C948-043B-641E105D13B3}"/>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76F05772-001A-B506-1E9B-4812C5B773CE}"/>
              </a:ext>
            </a:extLst>
          </p:cNvPr>
          <p:cNvSpPr>
            <a:spLocks noGrp="1"/>
          </p:cNvSpPr>
          <p:nvPr>
            <p:ph type="sldNum" sz="quarter" idx="12"/>
          </p:nvPr>
        </p:nvSpPr>
        <p:spPr/>
        <p:txBody>
          <a:bodyPr/>
          <a:lstStyle/>
          <a:p>
            <a:fld id="{9E260BC5-5BF3-8746-862B-DC45E9CAA88B}" type="slidenum">
              <a:rPr lang="en-US" smtClean="0"/>
              <a:pPr/>
              <a:t>4</a:t>
            </a:fld>
            <a:r>
              <a:rPr lang="en-US" altLang="zh-CN" dirty="0"/>
              <a:t>/33</a:t>
            </a:r>
            <a:endParaRPr lang="en-US" dirty="0"/>
          </a:p>
        </p:txBody>
      </p:sp>
      <p:sp>
        <p:nvSpPr>
          <p:cNvPr id="8" name="文本框 7">
            <a:extLst>
              <a:ext uri="{FF2B5EF4-FFF2-40B4-BE49-F238E27FC236}">
                <a16:creationId xmlns:a16="http://schemas.microsoft.com/office/drawing/2014/main" id="{3FF43E2F-229C-07B1-9E29-DDA260AE3B79}"/>
              </a:ext>
            </a:extLst>
          </p:cNvPr>
          <p:cNvSpPr txBox="1"/>
          <p:nvPr/>
        </p:nvSpPr>
        <p:spPr>
          <a:xfrm>
            <a:off x="2403463" y="834935"/>
            <a:ext cx="5099074" cy="523220"/>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lang="zh-CN" altLang="en-US" sz="2800" dirty="0">
                <a:solidFill>
                  <a:srgbClr val="0000FF"/>
                </a:solidFill>
                <a:latin typeface="Microsoft YaHei" panose="020B0503020204020204" pitchFamily="34" charset="-122"/>
                <a:ea typeface="Microsoft YaHei" panose="020B0503020204020204" pitchFamily="34" charset="-122"/>
              </a:rPr>
              <a:t>保持有效信息，提高信号能量</a:t>
            </a:r>
          </a:p>
        </p:txBody>
      </p:sp>
      <p:pic>
        <p:nvPicPr>
          <p:cNvPr id="9" name="图片 8">
            <a:extLst>
              <a:ext uri="{FF2B5EF4-FFF2-40B4-BE49-F238E27FC236}">
                <a16:creationId xmlns:a16="http://schemas.microsoft.com/office/drawing/2014/main" id="{568EC462-75BD-3C51-1CDF-F42C31D14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2244091"/>
            <a:ext cx="4572000" cy="3429000"/>
          </a:xfrm>
          <a:prstGeom prst="rect">
            <a:avLst/>
          </a:prstGeom>
        </p:spPr>
      </p:pic>
      <p:sp>
        <p:nvSpPr>
          <p:cNvPr id="10" name="十二角星 9">
            <a:extLst>
              <a:ext uri="{FF2B5EF4-FFF2-40B4-BE49-F238E27FC236}">
                <a16:creationId xmlns:a16="http://schemas.microsoft.com/office/drawing/2014/main" id="{939C29DC-903C-933F-0631-EEFE4485BD58}"/>
              </a:ext>
            </a:extLst>
          </p:cNvPr>
          <p:cNvSpPr/>
          <p:nvPr/>
        </p:nvSpPr>
        <p:spPr>
          <a:xfrm>
            <a:off x="5693140" y="1690413"/>
            <a:ext cx="2124236" cy="1904644"/>
          </a:xfrm>
          <a:prstGeom prst="star12">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FF0000"/>
                </a:solidFill>
              </a:rPr>
              <a:t>大圩草莓上市了！</a:t>
            </a:r>
          </a:p>
        </p:txBody>
      </p:sp>
      <p:sp>
        <p:nvSpPr>
          <p:cNvPr id="11" name="十二角星 10">
            <a:extLst>
              <a:ext uri="{FF2B5EF4-FFF2-40B4-BE49-F238E27FC236}">
                <a16:creationId xmlns:a16="http://schemas.microsoft.com/office/drawing/2014/main" id="{479F97D5-4C0C-9A2B-D5B3-325BA3120A2C}"/>
              </a:ext>
            </a:extLst>
          </p:cNvPr>
          <p:cNvSpPr/>
          <p:nvPr/>
        </p:nvSpPr>
        <p:spPr>
          <a:xfrm>
            <a:off x="268216" y="3108187"/>
            <a:ext cx="2970330" cy="1904644"/>
          </a:xfrm>
          <a:prstGeom prst="star12">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FF0000"/>
                </a:solidFill>
              </a:rPr>
              <a:t>十块钱两斤！十块钱两斤！</a:t>
            </a:r>
          </a:p>
        </p:txBody>
      </p:sp>
      <p:sp>
        <p:nvSpPr>
          <p:cNvPr id="12" name="十二角星 11">
            <a:extLst>
              <a:ext uri="{FF2B5EF4-FFF2-40B4-BE49-F238E27FC236}">
                <a16:creationId xmlns:a16="http://schemas.microsoft.com/office/drawing/2014/main" id="{D96C0B08-7F9D-DD02-CE10-118DA0520FF0}"/>
              </a:ext>
            </a:extLst>
          </p:cNvPr>
          <p:cNvSpPr/>
          <p:nvPr/>
        </p:nvSpPr>
        <p:spPr>
          <a:xfrm>
            <a:off x="6591894" y="4442573"/>
            <a:ext cx="2124236" cy="1904644"/>
          </a:xfrm>
          <a:prstGeom prst="star12">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FF0000"/>
                </a:solidFill>
              </a:rPr>
              <a:t>好甜好甜噢！！！</a:t>
            </a:r>
          </a:p>
        </p:txBody>
      </p:sp>
      <p:sp>
        <p:nvSpPr>
          <p:cNvPr id="13" name="文本框 12">
            <a:extLst>
              <a:ext uri="{FF2B5EF4-FFF2-40B4-BE49-F238E27FC236}">
                <a16:creationId xmlns:a16="http://schemas.microsoft.com/office/drawing/2014/main" id="{464B33A7-7B8E-FD20-A937-75E29B2A9BB2}"/>
              </a:ext>
            </a:extLst>
          </p:cNvPr>
          <p:cNvSpPr txBox="1"/>
          <p:nvPr/>
        </p:nvSpPr>
        <p:spPr>
          <a:xfrm>
            <a:off x="3238546" y="2435843"/>
            <a:ext cx="3435647" cy="1754326"/>
          </a:xfrm>
          <a:prstGeom prst="rect">
            <a:avLst/>
          </a:prstGeom>
          <a:solidFill>
            <a:schemeClr val="bg1"/>
          </a:solidFill>
          <a:ln>
            <a:solidFill>
              <a:srgbClr val="FF0000"/>
            </a:solidFill>
          </a:ln>
        </p:spPr>
        <p:txBody>
          <a:bodyPr wrap="square" rtlCol="0">
            <a:spAutoFit/>
          </a:bodyPr>
          <a:lstStyle/>
          <a:p>
            <a:r>
              <a:rPr lang="zh-CN" altLang="en-US" dirty="0">
                <a:solidFill>
                  <a:srgbClr val="FF0000"/>
                </a:solidFill>
                <a:latin typeface="Microsoft YaHei" panose="020B0503020204020204" pitchFamily="34" charset="-122"/>
                <a:ea typeface="Microsoft YaHei" panose="020B0503020204020204" pitchFamily="34" charset="-122"/>
              </a:rPr>
              <a:t>嗓子太哑？</a:t>
            </a:r>
            <a:r>
              <a:rPr lang="zh-CN" altLang="en-US" dirty="0">
                <a:latin typeface="Microsoft YaHei" panose="020B0503020204020204" pitchFamily="34" charset="-122"/>
                <a:ea typeface="Microsoft YaHei" panose="020B0503020204020204" pitchFamily="34" charset="-122"/>
              </a:rPr>
              <a:t>：前端发送信号较弱</a:t>
            </a:r>
            <a:endParaRPr lang="en-US" altLang="zh-CN" dirty="0">
              <a:latin typeface="Microsoft YaHei" panose="020B0503020204020204" pitchFamily="34" charset="-122"/>
              <a:ea typeface="Microsoft YaHei" panose="020B0503020204020204" pitchFamily="34" charset="-122"/>
            </a:endParaRPr>
          </a:p>
          <a:p>
            <a:r>
              <a:rPr lang="zh-CN" altLang="en-US" dirty="0">
                <a:solidFill>
                  <a:srgbClr val="FF0000"/>
                </a:solidFill>
                <a:latin typeface="Microsoft YaHei" panose="020B0503020204020204" pitchFamily="34" charset="-122"/>
                <a:ea typeface="Microsoft YaHei" panose="020B0503020204020204" pitchFamily="34" charset="-122"/>
              </a:rPr>
              <a:t>耳朵太聋？</a:t>
            </a:r>
            <a:r>
              <a:rPr lang="zh-CN" altLang="en-US" dirty="0">
                <a:latin typeface="Microsoft YaHei" panose="020B0503020204020204" pitchFamily="34" charset="-122"/>
                <a:ea typeface="Microsoft YaHei" panose="020B0503020204020204" pitchFamily="34" charset="-122"/>
              </a:rPr>
              <a:t>：后端接收能力有限</a:t>
            </a:r>
            <a:endParaRPr lang="en-US" altLang="zh-CN" dirty="0">
              <a:latin typeface="Microsoft YaHei" panose="020B0503020204020204" pitchFamily="34" charset="-122"/>
              <a:ea typeface="Microsoft YaHei" panose="020B0503020204020204" pitchFamily="34" charset="-122"/>
            </a:endParaRPr>
          </a:p>
          <a:p>
            <a:r>
              <a:rPr lang="zh-CN" altLang="en-US" dirty="0">
                <a:solidFill>
                  <a:srgbClr val="FF0000"/>
                </a:solidFill>
                <a:latin typeface="Microsoft YaHei" panose="020B0503020204020204" pitchFamily="34" charset="-122"/>
                <a:ea typeface="Microsoft YaHei" panose="020B0503020204020204" pitchFamily="34" charset="-122"/>
              </a:rPr>
              <a:t>环境太吵？</a:t>
            </a:r>
            <a:r>
              <a:rPr lang="zh-CN" altLang="en-US" dirty="0">
                <a:latin typeface="Microsoft YaHei" panose="020B0503020204020204" pitchFamily="34" charset="-122"/>
                <a:ea typeface="Microsoft YaHei" panose="020B0503020204020204" pitchFamily="34" charset="-122"/>
              </a:rPr>
              <a:t>：信号噪声比例过低</a:t>
            </a:r>
            <a:endParaRPr lang="en-US" altLang="zh-CN" dirty="0">
              <a:latin typeface="Microsoft YaHei" panose="020B0503020204020204" pitchFamily="34" charset="-122"/>
              <a:ea typeface="Microsoft YaHei" panose="020B0503020204020204" pitchFamily="34" charset="-122"/>
            </a:endParaRPr>
          </a:p>
          <a:p>
            <a:endParaRPr lang="en-US" altLang="zh-CN" dirty="0">
              <a:latin typeface="Microsoft YaHei" panose="020B0503020204020204" pitchFamily="34" charset="-122"/>
              <a:ea typeface="Microsoft YaHei" panose="020B0503020204020204" pitchFamily="34" charset="-122"/>
            </a:endParaRPr>
          </a:p>
          <a:p>
            <a:pPr algn="ctr"/>
            <a:r>
              <a:rPr lang="zh-CN" altLang="en-US" b="1" dirty="0">
                <a:solidFill>
                  <a:srgbClr val="00B050"/>
                </a:solidFill>
                <a:latin typeface="Microsoft YaHei" panose="020B0503020204020204" pitchFamily="34" charset="-122"/>
                <a:ea typeface="Microsoft YaHei" panose="020B0503020204020204" pitchFamily="34" charset="-122"/>
              </a:rPr>
              <a:t>放大电路</a:t>
            </a:r>
            <a:r>
              <a:rPr lang="zh-CN" altLang="en-US" dirty="0">
                <a:latin typeface="Microsoft YaHei" panose="020B0503020204020204" pitchFamily="34" charset="-122"/>
                <a:ea typeface="Microsoft YaHei" panose="020B0503020204020204" pitchFamily="34" charset="-122"/>
              </a:rPr>
              <a:t>为您解忧！</a:t>
            </a:r>
          </a:p>
          <a:p>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9514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44F14-2E52-F239-9E6C-35649AE45D06}"/>
              </a:ext>
            </a:extLst>
          </p:cNvPr>
          <p:cNvSpPr>
            <a:spLocks noGrp="1"/>
          </p:cNvSpPr>
          <p:nvPr>
            <p:ph type="title"/>
          </p:nvPr>
        </p:nvSpPr>
        <p:spPr/>
        <p:txBody>
          <a:bodyPr>
            <a:normAutofit fontScale="90000"/>
          </a:bodyPr>
          <a:lstStyle/>
          <a:p>
            <a:r>
              <a:rPr lang="zh-CN" altLang="en-US" kern="0" dirty="0"/>
              <a:t>基本放大元件</a:t>
            </a:r>
            <a:endParaRPr kumimoji="1" lang="zh-CN" altLang="en-US" dirty="0"/>
          </a:p>
        </p:txBody>
      </p:sp>
      <p:sp>
        <p:nvSpPr>
          <p:cNvPr id="4" name="页脚占位符 3">
            <a:extLst>
              <a:ext uri="{FF2B5EF4-FFF2-40B4-BE49-F238E27FC236}">
                <a16:creationId xmlns:a16="http://schemas.microsoft.com/office/drawing/2014/main" id="{7C91FBA4-BF1E-E024-63FB-70CB012984F3}"/>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7754E713-26C8-E344-755A-E9843041E188}"/>
              </a:ext>
            </a:extLst>
          </p:cNvPr>
          <p:cNvSpPr>
            <a:spLocks noGrp="1"/>
          </p:cNvSpPr>
          <p:nvPr>
            <p:ph type="sldNum" sz="quarter" idx="12"/>
          </p:nvPr>
        </p:nvSpPr>
        <p:spPr/>
        <p:txBody>
          <a:bodyPr/>
          <a:lstStyle/>
          <a:p>
            <a:fld id="{9E260BC5-5BF3-8746-862B-DC45E9CAA88B}" type="slidenum">
              <a:rPr lang="en-US" smtClean="0"/>
              <a:pPr/>
              <a:t>5</a:t>
            </a:fld>
            <a:r>
              <a:rPr lang="en-US" altLang="zh-CN" dirty="0"/>
              <a:t>/33</a:t>
            </a:r>
            <a:endParaRPr lang="en-US" dirty="0"/>
          </a:p>
        </p:txBody>
      </p:sp>
      <p:sp>
        <p:nvSpPr>
          <p:cNvPr id="6" name="文本框 5">
            <a:extLst>
              <a:ext uri="{FF2B5EF4-FFF2-40B4-BE49-F238E27FC236}">
                <a16:creationId xmlns:a16="http://schemas.microsoft.com/office/drawing/2014/main" id="{C26B5048-4CA0-632B-EFBD-ED62966EC87F}"/>
              </a:ext>
            </a:extLst>
          </p:cNvPr>
          <p:cNvSpPr txBox="1"/>
          <p:nvPr/>
        </p:nvSpPr>
        <p:spPr>
          <a:xfrm>
            <a:off x="2403463" y="834935"/>
            <a:ext cx="5099074" cy="523220"/>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lang="zh-CN" altLang="en-US" sz="2800" dirty="0">
                <a:solidFill>
                  <a:srgbClr val="0000FF"/>
                </a:solidFill>
                <a:latin typeface="Microsoft YaHei" panose="020B0503020204020204" pitchFamily="34" charset="-122"/>
                <a:ea typeface="Microsoft YaHei" panose="020B0503020204020204" pitchFamily="34" charset="-122"/>
              </a:rPr>
              <a:t>保持有效信息，提高信号能量</a:t>
            </a:r>
          </a:p>
        </p:txBody>
      </p:sp>
      <p:grpSp>
        <p:nvGrpSpPr>
          <p:cNvPr id="7" name="Group 106">
            <a:extLst>
              <a:ext uri="{FF2B5EF4-FFF2-40B4-BE49-F238E27FC236}">
                <a16:creationId xmlns:a16="http://schemas.microsoft.com/office/drawing/2014/main" id="{6A340E16-201F-3357-F22C-334E0282F1E1}"/>
              </a:ext>
            </a:extLst>
          </p:cNvPr>
          <p:cNvGrpSpPr>
            <a:grpSpLocks/>
          </p:cNvGrpSpPr>
          <p:nvPr/>
        </p:nvGrpSpPr>
        <p:grpSpPr bwMode="auto">
          <a:xfrm>
            <a:off x="3546121" y="2457450"/>
            <a:ext cx="2708275" cy="1943100"/>
            <a:chOff x="3175" y="2546"/>
            <a:chExt cx="1706" cy="1224"/>
          </a:xfrm>
        </p:grpSpPr>
        <p:sp>
          <p:nvSpPr>
            <p:cNvPr id="8" name="Line 107">
              <a:extLst>
                <a:ext uri="{FF2B5EF4-FFF2-40B4-BE49-F238E27FC236}">
                  <a16:creationId xmlns:a16="http://schemas.microsoft.com/office/drawing/2014/main" id="{4CDD1386-6C4B-31AF-56C9-CEFC986A4338}"/>
                </a:ext>
              </a:extLst>
            </p:cNvPr>
            <p:cNvSpPr>
              <a:spLocks noChangeShapeType="1"/>
            </p:cNvSpPr>
            <p:nvPr/>
          </p:nvSpPr>
          <p:spPr bwMode="auto">
            <a:xfrm>
              <a:off x="3915" y="2980"/>
              <a:ext cx="0" cy="35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108">
              <a:extLst>
                <a:ext uri="{FF2B5EF4-FFF2-40B4-BE49-F238E27FC236}">
                  <a16:creationId xmlns:a16="http://schemas.microsoft.com/office/drawing/2014/main" id="{C89246CD-767F-8C70-9E13-D33640DF0199}"/>
                </a:ext>
              </a:extLst>
            </p:cNvPr>
            <p:cNvSpPr>
              <a:spLocks noChangeShapeType="1"/>
            </p:cNvSpPr>
            <p:nvPr/>
          </p:nvSpPr>
          <p:spPr bwMode="auto">
            <a:xfrm flipH="1">
              <a:off x="3470" y="3159"/>
              <a:ext cx="44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09">
              <a:extLst>
                <a:ext uri="{FF2B5EF4-FFF2-40B4-BE49-F238E27FC236}">
                  <a16:creationId xmlns:a16="http://schemas.microsoft.com/office/drawing/2014/main" id="{87DCADAD-8550-5B96-FD6D-508D542C3162}"/>
                </a:ext>
              </a:extLst>
            </p:cNvPr>
            <p:cNvSpPr>
              <a:spLocks noChangeShapeType="1"/>
            </p:cNvSpPr>
            <p:nvPr/>
          </p:nvSpPr>
          <p:spPr bwMode="auto">
            <a:xfrm flipV="1">
              <a:off x="3912" y="2977"/>
              <a:ext cx="193" cy="1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10">
              <a:extLst>
                <a:ext uri="{FF2B5EF4-FFF2-40B4-BE49-F238E27FC236}">
                  <a16:creationId xmlns:a16="http://schemas.microsoft.com/office/drawing/2014/main" id="{BE9CE050-4025-351F-34AE-7F407FFBB650}"/>
                </a:ext>
              </a:extLst>
            </p:cNvPr>
            <p:cNvSpPr>
              <a:spLocks noChangeShapeType="1"/>
            </p:cNvSpPr>
            <p:nvPr/>
          </p:nvSpPr>
          <p:spPr bwMode="auto">
            <a:xfrm>
              <a:off x="3915" y="3220"/>
              <a:ext cx="212" cy="133"/>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111">
              <a:extLst>
                <a:ext uri="{FF2B5EF4-FFF2-40B4-BE49-F238E27FC236}">
                  <a16:creationId xmlns:a16="http://schemas.microsoft.com/office/drawing/2014/main" id="{EECCBCED-D07D-2D5D-13E8-770BE0394B6D}"/>
                </a:ext>
              </a:extLst>
            </p:cNvPr>
            <p:cNvSpPr>
              <a:spLocks noChangeShapeType="1"/>
            </p:cNvSpPr>
            <p:nvPr/>
          </p:nvSpPr>
          <p:spPr bwMode="auto">
            <a:xfrm flipV="1">
              <a:off x="4099" y="2682"/>
              <a:ext cx="0" cy="3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12">
              <a:extLst>
                <a:ext uri="{FF2B5EF4-FFF2-40B4-BE49-F238E27FC236}">
                  <a16:creationId xmlns:a16="http://schemas.microsoft.com/office/drawing/2014/main" id="{11D2A730-A68F-4BE0-4607-6CF6869545A7}"/>
                </a:ext>
              </a:extLst>
            </p:cNvPr>
            <p:cNvSpPr>
              <a:spLocks noChangeShapeType="1"/>
            </p:cNvSpPr>
            <p:nvPr/>
          </p:nvSpPr>
          <p:spPr bwMode="auto">
            <a:xfrm>
              <a:off x="4105" y="3335"/>
              <a:ext cx="0" cy="322"/>
            </a:xfrm>
            <a:prstGeom prst="line">
              <a:avLst/>
            </a:prstGeom>
            <a:noFill/>
            <a:ln w="381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113">
              <a:extLst>
                <a:ext uri="{FF2B5EF4-FFF2-40B4-BE49-F238E27FC236}">
                  <a16:creationId xmlns:a16="http://schemas.microsoft.com/office/drawing/2014/main" id="{082D3FCB-02A8-9742-6EB5-9A7227F69CEE}"/>
                </a:ext>
              </a:extLst>
            </p:cNvPr>
            <p:cNvSpPr>
              <a:spLocks noChangeShapeType="1"/>
            </p:cNvSpPr>
            <p:nvPr/>
          </p:nvSpPr>
          <p:spPr bwMode="auto">
            <a:xfrm flipH="1">
              <a:off x="3469" y="3657"/>
              <a:ext cx="106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14">
              <a:extLst>
                <a:ext uri="{FF2B5EF4-FFF2-40B4-BE49-F238E27FC236}">
                  <a16:creationId xmlns:a16="http://schemas.microsoft.com/office/drawing/2014/main" id="{A74DB1E1-25A8-E793-C174-C5F280AFE2A4}"/>
                </a:ext>
              </a:extLst>
            </p:cNvPr>
            <p:cNvSpPr>
              <a:spLocks noChangeShapeType="1"/>
            </p:cNvSpPr>
            <p:nvPr/>
          </p:nvSpPr>
          <p:spPr bwMode="auto">
            <a:xfrm flipH="1">
              <a:off x="4103" y="2682"/>
              <a:ext cx="43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15">
              <a:extLst>
                <a:ext uri="{FF2B5EF4-FFF2-40B4-BE49-F238E27FC236}">
                  <a16:creationId xmlns:a16="http://schemas.microsoft.com/office/drawing/2014/main" id="{AB6FBDD2-A8CD-9A97-9898-F82C84513758}"/>
                </a:ext>
              </a:extLst>
            </p:cNvPr>
            <p:cNvSpPr txBox="1">
              <a:spLocks noChangeArrowheads="1"/>
            </p:cNvSpPr>
            <p:nvPr/>
          </p:nvSpPr>
          <p:spPr bwMode="auto">
            <a:xfrm>
              <a:off x="3560" y="277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B</a:t>
              </a:r>
            </a:p>
          </p:txBody>
        </p:sp>
        <p:sp>
          <p:nvSpPr>
            <p:cNvPr id="17" name="Line 116">
              <a:extLst>
                <a:ext uri="{FF2B5EF4-FFF2-40B4-BE49-F238E27FC236}">
                  <a16:creationId xmlns:a16="http://schemas.microsoft.com/office/drawing/2014/main" id="{7F3A9247-89B3-9FA1-B72A-589B553BC1AC}"/>
                </a:ext>
              </a:extLst>
            </p:cNvPr>
            <p:cNvSpPr>
              <a:spLocks noChangeShapeType="1"/>
            </p:cNvSpPr>
            <p:nvPr/>
          </p:nvSpPr>
          <p:spPr bwMode="auto">
            <a:xfrm flipH="1" flipV="1">
              <a:off x="3470" y="3067"/>
              <a:ext cx="34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8" name="Text Box 117">
              <a:extLst>
                <a:ext uri="{FF2B5EF4-FFF2-40B4-BE49-F238E27FC236}">
                  <a16:creationId xmlns:a16="http://schemas.microsoft.com/office/drawing/2014/main" id="{B5DDE196-BDE8-0D9D-BC28-CB85CE9E192C}"/>
                </a:ext>
              </a:extLst>
            </p:cNvPr>
            <p:cNvSpPr txBox="1">
              <a:spLocks noChangeArrowheads="1"/>
            </p:cNvSpPr>
            <p:nvPr/>
          </p:nvSpPr>
          <p:spPr bwMode="auto">
            <a:xfrm>
              <a:off x="4248" y="2772"/>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C</a:t>
              </a:r>
            </a:p>
          </p:txBody>
        </p:sp>
        <p:sp>
          <p:nvSpPr>
            <p:cNvPr id="19" name="Line 118">
              <a:extLst>
                <a:ext uri="{FF2B5EF4-FFF2-40B4-BE49-F238E27FC236}">
                  <a16:creationId xmlns:a16="http://schemas.microsoft.com/office/drawing/2014/main" id="{09D9B588-CD7B-DE76-EF8F-60FA5B008A52}"/>
                </a:ext>
              </a:extLst>
            </p:cNvPr>
            <p:cNvSpPr>
              <a:spLocks noChangeShapeType="1"/>
            </p:cNvSpPr>
            <p:nvPr/>
          </p:nvSpPr>
          <p:spPr bwMode="auto">
            <a:xfrm flipH="1" flipV="1">
              <a:off x="4173" y="2772"/>
              <a:ext cx="34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Text Box 119">
              <a:extLst>
                <a:ext uri="{FF2B5EF4-FFF2-40B4-BE49-F238E27FC236}">
                  <a16:creationId xmlns:a16="http://schemas.microsoft.com/office/drawing/2014/main" id="{457BF497-EA62-B226-4954-ABEF21CD1BA7}"/>
                </a:ext>
              </a:extLst>
            </p:cNvPr>
            <p:cNvSpPr txBox="1">
              <a:spLocks noChangeArrowheads="1"/>
            </p:cNvSpPr>
            <p:nvPr/>
          </p:nvSpPr>
          <p:spPr bwMode="auto">
            <a:xfrm>
              <a:off x="3198" y="3045"/>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21" name="Text Box 120">
              <a:extLst>
                <a:ext uri="{FF2B5EF4-FFF2-40B4-BE49-F238E27FC236}">
                  <a16:creationId xmlns:a16="http://schemas.microsoft.com/office/drawing/2014/main" id="{BB021340-CCB9-FC93-B6F5-0F5390C036CE}"/>
                </a:ext>
              </a:extLst>
            </p:cNvPr>
            <p:cNvSpPr txBox="1">
              <a:spLocks noChangeArrowheads="1"/>
            </p:cNvSpPr>
            <p:nvPr/>
          </p:nvSpPr>
          <p:spPr bwMode="auto">
            <a:xfrm>
              <a:off x="3198" y="352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22" name="Text Box 121">
              <a:extLst>
                <a:ext uri="{FF2B5EF4-FFF2-40B4-BE49-F238E27FC236}">
                  <a16:creationId xmlns:a16="http://schemas.microsoft.com/office/drawing/2014/main" id="{1FC90E83-7EE5-ADC5-81AB-11F81D002FE8}"/>
                </a:ext>
              </a:extLst>
            </p:cNvPr>
            <p:cNvSpPr txBox="1">
              <a:spLocks noChangeArrowheads="1"/>
            </p:cNvSpPr>
            <p:nvPr/>
          </p:nvSpPr>
          <p:spPr bwMode="auto">
            <a:xfrm>
              <a:off x="3175" y="3201"/>
              <a:ext cx="3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BE</a:t>
              </a:r>
            </a:p>
          </p:txBody>
        </p:sp>
        <p:sp>
          <p:nvSpPr>
            <p:cNvPr id="23" name="Text Box 122">
              <a:extLst>
                <a:ext uri="{FF2B5EF4-FFF2-40B4-BE49-F238E27FC236}">
                  <a16:creationId xmlns:a16="http://schemas.microsoft.com/office/drawing/2014/main" id="{3AA2DC0F-6D5D-2156-A3A2-92F5C5EE6E29}"/>
                </a:ext>
              </a:extLst>
            </p:cNvPr>
            <p:cNvSpPr txBox="1">
              <a:spLocks noChangeArrowheads="1"/>
            </p:cNvSpPr>
            <p:nvPr/>
          </p:nvSpPr>
          <p:spPr bwMode="auto">
            <a:xfrm>
              <a:off x="4503" y="2967"/>
              <a:ext cx="3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CE</a:t>
              </a:r>
            </a:p>
          </p:txBody>
        </p:sp>
        <p:sp>
          <p:nvSpPr>
            <p:cNvPr id="24" name="Text Box 123">
              <a:extLst>
                <a:ext uri="{FF2B5EF4-FFF2-40B4-BE49-F238E27FC236}">
                  <a16:creationId xmlns:a16="http://schemas.microsoft.com/office/drawing/2014/main" id="{39839785-F4E4-4DD6-EF94-F0051F723931}"/>
                </a:ext>
              </a:extLst>
            </p:cNvPr>
            <p:cNvSpPr txBox="1">
              <a:spLocks noChangeArrowheads="1"/>
            </p:cNvSpPr>
            <p:nvPr/>
          </p:nvSpPr>
          <p:spPr bwMode="auto">
            <a:xfrm>
              <a:off x="4581" y="254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25" name="Text Box 124">
              <a:extLst>
                <a:ext uri="{FF2B5EF4-FFF2-40B4-BE49-F238E27FC236}">
                  <a16:creationId xmlns:a16="http://schemas.microsoft.com/office/drawing/2014/main" id="{6302D386-4610-0C27-6748-14CBF4F439A6}"/>
                </a:ext>
              </a:extLst>
            </p:cNvPr>
            <p:cNvSpPr txBox="1">
              <a:spLocks noChangeArrowheads="1"/>
            </p:cNvSpPr>
            <p:nvPr/>
          </p:nvSpPr>
          <p:spPr bwMode="auto">
            <a:xfrm>
              <a:off x="4603" y="3498"/>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sp>
        <p:nvSpPr>
          <p:cNvPr id="26" name="矩形 25">
            <a:extLst>
              <a:ext uri="{FF2B5EF4-FFF2-40B4-BE49-F238E27FC236}">
                <a16:creationId xmlns:a16="http://schemas.microsoft.com/office/drawing/2014/main" id="{EDB6E60E-F187-B760-0255-0C54AC4E0F81}"/>
              </a:ext>
            </a:extLst>
          </p:cNvPr>
          <p:cNvSpPr/>
          <p:nvPr/>
        </p:nvSpPr>
        <p:spPr>
          <a:xfrm>
            <a:off x="3198104" y="4638155"/>
            <a:ext cx="3437159" cy="387798"/>
          </a:xfrm>
          <a:prstGeom prst="rect">
            <a:avLst/>
          </a:prstGeom>
        </p:spPr>
        <p:txBody>
          <a:bodyPr wrap="none">
            <a:spAutoFit/>
          </a:bodyPr>
          <a:lstStyle/>
          <a:p>
            <a:pPr lvl="1">
              <a:lnSpc>
                <a:spcPct val="80000"/>
              </a:lnSpc>
            </a:pPr>
            <a:r>
              <a:rPr lang="zh-CN" altLang="en-US" sz="2400" dirty="0">
                <a:latin typeface="+mj-ea"/>
                <a:ea typeface="+mj-ea"/>
              </a:rPr>
              <a:t>可控，线性</a:t>
            </a:r>
            <a:r>
              <a:rPr lang="zh-CN" altLang="en-US" sz="2400" i="1" dirty="0">
                <a:latin typeface="+mj-ea"/>
                <a:ea typeface="+mj-ea"/>
              </a:rPr>
              <a:t>：</a:t>
            </a:r>
            <a:r>
              <a:rPr lang="en-US" altLang="zh-CN" sz="2400" i="1" dirty="0" err="1">
                <a:latin typeface="+mj-ea"/>
                <a:ea typeface="+mj-ea"/>
              </a:rPr>
              <a:t>i</a:t>
            </a:r>
            <a:r>
              <a:rPr kumimoji="1" lang="en-US" altLang="zh-CN" sz="2000" baseline="-10000" dirty="0" err="1">
                <a:latin typeface="+mj-ea"/>
                <a:ea typeface="+mj-ea"/>
              </a:rPr>
              <a:t>C</a:t>
            </a:r>
            <a:r>
              <a:rPr kumimoji="1" lang="en-US" altLang="zh-CN" sz="2400" i="1" dirty="0">
                <a:latin typeface="+mj-ea"/>
                <a:ea typeface="+mj-ea"/>
              </a:rPr>
              <a:t> </a:t>
            </a:r>
            <a:r>
              <a:rPr kumimoji="1" lang="en-US" altLang="zh-CN" sz="2400" dirty="0">
                <a:latin typeface="+mj-ea"/>
                <a:ea typeface="+mj-ea"/>
              </a:rPr>
              <a:t>=β</a:t>
            </a:r>
            <a:r>
              <a:rPr lang="en-US" altLang="zh-CN" sz="2400" i="1" dirty="0" err="1">
                <a:latin typeface="+mj-ea"/>
                <a:ea typeface="+mj-ea"/>
              </a:rPr>
              <a:t>i</a:t>
            </a:r>
            <a:r>
              <a:rPr kumimoji="1" lang="en-US" altLang="zh-CN" sz="2000" baseline="-10000" dirty="0" err="1">
                <a:latin typeface="+mj-ea"/>
                <a:ea typeface="+mj-ea"/>
              </a:rPr>
              <a:t>B</a:t>
            </a:r>
            <a:endParaRPr kumimoji="1" lang="en-US" altLang="zh-CN" dirty="0">
              <a:latin typeface="+mj-ea"/>
              <a:ea typeface="+mj-ea"/>
            </a:endParaRPr>
          </a:p>
        </p:txBody>
      </p:sp>
    </p:spTree>
    <p:extLst>
      <p:ext uri="{BB962C8B-B14F-4D97-AF65-F5344CB8AC3E}">
        <p14:creationId xmlns:p14="http://schemas.microsoft.com/office/powerpoint/2010/main" val="302622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25174-29F8-F6EA-3AD0-0E306AE2F714}"/>
              </a:ext>
            </a:extLst>
          </p:cNvPr>
          <p:cNvSpPr>
            <a:spLocks noGrp="1"/>
          </p:cNvSpPr>
          <p:nvPr>
            <p:ph type="title"/>
          </p:nvPr>
        </p:nvSpPr>
        <p:spPr/>
        <p:txBody>
          <a:bodyPr>
            <a:normAutofit fontScale="90000"/>
          </a:bodyPr>
          <a:lstStyle/>
          <a:p>
            <a:r>
              <a:rPr lang="en-US" altLang="zh-CN" dirty="0"/>
              <a:t>BJT</a:t>
            </a:r>
            <a:r>
              <a:rPr lang="zh-CN" altLang="en-US" dirty="0"/>
              <a:t>的简化</a:t>
            </a:r>
            <a:r>
              <a:rPr kumimoji="1" lang="zh-CN" altLang="en-US" dirty="0">
                <a:latin typeface="Times New Roman" panose="02020603050405020304" pitchFamily="18" charset="0"/>
              </a:rPr>
              <a:t>小信号模型</a:t>
            </a:r>
            <a:endParaRPr kumimoji="1" lang="zh-CN" altLang="en-US" dirty="0"/>
          </a:p>
        </p:txBody>
      </p:sp>
      <p:sp>
        <p:nvSpPr>
          <p:cNvPr id="4" name="页脚占位符 3">
            <a:extLst>
              <a:ext uri="{FF2B5EF4-FFF2-40B4-BE49-F238E27FC236}">
                <a16:creationId xmlns:a16="http://schemas.microsoft.com/office/drawing/2014/main" id="{BB781AD6-5577-FAE1-20AE-A2E22DE21897}"/>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F5F25CE1-917A-8CAC-B56A-16C958583EFE}"/>
              </a:ext>
            </a:extLst>
          </p:cNvPr>
          <p:cNvSpPr>
            <a:spLocks noGrp="1"/>
          </p:cNvSpPr>
          <p:nvPr>
            <p:ph type="sldNum" sz="quarter" idx="12"/>
          </p:nvPr>
        </p:nvSpPr>
        <p:spPr/>
        <p:txBody>
          <a:bodyPr/>
          <a:lstStyle/>
          <a:p>
            <a:fld id="{9E260BC5-5BF3-8746-862B-DC45E9CAA88B}" type="slidenum">
              <a:rPr lang="en-US" smtClean="0"/>
              <a:pPr/>
              <a:t>6</a:t>
            </a:fld>
            <a:r>
              <a:rPr lang="en-US" altLang="zh-CN" dirty="0"/>
              <a:t>/33</a:t>
            </a:r>
            <a:endParaRPr lang="en-US" dirty="0"/>
          </a:p>
        </p:txBody>
      </p:sp>
      <p:sp>
        <p:nvSpPr>
          <p:cNvPr id="6" name="TextBox 5">
            <a:extLst>
              <a:ext uri="{FF2B5EF4-FFF2-40B4-BE49-F238E27FC236}">
                <a16:creationId xmlns:a16="http://schemas.microsoft.com/office/drawing/2014/main" id="{414C127A-10F7-4430-6871-9B86DF1DCA6B}"/>
              </a:ext>
            </a:extLst>
          </p:cNvPr>
          <p:cNvSpPr txBox="1"/>
          <p:nvPr/>
        </p:nvSpPr>
        <p:spPr>
          <a:xfrm>
            <a:off x="6782795" y="597532"/>
            <a:ext cx="2495528" cy="369332"/>
          </a:xfrm>
          <a:prstGeom prst="rect">
            <a:avLst/>
          </a:prstGeom>
          <a:noFill/>
        </p:spPr>
        <p:txBody>
          <a:bodyPr wrap="square" rtlCol="0">
            <a:spAutoFit/>
          </a:bodyPr>
          <a:lstStyle/>
          <a:p>
            <a:pPr algn="r"/>
            <a:r>
              <a:rPr lang="zh-CN" altLang="en-US" dirty="0">
                <a:latin typeface="Microsoft YaHei" panose="020B0503020204020204" pitchFamily="34" charset="-122"/>
                <a:ea typeface="Microsoft YaHei" panose="020B0503020204020204" pitchFamily="34" charset="-122"/>
              </a:rPr>
              <a:t>下个</a:t>
            </a:r>
            <a:r>
              <a:rPr lang="en-US" altLang="zh-CN" dirty="0">
                <a:latin typeface="Microsoft YaHei" panose="020B0503020204020204" pitchFamily="34" charset="-122"/>
                <a:ea typeface="Microsoft YaHei" panose="020B0503020204020204" pitchFamily="34" charset="-122"/>
              </a:rPr>
              <a:t>PPT</a:t>
            </a:r>
            <a:r>
              <a:rPr lang="zh-CN" altLang="en-US" dirty="0">
                <a:latin typeface="Microsoft YaHei" panose="020B0503020204020204" pitchFamily="34" charset="-122"/>
                <a:ea typeface="Microsoft YaHei" panose="020B0503020204020204" pitchFamily="34" charset="-122"/>
              </a:rPr>
              <a:t>再细讲</a:t>
            </a:r>
            <a:endParaRPr lang="en-US" dirty="0">
              <a:latin typeface="Microsoft YaHei" panose="020B0503020204020204" pitchFamily="34" charset="-122"/>
              <a:ea typeface="Microsoft YaHei" panose="020B0503020204020204" pitchFamily="34" charset="-122"/>
            </a:endParaRPr>
          </a:p>
        </p:txBody>
      </p:sp>
      <p:grpSp>
        <p:nvGrpSpPr>
          <p:cNvPr id="7" name="Group 76">
            <a:extLst>
              <a:ext uri="{FF2B5EF4-FFF2-40B4-BE49-F238E27FC236}">
                <a16:creationId xmlns:a16="http://schemas.microsoft.com/office/drawing/2014/main" id="{BC80CBED-007D-D2AD-AFAB-8FD13D43C845}"/>
              </a:ext>
            </a:extLst>
          </p:cNvPr>
          <p:cNvGrpSpPr>
            <a:grpSpLocks/>
          </p:cNvGrpSpPr>
          <p:nvPr/>
        </p:nvGrpSpPr>
        <p:grpSpPr bwMode="auto">
          <a:xfrm>
            <a:off x="4262365" y="3691497"/>
            <a:ext cx="3022600" cy="2598738"/>
            <a:chOff x="2822" y="998"/>
            <a:chExt cx="2527" cy="2040"/>
          </a:xfrm>
        </p:grpSpPr>
        <p:sp>
          <p:nvSpPr>
            <p:cNvPr id="8" name="Oval 32">
              <a:extLst>
                <a:ext uri="{FF2B5EF4-FFF2-40B4-BE49-F238E27FC236}">
                  <a16:creationId xmlns:a16="http://schemas.microsoft.com/office/drawing/2014/main" id="{630159B0-91D1-8CB3-4F68-11CF47D3C71B}"/>
                </a:ext>
              </a:extLst>
            </p:cNvPr>
            <p:cNvSpPr>
              <a:spLocks noChangeArrowheads="1"/>
            </p:cNvSpPr>
            <p:nvPr/>
          </p:nvSpPr>
          <p:spPr bwMode="auto">
            <a:xfrm>
              <a:off x="3107" y="2704"/>
              <a:ext cx="61" cy="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 name="Oval 33">
              <a:extLst>
                <a:ext uri="{FF2B5EF4-FFF2-40B4-BE49-F238E27FC236}">
                  <a16:creationId xmlns:a16="http://schemas.microsoft.com/office/drawing/2014/main" id="{D7A171E0-DFCF-0471-DD01-FBE47A7514FF}"/>
                </a:ext>
              </a:extLst>
            </p:cNvPr>
            <p:cNvSpPr>
              <a:spLocks noChangeArrowheads="1"/>
            </p:cNvSpPr>
            <p:nvPr/>
          </p:nvSpPr>
          <p:spPr bwMode="auto">
            <a:xfrm>
              <a:off x="3104" y="1376"/>
              <a:ext cx="61" cy="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 name="Oval 34">
              <a:extLst>
                <a:ext uri="{FF2B5EF4-FFF2-40B4-BE49-F238E27FC236}">
                  <a16:creationId xmlns:a16="http://schemas.microsoft.com/office/drawing/2014/main" id="{A8F7A88A-C4CF-140E-0D18-67863BEAEE5C}"/>
                </a:ext>
              </a:extLst>
            </p:cNvPr>
            <p:cNvSpPr>
              <a:spLocks noChangeArrowheads="1"/>
            </p:cNvSpPr>
            <p:nvPr/>
          </p:nvSpPr>
          <p:spPr bwMode="auto">
            <a:xfrm>
              <a:off x="5035" y="2688"/>
              <a:ext cx="61" cy="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 name="Oval 35">
              <a:extLst>
                <a:ext uri="{FF2B5EF4-FFF2-40B4-BE49-F238E27FC236}">
                  <a16:creationId xmlns:a16="http://schemas.microsoft.com/office/drawing/2014/main" id="{85DC1629-289F-6125-2FBC-9D6CB5F90259}"/>
                </a:ext>
              </a:extLst>
            </p:cNvPr>
            <p:cNvSpPr>
              <a:spLocks noChangeArrowheads="1"/>
            </p:cNvSpPr>
            <p:nvPr/>
          </p:nvSpPr>
          <p:spPr bwMode="auto">
            <a:xfrm>
              <a:off x="5012" y="1376"/>
              <a:ext cx="61" cy="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 name="Line 36">
              <a:extLst>
                <a:ext uri="{FF2B5EF4-FFF2-40B4-BE49-F238E27FC236}">
                  <a16:creationId xmlns:a16="http://schemas.microsoft.com/office/drawing/2014/main" id="{89B77A9A-D06D-E80C-18A1-1AACD9320A84}"/>
                </a:ext>
              </a:extLst>
            </p:cNvPr>
            <p:cNvSpPr>
              <a:spLocks noChangeShapeType="1"/>
            </p:cNvSpPr>
            <p:nvPr/>
          </p:nvSpPr>
          <p:spPr bwMode="auto">
            <a:xfrm>
              <a:off x="3175" y="2727"/>
              <a:ext cx="18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3" name="Line 37">
              <a:extLst>
                <a:ext uri="{FF2B5EF4-FFF2-40B4-BE49-F238E27FC236}">
                  <a16:creationId xmlns:a16="http://schemas.microsoft.com/office/drawing/2014/main" id="{1D82929C-2746-A361-79BD-FBECD2B91A49}"/>
                </a:ext>
              </a:extLst>
            </p:cNvPr>
            <p:cNvSpPr>
              <a:spLocks noChangeShapeType="1"/>
            </p:cNvSpPr>
            <p:nvPr/>
          </p:nvSpPr>
          <p:spPr bwMode="auto">
            <a:xfrm flipV="1">
              <a:off x="4291" y="1412"/>
              <a:ext cx="0" cy="1318"/>
            </a:xfrm>
            <a:prstGeom prst="line">
              <a:avLst/>
            </a:prstGeom>
            <a:noFill/>
            <a:ln w="38100">
              <a:solidFill>
                <a:schemeClr val="tx1"/>
              </a:solidFill>
              <a:round/>
              <a:headEnd type="oval"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 name="Line 38">
              <a:extLst>
                <a:ext uri="{FF2B5EF4-FFF2-40B4-BE49-F238E27FC236}">
                  <a16:creationId xmlns:a16="http://schemas.microsoft.com/office/drawing/2014/main" id="{6C1B409F-B02B-BB97-70BB-2FA40920D590}"/>
                </a:ext>
              </a:extLst>
            </p:cNvPr>
            <p:cNvSpPr>
              <a:spLocks noChangeShapeType="1"/>
            </p:cNvSpPr>
            <p:nvPr/>
          </p:nvSpPr>
          <p:spPr bwMode="auto">
            <a:xfrm>
              <a:off x="3175" y="1407"/>
              <a:ext cx="6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nvGrpSpPr>
            <p:cNvPr id="15" name="Group 39">
              <a:extLst>
                <a:ext uri="{FF2B5EF4-FFF2-40B4-BE49-F238E27FC236}">
                  <a16:creationId xmlns:a16="http://schemas.microsoft.com/office/drawing/2014/main" id="{C4E1DEDF-53E0-EEA5-52CD-547FF3133501}"/>
                </a:ext>
              </a:extLst>
            </p:cNvPr>
            <p:cNvGrpSpPr>
              <a:grpSpLocks/>
            </p:cNvGrpSpPr>
            <p:nvPr/>
          </p:nvGrpSpPr>
          <p:grpSpPr bwMode="auto">
            <a:xfrm>
              <a:off x="4179" y="1868"/>
              <a:ext cx="225" cy="359"/>
              <a:chOff x="4164" y="1968"/>
              <a:chExt cx="264" cy="420"/>
            </a:xfrm>
          </p:grpSpPr>
          <p:sp>
            <p:nvSpPr>
              <p:cNvPr id="35" name="AutoShape 40">
                <a:extLst>
                  <a:ext uri="{FF2B5EF4-FFF2-40B4-BE49-F238E27FC236}">
                    <a16:creationId xmlns:a16="http://schemas.microsoft.com/office/drawing/2014/main" id="{6979D5A5-C952-CDC8-F7BF-6C2ADA6F39A9}"/>
                  </a:ext>
                </a:extLst>
              </p:cNvPr>
              <p:cNvSpPr>
                <a:spLocks noChangeArrowheads="1"/>
              </p:cNvSpPr>
              <p:nvPr/>
            </p:nvSpPr>
            <p:spPr bwMode="auto">
              <a:xfrm>
                <a:off x="4164" y="1968"/>
                <a:ext cx="264" cy="420"/>
              </a:xfrm>
              <a:prstGeom prst="diamond">
                <a:avLst/>
              </a:prstGeom>
              <a:solidFill>
                <a:schemeClr val="bg1"/>
              </a:solidFill>
              <a:ln w="38100">
                <a:solidFill>
                  <a:schemeClr val="tx1"/>
                </a:solidFill>
                <a:miter lim="800000"/>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Line 41">
                <a:extLst>
                  <a:ext uri="{FF2B5EF4-FFF2-40B4-BE49-F238E27FC236}">
                    <a16:creationId xmlns:a16="http://schemas.microsoft.com/office/drawing/2014/main" id="{C421AD20-87A5-B996-4BDB-7365C29D07C2}"/>
                  </a:ext>
                </a:extLst>
              </p:cNvPr>
              <p:cNvSpPr>
                <a:spLocks noChangeShapeType="1"/>
              </p:cNvSpPr>
              <p:nvPr/>
            </p:nvSpPr>
            <p:spPr bwMode="auto">
              <a:xfrm>
                <a:off x="4176" y="2184"/>
                <a:ext cx="25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16" name="Line 42">
              <a:extLst>
                <a:ext uri="{FF2B5EF4-FFF2-40B4-BE49-F238E27FC236}">
                  <a16:creationId xmlns:a16="http://schemas.microsoft.com/office/drawing/2014/main" id="{32D1BBF9-8026-6F00-3DBE-31B039318EB4}"/>
                </a:ext>
              </a:extLst>
            </p:cNvPr>
            <p:cNvSpPr>
              <a:spLocks noChangeShapeType="1"/>
            </p:cNvSpPr>
            <p:nvPr/>
          </p:nvSpPr>
          <p:spPr bwMode="auto">
            <a:xfrm flipV="1">
              <a:off x="3794" y="1397"/>
              <a:ext cx="0" cy="1333"/>
            </a:xfrm>
            <a:prstGeom prst="line">
              <a:avLst/>
            </a:prstGeom>
            <a:noFill/>
            <a:ln w="381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17" name="Rectangle 43">
              <a:extLst>
                <a:ext uri="{FF2B5EF4-FFF2-40B4-BE49-F238E27FC236}">
                  <a16:creationId xmlns:a16="http://schemas.microsoft.com/office/drawing/2014/main" id="{CC2E1787-B925-B85E-A7C7-BAF347519CDF}"/>
                </a:ext>
              </a:extLst>
            </p:cNvPr>
            <p:cNvSpPr>
              <a:spLocks noChangeArrowheads="1"/>
            </p:cNvSpPr>
            <p:nvPr/>
          </p:nvSpPr>
          <p:spPr bwMode="auto">
            <a:xfrm>
              <a:off x="3743" y="1909"/>
              <a:ext cx="112" cy="318"/>
            </a:xfrm>
            <a:prstGeom prst="rect">
              <a:avLst/>
            </a:prstGeom>
            <a:solidFill>
              <a:schemeClr val="bg1"/>
            </a:solidFill>
            <a:ln w="38100">
              <a:solidFill>
                <a:schemeClr val="tx1"/>
              </a:solidFill>
              <a:miter lim="800000"/>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8" name="Line 44">
              <a:extLst>
                <a:ext uri="{FF2B5EF4-FFF2-40B4-BE49-F238E27FC236}">
                  <a16:creationId xmlns:a16="http://schemas.microsoft.com/office/drawing/2014/main" id="{BDB730B0-F7C3-2310-DAAA-51150AF279C2}"/>
                </a:ext>
              </a:extLst>
            </p:cNvPr>
            <p:cNvSpPr>
              <a:spLocks noChangeShapeType="1"/>
            </p:cNvSpPr>
            <p:nvPr/>
          </p:nvSpPr>
          <p:spPr bwMode="auto">
            <a:xfrm flipV="1">
              <a:off x="4286" y="1412"/>
              <a:ext cx="72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9" name="Text Box 47">
              <a:extLst>
                <a:ext uri="{FF2B5EF4-FFF2-40B4-BE49-F238E27FC236}">
                  <a16:creationId xmlns:a16="http://schemas.microsoft.com/office/drawing/2014/main" id="{E7627942-E137-C927-4A24-E2D7607EC73A}"/>
                </a:ext>
              </a:extLst>
            </p:cNvPr>
            <p:cNvSpPr txBox="1">
              <a:spLocks noChangeArrowheads="1"/>
            </p:cNvSpPr>
            <p:nvPr/>
          </p:nvSpPr>
          <p:spPr bwMode="auto">
            <a:xfrm>
              <a:off x="2994" y="1485"/>
              <a:ext cx="4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2000">
                  <a:latin typeface="Times New Roman" panose="02020603050405020304" pitchFamily="18" charset="0"/>
                </a:rPr>
                <a:t>＋</a:t>
              </a:r>
            </a:p>
          </p:txBody>
        </p:sp>
        <p:sp>
          <p:nvSpPr>
            <p:cNvPr id="20" name="Text Box 48">
              <a:extLst>
                <a:ext uri="{FF2B5EF4-FFF2-40B4-BE49-F238E27FC236}">
                  <a16:creationId xmlns:a16="http://schemas.microsoft.com/office/drawing/2014/main" id="{16255AA8-ECED-7BBB-F8EF-682F0EF7ECB4}"/>
                </a:ext>
              </a:extLst>
            </p:cNvPr>
            <p:cNvSpPr txBox="1">
              <a:spLocks noChangeArrowheads="1"/>
            </p:cNvSpPr>
            <p:nvPr/>
          </p:nvSpPr>
          <p:spPr bwMode="auto">
            <a:xfrm>
              <a:off x="3019" y="243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2000">
                  <a:latin typeface="Times New Roman" panose="02020603050405020304" pitchFamily="18" charset="0"/>
                  <a:sym typeface="Symbol" panose="05050102010706020507" pitchFamily="18" charset="2"/>
                </a:rPr>
                <a:t></a:t>
              </a:r>
            </a:p>
          </p:txBody>
        </p:sp>
        <p:sp>
          <p:nvSpPr>
            <p:cNvPr id="21" name="Text Box 49">
              <a:extLst>
                <a:ext uri="{FF2B5EF4-FFF2-40B4-BE49-F238E27FC236}">
                  <a16:creationId xmlns:a16="http://schemas.microsoft.com/office/drawing/2014/main" id="{3B2AE9BE-8728-091C-A825-23104047CE22}"/>
                </a:ext>
              </a:extLst>
            </p:cNvPr>
            <p:cNvSpPr txBox="1">
              <a:spLocks noChangeArrowheads="1"/>
            </p:cNvSpPr>
            <p:nvPr/>
          </p:nvSpPr>
          <p:spPr bwMode="auto">
            <a:xfrm>
              <a:off x="4898" y="1502"/>
              <a:ext cx="4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2000">
                  <a:latin typeface="Times New Roman" panose="02020603050405020304" pitchFamily="18" charset="0"/>
                </a:rPr>
                <a:t>＋</a:t>
              </a:r>
            </a:p>
          </p:txBody>
        </p:sp>
        <p:sp>
          <p:nvSpPr>
            <p:cNvPr id="22" name="Text Box 50">
              <a:extLst>
                <a:ext uri="{FF2B5EF4-FFF2-40B4-BE49-F238E27FC236}">
                  <a16:creationId xmlns:a16="http://schemas.microsoft.com/office/drawing/2014/main" id="{3A6159DA-77E8-CB05-6E33-3BE7E9EDF305}"/>
                </a:ext>
              </a:extLst>
            </p:cNvPr>
            <p:cNvSpPr txBox="1">
              <a:spLocks noChangeArrowheads="1"/>
            </p:cNvSpPr>
            <p:nvPr/>
          </p:nvSpPr>
          <p:spPr bwMode="auto">
            <a:xfrm>
              <a:off x="4948" y="243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2000">
                  <a:latin typeface="Times New Roman" panose="02020603050405020304" pitchFamily="18" charset="0"/>
                  <a:sym typeface="Symbol" panose="05050102010706020507" pitchFamily="18" charset="2"/>
                </a:rPr>
                <a:t></a:t>
              </a:r>
            </a:p>
          </p:txBody>
        </p:sp>
        <p:sp>
          <p:nvSpPr>
            <p:cNvPr id="23" name="Line 51">
              <a:extLst>
                <a:ext uri="{FF2B5EF4-FFF2-40B4-BE49-F238E27FC236}">
                  <a16:creationId xmlns:a16="http://schemas.microsoft.com/office/drawing/2014/main" id="{3B681496-7E7B-F548-D3BD-15E194EE68B4}"/>
                </a:ext>
              </a:extLst>
            </p:cNvPr>
            <p:cNvSpPr>
              <a:spLocks noChangeShapeType="1"/>
            </p:cNvSpPr>
            <p:nvPr/>
          </p:nvSpPr>
          <p:spPr bwMode="auto">
            <a:xfrm>
              <a:off x="3288" y="1319"/>
              <a:ext cx="295"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4" name="Line 53">
              <a:extLst>
                <a:ext uri="{FF2B5EF4-FFF2-40B4-BE49-F238E27FC236}">
                  <a16:creationId xmlns:a16="http://schemas.microsoft.com/office/drawing/2014/main" id="{37A58ABA-EEB6-D21F-052C-B9D1067A6C05}"/>
                </a:ext>
              </a:extLst>
            </p:cNvPr>
            <p:cNvSpPr>
              <a:spLocks noChangeShapeType="1"/>
            </p:cNvSpPr>
            <p:nvPr/>
          </p:nvSpPr>
          <p:spPr bwMode="auto">
            <a:xfrm flipH="1">
              <a:off x="4512" y="1321"/>
              <a:ext cx="31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aphicFrame>
          <p:nvGraphicFramePr>
            <p:cNvPr id="25" name="Object 55">
              <a:extLst>
                <a:ext uri="{FF2B5EF4-FFF2-40B4-BE49-F238E27FC236}">
                  <a16:creationId xmlns:a16="http://schemas.microsoft.com/office/drawing/2014/main" id="{4217492C-3364-A525-D2E2-B7F545AC69A3}"/>
                </a:ext>
              </a:extLst>
            </p:cNvPr>
            <p:cNvGraphicFramePr>
              <a:graphicFrameLocks noChangeAspect="1"/>
            </p:cNvGraphicFramePr>
            <p:nvPr/>
          </p:nvGraphicFramePr>
          <p:xfrm>
            <a:off x="4572" y="1918"/>
            <a:ext cx="326" cy="277"/>
          </p:xfrm>
          <a:graphic>
            <a:graphicData uri="http://schemas.openxmlformats.org/presentationml/2006/ole">
              <mc:AlternateContent xmlns:mc="http://schemas.openxmlformats.org/markup-compatibility/2006">
                <mc:Choice xmlns:v="urn:schemas-microsoft-com:vml" Requires="v">
                  <p:oleObj name="公式" r:id="rId2" imgW="266584" imgH="228501" progId="Equation.3">
                    <p:embed/>
                  </p:oleObj>
                </mc:Choice>
                <mc:Fallback>
                  <p:oleObj name="公式" r:id="rId2" imgW="266584" imgH="228501" progId="Equation.3">
                    <p:embed/>
                    <p:pic>
                      <p:nvPicPr>
                        <p:cNvPr id="20533" name="Object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 y="1918"/>
                          <a:ext cx="326" cy="277"/>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6" name="Line 62">
              <a:extLst>
                <a:ext uri="{FF2B5EF4-FFF2-40B4-BE49-F238E27FC236}">
                  <a16:creationId xmlns:a16="http://schemas.microsoft.com/office/drawing/2014/main" id="{47B5F33E-7EEA-F94B-5B75-0234E9493320}"/>
                </a:ext>
              </a:extLst>
            </p:cNvPr>
            <p:cNvSpPr>
              <a:spLocks noChangeShapeType="1"/>
            </p:cNvSpPr>
            <p:nvPr/>
          </p:nvSpPr>
          <p:spPr bwMode="auto">
            <a:xfrm flipV="1">
              <a:off x="4513" y="1911"/>
              <a:ext cx="0" cy="295"/>
            </a:xfrm>
            <a:prstGeom prst="line">
              <a:avLst/>
            </a:prstGeom>
            <a:noFill/>
            <a:ln w="1270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 name="Object 64">
              <a:extLst>
                <a:ext uri="{FF2B5EF4-FFF2-40B4-BE49-F238E27FC236}">
                  <a16:creationId xmlns:a16="http://schemas.microsoft.com/office/drawing/2014/main" id="{23399AB9-E8CF-57EF-7D12-860DEDF79162}"/>
                </a:ext>
              </a:extLst>
            </p:cNvPr>
            <p:cNvGraphicFramePr>
              <a:graphicFrameLocks noChangeAspect="1"/>
            </p:cNvGraphicFramePr>
            <p:nvPr/>
          </p:nvGraphicFramePr>
          <p:xfrm>
            <a:off x="2993" y="1869"/>
            <a:ext cx="343" cy="344"/>
          </p:xfrm>
          <a:graphic>
            <a:graphicData uri="http://schemas.openxmlformats.org/presentationml/2006/ole">
              <mc:AlternateContent xmlns:mc="http://schemas.openxmlformats.org/markup-compatibility/2006">
                <mc:Choice xmlns:v="urn:schemas-microsoft-com:vml" Requires="v">
                  <p:oleObj name="公式" r:id="rId4" imgW="203112" imgH="228501" progId="Equation.3">
                    <p:embed/>
                  </p:oleObj>
                </mc:Choice>
                <mc:Fallback>
                  <p:oleObj name="公式" r:id="rId4" imgW="203112" imgH="228501" progId="Equation.3">
                    <p:embed/>
                    <p:pic>
                      <p:nvPicPr>
                        <p:cNvPr id="20535" name="Object 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3" y="1869"/>
                          <a:ext cx="343" cy="344"/>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8" name="Object 65">
              <a:extLst>
                <a:ext uri="{FF2B5EF4-FFF2-40B4-BE49-F238E27FC236}">
                  <a16:creationId xmlns:a16="http://schemas.microsoft.com/office/drawing/2014/main" id="{8049710A-329B-9491-915E-1B234D1D33F3}"/>
                </a:ext>
              </a:extLst>
            </p:cNvPr>
            <p:cNvGraphicFramePr>
              <a:graphicFrameLocks noChangeAspect="1"/>
            </p:cNvGraphicFramePr>
            <p:nvPr/>
          </p:nvGraphicFramePr>
          <p:xfrm>
            <a:off x="3348" y="998"/>
            <a:ext cx="251" cy="279"/>
          </p:xfrm>
          <a:graphic>
            <a:graphicData uri="http://schemas.openxmlformats.org/presentationml/2006/ole">
              <mc:AlternateContent xmlns:mc="http://schemas.openxmlformats.org/markup-compatibility/2006">
                <mc:Choice xmlns:v="urn:schemas-microsoft-com:vml" Requires="v">
                  <p:oleObj name="公式" r:id="rId6" imgW="126890" imgH="228402" progId="Equation.3">
                    <p:embed/>
                  </p:oleObj>
                </mc:Choice>
                <mc:Fallback>
                  <p:oleObj name="公式" r:id="rId6" imgW="126890" imgH="228402" progId="Equation.3">
                    <p:embed/>
                    <p:pic>
                      <p:nvPicPr>
                        <p:cNvPr id="20536" name="Object 6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 y="998"/>
                          <a:ext cx="251" cy="279"/>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9" name="Object 66">
              <a:extLst>
                <a:ext uri="{FF2B5EF4-FFF2-40B4-BE49-F238E27FC236}">
                  <a16:creationId xmlns:a16="http://schemas.microsoft.com/office/drawing/2014/main" id="{EF3B930E-F0C0-E187-3577-0A8720255D71}"/>
                </a:ext>
              </a:extLst>
            </p:cNvPr>
            <p:cNvGraphicFramePr>
              <a:graphicFrameLocks noChangeAspect="1"/>
            </p:cNvGraphicFramePr>
            <p:nvPr/>
          </p:nvGraphicFramePr>
          <p:xfrm>
            <a:off x="4558" y="1027"/>
            <a:ext cx="251" cy="293"/>
          </p:xfrm>
          <a:graphic>
            <a:graphicData uri="http://schemas.openxmlformats.org/presentationml/2006/ole">
              <mc:AlternateContent xmlns:mc="http://schemas.openxmlformats.org/markup-compatibility/2006">
                <mc:Choice xmlns:v="urn:schemas-microsoft-com:vml" Requires="v">
                  <p:oleObj name="公式" r:id="rId8" imgW="126890" imgH="228402" progId="Equation.3">
                    <p:embed/>
                  </p:oleObj>
                </mc:Choice>
                <mc:Fallback>
                  <p:oleObj name="公式" r:id="rId8" imgW="126890" imgH="228402" progId="Equation.3">
                    <p:embed/>
                    <p:pic>
                      <p:nvPicPr>
                        <p:cNvPr id="20537" name="Object 6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8" y="1027"/>
                          <a:ext cx="251" cy="293"/>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0" name="Object 67">
              <a:extLst>
                <a:ext uri="{FF2B5EF4-FFF2-40B4-BE49-F238E27FC236}">
                  <a16:creationId xmlns:a16="http://schemas.microsoft.com/office/drawing/2014/main" id="{23398A5A-BAE8-0407-E50A-3D050B03E0C3}"/>
                </a:ext>
              </a:extLst>
            </p:cNvPr>
            <p:cNvGraphicFramePr>
              <a:graphicFrameLocks noChangeAspect="1"/>
            </p:cNvGraphicFramePr>
            <p:nvPr/>
          </p:nvGraphicFramePr>
          <p:xfrm>
            <a:off x="3393" y="1858"/>
            <a:ext cx="349" cy="370"/>
          </p:xfrm>
          <a:graphic>
            <a:graphicData uri="http://schemas.openxmlformats.org/presentationml/2006/ole">
              <mc:AlternateContent xmlns:mc="http://schemas.openxmlformats.org/markup-compatibility/2006">
                <mc:Choice xmlns:v="urn:schemas-microsoft-com:vml" Requires="v">
                  <p:oleObj name="公式" r:id="rId10" imgW="177646" imgH="228402" progId="Equation.3">
                    <p:embed/>
                  </p:oleObj>
                </mc:Choice>
                <mc:Fallback>
                  <p:oleObj name="公式" r:id="rId10" imgW="177646" imgH="228402" progId="Equation.3">
                    <p:embed/>
                    <p:pic>
                      <p:nvPicPr>
                        <p:cNvPr id="20538" name="Object 6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3" y="1858"/>
                          <a:ext cx="349" cy="37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 name="Object 68">
              <a:extLst>
                <a:ext uri="{FF2B5EF4-FFF2-40B4-BE49-F238E27FC236}">
                  <a16:creationId xmlns:a16="http://schemas.microsoft.com/office/drawing/2014/main" id="{8B262F2F-0654-78C8-3BFE-1BE480399401}"/>
                </a:ext>
              </a:extLst>
            </p:cNvPr>
            <p:cNvGraphicFramePr>
              <a:graphicFrameLocks noChangeAspect="1"/>
            </p:cNvGraphicFramePr>
            <p:nvPr/>
          </p:nvGraphicFramePr>
          <p:xfrm>
            <a:off x="4967" y="1865"/>
            <a:ext cx="320" cy="344"/>
          </p:xfrm>
          <a:graphic>
            <a:graphicData uri="http://schemas.openxmlformats.org/presentationml/2006/ole">
              <mc:AlternateContent xmlns:mc="http://schemas.openxmlformats.org/markup-compatibility/2006">
                <mc:Choice xmlns:v="urn:schemas-microsoft-com:vml" Requires="v">
                  <p:oleObj name="公式" r:id="rId12" imgW="190500" imgH="228600" progId="Equation.3">
                    <p:embed/>
                  </p:oleObj>
                </mc:Choice>
                <mc:Fallback>
                  <p:oleObj name="公式" r:id="rId12" imgW="190500" imgH="228600" progId="Equation.3">
                    <p:embed/>
                    <p:pic>
                      <p:nvPicPr>
                        <p:cNvPr id="20539" name="Object 6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67" y="1865"/>
                          <a:ext cx="320" cy="344"/>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 name="Text Box 72">
              <a:extLst>
                <a:ext uri="{FF2B5EF4-FFF2-40B4-BE49-F238E27FC236}">
                  <a16:creationId xmlns:a16="http://schemas.microsoft.com/office/drawing/2014/main" id="{AFD01889-442A-96DB-79C8-28B28738E815}"/>
                </a:ext>
              </a:extLst>
            </p:cNvPr>
            <p:cNvSpPr txBox="1">
              <a:spLocks noChangeArrowheads="1"/>
            </p:cNvSpPr>
            <p:nvPr/>
          </p:nvSpPr>
          <p:spPr bwMode="auto">
            <a:xfrm>
              <a:off x="2822" y="133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b</a:t>
              </a:r>
            </a:p>
          </p:txBody>
        </p:sp>
        <p:sp>
          <p:nvSpPr>
            <p:cNvPr id="33" name="Text Box 73">
              <a:extLst>
                <a:ext uri="{FF2B5EF4-FFF2-40B4-BE49-F238E27FC236}">
                  <a16:creationId xmlns:a16="http://schemas.microsoft.com/office/drawing/2014/main" id="{B82075B1-4528-BF32-3F83-C602690FE942}"/>
                </a:ext>
              </a:extLst>
            </p:cNvPr>
            <p:cNvSpPr txBox="1">
              <a:spLocks noChangeArrowheads="1"/>
            </p:cNvSpPr>
            <p:nvPr/>
          </p:nvSpPr>
          <p:spPr bwMode="auto">
            <a:xfrm>
              <a:off x="5148" y="1275"/>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c</a:t>
              </a:r>
            </a:p>
          </p:txBody>
        </p:sp>
        <p:sp>
          <p:nvSpPr>
            <p:cNvPr id="34" name="Text Box 74">
              <a:extLst>
                <a:ext uri="{FF2B5EF4-FFF2-40B4-BE49-F238E27FC236}">
                  <a16:creationId xmlns:a16="http://schemas.microsoft.com/office/drawing/2014/main" id="{C0AAF4F1-579D-A715-46FA-3E013D891AEB}"/>
                </a:ext>
              </a:extLst>
            </p:cNvPr>
            <p:cNvSpPr txBox="1">
              <a:spLocks noChangeArrowheads="1"/>
            </p:cNvSpPr>
            <p:nvPr/>
          </p:nvSpPr>
          <p:spPr bwMode="auto">
            <a:xfrm>
              <a:off x="4173" y="2750"/>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e</a:t>
              </a:r>
            </a:p>
          </p:txBody>
        </p:sp>
      </p:grpSp>
      <p:graphicFrame>
        <p:nvGraphicFramePr>
          <p:cNvPr id="37" name="Object 26">
            <a:extLst>
              <a:ext uri="{FF2B5EF4-FFF2-40B4-BE49-F238E27FC236}">
                <a16:creationId xmlns:a16="http://schemas.microsoft.com/office/drawing/2014/main" id="{ED6A8352-08A5-F5FB-573D-DEEF05E9F8E3}"/>
              </a:ext>
            </a:extLst>
          </p:cNvPr>
          <p:cNvGraphicFramePr>
            <a:graphicFrameLocks noChangeAspect="1"/>
          </p:cNvGraphicFramePr>
          <p:nvPr>
            <p:extLst>
              <p:ext uri="{D42A27DB-BD31-4B8C-83A1-F6EECF244321}">
                <p14:modId xmlns:p14="http://schemas.microsoft.com/office/powerpoint/2010/main" val="965205640"/>
              </p:ext>
            </p:extLst>
          </p:nvPr>
        </p:nvGraphicFramePr>
        <p:xfrm>
          <a:off x="590135" y="4884579"/>
          <a:ext cx="3444130" cy="721387"/>
        </p:xfrm>
        <a:graphic>
          <a:graphicData uri="http://schemas.openxmlformats.org/presentationml/2006/ole">
            <mc:AlternateContent xmlns:mc="http://schemas.openxmlformats.org/markup-compatibility/2006">
              <mc:Choice xmlns:v="urn:schemas-microsoft-com:vml" Requires="v">
                <p:oleObj name="公式" r:id="rId14" imgW="2019240" imgH="457200" progId="Equation.3">
                  <p:embed/>
                </p:oleObj>
              </mc:Choice>
              <mc:Fallback>
                <p:oleObj name="公式" r:id="rId14" imgW="2019240" imgH="457200" progId="Equation.3">
                  <p:embed/>
                  <p:pic>
                    <p:nvPicPr>
                      <p:cNvPr id="130" name="Object 26"/>
                      <p:cNvPicPr>
                        <a:picLocks noChangeAspect="1" noChangeArrowheads="1"/>
                      </p:cNvPicPr>
                      <p:nvPr/>
                    </p:nvPicPr>
                    <p:blipFill>
                      <a:blip r:embed="rId15"/>
                      <a:srcRect/>
                      <a:stretch>
                        <a:fillRect/>
                      </a:stretch>
                    </p:blipFill>
                    <p:spPr bwMode="auto">
                      <a:xfrm>
                        <a:off x="590135" y="4884579"/>
                        <a:ext cx="3444130" cy="721387"/>
                      </a:xfrm>
                      <a:prstGeom prst="rect">
                        <a:avLst/>
                      </a:prstGeom>
                      <a:noFill/>
                      <a:ln>
                        <a:noFill/>
                      </a:ln>
                    </p:spPr>
                  </p:pic>
                </p:oleObj>
              </mc:Fallback>
            </mc:AlternateContent>
          </a:graphicData>
        </a:graphic>
      </p:graphicFrame>
      <p:pic>
        <p:nvPicPr>
          <p:cNvPr id="38" name="图片 37">
            <a:extLst>
              <a:ext uri="{FF2B5EF4-FFF2-40B4-BE49-F238E27FC236}">
                <a16:creationId xmlns:a16="http://schemas.microsoft.com/office/drawing/2014/main" id="{4C7A3AAE-5D5D-9DF9-5749-CBF75A044198}"/>
              </a:ext>
            </a:extLst>
          </p:cNvPr>
          <p:cNvPicPr>
            <a:picLocks noChangeAspect="1"/>
          </p:cNvPicPr>
          <p:nvPr/>
        </p:nvPicPr>
        <p:blipFill>
          <a:blip r:embed="rId16"/>
          <a:stretch>
            <a:fillRect/>
          </a:stretch>
        </p:blipFill>
        <p:spPr>
          <a:xfrm>
            <a:off x="6428688" y="1219668"/>
            <a:ext cx="2729822" cy="2137392"/>
          </a:xfrm>
          <a:prstGeom prst="rect">
            <a:avLst/>
          </a:prstGeom>
        </p:spPr>
      </p:pic>
      <p:pic>
        <p:nvPicPr>
          <p:cNvPr id="39" name="图片 38">
            <a:extLst>
              <a:ext uri="{FF2B5EF4-FFF2-40B4-BE49-F238E27FC236}">
                <a16:creationId xmlns:a16="http://schemas.microsoft.com/office/drawing/2014/main" id="{DCDE4DCD-3F54-5AE3-C84B-F68579054ECA}"/>
              </a:ext>
            </a:extLst>
          </p:cNvPr>
          <p:cNvPicPr>
            <a:picLocks noChangeAspect="1"/>
          </p:cNvPicPr>
          <p:nvPr/>
        </p:nvPicPr>
        <p:blipFill>
          <a:blip r:embed="rId17"/>
          <a:stretch>
            <a:fillRect/>
          </a:stretch>
        </p:blipFill>
        <p:spPr>
          <a:xfrm>
            <a:off x="4019528" y="1298895"/>
            <a:ext cx="2245015" cy="2008698"/>
          </a:xfrm>
          <a:prstGeom prst="rect">
            <a:avLst/>
          </a:prstGeom>
        </p:spPr>
      </p:pic>
      <p:sp>
        <p:nvSpPr>
          <p:cNvPr id="40" name="Line 3">
            <a:extLst>
              <a:ext uri="{FF2B5EF4-FFF2-40B4-BE49-F238E27FC236}">
                <a16:creationId xmlns:a16="http://schemas.microsoft.com/office/drawing/2014/main" id="{1A2F9BB9-C362-8E2E-449C-9F250EF83537}"/>
              </a:ext>
            </a:extLst>
          </p:cNvPr>
          <p:cNvSpPr>
            <a:spLocks noChangeShapeType="1"/>
          </p:cNvSpPr>
          <p:nvPr/>
        </p:nvSpPr>
        <p:spPr bwMode="auto">
          <a:xfrm flipV="1">
            <a:off x="2061940" y="1484274"/>
            <a:ext cx="0" cy="358775"/>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1" name="Line 5">
            <a:extLst>
              <a:ext uri="{FF2B5EF4-FFF2-40B4-BE49-F238E27FC236}">
                <a16:creationId xmlns:a16="http://schemas.microsoft.com/office/drawing/2014/main" id="{DFEF0ADE-A2F4-3158-3C42-E84DEE28D4D4}"/>
              </a:ext>
            </a:extLst>
          </p:cNvPr>
          <p:cNvSpPr>
            <a:spLocks noChangeShapeType="1"/>
          </p:cNvSpPr>
          <p:nvPr/>
        </p:nvSpPr>
        <p:spPr bwMode="auto">
          <a:xfrm>
            <a:off x="1058640" y="2485987"/>
            <a:ext cx="765175" cy="4762"/>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2" name="Line 6">
            <a:extLst>
              <a:ext uri="{FF2B5EF4-FFF2-40B4-BE49-F238E27FC236}">
                <a16:creationId xmlns:a16="http://schemas.microsoft.com/office/drawing/2014/main" id="{5F78383A-1C26-E9FF-F856-3D5B725DE916}"/>
              </a:ext>
            </a:extLst>
          </p:cNvPr>
          <p:cNvSpPr>
            <a:spLocks noChangeShapeType="1"/>
          </p:cNvSpPr>
          <p:nvPr/>
        </p:nvSpPr>
        <p:spPr bwMode="auto">
          <a:xfrm>
            <a:off x="1807940" y="2246274"/>
            <a:ext cx="0" cy="48895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3" name="Line 7">
            <a:extLst>
              <a:ext uri="{FF2B5EF4-FFF2-40B4-BE49-F238E27FC236}">
                <a16:creationId xmlns:a16="http://schemas.microsoft.com/office/drawing/2014/main" id="{253020B6-122E-73F4-29FB-F5738ECAE863}"/>
              </a:ext>
            </a:extLst>
          </p:cNvPr>
          <p:cNvSpPr>
            <a:spLocks noChangeShapeType="1"/>
          </p:cNvSpPr>
          <p:nvPr/>
        </p:nvSpPr>
        <p:spPr bwMode="auto">
          <a:xfrm>
            <a:off x="1807940" y="2490749"/>
            <a:ext cx="268287" cy="252413"/>
          </a:xfrm>
          <a:prstGeom prst="line">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4" name="Line 8">
            <a:extLst>
              <a:ext uri="{FF2B5EF4-FFF2-40B4-BE49-F238E27FC236}">
                <a16:creationId xmlns:a16="http://schemas.microsoft.com/office/drawing/2014/main" id="{F0636527-0BCA-822E-6CDD-3B43A25EF83A}"/>
              </a:ext>
            </a:extLst>
          </p:cNvPr>
          <p:cNvSpPr>
            <a:spLocks noChangeShapeType="1"/>
          </p:cNvSpPr>
          <p:nvPr/>
        </p:nvSpPr>
        <p:spPr bwMode="auto">
          <a:xfrm flipV="1">
            <a:off x="1807940" y="2254212"/>
            <a:ext cx="268287" cy="220662"/>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5" name="Line 9">
            <a:extLst>
              <a:ext uri="{FF2B5EF4-FFF2-40B4-BE49-F238E27FC236}">
                <a16:creationId xmlns:a16="http://schemas.microsoft.com/office/drawing/2014/main" id="{551F3445-2370-615A-DEF5-34E0641796DE}"/>
              </a:ext>
            </a:extLst>
          </p:cNvPr>
          <p:cNvSpPr>
            <a:spLocks noChangeShapeType="1"/>
          </p:cNvSpPr>
          <p:nvPr/>
        </p:nvSpPr>
        <p:spPr bwMode="auto">
          <a:xfrm>
            <a:off x="2060352" y="1481099"/>
            <a:ext cx="0" cy="790575"/>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6" name="Line 10">
            <a:extLst>
              <a:ext uri="{FF2B5EF4-FFF2-40B4-BE49-F238E27FC236}">
                <a16:creationId xmlns:a16="http://schemas.microsoft.com/office/drawing/2014/main" id="{46F3F8B3-64FC-4569-6B8B-3EAAE5910A5B}"/>
              </a:ext>
            </a:extLst>
          </p:cNvPr>
          <p:cNvSpPr>
            <a:spLocks noChangeShapeType="1"/>
          </p:cNvSpPr>
          <p:nvPr/>
        </p:nvSpPr>
        <p:spPr bwMode="auto">
          <a:xfrm>
            <a:off x="2060352" y="2727287"/>
            <a:ext cx="0" cy="881062"/>
          </a:xfrm>
          <a:prstGeom prst="line">
            <a:avLst/>
          </a:prstGeom>
          <a:noFill/>
          <a:ln w="38100">
            <a:solidFill>
              <a:schemeClr val="tx1"/>
            </a:solidFill>
            <a:round/>
            <a:headEnd type="none" w="sm" len="sm"/>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7" name="Line 11">
            <a:extLst>
              <a:ext uri="{FF2B5EF4-FFF2-40B4-BE49-F238E27FC236}">
                <a16:creationId xmlns:a16="http://schemas.microsoft.com/office/drawing/2014/main" id="{5A1516BC-3818-7FEE-C807-84B38331B95B}"/>
              </a:ext>
            </a:extLst>
          </p:cNvPr>
          <p:cNvSpPr>
            <a:spLocks noChangeShapeType="1"/>
          </p:cNvSpPr>
          <p:nvPr/>
        </p:nvSpPr>
        <p:spPr bwMode="auto">
          <a:xfrm>
            <a:off x="1068165" y="3609937"/>
            <a:ext cx="17605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8" name="Line 12">
            <a:extLst>
              <a:ext uri="{FF2B5EF4-FFF2-40B4-BE49-F238E27FC236}">
                <a16:creationId xmlns:a16="http://schemas.microsoft.com/office/drawing/2014/main" id="{D2E7991A-F3BE-2273-7AA8-015F3F049075}"/>
              </a:ext>
            </a:extLst>
          </p:cNvPr>
          <p:cNvSpPr>
            <a:spLocks noChangeShapeType="1"/>
          </p:cNvSpPr>
          <p:nvPr/>
        </p:nvSpPr>
        <p:spPr bwMode="auto">
          <a:xfrm>
            <a:off x="2044477" y="1489037"/>
            <a:ext cx="8207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9" name="Oval 13">
            <a:extLst>
              <a:ext uri="{FF2B5EF4-FFF2-40B4-BE49-F238E27FC236}">
                <a16:creationId xmlns:a16="http://schemas.microsoft.com/office/drawing/2014/main" id="{E07D66F7-335C-6780-EB5B-380282CC6667}"/>
              </a:ext>
            </a:extLst>
          </p:cNvPr>
          <p:cNvSpPr>
            <a:spLocks noChangeArrowheads="1"/>
          </p:cNvSpPr>
          <p:nvPr/>
        </p:nvSpPr>
        <p:spPr bwMode="auto">
          <a:xfrm>
            <a:off x="969740" y="2449474"/>
            <a:ext cx="98425" cy="984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0" name="Oval 14">
            <a:extLst>
              <a:ext uri="{FF2B5EF4-FFF2-40B4-BE49-F238E27FC236}">
                <a16:creationId xmlns:a16="http://schemas.microsoft.com/office/drawing/2014/main" id="{AB553596-BBB8-458E-0B8C-B4E636A2ED12}"/>
              </a:ext>
            </a:extLst>
          </p:cNvPr>
          <p:cNvSpPr>
            <a:spLocks noChangeArrowheads="1"/>
          </p:cNvSpPr>
          <p:nvPr/>
        </p:nvSpPr>
        <p:spPr bwMode="auto">
          <a:xfrm>
            <a:off x="985615" y="3560724"/>
            <a:ext cx="98425" cy="984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1" name="Oval 15">
            <a:extLst>
              <a:ext uri="{FF2B5EF4-FFF2-40B4-BE49-F238E27FC236}">
                <a16:creationId xmlns:a16="http://schemas.microsoft.com/office/drawing/2014/main" id="{9BBFEBB0-0E33-A98F-FD4B-310DDEE82FC9}"/>
              </a:ext>
            </a:extLst>
          </p:cNvPr>
          <p:cNvSpPr>
            <a:spLocks noChangeArrowheads="1"/>
          </p:cNvSpPr>
          <p:nvPr/>
        </p:nvSpPr>
        <p:spPr bwMode="auto">
          <a:xfrm>
            <a:off x="2828702" y="3560724"/>
            <a:ext cx="98425" cy="984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2" name="Oval 16">
            <a:extLst>
              <a:ext uri="{FF2B5EF4-FFF2-40B4-BE49-F238E27FC236}">
                <a16:creationId xmlns:a16="http://schemas.microsoft.com/office/drawing/2014/main" id="{353E53D1-3764-0A43-9A4D-A21F22BBE7CE}"/>
              </a:ext>
            </a:extLst>
          </p:cNvPr>
          <p:cNvSpPr>
            <a:spLocks noChangeArrowheads="1"/>
          </p:cNvSpPr>
          <p:nvPr/>
        </p:nvSpPr>
        <p:spPr bwMode="auto">
          <a:xfrm>
            <a:off x="2865215" y="1439824"/>
            <a:ext cx="96837" cy="984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3" name="Text Box 17">
            <a:extLst>
              <a:ext uri="{FF2B5EF4-FFF2-40B4-BE49-F238E27FC236}">
                <a16:creationId xmlns:a16="http://schemas.microsoft.com/office/drawing/2014/main" id="{48AF6F96-5E47-8FBD-6B44-630D1D575E77}"/>
              </a:ext>
            </a:extLst>
          </p:cNvPr>
          <p:cNvSpPr txBox="1">
            <a:spLocks noChangeArrowheads="1"/>
          </p:cNvSpPr>
          <p:nvPr/>
        </p:nvSpPr>
        <p:spPr bwMode="auto">
          <a:xfrm>
            <a:off x="849090" y="3165437"/>
            <a:ext cx="411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1800">
                <a:latin typeface="Times New Roman" panose="02020603050405020304" pitchFamily="18" charset="0"/>
                <a:sym typeface="Symbol" panose="05050102010706020507" pitchFamily="18" charset="2"/>
              </a:rPr>
              <a:t></a:t>
            </a:r>
          </a:p>
        </p:txBody>
      </p:sp>
      <p:sp>
        <p:nvSpPr>
          <p:cNvPr id="54" name="Text Box 18">
            <a:extLst>
              <a:ext uri="{FF2B5EF4-FFF2-40B4-BE49-F238E27FC236}">
                <a16:creationId xmlns:a16="http://schemas.microsoft.com/office/drawing/2014/main" id="{A7B1249C-475E-1B91-6C5F-F7EC1702FAC3}"/>
              </a:ext>
            </a:extLst>
          </p:cNvPr>
          <p:cNvSpPr txBox="1">
            <a:spLocks noChangeArrowheads="1"/>
          </p:cNvSpPr>
          <p:nvPr/>
        </p:nvSpPr>
        <p:spPr bwMode="auto">
          <a:xfrm>
            <a:off x="849090" y="2589174"/>
            <a:ext cx="3857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1600">
                <a:latin typeface="Times New Roman" panose="02020603050405020304" pitchFamily="18" charset="0"/>
              </a:rPr>
              <a:t>＋</a:t>
            </a:r>
          </a:p>
        </p:txBody>
      </p:sp>
      <p:sp>
        <p:nvSpPr>
          <p:cNvPr id="55" name="Text Box 19">
            <a:extLst>
              <a:ext uri="{FF2B5EF4-FFF2-40B4-BE49-F238E27FC236}">
                <a16:creationId xmlns:a16="http://schemas.microsoft.com/office/drawing/2014/main" id="{86344C51-7F0E-A8AB-00A5-439098C83639}"/>
              </a:ext>
            </a:extLst>
          </p:cNvPr>
          <p:cNvSpPr txBox="1">
            <a:spLocks noChangeArrowheads="1"/>
          </p:cNvSpPr>
          <p:nvPr/>
        </p:nvSpPr>
        <p:spPr bwMode="auto">
          <a:xfrm>
            <a:off x="2720752" y="1671599"/>
            <a:ext cx="638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1600">
                <a:latin typeface="Times New Roman" panose="02020603050405020304" pitchFamily="18" charset="0"/>
              </a:rPr>
              <a:t>＋</a:t>
            </a:r>
          </a:p>
        </p:txBody>
      </p:sp>
      <p:sp>
        <p:nvSpPr>
          <p:cNvPr id="56" name="Text Box 20">
            <a:extLst>
              <a:ext uri="{FF2B5EF4-FFF2-40B4-BE49-F238E27FC236}">
                <a16:creationId xmlns:a16="http://schemas.microsoft.com/office/drawing/2014/main" id="{A831DE73-CF6C-0D42-5D81-82B78862E0F7}"/>
              </a:ext>
            </a:extLst>
          </p:cNvPr>
          <p:cNvSpPr txBox="1">
            <a:spLocks noChangeArrowheads="1"/>
          </p:cNvSpPr>
          <p:nvPr/>
        </p:nvSpPr>
        <p:spPr bwMode="auto">
          <a:xfrm>
            <a:off x="2771552" y="3084474"/>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zh-CN" altLang="en-US" sz="1800">
                <a:latin typeface="Times New Roman" panose="02020603050405020304" pitchFamily="18" charset="0"/>
                <a:sym typeface="Symbol" panose="05050102010706020507" pitchFamily="18" charset="2"/>
              </a:rPr>
              <a:t></a:t>
            </a:r>
          </a:p>
        </p:txBody>
      </p:sp>
      <p:sp>
        <p:nvSpPr>
          <p:cNvPr id="57" name="Line 21">
            <a:extLst>
              <a:ext uri="{FF2B5EF4-FFF2-40B4-BE49-F238E27FC236}">
                <a16:creationId xmlns:a16="http://schemas.microsoft.com/office/drawing/2014/main" id="{8D0D0CC6-0266-7E62-E92F-490EE1AFB146}"/>
              </a:ext>
            </a:extLst>
          </p:cNvPr>
          <p:cNvSpPr>
            <a:spLocks noChangeShapeType="1"/>
          </p:cNvSpPr>
          <p:nvPr/>
        </p:nvSpPr>
        <p:spPr bwMode="auto">
          <a:xfrm>
            <a:off x="1172940" y="2336762"/>
            <a:ext cx="43180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8" name="Line 22">
            <a:extLst>
              <a:ext uri="{FF2B5EF4-FFF2-40B4-BE49-F238E27FC236}">
                <a16:creationId xmlns:a16="http://schemas.microsoft.com/office/drawing/2014/main" id="{67A0E280-D277-EAAD-D874-7C243550BDF1}"/>
              </a:ext>
            </a:extLst>
          </p:cNvPr>
          <p:cNvSpPr>
            <a:spLocks noChangeShapeType="1"/>
          </p:cNvSpPr>
          <p:nvPr/>
        </p:nvSpPr>
        <p:spPr bwMode="auto">
          <a:xfrm flipH="1">
            <a:off x="2144490" y="1328699"/>
            <a:ext cx="50323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aphicFrame>
        <p:nvGraphicFramePr>
          <p:cNvPr id="59" name="Object 58">
            <a:extLst>
              <a:ext uri="{FF2B5EF4-FFF2-40B4-BE49-F238E27FC236}">
                <a16:creationId xmlns:a16="http://schemas.microsoft.com/office/drawing/2014/main" id="{DDFFB9F1-CE7C-CC30-6FBF-821BB6868A47}"/>
              </a:ext>
            </a:extLst>
          </p:cNvPr>
          <p:cNvGraphicFramePr>
            <a:graphicFrameLocks noChangeAspect="1"/>
          </p:cNvGraphicFramePr>
          <p:nvPr>
            <p:extLst>
              <p:ext uri="{D42A27DB-BD31-4B8C-83A1-F6EECF244321}">
                <p14:modId xmlns:p14="http://schemas.microsoft.com/office/powerpoint/2010/main" val="1843797264"/>
              </p:ext>
            </p:extLst>
          </p:nvPr>
        </p:nvGraphicFramePr>
        <p:xfrm>
          <a:off x="1231677" y="1789074"/>
          <a:ext cx="398463" cy="441325"/>
        </p:xfrm>
        <a:graphic>
          <a:graphicData uri="http://schemas.openxmlformats.org/presentationml/2006/ole">
            <mc:AlternateContent xmlns:mc="http://schemas.openxmlformats.org/markup-compatibility/2006">
              <mc:Choice xmlns:v="urn:schemas-microsoft-com:vml" Requires="v">
                <p:oleObj name="公式" r:id="rId18" imgW="126890" imgH="228402" progId="Equation.3">
                  <p:embed/>
                </p:oleObj>
              </mc:Choice>
              <mc:Fallback>
                <p:oleObj name="公式" r:id="rId18" imgW="126890" imgH="228402" progId="Equation.3">
                  <p:embed/>
                  <p:pic>
                    <p:nvPicPr>
                      <p:cNvPr id="148" name="Object 5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31677" y="1789074"/>
                        <a:ext cx="398463" cy="44132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0" name="Object 60">
            <a:extLst>
              <a:ext uri="{FF2B5EF4-FFF2-40B4-BE49-F238E27FC236}">
                <a16:creationId xmlns:a16="http://schemas.microsoft.com/office/drawing/2014/main" id="{F062F583-BF3D-5A56-6A04-B562A3145A59}"/>
              </a:ext>
            </a:extLst>
          </p:cNvPr>
          <p:cNvGraphicFramePr>
            <a:graphicFrameLocks noChangeAspect="1"/>
          </p:cNvGraphicFramePr>
          <p:nvPr>
            <p:extLst>
              <p:ext uri="{D42A27DB-BD31-4B8C-83A1-F6EECF244321}">
                <p14:modId xmlns:p14="http://schemas.microsoft.com/office/powerpoint/2010/main" val="3600676724"/>
              </p:ext>
            </p:extLst>
          </p:nvPr>
        </p:nvGraphicFramePr>
        <p:xfrm>
          <a:off x="2303240" y="2090699"/>
          <a:ext cx="508000" cy="546100"/>
        </p:xfrm>
        <a:graphic>
          <a:graphicData uri="http://schemas.openxmlformats.org/presentationml/2006/ole">
            <mc:AlternateContent xmlns:mc="http://schemas.openxmlformats.org/markup-compatibility/2006">
              <mc:Choice xmlns:v="urn:schemas-microsoft-com:vml" Requires="v">
                <p:oleObj name="公式" r:id="rId20" imgW="190500" imgH="228600" progId="Equation.3">
                  <p:embed/>
                </p:oleObj>
              </mc:Choice>
              <mc:Fallback>
                <p:oleObj name="公式" r:id="rId20" imgW="190500" imgH="228600" progId="Equation.3">
                  <p:embed/>
                  <p:pic>
                    <p:nvPicPr>
                      <p:cNvPr id="149" name="Object 6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03240" y="2090699"/>
                        <a:ext cx="508000" cy="54610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1" name="Object 63">
            <a:extLst>
              <a:ext uri="{FF2B5EF4-FFF2-40B4-BE49-F238E27FC236}">
                <a16:creationId xmlns:a16="http://schemas.microsoft.com/office/drawing/2014/main" id="{78D8367C-0799-2B5E-A7B8-73D76116EDFC}"/>
              </a:ext>
            </a:extLst>
          </p:cNvPr>
          <p:cNvGraphicFramePr>
            <a:graphicFrameLocks noChangeAspect="1"/>
          </p:cNvGraphicFramePr>
          <p:nvPr>
            <p:extLst>
              <p:ext uri="{D42A27DB-BD31-4B8C-83A1-F6EECF244321}">
                <p14:modId xmlns:p14="http://schemas.microsoft.com/office/powerpoint/2010/main" val="2181809751"/>
              </p:ext>
            </p:extLst>
          </p:nvPr>
        </p:nvGraphicFramePr>
        <p:xfrm>
          <a:off x="849090" y="2805074"/>
          <a:ext cx="544512" cy="546100"/>
        </p:xfrm>
        <a:graphic>
          <a:graphicData uri="http://schemas.openxmlformats.org/presentationml/2006/ole">
            <mc:AlternateContent xmlns:mc="http://schemas.openxmlformats.org/markup-compatibility/2006">
              <mc:Choice xmlns:v="urn:schemas-microsoft-com:vml" Requires="v">
                <p:oleObj name="公式" r:id="rId22" imgW="203112" imgH="228501" progId="Equation.3">
                  <p:embed/>
                </p:oleObj>
              </mc:Choice>
              <mc:Fallback>
                <p:oleObj name="公式" r:id="rId22" imgW="203112" imgH="228501" progId="Equation.3">
                  <p:embed/>
                  <p:pic>
                    <p:nvPicPr>
                      <p:cNvPr id="150" name="Object 6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9090" y="2805074"/>
                        <a:ext cx="544512" cy="54610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2" name="Text Box 69">
            <a:extLst>
              <a:ext uri="{FF2B5EF4-FFF2-40B4-BE49-F238E27FC236}">
                <a16:creationId xmlns:a16="http://schemas.microsoft.com/office/drawing/2014/main" id="{99D473E0-2E9D-C14D-8966-4EE53905CE7F}"/>
              </a:ext>
            </a:extLst>
          </p:cNvPr>
          <p:cNvSpPr txBox="1">
            <a:spLocks noChangeArrowheads="1"/>
          </p:cNvSpPr>
          <p:nvPr/>
        </p:nvSpPr>
        <p:spPr bwMode="auto">
          <a:xfrm>
            <a:off x="576040" y="2104987"/>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b</a:t>
            </a:r>
          </a:p>
        </p:txBody>
      </p:sp>
      <p:sp>
        <p:nvSpPr>
          <p:cNvPr id="63" name="Text Box 70">
            <a:extLst>
              <a:ext uri="{FF2B5EF4-FFF2-40B4-BE49-F238E27FC236}">
                <a16:creationId xmlns:a16="http://schemas.microsoft.com/office/drawing/2014/main" id="{CFC09064-7378-A2E2-E8DD-AB071B02EBB8}"/>
              </a:ext>
            </a:extLst>
          </p:cNvPr>
          <p:cNvSpPr txBox="1">
            <a:spLocks noChangeArrowheads="1"/>
          </p:cNvSpPr>
          <p:nvPr/>
        </p:nvSpPr>
        <p:spPr bwMode="auto">
          <a:xfrm>
            <a:off x="3081115" y="1257262"/>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c</a:t>
            </a:r>
          </a:p>
        </p:txBody>
      </p:sp>
      <p:sp>
        <p:nvSpPr>
          <p:cNvPr id="64" name="Text Box 71">
            <a:extLst>
              <a:ext uri="{FF2B5EF4-FFF2-40B4-BE49-F238E27FC236}">
                <a16:creationId xmlns:a16="http://schemas.microsoft.com/office/drawing/2014/main" id="{CBFBBCCE-BB3F-B84C-2B6B-81A25981E84B}"/>
              </a:ext>
            </a:extLst>
          </p:cNvPr>
          <p:cNvSpPr txBox="1">
            <a:spLocks noChangeArrowheads="1"/>
          </p:cNvSpPr>
          <p:nvPr/>
        </p:nvSpPr>
        <p:spPr bwMode="auto">
          <a:xfrm>
            <a:off x="1857152" y="3668674"/>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e</a:t>
            </a:r>
          </a:p>
        </p:txBody>
      </p:sp>
      <p:sp>
        <p:nvSpPr>
          <p:cNvPr id="65" name="AutoShape 25">
            <a:extLst>
              <a:ext uri="{FF2B5EF4-FFF2-40B4-BE49-F238E27FC236}">
                <a16:creationId xmlns:a16="http://schemas.microsoft.com/office/drawing/2014/main" id="{5B2022FE-4278-18B9-A2DC-4EE5CE001276}"/>
              </a:ext>
            </a:extLst>
          </p:cNvPr>
          <p:cNvSpPr>
            <a:spLocks noChangeArrowheads="1"/>
          </p:cNvSpPr>
          <p:nvPr/>
        </p:nvSpPr>
        <p:spPr bwMode="auto">
          <a:xfrm rot="900000">
            <a:off x="3391154" y="3732407"/>
            <a:ext cx="799641" cy="317500"/>
          </a:xfrm>
          <a:prstGeom prst="rightArrow">
            <a:avLst>
              <a:gd name="adj1" fmla="val 50000"/>
              <a:gd name="adj2" fmla="val 50125"/>
            </a:avLst>
          </a:prstGeom>
          <a:solidFill>
            <a:schemeClr val="accent1"/>
          </a:solidFill>
          <a:ln w="952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6" name="文本框 65">
            <a:extLst>
              <a:ext uri="{FF2B5EF4-FFF2-40B4-BE49-F238E27FC236}">
                <a16:creationId xmlns:a16="http://schemas.microsoft.com/office/drawing/2014/main" id="{FE1DE05E-BDFE-0C99-7E14-38FD7AE64D0E}"/>
              </a:ext>
            </a:extLst>
          </p:cNvPr>
          <p:cNvSpPr txBox="1"/>
          <p:nvPr/>
        </p:nvSpPr>
        <p:spPr>
          <a:xfrm>
            <a:off x="645541" y="4321416"/>
            <a:ext cx="3145433"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输入类似与二极管模型</a:t>
            </a:r>
          </a:p>
        </p:txBody>
      </p:sp>
      <p:sp>
        <p:nvSpPr>
          <p:cNvPr id="67" name="文本框 66">
            <a:extLst>
              <a:ext uri="{FF2B5EF4-FFF2-40B4-BE49-F238E27FC236}">
                <a16:creationId xmlns:a16="http://schemas.microsoft.com/office/drawing/2014/main" id="{E5E447CB-020B-314B-26DD-83C05E88AC3D}"/>
              </a:ext>
            </a:extLst>
          </p:cNvPr>
          <p:cNvSpPr txBox="1"/>
          <p:nvPr/>
        </p:nvSpPr>
        <p:spPr>
          <a:xfrm>
            <a:off x="7457138" y="4333538"/>
            <a:ext cx="2054356"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输出</a:t>
            </a:r>
            <a:r>
              <a:rPr lang="el-GR" altLang="zh-CN" dirty="0">
                <a:latin typeface="Microsoft YaHei" panose="020B0503020204020204" pitchFamily="34" charset="-122"/>
                <a:ea typeface="Microsoft YaHei" panose="020B0503020204020204" pitchFamily="34" charset="-122"/>
              </a:rPr>
              <a:t>β</a:t>
            </a:r>
            <a:r>
              <a:rPr lang="zh-CN" altLang="en-US" dirty="0">
                <a:latin typeface="Microsoft YaHei" panose="020B0503020204020204" pitchFamily="34" charset="-122"/>
                <a:ea typeface="Microsoft YaHei" panose="020B0503020204020204" pitchFamily="34" charset="-122"/>
              </a:rPr>
              <a:t>倍电流放大</a:t>
            </a:r>
          </a:p>
        </p:txBody>
      </p:sp>
      <p:sp>
        <p:nvSpPr>
          <p:cNvPr id="68" name="Rectangle 70">
            <a:extLst>
              <a:ext uri="{FF2B5EF4-FFF2-40B4-BE49-F238E27FC236}">
                <a16:creationId xmlns:a16="http://schemas.microsoft.com/office/drawing/2014/main" id="{60EB080B-BD6F-A9F4-73B1-03B79F36A7E7}"/>
              </a:ext>
            </a:extLst>
          </p:cNvPr>
          <p:cNvSpPr>
            <a:spLocks noChangeArrowheads="1"/>
          </p:cNvSpPr>
          <p:nvPr/>
        </p:nvSpPr>
        <p:spPr bwMode="auto">
          <a:xfrm>
            <a:off x="3884390" y="1219668"/>
            <a:ext cx="5274120" cy="2238708"/>
          </a:xfrm>
          <a:prstGeom prst="rect">
            <a:avLst/>
          </a:prstGeom>
          <a:noFill/>
          <a:ln w="2857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Tree>
    <p:extLst>
      <p:ext uri="{BB962C8B-B14F-4D97-AF65-F5344CB8AC3E}">
        <p14:creationId xmlns:p14="http://schemas.microsoft.com/office/powerpoint/2010/main" val="2411470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F22DC-A8BC-14E9-7B03-C1EC56FE5CE2}"/>
              </a:ext>
            </a:extLst>
          </p:cNvPr>
          <p:cNvSpPr>
            <a:spLocks noGrp="1"/>
          </p:cNvSpPr>
          <p:nvPr>
            <p:ph type="title"/>
          </p:nvPr>
        </p:nvSpPr>
        <p:spPr/>
        <p:txBody>
          <a:bodyPr>
            <a:normAutofit fontScale="90000"/>
          </a:bodyPr>
          <a:lstStyle/>
          <a:p>
            <a:r>
              <a:rPr lang="zh-CN" altLang="en-US" dirty="0"/>
              <a:t>基本放大电路</a:t>
            </a:r>
            <a:endParaRPr kumimoji="1" lang="zh-CN" altLang="en-US" dirty="0"/>
          </a:p>
        </p:txBody>
      </p:sp>
      <p:sp>
        <p:nvSpPr>
          <p:cNvPr id="3" name="内容占位符 2">
            <a:extLst>
              <a:ext uri="{FF2B5EF4-FFF2-40B4-BE49-F238E27FC236}">
                <a16:creationId xmlns:a16="http://schemas.microsoft.com/office/drawing/2014/main" id="{A7247441-374D-68CD-E844-3D6E0B8D771B}"/>
              </a:ext>
            </a:extLst>
          </p:cNvPr>
          <p:cNvSpPr>
            <a:spLocks noGrp="1"/>
          </p:cNvSpPr>
          <p:nvPr>
            <p:ph idx="1"/>
          </p:nvPr>
        </p:nvSpPr>
        <p:spPr>
          <a:xfrm>
            <a:off x="17780" y="585760"/>
            <a:ext cx="9304020" cy="5947119"/>
          </a:xfrm>
        </p:spPr>
        <p:txBody>
          <a:bodyPr/>
          <a:lstStyle/>
          <a:p>
            <a:r>
              <a:rPr kumimoji="1" lang="zh-CN" altLang="en-US" sz="2400" dirty="0"/>
              <a:t>基本放大电路一般是指由一个三极管与相应元件组成的三种基本组态放大电路。</a:t>
            </a:r>
            <a:r>
              <a:rPr lang="zh-CN" altLang="en-US" sz="2400" dirty="0"/>
              <a:t>是构成各种复杂放大电路的基本单元。</a:t>
            </a:r>
          </a:p>
          <a:p>
            <a:endParaRPr kumimoji="1" lang="zh-CN" altLang="en-US" dirty="0"/>
          </a:p>
        </p:txBody>
      </p:sp>
      <p:sp>
        <p:nvSpPr>
          <p:cNvPr id="4" name="页脚占位符 3">
            <a:extLst>
              <a:ext uri="{FF2B5EF4-FFF2-40B4-BE49-F238E27FC236}">
                <a16:creationId xmlns:a16="http://schemas.microsoft.com/office/drawing/2014/main" id="{3229E04C-ABCB-AEF2-C15D-62A7EEA2649E}"/>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282AC402-373B-19E1-3DC6-6FFB37E53463}"/>
              </a:ext>
            </a:extLst>
          </p:cNvPr>
          <p:cNvSpPr>
            <a:spLocks noGrp="1"/>
          </p:cNvSpPr>
          <p:nvPr>
            <p:ph type="sldNum" sz="quarter" idx="12"/>
          </p:nvPr>
        </p:nvSpPr>
        <p:spPr/>
        <p:txBody>
          <a:bodyPr/>
          <a:lstStyle/>
          <a:p>
            <a:fld id="{9E260BC5-5BF3-8746-862B-DC45E9CAA88B}" type="slidenum">
              <a:rPr lang="en-US" smtClean="0"/>
              <a:pPr/>
              <a:t>7</a:t>
            </a:fld>
            <a:r>
              <a:rPr lang="en-US" altLang="zh-CN" dirty="0"/>
              <a:t>/33</a:t>
            </a:r>
            <a:endParaRPr lang="en-US" dirty="0"/>
          </a:p>
        </p:txBody>
      </p:sp>
      <p:pic>
        <p:nvPicPr>
          <p:cNvPr id="6" name="Bild 6">
            <a:extLst>
              <a:ext uri="{FF2B5EF4-FFF2-40B4-BE49-F238E27FC236}">
                <a16:creationId xmlns:a16="http://schemas.microsoft.com/office/drawing/2014/main" id="{AF84831A-CDDC-3178-38E8-40A231B1E328}"/>
              </a:ext>
            </a:extLst>
          </p:cNvPr>
          <p:cNvPicPr>
            <a:picLocks noChangeAspect="1"/>
          </p:cNvPicPr>
          <p:nvPr/>
        </p:nvPicPr>
        <p:blipFill>
          <a:blip r:embed="rId2"/>
          <a:stretch>
            <a:fillRect/>
          </a:stretch>
        </p:blipFill>
        <p:spPr>
          <a:xfrm>
            <a:off x="2397022" y="2042876"/>
            <a:ext cx="5105515" cy="4125940"/>
          </a:xfrm>
          <a:prstGeom prst="rect">
            <a:avLst/>
          </a:prstGeom>
        </p:spPr>
      </p:pic>
      <p:sp>
        <p:nvSpPr>
          <p:cNvPr id="7" name="文本框 6">
            <a:extLst>
              <a:ext uri="{FF2B5EF4-FFF2-40B4-BE49-F238E27FC236}">
                <a16:creationId xmlns:a16="http://schemas.microsoft.com/office/drawing/2014/main" id="{194E375C-5745-5EDE-5C01-C84288EFFF5A}"/>
              </a:ext>
            </a:extLst>
          </p:cNvPr>
          <p:cNvSpPr txBox="1"/>
          <p:nvPr/>
        </p:nvSpPr>
        <p:spPr>
          <a:xfrm>
            <a:off x="763712" y="5563383"/>
            <a:ext cx="1768988" cy="646331"/>
          </a:xfrm>
          <a:prstGeom prst="rect">
            <a:avLst/>
          </a:prstGeom>
          <a:noFill/>
        </p:spPr>
        <p:txBody>
          <a:bodyPr wrap="square" rtlCol="0">
            <a:spAutoFit/>
          </a:bodyPr>
          <a:lstStyle/>
          <a:p>
            <a:r>
              <a:rPr lang="zh-CN" altLang="en-US" dirty="0">
                <a:latin typeface="+mj-ea"/>
                <a:ea typeface="+mj-ea"/>
              </a:rPr>
              <a:t>其实这个图有点小问题</a:t>
            </a:r>
            <a:r>
              <a:rPr lang="en-US" altLang="zh-CN" dirty="0">
                <a:latin typeface="+mj-ea"/>
                <a:ea typeface="+mj-ea"/>
              </a:rPr>
              <a:t>……</a:t>
            </a:r>
            <a:endParaRPr lang="zh-CN" altLang="en-US" dirty="0">
              <a:latin typeface="+mj-ea"/>
              <a:ea typeface="+mj-ea"/>
            </a:endParaRPr>
          </a:p>
        </p:txBody>
      </p:sp>
      <p:sp>
        <p:nvSpPr>
          <p:cNvPr id="8" name="文本框 7">
            <a:extLst>
              <a:ext uri="{FF2B5EF4-FFF2-40B4-BE49-F238E27FC236}">
                <a16:creationId xmlns:a16="http://schemas.microsoft.com/office/drawing/2014/main" id="{463E6CF3-F2D2-4436-63E8-42075182FACF}"/>
              </a:ext>
            </a:extLst>
          </p:cNvPr>
          <p:cNvSpPr txBox="1"/>
          <p:nvPr/>
        </p:nvSpPr>
        <p:spPr>
          <a:xfrm>
            <a:off x="2403463" y="1444535"/>
            <a:ext cx="5099074" cy="523220"/>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lang="zh-CN" altLang="en-US" sz="2800" dirty="0">
                <a:solidFill>
                  <a:srgbClr val="0000FF"/>
                </a:solidFill>
                <a:latin typeface="Microsoft YaHei" panose="020B0503020204020204" pitchFamily="34" charset="-122"/>
                <a:ea typeface="Microsoft YaHei" panose="020B0503020204020204" pitchFamily="34" charset="-122"/>
              </a:rPr>
              <a:t>保持有效信息，提高信号能量</a:t>
            </a:r>
          </a:p>
        </p:txBody>
      </p:sp>
    </p:spTree>
    <p:extLst>
      <p:ext uri="{BB962C8B-B14F-4D97-AF65-F5344CB8AC3E}">
        <p14:creationId xmlns:p14="http://schemas.microsoft.com/office/powerpoint/2010/main" val="4244543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93F04C-8543-B1DD-1FFA-D3B035416382}"/>
              </a:ext>
            </a:extLst>
          </p:cNvPr>
          <p:cNvSpPr>
            <a:spLocks noGrp="1"/>
          </p:cNvSpPr>
          <p:nvPr>
            <p:ph type="title"/>
          </p:nvPr>
        </p:nvSpPr>
        <p:spPr/>
        <p:txBody>
          <a:bodyPr>
            <a:normAutofit fontScale="90000"/>
          </a:bodyPr>
          <a:lstStyle/>
          <a:p>
            <a:r>
              <a:rPr lang="zh-CN" altLang="en-US" dirty="0"/>
              <a:t>基本放大电路</a:t>
            </a:r>
            <a:endParaRPr kumimoji="1" lang="zh-CN" altLang="en-US" dirty="0"/>
          </a:p>
        </p:txBody>
      </p:sp>
      <p:sp>
        <p:nvSpPr>
          <p:cNvPr id="3" name="内容占位符 2">
            <a:extLst>
              <a:ext uri="{FF2B5EF4-FFF2-40B4-BE49-F238E27FC236}">
                <a16:creationId xmlns:a16="http://schemas.microsoft.com/office/drawing/2014/main" id="{8250B921-93B0-E83B-125D-78E779C584DD}"/>
              </a:ext>
            </a:extLst>
          </p:cNvPr>
          <p:cNvSpPr>
            <a:spLocks noGrp="1"/>
          </p:cNvSpPr>
          <p:nvPr>
            <p:ph idx="1"/>
          </p:nvPr>
        </p:nvSpPr>
        <p:spPr/>
        <p:txBody>
          <a:bodyPr/>
          <a:lstStyle/>
          <a:p>
            <a:r>
              <a:rPr kumimoji="1" lang="zh-CN" altLang="en-US" sz="2800" dirty="0"/>
              <a:t>由一个三极管与相应元件组成的放大电路</a:t>
            </a:r>
          </a:p>
          <a:p>
            <a:r>
              <a:rPr lang="zh-CN" altLang="en-US" sz="2800" dirty="0"/>
              <a:t>基本放大电路的</a:t>
            </a:r>
            <a:r>
              <a:rPr kumimoji="1" lang="zh-CN" altLang="en-US" sz="2800" dirty="0"/>
              <a:t>组态</a:t>
            </a:r>
          </a:p>
          <a:p>
            <a:pPr lvl="1"/>
            <a:r>
              <a:rPr kumimoji="1" lang="zh-CN" altLang="en-US" sz="2400" dirty="0"/>
              <a:t>共发射极放大电路</a:t>
            </a:r>
            <a:endParaRPr kumimoji="1" lang="en-US" altLang="zh-CN" sz="2400" dirty="0"/>
          </a:p>
          <a:p>
            <a:pPr lvl="1"/>
            <a:r>
              <a:rPr kumimoji="1" lang="zh-CN" altLang="en-US" sz="2400" dirty="0"/>
              <a:t>共集电极放大电路</a:t>
            </a:r>
            <a:endParaRPr kumimoji="1" lang="en-US" altLang="zh-CN" sz="2400" dirty="0"/>
          </a:p>
          <a:p>
            <a:pPr lvl="1"/>
            <a:r>
              <a:rPr kumimoji="1" lang="zh-CN" altLang="en-US" sz="2400" dirty="0"/>
              <a:t>共基极放大电路</a:t>
            </a:r>
            <a:endParaRPr kumimoji="1" lang="zh-CN" altLang="en-US" dirty="0"/>
          </a:p>
        </p:txBody>
      </p:sp>
      <p:sp>
        <p:nvSpPr>
          <p:cNvPr id="4" name="页脚占位符 3">
            <a:extLst>
              <a:ext uri="{FF2B5EF4-FFF2-40B4-BE49-F238E27FC236}">
                <a16:creationId xmlns:a16="http://schemas.microsoft.com/office/drawing/2014/main" id="{953AE7F5-5913-ED57-0BFB-EE9D17DB6EDB}"/>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8136425A-FF9C-197B-A05D-D6ED81592AE2}"/>
              </a:ext>
            </a:extLst>
          </p:cNvPr>
          <p:cNvSpPr>
            <a:spLocks noGrp="1"/>
          </p:cNvSpPr>
          <p:nvPr>
            <p:ph type="sldNum" sz="quarter" idx="12"/>
          </p:nvPr>
        </p:nvSpPr>
        <p:spPr/>
        <p:txBody>
          <a:bodyPr/>
          <a:lstStyle/>
          <a:p>
            <a:fld id="{9E260BC5-5BF3-8746-862B-DC45E9CAA88B}" type="slidenum">
              <a:rPr lang="en-US" smtClean="0"/>
              <a:pPr/>
              <a:t>8</a:t>
            </a:fld>
            <a:r>
              <a:rPr lang="en-US" altLang="zh-CN" dirty="0"/>
              <a:t>/33</a:t>
            </a:r>
            <a:endParaRPr lang="en-US" dirty="0"/>
          </a:p>
        </p:txBody>
      </p:sp>
      <p:sp>
        <p:nvSpPr>
          <p:cNvPr id="6" name="Rectangle 4">
            <a:extLst>
              <a:ext uri="{FF2B5EF4-FFF2-40B4-BE49-F238E27FC236}">
                <a16:creationId xmlns:a16="http://schemas.microsoft.com/office/drawing/2014/main" id="{D9DB1190-6CAE-79EE-703C-41A43E8FE5A7}"/>
              </a:ext>
            </a:extLst>
          </p:cNvPr>
          <p:cNvSpPr>
            <a:spLocks noChangeArrowheads="1"/>
          </p:cNvSpPr>
          <p:nvPr/>
        </p:nvSpPr>
        <p:spPr bwMode="auto">
          <a:xfrm>
            <a:off x="5246229" y="1164423"/>
            <a:ext cx="3564396" cy="194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r>
              <a:rPr kumimoji="1" lang="en-US" altLang="zh-CN" sz="2800" dirty="0">
                <a:solidFill>
                  <a:schemeClr val="tx1">
                    <a:lumMod val="50000"/>
                    <a:lumOff val="50000"/>
                  </a:schemeClr>
                </a:solidFill>
              </a:rPr>
              <a:t>MOS</a:t>
            </a:r>
          </a:p>
          <a:p>
            <a:pPr lvl="1"/>
            <a:r>
              <a:rPr kumimoji="1" lang="zh-CN" altLang="en-US" sz="2400" dirty="0">
                <a:solidFill>
                  <a:schemeClr val="tx1">
                    <a:lumMod val="50000"/>
                    <a:lumOff val="50000"/>
                  </a:schemeClr>
                </a:solidFill>
              </a:rPr>
              <a:t>共源极放大电路 </a:t>
            </a:r>
          </a:p>
          <a:p>
            <a:pPr lvl="1"/>
            <a:r>
              <a:rPr kumimoji="1" lang="zh-CN" altLang="en-US" sz="2400" dirty="0">
                <a:solidFill>
                  <a:schemeClr val="tx1">
                    <a:lumMod val="50000"/>
                    <a:lumOff val="50000"/>
                  </a:schemeClr>
                </a:solidFill>
              </a:rPr>
              <a:t>共漏电极放大电路</a:t>
            </a:r>
            <a:endParaRPr kumimoji="1" lang="en-US" altLang="zh-CN" sz="2400" dirty="0">
              <a:solidFill>
                <a:schemeClr val="tx1">
                  <a:lumMod val="50000"/>
                  <a:lumOff val="50000"/>
                </a:schemeClr>
              </a:solidFill>
            </a:endParaRPr>
          </a:p>
          <a:p>
            <a:pPr lvl="1"/>
            <a:r>
              <a:rPr kumimoji="1" lang="zh-CN" altLang="en-US" sz="2400" dirty="0">
                <a:solidFill>
                  <a:schemeClr val="tx1">
                    <a:lumMod val="50000"/>
                    <a:lumOff val="50000"/>
                  </a:schemeClr>
                </a:solidFill>
              </a:rPr>
              <a:t>共栅极放大电路</a:t>
            </a:r>
            <a:endParaRPr kumimoji="1" lang="en-US" altLang="zh-CN" sz="2400" dirty="0">
              <a:solidFill>
                <a:schemeClr val="tx1">
                  <a:lumMod val="50000"/>
                  <a:lumOff val="50000"/>
                </a:schemeClr>
              </a:solidFill>
            </a:endParaRPr>
          </a:p>
        </p:txBody>
      </p:sp>
      <p:grpSp>
        <p:nvGrpSpPr>
          <p:cNvPr id="7" name="Group 23">
            <a:extLst>
              <a:ext uri="{FF2B5EF4-FFF2-40B4-BE49-F238E27FC236}">
                <a16:creationId xmlns:a16="http://schemas.microsoft.com/office/drawing/2014/main" id="{2BBED062-DCFF-5867-D704-8F2703E9FEA1}"/>
              </a:ext>
            </a:extLst>
          </p:cNvPr>
          <p:cNvGrpSpPr>
            <a:grpSpLocks/>
          </p:cNvGrpSpPr>
          <p:nvPr/>
        </p:nvGrpSpPr>
        <p:grpSpPr bwMode="auto">
          <a:xfrm>
            <a:off x="1285081" y="3449125"/>
            <a:ext cx="7335837" cy="2411412"/>
            <a:chOff x="567" y="2455"/>
            <a:chExt cx="4621" cy="1519"/>
          </a:xfrm>
        </p:grpSpPr>
        <p:pic>
          <p:nvPicPr>
            <p:cNvPr id="8" name="Picture 14">
              <a:extLst>
                <a:ext uri="{FF2B5EF4-FFF2-40B4-BE49-F238E27FC236}">
                  <a16:creationId xmlns:a16="http://schemas.microsoft.com/office/drawing/2014/main" id="{57BD2BE8-D19D-8E2D-2097-14E0F13FC7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 y="2750"/>
              <a:ext cx="1378" cy="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5">
              <a:extLst>
                <a:ext uri="{FF2B5EF4-FFF2-40B4-BE49-F238E27FC236}">
                  <a16:creationId xmlns:a16="http://schemas.microsoft.com/office/drawing/2014/main" id="{F15828F0-B9D9-1ECA-9B34-91E61B028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 y="2455"/>
              <a:ext cx="1283" cy="1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6">
              <a:extLst>
                <a:ext uri="{FF2B5EF4-FFF2-40B4-BE49-F238E27FC236}">
                  <a16:creationId xmlns:a16="http://schemas.microsoft.com/office/drawing/2014/main" id="{40B66591-FB04-6CCE-2D17-72DD914468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 y="2478"/>
              <a:ext cx="1188" cy="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7">
              <a:extLst>
                <a:ext uri="{FF2B5EF4-FFF2-40B4-BE49-F238E27FC236}">
                  <a16:creationId xmlns:a16="http://schemas.microsoft.com/office/drawing/2014/main" id="{C44029D7-842E-F3BD-C3FB-6D4E3AFA289A}"/>
                </a:ext>
              </a:extLst>
            </p:cNvPr>
            <p:cNvSpPr>
              <a:spLocks noChangeArrowheads="1"/>
            </p:cNvSpPr>
            <p:nvPr/>
          </p:nvSpPr>
          <p:spPr bwMode="auto">
            <a:xfrm>
              <a:off x="4139" y="3680"/>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icrosoft YaHei" panose="020B0503020204020204" pitchFamily="34" charset="-122"/>
                  <a:ea typeface="Microsoft YaHei" panose="020B0503020204020204" pitchFamily="34" charset="-122"/>
                </a:rPr>
                <a:t>共基极</a:t>
              </a:r>
            </a:p>
          </p:txBody>
        </p:sp>
        <p:sp>
          <p:nvSpPr>
            <p:cNvPr id="12" name="Rectangle 18">
              <a:extLst>
                <a:ext uri="{FF2B5EF4-FFF2-40B4-BE49-F238E27FC236}">
                  <a16:creationId xmlns:a16="http://schemas.microsoft.com/office/drawing/2014/main" id="{AA8D51E4-7830-4181-E88D-0DEE41484D3B}"/>
                </a:ext>
              </a:extLst>
            </p:cNvPr>
            <p:cNvSpPr>
              <a:spLocks noChangeArrowheads="1"/>
            </p:cNvSpPr>
            <p:nvPr/>
          </p:nvSpPr>
          <p:spPr bwMode="auto">
            <a:xfrm>
              <a:off x="716" y="3680"/>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共发射极</a:t>
              </a:r>
            </a:p>
          </p:txBody>
        </p:sp>
        <p:sp>
          <p:nvSpPr>
            <p:cNvPr id="13" name="Rectangle 19">
              <a:extLst>
                <a:ext uri="{FF2B5EF4-FFF2-40B4-BE49-F238E27FC236}">
                  <a16:creationId xmlns:a16="http://schemas.microsoft.com/office/drawing/2014/main" id="{69213FFB-59C3-5F87-264B-93498C5C4055}"/>
                </a:ext>
              </a:extLst>
            </p:cNvPr>
            <p:cNvSpPr>
              <a:spLocks noChangeArrowheads="1"/>
            </p:cNvSpPr>
            <p:nvPr/>
          </p:nvSpPr>
          <p:spPr bwMode="auto">
            <a:xfrm>
              <a:off x="2322" y="3685"/>
              <a:ext cx="88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icrosoft YaHei" panose="020B0503020204020204" pitchFamily="34" charset="-122"/>
                  <a:ea typeface="Microsoft YaHei" panose="020B0503020204020204" pitchFamily="34" charset="-122"/>
                </a:rPr>
                <a:t>共集电极</a:t>
              </a:r>
            </a:p>
          </p:txBody>
        </p:sp>
      </p:grpSp>
    </p:spTree>
    <p:extLst>
      <p:ext uri="{BB962C8B-B14F-4D97-AF65-F5344CB8AC3E}">
        <p14:creationId xmlns:p14="http://schemas.microsoft.com/office/powerpoint/2010/main" val="404756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F3B4A1-6953-2E70-DE38-6542CC324D81}"/>
              </a:ext>
            </a:extLst>
          </p:cNvPr>
          <p:cNvSpPr>
            <a:spLocks noGrp="1"/>
          </p:cNvSpPr>
          <p:nvPr>
            <p:ph type="title"/>
          </p:nvPr>
        </p:nvSpPr>
        <p:spPr/>
        <p:txBody>
          <a:bodyPr>
            <a:normAutofit fontScale="90000"/>
          </a:bodyPr>
          <a:lstStyle/>
          <a:p>
            <a:r>
              <a:rPr lang="zh-CN" altLang="en-US" dirty="0">
                <a:cs typeface="Times New Roman" panose="02020603050405020304" pitchFamily="18" charset="0"/>
              </a:rPr>
              <a:t>共射极放大电路 </a:t>
            </a:r>
            <a:r>
              <a:rPr lang="en-US" altLang="zh-CN" dirty="0">
                <a:cs typeface="Times New Roman" panose="02020603050405020304" pitchFamily="18" charset="0"/>
              </a:rPr>
              <a:t>(1)</a:t>
            </a:r>
            <a:endParaRPr kumimoji="1" lang="zh-CN" altLang="en-US" dirty="0"/>
          </a:p>
        </p:txBody>
      </p:sp>
      <p:sp>
        <p:nvSpPr>
          <p:cNvPr id="4" name="页脚占位符 3">
            <a:extLst>
              <a:ext uri="{FF2B5EF4-FFF2-40B4-BE49-F238E27FC236}">
                <a16:creationId xmlns:a16="http://schemas.microsoft.com/office/drawing/2014/main" id="{D26FD157-204D-61FC-8427-EF6C2E68108F}"/>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3535A481-8025-D000-D9B1-139DC7503BD9}"/>
              </a:ext>
            </a:extLst>
          </p:cNvPr>
          <p:cNvSpPr>
            <a:spLocks noGrp="1"/>
          </p:cNvSpPr>
          <p:nvPr>
            <p:ph type="sldNum" sz="quarter" idx="12"/>
          </p:nvPr>
        </p:nvSpPr>
        <p:spPr/>
        <p:txBody>
          <a:bodyPr/>
          <a:lstStyle/>
          <a:p>
            <a:fld id="{9E260BC5-5BF3-8746-862B-DC45E9CAA88B}" type="slidenum">
              <a:rPr lang="en-US" smtClean="0"/>
              <a:pPr/>
              <a:t>9</a:t>
            </a:fld>
            <a:r>
              <a:rPr lang="en-US" altLang="zh-CN" dirty="0"/>
              <a:t>/33</a:t>
            </a:r>
            <a:endParaRPr lang="en-US" dirty="0"/>
          </a:p>
        </p:txBody>
      </p:sp>
      <p:pic>
        <p:nvPicPr>
          <p:cNvPr id="6" name="Picture 16" descr="421">
            <a:extLst>
              <a:ext uri="{FF2B5EF4-FFF2-40B4-BE49-F238E27FC236}">
                <a16:creationId xmlns:a16="http://schemas.microsoft.com/office/drawing/2014/main" id="{66380C7D-EB7F-05FE-BAB4-4BA7F3884A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631" y="901700"/>
            <a:ext cx="7269038" cy="531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150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7FA2CA-F2A4-AEC1-8F4D-0AB9361C68CB}"/>
              </a:ext>
            </a:extLst>
          </p:cNvPr>
          <p:cNvSpPr>
            <a:spLocks noGrp="1"/>
          </p:cNvSpPr>
          <p:nvPr>
            <p:ph type="title"/>
          </p:nvPr>
        </p:nvSpPr>
        <p:spPr/>
        <p:txBody>
          <a:bodyPr>
            <a:normAutofit fontScale="90000"/>
          </a:bodyPr>
          <a:lstStyle/>
          <a:p>
            <a:r>
              <a:rPr kumimoji="1" lang="zh-CN" altLang="en-US" dirty="0">
                <a:latin typeface="Times New Roman" panose="02020603050405020304" pitchFamily="18" charset="0"/>
                <a:cs typeface="Times New Roman" panose="02020603050405020304" pitchFamily="18" charset="0"/>
              </a:rPr>
              <a:t>静态分析</a:t>
            </a:r>
            <a:endParaRPr kumimoji="1" lang="zh-CN" altLang="en-US" dirty="0"/>
          </a:p>
        </p:txBody>
      </p:sp>
      <p:sp>
        <p:nvSpPr>
          <p:cNvPr id="3" name="内容占位符 2">
            <a:extLst>
              <a:ext uri="{FF2B5EF4-FFF2-40B4-BE49-F238E27FC236}">
                <a16:creationId xmlns:a16="http://schemas.microsoft.com/office/drawing/2014/main" id="{C00D72A5-F867-CFA3-4ABE-E3566113127F}"/>
              </a:ext>
            </a:extLst>
          </p:cNvPr>
          <p:cNvSpPr>
            <a:spLocks noGrp="1"/>
          </p:cNvSpPr>
          <p:nvPr>
            <p:ph idx="1"/>
          </p:nvPr>
        </p:nvSpPr>
        <p:spPr/>
        <p:txBody>
          <a:bodyPr/>
          <a:lstStyle/>
          <a:p>
            <a:r>
              <a:rPr lang="zh-CN" altLang="en-US" dirty="0">
                <a:latin typeface="Times New Roman" panose="02020603050405020304" pitchFamily="18" charset="0"/>
              </a:rPr>
              <a:t>静态工作点</a:t>
            </a:r>
            <a:r>
              <a:rPr lang="en-US" altLang="zh-CN" dirty="0">
                <a:latin typeface="Times New Roman" panose="02020603050405020304" pitchFamily="18" charset="0"/>
              </a:rPr>
              <a:t>Q</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r>
              <a:rPr lang="zh-CN" altLang="en-US" dirty="0">
                <a:latin typeface="Times New Roman" panose="02020603050405020304" pitchFamily="18" charset="0"/>
              </a:rPr>
              <a:t>静态时，管子的电参量</a:t>
            </a:r>
            <a:endParaRPr lang="zh-CN" altLang="en-US" sz="4000" dirty="0">
              <a:latin typeface="Times New Roman" panose="02020603050405020304" pitchFamily="18" charset="0"/>
            </a:endParaRPr>
          </a:p>
          <a:p>
            <a:endParaRPr kumimoji="1" lang="zh-CN" altLang="en-US" dirty="0"/>
          </a:p>
        </p:txBody>
      </p:sp>
      <p:sp>
        <p:nvSpPr>
          <p:cNvPr id="4" name="页脚占位符 3">
            <a:extLst>
              <a:ext uri="{FF2B5EF4-FFF2-40B4-BE49-F238E27FC236}">
                <a16:creationId xmlns:a16="http://schemas.microsoft.com/office/drawing/2014/main" id="{2CF37DD9-7C32-8482-F828-5B9571C50812}"/>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5E6AE2F0-B755-DAB4-25D4-7535F71DDC54}"/>
              </a:ext>
            </a:extLst>
          </p:cNvPr>
          <p:cNvSpPr>
            <a:spLocks noGrp="1"/>
          </p:cNvSpPr>
          <p:nvPr>
            <p:ph type="sldNum" sz="quarter" idx="12"/>
          </p:nvPr>
        </p:nvSpPr>
        <p:spPr/>
        <p:txBody>
          <a:bodyPr/>
          <a:lstStyle/>
          <a:p>
            <a:fld id="{9E260BC5-5BF3-8746-862B-DC45E9CAA88B}" type="slidenum">
              <a:rPr lang="en-US" smtClean="0"/>
              <a:pPr/>
              <a:t>10</a:t>
            </a:fld>
            <a:r>
              <a:rPr lang="en-US" altLang="zh-CN" dirty="0"/>
              <a:t>/33</a:t>
            </a:r>
            <a:endParaRPr lang="en-US" dirty="0"/>
          </a:p>
        </p:txBody>
      </p:sp>
      <p:pic>
        <p:nvPicPr>
          <p:cNvPr id="6" name="Picture 33" descr="422">
            <a:extLst>
              <a:ext uri="{FF2B5EF4-FFF2-40B4-BE49-F238E27FC236}">
                <a16:creationId xmlns:a16="http://schemas.microsoft.com/office/drawing/2014/main" id="{72EA3DAC-9CB4-DAEA-4A35-B894DF2CC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0569" y="657225"/>
            <a:ext cx="3789362"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24A65D09-AC37-58EA-BAB7-BF7AB048B635}"/>
              </a:ext>
            </a:extLst>
          </p:cNvPr>
          <p:cNvSpPr>
            <a:spLocks noChangeArrowheads="1"/>
          </p:cNvSpPr>
          <p:nvPr/>
        </p:nvSpPr>
        <p:spPr bwMode="auto">
          <a:xfrm>
            <a:off x="1179259" y="3472178"/>
            <a:ext cx="2551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i="1" dirty="0" err="1">
                <a:solidFill>
                  <a:srgbClr val="000000"/>
                </a:solidFill>
                <a:latin typeface="Book Antiqua" panose="02040602050305030304" pitchFamily="18" charset="0"/>
                <a:ea typeface="楷体_GB2312" pitchFamily="49" charset="-122"/>
              </a:rPr>
              <a:t>v</a:t>
            </a:r>
            <a:r>
              <a:rPr kumimoji="1" lang="en-US" altLang="zh-CN" sz="2800" baseline="-25000" dirty="0" err="1">
                <a:solidFill>
                  <a:srgbClr val="000000"/>
                </a:solidFill>
                <a:latin typeface="Times New Roman" panose="02020603050405020304" pitchFamily="18" charset="0"/>
                <a:ea typeface="楷体_GB2312" pitchFamily="49" charset="-122"/>
              </a:rPr>
              <a:t>BE</a:t>
            </a:r>
            <a:r>
              <a:rPr kumimoji="1" lang="en-US" altLang="zh-CN" sz="2800" dirty="0">
                <a:solidFill>
                  <a:srgbClr val="000000"/>
                </a:solidFill>
                <a:latin typeface="Times New Roman" panose="02020603050405020304" pitchFamily="18" charset="0"/>
                <a:ea typeface="楷体_GB2312" pitchFamily="49" charset="-122"/>
              </a:rPr>
              <a:t> =</a:t>
            </a:r>
            <a:r>
              <a:rPr kumimoji="1" lang="en-US" altLang="zh-CN" sz="2800" i="1" dirty="0">
                <a:solidFill>
                  <a:srgbClr val="000000"/>
                </a:solidFill>
                <a:latin typeface="Times New Roman" panose="02020603050405020304" pitchFamily="18" charset="0"/>
                <a:ea typeface="楷体_GB2312" pitchFamily="49" charset="-122"/>
              </a:rPr>
              <a:t>V</a:t>
            </a:r>
            <a:r>
              <a:rPr kumimoji="1" lang="en-US" altLang="zh-CN" sz="2800" baseline="-25000" dirty="0">
                <a:solidFill>
                  <a:srgbClr val="000000"/>
                </a:solidFill>
                <a:latin typeface="Times New Roman" panose="02020603050405020304" pitchFamily="18" charset="0"/>
                <a:ea typeface="楷体_GB2312" pitchFamily="49" charset="-122"/>
              </a:rPr>
              <a:t>BB</a:t>
            </a:r>
            <a:r>
              <a:rPr kumimoji="1" lang="zh-CN" altLang="en-US" sz="2800" dirty="0">
                <a:solidFill>
                  <a:srgbClr val="000000"/>
                </a:solidFill>
                <a:latin typeface="Times New Roman" panose="02020603050405020304" pitchFamily="18" charset="0"/>
                <a:ea typeface="楷体_GB2312" pitchFamily="49" charset="-122"/>
              </a:rPr>
              <a:t>－</a:t>
            </a:r>
            <a:r>
              <a:rPr kumimoji="1" lang="en-US" altLang="zh-CN" sz="2800" i="1" dirty="0" err="1">
                <a:solidFill>
                  <a:srgbClr val="000000"/>
                </a:solidFill>
                <a:latin typeface="Times New Roman" panose="02020603050405020304" pitchFamily="18" charset="0"/>
                <a:ea typeface="楷体_GB2312" pitchFamily="49" charset="-122"/>
              </a:rPr>
              <a:t>i</a:t>
            </a:r>
            <a:r>
              <a:rPr kumimoji="1" lang="en-US" altLang="zh-CN" sz="2800" baseline="-25000" dirty="0" err="1">
                <a:solidFill>
                  <a:srgbClr val="000000"/>
                </a:solidFill>
                <a:latin typeface="Times New Roman" panose="02020603050405020304" pitchFamily="18" charset="0"/>
                <a:ea typeface="楷体_GB2312" pitchFamily="49" charset="-122"/>
              </a:rPr>
              <a:t>B</a:t>
            </a:r>
            <a:r>
              <a:rPr kumimoji="1" lang="en-US" altLang="zh-CN" sz="2800" i="1" dirty="0" err="1">
                <a:solidFill>
                  <a:srgbClr val="000000"/>
                </a:solidFill>
                <a:latin typeface="Times New Roman" panose="02020603050405020304" pitchFamily="18" charset="0"/>
                <a:ea typeface="楷体_GB2312" pitchFamily="49" charset="-122"/>
              </a:rPr>
              <a:t>R</a:t>
            </a:r>
            <a:r>
              <a:rPr kumimoji="1" lang="en-US" altLang="zh-CN" sz="2800" baseline="-25000" dirty="0" err="1">
                <a:solidFill>
                  <a:srgbClr val="000000"/>
                </a:solidFill>
                <a:latin typeface="Times New Roman" panose="02020603050405020304" pitchFamily="18" charset="0"/>
                <a:ea typeface="楷体_GB2312" pitchFamily="49" charset="-122"/>
              </a:rPr>
              <a:t>b</a:t>
            </a:r>
            <a:endParaRPr lang="zh-CN" altLang="en-US" sz="2800" b="0" dirty="0">
              <a:ea typeface="楷体_GB2312" pitchFamily="49" charset="-122"/>
            </a:endParaRPr>
          </a:p>
        </p:txBody>
      </p:sp>
      <p:sp>
        <p:nvSpPr>
          <p:cNvPr id="8" name="矩形 7">
            <a:extLst>
              <a:ext uri="{FF2B5EF4-FFF2-40B4-BE49-F238E27FC236}">
                <a16:creationId xmlns:a16="http://schemas.microsoft.com/office/drawing/2014/main" id="{39A8F5BC-C771-BED4-C613-666704349346}"/>
              </a:ext>
            </a:extLst>
          </p:cNvPr>
          <p:cNvSpPr>
            <a:spLocks noChangeArrowheads="1"/>
          </p:cNvSpPr>
          <p:nvPr/>
        </p:nvSpPr>
        <p:spPr bwMode="auto">
          <a:xfrm>
            <a:off x="4896689" y="3392168"/>
            <a:ext cx="2484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i="1" dirty="0" err="1">
                <a:solidFill>
                  <a:srgbClr val="000000"/>
                </a:solidFill>
                <a:latin typeface="Book Antiqua" panose="02040602050305030304" pitchFamily="18" charset="0"/>
                <a:ea typeface="楷体_GB2312" pitchFamily="49" charset="-122"/>
              </a:rPr>
              <a:t>v</a:t>
            </a:r>
            <a:r>
              <a:rPr kumimoji="1" lang="en-US" altLang="zh-CN" sz="2800" baseline="-25000" dirty="0" err="1">
                <a:solidFill>
                  <a:srgbClr val="000000"/>
                </a:solidFill>
                <a:latin typeface="Times New Roman" panose="02020603050405020304" pitchFamily="18" charset="0"/>
                <a:ea typeface="楷体_GB2312" pitchFamily="49" charset="-122"/>
              </a:rPr>
              <a:t>CE</a:t>
            </a:r>
            <a:r>
              <a:rPr kumimoji="1" lang="en-US" altLang="zh-CN" sz="2800" dirty="0">
                <a:solidFill>
                  <a:srgbClr val="000000"/>
                </a:solidFill>
                <a:latin typeface="Times New Roman" panose="02020603050405020304" pitchFamily="18" charset="0"/>
                <a:ea typeface="楷体_GB2312" pitchFamily="49" charset="-122"/>
              </a:rPr>
              <a:t>=</a:t>
            </a:r>
            <a:r>
              <a:rPr kumimoji="1" lang="en-US" altLang="zh-CN" sz="2800" i="1" dirty="0">
                <a:solidFill>
                  <a:srgbClr val="000000"/>
                </a:solidFill>
                <a:latin typeface="Times New Roman" panose="02020603050405020304" pitchFamily="18" charset="0"/>
                <a:ea typeface="楷体_GB2312" pitchFamily="49" charset="-122"/>
              </a:rPr>
              <a:t>V</a:t>
            </a:r>
            <a:r>
              <a:rPr kumimoji="1" lang="en-US" altLang="zh-CN" sz="2800" baseline="-25000" dirty="0">
                <a:solidFill>
                  <a:srgbClr val="000000"/>
                </a:solidFill>
                <a:latin typeface="Times New Roman" panose="02020603050405020304" pitchFamily="18" charset="0"/>
                <a:ea typeface="楷体_GB2312" pitchFamily="49" charset="-122"/>
              </a:rPr>
              <a:t>CC</a:t>
            </a:r>
            <a:r>
              <a:rPr kumimoji="1" lang="zh-CN" altLang="en-US" sz="2800" dirty="0">
                <a:solidFill>
                  <a:srgbClr val="000000"/>
                </a:solidFill>
                <a:latin typeface="Times New Roman" panose="02020603050405020304" pitchFamily="18" charset="0"/>
                <a:ea typeface="楷体_GB2312" pitchFamily="49" charset="-122"/>
              </a:rPr>
              <a:t>－</a:t>
            </a:r>
            <a:r>
              <a:rPr kumimoji="1" lang="en-US" altLang="zh-CN" sz="2800" i="1" dirty="0" err="1">
                <a:solidFill>
                  <a:srgbClr val="000000"/>
                </a:solidFill>
                <a:latin typeface="Times New Roman" panose="02020603050405020304" pitchFamily="18" charset="0"/>
                <a:ea typeface="楷体_GB2312" pitchFamily="49" charset="-122"/>
              </a:rPr>
              <a:t>i</a:t>
            </a:r>
            <a:r>
              <a:rPr kumimoji="1" lang="en-US" altLang="zh-CN" sz="2800" baseline="-25000" dirty="0" err="1">
                <a:solidFill>
                  <a:srgbClr val="000000"/>
                </a:solidFill>
                <a:latin typeface="Times New Roman" panose="02020603050405020304" pitchFamily="18" charset="0"/>
                <a:ea typeface="楷体_GB2312" pitchFamily="49" charset="-122"/>
              </a:rPr>
              <a:t>C</a:t>
            </a:r>
            <a:r>
              <a:rPr kumimoji="1" lang="en-US" altLang="zh-CN" sz="2800" i="1" dirty="0" err="1">
                <a:solidFill>
                  <a:srgbClr val="000000"/>
                </a:solidFill>
                <a:latin typeface="Times New Roman" panose="02020603050405020304" pitchFamily="18" charset="0"/>
                <a:ea typeface="楷体_GB2312" pitchFamily="49" charset="-122"/>
              </a:rPr>
              <a:t>R</a:t>
            </a:r>
            <a:r>
              <a:rPr kumimoji="1" lang="en-US" altLang="zh-CN" sz="2800" baseline="-25000" dirty="0" err="1">
                <a:solidFill>
                  <a:srgbClr val="000000"/>
                </a:solidFill>
                <a:latin typeface="Times New Roman" panose="02020603050405020304" pitchFamily="18" charset="0"/>
                <a:ea typeface="楷体_GB2312" pitchFamily="49" charset="-122"/>
              </a:rPr>
              <a:t>c</a:t>
            </a:r>
            <a:endParaRPr lang="zh-CN" altLang="en-US" sz="2800" b="0" dirty="0">
              <a:ea typeface="楷体_GB2312" pitchFamily="49" charset="-122"/>
            </a:endParaRPr>
          </a:p>
        </p:txBody>
      </p:sp>
      <p:sp>
        <p:nvSpPr>
          <p:cNvPr id="9" name="TextBox 2">
            <a:extLst>
              <a:ext uri="{FF2B5EF4-FFF2-40B4-BE49-F238E27FC236}">
                <a16:creationId xmlns:a16="http://schemas.microsoft.com/office/drawing/2014/main" id="{35D0C01A-F342-FB89-8123-2A1339684942}"/>
              </a:ext>
            </a:extLst>
          </p:cNvPr>
          <p:cNvSpPr txBox="1"/>
          <p:nvPr/>
        </p:nvSpPr>
        <p:spPr>
          <a:xfrm>
            <a:off x="5190632" y="1301819"/>
            <a:ext cx="2071401" cy="369332"/>
          </a:xfrm>
          <a:prstGeom prst="rect">
            <a:avLst/>
          </a:prstGeom>
          <a:noFill/>
          <a:ln>
            <a:solidFill>
              <a:srgbClr val="FF0000"/>
            </a:solidFill>
          </a:ln>
        </p:spPr>
        <p:txBody>
          <a:bodyPr wrap="none" rtlCol="0">
            <a:spAutoFit/>
          </a:bodyPr>
          <a:lstStyle/>
          <a:p>
            <a:r>
              <a:rPr lang="zh-CN" altLang="en-US" dirty="0">
                <a:latin typeface="+mj-ea"/>
                <a:ea typeface="+mj-ea"/>
              </a:rPr>
              <a:t>交流电压源</a:t>
            </a:r>
            <a:r>
              <a:rPr lang="en-US" altLang="zh-CN" dirty="0">
                <a:latin typeface="+mj-ea"/>
                <a:ea typeface="+mj-ea"/>
              </a:rPr>
              <a:t>-&gt;</a:t>
            </a:r>
            <a:r>
              <a:rPr lang="zh-CN" altLang="en-US" dirty="0">
                <a:latin typeface="+mj-ea"/>
                <a:ea typeface="+mj-ea"/>
              </a:rPr>
              <a:t>短路</a:t>
            </a:r>
            <a:endParaRPr lang="en-US" dirty="0">
              <a:latin typeface="+mj-ea"/>
              <a:ea typeface="+mj-ea"/>
            </a:endParaRPr>
          </a:p>
        </p:txBody>
      </p:sp>
      <p:cxnSp>
        <p:nvCxnSpPr>
          <p:cNvPr id="10" name="Straight Arrow Connector 4">
            <a:extLst>
              <a:ext uri="{FF2B5EF4-FFF2-40B4-BE49-F238E27FC236}">
                <a16:creationId xmlns:a16="http://schemas.microsoft.com/office/drawing/2014/main" id="{5C18CBC9-4775-131C-E780-FBF74680CCED}"/>
              </a:ext>
            </a:extLst>
          </p:cNvPr>
          <p:cNvCxnSpPr>
            <a:cxnSpLocks/>
            <a:stCxn id="9" idx="2"/>
          </p:cNvCxnSpPr>
          <p:nvPr/>
        </p:nvCxnSpPr>
        <p:spPr>
          <a:xfrm>
            <a:off x="6226333" y="1671151"/>
            <a:ext cx="248214" cy="6356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2">
            <a:extLst>
              <a:ext uri="{FF2B5EF4-FFF2-40B4-BE49-F238E27FC236}">
                <a16:creationId xmlns:a16="http://schemas.microsoft.com/office/drawing/2014/main" id="{45099A2F-A3AC-80AC-0F34-8F8D5E6B3B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362" y="4003355"/>
            <a:ext cx="302895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a:extLst>
              <a:ext uri="{FF2B5EF4-FFF2-40B4-BE49-F238E27FC236}">
                <a16:creationId xmlns:a16="http://schemas.microsoft.com/office/drawing/2014/main" id="{3AD41444-3BDF-144E-745F-C6EC979BA7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2327" y="3942079"/>
            <a:ext cx="35147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圆角矩形 12">
            <a:extLst>
              <a:ext uri="{FF2B5EF4-FFF2-40B4-BE49-F238E27FC236}">
                <a16:creationId xmlns:a16="http://schemas.microsoft.com/office/drawing/2014/main" id="{0F1A4B23-FF10-9EE4-F403-71312029E34C}"/>
              </a:ext>
            </a:extLst>
          </p:cNvPr>
          <p:cNvSpPr/>
          <p:nvPr/>
        </p:nvSpPr>
        <p:spPr>
          <a:xfrm>
            <a:off x="5990732" y="4880594"/>
            <a:ext cx="900100" cy="468052"/>
          </a:xfrm>
          <a:prstGeom prst="round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07405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3B0158-1AC4-9458-FBA6-5C32DD788C31}"/>
              </a:ext>
            </a:extLst>
          </p:cNvPr>
          <p:cNvSpPr>
            <a:spLocks noGrp="1"/>
          </p:cNvSpPr>
          <p:nvPr>
            <p:ph type="title"/>
          </p:nvPr>
        </p:nvSpPr>
        <p:spPr/>
        <p:txBody>
          <a:bodyPr>
            <a:normAutofit fontScale="90000"/>
          </a:bodyPr>
          <a:lstStyle/>
          <a:p>
            <a:r>
              <a:rPr kumimoji="1" lang="zh-CN" altLang="en-US" dirty="0">
                <a:latin typeface="Times New Roman" panose="02020603050405020304" pitchFamily="18" charset="0"/>
                <a:cs typeface="Times New Roman" panose="02020603050405020304" pitchFamily="18" charset="0"/>
              </a:rPr>
              <a:t>动态分析</a:t>
            </a:r>
            <a:endParaRPr kumimoji="1" lang="zh-CN" altLang="en-US" dirty="0"/>
          </a:p>
        </p:txBody>
      </p:sp>
      <p:sp>
        <p:nvSpPr>
          <p:cNvPr id="3" name="内容占位符 2">
            <a:extLst>
              <a:ext uri="{FF2B5EF4-FFF2-40B4-BE49-F238E27FC236}">
                <a16:creationId xmlns:a16="http://schemas.microsoft.com/office/drawing/2014/main" id="{38F0DDF4-5815-EC26-4ABC-AA332FE08760}"/>
              </a:ext>
            </a:extLst>
          </p:cNvPr>
          <p:cNvSpPr>
            <a:spLocks noGrp="1"/>
          </p:cNvSpPr>
          <p:nvPr>
            <p:ph idx="1"/>
          </p:nvPr>
        </p:nvSpPr>
        <p:spPr/>
        <p:txBody>
          <a:bodyPr/>
          <a:lstStyle/>
          <a:p>
            <a:r>
              <a:rPr kumimoji="1" lang="zh-CN" altLang="en-US" dirty="0"/>
              <a:t>动态分析</a:t>
            </a:r>
            <a:endParaRPr kumimoji="1" lang="en-US" altLang="zh-CN" dirty="0"/>
          </a:p>
          <a:p>
            <a:pPr lvl="1"/>
            <a:r>
              <a:rPr kumimoji="1" lang="zh-CN" altLang="en-US" dirty="0"/>
              <a:t>以静态工作点为中心，在附近变化电压电流</a:t>
            </a:r>
          </a:p>
        </p:txBody>
      </p:sp>
      <p:sp>
        <p:nvSpPr>
          <p:cNvPr id="4" name="页脚占位符 3">
            <a:extLst>
              <a:ext uri="{FF2B5EF4-FFF2-40B4-BE49-F238E27FC236}">
                <a16:creationId xmlns:a16="http://schemas.microsoft.com/office/drawing/2014/main" id="{8B4E2E9A-D874-F456-E27B-BCE07FE76D74}"/>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74526E63-DF7C-ABAA-1D03-7B76AAC6A24D}"/>
              </a:ext>
            </a:extLst>
          </p:cNvPr>
          <p:cNvSpPr>
            <a:spLocks noGrp="1"/>
          </p:cNvSpPr>
          <p:nvPr>
            <p:ph type="sldNum" sz="quarter" idx="12"/>
          </p:nvPr>
        </p:nvSpPr>
        <p:spPr/>
        <p:txBody>
          <a:bodyPr/>
          <a:lstStyle/>
          <a:p>
            <a:fld id="{9E260BC5-5BF3-8746-862B-DC45E9CAA88B}" type="slidenum">
              <a:rPr lang="en-US" smtClean="0"/>
              <a:pPr/>
              <a:t>11</a:t>
            </a:fld>
            <a:r>
              <a:rPr lang="en-US" altLang="zh-CN" dirty="0"/>
              <a:t>/33</a:t>
            </a:r>
            <a:endParaRPr lang="en-US" dirty="0"/>
          </a:p>
        </p:txBody>
      </p:sp>
      <p:pic>
        <p:nvPicPr>
          <p:cNvPr id="6" name="Picture 6">
            <a:extLst>
              <a:ext uri="{FF2B5EF4-FFF2-40B4-BE49-F238E27FC236}">
                <a16:creationId xmlns:a16="http://schemas.microsoft.com/office/drawing/2014/main" id="{008D106C-BAD3-92B9-894F-73422B31C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0770" y="559193"/>
            <a:ext cx="3083940" cy="1874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6">
            <a:extLst>
              <a:ext uri="{FF2B5EF4-FFF2-40B4-BE49-F238E27FC236}">
                <a16:creationId xmlns:a16="http://schemas.microsoft.com/office/drawing/2014/main" id="{D1EC6B50-9DE4-845F-9068-D8445653F49D}"/>
              </a:ext>
            </a:extLst>
          </p:cNvPr>
          <p:cNvSpPr txBox="1"/>
          <p:nvPr/>
        </p:nvSpPr>
        <p:spPr>
          <a:xfrm>
            <a:off x="5390371" y="628609"/>
            <a:ext cx="2262158" cy="369332"/>
          </a:xfrm>
          <a:prstGeom prst="rect">
            <a:avLst/>
          </a:prstGeom>
          <a:noFill/>
          <a:ln>
            <a:solidFill>
              <a:srgbClr val="FF0000"/>
            </a:solidFill>
          </a:ln>
        </p:spPr>
        <p:txBody>
          <a:bodyPr wrap="none" rtlCol="0">
            <a:spAutoFit/>
          </a:bodyPr>
          <a:lstStyle/>
          <a:p>
            <a:r>
              <a:rPr lang="zh-CN" altLang="en-US" dirty="0">
                <a:latin typeface="Microsoft YaHei" panose="020B0503020204020204" pitchFamily="34" charset="-122"/>
                <a:ea typeface="Microsoft YaHei" panose="020B0503020204020204" pitchFamily="34" charset="-122"/>
              </a:rPr>
              <a:t>交流电压源又回来了</a:t>
            </a:r>
            <a:endParaRPr lang="en-US" dirty="0">
              <a:latin typeface="Microsoft YaHei" panose="020B0503020204020204" pitchFamily="34" charset="-122"/>
              <a:ea typeface="Microsoft YaHei" panose="020B0503020204020204" pitchFamily="34" charset="-122"/>
            </a:endParaRPr>
          </a:p>
        </p:txBody>
      </p:sp>
      <p:cxnSp>
        <p:nvCxnSpPr>
          <p:cNvPr id="8" name="Straight Arrow Connector 18">
            <a:extLst>
              <a:ext uri="{FF2B5EF4-FFF2-40B4-BE49-F238E27FC236}">
                <a16:creationId xmlns:a16="http://schemas.microsoft.com/office/drawing/2014/main" id="{EEA1D56B-106B-B8F5-EF61-7C4BFF4A4584}"/>
              </a:ext>
            </a:extLst>
          </p:cNvPr>
          <p:cNvCxnSpPr>
            <a:cxnSpLocks/>
            <a:stCxn id="7" idx="2"/>
          </p:cNvCxnSpPr>
          <p:nvPr/>
        </p:nvCxnSpPr>
        <p:spPr>
          <a:xfrm>
            <a:off x="6521450" y="997941"/>
            <a:ext cx="543981" cy="4588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4">
            <a:extLst>
              <a:ext uri="{FF2B5EF4-FFF2-40B4-BE49-F238E27FC236}">
                <a16:creationId xmlns:a16="http://schemas.microsoft.com/office/drawing/2014/main" id="{C5841828-2655-500E-8A6B-ECB545380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6926" y="3126048"/>
            <a:ext cx="4278312"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15">
            <a:extLst>
              <a:ext uri="{FF2B5EF4-FFF2-40B4-BE49-F238E27FC236}">
                <a16:creationId xmlns:a16="http://schemas.microsoft.com/office/drawing/2014/main" id="{D678B1FE-92A9-FCFD-CEDF-816912B32254}"/>
              </a:ext>
            </a:extLst>
          </p:cNvPr>
          <p:cNvGraphicFramePr>
            <a:graphicFrameLocks noChangeAspect="1"/>
          </p:cNvGraphicFramePr>
          <p:nvPr>
            <p:extLst>
              <p:ext uri="{D42A27DB-BD31-4B8C-83A1-F6EECF244321}">
                <p14:modId xmlns:p14="http://schemas.microsoft.com/office/powerpoint/2010/main" val="4124649145"/>
              </p:ext>
            </p:extLst>
          </p:nvPr>
        </p:nvGraphicFramePr>
        <p:xfrm>
          <a:off x="5649152" y="2849376"/>
          <a:ext cx="1747838" cy="420688"/>
        </p:xfrm>
        <a:graphic>
          <a:graphicData uri="http://schemas.openxmlformats.org/presentationml/2006/ole">
            <mc:AlternateContent xmlns:mc="http://schemas.openxmlformats.org/markup-compatibility/2006">
              <mc:Choice xmlns:v="urn:schemas-microsoft-com:vml" Requires="v">
                <p:oleObj name="公式" r:id="rId5" imgW="952087" imgH="228501" progId="Equation.3">
                  <p:embed/>
                </p:oleObj>
              </mc:Choice>
              <mc:Fallback>
                <p:oleObj name="公式" r:id="rId5" imgW="952087" imgH="228501" progId="Equation.3">
                  <p:embed/>
                  <p:pic>
                    <p:nvPicPr>
                      <p:cNvPr id="12"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49152" y="2849376"/>
                        <a:ext cx="174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6">
            <a:extLst>
              <a:ext uri="{FF2B5EF4-FFF2-40B4-BE49-F238E27FC236}">
                <a16:creationId xmlns:a16="http://schemas.microsoft.com/office/drawing/2014/main" id="{D72CA5A9-CF2A-5AE7-6BBF-65AE3CEC241D}"/>
              </a:ext>
            </a:extLst>
          </p:cNvPr>
          <p:cNvGraphicFramePr>
            <a:graphicFrameLocks noChangeAspect="1"/>
          </p:cNvGraphicFramePr>
          <p:nvPr>
            <p:extLst>
              <p:ext uri="{D42A27DB-BD31-4B8C-83A1-F6EECF244321}">
                <p14:modId xmlns:p14="http://schemas.microsoft.com/office/powerpoint/2010/main" val="117748415"/>
              </p:ext>
            </p:extLst>
          </p:nvPr>
        </p:nvGraphicFramePr>
        <p:xfrm>
          <a:off x="5623998" y="2339366"/>
          <a:ext cx="2447925" cy="420688"/>
        </p:xfrm>
        <a:graphic>
          <a:graphicData uri="http://schemas.openxmlformats.org/presentationml/2006/ole">
            <mc:AlternateContent xmlns:mc="http://schemas.openxmlformats.org/markup-compatibility/2006">
              <mc:Choice xmlns:v="urn:schemas-microsoft-com:vml" Requires="v">
                <p:oleObj name="公式" r:id="rId7" imgW="1333500" imgH="228600" progId="Equation.3">
                  <p:embed/>
                </p:oleObj>
              </mc:Choice>
              <mc:Fallback>
                <p:oleObj name="公式" r:id="rId7" imgW="1333500" imgH="228600" progId="Equation.3">
                  <p:embed/>
                  <p:pic>
                    <p:nvPicPr>
                      <p:cNvPr id="13"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23998" y="2339366"/>
                        <a:ext cx="24479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a:extLst>
              <a:ext uri="{FF2B5EF4-FFF2-40B4-BE49-F238E27FC236}">
                <a16:creationId xmlns:a16="http://schemas.microsoft.com/office/drawing/2014/main" id="{9AE7ECBB-9927-E757-B640-1389570A4797}"/>
              </a:ext>
            </a:extLst>
          </p:cNvPr>
          <p:cNvSpPr>
            <a:spLocks noChangeArrowheads="1"/>
          </p:cNvSpPr>
          <p:nvPr/>
        </p:nvSpPr>
        <p:spPr bwMode="auto">
          <a:xfrm>
            <a:off x="1056883" y="2329641"/>
            <a:ext cx="2207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i="1" dirty="0" err="1">
                <a:solidFill>
                  <a:srgbClr val="000000"/>
                </a:solidFill>
                <a:latin typeface="Book Antiqua" panose="02040602050305030304" pitchFamily="18" charset="0"/>
                <a:ea typeface="楷体_GB2312" pitchFamily="49" charset="-122"/>
              </a:rPr>
              <a:t>v</a:t>
            </a:r>
            <a:r>
              <a:rPr kumimoji="1" lang="en-US" altLang="zh-CN" sz="2400" baseline="-25000" dirty="0" err="1">
                <a:solidFill>
                  <a:srgbClr val="000000"/>
                </a:solidFill>
                <a:latin typeface="Times New Roman" panose="02020603050405020304" pitchFamily="18" charset="0"/>
                <a:ea typeface="楷体_GB2312" pitchFamily="49" charset="-122"/>
              </a:rPr>
              <a:t>BE</a:t>
            </a:r>
            <a:r>
              <a:rPr kumimoji="1" lang="en-US" altLang="zh-CN" sz="2400" dirty="0">
                <a:solidFill>
                  <a:srgbClr val="000000"/>
                </a:solidFill>
                <a:latin typeface="Times New Roman" panose="02020603050405020304" pitchFamily="18" charset="0"/>
                <a:ea typeface="楷体_GB2312" pitchFamily="49" charset="-122"/>
              </a:rPr>
              <a:t> =</a:t>
            </a:r>
            <a:r>
              <a:rPr kumimoji="1" lang="en-US" altLang="zh-CN" sz="2400" i="1" dirty="0">
                <a:solidFill>
                  <a:srgbClr val="000000"/>
                </a:solidFill>
                <a:latin typeface="Times New Roman" panose="02020603050405020304" pitchFamily="18" charset="0"/>
                <a:ea typeface="楷体_GB2312" pitchFamily="49" charset="-122"/>
              </a:rPr>
              <a:t>V</a:t>
            </a:r>
            <a:r>
              <a:rPr kumimoji="1" lang="en-US" altLang="zh-CN" sz="2400" baseline="-25000" dirty="0">
                <a:solidFill>
                  <a:srgbClr val="000000"/>
                </a:solidFill>
                <a:latin typeface="Times New Roman" panose="02020603050405020304" pitchFamily="18" charset="0"/>
                <a:ea typeface="楷体_GB2312" pitchFamily="49" charset="-122"/>
              </a:rPr>
              <a:t>BB</a:t>
            </a:r>
            <a:r>
              <a:rPr kumimoji="1" lang="zh-CN" altLang="en-US" sz="2400" dirty="0">
                <a:solidFill>
                  <a:srgbClr val="000000"/>
                </a:solidFill>
                <a:latin typeface="Times New Roman" panose="02020603050405020304" pitchFamily="18" charset="0"/>
                <a:ea typeface="楷体_GB2312" pitchFamily="49" charset="-122"/>
              </a:rPr>
              <a:t>－</a:t>
            </a:r>
            <a:r>
              <a:rPr kumimoji="1" lang="en-US" altLang="zh-CN" sz="2400" i="1" dirty="0" err="1">
                <a:solidFill>
                  <a:srgbClr val="000000"/>
                </a:solidFill>
                <a:latin typeface="Times New Roman" panose="02020603050405020304" pitchFamily="18" charset="0"/>
                <a:ea typeface="楷体_GB2312" pitchFamily="49" charset="-122"/>
              </a:rPr>
              <a:t>i</a:t>
            </a:r>
            <a:r>
              <a:rPr kumimoji="1" lang="en-US" altLang="zh-CN" sz="2400" baseline="-25000" dirty="0" err="1">
                <a:solidFill>
                  <a:srgbClr val="000000"/>
                </a:solidFill>
                <a:latin typeface="Times New Roman" panose="02020603050405020304" pitchFamily="18" charset="0"/>
                <a:ea typeface="楷体_GB2312" pitchFamily="49" charset="-122"/>
              </a:rPr>
              <a:t>B</a:t>
            </a:r>
            <a:r>
              <a:rPr kumimoji="1" lang="en-US" altLang="zh-CN" sz="2400" i="1" dirty="0" err="1">
                <a:solidFill>
                  <a:srgbClr val="000000"/>
                </a:solidFill>
                <a:latin typeface="Times New Roman" panose="02020603050405020304" pitchFamily="18" charset="0"/>
                <a:ea typeface="楷体_GB2312" pitchFamily="49" charset="-122"/>
              </a:rPr>
              <a:t>R</a:t>
            </a:r>
            <a:r>
              <a:rPr kumimoji="1" lang="en-US" altLang="zh-CN" sz="2400" baseline="-25000" dirty="0" err="1">
                <a:solidFill>
                  <a:srgbClr val="000000"/>
                </a:solidFill>
                <a:latin typeface="Times New Roman" panose="02020603050405020304" pitchFamily="18" charset="0"/>
                <a:ea typeface="楷体_GB2312" pitchFamily="49" charset="-122"/>
              </a:rPr>
              <a:t>b</a:t>
            </a:r>
            <a:endParaRPr lang="zh-CN" altLang="en-US" sz="2400" b="0" dirty="0">
              <a:ea typeface="楷体_GB2312" pitchFamily="49" charset="-122"/>
            </a:endParaRPr>
          </a:p>
        </p:txBody>
      </p:sp>
      <p:sp>
        <p:nvSpPr>
          <p:cNvPr id="13" name="下箭头 12">
            <a:extLst>
              <a:ext uri="{FF2B5EF4-FFF2-40B4-BE49-F238E27FC236}">
                <a16:creationId xmlns:a16="http://schemas.microsoft.com/office/drawing/2014/main" id="{DD19E324-4ED4-1DB1-AF76-C8BDF615B3EE}"/>
              </a:ext>
            </a:extLst>
          </p:cNvPr>
          <p:cNvSpPr/>
          <p:nvPr/>
        </p:nvSpPr>
        <p:spPr>
          <a:xfrm rot="16200000">
            <a:off x="3895678" y="2415318"/>
            <a:ext cx="432048" cy="4360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4BE3F01-5869-D5F5-35B8-1D817F1140A0}"/>
              </a:ext>
            </a:extLst>
          </p:cNvPr>
          <p:cNvSpPr txBox="1"/>
          <p:nvPr/>
        </p:nvSpPr>
        <p:spPr>
          <a:xfrm>
            <a:off x="230045" y="2439615"/>
            <a:ext cx="1017072"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直流：</a:t>
            </a:r>
          </a:p>
        </p:txBody>
      </p:sp>
      <p:sp>
        <p:nvSpPr>
          <p:cNvPr id="15" name="文本框 14">
            <a:extLst>
              <a:ext uri="{FF2B5EF4-FFF2-40B4-BE49-F238E27FC236}">
                <a16:creationId xmlns:a16="http://schemas.microsoft.com/office/drawing/2014/main" id="{CFB1E0C5-D6D2-AC12-FD04-49065236A3DD}"/>
              </a:ext>
            </a:extLst>
          </p:cNvPr>
          <p:cNvSpPr txBox="1"/>
          <p:nvPr/>
        </p:nvSpPr>
        <p:spPr>
          <a:xfrm>
            <a:off x="4761156" y="2366342"/>
            <a:ext cx="1017072"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交流：</a:t>
            </a:r>
          </a:p>
        </p:txBody>
      </p:sp>
      <p:pic>
        <p:nvPicPr>
          <p:cNvPr id="16" name="Picture 2">
            <a:extLst>
              <a:ext uri="{FF2B5EF4-FFF2-40B4-BE49-F238E27FC236}">
                <a16:creationId xmlns:a16="http://schemas.microsoft.com/office/drawing/2014/main" id="{286645B4-A686-5C19-22F5-AEDE7146BF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3306068"/>
            <a:ext cx="2365077" cy="1941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027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2F3D3-B409-811D-FBDF-3332DC544729}"/>
              </a:ext>
            </a:extLst>
          </p:cNvPr>
          <p:cNvSpPr>
            <a:spLocks noGrp="1"/>
          </p:cNvSpPr>
          <p:nvPr>
            <p:ph type="title"/>
          </p:nvPr>
        </p:nvSpPr>
        <p:spPr/>
        <p:txBody>
          <a:bodyPr>
            <a:normAutofit fontScale="90000"/>
          </a:bodyPr>
          <a:lstStyle/>
          <a:p>
            <a:r>
              <a:rPr kumimoji="1" lang="zh-CN" altLang="en-US" dirty="0">
                <a:latin typeface="Times New Roman" panose="02020603050405020304" pitchFamily="18" charset="0"/>
                <a:cs typeface="Times New Roman" panose="02020603050405020304" pitchFamily="18" charset="0"/>
              </a:rPr>
              <a:t>动态分析</a:t>
            </a:r>
            <a:endParaRPr kumimoji="1" lang="zh-CN" altLang="en-US" dirty="0"/>
          </a:p>
        </p:txBody>
      </p:sp>
      <p:sp>
        <p:nvSpPr>
          <p:cNvPr id="4" name="页脚占位符 3">
            <a:extLst>
              <a:ext uri="{FF2B5EF4-FFF2-40B4-BE49-F238E27FC236}">
                <a16:creationId xmlns:a16="http://schemas.microsoft.com/office/drawing/2014/main" id="{90730A64-1698-EE66-7A08-5E788D57E630}"/>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D59142D2-320C-FE07-48A6-CB77768A0C43}"/>
              </a:ext>
            </a:extLst>
          </p:cNvPr>
          <p:cNvSpPr>
            <a:spLocks noGrp="1"/>
          </p:cNvSpPr>
          <p:nvPr>
            <p:ph type="sldNum" sz="quarter" idx="12"/>
          </p:nvPr>
        </p:nvSpPr>
        <p:spPr/>
        <p:txBody>
          <a:bodyPr/>
          <a:lstStyle/>
          <a:p>
            <a:fld id="{9E260BC5-5BF3-8746-862B-DC45E9CAA88B}" type="slidenum">
              <a:rPr lang="en-US" smtClean="0"/>
              <a:pPr/>
              <a:t>12</a:t>
            </a:fld>
            <a:r>
              <a:rPr lang="en-US" altLang="zh-CN" dirty="0"/>
              <a:t>/33</a:t>
            </a:r>
            <a:endParaRPr lang="en-US" dirty="0"/>
          </a:p>
        </p:txBody>
      </p:sp>
      <p:pic>
        <p:nvPicPr>
          <p:cNvPr id="7" name="Picture 6">
            <a:extLst>
              <a:ext uri="{FF2B5EF4-FFF2-40B4-BE49-F238E27FC236}">
                <a16:creationId xmlns:a16="http://schemas.microsoft.com/office/drawing/2014/main" id="{B3A79DB5-CFBB-C7D0-F02D-15CA1896F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2060" y="509229"/>
            <a:ext cx="3083940" cy="1874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D66AA002-B154-0FBA-80C9-849891150A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306420"/>
            <a:ext cx="2858130" cy="210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圆角矩形 8">
            <a:extLst>
              <a:ext uri="{FF2B5EF4-FFF2-40B4-BE49-F238E27FC236}">
                <a16:creationId xmlns:a16="http://schemas.microsoft.com/office/drawing/2014/main" id="{B556D19D-54E6-E865-DCCE-1219CA6180C6}"/>
              </a:ext>
            </a:extLst>
          </p:cNvPr>
          <p:cNvSpPr/>
          <p:nvPr/>
        </p:nvSpPr>
        <p:spPr>
          <a:xfrm>
            <a:off x="1976303" y="5081078"/>
            <a:ext cx="648072" cy="396044"/>
          </a:xfrm>
          <a:prstGeom prst="round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3">
            <a:extLst>
              <a:ext uri="{FF2B5EF4-FFF2-40B4-BE49-F238E27FC236}">
                <a16:creationId xmlns:a16="http://schemas.microsoft.com/office/drawing/2014/main" id="{386C56AE-FB33-A542-DF3E-B5AF08D73E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3478" y="2269331"/>
            <a:ext cx="4364038"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Object 7">
            <a:extLst>
              <a:ext uri="{FF2B5EF4-FFF2-40B4-BE49-F238E27FC236}">
                <a16:creationId xmlns:a16="http://schemas.microsoft.com/office/drawing/2014/main" id="{84C6C035-86D7-EF24-EA9C-D73B14E7B666}"/>
              </a:ext>
            </a:extLst>
          </p:cNvPr>
          <p:cNvGraphicFramePr>
            <a:graphicFrameLocks noChangeAspect="1"/>
          </p:cNvGraphicFramePr>
          <p:nvPr>
            <p:extLst>
              <p:ext uri="{D42A27DB-BD31-4B8C-83A1-F6EECF244321}">
                <p14:modId xmlns:p14="http://schemas.microsoft.com/office/powerpoint/2010/main" val="1338416463"/>
              </p:ext>
            </p:extLst>
          </p:nvPr>
        </p:nvGraphicFramePr>
        <p:xfrm>
          <a:off x="2318341" y="1499889"/>
          <a:ext cx="2439988" cy="439738"/>
        </p:xfrm>
        <a:graphic>
          <a:graphicData uri="http://schemas.openxmlformats.org/presentationml/2006/ole">
            <mc:AlternateContent xmlns:mc="http://schemas.openxmlformats.org/markup-compatibility/2006">
              <mc:Choice xmlns:v="urn:schemas-microsoft-com:vml" Requires="v">
                <p:oleObj name="公式" r:id="rId6" imgW="1117600" imgH="241300" progId="Equation.3">
                  <p:embed/>
                </p:oleObj>
              </mc:Choice>
              <mc:Fallback>
                <p:oleObj name="公式" r:id="rId6" imgW="1117600" imgH="241300" progId="Equation.3">
                  <p:embed/>
                  <p:pic>
                    <p:nvPicPr>
                      <p:cNvPr id="22"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8341" y="1499889"/>
                        <a:ext cx="2439988"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文本框 11">
            <a:extLst>
              <a:ext uri="{FF2B5EF4-FFF2-40B4-BE49-F238E27FC236}">
                <a16:creationId xmlns:a16="http://schemas.microsoft.com/office/drawing/2014/main" id="{89D1C80F-7C4B-4CAC-C295-A01122E800F8}"/>
              </a:ext>
            </a:extLst>
          </p:cNvPr>
          <p:cNvSpPr txBox="1"/>
          <p:nvPr/>
        </p:nvSpPr>
        <p:spPr>
          <a:xfrm>
            <a:off x="1040171" y="1540268"/>
            <a:ext cx="1692188" cy="369332"/>
          </a:xfrm>
          <a:prstGeom prst="rect">
            <a:avLst/>
          </a:prstGeom>
          <a:noFill/>
        </p:spPr>
        <p:txBody>
          <a:bodyPr wrap="square" rtlCol="0">
            <a:spAutoFit/>
          </a:bodyPr>
          <a:lstStyle/>
          <a:p>
            <a:r>
              <a:rPr lang="zh-CN" altLang="en-US" dirty="0">
                <a:latin typeface="+mj-ea"/>
                <a:ea typeface="+mj-ea"/>
              </a:rPr>
              <a:t>直流</a:t>
            </a:r>
            <a:r>
              <a:rPr lang="en-US" altLang="zh-CN" dirty="0">
                <a:latin typeface="+mj-ea"/>
                <a:ea typeface="+mj-ea"/>
              </a:rPr>
              <a:t>/</a:t>
            </a:r>
            <a:r>
              <a:rPr lang="zh-CN" altLang="en-US" dirty="0">
                <a:latin typeface="+mj-ea"/>
                <a:ea typeface="+mj-ea"/>
              </a:rPr>
              <a:t>交流：</a:t>
            </a:r>
          </a:p>
        </p:txBody>
      </p:sp>
      <p:sp>
        <p:nvSpPr>
          <p:cNvPr id="13" name="下箭头 12">
            <a:extLst>
              <a:ext uri="{FF2B5EF4-FFF2-40B4-BE49-F238E27FC236}">
                <a16:creationId xmlns:a16="http://schemas.microsoft.com/office/drawing/2014/main" id="{78CC973A-56FF-1C3B-DBB3-0674D854EEBF}"/>
              </a:ext>
            </a:extLst>
          </p:cNvPr>
          <p:cNvSpPr/>
          <p:nvPr/>
        </p:nvSpPr>
        <p:spPr>
          <a:xfrm rot="16200000">
            <a:off x="3295347" y="3169372"/>
            <a:ext cx="432048" cy="4360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4">
            <a:extLst>
              <a:ext uri="{FF2B5EF4-FFF2-40B4-BE49-F238E27FC236}">
                <a16:creationId xmlns:a16="http://schemas.microsoft.com/office/drawing/2014/main" id="{760544F8-2BEB-6AB4-2E44-9E7FE2B5947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9848" t="724" r="-144" b="39636"/>
          <a:stretch/>
        </p:blipFill>
        <p:spPr bwMode="auto">
          <a:xfrm>
            <a:off x="1065379" y="2248905"/>
            <a:ext cx="1296144" cy="200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341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C45946-5D57-5B29-6820-F63CEA53DD53}"/>
              </a:ext>
            </a:extLst>
          </p:cNvPr>
          <p:cNvSpPr>
            <a:spLocks noGrp="1"/>
          </p:cNvSpPr>
          <p:nvPr>
            <p:ph type="title"/>
          </p:nvPr>
        </p:nvSpPr>
        <p:spPr/>
        <p:txBody>
          <a:bodyPr>
            <a:normAutofit fontScale="90000"/>
          </a:bodyPr>
          <a:lstStyle/>
          <a:p>
            <a:r>
              <a:rPr lang="zh-CN" altLang="en-US" dirty="0"/>
              <a:t>截止失真</a:t>
            </a:r>
            <a:endParaRPr kumimoji="1" lang="zh-CN" altLang="en-US" dirty="0"/>
          </a:p>
        </p:txBody>
      </p:sp>
      <p:sp>
        <p:nvSpPr>
          <p:cNvPr id="3" name="内容占位符 2">
            <a:extLst>
              <a:ext uri="{FF2B5EF4-FFF2-40B4-BE49-F238E27FC236}">
                <a16:creationId xmlns:a16="http://schemas.microsoft.com/office/drawing/2014/main" id="{8AFEBF9E-D730-E23A-DE28-E8D8BE3D9187}"/>
              </a:ext>
            </a:extLst>
          </p:cNvPr>
          <p:cNvSpPr>
            <a:spLocks noGrp="1"/>
          </p:cNvSpPr>
          <p:nvPr>
            <p:ph idx="1"/>
          </p:nvPr>
        </p:nvSpPr>
        <p:spPr/>
        <p:txBody>
          <a:bodyPr/>
          <a:lstStyle/>
          <a:p>
            <a:r>
              <a:rPr lang="zh-CN" altLang="en-US" dirty="0"/>
              <a:t>当放大器的工作点选得太低时</a:t>
            </a:r>
            <a:endParaRPr lang="en-US" altLang="zh-CN" dirty="0"/>
          </a:p>
          <a:p>
            <a:pPr lvl="1"/>
            <a:r>
              <a:rPr kumimoji="1" lang="zh-CN" altLang="en-US" dirty="0"/>
              <a:t>输入回路首先产生失真，然后输出回路也失真</a:t>
            </a:r>
          </a:p>
        </p:txBody>
      </p:sp>
      <p:sp>
        <p:nvSpPr>
          <p:cNvPr id="4" name="页脚占位符 3">
            <a:extLst>
              <a:ext uri="{FF2B5EF4-FFF2-40B4-BE49-F238E27FC236}">
                <a16:creationId xmlns:a16="http://schemas.microsoft.com/office/drawing/2014/main" id="{B7BE3D23-3C03-59C0-12D0-F2E279FCF67E}"/>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B1360B11-61D2-12E8-D111-C6657F0643B8}"/>
              </a:ext>
            </a:extLst>
          </p:cNvPr>
          <p:cNvSpPr>
            <a:spLocks noGrp="1"/>
          </p:cNvSpPr>
          <p:nvPr>
            <p:ph type="sldNum" sz="quarter" idx="12"/>
          </p:nvPr>
        </p:nvSpPr>
        <p:spPr/>
        <p:txBody>
          <a:bodyPr/>
          <a:lstStyle/>
          <a:p>
            <a:fld id="{9E260BC5-5BF3-8746-862B-DC45E9CAA88B}" type="slidenum">
              <a:rPr lang="en-US" smtClean="0"/>
              <a:pPr/>
              <a:t>13</a:t>
            </a:fld>
            <a:r>
              <a:rPr lang="en-US" altLang="zh-CN" dirty="0"/>
              <a:t>/33</a:t>
            </a:r>
            <a:endParaRPr lang="en-US" dirty="0"/>
          </a:p>
        </p:txBody>
      </p:sp>
      <p:pic>
        <p:nvPicPr>
          <p:cNvPr id="6" name="Picture 6">
            <a:extLst>
              <a:ext uri="{FF2B5EF4-FFF2-40B4-BE49-F238E27FC236}">
                <a16:creationId xmlns:a16="http://schemas.microsoft.com/office/drawing/2014/main" id="{7339FD52-571E-AE13-C7BB-B28B9FFBB6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46" y="1892300"/>
            <a:ext cx="8243887"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9212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5BF386-8562-3AFE-8CA9-B34E40727516}"/>
              </a:ext>
            </a:extLst>
          </p:cNvPr>
          <p:cNvSpPr>
            <a:spLocks noGrp="1"/>
          </p:cNvSpPr>
          <p:nvPr>
            <p:ph type="title"/>
          </p:nvPr>
        </p:nvSpPr>
        <p:spPr/>
        <p:txBody>
          <a:bodyPr>
            <a:normAutofit fontScale="90000"/>
          </a:bodyPr>
          <a:lstStyle/>
          <a:p>
            <a:r>
              <a:rPr lang="zh-CN" altLang="en-US" dirty="0"/>
              <a:t>饱和失真</a:t>
            </a:r>
            <a:endParaRPr kumimoji="1" lang="zh-CN" altLang="en-US" dirty="0"/>
          </a:p>
        </p:txBody>
      </p:sp>
      <p:sp>
        <p:nvSpPr>
          <p:cNvPr id="3" name="内容占位符 2">
            <a:extLst>
              <a:ext uri="{FF2B5EF4-FFF2-40B4-BE49-F238E27FC236}">
                <a16:creationId xmlns:a16="http://schemas.microsoft.com/office/drawing/2014/main" id="{CD19792D-90F1-D753-94C7-F60B8E8225C4}"/>
              </a:ext>
            </a:extLst>
          </p:cNvPr>
          <p:cNvSpPr>
            <a:spLocks noGrp="1"/>
          </p:cNvSpPr>
          <p:nvPr>
            <p:ph idx="1"/>
          </p:nvPr>
        </p:nvSpPr>
        <p:spPr/>
        <p:txBody>
          <a:bodyPr/>
          <a:lstStyle/>
          <a:p>
            <a:r>
              <a:rPr lang="zh-CN" altLang="en-US" dirty="0"/>
              <a:t>当放大器的工作点选得太高时</a:t>
            </a:r>
            <a:endParaRPr lang="en-US" altLang="zh-CN" dirty="0"/>
          </a:p>
          <a:p>
            <a:pPr lvl="1"/>
            <a:r>
              <a:rPr kumimoji="1" lang="zh-CN" altLang="en-US" dirty="0"/>
              <a:t>输出回路产生失真</a:t>
            </a:r>
          </a:p>
          <a:p>
            <a:endParaRPr kumimoji="1" lang="zh-CN" altLang="en-US" dirty="0"/>
          </a:p>
        </p:txBody>
      </p:sp>
      <p:sp>
        <p:nvSpPr>
          <p:cNvPr id="4" name="页脚占位符 3">
            <a:extLst>
              <a:ext uri="{FF2B5EF4-FFF2-40B4-BE49-F238E27FC236}">
                <a16:creationId xmlns:a16="http://schemas.microsoft.com/office/drawing/2014/main" id="{0736DB90-B93D-3300-2408-65C2F0CB26DD}"/>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75689FF6-2A46-2374-8F12-EC29DDAD4C69}"/>
              </a:ext>
            </a:extLst>
          </p:cNvPr>
          <p:cNvSpPr>
            <a:spLocks noGrp="1"/>
          </p:cNvSpPr>
          <p:nvPr>
            <p:ph type="sldNum" sz="quarter" idx="12"/>
          </p:nvPr>
        </p:nvSpPr>
        <p:spPr/>
        <p:txBody>
          <a:bodyPr/>
          <a:lstStyle/>
          <a:p>
            <a:fld id="{9E260BC5-5BF3-8746-862B-DC45E9CAA88B}" type="slidenum">
              <a:rPr lang="en-US" smtClean="0"/>
              <a:pPr/>
              <a:t>14</a:t>
            </a:fld>
            <a:r>
              <a:rPr lang="en-US" altLang="zh-CN" dirty="0"/>
              <a:t>/33</a:t>
            </a:r>
            <a:endParaRPr lang="en-US" dirty="0"/>
          </a:p>
        </p:txBody>
      </p:sp>
      <p:pic>
        <p:nvPicPr>
          <p:cNvPr id="6" name="Picture 4" descr="d1">
            <a:extLst>
              <a:ext uri="{FF2B5EF4-FFF2-40B4-BE49-F238E27FC236}">
                <a16:creationId xmlns:a16="http://schemas.microsoft.com/office/drawing/2014/main" id="{249DEAF0-BD97-3FE8-5AD0-E47780D17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2732088"/>
            <a:ext cx="3575050" cy="36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d2">
            <a:extLst>
              <a:ext uri="{FF2B5EF4-FFF2-40B4-BE49-F238E27FC236}">
                <a16:creationId xmlns:a16="http://schemas.microsoft.com/office/drawing/2014/main" id="{46DA34DE-2E4E-FD8C-3AE4-F69AAB2C0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3225" y="2147888"/>
            <a:ext cx="4498975"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5B39623D-CD58-F05A-059D-D2A6D52C7F3F}"/>
              </a:ext>
            </a:extLst>
          </p:cNvPr>
          <p:cNvSpPr>
            <a:spLocks noChangeArrowheads="1"/>
          </p:cNvSpPr>
          <p:nvPr/>
        </p:nvSpPr>
        <p:spPr bwMode="auto">
          <a:xfrm>
            <a:off x="6514166" y="909537"/>
            <a:ext cx="2207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i="1" dirty="0" err="1">
                <a:solidFill>
                  <a:srgbClr val="000000"/>
                </a:solidFill>
                <a:latin typeface="Book Antiqua" panose="02040602050305030304" pitchFamily="18" charset="0"/>
                <a:ea typeface="楷体_GB2312" pitchFamily="49" charset="-122"/>
              </a:rPr>
              <a:t>v</a:t>
            </a:r>
            <a:r>
              <a:rPr kumimoji="1" lang="en-US" altLang="zh-CN" sz="2400" baseline="-25000" dirty="0" err="1">
                <a:solidFill>
                  <a:srgbClr val="000000"/>
                </a:solidFill>
                <a:latin typeface="Times New Roman" panose="02020603050405020304" pitchFamily="18" charset="0"/>
                <a:ea typeface="楷体_GB2312" pitchFamily="49" charset="-122"/>
              </a:rPr>
              <a:t>BE</a:t>
            </a:r>
            <a:r>
              <a:rPr kumimoji="1" lang="en-US" altLang="zh-CN" sz="2400" dirty="0">
                <a:solidFill>
                  <a:srgbClr val="000000"/>
                </a:solidFill>
                <a:latin typeface="Times New Roman" panose="02020603050405020304" pitchFamily="18" charset="0"/>
                <a:ea typeface="楷体_GB2312" pitchFamily="49" charset="-122"/>
              </a:rPr>
              <a:t> =</a:t>
            </a:r>
            <a:r>
              <a:rPr kumimoji="1" lang="en-US" altLang="zh-CN" sz="2400" i="1" dirty="0">
                <a:solidFill>
                  <a:srgbClr val="000000"/>
                </a:solidFill>
                <a:latin typeface="Times New Roman" panose="02020603050405020304" pitchFamily="18" charset="0"/>
                <a:ea typeface="楷体_GB2312" pitchFamily="49" charset="-122"/>
              </a:rPr>
              <a:t>V</a:t>
            </a:r>
            <a:r>
              <a:rPr kumimoji="1" lang="en-US" altLang="zh-CN" sz="2400" baseline="-25000" dirty="0">
                <a:solidFill>
                  <a:srgbClr val="000000"/>
                </a:solidFill>
                <a:latin typeface="Times New Roman" panose="02020603050405020304" pitchFamily="18" charset="0"/>
                <a:ea typeface="楷体_GB2312" pitchFamily="49" charset="-122"/>
              </a:rPr>
              <a:t>BB</a:t>
            </a:r>
            <a:r>
              <a:rPr kumimoji="1" lang="zh-CN" altLang="en-US" sz="2400" dirty="0">
                <a:solidFill>
                  <a:srgbClr val="000000"/>
                </a:solidFill>
                <a:latin typeface="Times New Roman" panose="02020603050405020304" pitchFamily="18" charset="0"/>
                <a:ea typeface="楷体_GB2312" pitchFamily="49" charset="-122"/>
              </a:rPr>
              <a:t>－</a:t>
            </a:r>
            <a:r>
              <a:rPr kumimoji="1" lang="en-US" altLang="zh-CN" sz="2400" i="1" dirty="0" err="1">
                <a:solidFill>
                  <a:srgbClr val="000000"/>
                </a:solidFill>
                <a:latin typeface="Times New Roman" panose="02020603050405020304" pitchFamily="18" charset="0"/>
                <a:ea typeface="楷体_GB2312" pitchFamily="49" charset="-122"/>
              </a:rPr>
              <a:t>i</a:t>
            </a:r>
            <a:r>
              <a:rPr kumimoji="1" lang="en-US" altLang="zh-CN" sz="2400" baseline="-25000" dirty="0" err="1">
                <a:solidFill>
                  <a:srgbClr val="000000"/>
                </a:solidFill>
                <a:latin typeface="Times New Roman" panose="02020603050405020304" pitchFamily="18" charset="0"/>
                <a:ea typeface="楷体_GB2312" pitchFamily="49" charset="-122"/>
              </a:rPr>
              <a:t>B</a:t>
            </a:r>
            <a:r>
              <a:rPr kumimoji="1" lang="en-US" altLang="zh-CN" sz="2400" i="1" dirty="0" err="1">
                <a:solidFill>
                  <a:srgbClr val="000000"/>
                </a:solidFill>
                <a:latin typeface="Times New Roman" panose="02020603050405020304" pitchFamily="18" charset="0"/>
                <a:ea typeface="楷体_GB2312" pitchFamily="49" charset="-122"/>
              </a:rPr>
              <a:t>R</a:t>
            </a:r>
            <a:r>
              <a:rPr kumimoji="1" lang="en-US" altLang="zh-CN" sz="2400" baseline="-25000" dirty="0" err="1">
                <a:solidFill>
                  <a:srgbClr val="000000"/>
                </a:solidFill>
                <a:latin typeface="Times New Roman" panose="02020603050405020304" pitchFamily="18" charset="0"/>
                <a:ea typeface="楷体_GB2312" pitchFamily="49" charset="-122"/>
              </a:rPr>
              <a:t>b</a:t>
            </a:r>
            <a:endParaRPr lang="zh-CN" altLang="en-US" sz="2400" b="0" dirty="0">
              <a:ea typeface="楷体_GB2312" pitchFamily="49" charset="-122"/>
            </a:endParaRPr>
          </a:p>
        </p:txBody>
      </p:sp>
      <p:graphicFrame>
        <p:nvGraphicFramePr>
          <p:cNvPr id="9" name="Object 7">
            <a:extLst>
              <a:ext uri="{FF2B5EF4-FFF2-40B4-BE49-F238E27FC236}">
                <a16:creationId xmlns:a16="http://schemas.microsoft.com/office/drawing/2014/main" id="{D414D71E-CF1F-42C1-11DE-861204B631A1}"/>
              </a:ext>
            </a:extLst>
          </p:cNvPr>
          <p:cNvGraphicFramePr>
            <a:graphicFrameLocks noChangeAspect="1"/>
          </p:cNvGraphicFramePr>
          <p:nvPr>
            <p:extLst>
              <p:ext uri="{D42A27DB-BD31-4B8C-83A1-F6EECF244321}">
                <p14:modId xmlns:p14="http://schemas.microsoft.com/office/powerpoint/2010/main" val="624461036"/>
              </p:ext>
            </p:extLst>
          </p:nvPr>
        </p:nvGraphicFramePr>
        <p:xfrm>
          <a:off x="6521450" y="1438559"/>
          <a:ext cx="2439988" cy="439738"/>
        </p:xfrm>
        <a:graphic>
          <a:graphicData uri="http://schemas.openxmlformats.org/presentationml/2006/ole">
            <mc:AlternateContent xmlns:mc="http://schemas.openxmlformats.org/markup-compatibility/2006">
              <mc:Choice xmlns:v="urn:schemas-microsoft-com:vml" Requires="v">
                <p:oleObj name="公式" r:id="rId5" imgW="1117600" imgH="241300" progId="Equation.3">
                  <p:embed/>
                </p:oleObj>
              </mc:Choice>
              <mc:Fallback>
                <p:oleObj name="公式" r:id="rId5" imgW="1117600" imgH="241300" progId="Equation.3">
                  <p:embed/>
                  <p:pic>
                    <p:nvPicPr>
                      <p:cNvPr id="1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1450" y="1438559"/>
                        <a:ext cx="2439988"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05074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285F8B-91F3-8520-5371-4E6022D4FE9F}"/>
              </a:ext>
            </a:extLst>
          </p:cNvPr>
          <p:cNvSpPr>
            <a:spLocks noGrp="1"/>
          </p:cNvSpPr>
          <p:nvPr>
            <p:ph type="title"/>
          </p:nvPr>
        </p:nvSpPr>
        <p:spPr/>
        <p:txBody>
          <a:bodyPr>
            <a:normAutofit fontScale="90000"/>
          </a:bodyPr>
          <a:lstStyle/>
          <a:p>
            <a:r>
              <a:rPr kumimoji="1" lang="zh-CN" altLang="en-US" dirty="0">
                <a:latin typeface="Times New Roman" panose="02020603050405020304" pitchFamily="18" charset="0"/>
                <a:cs typeface="Times New Roman" panose="02020603050405020304" pitchFamily="18" charset="0"/>
              </a:rPr>
              <a:t>失真后如何调整？</a:t>
            </a:r>
            <a:endParaRPr kumimoji="1" lang="zh-CN" altLang="en-US" dirty="0"/>
          </a:p>
        </p:txBody>
      </p:sp>
      <p:sp>
        <p:nvSpPr>
          <p:cNvPr id="3" name="内容占位符 2">
            <a:extLst>
              <a:ext uri="{FF2B5EF4-FFF2-40B4-BE49-F238E27FC236}">
                <a16:creationId xmlns:a16="http://schemas.microsoft.com/office/drawing/2014/main" id="{D9413E97-3F00-C892-B299-B02EEE520832}"/>
              </a:ext>
            </a:extLst>
          </p:cNvPr>
          <p:cNvSpPr>
            <a:spLocks noGrp="1"/>
          </p:cNvSpPr>
          <p:nvPr>
            <p:ph idx="1"/>
          </p:nvPr>
        </p:nvSpPr>
        <p:spPr/>
        <p:txBody>
          <a:bodyPr/>
          <a:lstStyle/>
          <a:p>
            <a:r>
              <a:rPr lang="zh-CN" altLang="en-US" dirty="0"/>
              <a:t>截止失真：</a:t>
            </a:r>
            <a:endParaRPr lang="en-US" altLang="zh-CN" dirty="0"/>
          </a:p>
          <a:p>
            <a:pPr lvl="1"/>
            <a:r>
              <a:rPr lang="zh-CN" altLang="en-US" dirty="0"/>
              <a:t>工作点选择过低</a:t>
            </a:r>
            <a:endParaRPr lang="en-US" altLang="zh-CN" dirty="0"/>
          </a:p>
          <a:p>
            <a:pPr lvl="1"/>
            <a:r>
              <a:rPr lang="en-US" altLang="zh-CN" dirty="0">
                <a:sym typeface="Wingdings" pitchFamily="2" charset="2"/>
              </a:rPr>
              <a:t></a:t>
            </a:r>
            <a:r>
              <a:rPr lang="zh-CN" altLang="en-US" dirty="0">
                <a:sym typeface="Wingdings" pitchFamily="2" charset="2"/>
              </a:rPr>
              <a:t>增大</a:t>
            </a:r>
            <a:r>
              <a:rPr lang="en-US" altLang="zh-CN" dirty="0">
                <a:sym typeface="Wingdings" pitchFamily="2" charset="2"/>
              </a:rPr>
              <a:t>V</a:t>
            </a:r>
            <a:r>
              <a:rPr lang="en-US" altLang="zh-CN" baseline="-25000" dirty="0">
                <a:sym typeface="Wingdings" pitchFamily="2" charset="2"/>
              </a:rPr>
              <a:t>BB</a:t>
            </a:r>
            <a:r>
              <a:rPr lang="zh-CN" altLang="en-US" baseline="-25000" dirty="0">
                <a:sym typeface="Wingdings" pitchFamily="2" charset="2"/>
              </a:rPr>
              <a:t> </a:t>
            </a:r>
            <a:r>
              <a:rPr lang="zh-CN" altLang="en-US" dirty="0">
                <a:sym typeface="Wingdings" pitchFamily="2" charset="2"/>
              </a:rPr>
              <a:t>或 减小</a:t>
            </a:r>
            <a:r>
              <a:rPr lang="en-US" altLang="zh-CN" dirty="0">
                <a:sym typeface="Wingdings" pitchFamily="2" charset="2"/>
              </a:rPr>
              <a:t>R</a:t>
            </a:r>
            <a:r>
              <a:rPr lang="en-US" altLang="zh-CN" baseline="-25000" dirty="0">
                <a:sym typeface="Wingdings" pitchFamily="2" charset="2"/>
              </a:rPr>
              <a:t>b</a:t>
            </a:r>
            <a:endParaRPr lang="en-US" altLang="zh-CN" baseline="-25000" dirty="0"/>
          </a:p>
          <a:p>
            <a:r>
              <a:rPr lang="zh-CN" altLang="en-US" dirty="0"/>
              <a:t>饱和失真：</a:t>
            </a:r>
            <a:endParaRPr lang="en-US" altLang="zh-CN" dirty="0"/>
          </a:p>
          <a:p>
            <a:pPr lvl="1"/>
            <a:r>
              <a:rPr lang="zh-CN" altLang="en-US" dirty="0"/>
              <a:t>工作点选择过高</a:t>
            </a:r>
            <a:endParaRPr lang="en-US" altLang="zh-CN" dirty="0"/>
          </a:p>
          <a:p>
            <a:pPr lvl="1"/>
            <a:r>
              <a:rPr lang="en-US" altLang="zh-CN" dirty="0">
                <a:sym typeface="Wingdings" pitchFamily="2" charset="2"/>
              </a:rPr>
              <a:t></a:t>
            </a:r>
            <a:r>
              <a:rPr lang="zh-CN" altLang="en-US" dirty="0">
                <a:sym typeface="Wingdings" pitchFamily="2" charset="2"/>
              </a:rPr>
              <a:t>减小</a:t>
            </a:r>
            <a:r>
              <a:rPr lang="en-US" altLang="zh-CN" dirty="0">
                <a:sym typeface="Wingdings" pitchFamily="2" charset="2"/>
              </a:rPr>
              <a:t>V</a:t>
            </a:r>
            <a:r>
              <a:rPr lang="en-US" altLang="zh-CN" baseline="-25000" dirty="0">
                <a:sym typeface="Wingdings" pitchFamily="2" charset="2"/>
              </a:rPr>
              <a:t>BB</a:t>
            </a:r>
            <a:r>
              <a:rPr lang="zh-CN" altLang="en-US" baseline="-25000" dirty="0">
                <a:sym typeface="Wingdings" pitchFamily="2" charset="2"/>
              </a:rPr>
              <a:t> </a:t>
            </a:r>
            <a:r>
              <a:rPr lang="zh-CN" altLang="en-US" dirty="0">
                <a:sym typeface="Wingdings" pitchFamily="2" charset="2"/>
              </a:rPr>
              <a:t>或 增大</a:t>
            </a:r>
            <a:r>
              <a:rPr lang="en-US" altLang="zh-CN" dirty="0">
                <a:sym typeface="Wingdings" pitchFamily="2" charset="2"/>
              </a:rPr>
              <a:t>R</a:t>
            </a:r>
            <a:r>
              <a:rPr lang="en-US" altLang="zh-CN" baseline="-25000" dirty="0">
                <a:sym typeface="Wingdings" pitchFamily="2" charset="2"/>
              </a:rPr>
              <a:t>b</a:t>
            </a:r>
          </a:p>
          <a:p>
            <a:pPr lvl="1"/>
            <a:r>
              <a:rPr lang="en-US" altLang="zh-CN" dirty="0">
                <a:sym typeface="Wingdings" pitchFamily="2" charset="2"/>
              </a:rPr>
              <a:t></a:t>
            </a:r>
            <a:r>
              <a:rPr lang="zh-CN" altLang="en-US" dirty="0">
                <a:sym typeface="Wingdings" pitchFamily="2" charset="2"/>
              </a:rPr>
              <a:t>减小</a:t>
            </a:r>
            <a:r>
              <a:rPr lang="en-US" altLang="zh-CN" dirty="0">
                <a:sym typeface="Wingdings" pitchFamily="2" charset="2"/>
              </a:rPr>
              <a:t>R</a:t>
            </a:r>
            <a:r>
              <a:rPr lang="en-US" altLang="zh-CN" baseline="-25000" dirty="0">
                <a:sym typeface="Wingdings" pitchFamily="2" charset="2"/>
              </a:rPr>
              <a:t>C</a:t>
            </a:r>
          </a:p>
          <a:p>
            <a:endParaRPr kumimoji="1" lang="zh-CN" altLang="en-US" dirty="0"/>
          </a:p>
        </p:txBody>
      </p:sp>
      <p:sp>
        <p:nvSpPr>
          <p:cNvPr id="4" name="页脚占位符 3">
            <a:extLst>
              <a:ext uri="{FF2B5EF4-FFF2-40B4-BE49-F238E27FC236}">
                <a16:creationId xmlns:a16="http://schemas.microsoft.com/office/drawing/2014/main" id="{6FEA6ECE-41E2-2F50-A601-528F3864BB3A}"/>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28F1E159-A109-B865-D9AE-F643BDF76BD9}"/>
              </a:ext>
            </a:extLst>
          </p:cNvPr>
          <p:cNvSpPr>
            <a:spLocks noGrp="1"/>
          </p:cNvSpPr>
          <p:nvPr>
            <p:ph type="sldNum" sz="quarter" idx="12"/>
          </p:nvPr>
        </p:nvSpPr>
        <p:spPr/>
        <p:txBody>
          <a:bodyPr/>
          <a:lstStyle/>
          <a:p>
            <a:fld id="{9E260BC5-5BF3-8746-862B-DC45E9CAA88B}" type="slidenum">
              <a:rPr lang="en-US" smtClean="0"/>
              <a:pPr/>
              <a:t>15</a:t>
            </a:fld>
            <a:r>
              <a:rPr lang="en-US" altLang="zh-CN" dirty="0"/>
              <a:t>/33</a:t>
            </a:r>
            <a:endParaRPr lang="en-US" dirty="0"/>
          </a:p>
        </p:txBody>
      </p:sp>
      <p:pic>
        <p:nvPicPr>
          <p:cNvPr id="6" name="Picture 33" descr="422">
            <a:extLst>
              <a:ext uri="{FF2B5EF4-FFF2-40B4-BE49-F238E27FC236}">
                <a16:creationId xmlns:a16="http://schemas.microsoft.com/office/drawing/2014/main" id="{369D3981-8A71-70B8-D823-BE16989953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539" y="900745"/>
            <a:ext cx="3789362"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a:extLst>
              <a:ext uri="{FF2B5EF4-FFF2-40B4-BE49-F238E27FC236}">
                <a16:creationId xmlns:a16="http://schemas.microsoft.com/office/drawing/2014/main" id="{53C16CF3-B1BA-D4FA-4AF4-0BC62ADEB5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3714" y="3784600"/>
            <a:ext cx="35147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圆角矩形 7">
            <a:extLst>
              <a:ext uri="{FF2B5EF4-FFF2-40B4-BE49-F238E27FC236}">
                <a16:creationId xmlns:a16="http://schemas.microsoft.com/office/drawing/2014/main" id="{9CC1FB9B-5207-E769-F432-2B1733862FA3}"/>
              </a:ext>
            </a:extLst>
          </p:cNvPr>
          <p:cNvSpPr/>
          <p:nvPr/>
        </p:nvSpPr>
        <p:spPr>
          <a:xfrm>
            <a:off x="7277845" y="4752640"/>
            <a:ext cx="900100" cy="468052"/>
          </a:xfrm>
          <a:prstGeom prst="round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
            <a:extLst>
              <a:ext uri="{FF2B5EF4-FFF2-40B4-BE49-F238E27FC236}">
                <a16:creationId xmlns:a16="http://schemas.microsoft.com/office/drawing/2014/main" id="{6929BDE6-6B86-6BCF-04B7-0FC29A0F4265}"/>
              </a:ext>
            </a:extLst>
          </p:cNvPr>
          <p:cNvSpPr txBox="1"/>
          <p:nvPr/>
        </p:nvSpPr>
        <p:spPr>
          <a:xfrm>
            <a:off x="4793569" y="1536372"/>
            <a:ext cx="2012089" cy="369332"/>
          </a:xfrm>
          <a:prstGeom prst="rect">
            <a:avLst/>
          </a:prstGeom>
          <a:noFill/>
          <a:ln>
            <a:solidFill>
              <a:srgbClr val="FF0000"/>
            </a:solidFill>
          </a:ln>
        </p:spPr>
        <p:txBody>
          <a:bodyPr wrap="none" rtlCol="0">
            <a:spAutoFit/>
          </a:bodyPr>
          <a:lstStyle/>
          <a:p>
            <a:r>
              <a:rPr lang="zh-CN" altLang="en-US" dirty="0"/>
              <a:t>交流电压源</a:t>
            </a:r>
            <a:r>
              <a:rPr lang="en-US" altLang="zh-CN" dirty="0"/>
              <a:t>-&gt;</a:t>
            </a:r>
            <a:r>
              <a:rPr lang="zh-CN" altLang="en-US" dirty="0"/>
              <a:t>短路</a:t>
            </a:r>
            <a:endParaRPr lang="en-US" dirty="0"/>
          </a:p>
        </p:txBody>
      </p:sp>
      <p:cxnSp>
        <p:nvCxnSpPr>
          <p:cNvPr id="10" name="Straight Arrow Connector 4">
            <a:extLst>
              <a:ext uri="{FF2B5EF4-FFF2-40B4-BE49-F238E27FC236}">
                <a16:creationId xmlns:a16="http://schemas.microsoft.com/office/drawing/2014/main" id="{1730A0CF-1DE2-3DBB-FE07-52579271CD56}"/>
              </a:ext>
            </a:extLst>
          </p:cNvPr>
          <p:cNvCxnSpPr>
            <a:cxnSpLocks/>
            <a:stCxn id="9" idx="2"/>
          </p:cNvCxnSpPr>
          <p:nvPr/>
        </p:nvCxnSpPr>
        <p:spPr>
          <a:xfrm>
            <a:off x="5799614" y="1905704"/>
            <a:ext cx="277870" cy="6356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2">
            <a:extLst>
              <a:ext uri="{FF2B5EF4-FFF2-40B4-BE49-F238E27FC236}">
                <a16:creationId xmlns:a16="http://schemas.microsoft.com/office/drawing/2014/main" id="{65387141-740C-8B07-34A6-3615C852BE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561" y="3889375"/>
            <a:ext cx="302895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8957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88932-B8A4-EF60-8BB0-E245E0571FE2}"/>
              </a:ext>
            </a:extLst>
          </p:cNvPr>
          <p:cNvSpPr>
            <a:spLocks noGrp="1"/>
          </p:cNvSpPr>
          <p:nvPr>
            <p:ph type="title"/>
          </p:nvPr>
        </p:nvSpPr>
        <p:spPr/>
        <p:txBody>
          <a:bodyPr>
            <a:normAutofit fontScale="90000"/>
          </a:bodyPr>
          <a:lstStyle/>
          <a:p>
            <a:r>
              <a:rPr lang="zh-CN" altLang="en-US" dirty="0"/>
              <a:t>放大电路的分析方法</a:t>
            </a:r>
            <a:endParaRPr kumimoji="1" lang="zh-CN" altLang="en-US" dirty="0"/>
          </a:p>
        </p:txBody>
      </p:sp>
      <p:sp>
        <p:nvSpPr>
          <p:cNvPr id="3" name="内容占位符 2">
            <a:extLst>
              <a:ext uri="{FF2B5EF4-FFF2-40B4-BE49-F238E27FC236}">
                <a16:creationId xmlns:a16="http://schemas.microsoft.com/office/drawing/2014/main" id="{48E26510-4FEC-6D13-B5B5-298D815493BA}"/>
              </a:ext>
            </a:extLst>
          </p:cNvPr>
          <p:cNvSpPr>
            <a:spLocks noGrp="1"/>
          </p:cNvSpPr>
          <p:nvPr>
            <p:ph idx="1"/>
          </p:nvPr>
        </p:nvSpPr>
        <p:spPr/>
        <p:txBody>
          <a:bodyPr/>
          <a:lstStyle/>
          <a:p>
            <a:pPr>
              <a:lnSpc>
                <a:spcPct val="110000"/>
              </a:lnSpc>
              <a:spcAft>
                <a:spcPct val="30000"/>
              </a:spcAft>
            </a:pPr>
            <a:r>
              <a:rPr kumimoji="1" lang="zh-CN" altLang="en-US" sz="2800" dirty="0"/>
              <a:t>放大电路中直流电源和交流信号同时存在、共同作用</a:t>
            </a:r>
          </a:p>
          <a:p>
            <a:pPr>
              <a:lnSpc>
                <a:spcPct val="110000"/>
              </a:lnSpc>
              <a:spcAft>
                <a:spcPct val="30000"/>
              </a:spcAft>
            </a:pPr>
            <a:r>
              <a:rPr kumimoji="1" lang="zh-CN" altLang="en-US" sz="2800" dirty="0"/>
              <a:t>为简化分析，将它们的作用视为直流电源单独作用（</a:t>
            </a:r>
            <a:r>
              <a:rPr lang="zh-CN" altLang="en-US" sz="2800" dirty="0"/>
              <a:t>静态分析</a:t>
            </a:r>
            <a:r>
              <a:rPr kumimoji="1" lang="zh-CN" altLang="en-US" sz="2800" dirty="0"/>
              <a:t>）和在此基础上交流信号作用（动态分析）的叠加</a:t>
            </a:r>
            <a:endParaRPr kumimoji="1" lang="en-US" altLang="zh-CN" sz="2800" dirty="0"/>
          </a:p>
          <a:p>
            <a:pPr>
              <a:lnSpc>
                <a:spcPct val="110000"/>
              </a:lnSpc>
              <a:spcAft>
                <a:spcPct val="30000"/>
              </a:spcAft>
            </a:pPr>
            <a:endParaRPr kumimoji="1" lang="zh-CN" altLang="en-US" sz="2800" dirty="0"/>
          </a:p>
          <a:p>
            <a:endParaRPr kumimoji="1" lang="zh-CN" altLang="en-US" dirty="0"/>
          </a:p>
        </p:txBody>
      </p:sp>
      <p:sp>
        <p:nvSpPr>
          <p:cNvPr id="4" name="页脚占位符 3">
            <a:extLst>
              <a:ext uri="{FF2B5EF4-FFF2-40B4-BE49-F238E27FC236}">
                <a16:creationId xmlns:a16="http://schemas.microsoft.com/office/drawing/2014/main" id="{EC7FECCA-A7F6-0B51-9AB0-FE02CD81788A}"/>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CFA2D23B-0A41-4F5E-1C03-B1CDC13191EE}"/>
              </a:ext>
            </a:extLst>
          </p:cNvPr>
          <p:cNvSpPr>
            <a:spLocks noGrp="1"/>
          </p:cNvSpPr>
          <p:nvPr>
            <p:ph type="sldNum" sz="quarter" idx="12"/>
          </p:nvPr>
        </p:nvSpPr>
        <p:spPr/>
        <p:txBody>
          <a:bodyPr/>
          <a:lstStyle/>
          <a:p>
            <a:fld id="{9E260BC5-5BF3-8746-862B-DC45E9CAA88B}" type="slidenum">
              <a:rPr lang="en-US" smtClean="0"/>
              <a:pPr/>
              <a:t>16</a:t>
            </a:fld>
            <a:r>
              <a:rPr lang="en-US" altLang="zh-CN" dirty="0"/>
              <a:t>/33</a:t>
            </a:r>
            <a:endParaRPr lang="en-US" dirty="0"/>
          </a:p>
        </p:txBody>
      </p:sp>
    </p:spTree>
    <p:extLst>
      <p:ext uri="{BB962C8B-B14F-4D97-AF65-F5344CB8AC3E}">
        <p14:creationId xmlns:p14="http://schemas.microsoft.com/office/powerpoint/2010/main" val="174308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9813EE-0ECA-28BE-C2C1-098F9CF7D4F5}"/>
              </a:ext>
            </a:extLst>
          </p:cNvPr>
          <p:cNvSpPr>
            <a:spLocks noGrp="1"/>
          </p:cNvSpPr>
          <p:nvPr>
            <p:ph type="title"/>
          </p:nvPr>
        </p:nvSpPr>
        <p:spPr/>
        <p:txBody>
          <a:bodyPr>
            <a:normAutofit fontScale="90000"/>
          </a:bodyPr>
          <a:lstStyle/>
          <a:p>
            <a:r>
              <a:rPr lang="zh-CN" altLang="en-US" dirty="0"/>
              <a:t>静态分析</a:t>
            </a:r>
            <a:endParaRPr kumimoji="1" lang="zh-CN" altLang="en-US" dirty="0"/>
          </a:p>
        </p:txBody>
      </p:sp>
      <p:sp>
        <p:nvSpPr>
          <p:cNvPr id="3" name="内容占位符 2">
            <a:extLst>
              <a:ext uri="{FF2B5EF4-FFF2-40B4-BE49-F238E27FC236}">
                <a16:creationId xmlns:a16="http://schemas.microsoft.com/office/drawing/2014/main" id="{6CFEDDEB-0B6D-6A46-F1B1-4A80AA1386B7}"/>
              </a:ext>
            </a:extLst>
          </p:cNvPr>
          <p:cNvSpPr>
            <a:spLocks noGrp="1"/>
          </p:cNvSpPr>
          <p:nvPr>
            <p:ph idx="1"/>
          </p:nvPr>
        </p:nvSpPr>
        <p:spPr/>
        <p:txBody>
          <a:bodyPr/>
          <a:lstStyle/>
          <a:p>
            <a:pPr>
              <a:spcAft>
                <a:spcPct val="30000"/>
              </a:spcAft>
            </a:pPr>
            <a:r>
              <a:rPr lang="zh-CN" altLang="en-US" sz="2800" dirty="0">
                <a:latin typeface="Times New Roman" panose="02020603050405020304" pitchFamily="18" charset="0"/>
              </a:rPr>
              <a:t>静态：无</a:t>
            </a:r>
            <a:r>
              <a:rPr kumimoji="1" lang="zh-CN" altLang="en-US" sz="2800" dirty="0">
                <a:solidFill>
                  <a:srgbClr val="010000"/>
                </a:solidFill>
              </a:rPr>
              <a:t>交流</a:t>
            </a:r>
            <a:r>
              <a:rPr lang="zh-CN" altLang="en-US" sz="2800" dirty="0">
                <a:latin typeface="Times New Roman" panose="02020603050405020304" pitchFamily="18" charset="0"/>
              </a:rPr>
              <a:t>输入信号</a:t>
            </a:r>
            <a:r>
              <a:rPr lang="en-US" altLang="zh-CN" sz="2800" dirty="0">
                <a:latin typeface="Times New Roman" panose="02020603050405020304" pitchFamily="18" charset="0"/>
              </a:rPr>
              <a:t>(</a:t>
            </a:r>
            <a:r>
              <a:rPr lang="en-US" altLang="zh-CN" sz="2800" i="1" dirty="0">
                <a:latin typeface="Times New Roman" panose="02020603050405020304" pitchFamily="18" charset="0"/>
              </a:rPr>
              <a:t>v</a:t>
            </a:r>
            <a:r>
              <a:rPr lang="en-US" altLang="zh-CN" sz="2000" baseline="-25000" dirty="0">
                <a:latin typeface="Times New Roman" panose="02020603050405020304" pitchFamily="18" charset="0"/>
              </a:rPr>
              <a:t>i </a:t>
            </a:r>
            <a:r>
              <a:rPr lang="en-US" altLang="zh-CN" sz="2800" dirty="0">
                <a:latin typeface="Times New Roman" panose="02020603050405020304" pitchFamily="18" charset="0"/>
              </a:rPr>
              <a:t>= 0)</a:t>
            </a:r>
            <a:r>
              <a:rPr lang="zh-CN" altLang="en-US" sz="2800" dirty="0">
                <a:latin typeface="Times New Roman" panose="02020603050405020304" pitchFamily="18" charset="0"/>
              </a:rPr>
              <a:t>时，放大电路的工作状态，也称直流工作状态</a:t>
            </a:r>
          </a:p>
          <a:p>
            <a:pPr>
              <a:spcAft>
                <a:spcPct val="30000"/>
              </a:spcAft>
            </a:pPr>
            <a:r>
              <a:rPr lang="zh-CN" altLang="en-US" sz="2800" dirty="0">
                <a:latin typeface="Times New Roman" panose="02020603050405020304" pitchFamily="18" charset="0"/>
              </a:rPr>
              <a:t>直流通路：放大电路中直流电流流过的路径，电容、电感分别相当于开路、短路</a:t>
            </a:r>
          </a:p>
          <a:p>
            <a:pPr>
              <a:spcAft>
                <a:spcPct val="30000"/>
              </a:spcAft>
            </a:pPr>
            <a:r>
              <a:rPr lang="zh-CN" altLang="en-US" sz="2800" dirty="0">
                <a:latin typeface="Times New Roman" panose="02020603050405020304" pitchFamily="18" charset="0"/>
              </a:rPr>
              <a:t>静态工作点：静态时，管子的电参量</a:t>
            </a:r>
            <a:endParaRPr lang="zh-CN" altLang="en-US" sz="4400" dirty="0">
              <a:latin typeface="Times New Roman" panose="02020603050405020304" pitchFamily="18" charset="0"/>
            </a:endParaRPr>
          </a:p>
          <a:p>
            <a:pPr>
              <a:spcAft>
                <a:spcPct val="30000"/>
              </a:spcAft>
            </a:pPr>
            <a:r>
              <a:rPr lang="zh-CN" altLang="en-US" sz="2800" dirty="0">
                <a:latin typeface="Times New Roman" panose="02020603050405020304" pitchFamily="18" charset="0"/>
              </a:rPr>
              <a:t>静态分析：通过直流通路求解管子的静态工作点，方法有</a:t>
            </a:r>
            <a:r>
              <a:rPr lang="zh-CN" altLang="en-US" sz="2800" dirty="0"/>
              <a:t>图解法和</a:t>
            </a:r>
            <a:r>
              <a:rPr lang="zh-CN" altLang="en-US" sz="2800" dirty="0">
                <a:solidFill>
                  <a:srgbClr val="0000FF"/>
                </a:solidFill>
              </a:rPr>
              <a:t>估算法</a:t>
            </a:r>
            <a:endParaRPr lang="zh-CN" altLang="en-US" sz="2800" dirty="0"/>
          </a:p>
          <a:p>
            <a:endParaRPr kumimoji="1" lang="zh-CN" altLang="en-US" dirty="0"/>
          </a:p>
        </p:txBody>
      </p:sp>
      <p:sp>
        <p:nvSpPr>
          <p:cNvPr id="4" name="页脚占位符 3">
            <a:extLst>
              <a:ext uri="{FF2B5EF4-FFF2-40B4-BE49-F238E27FC236}">
                <a16:creationId xmlns:a16="http://schemas.microsoft.com/office/drawing/2014/main" id="{80B2A535-EFEB-2A83-4222-D3D79A21ED1E}"/>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F80B578F-56C5-4855-A1AA-C5149F8F2E14}"/>
              </a:ext>
            </a:extLst>
          </p:cNvPr>
          <p:cNvSpPr>
            <a:spLocks noGrp="1"/>
          </p:cNvSpPr>
          <p:nvPr>
            <p:ph type="sldNum" sz="quarter" idx="12"/>
          </p:nvPr>
        </p:nvSpPr>
        <p:spPr/>
        <p:txBody>
          <a:bodyPr/>
          <a:lstStyle/>
          <a:p>
            <a:fld id="{9E260BC5-5BF3-8746-862B-DC45E9CAA88B}" type="slidenum">
              <a:rPr lang="en-US" smtClean="0"/>
              <a:pPr/>
              <a:t>17</a:t>
            </a:fld>
            <a:r>
              <a:rPr lang="en-US" altLang="zh-CN" dirty="0"/>
              <a:t>/33</a:t>
            </a:r>
            <a:endParaRPr lang="en-US" dirty="0"/>
          </a:p>
        </p:txBody>
      </p:sp>
    </p:spTree>
    <p:extLst>
      <p:ext uri="{BB962C8B-B14F-4D97-AF65-F5344CB8AC3E}">
        <p14:creationId xmlns:p14="http://schemas.microsoft.com/office/powerpoint/2010/main" val="4076295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2D80C5-0210-682D-5EC3-149F3F716EC0}"/>
              </a:ext>
            </a:extLst>
          </p:cNvPr>
          <p:cNvSpPr>
            <a:spLocks noGrp="1"/>
          </p:cNvSpPr>
          <p:nvPr>
            <p:ph type="title"/>
          </p:nvPr>
        </p:nvSpPr>
        <p:spPr/>
        <p:txBody>
          <a:bodyPr>
            <a:normAutofit fontScale="90000"/>
          </a:bodyPr>
          <a:lstStyle/>
          <a:p>
            <a:r>
              <a:rPr lang="zh-CN" altLang="en-US" dirty="0"/>
              <a:t>动态分析</a:t>
            </a:r>
            <a:endParaRPr kumimoji="1" lang="zh-CN" altLang="en-US" dirty="0"/>
          </a:p>
        </p:txBody>
      </p:sp>
      <p:sp>
        <p:nvSpPr>
          <p:cNvPr id="3" name="内容占位符 2">
            <a:extLst>
              <a:ext uri="{FF2B5EF4-FFF2-40B4-BE49-F238E27FC236}">
                <a16:creationId xmlns:a16="http://schemas.microsoft.com/office/drawing/2014/main" id="{8046B5BD-0764-2299-5154-238FCAFDD0D3}"/>
              </a:ext>
            </a:extLst>
          </p:cNvPr>
          <p:cNvSpPr>
            <a:spLocks noGrp="1"/>
          </p:cNvSpPr>
          <p:nvPr>
            <p:ph idx="1"/>
          </p:nvPr>
        </p:nvSpPr>
        <p:spPr>
          <a:xfrm>
            <a:off x="17780" y="585760"/>
            <a:ext cx="9177020" cy="5947119"/>
          </a:xfrm>
        </p:spPr>
        <p:txBody>
          <a:bodyPr/>
          <a:lstStyle/>
          <a:p>
            <a:pPr>
              <a:spcAft>
                <a:spcPct val="30000"/>
              </a:spcAft>
            </a:pPr>
            <a:r>
              <a:rPr lang="zh-CN" altLang="en-US" sz="2800" dirty="0">
                <a:latin typeface="Times New Roman" panose="02020603050405020304" pitchFamily="18" charset="0"/>
              </a:rPr>
              <a:t>动态：在静态工作点附近，放大电路对于输入信号</a:t>
            </a:r>
            <a:r>
              <a:rPr lang="en-US" altLang="zh-CN" sz="2800" dirty="0">
                <a:latin typeface="Times New Roman" panose="02020603050405020304" pitchFamily="18" charset="0"/>
              </a:rPr>
              <a:t>(</a:t>
            </a:r>
            <a:r>
              <a:rPr lang="en-US" altLang="zh-CN" sz="2800" i="1" dirty="0">
                <a:latin typeface="Times New Roman" panose="02020603050405020304" pitchFamily="18" charset="0"/>
              </a:rPr>
              <a:t>v</a:t>
            </a:r>
            <a:r>
              <a:rPr lang="en-US" altLang="zh-CN" sz="2000" baseline="-25000" dirty="0">
                <a:latin typeface="Times New Roman" panose="02020603050405020304" pitchFamily="18" charset="0"/>
              </a:rPr>
              <a:t>i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的响应，也称交流工作状态</a:t>
            </a:r>
          </a:p>
          <a:p>
            <a:pPr>
              <a:spcAft>
                <a:spcPct val="30000"/>
              </a:spcAft>
            </a:pPr>
            <a:r>
              <a:rPr lang="zh-CN" altLang="en-US" sz="2800" dirty="0">
                <a:latin typeface="Times New Roman" panose="02020603050405020304" pitchFamily="18" charset="0"/>
              </a:rPr>
              <a:t>交流通路：放大电路中交流电流流过的路径，直流电源和耦合电容相当于短路</a:t>
            </a:r>
          </a:p>
          <a:p>
            <a:pPr>
              <a:spcAft>
                <a:spcPct val="30000"/>
              </a:spcAft>
            </a:pPr>
            <a:r>
              <a:rPr lang="zh-CN" altLang="en-US" sz="2800" dirty="0">
                <a:latin typeface="Times New Roman" panose="02020603050405020304" pitchFamily="18" charset="0"/>
              </a:rPr>
              <a:t>动态分析方法有图解法和</a:t>
            </a:r>
            <a:r>
              <a:rPr lang="zh-CN" altLang="en-US" sz="2800" dirty="0">
                <a:solidFill>
                  <a:srgbClr val="0000FF"/>
                </a:solidFill>
                <a:latin typeface="Times New Roman" panose="02020603050405020304" pitchFamily="18" charset="0"/>
              </a:rPr>
              <a:t>等效电路法</a:t>
            </a:r>
          </a:p>
          <a:p>
            <a:endParaRPr kumimoji="1" lang="zh-CN" altLang="en-US" dirty="0"/>
          </a:p>
        </p:txBody>
      </p:sp>
      <p:sp>
        <p:nvSpPr>
          <p:cNvPr id="4" name="页脚占位符 3">
            <a:extLst>
              <a:ext uri="{FF2B5EF4-FFF2-40B4-BE49-F238E27FC236}">
                <a16:creationId xmlns:a16="http://schemas.microsoft.com/office/drawing/2014/main" id="{2D1DA338-9A27-DA3E-2476-EA6A45CDFA77}"/>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20A6A218-41BB-57E8-9D03-6E2693A50BB6}"/>
              </a:ext>
            </a:extLst>
          </p:cNvPr>
          <p:cNvSpPr>
            <a:spLocks noGrp="1"/>
          </p:cNvSpPr>
          <p:nvPr>
            <p:ph type="sldNum" sz="quarter" idx="12"/>
          </p:nvPr>
        </p:nvSpPr>
        <p:spPr/>
        <p:txBody>
          <a:bodyPr/>
          <a:lstStyle/>
          <a:p>
            <a:fld id="{9E260BC5-5BF3-8746-862B-DC45E9CAA88B}" type="slidenum">
              <a:rPr lang="en-US" smtClean="0"/>
              <a:pPr/>
              <a:t>18</a:t>
            </a:fld>
            <a:r>
              <a:rPr lang="en-US" altLang="zh-CN" dirty="0"/>
              <a:t>/33</a:t>
            </a:r>
            <a:endParaRPr lang="en-US" dirty="0"/>
          </a:p>
        </p:txBody>
      </p:sp>
    </p:spTree>
    <p:extLst>
      <p:ext uri="{BB962C8B-B14F-4D97-AF65-F5344CB8AC3E}">
        <p14:creationId xmlns:p14="http://schemas.microsoft.com/office/powerpoint/2010/main" val="1101931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B903F-D330-B23B-670E-6D9048D4AF47}"/>
              </a:ext>
            </a:extLst>
          </p:cNvPr>
          <p:cNvSpPr>
            <a:spLocks noGrp="1"/>
          </p:cNvSpPr>
          <p:nvPr>
            <p:ph type="title"/>
          </p:nvPr>
        </p:nvSpPr>
        <p:spPr/>
        <p:txBody>
          <a:bodyPr>
            <a:normAutofit fontScale="90000"/>
          </a:bodyPr>
          <a:lstStyle/>
          <a:p>
            <a:r>
              <a:rPr lang="zh-CN" altLang="en-US" dirty="0"/>
              <a:t>共射极放大电路 </a:t>
            </a:r>
            <a:r>
              <a:rPr lang="en-US" altLang="zh-CN" dirty="0">
                <a:cs typeface="Times New Roman" panose="02020603050405020304" pitchFamily="18" charset="0"/>
              </a:rPr>
              <a:t>(2)</a:t>
            </a:r>
            <a:endParaRPr kumimoji="1" lang="zh-CN" altLang="en-US" dirty="0"/>
          </a:p>
        </p:txBody>
      </p:sp>
      <p:sp>
        <p:nvSpPr>
          <p:cNvPr id="3" name="内容占位符 2">
            <a:extLst>
              <a:ext uri="{FF2B5EF4-FFF2-40B4-BE49-F238E27FC236}">
                <a16:creationId xmlns:a16="http://schemas.microsoft.com/office/drawing/2014/main" id="{4986AEDA-6CEC-D78E-4D97-1D8F67A93152}"/>
              </a:ext>
            </a:extLst>
          </p:cNvPr>
          <p:cNvSpPr>
            <a:spLocks noGrp="1"/>
          </p:cNvSpPr>
          <p:nvPr>
            <p:ph idx="1"/>
          </p:nvPr>
        </p:nvSpPr>
        <p:spPr/>
        <p:txBody>
          <a:bodyPr/>
          <a:lstStyle/>
          <a:p>
            <a:pPr>
              <a:spcAft>
                <a:spcPct val="10000"/>
              </a:spcAft>
            </a:pPr>
            <a:r>
              <a:rPr kumimoji="1" lang="zh-CN" altLang="en-US" sz="2800" dirty="0">
                <a:latin typeface="Times New Roman" panose="02020603050405020304" pitchFamily="18" charset="0"/>
              </a:rPr>
              <a:t>晶体管</a:t>
            </a:r>
            <a:r>
              <a:rPr kumimoji="1" lang="en-US" altLang="zh-CN" sz="2800" dirty="0">
                <a:latin typeface="Times New Roman" panose="02020603050405020304" pitchFamily="18" charset="0"/>
              </a:rPr>
              <a:t>T</a:t>
            </a:r>
          </a:p>
          <a:p>
            <a:pPr lvl="1">
              <a:spcAft>
                <a:spcPct val="10000"/>
              </a:spcAft>
            </a:pPr>
            <a:r>
              <a:rPr kumimoji="1" lang="zh-CN" altLang="en-US" sz="2400" dirty="0"/>
              <a:t>核心器件，实现放大</a:t>
            </a:r>
            <a:endParaRPr kumimoji="1" lang="zh-CN" altLang="en-US" dirty="0">
              <a:latin typeface="Times New Roman" panose="02020603050405020304" pitchFamily="18" charset="0"/>
            </a:endParaRPr>
          </a:p>
          <a:p>
            <a:pPr>
              <a:spcAft>
                <a:spcPct val="10000"/>
              </a:spcAft>
            </a:pPr>
            <a:r>
              <a:rPr kumimoji="1" lang="zh-CN" altLang="en-US" sz="2800" dirty="0">
                <a:latin typeface="Times New Roman" panose="02020603050405020304" pitchFamily="18" charset="0"/>
              </a:rPr>
              <a:t>基极电阻</a:t>
            </a:r>
            <a:r>
              <a:rPr kumimoji="1" lang="en-US" altLang="zh-CN" sz="2800" dirty="0">
                <a:latin typeface="Times New Roman" panose="02020603050405020304" pitchFamily="18" charset="0"/>
              </a:rPr>
              <a:t>Rb</a:t>
            </a:r>
          </a:p>
          <a:p>
            <a:pPr lvl="1">
              <a:spcAft>
                <a:spcPct val="10000"/>
              </a:spcAft>
            </a:pPr>
            <a:r>
              <a:rPr kumimoji="1" lang="zh-CN" altLang="en-US" sz="2400" dirty="0"/>
              <a:t>设置基极偏置电流</a:t>
            </a:r>
            <a:endParaRPr kumimoji="1" lang="en-US" altLang="zh-CN" dirty="0">
              <a:latin typeface="Times New Roman" panose="02020603050405020304" pitchFamily="18" charset="0"/>
            </a:endParaRPr>
          </a:p>
          <a:p>
            <a:pPr>
              <a:spcAft>
                <a:spcPct val="10000"/>
              </a:spcAft>
            </a:pPr>
            <a:r>
              <a:rPr kumimoji="1" lang="zh-CN" altLang="en-US" sz="2800" dirty="0">
                <a:latin typeface="Times New Roman" panose="02020603050405020304" pitchFamily="18" charset="0"/>
              </a:rPr>
              <a:t>集电极电阻</a:t>
            </a:r>
            <a:r>
              <a:rPr kumimoji="1" lang="en-US" altLang="zh-CN" sz="2800" dirty="0">
                <a:latin typeface="Times New Roman" panose="02020603050405020304" pitchFamily="18" charset="0"/>
              </a:rPr>
              <a:t>R</a:t>
            </a:r>
            <a:r>
              <a:rPr kumimoji="1" lang="zh-CN" altLang="en-US" sz="2800" dirty="0">
                <a:latin typeface="Times New Roman" panose="02020603050405020304" pitchFamily="18" charset="0"/>
              </a:rPr>
              <a:t>c</a:t>
            </a:r>
          </a:p>
          <a:p>
            <a:pPr lvl="1">
              <a:spcAft>
                <a:spcPct val="10000"/>
              </a:spcAft>
            </a:pPr>
            <a:r>
              <a:rPr kumimoji="1" lang="zh-CN" altLang="en-US" sz="2400" dirty="0"/>
              <a:t>设置集电极偏置电流</a:t>
            </a:r>
          </a:p>
          <a:p>
            <a:pPr lvl="1">
              <a:spcAft>
                <a:spcPct val="10000"/>
              </a:spcAft>
            </a:pPr>
            <a:r>
              <a:rPr kumimoji="1" lang="zh-CN" altLang="en-US" sz="2400" dirty="0"/>
              <a:t>将变化的集电极电流转换为变化的电压</a:t>
            </a:r>
            <a:endParaRPr kumimoji="1" lang="en-US" altLang="zh-CN" sz="2400" dirty="0"/>
          </a:p>
          <a:p>
            <a:pPr>
              <a:spcBef>
                <a:spcPct val="10000"/>
              </a:spcBef>
              <a:spcAft>
                <a:spcPct val="10000"/>
              </a:spcAft>
            </a:pPr>
            <a:r>
              <a:rPr kumimoji="1" lang="zh-CN" altLang="en-US" sz="2800" dirty="0">
                <a:latin typeface="Times New Roman" panose="02020603050405020304" pitchFamily="18" charset="0"/>
              </a:rPr>
              <a:t>负载电阻</a:t>
            </a:r>
            <a:r>
              <a:rPr kumimoji="1" lang="en-US" altLang="zh-CN" sz="2800" dirty="0">
                <a:latin typeface="Times New Roman" panose="02020603050405020304" pitchFamily="18" charset="0"/>
              </a:rPr>
              <a:t>R</a:t>
            </a:r>
            <a:r>
              <a:rPr kumimoji="1" lang="en-US" altLang="zh-CN" sz="1800" dirty="0">
                <a:latin typeface="Times New Roman" panose="02020603050405020304" pitchFamily="18" charset="0"/>
              </a:rPr>
              <a:t>L</a:t>
            </a:r>
          </a:p>
          <a:p>
            <a:pPr>
              <a:spcAft>
                <a:spcPct val="10000"/>
              </a:spcAft>
            </a:pPr>
            <a:r>
              <a:rPr kumimoji="1" lang="zh-CN" altLang="en-US" sz="2800" dirty="0">
                <a:latin typeface="Times New Roman" panose="02020603050405020304" pitchFamily="18" charset="0"/>
              </a:rPr>
              <a:t>  输入电容</a:t>
            </a:r>
            <a:r>
              <a:rPr kumimoji="1" lang="en-US" altLang="zh-CN" sz="2800" dirty="0">
                <a:latin typeface="Times New Roman" panose="02020603050405020304" pitchFamily="18" charset="0"/>
              </a:rPr>
              <a:t>C</a:t>
            </a:r>
            <a:r>
              <a:rPr kumimoji="1" lang="en-US" altLang="zh-CN" sz="2400" dirty="0">
                <a:latin typeface="Times New Roman" panose="02020603050405020304" pitchFamily="18" charset="0"/>
              </a:rPr>
              <a:t>1</a:t>
            </a:r>
            <a:r>
              <a:rPr kumimoji="1" lang="zh-CN" altLang="en-US" sz="2800" dirty="0">
                <a:latin typeface="Times New Roman" panose="02020603050405020304" pitchFamily="18" charset="0"/>
              </a:rPr>
              <a:t>和输出电容</a:t>
            </a:r>
            <a:r>
              <a:rPr kumimoji="1" lang="en-US" altLang="zh-CN" sz="2800" dirty="0">
                <a:latin typeface="Times New Roman" panose="02020603050405020304" pitchFamily="18" charset="0"/>
              </a:rPr>
              <a:t>C</a:t>
            </a:r>
            <a:r>
              <a:rPr kumimoji="1" lang="en-US" altLang="zh-CN" sz="2400" dirty="0">
                <a:latin typeface="Times New Roman" panose="02020603050405020304" pitchFamily="18" charset="0"/>
              </a:rPr>
              <a:t>2</a:t>
            </a:r>
          </a:p>
          <a:p>
            <a:pPr lvl="1">
              <a:spcAft>
                <a:spcPct val="10000"/>
              </a:spcAft>
            </a:pPr>
            <a:r>
              <a:rPr kumimoji="1" lang="zh-CN" altLang="en-US" sz="2400" dirty="0"/>
              <a:t> </a:t>
            </a:r>
            <a:r>
              <a:rPr lang="zh-CN" altLang="en-US" sz="2400" dirty="0">
                <a:latin typeface="Times New Roman" panose="02020603050405020304" pitchFamily="18" charset="0"/>
              </a:rPr>
              <a:t>分别连</a:t>
            </a:r>
            <a:r>
              <a:rPr kumimoji="1" lang="zh-CN" altLang="en-US" sz="2400" dirty="0">
                <a:latin typeface="Times New Roman" panose="02020603050405020304" pitchFamily="18" charset="0"/>
              </a:rPr>
              <a:t>接信号源和负载，称为耦合电容</a:t>
            </a:r>
            <a:endParaRPr kumimoji="1" lang="en-US" altLang="zh-CN" sz="2400" dirty="0"/>
          </a:p>
        </p:txBody>
      </p:sp>
      <p:sp>
        <p:nvSpPr>
          <p:cNvPr id="4" name="页脚占位符 3">
            <a:extLst>
              <a:ext uri="{FF2B5EF4-FFF2-40B4-BE49-F238E27FC236}">
                <a16:creationId xmlns:a16="http://schemas.microsoft.com/office/drawing/2014/main" id="{81782550-4789-A74F-F659-F53BD5EE59A3}"/>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4661B79B-E617-31FD-6D67-0579CE1BDBAC}"/>
              </a:ext>
            </a:extLst>
          </p:cNvPr>
          <p:cNvSpPr>
            <a:spLocks noGrp="1"/>
          </p:cNvSpPr>
          <p:nvPr>
            <p:ph type="sldNum" sz="quarter" idx="12"/>
          </p:nvPr>
        </p:nvSpPr>
        <p:spPr/>
        <p:txBody>
          <a:bodyPr/>
          <a:lstStyle/>
          <a:p>
            <a:fld id="{9E260BC5-5BF3-8746-862B-DC45E9CAA88B}" type="slidenum">
              <a:rPr lang="en-US" smtClean="0"/>
              <a:pPr/>
              <a:t>19</a:t>
            </a:fld>
            <a:r>
              <a:rPr lang="en-US" altLang="zh-CN" dirty="0"/>
              <a:t>/33</a:t>
            </a:r>
            <a:endParaRPr lang="en-US" dirty="0"/>
          </a:p>
        </p:txBody>
      </p:sp>
      <p:sp>
        <p:nvSpPr>
          <p:cNvPr id="6" name="Text Box 5">
            <a:extLst>
              <a:ext uri="{FF2B5EF4-FFF2-40B4-BE49-F238E27FC236}">
                <a16:creationId xmlns:a16="http://schemas.microsoft.com/office/drawing/2014/main" id="{E06B7B0A-7E87-F289-EABC-BDE9AD524460}"/>
              </a:ext>
            </a:extLst>
          </p:cNvPr>
          <p:cNvSpPr txBox="1">
            <a:spLocks noChangeArrowheads="1"/>
          </p:cNvSpPr>
          <p:nvPr/>
        </p:nvSpPr>
        <p:spPr bwMode="auto">
          <a:xfrm>
            <a:off x="5921375" y="1130400"/>
            <a:ext cx="608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2400">
                <a:latin typeface="Times New Roman" panose="02020603050405020304" pitchFamily="18" charset="0"/>
                <a:ea typeface="楷体_GB2312" pitchFamily="49" charset="-122"/>
              </a:rPr>
              <a:t>b</a:t>
            </a:r>
          </a:p>
        </p:txBody>
      </p:sp>
      <p:sp>
        <p:nvSpPr>
          <p:cNvPr id="7" name="Line 6">
            <a:extLst>
              <a:ext uri="{FF2B5EF4-FFF2-40B4-BE49-F238E27FC236}">
                <a16:creationId xmlns:a16="http://schemas.microsoft.com/office/drawing/2014/main" id="{3438177C-1B2A-EE51-D6AD-C60389DA5A77}"/>
              </a:ext>
            </a:extLst>
          </p:cNvPr>
          <p:cNvSpPr>
            <a:spLocks noChangeShapeType="1"/>
          </p:cNvSpPr>
          <p:nvPr/>
        </p:nvSpPr>
        <p:spPr bwMode="auto">
          <a:xfrm>
            <a:off x="6646863" y="781150"/>
            <a:ext cx="0" cy="1636712"/>
          </a:xfrm>
          <a:prstGeom prst="line">
            <a:avLst/>
          </a:prstGeom>
          <a:noFill/>
          <a:ln w="38100">
            <a:solidFill>
              <a:schemeClr val="tx1"/>
            </a:solidFill>
            <a:round/>
            <a:headEn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 name="Rectangle 7">
            <a:extLst>
              <a:ext uri="{FF2B5EF4-FFF2-40B4-BE49-F238E27FC236}">
                <a16:creationId xmlns:a16="http://schemas.microsoft.com/office/drawing/2014/main" id="{81FA308D-A25E-DF44-9B0B-38232FD44C22}"/>
              </a:ext>
            </a:extLst>
          </p:cNvPr>
          <p:cNvSpPr>
            <a:spLocks noChangeArrowheads="1"/>
          </p:cNvSpPr>
          <p:nvPr/>
        </p:nvSpPr>
        <p:spPr bwMode="auto">
          <a:xfrm>
            <a:off x="6557963" y="1144687"/>
            <a:ext cx="176212" cy="544513"/>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 name="Line 8">
            <a:extLst>
              <a:ext uri="{FF2B5EF4-FFF2-40B4-BE49-F238E27FC236}">
                <a16:creationId xmlns:a16="http://schemas.microsoft.com/office/drawing/2014/main" id="{88B5786C-25EE-C250-20D0-EA61802B30C2}"/>
              </a:ext>
            </a:extLst>
          </p:cNvPr>
          <p:cNvSpPr>
            <a:spLocks noChangeShapeType="1"/>
          </p:cNvSpPr>
          <p:nvPr/>
        </p:nvSpPr>
        <p:spPr bwMode="auto">
          <a:xfrm>
            <a:off x="6643688" y="781150"/>
            <a:ext cx="14541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 name="Line 9">
            <a:extLst>
              <a:ext uri="{FF2B5EF4-FFF2-40B4-BE49-F238E27FC236}">
                <a16:creationId xmlns:a16="http://schemas.microsoft.com/office/drawing/2014/main" id="{83D8D582-39FE-E8CB-3334-F297ED96DB91}"/>
              </a:ext>
            </a:extLst>
          </p:cNvPr>
          <p:cNvSpPr>
            <a:spLocks noChangeShapeType="1"/>
          </p:cNvSpPr>
          <p:nvPr/>
        </p:nvSpPr>
        <p:spPr bwMode="auto">
          <a:xfrm flipV="1">
            <a:off x="6111875" y="2417862"/>
            <a:ext cx="1320800"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1" name="Line 10">
            <a:extLst>
              <a:ext uri="{FF2B5EF4-FFF2-40B4-BE49-F238E27FC236}">
                <a16:creationId xmlns:a16="http://schemas.microsoft.com/office/drawing/2014/main" id="{C4AC4E60-08CE-4EA6-2367-25490FB81194}"/>
              </a:ext>
            </a:extLst>
          </p:cNvPr>
          <p:cNvSpPr>
            <a:spLocks noChangeShapeType="1"/>
          </p:cNvSpPr>
          <p:nvPr/>
        </p:nvSpPr>
        <p:spPr bwMode="auto">
          <a:xfrm>
            <a:off x="7412038" y="2203550"/>
            <a:ext cx="0" cy="48101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 name="Line 11">
            <a:extLst>
              <a:ext uri="{FF2B5EF4-FFF2-40B4-BE49-F238E27FC236}">
                <a16:creationId xmlns:a16="http://schemas.microsoft.com/office/drawing/2014/main" id="{2CA5BA96-4A16-B684-EFF9-1BC7AA92F092}"/>
              </a:ext>
            </a:extLst>
          </p:cNvPr>
          <p:cNvSpPr>
            <a:spLocks noChangeShapeType="1"/>
          </p:cNvSpPr>
          <p:nvPr/>
        </p:nvSpPr>
        <p:spPr bwMode="auto">
          <a:xfrm>
            <a:off x="7412038" y="2443262"/>
            <a:ext cx="265112" cy="247650"/>
          </a:xfrm>
          <a:prstGeom prst="line">
            <a:avLst/>
          </a:prstGeom>
          <a:noFill/>
          <a:ln w="38100">
            <a:solidFill>
              <a:srgbClr val="CC3300"/>
            </a:solidFill>
            <a:round/>
            <a:headEnd type="none" w="sm" len="sm"/>
            <a:tailEnd type="triangl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3" name="Line 12">
            <a:extLst>
              <a:ext uri="{FF2B5EF4-FFF2-40B4-BE49-F238E27FC236}">
                <a16:creationId xmlns:a16="http://schemas.microsoft.com/office/drawing/2014/main" id="{30830F99-207D-66EC-A42B-1ADC65F3A489}"/>
              </a:ext>
            </a:extLst>
          </p:cNvPr>
          <p:cNvSpPr>
            <a:spLocks noChangeShapeType="1"/>
          </p:cNvSpPr>
          <p:nvPr/>
        </p:nvSpPr>
        <p:spPr bwMode="auto">
          <a:xfrm flipH="1">
            <a:off x="7673975" y="781150"/>
            <a:ext cx="0" cy="1454150"/>
          </a:xfrm>
          <a:prstGeom prst="line">
            <a:avLst/>
          </a:prstGeom>
          <a:noFill/>
          <a:ln w="38100">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 name="Line 13">
            <a:extLst>
              <a:ext uri="{FF2B5EF4-FFF2-40B4-BE49-F238E27FC236}">
                <a16:creationId xmlns:a16="http://schemas.microsoft.com/office/drawing/2014/main" id="{C35A98FB-75EB-EB53-5910-3656CB6EC737}"/>
              </a:ext>
            </a:extLst>
          </p:cNvPr>
          <p:cNvSpPr>
            <a:spLocks noChangeShapeType="1"/>
          </p:cNvSpPr>
          <p:nvPr/>
        </p:nvSpPr>
        <p:spPr bwMode="auto">
          <a:xfrm>
            <a:off x="7659688" y="2676625"/>
            <a:ext cx="0" cy="1133475"/>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 name="Line 14">
            <a:extLst>
              <a:ext uri="{FF2B5EF4-FFF2-40B4-BE49-F238E27FC236}">
                <a16:creationId xmlns:a16="http://schemas.microsoft.com/office/drawing/2014/main" id="{58491C77-D178-9BB8-5297-B153F6572A7F}"/>
              </a:ext>
            </a:extLst>
          </p:cNvPr>
          <p:cNvSpPr>
            <a:spLocks noChangeShapeType="1"/>
          </p:cNvSpPr>
          <p:nvPr/>
        </p:nvSpPr>
        <p:spPr bwMode="auto">
          <a:xfrm>
            <a:off x="5673725" y="3578325"/>
            <a:ext cx="3211513"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6" name="Text Box 15">
            <a:extLst>
              <a:ext uri="{FF2B5EF4-FFF2-40B4-BE49-F238E27FC236}">
                <a16:creationId xmlns:a16="http://schemas.microsoft.com/office/drawing/2014/main" id="{85D6288A-95E9-3127-072D-226115222D02}"/>
              </a:ext>
            </a:extLst>
          </p:cNvPr>
          <p:cNvSpPr txBox="1">
            <a:spLocks noChangeArrowheads="1"/>
          </p:cNvSpPr>
          <p:nvPr/>
        </p:nvSpPr>
        <p:spPr bwMode="auto">
          <a:xfrm>
            <a:off x="8280400" y="520800"/>
            <a:ext cx="969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a:t>
            </a:r>
            <a:r>
              <a:rPr kumimoji="1" lang="en-US" altLang="zh-CN" sz="2800" i="1">
                <a:latin typeface="Times New Roman" panose="02020603050405020304" pitchFamily="18" charset="0"/>
                <a:ea typeface="楷体_GB2312" pitchFamily="49" charset="-122"/>
              </a:rPr>
              <a:t>V</a:t>
            </a:r>
            <a:r>
              <a:rPr kumimoji="1" lang="en-US" altLang="zh-CN" sz="2800" baseline="-10000">
                <a:latin typeface="Times New Roman" panose="02020603050405020304" pitchFamily="18" charset="0"/>
                <a:ea typeface="楷体_GB2312" pitchFamily="49" charset="-122"/>
              </a:rPr>
              <a:t>CC</a:t>
            </a:r>
          </a:p>
        </p:txBody>
      </p:sp>
      <p:sp>
        <p:nvSpPr>
          <p:cNvPr id="17" name="Rectangle 16">
            <a:extLst>
              <a:ext uri="{FF2B5EF4-FFF2-40B4-BE49-F238E27FC236}">
                <a16:creationId xmlns:a16="http://schemas.microsoft.com/office/drawing/2014/main" id="{E9C50CFF-1323-8117-1402-6A3D261C670C}"/>
              </a:ext>
            </a:extLst>
          </p:cNvPr>
          <p:cNvSpPr>
            <a:spLocks noChangeArrowheads="1"/>
          </p:cNvSpPr>
          <p:nvPr/>
        </p:nvSpPr>
        <p:spPr bwMode="auto">
          <a:xfrm>
            <a:off x="7588250" y="1144687"/>
            <a:ext cx="176213" cy="544513"/>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8" name="Oval 17">
            <a:extLst>
              <a:ext uri="{FF2B5EF4-FFF2-40B4-BE49-F238E27FC236}">
                <a16:creationId xmlns:a16="http://schemas.microsoft.com/office/drawing/2014/main" id="{B1A6D8DB-88CE-0BB9-BAF7-8AE66C37309A}"/>
              </a:ext>
            </a:extLst>
          </p:cNvPr>
          <p:cNvSpPr>
            <a:spLocks noChangeArrowheads="1"/>
          </p:cNvSpPr>
          <p:nvPr/>
        </p:nvSpPr>
        <p:spPr bwMode="auto">
          <a:xfrm>
            <a:off x="8094663" y="719237"/>
            <a:ext cx="128587" cy="13017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Oval 18">
            <a:extLst>
              <a:ext uri="{FF2B5EF4-FFF2-40B4-BE49-F238E27FC236}">
                <a16:creationId xmlns:a16="http://schemas.microsoft.com/office/drawing/2014/main" id="{CBBA5AB0-6E09-8739-0A93-D91CDFFDF390}"/>
              </a:ext>
            </a:extLst>
          </p:cNvPr>
          <p:cNvSpPr>
            <a:spLocks noChangeArrowheads="1"/>
          </p:cNvSpPr>
          <p:nvPr/>
        </p:nvSpPr>
        <p:spPr bwMode="auto">
          <a:xfrm>
            <a:off x="5540375" y="2352775"/>
            <a:ext cx="128588" cy="13017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Oval 19">
            <a:extLst>
              <a:ext uri="{FF2B5EF4-FFF2-40B4-BE49-F238E27FC236}">
                <a16:creationId xmlns:a16="http://schemas.microsoft.com/office/drawing/2014/main" id="{7680488C-4A0D-ABD9-EEB7-40A5DD30ED64}"/>
              </a:ext>
            </a:extLst>
          </p:cNvPr>
          <p:cNvSpPr>
            <a:spLocks noChangeArrowheads="1"/>
          </p:cNvSpPr>
          <p:nvPr/>
        </p:nvSpPr>
        <p:spPr bwMode="auto">
          <a:xfrm>
            <a:off x="5549900" y="3511650"/>
            <a:ext cx="127000" cy="128587"/>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1" name="Group 20">
            <a:extLst>
              <a:ext uri="{FF2B5EF4-FFF2-40B4-BE49-F238E27FC236}">
                <a16:creationId xmlns:a16="http://schemas.microsoft.com/office/drawing/2014/main" id="{6A89103F-1037-53D6-2574-9300BBEE051E}"/>
              </a:ext>
            </a:extLst>
          </p:cNvPr>
          <p:cNvGrpSpPr>
            <a:grpSpLocks/>
          </p:cNvGrpSpPr>
          <p:nvPr/>
        </p:nvGrpSpPr>
        <p:grpSpPr bwMode="auto">
          <a:xfrm>
            <a:off x="5997575" y="2200375"/>
            <a:ext cx="127000" cy="438150"/>
            <a:chOff x="3454" y="2018"/>
            <a:chExt cx="96" cy="328"/>
          </a:xfrm>
        </p:grpSpPr>
        <p:sp>
          <p:nvSpPr>
            <p:cNvPr id="22" name="Line 21">
              <a:extLst>
                <a:ext uri="{FF2B5EF4-FFF2-40B4-BE49-F238E27FC236}">
                  <a16:creationId xmlns:a16="http://schemas.microsoft.com/office/drawing/2014/main" id="{68384ED5-86FB-3B2A-9DD4-0B51250CEDB7}"/>
                </a:ext>
              </a:extLst>
            </p:cNvPr>
            <p:cNvSpPr>
              <a:spLocks noChangeShapeType="1"/>
            </p:cNvSpPr>
            <p:nvPr/>
          </p:nvSpPr>
          <p:spPr bwMode="auto">
            <a:xfrm>
              <a:off x="3454"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3" name="Line 22">
              <a:extLst>
                <a:ext uri="{FF2B5EF4-FFF2-40B4-BE49-F238E27FC236}">
                  <a16:creationId xmlns:a16="http://schemas.microsoft.com/office/drawing/2014/main" id="{CC3F2071-A61A-3219-1A63-FF78DEBA92BC}"/>
                </a:ext>
              </a:extLst>
            </p:cNvPr>
            <p:cNvSpPr>
              <a:spLocks noChangeShapeType="1"/>
            </p:cNvSpPr>
            <p:nvPr/>
          </p:nvSpPr>
          <p:spPr bwMode="auto">
            <a:xfrm>
              <a:off x="3550"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24" name="Line 23">
            <a:extLst>
              <a:ext uri="{FF2B5EF4-FFF2-40B4-BE49-F238E27FC236}">
                <a16:creationId xmlns:a16="http://schemas.microsoft.com/office/drawing/2014/main" id="{52A52722-0437-FDAC-7F7E-BB4D5E244330}"/>
              </a:ext>
            </a:extLst>
          </p:cNvPr>
          <p:cNvSpPr>
            <a:spLocks noChangeShapeType="1"/>
          </p:cNvSpPr>
          <p:nvPr/>
        </p:nvSpPr>
        <p:spPr bwMode="auto">
          <a:xfrm>
            <a:off x="5681663" y="2413100"/>
            <a:ext cx="3127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5" name="Oval 24">
            <a:extLst>
              <a:ext uri="{FF2B5EF4-FFF2-40B4-BE49-F238E27FC236}">
                <a16:creationId xmlns:a16="http://schemas.microsoft.com/office/drawing/2014/main" id="{AD817023-AA46-9FCA-48AC-DA01D94CFE49}"/>
              </a:ext>
            </a:extLst>
          </p:cNvPr>
          <p:cNvSpPr>
            <a:spLocks noChangeArrowheads="1"/>
          </p:cNvSpPr>
          <p:nvPr/>
        </p:nvSpPr>
        <p:spPr bwMode="auto">
          <a:xfrm flipH="1">
            <a:off x="8885238" y="1951137"/>
            <a:ext cx="128587" cy="1285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6" name="Group 25">
            <a:extLst>
              <a:ext uri="{FF2B5EF4-FFF2-40B4-BE49-F238E27FC236}">
                <a16:creationId xmlns:a16="http://schemas.microsoft.com/office/drawing/2014/main" id="{13305582-3BC1-D69F-5765-523CF3B896C5}"/>
              </a:ext>
            </a:extLst>
          </p:cNvPr>
          <p:cNvGrpSpPr>
            <a:grpSpLocks/>
          </p:cNvGrpSpPr>
          <p:nvPr/>
        </p:nvGrpSpPr>
        <p:grpSpPr bwMode="auto">
          <a:xfrm flipH="1">
            <a:off x="8153400" y="1819375"/>
            <a:ext cx="128588" cy="436562"/>
            <a:chOff x="3454" y="2018"/>
            <a:chExt cx="96" cy="328"/>
          </a:xfrm>
        </p:grpSpPr>
        <p:sp>
          <p:nvSpPr>
            <p:cNvPr id="27" name="Line 26">
              <a:extLst>
                <a:ext uri="{FF2B5EF4-FFF2-40B4-BE49-F238E27FC236}">
                  <a16:creationId xmlns:a16="http://schemas.microsoft.com/office/drawing/2014/main" id="{86A6B331-27CC-8EC2-70A5-972E48CFA4F5}"/>
                </a:ext>
              </a:extLst>
            </p:cNvPr>
            <p:cNvSpPr>
              <a:spLocks noChangeShapeType="1"/>
            </p:cNvSpPr>
            <p:nvPr/>
          </p:nvSpPr>
          <p:spPr bwMode="auto">
            <a:xfrm>
              <a:off x="3454"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8" name="Line 27">
              <a:extLst>
                <a:ext uri="{FF2B5EF4-FFF2-40B4-BE49-F238E27FC236}">
                  <a16:creationId xmlns:a16="http://schemas.microsoft.com/office/drawing/2014/main" id="{B6BEC6E1-9032-000C-E865-EDBBD0141BFA}"/>
                </a:ext>
              </a:extLst>
            </p:cNvPr>
            <p:cNvSpPr>
              <a:spLocks noChangeShapeType="1"/>
            </p:cNvSpPr>
            <p:nvPr/>
          </p:nvSpPr>
          <p:spPr bwMode="auto">
            <a:xfrm>
              <a:off x="3550"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29" name="Line 28">
            <a:extLst>
              <a:ext uri="{FF2B5EF4-FFF2-40B4-BE49-F238E27FC236}">
                <a16:creationId xmlns:a16="http://schemas.microsoft.com/office/drawing/2014/main" id="{E2D226F6-38A7-252F-18E6-5EFCCCEA602F}"/>
              </a:ext>
            </a:extLst>
          </p:cNvPr>
          <p:cNvSpPr>
            <a:spLocks noChangeShapeType="1"/>
          </p:cNvSpPr>
          <p:nvPr/>
        </p:nvSpPr>
        <p:spPr bwMode="auto">
          <a:xfrm flipH="1">
            <a:off x="8275638" y="2027337"/>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0" name="Line 29">
            <a:extLst>
              <a:ext uri="{FF2B5EF4-FFF2-40B4-BE49-F238E27FC236}">
                <a16:creationId xmlns:a16="http://schemas.microsoft.com/office/drawing/2014/main" id="{C3655F12-ABAC-1DDA-F71A-31A8CF787FD4}"/>
              </a:ext>
            </a:extLst>
          </p:cNvPr>
          <p:cNvSpPr>
            <a:spLocks noChangeShapeType="1"/>
          </p:cNvSpPr>
          <p:nvPr/>
        </p:nvSpPr>
        <p:spPr bwMode="auto">
          <a:xfrm>
            <a:off x="7673975" y="2025750"/>
            <a:ext cx="463550" cy="0"/>
          </a:xfrm>
          <a:prstGeom prst="line">
            <a:avLst/>
          </a:prstGeom>
          <a:noFill/>
          <a:ln w="38100">
            <a:solidFill>
              <a:schemeClr val="tx1"/>
            </a:solidFill>
            <a:round/>
            <a:headEnd type="oval"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1" name="Oval 30">
            <a:extLst>
              <a:ext uri="{FF2B5EF4-FFF2-40B4-BE49-F238E27FC236}">
                <a16:creationId xmlns:a16="http://schemas.microsoft.com/office/drawing/2014/main" id="{CB8BFD51-B0AA-10C4-F708-037DCBB0B664}"/>
              </a:ext>
            </a:extLst>
          </p:cNvPr>
          <p:cNvSpPr>
            <a:spLocks noChangeArrowheads="1"/>
          </p:cNvSpPr>
          <p:nvPr/>
        </p:nvSpPr>
        <p:spPr bwMode="auto">
          <a:xfrm flipH="1">
            <a:off x="8885238" y="3511650"/>
            <a:ext cx="128587" cy="128587"/>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2" name="Text Box 31">
            <a:extLst>
              <a:ext uri="{FF2B5EF4-FFF2-40B4-BE49-F238E27FC236}">
                <a16:creationId xmlns:a16="http://schemas.microsoft.com/office/drawing/2014/main" id="{B67E8EF9-09DE-F379-7C4C-0A3D423F6515}"/>
              </a:ext>
            </a:extLst>
          </p:cNvPr>
          <p:cNvSpPr txBox="1">
            <a:spLocks noChangeArrowheads="1"/>
          </p:cNvSpPr>
          <p:nvPr/>
        </p:nvSpPr>
        <p:spPr bwMode="auto">
          <a:xfrm>
            <a:off x="6959600" y="1133575"/>
            <a:ext cx="595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Rc</a:t>
            </a:r>
          </a:p>
        </p:txBody>
      </p:sp>
      <p:sp>
        <p:nvSpPr>
          <p:cNvPr id="33" name="Text Box 32">
            <a:extLst>
              <a:ext uri="{FF2B5EF4-FFF2-40B4-BE49-F238E27FC236}">
                <a16:creationId xmlns:a16="http://schemas.microsoft.com/office/drawing/2014/main" id="{F8486FC7-DBE0-6488-38CA-37F7748518FA}"/>
              </a:ext>
            </a:extLst>
          </p:cNvPr>
          <p:cNvSpPr txBox="1">
            <a:spLocks noChangeArrowheads="1"/>
          </p:cNvSpPr>
          <p:nvPr/>
        </p:nvSpPr>
        <p:spPr bwMode="auto">
          <a:xfrm>
            <a:off x="5773738" y="1717775"/>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C</a:t>
            </a:r>
            <a:r>
              <a:rPr kumimoji="1" lang="en-US" altLang="zh-CN" sz="2000">
                <a:latin typeface="Times New Roman" panose="02020603050405020304" pitchFamily="18" charset="0"/>
                <a:ea typeface="楷体_GB2312" pitchFamily="49" charset="-122"/>
              </a:rPr>
              <a:t>1</a:t>
            </a:r>
          </a:p>
        </p:txBody>
      </p:sp>
      <p:sp>
        <p:nvSpPr>
          <p:cNvPr id="34" name="Text Box 33">
            <a:extLst>
              <a:ext uri="{FF2B5EF4-FFF2-40B4-BE49-F238E27FC236}">
                <a16:creationId xmlns:a16="http://schemas.microsoft.com/office/drawing/2014/main" id="{4CF63DE8-ED44-AFFA-FC00-94F5452ACCDD}"/>
              </a:ext>
            </a:extLst>
          </p:cNvPr>
          <p:cNvSpPr txBox="1">
            <a:spLocks noChangeArrowheads="1"/>
          </p:cNvSpPr>
          <p:nvPr/>
        </p:nvSpPr>
        <p:spPr bwMode="auto">
          <a:xfrm>
            <a:off x="7934325" y="1311375"/>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C</a:t>
            </a:r>
            <a:r>
              <a:rPr kumimoji="1" lang="en-US" altLang="zh-CN" sz="2000">
                <a:latin typeface="Times New Roman" panose="02020603050405020304" pitchFamily="18" charset="0"/>
                <a:ea typeface="楷体_GB2312" pitchFamily="49" charset="-122"/>
              </a:rPr>
              <a:t>2</a:t>
            </a:r>
          </a:p>
        </p:txBody>
      </p:sp>
      <p:sp>
        <p:nvSpPr>
          <p:cNvPr id="35" name="Text Box 34">
            <a:extLst>
              <a:ext uri="{FF2B5EF4-FFF2-40B4-BE49-F238E27FC236}">
                <a16:creationId xmlns:a16="http://schemas.microsoft.com/office/drawing/2014/main" id="{7DBEB0A8-DB1F-B8DB-0810-6B94BED3EC37}"/>
              </a:ext>
            </a:extLst>
          </p:cNvPr>
          <p:cNvSpPr txBox="1">
            <a:spLocks noChangeArrowheads="1"/>
          </p:cNvSpPr>
          <p:nvPr/>
        </p:nvSpPr>
        <p:spPr bwMode="auto">
          <a:xfrm>
            <a:off x="6894513" y="2525812"/>
            <a:ext cx="417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T</a:t>
            </a:r>
          </a:p>
        </p:txBody>
      </p:sp>
      <p:sp>
        <p:nvSpPr>
          <p:cNvPr id="36" name="Line 35">
            <a:extLst>
              <a:ext uri="{FF2B5EF4-FFF2-40B4-BE49-F238E27FC236}">
                <a16:creationId xmlns:a16="http://schemas.microsoft.com/office/drawing/2014/main" id="{C963F931-80EE-AD6D-D934-7C87C3CDB961}"/>
              </a:ext>
            </a:extLst>
          </p:cNvPr>
          <p:cNvSpPr>
            <a:spLocks noChangeShapeType="1"/>
          </p:cNvSpPr>
          <p:nvPr/>
        </p:nvSpPr>
        <p:spPr bwMode="auto">
          <a:xfrm>
            <a:off x="7659688" y="3591025"/>
            <a:ext cx="0" cy="2730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7" name="Line 36">
            <a:extLst>
              <a:ext uri="{FF2B5EF4-FFF2-40B4-BE49-F238E27FC236}">
                <a16:creationId xmlns:a16="http://schemas.microsoft.com/office/drawing/2014/main" id="{A3D649E6-772F-73E8-21AE-3B098E1C72FF}"/>
              </a:ext>
            </a:extLst>
          </p:cNvPr>
          <p:cNvSpPr>
            <a:spLocks noChangeShapeType="1"/>
          </p:cNvSpPr>
          <p:nvPr/>
        </p:nvSpPr>
        <p:spPr bwMode="auto">
          <a:xfrm flipV="1">
            <a:off x="7519988" y="3872012"/>
            <a:ext cx="3032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8" name="Oval 37">
            <a:extLst>
              <a:ext uri="{FF2B5EF4-FFF2-40B4-BE49-F238E27FC236}">
                <a16:creationId xmlns:a16="http://schemas.microsoft.com/office/drawing/2014/main" id="{C574ECA5-A95D-9BB5-E9D9-940447245D90}"/>
              </a:ext>
            </a:extLst>
          </p:cNvPr>
          <p:cNvSpPr>
            <a:spLocks noChangeArrowheads="1"/>
          </p:cNvSpPr>
          <p:nvPr/>
        </p:nvSpPr>
        <p:spPr bwMode="auto">
          <a:xfrm>
            <a:off x="7627938" y="3543400"/>
            <a:ext cx="63500" cy="65087"/>
          </a:xfrm>
          <a:prstGeom prst="ellipse">
            <a:avLst/>
          </a:prstGeom>
          <a:solidFill>
            <a:schemeClr val="tx1"/>
          </a:solidFill>
          <a:ln w="38100">
            <a:solidFill>
              <a:schemeClr val="tx1"/>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9" name="Text Box 38">
            <a:extLst>
              <a:ext uri="{FF2B5EF4-FFF2-40B4-BE49-F238E27FC236}">
                <a16:creationId xmlns:a16="http://schemas.microsoft.com/office/drawing/2014/main" id="{434B2FBD-05ED-73EB-D30D-E12E06014BA7}"/>
              </a:ext>
            </a:extLst>
          </p:cNvPr>
          <p:cNvSpPr txBox="1">
            <a:spLocks noChangeArrowheads="1"/>
          </p:cNvSpPr>
          <p:nvPr/>
        </p:nvSpPr>
        <p:spPr bwMode="auto">
          <a:xfrm>
            <a:off x="5419725" y="2411512"/>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a:latin typeface="Times New Roman" panose="02020603050405020304" pitchFamily="18" charset="0"/>
                <a:ea typeface="楷体_GB2312" pitchFamily="49" charset="-122"/>
              </a:rPr>
              <a:t>+</a:t>
            </a:r>
          </a:p>
        </p:txBody>
      </p:sp>
      <p:sp>
        <p:nvSpPr>
          <p:cNvPr id="40" name="Text Box 39">
            <a:extLst>
              <a:ext uri="{FF2B5EF4-FFF2-40B4-BE49-F238E27FC236}">
                <a16:creationId xmlns:a16="http://schemas.microsoft.com/office/drawing/2014/main" id="{23324264-5634-2045-2051-40E63094BEAE}"/>
              </a:ext>
            </a:extLst>
          </p:cNvPr>
          <p:cNvSpPr txBox="1">
            <a:spLocks noChangeArrowheads="1"/>
          </p:cNvSpPr>
          <p:nvPr/>
        </p:nvSpPr>
        <p:spPr bwMode="auto">
          <a:xfrm>
            <a:off x="5521325" y="3024287"/>
            <a:ext cx="13493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b="0">
                <a:latin typeface="Times New Roman" panose="02020603050405020304" pitchFamily="18" charset="0"/>
                <a:ea typeface="楷体_GB2312" pitchFamily="49" charset="-122"/>
              </a:rPr>
              <a:t>-</a:t>
            </a:r>
          </a:p>
        </p:txBody>
      </p:sp>
      <p:sp>
        <p:nvSpPr>
          <p:cNvPr id="41" name="Text Box 40">
            <a:extLst>
              <a:ext uri="{FF2B5EF4-FFF2-40B4-BE49-F238E27FC236}">
                <a16:creationId xmlns:a16="http://schemas.microsoft.com/office/drawing/2014/main" id="{41DDF956-9AD0-0010-0DF5-0DC10107A4E6}"/>
              </a:ext>
            </a:extLst>
          </p:cNvPr>
          <p:cNvSpPr txBox="1">
            <a:spLocks noChangeArrowheads="1"/>
          </p:cNvSpPr>
          <p:nvPr/>
        </p:nvSpPr>
        <p:spPr bwMode="auto">
          <a:xfrm>
            <a:off x="5464175" y="2663925"/>
            <a:ext cx="2873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i="1">
                <a:latin typeface="Times New Roman" panose="02020603050405020304" pitchFamily="18" charset="0"/>
                <a:ea typeface="楷体_GB2312" pitchFamily="49" charset="-122"/>
              </a:rPr>
              <a:t>v</a:t>
            </a:r>
            <a:r>
              <a:rPr kumimoji="1" lang="en-US" altLang="zh-CN" sz="3600" baseline="-5000">
                <a:latin typeface="Times New Roman" panose="02020603050405020304" pitchFamily="18" charset="0"/>
                <a:ea typeface="楷体_GB2312" pitchFamily="49" charset="-122"/>
              </a:rPr>
              <a:t>i</a:t>
            </a:r>
          </a:p>
        </p:txBody>
      </p:sp>
      <p:sp>
        <p:nvSpPr>
          <p:cNvPr id="42" name="Text Box 41">
            <a:extLst>
              <a:ext uri="{FF2B5EF4-FFF2-40B4-BE49-F238E27FC236}">
                <a16:creationId xmlns:a16="http://schemas.microsoft.com/office/drawing/2014/main" id="{0AA5FCBC-DF5C-84F4-6D57-2D82F426DE0F}"/>
              </a:ext>
            </a:extLst>
          </p:cNvPr>
          <p:cNvSpPr txBox="1">
            <a:spLocks noChangeArrowheads="1"/>
          </p:cNvSpPr>
          <p:nvPr/>
        </p:nvSpPr>
        <p:spPr bwMode="auto">
          <a:xfrm>
            <a:off x="8994775" y="2078137"/>
            <a:ext cx="2317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a:latin typeface="Times New Roman" panose="02020603050405020304" pitchFamily="18" charset="0"/>
                <a:ea typeface="楷体_GB2312" pitchFamily="49" charset="-122"/>
              </a:rPr>
              <a:t>+</a:t>
            </a:r>
          </a:p>
        </p:txBody>
      </p:sp>
      <p:sp>
        <p:nvSpPr>
          <p:cNvPr id="43" name="Text Box 42">
            <a:extLst>
              <a:ext uri="{FF2B5EF4-FFF2-40B4-BE49-F238E27FC236}">
                <a16:creationId xmlns:a16="http://schemas.microsoft.com/office/drawing/2014/main" id="{827BB776-8173-5A73-68C4-E0E067E603AD}"/>
              </a:ext>
            </a:extLst>
          </p:cNvPr>
          <p:cNvSpPr txBox="1">
            <a:spLocks noChangeArrowheads="1"/>
          </p:cNvSpPr>
          <p:nvPr/>
        </p:nvSpPr>
        <p:spPr bwMode="auto">
          <a:xfrm>
            <a:off x="9007475" y="2989362"/>
            <a:ext cx="13493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b="0">
                <a:latin typeface="Times New Roman" panose="02020603050405020304" pitchFamily="18" charset="0"/>
                <a:ea typeface="楷体_GB2312" pitchFamily="49" charset="-122"/>
              </a:rPr>
              <a:t>-</a:t>
            </a:r>
          </a:p>
        </p:txBody>
      </p:sp>
      <p:sp>
        <p:nvSpPr>
          <p:cNvPr id="44" name="Text Box 43">
            <a:extLst>
              <a:ext uri="{FF2B5EF4-FFF2-40B4-BE49-F238E27FC236}">
                <a16:creationId xmlns:a16="http://schemas.microsoft.com/office/drawing/2014/main" id="{EF3DFBC2-873A-871E-6347-6D31CF3695F1}"/>
              </a:ext>
            </a:extLst>
          </p:cNvPr>
          <p:cNvSpPr txBox="1">
            <a:spLocks noChangeArrowheads="1"/>
          </p:cNvSpPr>
          <p:nvPr/>
        </p:nvSpPr>
        <p:spPr bwMode="auto">
          <a:xfrm>
            <a:off x="8948738" y="2459137"/>
            <a:ext cx="355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i="1">
                <a:latin typeface="Times New Roman" panose="02020603050405020304" pitchFamily="18" charset="0"/>
                <a:ea typeface="楷体_GB2312" pitchFamily="49" charset="-122"/>
              </a:rPr>
              <a:t>v</a:t>
            </a:r>
            <a:r>
              <a:rPr kumimoji="1" lang="en-US" altLang="zh-CN" sz="3600" baseline="-5000">
                <a:latin typeface="Times New Roman" panose="02020603050405020304" pitchFamily="18" charset="0"/>
                <a:ea typeface="楷体_GB2312" pitchFamily="49" charset="-122"/>
              </a:rPr>
              <a:t>o</a:t>
            </a:r>
          </a:p>
        </p:txBody>
      </p:sp>
      <p:sp>
        <p:nvSpPr>
          <p:cNvPr id="45" name="Line 44">
            <a:extLst>
              <a:ext uri="{FF2B5EF4-FFF2-40B4-BE49-F238E27FC236}">
                <a16:creationId xmlns:a16="http://schemas.microsoft.com/office/drawing/2014/main" id="{E787037E-1741-9C93-0BA8-DAD6D376C418}"/>
              </a:ext>
            </a:extLst>
          </p:cNvPr>
          <p:cNvSpPr>
            <a:spLocks noChangeShapeType="1"/>
          </p:cNvSpPr>
          <p:nvPr/>
        </p:nvSpPr>
        <p:spPr bwMode="auto">
          <a:xfrm flipV="1">
            <a:off x="7412038" y="2211487"/>
            <a:ext cx="265112" cy="215900"/>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6" name="Line 45">
            <a:extLst>
              <a:ext uri="{FF2B5EF4-FFF2-40B4-BE49-F238E27FC236}">
                <a16:creationId xmlns:a16="http://schemas.microsoft.com/office/drawing/2014/main" id="{ACC57B7F-6128-3235-52E4-65D7486A8551}"/>
              </a:ext>
            </a:extLst>
          </p:cNvPr>
          <p:cNvSpPr>
            <a:spLocks noChangeShapeType="1"/>
          </p:cNvSpPr>
          <p:nvPr/>
        </p:nvSpPr>
        <p:spPr bwMode="auto">
          <a:xfrm flipH="1">
            <a:off x="8716963" y="2020987"/>
            <a:ext cx="0" cy="156210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7" name="Rectangle 46">
            <a:extLst>
              <a:ext uri="{FF2B5EF4-FFF2-40B4-BE49-F238E27FC236}">
                <a16:creationId xmlns:a16="http://schemas.microsoft.com/office/drawing/2014/main" id="{CC8A2F0E-8C71-16DA-AF88-4F0C9FE52C21}"/>
              </a:ext>
            </a:extLst>
          </p:cNvPr>
          <p:cNvSpPr>
            <a:spLocks noChangeArrowheads="1"/>
          </p:cNvSpPr>
          <p:nvPr/>
        </p:nvSpPr>
        <p:spPr bwMode="auto">
          <a:xfrm>
            <a:off x="8628063" y="2459137"/>
            <a:ext cx="176212" cy="544513"/>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8" name="Text Box 47">
            <a:extLst>
              <a:ext uri="{FF2B5EF4-FFF2-40B4-BE49-F238E27FC236}">
                <a16:creationId xmlns:a16="http://schemas.microsoft.com/office/drawing/2014/main" id="{175A3A95-15A3-57CE-B631-7E217050FEB9}"/>
              </a:ext>
            </a:extLst>
          </p:cNvPr>
          <p:cNvSpPr txBox="1">
            <a:spLocks noChangeArrowheads="1"/>
          </p:cNvSpPr>
          <p:nvPr/>
        </p:nvSpPr>
        <p:spPr bwMode="auto">
          <a:xfrm>
            <a:off x="7991475" y="2398812"/>
            <a:ext cx="59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1800">
                <a:latin typeface="Times New Roman" panose="02020603050405020304" pitchFamily="18" charset="0"/>
                <a:ea typeface="楷体_GB2312" pitchFamily="49" charset="-122"/>
              </a:rPr>
              <a:t>L</a:t>
            </a:r>
          </a:p>
        </p:txBody>
      </p:sp>
    </p:spTree>
    <p:extLst>
      <p:ext uri="{BB962C8B-B14F-4D97-AF65-F5344CB8AC3E}">
        <p14:creationId xmlns:p14="http://schemas.microsoft.com/office/powerpoint/2010/main" val="3397304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F61B0-880E-A76C-7318-EFE44A1DF1BC}"/>
              </a:ext>
            </a:extLst>
          </p:cNvPr>
          <p:cNvSpPr>
            <a:spLocks noGrp="1"/>
          </p:cNvSpPr>
          <p:nvPr>
            <p:ph type="title"/>
          </p:nvPr>
        </p:nvSpPr>
        <p:spPr/>
        <p:txBody>
          <a:bodyPr>
            <a:normAutofit fontScale="90000"/>
          </a:bodyPr>
          <a:lstStyle/>
          <a:p>
            <a:r>
              <a:rPr lang="zh-CN" altLang="en-US" dirty="0"/>
              <a:t>共射极放大电路放大原理</a:t>
            </a:r>
            <a:endParaRPr kumimoji="1" lang="zh-CN" altLang="en-US" dirty="0"/>
          </a:p>
        </p:txBody>
      </p:sp>
      <p:sp>
        <p:nvSpPr>
          <p:cNvPr id="4" name="页脚占位符 3">
            <a:extLst>
              <a:ext uri="{FF2B5EF4-FFF2-40B4-BE49-F238E27FC236}">
                <a16:creationId xmlns:a16="http://schemas.microsoft.com/office/drawing/2014/main" id="{922C0E46-AB16-C548-58C4-933BD939AAD3}"/>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435637A6-4884-0F1B-7250-EC6C5B592EFF}"/>
              </a:ext>
            </a:extLst>
          </p:cNvPr>
          <p:cNvSpPr>
            <a:spLocks noGrp="1"/>
          </p:cNvSpPr>
          <p:nvPr>
            <p:ph type="sldNum" sz="quarter" idx="12"/>
          </p:nvPr>
        </p:nvSpPr>
        <p:spPr/>
        <p:txBody>
          <a:bodyPr/>
          <a:lstStyle/>
          <a:p>
            <a:fld id="{9E260BC5-5BF3-8746-862B-DC45E9CAA88B}" type="slidenum">
              <a:rPr lang="en-US" smtClean="0"/>
              <a:pPr/>
              <a:t>20</a:t>
            </a:fld>
            <a:r>
              <a:rPr lang="en-US" altLang="zh-CN" dirty="0"/>
              <a:t>/33</a:t>
            </a:r>
            <a:endParaRPr lang="en-US" dirty="0"/>
          </a:p>
        </p:txBody>
      </p:sp>
      <p:sp>
        <p:nvSpPr>
          <p:cNvPr id="6" name="Rectangle 2">
            <a:extLst>
              <a:ext uri="{FF2B5EF4-FFF2-40B4-BE49-F238E27FC236}">
                <a16:creationId xmlns:a16="http://schemas.microsoft.com/office/drawing/2014/main" id="{F54910DA-9736-ADD9-3687-610DBE282D15}"/>
              </a:ext>
            </a:extLst>
          </p:cNvPr>
          <p:cNvSpPr>
            <a:spLocks noChangeArrowheads="1"/>
          </p:cNvSpPr>
          <p:nvPr/>
        </p:nvSpPr>
        <p:spPr bwMode="auto">
          <a:xfrm>
            <a:off x="2771775" y="5459413"/>
            <a:ext cx="59769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3600" b="0" i="1">
                <a:latin typeface="Times New Roman" panose="02020603050405020304" pitchFamily="18" charset="0"/>
              </a:rPr>
              <a:t>v</a:t>
            </a:r>
            <a:r>
              <a:rPr kumimoji="1" lang="en-US" altLang="zh-CN" sz="2800" b="0" i="1" baseline="-10000">
                <a:latin typeface="Times New Roman" panose="02020603050405020304" pitchFamily="18" charset="0"/>
              </a:rPr>
              <a:t>i</a:t>
            </a:r>
            <a:r>
              <a:rPr kumimoji="1" lang="en-US" altLang="zh-CN" sz="2800" b="0" i="1">
                <a:latin typeface="Times New Roman" panose="02020603050405020304" pitchFamily="18" charset="0"/>
              </a:rPr>
              <a:t> </a:t>
            </a:r>
            <a:r>
              <a:rPr kumimoji="1" lang="en-US" altLang="zh-CN" sz="3600" b="0">
                <a:latin typeface="Times New Roman" panose="02020603050405020304" pitchFamily="18" charset="0"/>
                <a:sym typeface="Symbol" panose="05050102010706020507" pitchFamily="18" charset="2"/>
              </a:rPr>
              <a:t>→</a:t>
            </a:r>
            <a:r>
              <a:rPr kumimoji="1" lang="en-US" altLang="zh-CN" sz="3600" b="0" i="1">
                <a:latin typeface="Times New Roman" panose="02020603050405020304" pitchFamily="18" charset="0"/>
              </a:rPr>
              <a:t> v</a:t>
            </a:r>
            <a:r>
              <a:rPr kumimoji="1" lang="en-US" altLang="zh-CN" sz="2800" b="0" i="1" baseline="-15000">
                <a:latin typeface="Times New Roman" panose="02020603050405020304" pitchFamily="18" charset="0"/>
              </a:rPr>
              <a:t>BE</a:t>
            </a:r>
            <a:r>
              <a:rPr kumimoji="1" lang="en-US" altLang="zh-CN" sz="2800" b="0" i="1">
                <a:latin typeface="Times New Roman" panose="02020603050405020304" pitchFamily="18" charset="0"/>
              </a:rPr>
              <a:t> </a:t>
            </a:r>
            <a:r>
              <a:rPr kumimoji="1" lang="en-US" altLang="zh-CN" sz="3600" b="0" i="1">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3600" b="0" i="1">
                <a:latin typeface="Times New Roman" panose="02020603050405020304" pitchFamily="18" charset="0"/>
                <a:cs typeface="Times New Roman" panose="02020603050405020304" pitchFamily="18" charset="0"/>
              </a:rPr>
              <a:t> </a:t>
            </a:r>
            <a:r>
              <a:rPr kumimoji="1" lang="en-US" altLang="zh-CN" b="0" i="1">
                <a:latin typeface="Times New Roman" panose="02020603050405020304" pitchFamily="18" charset="0"/>
                <a:cs typeface="Times New Roman" panose="02020603050405020304" pitchFamily="18" charset="0"/>
              </a:rPr>
              <a:t>i</a:t>
            </a:r>
            <a:r>
              <a:rPr kumimoji="1" lang="en-US" altLang="zh-CN" b="0" i="1" baseline="-15000">
                <a:latin typeface="Times New Roman" panose="02020603050405020304" pitchFamily="18" charset="0"/>
                <a:cs typeface="Times New Roman" panose="02020603050405020304" pitchFamily="18" charset="0"/>
              </a:rPr>
              <a:t>B</a:t>
            </a:r>
            <a:r>
              <a:rPr kumimoji="1" lang="en-US" altLang="zh-CN" sz="2800" b="0" i="1">
                <a:latin typeface="Times New Roman" panose="02020603050405020304" pitchFamily="18" charset="0"/>
                <a:cs typeface="Times New Roman" panose="02020603050405020304" pitchFamily="18" charset="0"/>
              </a:rPr>
              <a:t> </a:t>
            </a:r>
            <a:r>
              <a:rPr kumimoji="1" lang="en-US" altLang="zh-CN" sz="3600" b="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3600" b="0" i="1">
                <a:latin typeface="Times New Roman" panose="02020603050405020304" pitchFamily="18" charset="0"/>
                <a:cs typeface="Times New Roman" panose="02020603050405020304" pitchFamily="18" charset="0"/>
              </a:rPr>
              <a:t> </a:t>
            </a:r>
            <a:r>
              <a:rPr kumimoji="1" lang="en-US" altLang="zh-CN" b="0" i="1">
                <a:latin typeface="Times New Roman" panose="02020603050405020304" pitchFamily="18" charset="0"/>
                <a:cs typeface="Times New Roman" panose="02020603050405020304" pitchFamily="18" charset="0"/>
              </a:rPr>
              <a:t>i</a:t>
            </a:r>
            <a:r>
              <a:rPr kumimoji="1" lang="en-US" altLang="zh-CN" sz="2400" b="0" i="1" baseline="-15000">
                <a:latin typeface="Times New Roman" panose="02020603050405020304" pitchFamily="18" charset="0"/>
                <a:cs typeface="Times New Roman" panose="02020603050405020304" pitchFamily="18" charset="0"/>
              </a:rPr>
              <a:t>C</a:t>
            </a:r>
            <a:r>
              <a:rPr kumimoji="1" lang="en-US" altLang="zh-CN" sz="2800" b="0" i="1">
                <a:latin typeface="Times New Roman" panose="02020603050405020304" pitchFamily="18" charset="0"/>
                <a:cs typeface="Times New Roman" panose="02020603050405020304" pitchFamily="18" charset="0"/>
              </a:rPr>
              <a:t> </a:t>
            </a:r>
            <a:r>
              <a:rPr kumimoji="1" lang="en-US" altLang="zh-CN" sz="3600" b="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3600" b="0" i="1">
                <a:latin typeface="Times New Roman" panose="02020603050405020304" pitchFamily="18" charset="0"/>
                <a:cs typeface="Times New Roman" panose="02020603050405020304" pitchFamily="18" charset="0"/>
              </a:rPr>
              <a:t> v</a:t>
            </a:r>
            <a:r>
              <a:rPr kumimoji="1" lang="en-US" altLang="zh-CN" sz="2800" b="0" i="1" baseline="-15000">
                <a:latin typeface="Times New Roman" panose="02020603050405020304" pitchFamily="18" charset="0"/>
                <a:cs typeface="Times New Roman" panose="02020603050405020304" pitchFamily="18" charset="0"/>
              </a:rPr>
              <a:t>CE</a:t>
            </a:r>
            <a:r>
              <a:rPr kumimoji="1" lang="en-US" altLang="zh-CN" sz="2800" b="0" i="1">
                <a:latin typeface="Times New Roman" panose="02020603050405020304" pitchFamily="18" charset="0"/>
                <a:cs typeface="Times New Roman" panose="02020603050405020304" pitchFamily="18" charset="0"/>
              </a:rPr>
              <a:t> </a:t>
            </a:r>
            <a:r>
              <a:rPr kumimoji="1" lang="en-US" altLang="zh-CN" sz="3600" b="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3600" b="0" i="1">
                <a:latin typeface="Times New Roman" panose="02020603050405020304" pitchFamily="18" charset="0"/>
                <a:cs typeface="Times New Roman" panose="02020603050405020304" pitchFamily="18" charset="0"/>
              </a:rPr>
              <a:t> v</a:t>
            </a:r>
            <a:r>
              <a:rPr kumimoji="1" lang="en-US" altLang="zh-CN" sz="2800" b="0" i="1" baseline="-10000">
                <a:latin typeface="Times New Roman" panose="02020603050405020304" pitchFamily="18" charset="0"/>
                <a:cs typeface="Times New Roman" panose="02020603050405020304" pitchFamily="18" charset="0"/>
              </a:rPr>
              <a:t>o</a:t>
            </a:r>
            <a:endParaRPr kumimoji="1" lang="zh-CN" altLang="en-US" sz="2800" b="0" i="1" baseline="-10000">
              <a:latin typeface="Times New Roman" panose="02020603050405020304" pitchFamily="18" charset="0"/>
              <a:cs typeface="Times New Roman" panose="02020603050405020304" pitchFamily="18" charset="0"/>
            </a:endParaRPr>
          </a:p>
        </p:txBody>
      </p:sp>
      <p:grpSp>
        <p:nvGrpSpPr>
          <p:cNvPr id="7" name="Group 4">
            <a:extLst>
              <a:ext uri="{FF2B5EF4-FFF2-40B4-BE49-F238E27FC236}">
                <a16:creationId xmlns:a16="http://schemas.microsoft.com/office/drawing/2014/main" id="{1A79FEEC-EC0A-227C-0AA5-B33D01F7EA0D}"/>
              </a:ext>
            </a:extLst>
          </p:cNvPr>
          <p:cNvGrpSpPr>
            <a:grpSpLocks/>
          </p:cNvGrpSpPr>
          <p:nvPr/>
        </p:nvGrpSpPr>
        <p:grpSpPr bwMode="auto">
          <a:xfrm>
            <a:off x="1925638" y="1227138"/>
            <a:ext cx="4779962" cy="4106862"/>
            <a:chOff x="1258" y="843"/>
            <a:chExt cx="3011" cy="2587"/>
          </a:xfrm>
        </p:grpSpPr>
        <p:sp>
          <p:nvSpPr>
            <p:cNvPr id="8" name="Text Box 5">
              <a:extLst>
                <a:ext uri="{FF2B5EF4-FFF2-40B4-BE49-F238E27FC236}">
                  <a16:creationId xmlns:a16="http://schemas.microsoft.com/office/drawing/2014/main" id="{A65BF0C9-00BE-9807-056E-E820A0E6B4DE}"/>
                </a:ext>
              </a:extLst>
            </p:cNvPr>
            <p:cNvSpPr txBox="1">
              <a:spLocks noChangeArrowheads="1"/>
            </p:cNvSpPr>
            <p:nvPr/>
          </p:nvSpPr>
          <p:spPr bwMode="auto">
            <a:xfrm>
              <a:off x="1719" y="1321"/>
              <a:ext cx="3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2400">
                  <a:latin typeface="Times New Roman" panose="02020603050405020304" pitchFamily="18" charset="0"/>
                  <a:ea typeface="楷体_GB2312" pitchFamily="49" charset="-122"/>
                </a:rPr>
                <a:t>b</a:t>
              </a:r>
            </a:p>
          </p:txBody>
        </p:sp>
        <p:sp>
          <p:nvSpPr>
            <p:cNvPr id="9" name="Line 6">
              <a:extLst>
                <a:ext uri="{FF2B5EF4-FFF2-40B4-BE49-F238E27FC236}">
                  <a16:creationId xmlns:a16="http://schemas.microsoft.com/office/drawing/2014/main" id="{BAC2915C-2043-CC47-3BDF-A431D8DC053E}"/>
                </a:ext>
              </a:extLst>
            </p:cNvPr>
            <p:cNvSpPr>
              <a:spLocks noChangeShapeType="1"/>
            </p:cNvSpPr>
            <p:nvPr/>
          </p:nvSpPr>
          <p:spPr bwMode="auto">
            <a:xfrm>
              <a:off x="2242" y="1008"/>
              <a:ext cx="0" cy="1283"/>
            </a:xfrm>
            <a:prstGeom prst="line">
              <a:avLst/>
            </a:prstGeom>
            <a:noFill/>
            <a:ln w="38100">
              <a:solidFill>
                <a:schemeClr val="tx1"/>
              </a:solidFill>
              <a:round/>
              <a:headEn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 name="Rectangle 7">
              <a:extLst>
                <a:ext uri="{FF2B5EF4-FFF2-40B4-BE49-F238E27FC236}">
                  <a16:creationId xmlns:a16="http://schemas.microsoft.com/office/drawing/2014/main" id="{A3B8E589-AB1A-D177-403E-37E83AF13B2A}"/>
                </a:ext>
              </a:extLst>
            </p:cNvPr>
            <p:cNvSpPr>
              <a:spLocks noChangeArrowheads="1"/>
            </p:cNvSpPr>
            <p:nvPr/>
          </p:nvSpPr>
          <p:spPr bwMode="auto">
            <a:xfrm>
              <a:off x="2172" y="1293"/>
              <a:ext cx="138" cy="427"/>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 name="Line 8">
              <a:extLst>
                <a:ext uri="{FF2B5EF4-FFF2-40B4-BE49-F238E27FC236}">
                  <a16:creationId xmlns:a16="http://schemas.microsoft.com/office/drawing/2014/main" id="{EF6F7DE8-B9FB-ADFA-1957-2D3DA26348E5}"/>
                </a:ext>
              </a:extLst>
            </p:cNvPr>
            <p:cNvSpPr>
              <a:spLocks noChangeShapeType="1"/>
            </p:cNvSpPr>
            <p:nvPr/>
          </p:nvSpPr>
          <p:spPr bwMode="auto">
            <a:xfrm>
              <a:off x="2239" y="1008"/>
              <a:ext cx="11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 name="Line 9">
              <a:extLst>
                <a:ext uri="{FF2B5EF4-FFF2-40B4-BE49-F238E27FC236}">
                  <a16:creationId xmlns:a16="http://schemas.microsoft.com/office/drawing/2014/main" id="{2CB5149F-7EF1-3F6B-6859-561DEADE9085}"/>
                </a:ext>
              </a:extLst>
            </p:cNvPr>
            <p:cNvSpPr>
              <a:spLocks noChangeShapeType="1"/>
            </p:cNvSpPr>
            <p:nvPr/>
          </p:nvSpPr>
          <p:spPr bwMode="auto">
            <a:xfrm flipV="1">
              <a:off x="1823" y="2291"/>
              <a:ext cx="1034"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3" name="Line 10">
              <a:extLst>
                <a:ext uri="{FF2B5EF4-FFF2-40B4-BE49-F238E27FC236}">
                  <a16:creationId xmlns:a16="http://schemas.microsoft.com/office/drawing/2014/main" id="{484AF8B6-7462-4C72-C756-0B1A02E06A3D}"/>
                </a:ext>
              </a:extLst>
            </p:cNvPr>
            <p:cNvSpPr>
              <a:spLocks noChangeShapeType="1"/>
            </p:cNvSpPr>
            <p:nvPr/>
          </p:nvSpPr>
          <p:spPr bwMode="auto">
            <a:xfrm>
              <a:off x="2841" y="2122"/>
              <a:ext cx="0" cy="377"/>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 name="Line 11">
              <a:extLst>
                <a:ext uri="{FF2B5EF4-FFF2-40B4-BE49-F238E27FC236}">
                  <a16:creationId xmlns:a16="http://schemas.microsoft.com/office/drawing/2014/main" id="{DF1C2096-AAF7-47B2-D825-FFB8539E27FF}"/>
                </a:ext>
              </a:extLst>
            </p:cNvPr>
            <p:cNvSpPr>
              <a:spLocks noChangeShapeType="1"/>
            </p:cNvSpPr>
            <p:nvPr/>
          </p:nvSpPr>
          <p:spPr bwMode="auto">
            <a:xfrm>
              <a:off x="2841" y="2311"/>
              <a:ext cx="208" cy="194"/>
            </a:xfrm>
            <a:prstGeom prst="line">
              <a:avLst/>
            </a:prstGeom>
            <a:noFill/>
            <a:ln w="38100">
              <a:solidFill>
                <a:srgbClr val="CC3300"/>
              </a:solidFill>
              <a:round/>
              <a:headEnd type="none" w="sm" len="sm"/>
              <a:tailEnd type="triangl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 name="Line 12">
              <a:extLst>
                <a:ext uri="{FF2B5EF4-FFF2-40B4-BE49-F238E27FC236}">
                  <a16:creationId xmlns:a16="http://schemas.microsoft.com/office/drawing/2014/main" id="{6DFE8022-50EC-FEA3-9C2E-3E8E8A95F6D2}"/>
                </a:ext>
              </a:extLst>
            </p:cNvPr>
            <p:cNvSpPr>
              <a:spLocks noChangeShapeType="1"/>
            </p:cNvSpPr>
            <p:nvPr/>
          </p:nvSpPr>
          <p:spPr bwMode="auto">
            <a:xfrm flipH="1">
              <a:off x="3046" y="1008"/>
              <a:ext cx="0" cy="1139"/>
            </a:xfrm>
            <a:prstGeom prst="line">
              <a:avLst/>
            </a:prstGeom>
            <a:noFill/>
            <a:ln w="38100">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6" name="Line 13">
              <a:extLst>
                <a:ext uri="{FF2B5EF4-FFF2-40B4-BE49-F238E27FC236}">
                  <a16:creationId xmlns:a16="http://schemas.microsoft.com/office/drawing/2014/main" id="{E15E738D-56B0-0A8A-C303-FF31BCDEB38B}"/>
                </a:ext>
              </a:extLst>
            </p:cNvPr>
            <p:cNvSpPr>
              <a:spLocks noChangeShapeType="1"/>
            </p:cNvSpPr>
            <p:nvPr/>
          </p:nvSpPr>
          <p:spPr bwMode="auto">
            <a:xfrm>
              <a:off x="3036" y="2493"/>
              <a:ext cx="0" cy="889"/>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7" name="Line 14">
              <a:extLst>
                <a:ext uri="{FF2B5EF4-FFF2-40B4-BE49-F238E27FC236}">
                  <a16:creationId xmlns:a16="http://schemas.microsoft.com/office/drawing/2014/main" id="{8E81D828-1EDA-7B0E-53FD-4A356B8B91DF}"/>
                </a:ext>
              </a:extLst>
            </p:cNvPr>
            <p:cNvSpPr>
              <a:spLocks noChangeShapeType="1"/>
            </p:cNvSpPr>
            <p:nvPr/>
          </p:nvSpPr>
          <p:spPr bwMode="auto">
            <a:xfrm>
              <a:off x="1480" y="3200"/>
              <a:ext cx="2516"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8" name="Text Box 15">
              <a:extLst>
                <a:ext uri="{FF2B5EF4-FFF2-40B4-BE49-F238E27FC236}">
                  <a16:creationId xmlns:a16="http://schemas.microsoft.com/office/drawing/2014/main" id="{FBC19372-81C9-D3E2-4B99-50C28562D64D}"/>
                </a:ext>
              </a:extLst>
            </p:cNvPr>
            <p:cNvSpPr txBox="1">
              <a:spLocks noChangeArrowheads="1"/>
            </p:cNvSpPr>
            <p:nvPr/>
          </p:nvSpPr>
          <p:spPr bwMode="auto">
            <a:xfrm>
              <a:off x="3522" y="843"/>
              <a:ext cx="6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+Vcc</a:t>
              </a:r>
            </a:p>
          </p:txBody>
        </p:sp>
        <p:sp>
          <p:nvSpPr>
            <p:cNvPr id="19" name="Rectangle 16">
              <a:extLst>
                <a:ext uri="{FF2B5EF4-FFF2-40B4-BE49-F238E27FC236}">
                  <a16:creationId xmlns:a16="http://schemas.microsoft.com/office/drawing/2014/main" id="{D9759519-406D-77CB-4E1C-5CF7D72BD092}"/>
                </a:ext>
              </a:extLst>
            </p:cNvPr>
            <p:cNvSpPr>
              <a:spLocks noChangeArrowheads="1"/>
            </p:cNvSpPr>
            <p:nvPr/>
          </p:nvSpPr>
          <p:spPr bwMode="auto">
            <a:xfrm>
              <a:off x="2979" y="1293"/>
              <a:ext cx="138" cy="427"/>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Oval 17">
              <a:extLst>
                <a:ext uri="{FF2B5EF4-FFF2-40B4-BE49-F238E27FC236}">
                  <a16:creationId xmlns:a16="http://schemas.microsoft.com/office/drawing/2014/main" id="{C2CBBE8C-FC83-FA8F-63FF-2955FE4CA5D6}"/>
                </a:ext>
              </a:extLst>
            </p:cNvPr>
            <p:cNvSpPr>
              <a:spLocks noChangeArrowheads="1"/>
            </p:cNvSpPr>
            <p:nvPr/>
          </p:nvSpPr>
          <p:spPr bwMode="auto">
            <a:xfrm>
              <a:off x="3376" y="960"/>
              <a:ext cx="101" cy="10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Oval 18">
              <a:extLst>
                <a:ext uri="{FF2B5EF4-FFF2-40B4-BE49-F238E27FC236}">
                  <a16:creationId xmlns:a16="http://schemas.microsoft.com/office/drawing/2014/main" id="{4FCAE906-7E16-6440-FF62-A459D8D1493A}"/>
                </a:ext>
              </a:extLst>
            </p:cNvPr>
            <p:cNvSpPr>
              <a:spLocks noChangeArrowheads="1"/>
            </p:cNvSpPr>
            <p:nvPr/>
          </p:nvSpPr>
          <p:spPr bwMode="auto">
            <a:xfrm>
              <a:off x="1375" y="2240"/>
              <a:ext cx="101" cy="10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Oval 19">
              <a:extLst>
                <a:ext uri="{FF2B5EF4-FFF2-40B4-BE49-F238E27FC236}">
                  <a16:creationId xmlns:a16="http://schemas.microsoft.com/office/drawing/2014/main" id="{59C153D9-EF09-673E-80CF-93E79A15AA6F}"/>
                </a:ext>
              </a:extLst>
            </p:cNvPr>
            <p:cNvSpPr>
              <a:spLocks noChangeArrowheads="1"/>
            </p:cNvSpPr>
            <p:nvPr/>
          </p:nvSpPr>
          <p:spPr bwMode="auto">
            <a:xfrm>
              <a:off x="1382" y="3147"/>
              <a:ext cx="100" cy="10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3" name="Group 20">
              <a:extLst>
                <a:ext uri="{FF2B5EF4-FFF2-40B4-BE49-F238E27FC236}">
                  <a16:creationId xmlns:a16="http://schemas.microsoft.com/office/drawing/2014/main" id="{3412E438-3D77-BBE0-D00B-3640590A3D63}"/>
                </a:ext>
              </a:extLst>
            </p:cNvPr>
            <p:cNvGrpSpPr>
              <a:grpSpLocks/>
            </p:cNvGrpSpPr>
            <p:nvPr/>
          </p:nvGrpSpPr>
          <p:grpSpPr bwMode="auto">
            <a:xfrm>
              <a:off x="1733" y="2120"/>
              <a:ext cx="100" cy="343"/>
              <a:chOff x="3454" y="2018"/>
              <a:chExt cx="96" cy="328"/>
            </a:xfrm>
          </p:grpSpPr>
          <p:sp>
            <p:nvSpPr>
              <p:cNvPr id="49" name="Line 21">
                <a:extLst>
                  <a:ext uri="{FF2B5EF4-FFF2-40B4-BE49-F238E27FC236}">
                    <a16:creationId xmlns:a16="http://schemas.microsoft.com/office/drawing/2014/main" id="{BDAC1E27-0CBF-E2AF-A6F9-3CAEB13B920B}"/>
                  </a:ext>
                </a:extLst>
              </p:cNvPr>
              <p:cNvSpPr>
                <a:spLocks noChangeShapeType="1"/>
              </p:cNvSpPr>
              <p:nvPr/>
            </p:nvSpPr>
            <p:spPr bwMode="auto">
              <a:xfrm>
                <a:off x="3454"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50" name="Line 22">
                <a:extLst>
                  <a:ext uri="{FF2B5EF4-FFF2-40B4-BE49-F238E27FC236}">
                    <a16:creationId xmlns:a16="http://schemas.microsoft.com/office/drawing/2014/main" id="{E02774D2-DE14-A938-964B-6F2858BE8D94}"/>
                  </a:ext>
                </a:extLst>
              </p:cNvPr>
              <p:cNvSpPr>
                <a:spLocks noChangeShapeType="1"/>
              </p:cNvSpPr>
              <p:nvPr/>
            </p:nvSpPr>
            <p:spPr bwMode="auto">
              <a:xfrm>
                <a:off x="3550"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24" name="Line 23">
              <a:extLst>
                <a:ext uri="{FF2B5EF4-FFF2-40B4-BE49-F238E27FC236}">
                  <a16:creationId xmlns:a16="http://schemas.microsoft.com/office/drawing/2014/main" id="{81FF4AED-A7BD-A5F3-58B4-DE49A7116C43}"/>
                </a:ext>
              </a:extLst>
            </p:cNvPr>
            <p:cNvSpPr>
              <a:spLocks noChangeShapeType="1"/>
            </p:cNvSpPr>
            <p:nvPr/>
          </p:nvSpPr>
          <p:spPr bwMode="auto">
            <a:xfrm>
              <a:off x="1485" y="2287"/>
              <a:ext cx="24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5" name="Oval 24">
              <a:extLst>
                <a:ext uri="{FF2B5EF4-FFF2-40B4-BE49-F238E27FC236}">
                  <a16:creationId xmlns:a16="http://schemas.microsoft.com/office/drawing/2014/main" id="{60BB8A2A-AF55-3896-6F0A-6E459A137FB1}"/>
                </a:ext>
              </a:extLst>
            </p:cNvPr>
            <p:cNvSpPr>
              <a:spLocks noChangeArrowheads="1"/>
            </p:cNvSpPr>
            <p:nvPr/>
          </p:nvSpPr>
          <p:spPr bwMode="auto">
            <a:xfrm flipH="1">
              <a:off x="3996" y="1925"/>
              <a:ext cx="101" cy="10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6" name="Group 25">
              <a:extLst>
                <a:ext uri="{FF2B5EF4-FFF2-40B4-BE49-F238E27FC236}">
                  <a16:creationId xmlns:a16="http://schemas.microsoft.com/office/drawing/2014/main" id="{81DC662A-E835-149C-CAF0-55DDE5C3DD69}"/>
                </a:ext>
              </a:extLst>
            </p:cNvPr>
            <p:cNvGrpSpPr>
              <a:grpSpLocks/>
            </p:cNvGrpSpPr>
            <p:nvPr/>
          </p:nvGrpSpPr>
          <p:grpSpPr bwMode="auto">
            <a:xfrm flipH="1">
              <a:off x="3422" y="1821"/>
              <a:ext cx="101" cy="343"/>
              <a:chOff x="3454" y="2018"/>
              <a:chExt cx="96" cy="328"/>
            </a:xfrm>
          </p:grpSpPr>
          <p:sp>
            <p:nvSpPr>
              <p:cNvPr id="47" name="Line 26">
                <a:extLst>
                  <a:ext uri="{FF2B5EF4-FFF2-40B4-BE49-F238E27FC236}">
                    <a16:creationId xmlns:a16="http://schemas.microsoft.com/office/drawing/2014/main" id="{79AD29F2-A83B-6E87-8E05-98C42639ABEC}"/>
                  </a:ext>
                </a:extLst>
              </p:cNvPr>
              <p:cNvSpPr>
                <a:spLocks noChangeShapeType="1"/>
              </p:cNvSpPr>
              <p:nvPr/>
            </p:nvSpPr>
            <p:spPr bwMode="auto">
              <a:xfrm>
                <a:off x="3454"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48" name="Line 27">
                <a:extLst>
                  <a:ext uri="{FF2B5EF4-FFF2-40B4-BE49-F238E27FC236}">
                    <a16:creationId xmlns:a16="http://schemas.microsoft.com/office/drawing/2014/main" id="{0B323D5D-FAD7-AB70-EE87-B0C500B77C83}"/>
                  </a:ext>
                </a:extLst>
              </p:cNvPr>
              <p:cNvSpPr>
                <a:spLocks noChangeShapeType="1"/>
              </p:cNvSpPr>
              <p:nvPr/>
            </p:nvSpPr>
            <p:spPr bwMode="auto">
              <a:xfrm>
                <a:off x="3550"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27" name="Line 28">
              <a:extLst>
                <a:ext uri="{FF2B5EF4-FFF2-40B4-BE49-F238E27FC236}">
                  <a16:creationId xmlns:a16="http://schemas.microsoft.com/office/drawing/2014/main" id="{C949CCAD-8923-1C7D-C393-191218B8FA0C}"/>
                </a:ext>
              </a:extLst>
            </p:cNvPr>
            <p:cNvSpPr>
              <a:spLocks noChangeShapeType="1"/>
            </p:cNvSpPr>
            <p:nvPr/>
          </p:nvSpPr>
          <p:spPr bwMode="auto">
            <a:xfrm flipH="1">
              <a:off x="3518" y="1985"/>
              <a:ext cx="47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8" name="Line 29">
              <a:extLst>
                <a:ext uri="{FF2B5EF4-FFF2-40B4-BE49-F238E27FC236}">
                  <a16:creationId xmlns:a16="http://schemas.microsoft.com/office/drawing/2014/main" id="{FCCC4E42-F927-E08C-31CD-3786FE4B5168}"/>
                </a:ext>
              </a:extLst>
            </p:cNvPr>
            <p:cNvSpPr>
              <a:spLocks noChangeShapeType="1"/>
            </p:cNvSpPr>
            <p:nvPr/>
          </p:nvSpPr>
          <p:spPr bwMode="auto">
            <a:xfrm>
              <a:off x="3046" y="1983"/>
              <a:ext cx="364" cy="0"/>
            </a:xfrm>
            <a:prstGeom prst="line">
              <a:avLst/>
            </a:prstGeom>
            <a:noFill/>
            <a:ln w="38100">
              <a:solidFill>
                <a:schemeClr val="tx1"/>
              </a:solidFill>
              <a:round/>
              <a:headEnd type="oval"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9" name="Oval 30">
              <a:extLst>
                <a:ext uri="{FF2B5EF4-FFF2-40B4-BE49-F238E27FC236}">
                  <a16:creationId xmlns:a16="http://schemas.microsoft.com/office/drawing/2014/main" id="{6399A445-8519-0F03-C4C1-EA48C46A4919}"/>
                </a:ext>
              </a:extLst>
            </p:cNvPr>
            <p:cNvSpPr>
              <a:spLocks noChangeArrowheads="1"/>
            </p:cNvSpPr>
            <p:nvPr/>
          </p:nvSpPr>
          <p:spPr bwMode="auto">
            <a:xfrm flipH="1">
              <a:off x="3996" y="3147"/>
              <a:ext cx="101" cy="10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Text Box 31">
              <a:extLst>
                <a:ext uri="{FF2B5EF4-FFF2-40B4-BE49-F238E27FC236}">
                  <a16:creationId xmlns:a16="http://schemas.microsoft.com/office/drawing/2014/main" id="{FA9BC0CB-61F8-ECE1-225B-7FD04191457B}"/>
                </a:ext>
              </a:extLst>
            </p:cNvPr>
            <p:cNvSpPr txBox="1">
              <a:spLocks noChangeArrowheads="1"/>
            </p:cNvSpPr>
            <p:nvPr/>
          </p:nvSpPr>
          <p:spPr bwMode="auto">
            <a:xfrm>
              <a:off x="2532" y="1323"/>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Rc</a:t>
              </a:r>
            </a:p>
          </p:txBody>
        </p:sp>
        <p:sp>
          <p:nvSpPr>
            <p:cNvPr id="31" name="Text Box 32">
              <a:extLst>
                <a:ext uri="{FF2B5EF4-FFF2-40B4-BE49-F238E27FC236}">
                  <a16:creationId xmlns:a16="http://schemas.microsoft.com/office/drawing/2014/main" id="{B55EAEB2-A463-F0AC-384F-DA78575328E7}"/>
                </a:ext>
              </a:extLst>
            </p:cNvPr>
            <p:cNvSpPr txBox="1">
              <a:spLocks noChangeArrowheads="1"/>
            </p:cNvSpPr>
            <p:nvPr/>
          </p:nvSpPr>
          <p:spPr bwMode="auto">
            <a:xfrm>
              <a:off x="1600" y="1781"/>
              <a:ext cx="3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C</a:t>
              </a:r>
              <a:r>
                <a:rPr kumimoji="1" lang="en-US" altLang="zh-CN" sz="2000">
                  <a:latin typeface="Times New Roman" panose="02020603050405020304" pitchFamily="18" charset="0"/>
                  <a:ea typeface="楷体_GB2312" pitchFamily="49" charset="-122"/>
                </a:rPr>
                <a:t>1</a:t>
              </a:r>
            </a:p>
          </p:txBody>
        </p:sp>
        <p:sp>
          <p:nvSpPr>
            <p:cNvPr id="32" name="Text Box 33">
              <a:extLst>
                <a:ext uri="{FF2B5EF4-FFF2-40B4-BE49-F238E27FC236}">
                  <a16:creationId xmlns:a16="http://schemas.microsoft.com/office/drawing/2014/main" id="{BA7599A1-E5E5-7EBB-C09D-6FE9405E69ED}"/>
                </a:ext>
              </a:extLst>
            </p:cNvPr>
            <p:cNvSpPr txBox="1">
              <a:spLocks noChangeArrowheads="1"/>
            </p:cNvSpPr>
            <p:nvPr/>
          </p:nvSpPr>
          <p:spPr bwMode="auto">
            <a:xfrm>
              <a:off x="3293" y="1463"/>
              <a:ext cx="3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C</a:t>
              </a:r>
              <a:r>
                <a:rPr kumimoji="1" lang="en-US" altLang="zh-CN" sz="2000">
                  <a:latin typeface="Times New Roman" panose="02020603050405020304" pitchFamily="18" charset="0"/>
                  <a:ea typeface="楷体_GB2312" pitchFamily="49" charset="-122"/>
                </a:rPr>
                <a:t>2</a:t>
              </a:r>
            </a:p>
          </p:txBody>
        </p:sp>
        <p:sp>
          <p:nvSpPr>
            <p:cNvPr id="33" name="Text Box 34">
              <a:extLst>
                <a:ext uri="{FF2B5EF4-FFF2-40B4-BE49-F238E27FC236}">
                  <a16:creationId xmlns:a16="http://schemas.microsoft.com/office/drawing/2014/main" id="{CB288B67-5727-0512-AEDF-2F42C954FAAA}"/>
                </a:ext>
              </a:extLst>
            </p:cNvPr>
            <p:cNvSpPr txBox="1">
              <a:spLocks noChangeArrowheads="1"/>
            </p:cNvSpPr>
            <p:nvPr/>
          </p:nvSpPr>
          <p:spPr bwMode="auto">
            <a:xfrm>
              <a:off x="2468" y="2414"/>
              <a:ext cx="2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T</a:t>
              </a:r>
            </a:p>
          </p:txBody>
        </p:sp>
        <p:sp>
          <p:nvSpPr>
            <p:cNvPr id="34" name="Line 35">
              <a:extLst>
                <a:ext uri="{FF2B5EF4-FFF2-40B4-BE49-F238E27FC236}">
                  <a16:creationId xmlns:a16="http://schemas.microsoft.com/office/drawing/2014/main" id="{5B2E6999-5566-AA18-CFF7-F7267A7DB376}"/>
                </a:ext>
              </a:extLst>
            </p:cNvPr>
            <p:cNvSpPr>
              <a:spLocks noChangeShapeType="1"/>
            </p:cNvSpPr>
            <p:nvPr/>
          </p:nvSpPr>
          <p:spPr bwMode="auto">
            <a:xfrm>
              <a:off x="3036" y="3210"/>
              <a:ext cx="0" cy="21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5" name="Line 36">
              <a:extLst>
                <a:ext uri="{FF2B5EF4-FFF2-40B4-BE49-F238E27FC236}">
                  <a16:creationId xmlns:a16="http://schemas.microsoft.com/office/drawing/2014/main" id="{1383E5E7-8E6E-B178-949A-04DBF15500B1}"/>
                </a:ext>
              </a:extLst>
            </p:cNvPr>
            <p:cNvSpPr>
              <a:spLocks noChangeShapeType="1"/>
            </p:cNvSpPr>
            <p:nvPr/>
          </p:nvSpPr>
          <p:spPr bwMode="auto">
            <a:xfrm flipV="1">
              <a:off x="2925" y="3430"/>
              <a:ext cx="2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6" name="Oval 37">
              <a:extLst>
                <a:ext uri="{FF2B5EF4-FFF2-40B4-BE49-F238E27FC236}">
                  <a16:creationId xmlns:a16="http://schemas.microsoft.com/office/drawing/2014/main" id="{D2C648D2-D377-883A-19FC-8E843573A221}"/>
                </a:ext>
              </a:extLst>
            </p:cNvPr>
            <p:cNvSpPr>
              <a:spLocks noChangeArrowheads="1"/>
            </p:cNvSpPr>
            <p:nvPr/>
          </p:nvSpPr>
          <p:spPr bwMode="auto">
            <a:xfrm>
              <a:off x="3011" y="3172"/>
              <a:ext cx="49" cy="51"/>
            </a:xfrm>
            <a:prstGeom prst="ellipse">
              <a:avLst/>
            </a:prstGeom>
            <a:solidFill>
              <a:schemeClr val="tx1"/>
            </a:solidFill>
            <a:ln w="38100">
              <a:solidFill>
                <a:schemeClr val="tx1"/>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7" name="Text Box 38">
              <a:extLst>
                <a:ext uri="{FF2B5EF4-FFF2-40B4-BE49-F238E27FC236}">
                  <a16:creationId xmlns:a16="http://schemas.microsoft.com/office/drawing/2014/main" id="{D4F14A54-6117-899D-7407-4DA9F966083E}"/>
                </a:ext>
              </a:extLst>
            </p:cNvPr>
            <p:cNvSpPr txBox="1">
              <a:spLocks noChangeArrowheads="1"/>
            </p:cNvSpPr>
            <p:nvPr/>
          </p:nvSpPr>
          <p:spPr bwMode="auto">
            <a:xfrm>
              <a:off x="1280" y="2338"/>
              <a:ext cx="44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a:latin typeface="Times New Roman" panose="02020603050405020304" pitchFamily="18" charset="0"/>
                  <a:ea typeface="楷体_GB2312" pitchFamily="49" charset="-122"/>
                </a:rPr>
                <a:t>+</a:t>
              </a:r>
            </a:p>
          </p:txBody>
        </p:sp>
        <p:sp>
          <p:nvSpPr>
            <p:cNvPr id="38" name="Text Box 39">
              <a:extLst>
                <a:ext uri="{FF2B5EF4-FFF2-40B4-BE49-F238E27FC236}">
                  <a16:creationId xmlns:a16="http://schemas.microsoft.com/office/drawing/2014/main" id="{C167F4C6-ECA0-F088-2DDD-5689C78E0978}"/>
                </a:ext>
              </a:extLst>
            </p:cNvPr>
            <p:cNvSpPr txBox="1">
              <a:spLocks noChangeArrowheads="1"/>
            </p:cNvSpPr>
            <p:nvPr/>
          </p:nvSpPr>
          <p:spPr bwMode="auto">
            <a:xfrm>
              <a:off x="1360" y="2802"/>
              <a:ext cx="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b="0">
                  <a:latin typeface="Times New Roman" panose="02020603050405020304" pitchFamily="18" charset="0"/>
                  <a:ea typeface="楷体_GB2312" pitchFamily="49" charset="-122"/>
                </a:rPr>
                <a:t>-</a:t>
              </a:r>
            </a:p>
          </p:txBody>
        </p:sp>
        <p:sp>
          <p:nvSpPr>
            <p:cNvPr id="39" name="Text Box 40">
              <a:extLst>
                <a:ext uri="{FF2B5EF4-FFF2-40B4-BE49-F238E27FC236}">
                  <a16:creationId xmlns:a16="http://schemas.microsoft.com/office/drawing/2014/main" id="{699C22DC-4CC8-78FF-6AFB-CB82213FCED8}"/>
                </a:ext>
              </a:extLst>
            </p:cNvPr>
            <p:cNvSpPr txBox="1">
              <a:spLocks noChangeArrowheads="1"/>
            </p:cNvSpPr>
            <p:nvPr/>
          </p:nvSpPr>
          <p:spPr bwMode="auto">
            <a:xfrm>
              <a:off x="1258" y="2576"/>
              <a:ext cx="18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i="1">
                  <a:latin typeface="Times New Roman" panose="02020603050405020304" pitchFamily="18" charset="0"/>
                  <a:ea typeface="楷体_GB2312" pitchFamily="49" charset="-122"/>
                </a:rPr>
                <a:t>v</a:t>
              </a:r>
              <a:r>
                <a:rPr kumimoji="1" lang="en-US" altLang="zh-CN" sz="3600" baseline="-5000">
                  <a:latin typeface="Times New Roman" panose="02020603050405020304" pitchFamily="18" charset="0"/>
                  <a:ea typeface="楷体_GB2312" pitchFamily="49" charset="-122"/>
                </a:rPr>
                <a:t>i</a:t>
              </a:r>
            </a:p>
          </p:txBody>
        </p:sp>
        <p:sp>
          <p:nvSpPr>
            <p:cNvPr id="40" name="Text Box 41">
              <a:extLst>
                <a:ext uri="{FF2B5EF4-FFF2-40B4-BE49-F238E27FC236}">
                  <a16:creationId xmlns:a16="http://schemas.microsoft.com/office/drawing/2014/main" id="{D00C2BE6-275D-C3D6-12EB-D9BAC392FB07}"/>
                </a:ext>
              </a:extLst>
            </p:cNvPr>
            <p:cNvSpPr txBox="1">
              <a:spLocks noChangeArrowheads="1"/>
            </p:cNvSpPr>
            <p:nvPr/>
          </p:nvSpPr>
          <p:spPr bwMode="auto">
            <a:xfrm>
              <a:off x="4082" y="2063"/>
              <a:ext cx="146"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a:latin typeface="Times New Roman" panose="02020603050405020304" pitchFamily="18" charset="0"/>
                  <a:ea typeface="楷体_GB2312" pitchFamily="49" charset="-122"/>
                </a:rPr>
                <a:t>+</a:t>
              </a:r>
            </a:p>
          </p:txBody>
        </p:sp>
        <p:sp>
          <p:nvSpPr>
            <p:cNvPr id="41" name="Text Box 42">
              <a:extLst>
                <a:ext uri="{FF2B5EF4-FFF2-40B4-BE49-F238E27FC236}">
                  <a16:creationId xmlns:a16="http://schemas.microsoft.com/office/drawing/2014/main" id="{77C7CF66-FDF0-0085-35BD-1D627F81B186}"/>
                </a:ext>
              </a:extLst>
            </p:cNvPr>
            <p:cNvSpPr txBox="1">
              <a:spLocks noChangeArrowheads="1"/>
            </p:cNvSpPr>
            <p:nvPr/>
          </p:nvSpPr>
          <p:spPr bwMode="auto">
            <a:xfrm>
              <a:off x="4092" y="2775"/>
              <a:ext cx="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b="0">
                  <a:latin typeface="Times New Roman" panose="02020603050405020304" pitchFamily="18" charset="0"/>
                  <a:ea typeface="楷体_GB2312" pitchFamily="49" charset="-122"/>
                </a:rPr>
                <a:t>-</a:t>
              </a:r>
            </a:p>
          </p:txBody>
        </p:sp>
        <p:sp>
          <p:nvSpPr>
            <p:cNvPr id="42" name="Text Box 43">
              <a:extLst>
                <a:ext uri="{FF2B5EF4-FFF2-40B4-BE49-F238E27FC236}">
                  <a16:creationId xmlns:a16="http://schemas.microsoft.com/office/drawing/2014/main" id="{6E511031-5F4C-ED75-F473-0A3A3B804061}"/>
                </a:ext>
              </a:extLst>
            </p:cNvPr>
            <p:cNvSpPr txBox="1">
              <a:spLocks noChangeArrowheads="1"/>
            </p:cNvSpPr>
            <p:nvPr/>
          </p:nvSpPr>
          <p:spPr bwMode="auto">
            <a:xfrm>
              <a:off x="4045" y="2364"/>
              <a:ext cx="22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i="1">
                  <a:latin typeface="Times New Roman" panose="02020603050405020304" pitchFamily="18" charset="0"/>
                  <a:ea typeface="楷体_GB2312" pitchFamily="49" charset="-122"/>
                </a:rPr>
                <a:t>v</a:t>
              </a:r>
              <a:r>
                <a:rPr kumimoji="1" lang="en-US" altLang="zh-CN" sz="3600" baseline="-5000">
                  <a:latin typeface="Times New Roman" panose="02020603050405020304" pitchFamily="18" charset="0"/>
                  <a:ea typeface="楷体_GB2312" pitchFamily="49" charset="-122"/>
                </a:rPr>
                <a:t>o</a:t>
              </a:r>
            </a:p>
          </p:txBody>
        </p:sp>
        <p:sp>
          <p:nvSpPr>
            <p:cNvPr id="43" name="Line 44">
              <a:extLst>
                <a:ext uri="{FF2B5EF4-FFF2-40B4-BE49-F238E27FC236}">
                  <a16:creationId xmlns:a16="http://schemas.microsoft.com/office/drawing/2014/main" id="{E1862043-B7B9-E242-8161-440089CC9772}"/>
                </a:ext>
              </a:extLst>
            </p:cNvPr>
            <p:cNvSpPr>
              <a:spLocks noChangeShapeType="1"/>
            </p:cNvSpPr>
            <p:nvPr/>
          </p:nvSpPr>
          <p:spPr bwMode="auto">
            <a:xfrm flipV="1">
              <a:off x="2841" y="2129"/>
              <a:ext cx="208" cy="169"/>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4" name="Line 45">
              <a:extLst>
                <a:ext uri="{FF2B5EF4-FFF2-40B4-BE49-F238E27FC236}">
                  <a16:creationId xmlns:a16="http://schemas.microsoft.com/office/drawing/2014/main" id="{9F344A66-A049-6299-5B18-0F7041044D42}"/>
                </a:ext>
              </a:extLst>
            </p:cNvPr>
            <p:cNvSpPr>
              <a:spLocks noChangeShapeType="1"/>
            </p:cNvSpPr>
            <p:nvPr/>
          </p:nvSpPr>
          <p:spPr bwMode="auto">
            <a:xfrm flipH="1">
              <a:off x="3864" y="1979"/>
              <a:ext cx="0" cy="122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5" name="Rectangle 46">
              <a:extLst>
                <a:ext uri="{FF2B5EF4-FFF2-40B4-BE49-F238E27FC236}">
                  <a16:creationId xmlns:a16="http://schemas.microsoft.com/office/drawing/2014/main" id="{243C56A8-34B7-925C-E1AD-04D44D6952F0}"/>
                </a:ext>
              </a:extLst>
            </p:cNvPr>
            <p:cNvSpPr>
              <a:spLocks noChangeArrowheads="1"/>
            </p:cNvSpPr>
            <p:nvPr/>
          </p:nvSpPr>
          <p:spPr bwMode="auto">
            <a:xfrm>
              <a:off x="3794" y="2323"/>
              <a:ext cx="138" cy="427"/>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6" name="Text Box 47">
              <a:extLst>
                <a:ext uri="{FF2B5EF4-FFF2-40B4-BE49-F238E27FC236}">
                  <a16:creationId xmlns:a16="http://schemas.microsoft.com/office/drawing/2014/main" id="{0CA975A0-A279-BE4A-8CA9-E1B4C2D1F510}"/>
                </a:ext>
              </a:extLst>
            </p:cNvPr>
            <p:cNvSpPr txBox="1">
              <a:spLocks noChangeArrowheads="1"/>
            </p:cNvSpPr>
            <p:nvPr/>
          </p:nvSpPr>
          <p:spPr bwMode="auto">
            <a:xfrm>
              <a:off x="3340" y="2315"/>
              <a:ext cx="3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1800">
                  <a:latin typeface="Times New Roman" panose="02020603050405020304" pitchFamily="18" charset="0"/>
                  <a:ea typeface="楷体_GB2312" pitchFamily="49" charset="-122"/>
                </a:rPr>
                <a:t>L</a:t>
              </a:r>
            </a:p>
          </p:txBody>
        </p:sp>
      </p:grpSp>
      <p:sp>
        <p:nvSpPr>
          <p:cNvPr id="51" name="Text Box 48">
            <a:extLst>
              <a:ext uri="{FF2B5EF4-FFF2-40B4-BE49-F238E27FC236}">
                <a16:creationId xmlns:a16="http://schemas.microsoft.com/office/drawing/2014/main" id="{8CEEA752-086D-8585-4E30-D30CEDF9AAFE}"/>
              </a:ext>
            </a:extLst>
          </p:cNvPr>
          <p:cNvSpPr txBox="1">
            <a:spLocks noChangeArrowheads="1"/>
          </p:cNvSpPr>
          <p:nvPr/>
        </p:nvSpPr>
        <p:spPr bwMode="auto">
          <a:xfrm>
            <a:off x="3276600" y="5891213"/>
            <a:ext cx="455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latin typeface="Times New Roman" panose="02020603050405020304" pitchFamily="18" charset="0"/>
              </a:rPr>
              <a:t>C</a:t>
            </a:r>
            <a:r>
              <a:rPr lang="en-US" altLang="zh-CN" sz="1600" b="0">
                <a:latin typeface="Times New Roman" panose="02020603050405020304" pitchFamily="18" charset="0"/>
              </a:rPr>
              <a:t>1</a:t>
            </a:r>
          </a:p>
        </p:txBody>
      </p:sp>
      <p:sp>
        <p:nvSpPr>
          <p:cNvPr id="52" name="Text Box 49">
            <a:extLst>
              <a:ext uri="{FF2B5EF4-FFF2-40B4-BE49-F238E27FC236}">
                <a16:creationId xmlns:a16="http://schemas.microsoft.com/office/drawing/2014/main" id="{BAEBC520-B34C-AC51-4B46-3679780AC20F}"/>
              </a:ext>
            </a:extLst>
          </p:cNvPr>
          <p:cNvSpPr txBox="1">
            <a:spLocks noChangeArrowheads="1"/>
          </p:cNvSpPr>
          <p:nvPr/>
        </p:nvSpPr>
        <p:spPr bwMode="auto">
          <a:xfrm>
            <a:off x="6410325" y="5891213"/>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latin typeface="Times New Roman" panose="02020603050405020304" pitchFamily="18" charset="0"/>
              </a:rPr>
              <a:t>Rc</a:t>
            </a:r>
          </a:p>
        </p:txBody>
      </p:sp>
      <p:sp>
        <p:nvSpPr>
          <p:cNvPr id="53" name="Text Box 50">
            <a:extLst>
              <a:ext uri="{FF2B5EF4-FFF2-40B4-BE49-F238E27FC236}">
                <a16:creationId xmlns:a16="http://schemas.microsoft.com/office/drawing/2014/main" id="{D06077D3-19B3-53D2-AB67-38D7C0B2B069}"/>
              </a:ext>
            </a:extLst>
          </p:cNvPr>
          <p:cNvSpPr txBox="1">
            <a:spLocks noChangeArrowheads="1"/>
          </p:cNvSpPr>
          <p:nvPr/>
        </p:nvSpPr>
        <p:spPr bwMode="auto">
          <a:xfrm>
            <a:off x="7573963" y="5891213"/>
            <a:ext cx="455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latin typeface="Times New Roman" panose="02020603050405020304" pitchFamily="18" charset="0"/>
              </a:rPr>
              <a:t>C</a:t>
            </a:r>
            <a:r>
              <a:rPr lang="en-US" altLang="zh-CN" sz="1600" b="0">
                <a:latin typeface="Times New Roman" panose="02020603050405020304" pitchFamily="18" charset="0"/>
              </a:rPr>
              <a:t>2</a:t>
            </a:r>
          </a:p>
        </p:txBody>
      </p:sp>
      <p:sp>
        <p:nvSpPr>
          <p:cNvPr id="54" name="Line 52">
            <a:extLst>
              <a:ext uri="{FF2B5EF4-FFF2-40B4-BE49-F238E27FC236}">
                <a16:creationId xmlns:a16="http://schemas.microsoft.com/office/drawing/2014/main" id="{AB1D59AD-B700-7A1F-7C3D-371A1709EFCE}"/>
              </a:ext>
            </a:extLst>
          </p:cNvPr>
          <p:cNvSpPr>
            <a:spLocks noChangeShapeType="1"/>
          </p:cNvSpPr>
          <p:nvPr/>
        </p:nvSpPr>
        <p:spPr bwMode="auto">
          <a:xfrm>
            <a:off x="3852863" y="6107113"/>
            <a:ext cx="23764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Rectangle 53">
            <a:extLst>
              <a:ext uri="{FF2B5EF4-FFF2-40B4-BE49-F238E27FC236}">
                <a16:creationId xmlns:a16="http://schemas.microsoft.com/office/drawing/2014/main" id="{A654D956-E52C-B559-96D5-C6899A7E8BFA}"/>
              </a:ext>
            </a:extLst>
          </p:cNvPr>
          <p:cNvSpPr>
            <a:spLocks noChangeArrowheads="1"/>
          </p:cNvSpPr>
          <p:nvPr/>
        </p:nvSpPr>
        <p:spPr bwMode="auto">
          <a:xfrm>
            <a:off x="323850" y="5516563"/>
            <a:ext cx="2684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dirty="0">
                <a:latin typeface="+mj-ea"/>
                <a:ea typeface="+mj-ea"/>
              </a:rPr>
              <a:t>信号传递过程：</a:t>
            </a:r>
          </a:p>
        </p:txBody>
      </p:sp>
      <p:grpSp>
        <p:nvGrpSpPr>
          <p:cNvPr id="56" name="Group 54">
            <a:extLst>
              <a:ext uri="{FF2B5EF4-FFF2-40B4-BE49-F238E27FC236}">
                <a16:creationId xmlns:a16="http://schemas.microsoft.com/office/drawing/2014/main" id="{804926F4-61EC-B9D3-4140-01AAD5A21A42}"/>
              </a:ext>
            </a:extLst>
          </p:cNvPr>
          <p:cNvGrpSpPr>
            <a:grpSpLocks/>
          </p:cNvGrpSpPr>
          <p:nvPr/>
        </p:nvGrpSpPr>
        <p:grpSpPr bwMode="auto">
          <a:xfrm>
            <a:off x="695325" y="3357563"/>
            <a:ext cx="1014413" cy="1141412"/>
            <a:chOff x="1135" y="2530"/>
            <a:chExt cx="639" cy="719"/>
          </a:xfrm>
        </p:grpSpPr>
        <p:grpSp>
          <p:nvGrpSpPr>
            <p:cNvPr id="57" name="Group 55">
              <a:extLst>
                <a:ext uri="{FF2B5EF4-FFF2-40B4-BE49-F238E27FC236}">
                  <a16:creationId xmlns:a16="http://schemas.microsoft.com/office/drawing/2014/main" id="{4BFDD897-A78F-E532-A8D4-1EF8ED0F9DE2}"/>
                </a:ext>
              </a:extLst>
            </p:cNvPr>
            <p:cNvGrpSpPr>
              <a:grpSpLocks/>
            </p:cNvGrpSpPr>
            <p:nvPr/>
          </p:nvGrpSpPr>
          <p:grpSpPr bwMode="auto">
            <a:xfrm>
              <a:off x="1309" y="3091"/>
              <a:ext cx="336" cy="158"/>
              <a:chOff x="1392" y="2218"/>
              <a:chExt cx="1824" cy="794"/>
            </a:xfrm>
          </p:grpSpPr>
          <p:sp>
            <p:nvSpPr>
              <p:cNvPr id="61" name="Freeform 56">
                <a:extLst>
                  <a:ext uri="{FF2B5EF4-FFF2-40B4-BE49-F238E27FC236}">
                    <a16:creationId xmlns:a16="http://schemas.microsoft.com/office/drawing/2014/main" id="{8FB9D496-672E-D045-1AB7-71BF9FF49C1C}"/>
                  </a:ext>
                </a:extLst>
              </p:cNvPr>
              <p:cNvSpPr>
                <a:spLocks/>
              </p:cNvSpPr>
              <p:nvPr/>
            </p:nvSpPr>
            <p:spPr bwMode="auto">
              <a:xfrm>
                <a:off x="1392" y="2218"/>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62" name="Freeform 57">
                <a:extLst>
                  <a:ext uri="{FF2B5EF4-FFF2-40B4-BE49-F238E27FC236}">
                    <a16:creationId xmlns:a16="http://schemas.microsoft.com/office/drawing/2014/main" id="{1513ECFA-0E51-9374-E286-7012CF17172D}"/>
                  </a:ext>
                </a:extLst>
              </p:cNvPr>
              <p:cNvSpPr>
                <a:spLocks/>
              </p:cNvSpPr>
              <p:nvPr/>
            </p:nvSpPr>
            <p:spPr bwMode="auto">
              <a:xfrm flipV="1">
                <a:off x="2304" y="2614"/>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pSp>
        <p:sp>
          <p:nvSpPr>
            <p:cNvPr id="58" name="Line 58">
              <a:extLst>
                <a:ext uri="{FF2B5EF4-FFF2-40B4-BE49-F238E27FC236}">
                  <a16:creationId xmlns:a16="http://schemas.microsoft.com/office/drawing/2014/main" id="{5EDCE309-B871-4158-FDA3-6ABEE0D26890}"/>
                </a:ext>
              </a:extLst>
            </p:cNvPr>
            <p:cNvSpPr>
              <a:spLocks noChangeShapeType="1"/>
            </p:cNvSpPr>
            <p:nvPr/>
          </p:nvSpPr>
          <p:spPr bwMode="auto">
            <a:xfrm rot="-5400000">
              <a:off x="1540" y="2936"/>
              <a:ext cx="0" cy="468"/>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59" name="Line 59">
              <a:extLst>
                <a:ext uri="{FF2B5EF4-FFF2-40B4-BE49-F238E27FC236}">
                  <a16:creationId xmlns:a16="http://schemas.microsoft.com/office/drawing/2014/main" id="{88A43234-DA4E-7EF0-385F-6B075E6D1A9B}"/>
                </a:ext>
              </a:extLst>
            </p:cNvPr>
            <p:cNvSpPr>
              <a:spLocks noChangeShapeType="1"/>
            </p:cNvSpPr>
            <p:nvPr/>
          </p:nvSpPr>
          <p:spPr bwMode="auto">
            <a:xfrm rot="-5400000">
              <a:off x="1144" y="3068"/>
              <a:ext cx="3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60" name="Text Box 60">
              <a:extLst>
                <a:ext uri="{FF2B5EF4-FFF2-40B4-BE49-F238E27FC236}">
                  <a16:creationId xmlns:a16="http://schemas.microsoft.com/office/drawing/2014/main" id="{A21BFAB8-A604-4A5D-ADF7-D50BCD0A20BD}"/>
                </a:ext>
              </a:extLst>
            </p:cNvPr>
            <p:cNvSpPr txBox="1">
              <a:spLocks noChangeArrowheads="1"/>
            </p:cNvSpPr>
            <p:nvPr/>
          </p:nvSpPr>
          <p:spPr bwMode="auto">
            <a:xfrm>
              <a:off x="1135" y="2530"/>
              <a:ext cx="27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solidFill>
                    <a:srgbClr val="FF3300"/>
                  </a:solidFill>
                  <a:latin typeface="Times New Roman" panose="02020603050405020304" pitchFamily="18" charset="0"/>
                  <a:ea typeface="楷体_GB2312" pitchFamily="49" charset="-122"/>
                </a:rPr>
                <a:t>v</a:t>
              </a:r>
              <a:r>
                <a:rPr kumimoji="1" lang="en-US" altLang="zh-CN" baseline="-25000">
                  <a:solidFill>
                    <a:srgbClr val="FF3300"/>
                  </a:solidFill>
                  <a:latin typeface="Times New Roman" panose="02020603050405020304" pitchFamily="18" charset="0"/>
                  <a:ea typeface="楷体_GB2312" pitchFamily="49" charset="-122"/>
                </a:rPr>
                <a:t>i</a:t>
              </a:r>
              <a:endParaRPr kumimoji="1" lang="en-US" altLang="zh-CN">
                <a:solidFill>
                  <a:srgbClr val="FF3300"/>
                </a:solidFill>
                <a:latin typeface="Times New Roman" panose="02020603050405020304" pitchFamily="18" charset="0"/>
                <a:ea typeface="楷体_GB2312" pitchFamily="49" charset="-122"/>
              </a:endParaRPr>
            </a:p>
          </p:txBody>
        </p:sp>
      </p:grpSp>
      <p:grpSp>
        <p:nvGrpSpPr>
          <p:cNvPr id="63" name="Group 61">
            <a:extLst>
              <a:ext uri="{FF2B5EF4-FFF2-40B4-BE49-F238E27FC236}">
                <a16:creationId xmlns:a16="http://schemas.microsoft.com/office/drawing/2014/main" id="{F5274300-1BDE-72E3-43E0-DDC67AD9F907}"/>
              </a:ext>
            </a:extLst>
          </p:cNvPr>
          <p:cNvGrpSpPr>
            <a:grpSpLocks/>
          </p:cNvGrpSpPr>
          <p:nvPr/>
        </p:nvGrpSpPr>
        <p:grpSpPr bwMode="auto">
          <a:xfrm>
            <a:off x="6959600" y="3455988"/>
            <a:ext cx="1284288" cy="1444625"/>
            <a:chOff x="4384" y="2249"/>
            <a:chExt cx="809" cy="910"/>
          </a:xfrm>
        </p:grpSpPr>
        <p:grpSp>
          <p:nvGrpSpPr>
            <p:cNvPr id="64" name="Group 62">
              <a:extLst>
                <a:ext uri="{FF2B5EF4-FFF2-40B4-BE49-F238E27FC236}">
                  <a16:creationId xmlns:a16="http://schemas.microsoft.com/office/drawing/2014/main" id="{0C0FA8BA-EA05-350F-58BB-CCE2806184DD}"/>
                </a:ext>
              </a:extLst>
            </p:cNvPr>
            <p:cNvGrpSpPr>
              <a:grpSpLocks/>
            </p:cNvGrpSpPr>
            <p:nvPr/>
          </p:nvGrpSpPr>
          <p:grpSpPr bwMode="auto">
            <a:xfrm flipV="1">
              <a:off x="4728" y="2540"/>
              <a:ext cx="348" cy="590"/>
              <a:chOff x="1392" y="2218"/>
              <a:chExt cx="1824" cy="794"/>
            </a:xfrm>
          </p:grpSpPr>
          <p:sp>
            <p:nvSpPr>
              <p:cNvPr id="68" name="Freeform 63">
                <a:extLst>
                  <a:ext uri="{FF2B5EF4-FFF2-40B4-BE49-F238E27FC236}">
                    <a16:creationId xmlns:a16="http://schemas.microsoft.com/office/drawing/2014/main" id="{470FD7A5-27D4-B628-E11F-AD92977D709B}"/>
                  </a:ext>
                </a:extLst>
              </p:cNvPr>
              <p:cNvSpPr>
                <a:spLocks/>
              </p:cNvSpPr>
              <p:nvPr/>
            </p:nvSpPr>
            <p:spPr bwMode="auto">
              <a:xfrm>
                <a:off x="1392" y="2218"/>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69" name="Freeform 64">
                <a:extLst>
                  <a:ext uri="{FF2B5EF4-FFF2-40B4-BE49-F238E27FC236}">
                    <a16:creationId xmlns:a16="http://schemas.microsoft.com/office/drawing/2014/main" id="{B4487858-C110-E30A-9F1E-6EB6B652B645}"/>
                  </a:ext>
                </a:extLst>
              </p:cNvPr>
              <p:cNvSpPr>
                <a:spLocks/>
              </p:cNvSpPr>
              <p:nvPr/>
            </p:nvSpPr>
            <p:spPr bwMode="auto">
              <a:xfrm flipV="1">
                <a:off x="2304" y="2614"/>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pSp>
        <p:sp>
          <p:nvSpPr>
            <p:cNvPr id="65" name="Line 65">
              <a:extLst>
                <a:ext uri="{FF2B5EF4-FFF2-40B4-BE49-F238E27FC236}">
                  <a16:creationId xmlns:a16="http://schemas.microsoft.com/office/drawing/2014/main" id="{EB62D516-B31C-7E2B-72F3-4E5955824A58}"/>
                </a:ext>
              </a:extLst>
            </p:cNvPr>
            <p:cNvSpPr>
              <a:spLocks noChangeShapeType="1"/>
            </p:cNvSpPr>
            <p:nvPr/>
          </p:nvSpPr>
          <p:spPr bwMode="auto">
            <a:xfrm rot="-5400000">
              <a:off x="4959" y="2589"/>
              <a:ext cx="0" cy="468"/>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66" name="Line 66">
              <a:extLst>
                <a:ext uri="{FF2B5EF4-FFF2-40B4-BE49-F238E27FC236}">
                  <a16:creationId xmlns:a16="http://schemas.microsoft.com/office/drawing/2014/main" id="{3A877CF8-E3AD-2C28-22C9-A2D469738640}"/>
                </a:ext>
              </a:extLst>
            </p:cNvPr>
            <p:cNvSpPr>
              <a:spLocks noChangeShapeType="1"/>
            </p:cNvSpPr>
            <p:nvPr/>
          </p:nvSpPr>
          <p:spPr bwMode="auto">
            <a:xfrm rot="5400000" flipH="1">
              <a:off x="4341" y="2775"/>
              <a:ext cx="768"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7" name="Text Box 67">
              <a:extLst>
                <a:ext uri="{FF2B5EF4-FFF2-40B4-BE49-F238E27FC236}">
                  <a16:creationId xmlns:a16="http://schemas.microsoft.com/office/drawing/2014/main" id="{CFCEA267-4236-BD14-4F50-0F829DAE2FED}"/>
                </a:ext>
              </a:extLst>
            </p:cNvPr>
            <p:cNvSpPr txBox="1">
              <a:spLocks noChangeArrowheads="1"/>
            </p:cNvSpPr>
            <p:nvPr/>
          </p:nvSpPr>
          <p:spPr bwMode="auto">
            <a:xfrm>
              <a:off x="4384" y="2249"/>
              <a:ext cx="3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solidFill>
                    <a:srgbClr val="FF3300"/>
                  </a:solidFill>
                  <a:latin typeface="Times New Roman" panose="02020603050405020304" pitchFamily="18" charset="0"/>
                  <a:ea typeface="楷体_GB2312" pitchFamily="49" charset="-122"/>
                </a:rPr>
                <a:t>v</a:t>
              </a:r>
              <a:r>
                <a:rPr kumimoji="1" lang="en-US" altLang="zh-CN" baseline="-25000">
                  <a:solidFill>
                    <a:srgbClr val="FF3300"/>
                  </a:solidFill>
                  <a:latin typeface="Times New Roman" panose="02020603050405020304" pitchFamily="18" charset="0"/>
                  <a:ea typeface="楷体_GB2312" pitchFamily="49" charset="-122"/>
                </a:rPr>
                <a:t>o</a:t>
              </a:r>
              <a:endParaRPr kumimoji="1" lang="en-US" altLang="zh-CN">
                <a:solidFill>
                  <a:srgbClr val="FF3300"/>
                </a:solidFill>
                <a:latin typeface="Times New Roman" panose="02020603050405020304" pitchFamily="18" charset="0"/>
                <a:ea typeface="楷体_GB2312" pitchFamily="49" charset="-122"/>
              </a:endParaRPr>
            </a:p>
          </p:txBody>
        </p:sp>
      </p:grpSp>
      <p:grpSp>
        <p:nvGrpSpPr>
          <p:cNvPr id="70" name="Group 68">
            <a:extLst>
              <a:ext uri="{FF2B5EF4-FFF2-40B4-BE49-F238E27FC236}">
                <a16:creationId xmlns:a16="http://schemas.microsoft.com/office/drawing/2014/main" id="{444805D7-9784-EA5C-314F-847C94ECE899}"/>
              </a:ext>
            </a:extLst>
          </p:cNvPr>
          <p:cNvGrpSpPr>
            <a:grpSpLocks/>
          </p:cNvGrpSpPr>
          <p:nvPr/>
        </p:nvGrpSpPr>
        <p:grpSpPr bwMode="auto">
          <a:xfrm>
            <a:off x="4895850" y="3481388"/>
            <a:ext cx="863600" cy="1366837"/>
            <a:chOff x="3016" y="2205"/>
            <a:chExt cx="544" cy="861"/>
          </a:xfrm>
        </p:grpSpPr>
        <p:grpSp>
          <p:nvGrpSpPr>
            <p:cNvPr id="71" name="Group 69">
              <a:extLst>
                <a:ext uri="{FF2B5EF4-FFF2-40B4-BE49-F238E27FC236}">
                  <a16:creationId xmlns:a16="http://schemas.microsoft.com/office/drawing/2014/main" id="{81E3B340-E1E4-339A-90FD-FD3FA61D38D5}"/>
                </a:ext>
              </a:extLst>
            </p:cNvPr>
            <p:cNvGrpSpPr>
              <a:grpSpLocks/>
            </p:cNvGrpSpPr>
            <p:nvPr/>
          </p:nvGrpSpPr>
          <p:grpSpPr bwMode="auto">
            <a:xfrm>
              <a:off x="3107" y="2614"/>
              <a:ext cx="375" cy="297"/>
              <a:chOff x="1392" y="2218"/>
              <a:chExt cx="1824" cy="794"/>
            </a:xfrm>
          </p:grpSpPr>
          <p:sp>
            <p:nvSpPr>
              <p:cNvPr id="76" name="Freeform 70">
                <a:extLst>
                  <a:ext uri="{FF2B5EF4-FFF2-40B4-BE49-F238E27FC236}">
                    <a16:creationId xmlns:a16="http://schemas.microsoft.com/office/drawing/2014/main" id="{DB62BB06-CEB6-16EB-9F21-6C1B6C58C848}"/>
                  </a:ext>
                </a:extLst>
              </p:cNvPr>
              <p:cNvSpPr>
                <a:spLocks/>
              </p:cNvSpPr>
              <p:nvPr/>
            </p:nvSpPr>
            <p:spPr bwMode="auto">
              <a:xfrm>
                <a:off x="1392" y="2218"/>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77" name="Freeform 71">
                <a:extLst>
                  <a:ext uri="{FF2B5EF4-FFF2-40B4-BE49-F238E27FC236}">
                    <a16:creationId xmlns:a16="http://schemas.microsoft.com/office/drawing/2014/main" id="{0A530262-CD9D-B136-9A73-2465F0D32D66}"/>
                  </a:ext>
                </a:extLst>
              </p:cNvPr>
              <p:cNvSpPr>
                <a:spLocks/>
              </p:cNvSpPr>
              <p:nvPr/>
            </p:nvSpPr>
            <p:spPr bwMode="auto">
              <a:xfrm flipV="1">
                <a:off x="2304" y="2614"/>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pSp>
        <p:sp>
          <p:nvSpPr>
            <p:cNvPr id="72" name="Line 72">
              <a:extLst>
                <a:ext uri="{FF2B5EF4-FFF2-40B4-BE49-F238E27FC236}">
                  <a16:creationId xmlns:a16="http://schemas.microsoft.com/office/drawing/2014/main" id="{373B67C5-E3AD-07FA-92AF-429E01CA5550}"/>
                </a:ext>
              </a:extLst>
            </p:cNvPr>
            <p:cNvSpPr>
              <a:spLocks noChangeShapeType="1"/>
            </p:cNvSpPr>
            <p:nvPr/>
          </p:nvSpPr>
          <p:spPr bwMode="auto">
            <a:xfrm flipV="1">
              <a:off x="3098" y="2565"/>
              <a:ext cx="0" cy="501"/>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73" name="Line 73">
              <a:extLst>
                <a:ext uri="{FF2B5EF4-FFF2-40B4-BE49-F238E27FC236}">
                  <a16:creationId xmlns:a16="http://schemas.microsoft.com/office/drawing/2014/main" id="{BFCAA78E-5FE6-FE0E-1C99-54D37B51BCFB}"/>
                </a:ext>
              </a:extLst>
            </p:cNvPr>
            <p:cNvSpPr>
              <a:spLocks noChangeShapeType="1"/>
            </p:cNvSpPr>
            <p:nvPr/>
          </p:nvSpPr>
          <p:spPr bwMode="auto">
            <a:xfrm>
              <a:off x="3107" y="3022"/>
              <a:ext cx="453"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4" name="Text Box 74">
              <a:extLst>
                <a:ext uri="{FF2B5EF4-FFF2-40B4-BE49-F238E27FC236}">
                  <a16:creationId xmlns:a16="http://schemas.microsoft.com/office/drawing/2014/main" id="{63394076-EC29-A010-DA65-0E55A8C45B11}"/>
                </a:ext>
              </a:extLst>
            </p:cNvPr>
            <p:cNvSpPr txBox="1">
              <a:spLocks noChangeArrowheads="1"/>
            </p:cNvSpPr>
            <p:nvPr/>
          </p:nvSpPr>
          <p:spPr bwMode="auto">
            <a:xfrm>
              <a:off x="3016" y="2205"/>
              <a:ext cx="30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solidFill>
                    <a:srgbClr val="FF3300"/>
                  </a:solidFill>
                  <a:latin typeface="Times New Roman" panose="02020603050405020304" pitchFamily="18" charset="0"/>
                  <a:ea typeface="楷体_GB2312" pitchFamily="49" charset="-122"/>
                </a:rPr>
                <a:t>i</a:t>
              </a:r>
              <a:r>
                <a:rPr kumimoji="1" lang="en-US" altLang="zh-CN" baseline="-25000">
                  <a:solidFill>
                    <a:srgbClr val="FF3300"/>
                  </a:solidFill>
                  <a:latin typeface="Times New Roman" panose="02020603050405020304" pitchFamily="18" charset="0"/>
                  <a:ea typeface="楷体_GB2312" pitchFamily="49" charset="-122"/>
                </a:rPr>
                <a:t>C</a:t>
              </a:r>
              <a:endParaRPr kumimoji="1" lang="en-US" altLang="zh-CN">
                <a:solidFill>
                  <a:srgbClr val="FF3300"/>
                </a:solidFill>
                <a:latin typeface="Times New Roman" panose="02020603050405020304" pitchFamily="18" charset="0"/>
                <a:ea typeface="楷体_GB2312" pitchFamily="49" charset="-122"/>
              </a:endParaRPr>
            </a:p>
          </p:txBody>
        </p:sp>
        <p:sp>
          <p:nvSpPr>
            <p:cNvPr id="75" name="Line 75">
              <a:extLst>
                <a:ext uri="{FF2B5EF4-FFF2-40B4-BE49-F238E27FC236}">
                  <a16:creationId xmlns:a16="http://schemas.microsoft.com/office/drawing/2014/main" id="{2A90B1FA-59A5-8606-44AD-F745EE37A34B}"/>
                </a:ext>
              </a:extLst>
            </p:cNvPr>
            <p:cNvSpPr>
              <a:spLocks noChangeShapeType="1"/>
            </p:cNvSpPr>
            <p:nvPr/>
          </p:nvSpPr>
          <p:spPr bwMode="auto">
            <a:xfrm>
              <a:off x="3099" y="2762"/>
              <a:ext cx="453" cy="0"/>
            </a:xfrm>
            <a:prstGeom prst="line">
              <a:avLst/>
            </a:prstGeom>
            <a:noFill/>
            <a:ln w="19050">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8" name="Group 76">
            <a:extLst>
              <a:ext uri="{FF2B5EF4-FFF2-40B4-BE49-F238E27FC236}">
                <a16:creationId xmlns:a16="http://schemas.microsoft.com/office/drawing/2014/main" id="{AE5DADED-9F66-7F2B-95D3-813E89BD8437}"/>
              </a:ext>
            </a:extLst>
          </p:cNvPr>
          <p:cNvGrpSpPr>
            <a:grpSpLocks/>
          </p:cNvGrpSpPr>
          <p:nvPr/>
        </p:nvGrpSpPr>
        <p:grpSpPr bwMode="auto">
          <a:xfrm>
            <a:off x="3627438" y="2108200"/>
            <a:ext cx="796925" cy="1262063"/>
            <a:chOff x="2285" y="1328"/>
            <a:chExt cx="502" cy="795"/>
          </a:xfrm>
        </p:grpSpPr>
        <p:grpSp>
          <p:nvGrpSpPr>
            <p:cNvPr id="79" name="Group 77">
              <a:extLst>
                <a:ext uri="{FF2B5EF4-FFF2-40B4-BE49-F238E27FC236}">
                  <a16:creationId xmlns:a16="http://schemas.microsoft.com/office/drawing/2014/main" id="{6B574B38-8FBE-AC16-A551-D8243186B992}"/>
                </a:ext>
              </a:extLst>
            </p:cNvPr>
            <p:cNvGrpSpPr>
              <a:grpSpLocks/>
            </p:cNvGrpSpPr>
            <p:nvPr/>
          </p:nvGrpSpPr>
          <p:grpSpPr bwMode="auto">
            <a:xfrm>
              <a:off x="2352" y="1746"/>
              <a:ext cx="350" cy="197"/>
              <a:chOff x="1392" y="2218"/>
              <a:chExt cx="1824" cy="794"/>
            </a:xfrm>
          </p:grpSpPr>
          <p:sp>
            <p:nvSpPr>
              <p:cNvPr id="84" name="Freeform 78">
                <a:extLst>
                  <a:ext uri="{FF2B5EF4-FFF2-40B4-BE49-F238E27FC236}">
                    <a16:creationId xmlns:a16="http://schemas.microsoft.com/office/drawing/2014/main" id="{4AB9AE4F-4599-E4BC-89F3-89184BED885A}"/>
                  </a:ext>
                </a:extLst>
              </p:cNvPr>
              <p:cNvSpPr>
                <a:spLocks/>
              </p:cNvSpPr>
              <p:nvPr/>
            </p:nvSpPr>
            <p:spPr bwMode="auto">
              <a:xfrm>
                <a:off x="1392" y="2218"/>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85" name="Freeform 79">
                <a:extLst>
                  <a:ext uri="{FF2B5EF4-FFF2-40B4-BE49-F238E27FC236}">
                    <a16:creationId xmlns:a16="http://schemas.microsoft.com/office/drawing/2014/main" id="{F5800927-F401-4084-B7BC-623FED732CE5}"/>
                  </a:ext>
                </a:extLst>
              </p:cNvPr>
              <p:cNvSpPr>
                <a:spLocks/>
              </p:cNvSpPr>
              <p:nvPr/>
            </p:nvSpPr>
            <p:spPr bwMode="auto">
              <a:xfrm flipV="1">
                <a:off x="2304" y="2614"/>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pSp>
        <p:sp>
          <p:nvSpPr>
            <p:cNvPr id="80" name="Line 80">
              <a:extLst>
                <a:ext uri="{FF2B5EF4-FFF2-40B4-BE49-F238E27FC236}">
                  <a16:creationId xmlns:a16="http://schemas.microsoft.com/office/drawing/2014/main" id="{6E4C63EF-5017-5F83-7361-C522C0582C17}"/>
                </a:ext>
              </a:extLst>
            </p:cNvPr>
            <p:cNvSpPr>
              <a:spLocks noChangeShapeType="1"/>
            </p:cNvSpPr>
            <p:nvPr/>
          </p:nvSpPr>
          <p:spPr bwMode="auto">
            <a:xfrm flipV="1">
              <a:off x="2343" y="1637"/>
              <a:ext cx="0" cy="486"/>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1" name="Line 81">
              <a:extLst>
                <a:ext uri="{FF2B5EF4-FFF2-40B4-BE49-F238E27FC236}">
                  <a16:creationId xmlns:a16="http://schemas.microsoft.com/office/drawing/2014/main" id="{5FE5B089-2D5B-6FC2-BF23-498073BCF162}"/>
                </a:ext>
              </a:extLst>
            </p:cNvPr>
            <p:cNvSpPr>
              <a:spLocks noChangeShapeType="1"/>
            </p:cNvSpPr>
            <p:nvPr/>
          </p:nvSpPr>
          <p:spPr bwMode="auto">
            <a:xfrm flipV="1">
              <a:off x="2330" y="2069"/>
              <a:ext cx="409"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2" name="Text Box 82">
              <a:extLst>
                <a:ext uri="{FF2B5EF4-FFF2-40B4-BE49-F238E27FC236}">
                  <a16:creationId xmlns:a16="http://schemas.microsoft.com/office/drawing/2014/main" id="{429327BD-37A6-6C46-2429-61E8354BFD34}"/>
                </a:ext>
              </a:extLst>
            </p:cNvPr>
            <p:cNvSpPr txBox="1">
              <a:spLocks noChangeArrowheads="1"/>
            </p:cNvSpPr>
            <p:nvPr/>
          </p:nvSpPr>
          <p:spPr bwMode="auto">
            <a:xfrm>
              <a:off x="2285" y="1328"/>
              <a:ext cx="29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solidFill>
                    <a:srgbClr val="FF3300"/>
                  </a:solidFill>
                  <a:latin typeface="Times New Roman" panose="02020603050405020304" pitchFamily="18" charset="0"/>
                  <a:ea typeface="楷体_GB2312" pitchFamily="49" charset="-122"/>
                </a:rPr>
                <a:t>i</a:t>
              </a:r>
              <a:r>
                <a:rPr kumimoji="1" lang="en-US" altLang="zh-CN" baseline="-25000">
                  <a:solidFill>
                    <a:srgbClr val="FF3300"/>
                  </a:solidFill>
                  <a:latin typeface="Times New Roman" panose="02020603050405020304" pitchFamily="18" charset="0"/>
                  <a:ea typeface="楷体_GB2312" pitchFamily="49" charset="-122"/>
                </a:rPr>
                <a:t>B</a:t>
              </a:r>
              <a:endParaRPr kumimoji="1" lang="en-US" altLang="zh-CN">
                <a:solidFill>
                  <a:srgbClr val="FF3300"/>
                </a:solidFill>
                <a:latin typeface="Times New Roman" panose="02020603050405020304" pitchFamily="18" charset="0"/>
                <a:ea typeface="楷体_GB2312" pitchFamily="49" charset="-122"/>
              </a:endParaRPr>
            </a:p>
          </p:txBody>
        </p:sp>
        <p:sp>
          <p:nvSpPr>
            <p:cNvPr id="83" name="Line 83">
              <a:extLst>
                <a:ext uri="{FF2B5EF4-FFF2-40B4-BE49-F238E27FC236}">
                  <a16:creationId xmlns:a16="http://schemas.microsoft.com/office/drawing/2014/main" id="{33CFFC05-5000-D830-294B-C2567C3B29A7}"/>
                </a:ext>
              </a:extLst>
            </p:cNvPr>
            <p:cNvSpPr>
              <a:spLocks noChangeShapeType="1"/>
            </p:cNvSpPr>
            <p:nvPr/>
          </p:nvSpPr>
          <p:spPr bwMode="auto">
            <a:xfrm>
              <a:off x="2334" y="1842"/>
              <a:ext cx="453" cy="0"/>
            </a:xfrm>
            <a:prstGeom prst="line">
              <a:avLst/>
            </a:prstGeom>
            <a:noFill/>
            <a:ln w="19050">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6" name="Group 84">
            <a:extLst>
              <a:ext uri="{FF2B5EF4-FFF2-40B4-BE49-F238E27FC236}">
                <a16:creationId xmlns:a16="http://schemas.microsoft.com/office/drawing/2014/main" id="{E08F1D18-8E79-D20B-B6F0-5029521E0274}"/>
              </a:ext>
            </a:extLst>
          </p:cNvPr>
          <p:cNvGrpSpPr>
            <a:grpSpLocks/>
          </p:cNvGrpSpPr>
          <p:nvPr/>
        </p:nvGrpSpPr>
        <p:grpSpPr bwMode="auto">
          <a:xfrm>
            <a:off x="3108325" y="3505200"/>
            <a:ext cx="900113" cy="1320800"/>
            <a:chOff x="1958" y="2244"/>
            <a:chExt cx="567" cy="832"/>
          </a:xfrm>
        </p:grpSpPr>
        <p:grpSp>
          <p:nvGrpSpPr>
            <p:cNvPr id="87" name="Group 85">
              <a:extLst>
                <a:ext uri="{FF2B5EF4-FFF2-40B4-BE49-F238E27FC236}">
                  <a16:creationId xmlns:a16="http://schemas.microsoft.com/office/drawing/2014/main" id="{D1E2EE1F-6BC9-56AD-1834-8BBBDBB285B7}"/>
                </a:ext>
              </a:extLst>
            </p:cNvPr>
            <p:cNvGrpSpPr>
              <a:grpSpLocks/>
            </p:cNvGrpSpPr>
            <p:nvPr/>
          </p:nvGrpSpPr>
          <p:grpSpPr bwMode="auto">
            <a:xfrm>
              <a:off x="2087" y="2684"/>
              <a:ext cx="350" cy="205"/>
              <a:chOff x="1392" y="2218"/>
              <a:chExt cx="1824" cy="794"/>
            </a:xfrm>
          </p:grpSpPr>
          <p:sp>
            <p:nvSpPr>
              <p:cNvPr id="92" name="Freeform 86">
                <a:extLst>
                  <a:ext uri="{FF2B5EF4-FFF2-40B4-BE49-F238E27FC236}">
                    <a16:creationId xmlns:a16="http://schemas.microsoft.com/office/drawing/2014/main" id="{FDB64D22-4BC8-9D54-12F6-FEA8C10256DA}"/>
                  </a:ext>
                </a:extLst>
              </p:cNvPr>
              <p:cNvSpPr>
                <a:spLocks/>
              </p:cNvSpPr>
              <p:nvPr/>
            </p:nvSpPr>
            <p:spPr bwMode="auto">
              <a:xfrm>
                <a:off x="1392" y="2218"/>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93" name="Freeform 87">
                <a:extLst>
                  <a:ext uri="{FF2B5EF4-FFF2-40B4-BE49-F238E27FC236}">
                    <a16:creationId xmlns:a16="http://schemas.microsoft.com/office/drawing/2014/main" id="{E27C1804-0AF6-3455-8DCA-3ECA818F68F1}"/>
                  </a:ext>
                </a:extLst>
              </p:cNvPr>
              <p:cNvSpPr>
                <a:spLocks/>
              </p:cNvSpPr>
              <p:nvPr/>
            </p:nvSpPr>
            <p:spPr bwMode="auto">
              <a:xfrm flipV="1">
                <a:off x="2304" y="2614"/>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sp>
          <p:nvSpPr>
            <p:cNvPr id="88" name="Line 88">
              <a:extLst>
                <a:ext uri="{FF2B5EF4-FFF2-40B4-BE49-F238E27FC236}">
                  <a16:creationId xmlns:a16="http://schemas.microsoft.com/office/drawing/2014/main" id="{DF3572A5-8633-C1CC-C766-9FE06732AF6C}"/>
                </a:ext>
              </a:extLst>
            </p:cNvPr>
            <p:cNvSpPr>
              <a:spLocks noChangeShapeType="1"/>
            </p:cNvSpPr>
            <p:nvPr/>
          </p:nvSpPr>
          <p:spPr bwMode="auto">
            <a:xfrm flipV="1">
              <a:off x="2078" y="2597"/>
              <a:ext cx="0" cy="479"/>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9" name="Line 89">
              <a:extLst>
                <a:ext uri="{FF2B5EF4-FFF2-40B4-BE49-F238E27FC236}">
                  <a16:creationId xmlns:a16="http://schemas.microsoft.com/office/drawing/2014/main" id="{4FD0835E-CFC0-6D76-0CD6-52813ADA094F}"/>
                </a:ext>
              </a:extLst>
            </p:cNvPr>
            <p:cNvSpPr>
              <a:spLocks noChangeShapeType="1"/>
            </p:cNvSpPr>
            <p:nvPr/>
          </p:nvSpPr>
          <p:spPr bwMode="auto">
            <a:xfrm flipV="1">
              <a:off x="2064" y="3022"/>
              <a:ext cx="453"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90" name="Text Box 90">
              <a:extLst>
                <a:ext uri="{FF2B5EF4-FFF2-40B4-BE49-F238E27FC236}">
                  <a16:creationId xmlns:a16="http://schemas.microsoft.com/office/drawing/2014/main" id="{4E3D9AF8-4039-4378-4354-C4383B8D82EC}"/>
                </a:ext>
              </a:extLst>
            </p:cNvPr>
            <p:cNvSpPr txBox="1">
              <a:spLocks noChangeArrowheads="1"/>
            </p:cNvSpPr>
            <p:nvPr/>
          </p:nvSpPr>
          <p:spPr bwMode="auto">
            <a:xfrm>
              <a:off x="1958" y="2244"/>
              <a:ext cx="4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solidFill>
                    <a:srgbClr val="FF3300"/>
                  </a:solidFill>
                  <a:latin typeface="Times New Roman" panose="02020603050405020304" pitchFamily="18" charset="0"/>
                  <a:ea typeface="楷体_GB2312" pitchFamily="49" charset="-122"/>
                </a:rPr>
                <a:t>v</a:t>
              </a:r>
              <a:r>
                <a:rPr kumimoji="1" lang="en-US" altLang="zh-CN" baseline="-25000">
                  <a:solidFill>
                    <a:srgbClr val="FF3300"/>
                  </a:solidFill>
                  <a:latin typeface="Times New Roman" panose="02020603050405020304" pitchFamily="18" charset="0"/>
                  <a:ea typeface="楷体_GB2312" pitchFamily="49" charset="-122"/>
                </a:rPr>
                <a:t>BE</a:t>
              </a:r>
              <a:endParaRPr kumimoji="1" lang="en-US" altLang="zh-CN">
                <a:solidFill>
                  <a:srgbClr val="FF3300"/>
                </a:solidFill>
                <a:latin typeface="Times New Roman" panose="02020603050405020304" pitchFamily="18" charset="0"/>
                <a:ea typeface="楷体_GB2312" pitchFamily="49" charset="-122"/>
              </a:endParaRPr>
            </a:p>
          </p:txBody>
        </p:sp>
        <p:sp>
          <p:nvSpPr>
            <p:cNvPr id="91" name="Line 91">
              <a:extLst>
                <a:ext uri="{FF2B5EF4-FFF2-40B4-BE49-F238E27FC236}">
                  <a16:creationId xmlns:a16="http://schemas.microsoft.com/office/drawing/2014/main" id="{C45A6204-F1F7-6DA1-DDC5-7573F1D566DB}"/>
                </a:ext>
              </a:extLst>
            </p:cNvPr>
            <p:cNvSpPr>
              <a:spLocks noChangeShapeType="1"/>
            </p:cNvSpPr>
            <p:nvPr/>
          </p:nvSpPr>
          <p:spPr bwMode="auto">
            <a:xfrm>
              <a:off x="2072" y="2787"/>
              <a:ext cx="453" cy="0"/>
            </a:xfrm>
            <a:prstGeom prst="line">
              <a:avLst/>
            </a:prstGeom>
            <a:noFill/>
            <a:ln w="19050">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 name="Group 92">
            <a:extLst>
              <a:ext uri="{FF2B5EF4-FFF2-40B4-BE49-F238E27FC236}">
                <a16:creationId xmlns:a16="http://schemas.microsoft.com/office/drawing/2014/main" id="{F0AB600D-67D2-6D5F-F77A-FBEC812427A3}"/>
              </a:ext>
            </a:extLst>
          </p:cNvPr>
          <p:cNvGrpSpPr>
            <a:grpSpLocks/>
          </p:cNvGrpSpPr>
          <p:nvPr/>
        </p:nvGrpSpPr>
        <p:grpSpPr bwMode="auto">
          <a:xfrm>
            <a:off x="6743700" y="1554163"/>
            <a:ext cx="1500188" cy="1587500"/>
            <a:chOff x="4248" y="979"/>
            <a:chExt cx="945" cy="1000"/>
          </a:xfrm>
        </p:grpSpPr>
        <p:grpSp>
          <p:nvGrpSpPr>
            <p:cNvPr id="95" name="Group 93">
              <a:extLst>
                <a:ext uri="{FF2B5EF4-FFF2-40B4-BE49-F238E27FC236}">
                  <a16:creationId xmlns:a16="http://schemas.microsoft.com/office/drawing/2014/main" id="{7BD80C32-15E5-0618-F0F2-5CAFF606BE58}"/>
                </a:ext>
              </a:extLst>
            </p:cNvPr>
            <p:cNvGrpSpPr>
              <a:grpSpLocks/>
            </p:cNvGrpSpPr>
            <p:nvPr/>
          </p:nvGrpSpPr>
          <p:grpSpPr bwMode="auto">
            <a:xfrm flipV="1">
              <a:off x="4728" y="1163"/>
              <a:ext cx="348" cy="590"/>
              <a:chOff x="1392" y="2218"/>
              <a:chExt cx="1824" cy="794"/>
            </a:xfrm>
          </p:grpSpPr>
          <p:sp>
            <p:nvSpPr>
              <p:cNvPr id="100" name="Freeform 94">
                <a:extLst>
                  <a:ext uri="{FF2B5EF4-FFF2-40B4-BE49-F238E27FC236}">
                    <a16:creationId xmlns:a16="http://schemas.microsoft.com/office/drawing/2014/main" id="{F77C94AA-267A-E293-D8F2-CF52FE1E1460}"/>
                  </a:ext>
                </a:extLst>
              </p:cNvPr>
              <p:cNvSpPr>
                <a:spLocks/>
              </p:cNvSpPr>
              <p:nvPr/>
            </p:nvSpPr>
            <p:spPr bwMode="auto">
              <a:xfrm>
                <a:off x="1392" y="2218"/>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101" name="Freeform 95">
                <a:extLst>
                  <a:ext uri="{FF2B5EF4-FFF2-40B4-BE49-F238E27FC236}">
                    <a16:creationId xmlns:a16="http://schemas.microsoft.com/office/drawing/2014/main" id="{3674FF7D-E757-18DE-9AA4-7F32B59828DE}"/>
                  </a:ext>
                </a:extLst>
              </p:cNvPr>
              <p:cNvSpPr>
                <a:spLocks/>
              </p:cNvSpPr>
              <p:nvPr/>
            </p:nvSpPr>
            <p:spPr bwMode="auto">
              <a:xfrm flipV="1">
                <a:off x="2304" y="2614"/>
                <a:ext cx="912" cy="398"/>
              </a:xfrm>
              <a:custGeom>
                <a:avLst/>
                <a:gdLst>
                  <a:gd name="T0" fmla="*/ 0 w 912"/>
                  <a:gd name="T1" fmla="*/ 398 h 398"/>
                  <a:gd name="T2" fmla="*/ 108 w 912"/>
                  <a:gd name="T3" fmla="*/ 242 h 398"/>
                  <a:gd name="T4" fmla="*/ 288 w 912"/>
                  <a:gd name="T5" fmla="*/ 74 h 398"/>
                  <a:gd name="T6" fmla="*/ 456 w 912"/>
                  <a:gd name="T7" fmla="*/ 2 h 398"/>
                  <a:gd name="T8" fmla="*/ 636 w 912"/>
                  <a:gd name="T9" fmla="*/ 86 h 398"/>
                  <a:gd name="T10" fmla="*/ 780 w 912"/>
                  <a:gd name="T11" fmla="*/ 206 h 398"/>
                  <a:gd name="T12" fmla="*/ 912 w 912"/>
                  <a:gd name="T13" fmla="*/ 398 h 398"/>
                  <a:gd name="T14" fmla="*/ 0 60000 65536"/>
                  <a:gd name="T15" fmla="*/ 0 60000 65536"/>
                  <a:gd name="T16" fmla="*/ 0 60000 65536"/>
                  <a:gd name="T17" fmla="*/ 0 60000 65536"/>
                  <a:gd name="T18" fmla="*/ 0 60000 65536"/>
                  <a:gd name="T19" fmla="*/ 0 60000 65536"/>
                  <a:gd name="T20" fmla="*/ 0 60000 65536"/>
                  <a:gd name="T21" fmla="*/ 0 w 912"/>
                  <a:gd name="T22" fmla="*/ 0 h 398"/>
                  <a:gd name="T23" fmla="*/ 912 w 912"/>
                  <a:gd name="T24" fmla="*/ 398 h 3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398">
                    <a:moveTo>
                      <a:pt x="0" y="398"/>
                    </a:moveTo>
                    <a:cubicBezTo>
                      <a:pt x="18" y="372"/>
                      <a:pt x="60" y="296"/>
                      <a:pt x="108" y="242"/>
                    </a:cubicBezTo>
                    <a:cubicBezTo>
                      <a:pt x="156" y="188"/>
                      <a:pt x="230" y="114"/>
                      <a:pt x="288" y="74"/>
                    </a:cubicBezTo>
                    <a:cubicBezTo>
                      <a:pt x="346" y="34"/>
                      <a:pt x="398" y="0"/>
                      <a:pt x="456" y="2"/>
                    </a:cubicBezTo>
                    <a:cubicBezTo>
                      <a:pt x="514" y="4"/>
                      <a:pt x="582" y="52"/>
                      <a:pt x="636" y="86"/>
                    </a:cubicBezTo>
                    <a:cubicBezTo>
                      <a:pt x="690" y="120"/>
                      <a:pt x="734" y="154"/>
                      <a:pt x="780" y="206"/>
                    </a:cubicBezTo>
                    <a:cubicBezTo>
                      <a:pt x="826" y="258"/>
                      <a:pt x="884" y="358"/>
                      <a:pt x="912" y="398"/>
                    </a:cubicBezTo>
                  </a:path>
                </a:pathLst>
              </a:custGeom>
              <a:noFill/>
              <a:ln w="381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pSp>
        <p:sp>
          <p:nvSpPr>
            <p:cNvPr id="96" name="Line 96">
              <a:extLst>
                <a:ext uri="{FF2B5EF4-FFF2-40B4-BE49-F238E27FC236}">
                  <a16:creationId xmlns:a16="http://schemas.microsoft.com/office/drawing/2014/main" id="{219EF812-1738-AB88-CB09-D6CBBC18DFD1}"/>
                </a:ext>
              </a:extLst>
            </p:cNvPr>
            <p:cNvSpPr>
              <a:spLocks noChangeShapeType="1"/>
            </p:cNvSpPr>
            <p:nvPr/>
          </p:nvSpPr>
          <p:spPr bwMode="auto">
            <a:xfrm rot="-5400000">
              <a:off x="4959" y="1682"/>
              <a:ext cx="0" cy="468"/>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97" name="Line 97">
              <a:extLst>
                <a:ext uri="{FF2B5EF4-FFF2-40B4-BE49-F238E27FC236}">
                  <a16:creationId xmlns:a16="http://schemas.microsoft.com/office/drawing/2014/main" id="{A70C822C-1E79-A0E7-F29F-DEFDD75D3E53}"/>
                </a:ext>
              </a:extLst>
            </p:cNvPr>
            <p:cNvSpPr>
              <a:spLocks noChangeShapeType="1"/>
            </p:cNvSpPr>
            <p:nvPr/>
          </p:nvSpPr>
          <p:spPr bwMode="auto">
            <a:xfrm rot="5400000" flipH="1">
              <a:off x="4294" y="1549"/>
              <a:ext cx="861"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98" name="Text Box 98">
              <a:extLst>
                <a:ext uri="{FF2B5EF4-FFF2-40B4-BE49-F238E27FC236}">
                  <a16:creationId xmlns:a16="http://schemas.microsoft.com/office/drawing/2014/main" id="{9087E4F5-D91B-811B-258A-476347E1CC23}"/>
                </a:ext>
              </a:extLst>
            </p:cNvPr>
            <p:cNvSpPr txBox="1">
              <a:spLocks noChangeArrowheads="1"/>
            </p:cNvSpPr>
            <p:nvPr/>
          </p:nvSpPr>
          <p:spPr bwMode="auto">
            <a:xfrm>
              <a:off x="4248" y="979"/>
              <a:ext cx="46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solidFill>
                    <a:srgbClr val="FF3300"/>
                  </a:solidFill>
                  <a:latin typeface="Times New Roman" panose="02020603050405020304" pitchFamily="18" charset="0"/>
                  <a:ea typeface="楷体_GB2312" pitchFamily="49" charset="-122"/>
                </a:rPr>
                <a:t>v</a:t>
              </a:r>
              <a:r>
                <a:rPr kumimoji="1" lang="en-US" altLang="zh-CN" baseline="-25000">
                  <a:solidFill>
                    <a:srgbClr val="FF3300"/>
                  </a:solidFill>
                  <a:latin typeface="Times New Roman" panose="02020603050405020304" pitchFamily="18" charset="0"/>
                  <a:ea typeface="楷体_GB2312" pitchFamily="49" charset="-122"/>
                </a:rPr>
                <a:t>CE</a:t>
              </a:r>
              <a:endParaRPr kumimoji="1" lang="en-US" altLang="zh-CN">
                <a:solidFill>
                  <a:srgbClr val="FF3300"/>
                </a:solidFill>
                <a:latin typeface="Times New Roman" panose="02020603050405020304" pitchFamily="18" charset="0"/>
                <a:ea typeface="楷体_GB2312" pitchFamily="49" charset="-122"/>
              </a:endParaRPr>
            </a:p>
          </p:txBody>
        </p:sp>
        <p:sp>
          <p:nvSpPr>
            <p:cNvPr id="99" name="Line 99">
              <a:extLst>
                <a:ext uri="{FF2B5EF4-FFF2-40B4-BE49-F238E27FC236}">
                  <a16:creationId xmlns:a16="http://schemas.microsoft.com/office/drawing/2014/main" id="{EB673D18-BC3A-63A8-422E-FBA8B4F9B258}"/>
                </a:ext>
              </a:extLst>
            </p:cNvPr>
            <p:cNvSpPr>
              <a:spLocks noChangeShapeType="1"/>
            </p:cNvSpPr>
            <p:nvPr/>
          </p:nvSpPr>
          <p:spPr bwMode="auto">
            <a:xfrm>
              <a:off x="4720" y="1460"/>
              <a:ext cx="453" cy="0"/>
            </a:xfrm>
            <a:prstGeom prst="line">
              <a:avLst/>
            </a:prstGeom>
            <a:noFill/>
            <a:ln w="19050">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 name="Rectangle 100">
            <a:extLst>
              <a:ext uri="{FF2B5EF4-FFF2-40B4-BE49-F238E27FC236}">
                <a16:creationId xmlns:a16="http://schemas.microsoft.com/office/drawing/2014/main" id="{D0153AC3-75C8-C0A0-13F7-4193DCB169C6}"/>
              </a:ext>
            </a:extLst>
          </p:cNvPr>
          <p:cNvSpPr>
            <a:spLocks noChangeArrowheads="1"/>
          </p:cNvSpPr>
          <p:nvPr/>
        </p:nvSpPr>
        <p:spPr bwMode="auto">
          <a:xfrm>
            <a:off x="323850" y="791290"/>
            <a:ext cx="1992853" cy="523220"/>
          </a:xfrm>
          <a:prstGeom prst="rect">
            <a:avLst/>
          </a:prstGeom>
          <a:solidFill>
            <a:schemeClr val="accent1">
              <a:lumMod val="20000"/>
              <a:lumOff val="80000"/>
            </a:schemeClr>
          </a:solidFill>
          <a:ln w="28575">
            <a:solidFill>
              <a:schemeClr val="accent1">
                <a:lumMod val="50000"/>
              </a:schemeClr>
            </a:solidFill>
            <a:miter lim="800000"/>
            <a:headEnd/>
            <a:tailEnd/>
          </a:ln>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dirty="0">
                <a:solidFill>
                  <a:schemeClr val="accent1">
                    <a:lumMod val="50000"/>
                  </a:schemeClr>
                </a:solidFill>
                <a:latin typeface="Microsoft YaHei" panose="020B0503020204020204" pitchFamily="34" charset="-122"/>
                <a:ea typeface="Microsoft YaHei" panose="020B0503020204020204" pitchFamily="34" charset="-122"/>
              </a:rPr>
              <a:t>反相放大器</a:t>
            </a:r>
            <a:endParaRPr kumimoji="1" lang="en-US" altLang="zh-CN" sz="2800" b="0" dirty="0">
              <a:solidFill>
                <a:schemeClr val="accent1">
                  <a:lumMod val="50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0158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1" grpId="0"/>
      <p:bldP spid="52" grpId="0"/>
      <p:bldP spid="53" grpId="0"/>
      <p:bldP spid="54" grpId="0" animBg="1"/>
      <p:bldP spid="55" grpId="0"/>
      <p:bldP spid="10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555739-C4A4-2931-AAAC-1CEA7D084D66}"/>
              </a:ext>
            </a:extLst>
          </p:cNvPr>
          <p:cNvSpPr>
            <a:spLocks noGrp="1"/>
          </p:cNvSpPr>
          <p:nvPr>
            <p:ph type="title"/>
          </p:nvPr>
        </p:nvSpPr>
        <p:spPr/>
        <p:txBody>
          <a:bodyPr>
            <a:normAutofit fontScale="90000"/>
          </a:bodyPr>
          <a:lstStyle/>
          <a:p>
            <a:r>
              <a:rPr lang="zh-CN" altLang="en-US" dirty="0"/>
              <a:t>直流</a:t>
            </a:r>
            <a:r>
              <a:rPr lang="en-US" altLang="zh-CN" dirty="0"/>
              <a:t>/</a:t>
            </a:r>
            <a:r>
              <a:rPr lang="zh-CN" altLang="en-US" dirty="0"/>
              <a:t>交流等效电路</a:t>
            </a:r>
            <a:endParaRPr kumimoji="1" lang="zh-CN" altLang="en-US" dirty="0"/>
          </a:p>
        </p:txBody>
      </p:sp>
      <p:sp>
        <p:nvSpPr>
          <p:cNvPr id="4" name="页脚占位符 3">
            <a:extLst>
              <a:ext uri="{FF2B5EF4-FFF2-40B4-BE49-F238E27FC236}">
                <a16:creationId xmlns:a16="http://schemas.microsoft.com/office/drawing/2014/main" id="{A533883C-51E3-DC6B-6191-543918DAAB92}"/>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299970E8-8C01-4EF0-F7B3-19D405A316C1}"/>
              </a:ext>
            </a:extLst>
          </p:cNvPr>
          <p:cNvSpPr>
            <a:spLocks noGrp="1"/>
          </p:cNvSpPr>
          <p:nvPr>
            <p:ph type="sldNum" sz="quarter" idx="12"/>
          </p:nvPr>
        </p:nvSpPr>
        <p:spPr/>
        <p:txBody>
          <a:bodyPr/>
          <a:lstStyle/>
          <a:p>
            <a:fld id="{9E260BC5-5BF3-8746-862B-DC45E9CAA88B}" type="slidenum">
              <a:rPr lang="en-US" smtClean="0"/>
              <a:pPr/>
              <a:t>21</a:t>
            </a:fld>
            <a:r>
              <a:rPr lang="en-US" altLang="zh-CN" dirty="0"/>
              <a:t>/33</a:t>
            </a:r>
            <a:endParaRPr lang="en-US" dirty="0"/>
          </a:p>
        </p:txBody>
      </p:sp>
      <p:sp>
        <p:nvSpPr>
          <p:cNvPr id="6" name="Text Box 5">
            <a:extLst>
              <a:ext uri="{FF2B5EF4-FFF2-40B4-BE49-F238E27FC236}">
                <a16:creationId xmlns:a16="http://schemas.microsoft.com/office/drawing/2014/main" id="{58F56E8C-BFD0-19DA-D624-2217A9719F86}"/>
              </a:ext>
            </a:extLst>
          </p:cNvPr>
          <p:cNvSpPr txBox="1">
            <a:spLocks noChangeArrowheads="1"/>
          </p:cNvSpPr>
          <p:nvPr/>
        </p:nvSpPr>
        <p:spPr bwMode="auto">
          <a:xfrm>
            <a:off x="887546" y="2853283"/>
            <a:ext cx="608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2400">
                <a:latin typeface="Times New Roman" panose="02020603050405020304" pitchFamily="18" charset="0"/>
                <a:ea typeface="楷体_GB2312" pitchFamily="49" charset="-122"/>
              </a:rPr>
              <a:t>b</a:t>
            </a:r>
          </a:p>
        </p:txBody>
      </p:sp>
      <p:sp>
        <p:nvSpPr>
          <p:cNvPr id="7" name="Line 6">
            <a:extLst>
              <a:ext uri="{FF2B5EF4-FFF2-40B4-BE49-F238E27FC236}">
                <a16:creationId xmlns:a16="http://schemas.microsoft.com/office/drawing/2014/main" id="{84A3D007-1711-9B43-6BF5-52678A3654E9}"/>
              </a:ext>
            </a:extLst>
          </p:cNvPr>
          <p:cNvSpPr>
            <a:spLocks noChangeShapeType="1"/>
          </p:cNvSpPr>
          <p:nvPr/>
        </p:nvSpPr>
        <p:spPr bwMode="auto">
          <a:xfrm>
            <a:off x="1613034" y="2504033"/>
            <a:ext cx="0" cy="1636712"/>
          </a:xfrm>
          <a:prstGeom prst="line">
            <a:avLst/>
          </a:prstGeom>
          <a:noFill/>
          <a:ln w="38100">
            <a:solidFill>
              <a:schemeClr val="tx1"/>
            </a:solidFill>
            <a:round/>
            <a:headEn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 name="Rectangle 7">
            <a:extLst>
              <a:ext uri="{FF2B5EF4-FFF2-40B4-BE49-F238E27FC236}">
                <a16:creationId xmlns:a16="http://schemas.microsoft.com/office/drawing/2014/main" id="{132CDFB1-E7D8-67E1-7E90-92A3AE06BD2E}"/>
              </a:ext>
            </a:extLst>
          </p:cNvPr>
          <p:cNvSpPr>
            <a:spLocks noChangeArrowheads="1"/>
          </p:cNvSpPr>
          <p:nvPr/>
        </p:nvSpPr>
        <p:spPr bwMode="auto">
          <a:xfrm>
            <a:off x="1524134" y="2867570"/>
            <a:ext cx="176212" cy="544513"/>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 name="Line 8">
            <a:extLst>
              <a:ext uri="{FF2B5EF4-FFF2-40B4-BE49-F238E27FC236}">
                <a16:creationId xmlns:a16="http://schemas.microsoft.com/office/drawing/2014/main" id="{5762C18F-FBA3-D342-9AE6-8D46FDA9FE65}"/>
              </a:ext>
            </a:extLst>
          </p:cNvPr>
          <p:cNvSpPr>
            <a:spLocks noChangeShapeType="1"/>
          </p:cNvSpPr>
          <p:nvPr/>
        </p:nvSpPr>
        <p:spPr bwMode="auto">
          <a:xfrm>
            <a:off x="1609859" y="2504033"/>
            <a:ext cx="14541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 name="Line 9">
            <a:extLst>
              <a:ext uri="{FF2B5EF4-FFF2-40B4-BE49-F238E27FC236}">
                <a16:creationId xmlns:a16="http://schemas.microsoft.com/office/drawing/2014/main" id="{07FFF96A-FF35-BCDE-B08E-18F450522C94}"/>
              </a:ext>
            </a:extLst>
          </p:cNvPr>
          <p:cNvSpPr>
            <a:spLocks noChangeShapeType="1"/>
          </p:cNvSpPr>
          <p:nvPr/>
        </p:nvSpPr>
        <p:spPr bwMode="auto">
          <a:xfrm flipV="1">
            <a:off x="1078046" y="4140745"/>
            <a:ext cx="1320800"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1" name="Line 10">
            <a:extLst>
              <a:ext uri="{FF2B5EF4-FFF2-40B4-BE49-F238E27FC236}">
                <a16:creationId xmlns:a16="http://schemas.microsoft.com/office/drawing/2014/main" id="{40F57C63-A673-2125-E656-6D07154D54B3}"/>
              </a:ext>
            </a:extLst>
          </p:cNvPr>
          <p:cNvSpPr>
            <a:spLocks noChangeShapeType="1"/>
          </p:cNvSpPr>
          <p:nvPr/>
        </p:nvSpPr>
        <p:spPr bwMode="auto">
          <a:xfrm>
            <a:off x="2378209" y="3926433"/>
            <a:ext cx="0" cy="48101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 name="Line 11">
            <a:extLst>
              <a:ext uri="{FF2B5EF4-FFF2-40B4-BE49-F238E27FC236}">
                <a16:creationId xmlns:a16="http://schemas.microsoft.com/office/drawing/2014/main" id="{4CB90E26-4CF5-7B7F-239F-314F320198D3}"/>
              </a:ext>
            </a:extLst>
          </p:cNvPr>
          <p:cNvSpPr>
            <a:spLocks noChangeShapeType="1"/>
          </p:cNvSpPr>
          <p:nvPr/>
        </p:nvSpPr>
        <p:spPr bwMode="auto">
          <a:xfrm>
            <a:off x="2378209" y="4166145"/>
            <a:ext cx="265112" cy="247650"/>
          </a:xfrm>
          <a:prstGeom prst="line">
            <a:avLst/>
          </a:prstGeom>
          <a:noFill/>
          <a:ln w="38100">
            <a:solidFill>
              <a:srgbClr val="CC3300"/>
            </a:solidFill>
            <a:round/>
            <a:headEnd type="none" w="sm" len="sm"/>
            <a:tailEnd type="triangl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3" name="Line 12">
            <a:extLst>
              <a:ext uri="{FF2B5EF4-FFF2-40B4-BE49-F238E27FC236}">
                <a16:creationId xmlns:a16="http://schemas.microsoft.com/office/drawing/2014/main" id="{E7D2BE6E-3351-D52F-8EC3-C0EE345A07CA}"/>
              </a:ext>
            </a:extLst>
          </p:cNvPr>
          <p:cNvSpPr>
            <a:spLocks noChangeShapeType="1"/>
          </p:cNvSpPr>
          <p:nvPr/>
        </p:nvSpPr>
        <p:spPr bwMode="auto">
          <a:xfrm flipH="1">
            <a:off x="2640146" y="2504033"/>
            <a:ext cx="0" cy="1454150"/>
          </a:xfrm>
          <a:prstGeom prst="line">
            <a:avLst/>
          </a:prstGeom>
          <a:noFill/>
          <a:ln w="38100">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 name="Line 13">
            <a:extLst>
              <a:ext uri="{FF2B5EF4-FFF2-40B4-BE49-F238E27FC236}">
                <a16:creationId xmlns:a16="http://schemas.microsoft.com/office/drawing/2014/main" id="{D20A734B-A8F5-467C-14D0-D1567D8FCB77}"/>
              </a:ext>
            </a:extLst>
          </p:cNvPr>
          <p:cNvSpPr>
            <a:spLocks noChangeShapeType="1"/>
          </p:cNvSpPr>
          <p:nvPr/>
        </p:nvSpPr>
        <p:spPr bwMode="auto">
          <a:xfrm>
            <a:off x="2625859" y="4399508"/>
            <a:ext cx="0" cy="1133475"/>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 name="Line 14">
            <a:extLst>
              <a:ext uri="{FF2B5EF4-FFF2-40B4-BE49-F238E27FC236}">
                <a16:creationId xmlns:a16="http://schemas.microsoft.com/office/drawing/2014/main" id="{589A8C0F-E248-F171-A15C-F992F5CCA383}"/>
              </a:ext>
            </a:extLst>
          </p:cNvPr>
          <p:cNvSpPr>
            <a:spLocks noChangeShapeType="1"/>
          </p:cNvSpPr>
          <p:nvPr/>
        </p:nvSpPr>
        <p:spPr bwMode="auto">
          <a:xfrm>
            <a:off x="639896" y="5301208"/>
            <a:ext cx="3211513"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6" name="Text Box 15">
            <a:extLst>
              <a:ext uri="{FF2B5EF4-FFF2-40B4-BE49-F238E27FC236}">
                <a16:creationId xmlns:a16="http://schemas.microsoft.com/office/drawing/2014/main" id="{1FF5476B-D004-74CD-DA42-EF0359AA7409}"/>
              </a:ext>
            </a:extLst>
          </p:cNvPr>
          <p:cNvSpPr txBox="1">
            <a:spLocks noChangeArrowheads="1"/>
          </p:cNvSpPr>
          <p:nvPr/>
        </p:nvSpPr>
        <p:spPr bwMode="auto">
          <a:xfrm>
            <a:off x="3246571" y="2243683"/>
            <a:ext cx="969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a:t>
            </a:r>
            <a:r>
              <a:rPr kumimoji="1" lang="en-US" altLang="zh-CN" sz="2800" i="1">
                <a:latin typeface="Times New Roman" panose="02020603050405020304" pitchFamily="18" charset="0"/>
                <a:ea typeface="楷体_GB2312" pitchFamily="49" charset="-122"/>
              </a:rPr>
              <a:t>V</a:t>
            </a:r>
            <a:r>
              <a:rPr kumimoji="1" lang="en-US" altLang="zh-CN" sz="2800" baseline="-10000">
                <a:latin typeface="Times New Roman" panose="02020603050405020304" pitchFamily="18" charset="0"/>
                <a:ea typeface="楷体_GB2312" pitchFamily="49" charset="-122"/>
              </a:rPr>
              <a:t>CC</a:t>
            </a:r>
          </a:p>
        </p:txBody>
      </p:sp>
      <p:sp>
        <p:nvSpPr>
          <p:cNvPr id="17" name="Rectangle 16">
            <a:extLst>
              <a:ext uri="{FF2B5EF4-FFF2-40B4-BE49-F238E27FC236}">
                <a16:creationId xmlns:a16="http://schemas.microsoft.com/office/drawing/2014/main" id="{C149D73D-BBAF-9F09-F8F2-DA1731E31A33}"/>
              </a:ext>
            </a:extLst>
          </p:cNvPr>
          <p:cNvSpPr>
            <a:spLocks noChangeArrowheads="1"/>
          </p:cNvSpPr>
          <p:nvPr/>
        </p:nvSpPr>
        <p:spPr bwMode="auto">
          <a:xfrm>
            <a:off x="2554421" y="2867570"/>
            <a:ext cx="176213" cy="544513"/>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8" name="Oval 17">
            <a:extLst>
              <a:ext uri="{FF2B5EF4-FFF2-40B4-BE49-F238E27FC236}">
                <a16:creationId xmlns:a16="http://schemas.microsoft.com/office/drawing/2014/main" id="{4517A9CE-3B41-00B4-4882-31037C02942B}"/>
              </a:ext>
            </a:extLst>
          </p:cNvPr>
          <p:cNvSpPr>
            <a:spLocks noChangeArrowheads="1"/>
          </p:cNvSpPr>
          <p:nvPr/>
        </p:nvSpPr>
        <p:spPr bwMode="auto">
          <a:xfrm>
            <a:off x="3060834" y="2442120"/>
            <a:ext cx="128587" cy="13017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Oval 18">
            <a:extLst>
              <a:ext uri="{FF2B5EF4-FFF2-40B4-BE49-F238E27FC236}">
                <a16:creationId xmlns:a16="http://schemas.microsoft.com/office/drawing/2014/main" id="{0FDC5B64-9956-9E7E-266C-ACB0EAFD3995}"/>
              </a:ext>
            </a:extLst>
          </p:cNvPr>
          <p:cNvSpPr>
            <a:spLocks noChangeArrowheads="1"/>
          </p:cNvSpPr>
          <p:nvPr/>
        </p:nvSpPr>
        <p:spPr bwMode="auto">
          <a:xfrm>
            <a:off x="506546" y="4075658"/>
            <a:ext cx="128588" cy="13017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Oval 19">
            <a:extLst>
              <a:ext uri="{FF2B5EF4-FFF2-40B4-BE49-F238E27FC236}">
                <a16:creationId xmlns:a16="http://schemas.microsoft.com/office/drawing/2014/main" id="{87A34A09-8DD1-E1D2-2747-75699E1EFFFF}"/>
              </a:ext>
            </a:extLst>
          </p:cNvPr>
          <p:cNvSpPr>
            <a:spLocks noChangeArrowheads="1"/>
          </p:cNvSpPr>
          <p:nvPr/>
        </p:nvSpPr>
        <p:spPr bwMode="auto">
          <a:xfrm>
            <a:off x="516071" y="5234533"/>
            <a:ext cx="127000" cy="128587"/>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1" name="Group 20">
            <a:extLst>
              <a:ext uri="{FF2B5EF4-FFF2-40B4-BE49-F238E27FC236}">
                <a16:creationId xmlns:a16="http://schemas.microsoft.com/office/drawing/2014/main" id="{60C4B7AE-A0BF-2512-5F13-2A888B2D940D}"/>
              </a:ext>
            </a:extLst>
          </p:cNvPr>
          <p:cNvGrpSpPr>
            <a:grpSpLocks/>
          </p:cNvGrpSpPr>
          <p:nvPr/>
        </p:nvGrpSpPr>
        <p:grpSpPr bwMode="auto">
          <a:xfrm>
            <a:off x="963746" y="3923258"/>
            <a:ext cx="127000" cy="438150"/>
            <a:chOff x="3454" y="2018"/>
            <a:chExt cx="96" cy="328"/>
          </a:xfrm>
        </p:grpSpPr>
        <p:sp>
          <p:nvSpPr>
            <p:cNvPr id="22" name="Line 21">
              <a:extLst>
                <a:ext uri="{FF2B5EF4-FFF2-40B4-BE49-F238E27FC236}">
                  <a16:creationId xmlns:a16="http://schemas.microsoft.com/office/drawing/2014/main" id="{BBF57127-4FBC-17A1-DA3A-56AEF0016FFB}"/>
                </a:ext>
              </a:extLst>
            </p:cNvPr>
            <p:cNvSpPr>
              <a:spLocks noChangeShapeType="1"/>
            </p:cNvSpPr>
            <p:nvPr/>
          </p:nvSpPr>
          <p:spPr bwMode="auto">
            <a:xfrm>
              <a:off x="3454"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3" name="Line 22">
              <a:extLst>
                <a:ext uri="{FF2B5EF4-FFF2-40B4-BE49-F238E27FC236}">
                  <a16:creationId xmlns:a16="http://schemas.microsoft.com/office/drawing/2014/main" id="{AAD43D95-91DC-91B5-0E26-48FC1698038C}"/>
                </a:ext>
              </a:extLst>
            </p:cNvPr>
            <p:cNvSpPr>
              <a:spLocks noChangeShapeType="1"/>
            </p:cNvSpPr>
            <p:nvPr/>
          </p:nvSpPr>
          <p:spPr bwMode="auto">
            <a:xfrm>
              <a:off x="3550"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24" name="Line 23">
            <a:extLst>
              <a:ext uri="{FF2B5EF4-FFF2-40B4-BE49-F238E27FC236}">
                <a16:creationId xmlns:a16="http://schemas.microsoft.com/office/drawing/2014/main" id="{F28FA9F6-AF4C-E47B-BBE9-5A4A9CA552B6}"/>
              </a:ext>
            </a:extLst>
          </p:cNvPr>
          <p:cNvSpPr>
            <a:spLocks noChangeShapeType="1"/>
          </p:cNvSpPr>
          <p:nvPr/>
        </p:nvSpPr>
        <p:spPr bwMode="auto">
          <a:xfrm>
            <a:off x="647834" y="4135983"/>
            <a:ext cx="3127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5" name="Oval 24">
            <a:extLst>
              <a:ext uri="{FF2B5EF4-FFF2-40B4-BE49-F238E27FC236}">
                <a16:creationId xmlns:a16="http://schemas.microsoft.com/office/drawing/2014/main" id="{2CC77BFE-FBD3-3A97-47CF-2858D574A163}"/>
              </a:ext>
            </a:extLst>
          </p:cNvPr>
          <p:cNvSpPr>
            <a:spLocks noChangeArrowheads="1"/>
          </p:cNvSpPr>
          <p:nvPr/>
        </p:nvSpPr>
        <p:spPr bwMode="auto">
          <a:xfrm flipH="1">
            <a:off x="3851409" y="3674020"/>
            <a:ext cx="128587" cy="1285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6" name="Group 25">
            <a:extLst>
              <a:ext uri="{FF2B5EF4-FFF2-40B4-BE49-F238E27FC236}">
                <a16:creationId xmlns:a16="http://schemas.microsoft.com/office/drawing/2014/main" id="{BBAC74BE-ED09-0303-7F39-FFC9A212D2B3}"/>
              </a:ext>
            </a:extLst>
          </p:cNvPr>
          <p:cNvGrpSpPr>
            <a:grpSpLocks/>
          </p:cNvGrpSpPr>
          <p:nvPr/>
        </p:nvGrpSpPr>
        <p:grpSpPr bwMode="auto">
          <a:xfrm flipH="1">
            <a:off x="3119571" y="3542258"/>
            <a:ext cx="128588" cy="436562"/>
            <a:chOff x="3454" y="2018"/>
            <a:chExt cx="96" cy="328"/>
          </a:xfrm>
        </p:grpSpPr>
        <p:sp>
          <p:nvSpPr>
            <p:cNvPr id="27" name="Line 26">
              <a:extLst>
                <a:ext uri="{FF2B5EF4-FFF2-40B4-BE49-F238E27FC236}">
                  <a16:creationId xmlns:a16="http://schemas.microsoft.com/office/drawing/2014/main" id="{DDFD4E29-B162-A909-E6D0-F29452EAA314}"/>
                </a:ext>
              </a:extLst>
            </p:cNvPr>
            <p:cNvSpPr>
              <a:spLocks noChangeShapeType="1"/>
            </p:cNvSpPr>
            <p:nvPr/>
          </p:nvSpPr>
          <p:spPr bwMode="auto">
            <a:xfrm>
              <a:off x="3454"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8" name="Line 27">
              <a:extLst>
                <a:ext uri="{FF2B5EF4-FFF2-40B4-BE49-F238E27FC236}">
                  <a16:creationId xmlns:a16="http://schemas.microsoft.com/office/drawing/2014/main" id="{B9DD1B5E-2A08-D67C-373E-FE31EDB62359}"/>
                </a:ext>
              </a:extLst>
            </p:cNvPr>
            <p:cNvSpPr>
              <a:spLocks noChangeShapeType="1"/>
            </p:cNvSpPr>
            <p:nvPr/>
          </p:nvSpPr>
          <p:spPr bwMode="auto">
            <a:xfrm>
              <a:off x="3550" y="2018"/>
              <a:ext cx="0" cy="32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
        <p:nvSpPr>
          <p:cNvPr id="29" name="Line 28">
            <a:extLst>
              <a:ext uri="{FF2B5EF4-FFF2-40B4-BE49-F238E27FC236}">
                <a16:creationId xmlns:a16="http://schemas.microsoft.com/office/drawing/2014/main" id="{E82729EF-368D-39C0-761B-F1360D1053B6}"/>
              </a:ext>
            </a:extLst>
          </p:cNvPr>
          <p:cNvSpPr>
            <a:spLocks noChangeShapeType="1"/>
          </p:cNvSpPr>
          <p:nvPr/>
        </p:nvSpPr>
        <p:spPr bwMode="auto">
          <a:xfrm flipH="1">
            <a:off x="3241809" y="3750220"/>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0" name="Line 29">
            <a:extLst>
              <a:ext uri="{FF2B5EF4-FFF2-40B4-BE49-F238E27FC236}">
                <a16:creationId xmlns:a16="http://schemas.microsoft.com/office/drawing/2014/main" id="{EC0B10E1-2CAE-EB78-9BDA-8BBA2710E2B5}"/>
              </a:ext>
            </a:extLst>
          </p:cNvPr>
          <p:cNvSpPr>
            <a:spLocks noChangeShapeType="1"/>
          </p:cNvSpPr>
          <p:nvPr/>
        </p:nvSpPr>
        <p:spPr bwMode="auto">
          <a:xfrm>
            <a:off x="2640146" y="3748633"/>
            <a:ext cx="463550" cy="0"/>
          </a:xfrm>
          <a:prstGeom prst="line">
            <a:avLst/>
          </a:prstGeom>
          <a:noFill/>
          <a:ln w="38100">
            <a:solidFill>
              <a:schemeClr val="tx1"/>
            </a:solidFill>
            <a:round/>
            <a:headEnd type="oval"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1" name="Oval 30">
            <a:extLst>
              <a:ext uri="{FF2B5EF4-FFF2-40B4-BE49-F238E27FC236}">
                <a16:creationId xmlns:a16="http://schemas.microsoft.com/office/drawing/2014/main" id="{36E9E956-031B-84DE-AC3A-37E70E799697}"/>
              </a:ext>
            </a:extLst>
          </p:cNvPr>
          <p:cNvSpPr>
            <a:spLocks noChangeArrowheads="1"/>
          </p:cNvSpPr>
          <p:nvPr/>
        </p:nvSpPr>
        <p:spPr bwMode="auto">
          <a:xfrm flipH="1">
            <a:off x="3851409" y="5234533"/>
            <a:ext cx="128587" cy="128587"/>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2" name="Text Box 31">
            <a:extLst>
              <a:ext uri="{FF2B5EF4-FFF2-40B4-BE49-F238E27FC236}">
                <a16:creationId xmlns:a16="http://schemas.microsoft.com/office/drawing/2014/main" id="{F1D29492-EBA5-9C0B-9573-16604B75F04E}"/>
              </a:ext>
            </a:extLst>
          </p:cNvPr>
          <p:cNvSpPr txBox="1">
            <a:spLocks noChangeArrowheads="1"/>
          </p:cNvSpPr>
          <p:nvPr/>
        </p:nvSpPr>
        <p:spPr bwMode="auto">
          <a:xfrm>
            <a:off x="1925771" y="2856458"/>
            <a:ext cx="595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Rc</a:t>
            </a:r>
          </a:p>
        </p:txBody>
      </p:sp>
      <p:sp>
        <p:nvSpPr>
          <p:cNvPr id="33" name="Text Box 32">
            <a:extLst>
              <a:ext uri="{FF2B5EF4-FFF2-40B4-BE49-F238E27FC236}">
                <a16:creationId xmlns:a16="http://schemas.microsoft.com/office/drawing/2014/main" id="{106C3C9B-6BB1-E2A0-1BB2-42BEABD2A59B}"/>
              </a:ext>
            </a:extLst>
          </p:cNvPr>
          <p:cNvSpPr txBox="1">
            <a:spLocks noChangeArrowheads="1"/>
          </p:cNvSpPr>
          <p:nvPr/>
        </p:nvSpPr>
        <p:spPr bwMode="auto">
          <a:xfrm>
            <a:off x="739909" y="3440658"/>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C</a:t>
            </a:r>
            <a:r>
              <a:rPr kumimoji="1" lang="en-US" altLang="zh-CN" sz="2000">
                <a:latin typeface="Times New Roman" panose="02020603050405020304" pitchFamily="18" charset="0"/>
                <a:ea typeface="楷体_GB2312" pitchFamily="49" charset="-122"/>
              </a:rPr>
              <a:t>1</a:t>
            </a:r>
          </a:p>
        </p:txBody>
      </p:sp>
      <p:sp>
        <p:nvSpPr>
          <p:cNvPr id="34" name="Text Box 33">
            <a:extLst>
              <a:ext uri="{FF2B5EF4-FFF2-40B4-BE49-F238E27FC236}">
                <a16:creationId xmlns:a16="http://schemas.microsoft.com/office/drawing/2014/main" id="{06FFF8E9-2EB2-B28E-A66F-E48C88BC0E9C}"/>
              </a:ext>
            </a:extLst>
          </p:cNvPr>
          <p:cNvSpPr txBox="1">
            <a:spLocks noChangeArrowheads="1"/>
          </p:cNvSpPr>
          <p:nvPr/>
        </p:nvSpPr>
        <p:spPr bwMode="auto">
          <a:xfrm>
            <a:off x="2900496" y="3034258"/>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C</a:t>
            </a:r>
            <a:r>
              <a:rPr kumimoji="1" lang="en-US" altLang="zh-CN" sz="2000">
                <a:latin typeface="Times New Roman" panose="02020603050405020304" pitchFamily="18" charset="0"/>
                <a:ea typeface="楷体_GB2312" pitchFamily="49" charset="-122"/>
              </a:rPr>
              <a:t>2</a:t>
            </a:r>
          </a:p>
        </p:txBody>
      </p:sp>
      <p:sp>
        <p:nvSpPr>
          <p:cNvPr id="35" name="Text Box 34">
            <a:extLst>
              <a:ext uri="{FF2B5EF4-FFF2-40B4-BE49-F238E27FC236}">
                <a16:creationId xmlns:a16="http://schemas.microsoft.com/office/drawing/2014/main" id="{E7B1FD54-4765-BCE4-657F-8F8E8EAAFBD2}"/>
              </a:ext>
            </a:extLst>
          </p:cNvPr>
          <p:cNvSpPr txBox="1">
            <a:spLocks noChangeArrowheads="1"/>
          </p:cNvSpPr>
          <p:nvPr/>
        </p:nvSpPr>
        <p:spPr bwMode="auto">
          <a:xfrm>
            <a:off x="1860684" y="4248695"/>
            <a:ext cx="417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T</a:t>
            </a:r>
          </a:p>
        </p:txBody>
      </p:sp>
      <p:sp>
        <p:nvSpPr>
          <p:cNvPr id="36" name="Line 35">
            <a:extLst>
              <a:ext uri="{FF2B5EF4-FFF2-40B4-BE49-F238E27FC236}">
                <a16:creationId xmlns:a16="http://schemas.microsoft.com/office/drawing/2014/main" id="{211C5000-7CDE-8DD3-E3CD-52F5BBE819C5}"/>
              </a:ext>
            </a:extLst>
          </p:cNvPr>
          <p:cNvSpPr>
            <a:spLocks noChangeShapeType="1"/>
          </p:cNvSpPr>
          <p:nvPr/>
        </p:nvSpPr>
        <p:spPr bwMode="auto">
          <a:xfrm>
            <a:off x="2625859" y="5313908"/>
            <a:ext cx="0" cy="2730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7" name="Line 36">
            <a:extLst>
              <a:ext uri="{FF2B5EF4-FFF2-40B4-BE49-F238E27FC236}">
                <a16:creationId xmlns:a16="http://schemas.microsoft.com/office/drawing/2014/main" id="{72D212EF-67AA-B92F-CA77-3649432B2119}"/>
              </a:ext>
            </a:extLst>
          </p:cNvPr>
          <p:cNvSpPr>
            <a:spLocks noChangeShapeType="1"/>
          </p:cNvSpPr>
          <p:nvPr/>
        </p:nvSpPr>
        <p:spPr bwMode="auto">
          <a:xfrm flipV="1">
            <a:off x="2486159" y="5594895"/>
            <a:ext cx="3032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8" name="Oval 37">
            <a:extLst>
              <a:ext uri="{FF2B5EF4-FFF2-40B4-BE49-F238E27FC236}">
                <a16:creationId xmlns:a16="http://schemas.microsoft.com/office/drawing/2014/main" id="{975212F4-907D-3C5F-E29A-B45D44C26745}"/>
              </a:ext>
            </a:extLst>
          </p:cNvPr>
          <p:cNvSpPr>
            <a:spLocks noChangeArrowheads="1"/>
          </p:cNvSpPr>
          <p:nvPr/>
        </p:nvSpPr>
        <p:spPr bwMode="auto">
          <a:xfrm>
            <a:off x="2594109" y="5266283"/>
            <a:ext cx="63500" cy="65087"/>
          </a:xfrm>
          <a:prstGeom prst="ellipse">
            <a:avLst/>
          </a:prstGeom>
          <a:solidFill>
            <a:schemeClr val="tx1"/>
          </a:solidFill>
          <a:ln w="38100">
            <a:solidFill>
              <a:schemeClr val="tx1"/>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9" name="Text Box 38">
            <a:extLst>
              <a:ext uri="{FF2B5EF4-FFF2-40B4-BE49-F238E27FC236}">
                <a16:creationId xmlns:a16="http://schemas.microsoft.com/office/drawing/2014/main" id="{3D171CF5-7B29-8B94-594A-D0427D77223B}"/>
              </a:ext>
            </a:extLst>
          </p:cNvPr>
          <p:cNvSpPr txBox="1">
            <a:spLocks noChangeArrowheads="1"/>
          </p:cNvSpPr>
          <p:nvPr/>
        </p:nvSpPr>
        <p:spPr bwMode="auto">
          <a:xfrm>
            <a:off x="385896" y="4134395"/>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a:latin typeface="Times New Roman" panose="02020603050405020304" pitchFamily="18" charset="0"/>
                <a:ea typeface="楷体_GB2312" pitchFamily="49" charset="-122"/>
              </a:rPr>
              <a:t>+</a:t>
            </a:r>
          </a:p>
        </p:txBody>
      </p:sp>
      <p:sp>
        <p:nvSpPr>
          <p:cNvPr id="40" name="Text Box 39">
            <a:extLst>
              <a:ext uri="{FF2B5EF4-FFF2-40B4-BE49-F238E27FC236}">
                <a16:creationId xmlns:a16="http://schemas.microsoft.com/office/drawing/2014/main" id="{7CE5B297-22A7-01B8-47FA-FB3D834D1748}"/>
              </a:ext>
            </a:extLst>
          </p:cNvPr>
          <p:cNvSpPr txBox="1">
            <a:spLocks noChangeArrowheads="1"/>
          </p:cNvSpPr>
          <p:nvPr/>
        </p:nvSpPr>
        <p:spPr bwMode="auto">
          <a:xfrm>
            <a:off x="487496" y="4747170"/>
            <a:ext cx="13493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b="0">
                <a:latin typeface="Times New Roman" panose="02020603050405020304" pitchFamily="18" charset="0"/>
                <a:ea typeface="楷体_GB2312" pitchFamily="49" charset="-122"/>
              </a:rPr>
              <a:t>-</a:t>
            </a:r>
          </a:p>
        </p:txBody>
      </p:sp>
      <p:sp>
        <p:nvSpPr>
          <p:cNvPr id="41" name="Text Box 40">
            <a:extLst>
              <a:ext uri="{FF2B5EF4-FFF2-40B4-BE49-F238E27FC236}">
                <a16:creationId xmlns:a16="http://schemas.microsoft.com/office/drawing/2014/main" id="{E39A3C93-C260-D19D-EF2D-18CF0E0F50AA}"/>
              </a:ext>
            </a:extLst>
          </p:cNvPr>
          <p:cNvSpPr txBox="1">
            <a:spLocks noChangeArrowheads="1"/>
          </p:cNvSpPr>
          <p:nvPr/>
        </p:nvSpPr>
        <p:spPr bwMode="auto">
          <a:xfrm>
            <a:off x="430346" y="4386808"/>
            <a:ext cx="2873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i="1">
                <a:latin typeface="Times New Roman" panose="02020603050405020304" pitchFamily="18" charset="0"/>
                <a:ea typeface="楷体_GB2312" pitchFamily="49" charset="-122"/>
              </a:rPr>
              <a:t>v</a:t>
            </a:r>
            <a:r>
              <a:rPr kumimoji="1" lang="en-US" altLang="zh-CN" sz="3600" baseline="-5000">
                <a:latin typeface="Times New Roman" panose="02020603050405020304" pitchFamily="18" charset="0"/>
                <a:ea typeface="楷体_GB2312" pitchFamily="49" charset="-122"/>
              </a:rPr>
              <a:t>i</a:t>
            </a:r>
          </a:p>
        </p:txBody>
      </p:sp>
      <p:sp>
        <p:nvSpPr>
          <p:cNvPr id="42" name="Text Box 41">
            <a:extLst>
              <a:ext uri="{FF2B5EF4-FFF2-40B4-BE49-F238E27FC236}">
                <a16:creationId xmlns:a16="http://schemas.microsoft.com/office/drawing/2014/main" id="{0CE5B53B-9C8B-F692-3494-CF86992B7562}"/>
              </a:ext>
            </a:extLst>
          </p:cNvPr>
          <p:cNvSpPr txBox="1">
            <a:spLocks noChangeArrowheads="1"/>
          </p:cNvSpPr>
          <p:nvPr/>
        </p:nvSpPr>
        <p:spPr bwMode="auto">
          <a:xfrm>
            <a:off x="3960946" y="3801020"/>
            <a:ext cx="2317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a:latin typeface="Times New Roman" panose="02020603050405020304" pitchFamily="18" charset="0"/>
                <a:ea typeface="楷体_GB2312" pitchFamily="49" charset="-122"/>
              </a:rPr>
              <a:t>+</a:t>
            </a:r>
          </a:p>
        </p:txBody>
      </p:sp>
      <p:sp>
        <p:nvSpPr>
          <p:cNvPr id="43" name="Text Box 42">
            <a:extLst>
              <a:ext uri="{FF2B5EF4-FFF2-40B4-BE49-F238E27FC236}">
                <a16:creationId xmlns:a16="http://schemas.microsoft.com/office/drawing/2014/main" id="{19346AD8-02AA-AD57-743D-2F530518B063}"/>
              </a:ext>
            </a:extLst>
          </p:cNvPr>
          <p:cNvSpPr txBox="1">
            <a:spLocks noChangeArrowheads="1"/>
          </p:cNvSpPr>
          <p:nvPr/>
        </p:nvSpPr>
        <p:spPr bwMode="auto">
          <a:xfrm>
            <a:off x="3973646" y="4712245"/>
            <a:ext cx="13493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b="0">
                <a:latin typeface="Times New Roman" panose="02020603050405020304" pitchFamily="18" charset="0"/>
                <a:ea typeface="楷体_GB2312" pitchFamily="49" charset="-122"/>
              </a:rPr>
              <a:t>-</a:t>
            </a:r>
          </a:p>
        </p:txBody>
      </p:sp>
      <p:sp>
        <p:nvSpPr>
          <p:cNvPr id="44" name="Text Box 43">
            <a:extLst>
              <a:ext uri="{FF2B5EF4-FFF2-40B4-BE49-F238E27FC236}">
                <a16:creationId xmlns:a16="http://schemas.microsoft.com/office/drawing/2014/main" id="{43444950-EE85-3B0C-F31A-9A9B6361402F}"/>
              </a:ext>
            </a:extLst>
          </p:cNvPr>
          <p:cNvSpPr txBox="1">
            <a:spLocks noChangeArrowheads="1"/>
          </p:cNvSpPr>
          <p:nvPr/>
        </p:nvSpPr>
        <p:spPr bwMode="auto">
          <a:xfrm>
            <a:off x="3914909" y="4182020"/>
            <a:ext cx="355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i="1">
                <a:latin typeface="Times New Roman" panose="02020603050405020304" pitchFamily="18" charset="0"/>
                <a:ea typeface="楷体_GB2312" pitchFamily="49" charset="-122"/>
              </a:rPr>
              <a:t>v</a:t>
            </a:r>
            <a:r>
              <a:rPr kumimoji="1" lang="en-US" altLang="zh-CN" sz="3600" baseline="-5000">
                <a:latin typeface="Times New Roman" panose="02020603050405020304" pitchFamily="18" charset="0"/>
                <a:ea typeface="楷体_GB2312" pitchFamily="49" charset="-122"/>
              </a:rPr>
              <a:t>o</a:t>
            </a:r>
          </a:p>
        </p:txBody>
      </p:sp>
      <p:sp>
        <p:nvSpPr>
          <p:cNvPr id="45" name="Line 44">
            <a:extLst>
              <a:ext uri="{FF2B5EF4-FFF2-40B4-BE49-F238E27FC236}">
                <a16:creationId xmlns:a16="http://schemas.microsoft.com/office/drawing/2014/main" id="{1EDA90CC-4926-6CF6-170D-228F0AC11396}"/>
              </a:ext>
            </a:extLst>
          </p:cNvPr>
          <p:cNvSpPr>
            <a:spLocks noChangeShapeType="1"/>
          </p:cNvSpPr>
          <p:nvPr/>
        </p:nvSpPr>
        <p:spPr bwMode="auto">
          <a:xfrm flipV="1">
            <a:off x="2378209" y="3934370"/>
            <a:ext cx="265112" cy="215900"/>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6" name="Line 45">
            <a:extLst>
              <a:ext uri="{FF2B5EF4-FFF2-40B4-BE49-F238E27FC236}">
                <a16:creationId xmlns:a16="http://schemas.microsoft.com/office/drawing/2014/main" id="{D6E4858E-3D5F-71C0-4708-9C2052304862}"/>
              </a:ext>
            </a:extLst>
          </p:cNvPr>
          <p:cNvSpPr>
            <a:spLocks noChangeShapeType="1"/>
          </p:cNvSpPr>
          <p:nvPr/>
        </p:nvSpPr>
        <p:spPr bwMode="auto">
          <a:xfrm flipH="1">
            <a:off x="3683134" y="3743870"/>
            <a:ext cx="0" cy="156210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7" name="Rectangle 46">
            <a:extLst>
              <a:ext uri="{FF2B5EF4-FFF2-40B4-BE49-F238E27FC236}">
                <a16:creationId xmlns:a16="http://schemas.microsoft.com/office/drawing/2014/main" id="{DC920CB1-B7A3-2CFC-DFED-05589395B5B1}"/>
              </a:ext>
            </a:extLst>
          </p:cNvPr>
          <p:cNvSpPr>
            <a:spLocks noChangeArrowheads="1"/>
          </p:cNvSpPr>
          <p:nvPr/>
        </p:nvSpPr>
        <p:spPr bwMode="auto">
          <a:xfrm>
            <a:off x="3594234" y="4182020"/>
            <a:ext cx="176212" cy="544513"/>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8" name="Text Box 47">
            <a:extLst>
              <a:ext uri="{FF2B5EF4-FFF2-40B4-BE49-F238E27FC236}">
                <a16:creationId xmlns:a16="http://schemas.microsoft.com/office/drawing/2014/main" id="{9504D336-2618-C400-9F39-2CA8BD197B5E}"/>
              </a:ext>
            </a:extLst>
          </p:cNvPr>
          <p:cNvSpPr txBox="1">
            <a:spLocks noChangeArrowheads="1"/>
          </p:cNvSpPr>
          <p:nvPr/>
        </p:nvSpPr>
        <p:spPr bwMode="auto">
          <a:xfrm>
            <a:off x="2957646" y="4121695"/>
            <a:ext cx="59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1800">
                <a:latin typeface="Times New Roman" panose="02020603050405020304" pitchFamily="18" charset="0"/>
                <a:ea typeface="楷体_GB2312" pitchFamily="49" charset="-122"/>
              </a:rPr>
              <a:t>L</a:t>
            </a:r>
          </a:p>
        </p:txBody>
      </p:sp>
      <p:sp>
        <p:nvSpPr>
          <p:cNvPr id="49" name="Text Box 45">
            <a:extLst>
              <a:ext uri="{FF2B5EF4-FFF2-40B4-BE49-F238E27FC236}">
                <a16:creationId xmlns:a16="http://schemas.microsoft.com/office/drawing/2014/main" id="{51DD24E3-21FA-F3AD-337D-3ED59B6F1F34}"/>
              </a:ext>
            </a:extLst>
          </p:cNvPr>
          <p:cNvSpPr txBox="1">
            <a:spLocks noChangeArrowheads="1"/>
          </p:cNvSpPr>
          <p:nvPr/>
        </p:nvSpPr>
        <p:spPr bwMode="auto">
          <a:xfrm>
            <a:off x="6575425" y="1695450"/>
            <a:ext cx="541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a:t>
            </a:r>
            <a:r>
              <a:rPr kumimoji="1" lang="en-US" altLang="zh-CN" sz="2000">
                <a:latin typeface="Times New Roman" panose="02020603050405020304" pitchFamily="18" charset="0"/>
                <a:ea typeface="楷体_GB2312" pitchFamily="49" charset="-122"/>
              </a:rPr>
              <a:t>b</a:t>
            </a:r>
          </a:p>
        </p:txBody>
      </p:sp>
      <p:sp>
        <p:nvSpPr>
          <p:cNvPr id="50" name="Line 46">
            <a:extLst>
              <a:ext uri="{FF2B5EF4-FFF2-40B4-BE49-F238E27FC236}">
                <a16:creationId xmlns:a16="http://schemas.microsoft.com/office/drawing/2014/main" id="{2FC601C3-DB74-8F0A-1DDA-18BFCB466D4C}"/>
              </a:ext>
            </a:extLst>
          </p:cNvPr>
          <p:cNvSpPr>
            <a:spLocks noChangeShapeType="1"/>
          </p:cNvSpPr>
          <p:nvPr/>
        </p:nvSpPr>
        <p:spPr bwMode="auto">
          <a:xfrm>
            <a:off x="7207250" y="1463675"/>
            <a:ext cx="0" cy="124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1" name="Rectangle 47">
            <a:extLst>
              <a:ext uri="{FF2B5EF4-FFF2-40B4-BE49-F238E27FC236}">
                <a16:creationId xmlns:a16="http://schemas.microsoft.com/office/drawing/2014/main" id="{A84ED420-C7F1-7588-9F9C-ECB3623E2FC4}"/>
              </a:ext>
            </a:extLst>
          </p:cNvPr>
          <p:cNvSpPr>
            <a:spLocks noChangeArrowheads="1"/>
          </p:cNvSpPr>
          <p:nvPr/>
        </p:nvSpPr>
        <p:spPr bwMode="auto">
          <a:xfrm>
            <a:off x="7104063" y="1739900"/>
            <a:ext cx="150812" cy="41433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2" name="Line 48">
            <a:extLst>
              <a:ext uri="{FF2B5EF4-FFF2-40B4-BE49-F238E27FC236}">
                <a16:creationId xmlns:a16="http://schemas.microsoft.com/office/drawing/2014/main" id="{7785A805-C47A-F8A7-8DBF-9AA93ECA04A1}"/>
              </a:ext>
            </a:extLst>
          </p:cNvPr>
          <p:cNvSpPr>
            <a:spLocks noChangeShapeType="1"/>
          </p:cNvSpPr>
          <p:nvPr/>
        </p:nvSpPr>
        <p:spPr bwMode="auto">
          <a:xfrm>
            <a:off x="7204075" y="1463675"/>
            <a:ext cx="12382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3" name="Line 49">
            <a:extLst>
              <a:ext uri="{FF2B5EF4-FFF2-40B4-BE49-F238E27FC236}">
                <a16:creationId xmlns:a16="http://schemas.microsoft.com/office/drawing/2014/main" id="{C4024105-D630-ED0B-8B5A-A258743A5F37}"/>
              </a:ext>
            </a:extLst>
          </p:cNvPr>
          <p:cNvSpPr>
            <a:spLocks noChangeShapeType="1"/>
          </p:cNvSpPr>
          <p:nvPr/>
        </p:nvSpPr>
        <p:spPr bwMode="auto">
          <a:xfrm flipV="1">
            <a:off x="7210425" y="2708275"/>
            <a:ext cx="665163"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4" name="Line 50">
            <a:extLst>
              <a:ext uri="{FF2B5EF4-FFF2-40B4-BE49-F238E27FC236}">
                <a16:creationId xmlns:a16="http://schemas.microsoft.com/office/drawing/2014/main" id="{AD5CBF90-7F2B-7ABC-C91E-B1B6F4C417D3}"/>
              </a:ext>
            </a:extLst>
          </p:cNvPr>
          <p:cNvSpPr>
            <a:spLocks noChangeShapeType="1"/>
          </p:cNvSpPr>
          <p:nvPr/>
        </p:nvSpPr>
        <p:spPr bwMode="auto">
          <a:xfrm>
            <a:off x="7858125" y="2544763"/>
            <a:ext cx="0" cy="365125"/>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5" name="Line 51">
            <a:extLst>
              <a:ext uri="{FF2B5EF4-FFF2-40B4-BE49-F238E27FC236}">
                <a16:creationId xmlns:a16="http://schemas.microsoft.com/office/drawing/2014/main" id="{2ABB4018-E536-7DFF-A988-D881F4D6A93F}"/>
              </a:ext>
            </a:extLst>
          </p:cNvPr>
          <p:cNvSpPr>
            <a:spLocks noChangeShapeType="1"/>
          </p:cNvSpPr>
          <p:nvPr/>
        </p:nvSpPr>
        <p:spPr bwMode="auto">
          <a:xfrm>
            <a:off x="7858125" y="2727325"/>
            <a:ext cx="225425" cy="188913"/>
          </a:xfrm>
          <a:prstGeom prst="line">
            <a:avLst/>
          </a:prstGeom>
          <a:noFill/>
          <a:ln w="38100">
            <a:solidFill>
              <a:srgbClr val="CC3300"/>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6" name="Line 52">
            <a:extLst>
              <a:ext uri="{FF2B5EF4-FFF2-40B4-BE49-F238E27FC236}">
                <a16:creationId xmlns:a16="http://schemas.microsoft.com/office/drawing/2014/main" id="{8676051E-CAAE-6D0D-3BA2-0E03DC293B56}"/>
              </a:ext>
            </a:extLst>
          </p:cNvPr>
          <p:cNvSpPr>
            <a:spLocks noChangeShapeType="1"/>
          </p:cNvSpPr>
          <p:nvPr/>
        </p:nvSpPr>
        <p:spPr bwMode="auto">
          <a:xfrm flipH="1">
            <a:off x="8080375" y="1463675"/>
            <a:ext cx="0" cy="1104900"/>
          </a:xfrm>
          <a:prstGeom prst="line">
            <a:avLst/>
          </a:prstGeom>
          <a:noFill/>
          <a:ln w="38100">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7" name="Line 53">
            <a:extLst>
              <a:ext uri="{FF2B5EF4-FFF2-40B4-BE49-F238E27FC236}">
                <a16:creationId xmlns:a16="http://schemas.microsoft.com/office/drawing/2014/main" id="{173E6786-AF53-206D-5745-BACAAFA90103}"/>
              </a:ext>
            </a:extLst>
          </p:cNvPr>
          <p:cNvSpPr>
            <a:spLocks noChangeShapeType="1"/>
          </p:cNvSpPr>
          <p:nvPr/>
        </p:nvSpPr>
        <p:spPr bwMode="auto">
          <a:xfrm>
            <a:off x="8069263" y="2905125"/>
            <a:ext cx="0" cy="468313"/>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8" name="Text Box 54">
            <a:extLst>
              <a:ext uri="{FF2B5EF4-FFF2-40B4-BE49-F238E27FC236}">
                <a16:creationId xmlns:a16="http://schemas.microsoft.com/office/drawing/2014/main" id="{D674C1C3-F5F6-748F-2E12-1DF025FC80AA}"/>
              </a:ext>
            </a:extLst>
          </p:cNvPr>
          <p:cNvSpPr txBox="1">
            <a:spLocks noChangeArrowheads="1"/>
          </p:cNvSpPr>
          <p:nvPr/>
        </p:nvSpPr>
        <p:spPr bwMode="auto">
          <a:xfrm>
            <a:off x="7986713" y="944563"/>
            <a:ext cx="849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i="1">
                <a:latin typeface="Times New Roman" panose="02020603050405020304" pitchFamily="18" charset="0"/>
                <a:ea typeface="楷体_GB2312" pitchFamily="49" charset="-122"/>
              </a:rPr>
              <a:t>+V</a:t>
            </a:r>
            <a:r>
              <a:rPr kumimoji="1" lang="en-US" altLang="zh-CN" sz="2400" baseline="-10000">
                <a:latin typeface="Times New Roman" panose="02020603050405020304" pitchFamily="18" charset="0"/>
                <a:ea typeface="楷体_GB2312" pitchFamily="49" charset="-122"/>
              </a:rPr>
              <a:t>CC</a:t>
            </a:r>
          </a:p>
        </p:txBody>
      </p:sp>
      <p:sp>
        <p:nvSpPr>
          <p:cNvPr id="59" name="Rectangle 55">
            <a:extLst>
              <a:ext uri="{FF2B5EF4-FFF2-40B4-BE49-F238E27FC236}">
                <a16:creationId xmlns:a16="http://schemas.microsoft.com/office/drawing/2014/main" id="{1C91531C-B38C-EAB1-F5EE-085CAEF3A303}"/>
              </a:ext>
            </a:extLst>
          </p:cNvPr>
          <p:cNvSpPr>
            <a:spLocks noChangeArrowheads="1"/>
          </p:cNvSpPr>
          <p:nvPr/>
        </p:nvSpPr>
        <p:spPr bwMode="auto">
          <a:xfrm>
            <a:off x="7994650" y="1739900"/>
            <a:ext cx="149225" cy="41433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0" name="Oval 56">
            <a:extLst>
              <a:ext uri="{FF2B5EF4-FFF2-40B4-BE49-F238E27FC236}">
                <a16:creationId xmlns:a16="http://schemas.microsoft.com/office/drawing/2014/main" id="{1EA50F91-EB07-496E-E532-67E7209FFDD0}"/>
              </a:ext>
            </a:extLst>
          </p:cNvPr>
          <p:cNvSpPr>
            <a:spLocks noChangeArrowheads="1"/>
          </p:cNvSpPr>
          <p:nvPr/>
        </p:nvSpPr>
        <p:spPr bwMode="auto">
          <a:xfrm>
            <a:off x="8439150" y="1416050"/>
            <a:ext cx="109538" cy="984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1" name="Text Box 57">
            <a:extLst>
              <a:ext uri="{FF2B5EF4-FFF2-40B4-BE49-F238E27FC236}">
                <a16:creationId xmlns:a16="http://schemas.microsoft.com/office/drawing/2014/main" id="{11E9A7B7-EE2F-1360-972B-C348FAE569D3}"/>
              </a:ext>
            </a:extLst>
          </p:cNvPr>
          <p:cNvSpPr txBox="1">
            <a:spLocks noChangeArrowheads="1"/>
          </p:cNvSpPr>
          <p:nvPr/>
        </p:nvSpPr>
        <p:spPr bwMode="auto">
          <a:xfrm>
            <a:off x="7456488" y="1698625"/>
            <a:ext cx="53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Rc</a:t>
            </a:r>
          </a:p>
        </p:txBody>
      </p:sp>
      <p:sp>
        <p:nvSpPr>
          <p:cNvPr id="62" name="Line 58">
            <a:extLst>
              <a:ext uri="{FF2B5EF4-FFF2-40B4-BE49-F238E27FC236}">
                <a16:creationId xmlns:a16="http://schemas.microsoft.com/office/drawing/2014/main" id="{D6C12C96-8DD5-7687-0ACD-1DD85FD8FDA2}"/>
              </a:ext>
            </a:extLst>
          </p:cNvPr>
          <p:cNvSpPr>
            <a:spLocks noChangeShapeType="1"/>
          </p:cNvSpPr>
          <p:nvPr/>
        </p:nvSpPr>
        <p:spPr bwMode="auto">
          <a:xfrm flipV="1">
            <a:off x="7950200" y="3373438"/>
            <a:ext cx="2587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3" name="Line 59">
            <a:extLst>
              <a:ext uri="{FF2B5EF4-FFF2-40B4-BE49-F238E27FC236}">
                <a16:creationId xmlns:a16="http://schemas.microsoft.com/office/drawing/2014/main" id="{A0E5BBDA-BC8C-D936-5D9E-6D3343A2FAAB}"/>
              </a:ext>
            </a:extLst>
          </p:cNvPr>
          <p:cNvSpPr>
            <a:spLocks noChangeShapeType="1"/>
          </p:cNvSpPr>
          <p:nvPr/>
        </p:nvSpPr>
        <p:spPr bwMode="auto">
          <a:xfrm flipV="1">
            <a:off x="7858125" y="2551113"/>
            <a:ext cx="225425" cy="16351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4" name="Line 60">
            <a:extLst>
              <a:ext uri="{FF2B5EF4-FFF2-40B4-BE49-F238E27FC236}">
                <a16:creationId xmlns:a16="http://schemas.microsoft.com/office/drawing/2014/main" id="{74EFD5A6-A7E7-7FB6-E50E-3200CB02E62C}"/>
              </a:ext>
            </a:extLst>
          </p:cNvPr>
          <p:cNvSpPr>
            <a:spLocks noChangeShapeType="1"/>
          </p:cNvSpPr>
          <p:nvPr/>
        </p:nvSpPr>
        <p:spPr bwMode="auto">
          <a:xfrm>
            <a:off x="8294688" y="1655763"/>
            <a:ext cx="0" cy="530225"/>
          </a:xfrm>
          <a:prstGeom prst="line">
            <a:avLst/>
          </a:prstGeom>
          <a:noFill/>
          <a:ln w="38100">
            <a:solidFill>
              <a:srgbClr val="0000FF"/>
            </a:solidFill>
            <a:round/>
            <a:headEnd/>
            <a:tailEnd type="arrow"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5" name="Text Box 61">
            <a:extLst>
              <a:ext uri="{FF2B5EF4-FFF2-40B4-BE49-F238E27FC236}">
                <a16:creationId xmlns:a16="http://schemas.microsoft.com/office/drawing/2014/main" id="{65D639A2-E3DB-1DE5-5173-5F8BA6EB981C}"/>
              </a:ext>
            </a:extLst>
          </p:cNvPr>
          <p:cNvSpPr txBox="1">
            <a:spLocks noChangeArrowheads="1"/>
          </p:cNvSpPr>
          <p:nvPr/>
        </p:nvSpPr>
        <p:spPr bwMode="auto">
          <a:xfrm>
            <a:off x="8393113" y="1604963"/>
            <a:ext cx="509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C</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66" name="Text Box 62">
            <a:extLst>
              <a:ext uri="{FF2B5EF4-FFF2-40B4-BE49-F238E27FC236}">
                <a16:creationId xmlns:a16="http://schemas.microsoft.com/office/drawing/2014/main" id="{103C6C57-80D0-8C68-6DDD-8BB5EB2725D3}"/>
              </a:ext>
            </a:extLst>
          </p:cNvPr>
          <p:cNvSpPr txBox="1">
            <a:spLocks noChangeArrowheads="1"/>
          </p:cNvSpPr>
          <p:nvPr/>
        </p:nvSpPr>
        <p:spPr bwMode="auto">
          <a:xfrm>
            <a:off x="6497638" y="2133600"/>
            <a:ext cx="40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B</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67" name="Text Box 63">
            <a:extLst>
              <a:ext uri="{FF2B5EF4-FFF2-40B4-BE49-F238E27FC236}">
                <a16:creationId xmlns:a16="http://schemas.microsoft.com/office/drawing/2014/main" id="{7FADDCDD-DF1C-5496-2E2D-E4EED930DC40}"/>
              </a:ext>
            </a:extLst>
          </p:cNvPr>
          <p:cNvSpPr txBox="1">
            <a:spLocks noChangeArrowheads="1"/>
          </p:cNvSpPr>
          <p:nvPr/>
        </p:nvSpPr>
        <p:spPr bwMode="auto">
          <a:xfrm>
            <a:off x="8245475" y="2293938"/>
            <a:ext cx="173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solidFill>
                  <a:srgbClr val="0000FF"/>
                </a:solidFill>
                <a:latin typeface="Times New Roman" panose="02020603050405020304" pitchFamily="18" charset="0"/>
                <a:ea typeface="楷体_GB2312" pitchFamily="49" charset="-122"/>
              </a:rPr>
              <a:t>+</a:t>
            </a:r>
          </a:p>
        </p:txBody>
      </p:sp>
      <p:sp>
        <p:nvSpPr>
          <p:cNvPr id="68" name="Text Box 64">
            <a:extLst>
              <a:ext uri="{FF2B5EF4-FFF2-40B4-BE49-F238E27FC236}">
                <a16:creationId xmlns:a16="http://schemas.microsoft.com/office/drawing/2014/main" id="{82C58B70-D964-0CC5-2663-D992083F74F8}"/>
              </a:ext>
            </a:extLst>
          </p:cNvPr>
          <p:cNvSpPr txBox="1">
            <a:spLocks noChangeArrowheads="1"/>
          </p:cNvSpPr>
          <p:nvPr/>
        </p:nvSpPr>
        <p:spPr bwMode="auto">
          <a:xfrm>
            <a:off x="8256588" y="2806700"/>
            <a:ext cx="152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b="0">
                <a:solidFill>
                  <a:srgbClr val="0000FF"/>
                </a:solidFill>
                <a:latin typeface="Times New Roman" panose="02020603050405020304" pitchFamily="18" charset="0"/>
                <a:ea typeface="楷体_GB2312" pitchFamily="49" charset="-122"/>
              </a:rPr>
              <a:t>-</a:t>
            </a:r>
          </a:p>
        </p:txBody>
      </p:sp>
      <p:sp>
        <p:nvSpPr>
          <p:cNvPr id="69" name="Text Box 65">
            <a:extLst>
              <a:ext uri="{FF2B5EF4-FFF2-40B4-BE49-F238E27FC236}">
                <a16:creationId xmlns:a16="http://schemas.microsoft.com/office/drawing/2014/main" id="{A811D020-900E-9A5E-C7AC-41FB2A7BB0FE}"/>
              </a:ext>
            </a:extLst>
          </p:cNvPr>
          <p:cNvSpPr txBox="1">
            <a:spLocks noChangeArrowheads="1"/>
          </p:cNvSpPr>
          <p:nvPr/>
        </p:nvSpPr>
        <p:spPr bwMode="auto">
          <a:xfrm>
            <a:off x="8204200" y="2557463"/>
            <a:ext cx="415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v</a:t>
            </a:r>
            <a:r>
              <a:rPr kumimoji="1" lang="en-US" altLang="zh-CN" sz="2400" baseline="-15000">
                <a:solidFill>
                  <a:srgbClr val="0000FF"/>
                </a:solidFill>
                <a:latin typeface="Times New Roman" panose="02020603050405020304" pitchFamily="18" charset="0"/>
                <a:ea typeface="楷体_GB2312" pitchFamily="49" charset="-122"/>
              </a:rPr>
              <a:t>CE</a:t>
            </a:r>
          </a:p>
        </p:txBody>
      </p:sp>
      <p:sp>
        <p:nvSpPr>
          <p:cNvPr id="70" name="Line 66">
            <a:extLst>
              <a:ext uri="{FF2B5EF4-FFF2-40B4-BE49-F238E27FC236}">
                <a16:creationId xmlns:a16="http://schemas.microsoft.com/office/drawing/2014/main" id="{3CD4799C-E7DB-E654-40D4-40C285E24CE3}"/>
              </a:ext>
            </a:extLst>
          </p:cNvPr>
          <p:cNvSpPr>
            <a:spLocks noChangeShapeType="1"/>
          </p:cNvSpPr>
          <p:nvPr/>
        </p:nvSpPr>
        <p:spPr bwMode="auto">
          <a:xfrm>
            <a:off x="6958013" y="2168525"/>
            <a:ext cx="0" cy="528638"/>
          </a:xfrm>
          <a:prstGeom prst="line">
            <a:avLst/>
          </a:prstGeom>
          <a:noFill/>
          <a:ln w="38100">
            <a:solidFill>
              <a:srgbClr val="0000FF"/>
            </a:solidFill>
            <a:round/>
            <a:headEnd/>
            <a:tailEnd type="arrow"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1" name="Text Box 67">
            <a:extLst>
              <a:ext uri="{FF2B5EF4-FFF2-40B4-BE49-F238E27FC236}">
                <a16:creationId xmlns:a16="http://schemas.microsoft.com/office/drawing/2014/main" id="{4754FD01-7A56-47C4-3C28-24D1353D83B4}"/>
              </a:ext>
            </a:extLst>
          </p:cNvPr>
          <p:cNvSpPr txBox="1">
            <a:spLocks noChangeArrowheads="1"/>
          </p:cNvSpPr>
          <p:nvPr/>
        </p:nvSpPr>
        <p:spPr bwMode="auto">
          <a:xfrm>
            <a:off x="7397750" y="3060700"/>
            <a:ext cx="152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b="0">
                <a:solidFill>
                  <a:srgbClr val="0000FF"/>
                </a:solidFill>
                <a:latin typeface="Times New Roman" panose="02020603050405020304" pitchFamily="18" charset="0"/>
                <a:ea typeface="楷体_GB2312" pitchFamily="49" charset="-122"/>
              </a:rPr>
              <a:t>-</a:t>
            </a:r>
          </a:p>
        </p:txBody>
      </p:sp>
      <p:sp>
        <p:nvSpPr>
          <p:cNvPr id="72" name="Text Box 68">
            <a:extLst>
              <a:ext uri="{FF2B5EF4-FFF2-40B4-BE49-F238E27FC236}">
                <a16:creationId xmlns:a16="http://schemas.microsoft.com/office/drawing/2014/main" id="{8C3DF612-391D-854D-A93D-8D2AB9E6577B}"/>
              </a:ext>
            </a:extLst>
          </p:cNvPr>
          <p:cNvSpPr txBox="1">
            <a:spLocks noChangeArrowheads="1"/>
          </p:cNvSpPr>
          <p:nvPr/>
        </p:nvSpPr>
        <p:spPr bwMode="auto">
          <a:xfrm>
            <a:off x="7345363" y="2852738"/>
            <a:ext cx="4048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v</a:t>
            </a:r>
            <a:r>
              <a:rPr kumimoji="1" lang="en-US" altLang="zh-CN" sz="2400" baseline="-15000">
                <a:solidFill>
                  <a:srgbClr val="0000FF"/>
                </a:solidFill>
                <a:latin typeface="Times New Roman" panose="02020603050405020304" pitchFamily="18" charset="0"/>
                <a:ea typeface="楷体_GB2312" pitchFamily="49" charset="-122"/>
              </a:rPr>
              <a:t>BE</a:t>
            </a:r>
          </a:p>
        </p:txBody>
      </p:sp>
      <p:sp>
        <p:nvSpPr>
          <p:cNvPr id="73" name="Text Box 69">
            <a:extLst>
              <a:ext uri="{FF2B5EF4-FFF2-40B4-BE49-F238E27FC236}">
                <a16:creationId xmlns:a16="http://schemas.microsoft.com/office/drawing/2014/main" id="{B1A9AD69-8A75-FECC-B8C1-2D1986963DCC}"/>
              </a:ext>
            </a:extLst>
          </p:cNvPr>
          <p:cNvSpPr txBox="1">
            <a:spLocks noChangeArrowheads="1"/>
          </p:cNvSpPr>
          <p:nvPr/>
        </p:nvSpPr>
        <p:spPr bwMode="auto">
          <a:xfrm>
            <a:off x="7388225" y="2636838"/>
            <a:ext cx="173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solidFill>
                  <a:srgbClr val="0000FF"/>
                </a:solidFill>
                <a:latin typeface="Times New Roman" panose="02020603050405020304" pitchFamily="18" charset="0"/>
                <a:ea typeface="楷体_GB2312" pitchFamily="49" charset="-122"/>
              </a:rPr>
              <a:t>+</a:t>
            </a:r>
          </a:p>
        </p:txBody>
      </p:sp>
      <p:grpSp>
        <p:nvGrpSpPr>
          <p:cNvPr id="74" name="Group 5">
            <a:extLst>
              <a:ext uri="{FF2B5EF4-FFF2-40B4-BE49-F238E27FC236}">
                <a16:creationId xmlns:a16="http://schemas.microsoft.com/office/drawing/2014/main" id="{4EE1D271-FAC6-872B-A7FD-7E46C4755E69}"/>
              </a:ext>
            </a:extLst>
          </p:cNvPr>
          <p:cNvGrpSpPr>
            <a:grpSpLocks/>
          </p:cNvGrpSpPr>
          <p:nvPr/>
        </p:nvGrpSpPr>
        <p:grpSpPr bwMode="auto">
          <a:xfrm>
            <a:off x="4738820" y="3782898"/>
            <a:ext cx="4103687" cy="2395537"/>
            <a:chOff x="2857" y="232"/>
            <a:chExt cx="2585" cy="1509"/>
          </a:xfrm>
        </p:grpSpPr>
        <p:grpSp>
          <p:nvGrpSpPr>
            <p:cNvPr id="75" name="Group 6">
              <a:extLst>
                <a:ext uri="{FF2B5EF4-FFF2-40B4-BE49-F238E27FC236}">
                  <a16:creationId xmlns:a16="http://schemas.microsoft.com/office/drawing/2014/main" id="{EF57E045-1E4D-3616-39F2-3C3AA704F3A1}"/>
                </a:ext>
              </a:extLst>
            </p:cNvPr>
            <p:cNvGrpSpPr>
              <a:grpSpLocks/>
            </p:cNvGrpSpPr>
            <p:nvPr/>
          </p:nvGrpSpPr>
          <p:grpSpPr bwMode="auto">
            <a:xfrm>
              <a:off x="2857" y="608"/>
              <a:ext cx="2585" cy="1133"/>
              <a:chOff x="3129" y="656"/>
              <a:chExt cx="2476" cy="1085"/>
            </a:xfrm>
          </p:grpSpPr>
          <p:sp>
            <p:nvSpPr>
              <p:cNvPr id="80" name="Text Box 7">
                <a:extLst>
                  <a:ext uri="{FF2B5EF4-FFF2-40B4-BE49-F238E27FC236}">
                    <a16:creationId xmlns:a16="http://schemas.microsoft.com/office/drawing/2014/main" id="{7156AC41-0EAF-4FEE-2D39-D854A80C2A0C}"/>
                  </a:ext>
                </a:extLst>
              </p:cNvPr>
              <p:cNvSpPr txBox="1">
                <a:spLocks noChangeArrowheads="1"/>
              </p:cNvSpPr>
              <p:nvPr/>
            </p:nvSpPr>
            <p:spPr bwMode="auto">
              <a:xfrm>
                <a:off x="3368" y="1094"/>
                <a:ext cx="32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a:t>
                </a:r>
                <a:r>
                  <a:rPr kumimoji="1" lang="en-US" altLang="zh-CN" sz="2000">
                    <a:latin typeface="Times New Roman" panose="02020603050405020304" pitchFamily="18" charset="0"/>
                    <a:ea typeface="楷体_GB2312" pitchFamily="49" charset="-122"/>
                  </a:rPr>
                  <a:t>b</a:t>
                </a:r>
              </a:p>
            </p:txBody>
          </p:sp>
          <p:sp>
            <p:nvSpPr>
              <p:cNvPr id="81" name="Line 8">
                <a:extLst>
                  <a:ext uri="{FF2B5EF4-FFF2-40B4-BE49-F238E27FC236}">
                    <a16:creationId xmlns:a16="http://schemas.microsoft.com/office/drawing/2014/main" id="{C2FC58AF-DB33-8089-9B38-B8EE3E81F914}"/>
                  </a:ext>
                </a:extLst>
              </p:cNvPr>
              <p:cNvSpPr>
                <a:spLocks noChangeShapeType="1"/>
              </p:cNvSpPr>
              <p:nvPr/>
            </p:nvSpPr>
            <p:spPr bwMode="auto">
              <a:xfrm flipV="1">
                <a:off x="3769" y="920"/>
                <a:ext cx="0" cy="649"/>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2" name="Rectangle 9">
                <a:extLst>
                  <a:ext uri="{FF2B5EF4-FFF2-40B4-BE49-F238E27FC236}">
                    <a16:creationId xmlns:a16="http://schemas.microsoft.com/office/drawing/2014/main" id="{784238BE-802B-2B5C-3289-19D34A7CF503}"/>
                  </a:ext>
                </a:extLst>
              </p:cNvPr>
              <p:cNvSpPr>
                <a:spLocks noChangeArrowheads="1"/>
              </p:cNvSpPr>
              <p:nvPr/>
            </p:nvSpPr>
            <p:spPr bwMode="auto">
              <a:xfrm>
                <a:off x="3714" y="1093"/>
                <a:ext cx="109" cy="30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3" name="Line 10">
                <a:extLst>
                  <a:ext uri="{FF2B5EF4-FFF2-40B4-BE49-F238E27FC236}">
                    <a16:creationId xmlns:a16="http://schemas.microsoft.com/office/drawing/2014/main" id="{056855CC-A7EB-BBA4-085A-4BE7C10BC25E}"/>
                  </a:ext>
                </a:extLst>
              </p:cNvPr>
              <p:cNvSpPr>
                <a:spLocks noChangeShapeType="1"/>
              </p:cNvSpPr>
              <p:nvPr/>
            </p:nvSpPr>
            <p:spPr bwMode="auto">
              <a:xfrm flipV="1">
                <a:off x="3290" y="920"/>
                <a:ext cx="819"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4" name="Line 11">
                <a:extLst>
                  <a:ext uri="{FF2B5EF4-FFF2-40B4-BE49-F238E27FC236}">
                    <a16:creationId xmlns:a16="http://schemas.microsoft.com/office/drawing/2014/main" id="{9CD2A798-FFC0-A000-36F9-39E83809F161}"/>
                  </a:ext>
                </a:extLst>
              </p:cNvPr>
              <p:cNvSpPr>
                <a:spLocks noChangeShapeType="1"/>
              </p:cNvSpPr>
              <p:nvPr/>
            </p:nvSpPr>
            <p:spPr bwMode="auto">
              <a:xfrm>
                <a:off x="4096" y="798"/>
                <a:ext cx="0" cy="27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5" name="Line 12">
                <a:extLst>
                  <a:ext uri="{FF2B5EF4-FFF2-40B4-BE49-F238E27FC236}">
                    <a16:creationId xmlns:a16="http://schemas.microsoft.com/office/drawing/2014/main" id="{753AA9C4-61EE-CE6C-DC46-6132CD7DFC08}"/>
                  </a:ext>
                </a:extLst>
              </p:cNvPr>
              <p:cNvSpPr>
                <a:spLocks noChangeShapeType="1"/>
              </p:cNvSpPr>
              <p:nvPr/>
            </p:nvSpPr>
            <p:spPr bwMode="auto">
              <a:xfrm>
                <a:off x="4096" y="934"/>
                <a:ext cx="164" cy="140"/>
              </a:xfrm>
              <a:prstGeom prst="line">
                <a:avLst/>
              </a:prstGeom>
              <a:noFill/>
              <a:ln w="38100">
                <a:solidFill>
                  <a:srgbClr val="CC3300"/>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6" name="Line 13">
                <a:extLst>
                  <a:ext uri="{FF2B5EF4-FFF2-40B4-BE49-F238E27FC236}">
                    <a16:creationId xmlns:a16="http://schemas.microsoft.com/office/drawing/2014/main" id="{117DE292-D573-DFD3-05CB-2B23B36E0DA3}"/>
                  </a:ext>
                </a:extLst>
              </p:cNvPr>
              <p:cNvSpPr>
                <a:spLocks noChangeShapeType="1"/>
              </p:cNvSpPr>
              <p:nvPr/>
            </p:nvSpPr>
            <p:spPr bwMode="auto">
              <a:xfrm flipH="1">
                <a:off x="4720" y="710"/>
                <a:ext cx="0" cy="86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7" name="Line 14">
                <a:extLst>
                  <a:ext uri="{FF2B5EF4-FFF2-40B4-BE49-F238E27FC236}">
                    <a16:creationId xmlns:a16="http://schemas.microsoft.com/office/drawing/2014/main" id="{40EB84DE-57E2-3306-D92F-C542B0E0C78D}"/>
                  </a:ext>
                </a:extLst>
              </p:cNvPr>
              <p:cNvSpPr>
                <a:spLocks noChangeShapeType="1"/>
              </p:cNvSpPr>
              <p:nvPr/>
            </p:nvSpPr>
            <p:spPr bwMode="auto">
              <a:xfrm>
                <a:off x="4250" y="1065"/>
                <a:ext cx="0" cy="641"/>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8" name="Line 15">
                <a:extLst>
                  <a:ext uri="{FF2B5EF4-FFF2-40B4-BE49-F238E27FC236}">
                    <a16:creationId xmlns:a16="http://schemas.microsoft.com/office/drawing/2014/main" id="{953B93B3-4145-72CC-F844-58F29F309523}"/>
                  </a:ext>
                </a:extLst>
              </p:cNvPr>
              <p:cNvSpPr>
                <a:spLocks noChangeShapeType="1"/>
              </p:cNvSpPr>
              <p:nvPr/>
            </p:nvSpPr>
            <p:spPr bwMode="auto">
              <a:xfrm>
                <a:off x="3307" y="1575"/>
                <a:ext cx="2167"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9" name="Rectangle 16">
                <a:extLst>
                  <a:ext uri="{FF2B5EF4-FFF2-40B4-BE49-F238E27FC236}">
                    <a16:creationId xmlns:a16="http://schemas.microsoft.com/office/drawing/2014/main" id="{42350C08-09A0-0292-3E7A-7A3EB1CD1C4F}"/>
                  </a:ext>
                </a:extLst>
              </p:cNvPr>
              <p:cNvSpPr>
                <a:spLocks noChangeArrowheads="1"/>
              </p:cNvSpPr>
              <p:nvPr/>
            </p:nvSpPr>
            <p:spPr bwMode="auto">
              <a:xfrm>
                <a:off x="4666" y="915"/>
                <a:ext cx="109" cy="30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0" name="Oval 17">
                <a:extLst>
                  <a:ext uri="{FF2B5EF4-FFF2-40B4-BE49-F238E27FC236}">
                    <a16:creationId xmlns:a16="http://schemas.microsoft.com/office/drawing/2014/main" id="{B98CBAA2-36B4-50A9-F686-F335F84B36DA}"/>
                  </a:ext>
                </a:extLst>
              </p:cNvPr>
              <p:cNvSpPr>
                <a:spLocks noChangeArrowheads="1"/>
              </p:cNvSpPr>
              <p:nvPr/>
            </p:nvSpPr>
            <p:spPr bwMode="auto">
              <a:xfrm>
                <a:off x="3220" y="883"/>
                <a:ext cx="80"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1" name="Oval 18">
                <a:extLst>
                  <a:ext uri="{FF2B5EF4-FFF2-40B4-BE49-F238E27FC236}">
                    <a16:creationId xmlns:a16="http://schemas.microsoft.com/office/drawing/2014/main" id="{72215A28-FCD8-DC0F-8C7A-0AF4912A30F0}"/>
                  </a:ext>
                </a:extLst>
              </p:cNvPr>
              <p:cNvSpPr>
                <a:spLocks noChangeArrowheads="1"/>
              </p:cNvSpPr>
              <p:nvPr/>
            </p:nvSpPr>
            <p:spPr bwMode="auto">
              <a:xfrm>
                <a:off x="3226" y="1537"/>
                <a:ext cx="78"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2" name="Line 19">
                <a:extLst>
                  <a:ext uri="{FF2B5EF4-FFF2-40B4-BE49-F238E27FC236}">
                    <a16:creationId xmlns:a16="http://schemas.microsoft.com/office/drawing/2014/main" id="{358916E1-9F61-0889-C75F-56BBCE26103D}"/>
                  </a:ext>
                </a:extLst>
              </p:cNvPr>
              <p:cNvSpPr>
                <a:spLocks noChangeShapeType="1"/>
              </p:cNvSpPr>
              <p:nvPr/>
            </p:nvSpPr>
            <p:spPr bwMode="auto">
              <a:xfrm flipH="1">
                <a:off x="4252" y="699"/>
                <a:ext cx="12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93" name="Text Box 20">
                <a:extLst>
                  <a:ext uri="{FF2B5EF4-FFF2-40B4-BE49-F238E27FC236}">
                    <a16:creationId xmlns:a16="http://schemas.microsoft.com/office/drawing/2014/main" id="{F0C91A8A-92A7-6A3E-45FB-0952A1DC6CF4}"/>
                  </a:ext>
                </a:extLst>
              </p:cNvPr>
              <p:cNvSpPr txBox="1">
                <a:spLocks noChangeArrowheads="1"/>
              </p:cNvSpPr>
              <p:nvPr/>
            </p:nvSpPr>
            <p:spPr bwMode="auto">
              <a:xfrm>
                <a:off x="4333" y="916"/>
                <a:ext cx="3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Rc</a:t>
                </a:r>
              </a:p>
            </p:txBody>
          </p:sp>
          <p:sp>
            <p:nvSpPr>
              <p:cNvPr id="94" name="Line 21">
                <a:extLst>
                  <a:ext uri="{FF2B5EF4-FFF2-40B4-BE49-F238E27FC236}">
                    <a16:creationId xmlns:a16="http://schemas.microsoft.com/office/drawing/2014/main" id="{7FB0B263-7F35-CF25-1870-7EA7AD16A718}"/>
                  </a:ext>
                </a:extLst>
              </p:cNvPr>
              <p:cNvSpPr>
                <a:spLocks noChangeShapeType="1"/>
              </p:cNvSpPr>
              <p:nvPr/>
            </p:nvSpPr>
            <p:spPr bwMode="auto">
              <a:xfrm>
                <a:off x="4250" y="1583"/>
                <a:ext cx="0" cy="15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95" name="Line 22">
                <a:extLst>
                  <a:ext uri="{FF2B5EF4-FFF2-40B4-BE49-F238E27FC236}">
                    <a16:creationId xmlns:a16="http://schemas.microsoft.com/office/drawing/2014/main" id="{29976AAF-7E61-2270-41DA-A6A2D29B52A8}"/>
                  </a:ext>
                </a:extLst>
              </p:cNvPr>
              <p:cNvSpPr>
                <a:spLocks noChangeShapeType="1"/>
              </p:cNvSpPr>
              <p:nvPr/>
            </p:nvSpPr>
            <p:spPr bwMode="auto">
              <a:xfrm flipV="1">
                <a:off x="4163" y="1741"/>
                <a:ext cx="18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96" name="Oval 23">
                <a:extLst>
                  <a:ext uri="{FF2B5EF4-FFF2-40B4-BE49-F238E27FC236}">
                    <a16:creationId xmlns:a16="http://schemas.microsoft.com/office/drawing/2014/main" id="{45A92B2F-50BC-0F9D-A272-62A726AF6680}"/>
                  </a:ext>
                </a:extLst>
              </p:cNvPr>
              <p:cNvSpPr>
                <a:spLocks noChangeArrowheads="1"/>
              </p:cNvSpPr>
              <p:nvPr/>
            </p:nvSpPr>
            <p:spPr bwMode="auto">
              <a:xfrm>
                <a:off x="4230" y="1555"/>
                <a:ext cx="38" cy="37"/>
              </a:xfrm>
              <a:prstGeom prst="ellipse">
                <a:avLst/>
              </a:prstGeom>
              <a:solidFill>
                <a:schemeClr val="tx1"/>
              </a:solidFill>
              <a:ln w="38100">
                <a:solidFill>
                  <a:schemeClr val="tx1"/>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7" name="Text Box 24">
                <a:extLst>
                  <a:ext uri="{FF2B5EF4-FFF2-40B4-BE49-F238E27FC236}">
                    <a16:creationId xmlns:a16="http://schemas.microsoft.com/office/drawing/2014/main" id="{F8CEC7BB-0A2C-AD4D-6A18-1C33C3C42872}"/>
                  </a:ext>
                </a:extLst>
              </p:cNvPr>
              <p:cNvSpPr txBox="1">
                <a:spLocks noChangeArrowheads="1"/>
              </p:cNvSpPr>
              <p:nvPr/>
            </p:nvSpPr>
            <p:spPr bwMode="auto">
              <a:xfrm>
                <a:off x="3158" y="953"/>
                <a:ext cx="19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latin typeface="Times New Roman" panose="02020603050405020304" pitchFamily="18" charset="0"/>
                    <a:ea typeface="楷体_GB2312" pitchFamily="49" charset="-122"/>
                  </a:rPr>
                  <a:t>+</a:t>
                </a:r>
              </a:p>
            </p:txBody>
          </p:sp>
          <p:sp>
            <p:nvSpPr>
              <p:cNvPr id="98" name="Text Box 25">
                <a:extLst>
                  <a:ext uri="{FF2B5EF4-FFF2-40B4-BE49-F238E27FC236}">
                    <a16:creationId xmlns:a16="http://schemas.microsoft.com/office/drawing/2014/main" id="{E6E733D3-1725-A04E-4DD7-25FCAFBD49EE}"/>
                  </a:ext>
                </a:extLst>
              </p:cNvPr>
              <p:cNvSpPr txBox="1">
                <a:spLocks noChangeArrowheads="1"/>
              </p:cNvSpPr>
              <p:nvPr/>
            </p:nvSpPr>
            <p:spPr bwMode="auto">
              <a:xfrm>
                <a:off x="3209" y="1288"/>
                <a:ext cx="62"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b="0">
                    <a:latin typeface="Times New Roman" panose="02020603050405020304" pitchFamily="18" charset="0"/>
                    <a:ea typeface="楷体_GB2312" pitchFamily="49" charset="-122"/>
                  </a:rPr>
                  <a:t>-</a:t>
                </a:r>
              </a:p>
            </p:txBody>
          </p:sp>
          <p:sp>
            <p:nvSpPr>
              <p:cNvPr id="99" name="Text Box 26">
                <a:extLst>
                  <a:ext uri="{FF2B5EF4-FFF2-40B4-BE49-F238E27FC236}">
                    <a16:creationId xmlns:a16="http://schemas.microsoft.com/office/drawing/2014/main" id="{6C94A5A7-3276-58A4-A70A-F879C85E9FF0}"/>
                  </a:ext>
                </a:extLst>
              </p:cNvPr>
              <p:cNvSpPr txBox="1">
                <a:spLocks noChangeArrowheads="1"/>
              </p:cNvSpPr>
              <p:nvPr/>
            </p:nvSpPr>
            <p:spPr bwMode="auto">
              <a:xfrm>
                <a:off x="3129" y="1126"/>
                <a:ext cx="135"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5000">
                    <a:latin typeface="Times New Roman" panose="02020603050405020304" pitchFamily="18" charset="0"/>
                    <a:ea typeface="楷体_GB2312" pitchFamily="49" charset="-122"/>
                  </a:rPr>
                  <a:t>i</a:t>
                </a:r>
              </a:p>
            </p:txBody>
          </p:sp>
          <p:sp>
            <p:nvSpPr>
              <p:cNvPr id="100" name="Line 27">
                <a:extLst>
                  <a:ext uri="{FF2B5EF4-FFF2-40B4-BE49-F238E27FC236}">
                    <a16:creationId xmlns:a16="http://schemas.microsoft.com/office/drawing/2014/main" id="{B9DFCE20-F71D-EDE1-F948-9605021635E7}"/>
                  </a:ext>
                </a:extLst>
              </p:cNvPr>
              <p:cNvSpPr>
                <a:spLocks noChangeShapeType="1"/>
              </p:cNvSpPr>
              <p:nvPr/>
            </p:nvSpPr>
            <p:spPr bwMode="auto">
              <a:xfrm flipV="1">
                <a:off x="4096" y="803"/>
                <a:ext cx="164" cy="12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1" name="Oval 28">
                <a:extLst>
                  <a:ext uri="{FF2B5EF4-FFF2-40B4-BE49-F238E27FC236}">
                    <a16:creationId xmlns:a16="http://schemas.microsoft.com/office/drawing/2014/main" id="{A472D0A0-B6B9-B658-A874-0531A81C8D94}"/>
                  </a:ext>
                </a:extLst>
              </p:cNvPr>
              <p:cNvSpPr>
                <a:spLocks noChangeArrowheads="1"/>
              </p:cNvSpPr>
              <p:nvPr/>
            </p:nvSpPr>
            <p:spPr bwMode="auto">
              <a:xfrm flipH="1">
                <a:off x="5464" y="656"/>
                <a:ext cx="79"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2" name="Oval 29">
                <a:extLst>
                  <a:ext uri="{FF2B5EF4-FFF2-40B4-BE49-F238E27FC236}">
                    <a16:creationId xmlns:a16="http://schemas.microsoft.com/office/drawing/2014/main" id="{FCEBC741-4D0B-C6B4-A2C4-55104AF09BCD}"/>
                  </a:ext>
                </a:extLst>
              </p:cNvPr>
              <p:cNvSpPr>
                <a:spLocks noChangeArrowheads="1"/>
              </p:cNvSpPr>
              <p:nvPr/>
            </p:nvSpPr>
            <p:spPr bwMode="auto">
              <a:xfrm flipH="1">
                <a:off x="5464" y="1537"/>
                <a:ext cx="79"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3" name="Text Box 30">
                <a:extLst>
                  <a:ext uri="{FF2B5EF4-FFF2-40B4-BE49-F238E27FC236}">
                    <a16:creationId xmlns:a16="http://schemas.microsoft.com/office/drawing/2014/main" id="{9337E706-6D31-11A1-9F5E-8DBFFCE168F9}"/>
                  </a:ext>
                </a:extLst>
              </p:cNvPr>
              <p:cNvSpPr txBox="1">
                <a:spLocks noChangeArrowheads="1"/>
              </p:cNvSpPr>
              <p:nvPr/>
            </p:nvSpPr>
            <p:spPr bwMode="auto">
              <a:xfrm>
                <a:off x="5465" y="757"/>
                <a:ext cx="10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latin typeface="Times New Roman" panose="02020603050405020304" pitchFamily="18" charset="0"/>
                    <a:ea typeface="楷体_GB2312" pitchFamily="49" charset="-122"/>
                  </a:rPr>
                  <a:t>+</a:t>
                </a:r>
              </a:p>
            </p:txBody>
          </p:sp>
          <p:sp>
            <p:nvSpPr>
              <p:cNvPr id="104" name="Text Box 31">
                <a:extLst>
                  <a:ext uri="{FF2B5EF4-FFF2-40B4-BE49-F238E27FC236}">
                    <a16:creationId xmlns:a16="http://schemas.microsoft.com/office/drawing/2014/main" id="{183356D4-F826-FADF-EC54-620FC1DA9919}"/>
                  </a:ext>
                </a:extLst>
              </p:cNvPr>
              <p:cNvSpPr txBox="1">
                <a:spLocks noChangeArrowheads="1"/>
              </p:cNvSpPr>
              <p:nvPr/>
            </p:nvSpPr>
            <p:spPr bwMode="auto">
              <a:xfrm>
                <a:off x="5473" y="1271"/>
                <a:ext cx="62"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b="0">
                    <a:latin typeface="Times New Roman" panose="02020603050405020304" pitchFamily="18" charset="0"/>
                    <a:ea typeface="楷体_GB2312" pitchFamily="49" charset="-122"/>
                  </a:rPr>
                  <a:t>-</a:t>
                </a:r>
              </a:p>
            </p:txBody>
          </p:sp>
          <p:sp>
            <p:nvSpPr>
              <p:cNvPr id="105" name="Text Box 32">
                <a:extLst>
                  <a:ext uri="{FF2B5EF4-FFF2-40B4-BE49-F238E27FC236}">
                    <a16:creationId xmlns:a16="http://schemas.microsoft.com/office/drawing/2014/main" id="{CE62F1F6-3B7F-80F8-D9C5-6013E1E241CD}"/>
                  </a:ext>
                </a:extLst>
              </p:cNvPr>
              <p:cNvSpPr txBox="1">
                <a:spLocks noChangeArrowheads="1"/>
              </p:cNvSpPr>
              <p:nvPr/>
            </p:nvSpPr>
            <p:spPr bwMode="auto">
              <a:xfrm>
                <a:off x="5437" y="968"/>
                <a:ext cx="16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5000">
                    <a:latin typeface="Times New Roman" panose="02020603050405020304" pitchFamily="18" charset="0"/>
                    <a:ea typeface="楷体_GB2312" pitchFamily="49" charset="-122"/>
                  </a:rPr>
                  <a:t>o</a:t>
                </a:r>
              </a:p>
            </p:txBody>
          </p:sp>
          <p:sp>
            <p:nvSpPr>
              <p:cNvPr id="106" name="Line 33">
                <a:extLst>
                  <a:ext uri="{FF2B5EF4-FFF2-40B4-BE49-F238E27FC236}">
                    <a16:creationId xmlns:a16="http://schemas.microsoft.com/office/drawing/2014/main" id="{795AA05F-F448-7115-73FB-4438E0AF7B9D}"/>
                  </a:ext>
                </a:extLst>
              </p:cNvPr>
              <p:cNvSpPr>
                <a:spLocks noChangeShapeType="1"/>
              </p:cNvSpPr>
              <p:nvPr/>
            </p:nvSpPr>
            <p:spPr bwMode="auto">
              <a:xfrm flipH="1">
                <a:off x="5240" y="695"/>
                <a:ext cx="0" cy="883"/>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7" name="Rectangle 34">
                <a:extLst>
                  <a:ext uri="{FF2B5EF4-FFF2-40B4-BE49-F238E27FC236}">
                    <a16:creationId xmlns:a16="http://schemas.microsoft.com/office/drawing/2014/main" id="{756EB9A5-7E75-B7A3-0C43-A9D9E6171453}"/>
                  </a:ext>
                </a:extLst>
              </p:cNvPr>
              <p:cNvSpPr>
                <a:spLocks noChangeArrowheads="1"/>
              </p:cNvSpPr>
              <p:nvPr/>
            </p:nvSpPr>
            <p:spPr bwMode="auto">
              <a:xfrm>
                <a:off x="5185" y="943"/>
                <a:ext cx="108" cy="30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8" name="Text Box 35">
                <a:extLst>
                  <a:ext uri="{FF2B5EF4-FFF2-40B4-BE49-F238E27FC236}">
                    <a16:creationId xmlns:a16="http://schemas.microsoft.com/office/drawing/2014/main" id="{41C19E57-BD17-701D-CCB4-9C70B62A6DE5}"/>
                  </a:ext>
                </a:extLst>
              </p:cNvPr>
              <p:cNvSpPr txBox="1">
                <a:spLocks noChangeArrowheads="1"/>
              </p:cNvSpPr>
              <p:nvPr/>
            </p:nvSpPr>
            <p:spPr bwMode="auto">
              <a:xfrm>
                <a:off x="4871" y="947"/>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a:t>
                </a:r>
                <a:r>
                  <a:rPr kumimoji="1" lang="en-US" altLang="zh-CN" sz="1600">
                    <a:latin typeface="Times New Roman" panose="02020603050405020304" pitchFamily="18" charset="0"/>
                    <a:ea typeface="楷体_GB2312" pitchFamily="49" charset="-122"/>
                  </a:rPr>
                  <a:t>L</a:t>
                </a:r>
              </a:p>
            </p:txBody>
          </p:sp>
          <p:sp>
            <p:nvSpPr>
              <p:cNvPr id="109" name="Line 36">
                <a:extLst>
                  <a:ext uri="{FF2B5EF4-FFF2-40B4-BE49-F238E27FC236}">
                    <a16:creationId xmlns:a16="http://schemas.microsoft.com/office/drawing/2014/main" id="{31E9C1CE-DB89-7D26-3222-D9DF8711AC3E}"/>
                  </a:ext>
                </a:extLst>
              </p:cNvPr>
              <p:cNvSpPr>
                <a:spLocks noChangeShapeType="1"/>
              </p:cNvSpPr>
              <p:nvPr/>
            </p:nvSpPr>
            <p:spPr bwMode="auto">
              <a:xfrm>
                <a:off x="4260" y="694"/>
                <a:ext cx="0" cy="1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sp>
          <p:nvSpPr>
            <p:cNvPr id="76" name="Text Box 37">
              <a:extLst>
                <a:ext uri="{FF2B5EF4-FFF2-40B4-BE49-F238E27FC236}">
                  <a16:creationId xmlns:a16="http://schemas.microsoft.com/office/drawing/2014/main" id="{528875C6-AA9B-9F6B-3137-2FDE5B8D29AF}"/>
                </a:ext>
              </a:extLst>
            </p:cNvPr>
            <p:cNvSpPr txBox="1">
              <a:spLocks noChangeArrowheads="1"/>
            </p:cNvSpPr>
            <p:nvPr/>
          </p:nvSpPr>
          <p:spPr bwMode="auto">
            <a:xfrm>
              <a:off x="3560" y="459"/>
              <a:ext cx="2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B</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77" name="Line 38">
              <a:extLst>
                <a:ext uri="{FF2B5EF4-FFF2-40B4-BE49-F238E27FC236}">
                  <a16:creationId xmlns:a16="http://schemas.microsoft.com/office/drawing/2014/main" id="{6ED53252-AAE9-D7D8-475B-E200FCDF14D5}"/>
                </a:ext>
              </a:extLst>
            </p:cNvPr>
            <p:cNvSpPr>
              <a:spLocks noChangeShapeType="1"/>
            </p:cNvSpPr>
            <p:nvPr/>
          </p:nvSpPr>
          <p:spPr bwMode="auto">
            <a:xfrm>
              <a:off x="3583" y="793"/>
              <a:ext cx="204" cy="0"/>
            </a:xfrm>
            <a:prstGeom prst="line">
              <a:avLst/>
            </a:prstGeom>
            <a:noFill/>
            <a:ln w="28575">
              <a:solidFill>
                <a:srgbClr val="0000FF"/>
              </a:solidFill>
              <a:round/>
              <a:headEnd/>
              <a:tailEnd type="arrow"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8" name="Text Box 39">
              <a:extLst>
                <a:ext uri="{FF2B5EF4-FFF2-40B4-BE49-F238E27FC236}">
                  <a16:creationId xmlns:a16="http://schemas.microsoft.com/office/drawing/2014/main" id="{33091951-CD67-CAF9-3C3F-AA8808443072}"/>
                </a:ext>
              </a:extLst>
            </p:cNvPr>
            <p:cNvSpPr txBox="1">
              <a:spLocks noChangeArrowheads="1"/>
            </p:cNvSpPr>
            <p:nvPr/>
          </p:nvSpPr>
          <p:spPr bwMode="auto">
            <a:xfrm>
              <a:off x="4150" y="232"/>
              <a:ext cx="2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C</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79" name="Line 40">
              <a:extLst>
                <a:ext uri="{FF2B5EF4-FFF2-40B4-BE49-F238E27FC236}">
                  <a16:creationId xmlns:a16="http://schemas.microsoft.com/office/drawing/2014/main" id="{70C29A4D-2F71-02A2-71E8-12DFC1715143}"/>
                </a:ext>
              </a:extLst>
            </p:cNvPr>
            <p:cNvSpPr>
              <a:spLocks noChangeShapeType="1"/>
            </p:cNvSpPr>
            <p:nvPr/>
          </p:nvSpPr>
          <p:spPr bwMode="auto">
            <a:xfrm>
              <a:off x="4173" y="566"/>
              <a:ext cx="204" cy="0"/>
            </a:xfrm>
            <a:prstGeom prst="line">
              <a:avLst/>
            </a:prstGeom>
            <a:noFill/>
            <a:ln w="28575">
              <a:solidFill>
                <a:srgbClr val="0000FF"/>
              </a:solidFill>
              <a:round/>
              <a:headEnd type="arrow"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sp>
        <p:nvSpPr>
          <p:cNvPr id="110" name="Rectangle 43">
            <a:extLst>
              <a:ext uri="{FF2B5EF4-FFF2-40B4-BE49-F238E27FC236}">
                <a16:creationId xmlns:a16="http://schemas.microsoft.com/office/drawing/2014/main" id="{C65BD9AC-C638-2C64-2331-ADC2B34F62A6}"/>
              </a:ext>
            </a:extLst>
          </p:cNvPr>
          <p:cNvSpPr>
            <a:spLocks noChangeArrowheads="1"/>
          </p:cNvSpPr>
          <p:nvPr/>
        </p:nvSpPr>
        <p:spPr bwMode="auto">
          <a:xfrm>
            <a:off x="4630870" y="378289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交流通路</a:t>
            </a:r>
          </a:p>
        </p:txBody>
      </p:sp>
      <p:sp>
        <p:nvSpPr>
          <p:cNvPr id="111" name="Rectangle 43">
            <a:extLst>
              <a:ext uri="{FF2B5EF4-FFF2-40B4-BE49-F238E27FC236}">
                <a16:creationId xmlns:a16="http://schemas.microsoft.com/office/drawing/2014/main" id="{DCF48CED-C8E8-B246-6B27-1391D16BAFD6}"/>
              </a:ext>
            </a:extLst>
          </p:cNvPr>
          <p:cNvSpPr>
            <a:spLocks noChangeArrowheads="1"/>
          </p:cNvSpPr>
          <p:nvPr/>
        </p:nvSpPr>
        <p:spPr bwMode="auto">
          <a:xfrm>
            <a:off x="4686300" y="1438635"/>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直流通路</a:t>
            </a:r>
          </a:p>
        </p:txBody>
      </p:sp>
    </p:spTree>
    <p:extLst>
      <p:ext uri="{BB962C8B-B14F-4D97-AF65-F5344CB8AC3E}">
        <p14:creationId xmlns:p14="http://schemas.microsoft.com/office/powerpoint/2010/main" val="37476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E70FA-8D76-C23E-0DBE-43FD4EF1CB58}"/>
              </a:ext>
            </a:extLst>
          </p:cNvPr>
          <p:cNvSpPr>
            <a:spLocks noGrp="1"/>
          </p:cNvSpPr>
          <p:nvPr>
            <p:ph type="title"/>
          </p:nvPr>
        </p:nvSpPr>
        <p:spPr/>
        <p:txBody>
          <a:bodyPr>
            <a:normAutofit fontScale="90000"/>
          </a:bodyPr>
          <a:lstStyle/>
          <a:p>
            <a:r>
              <a:rPr kumimoji="1" lang="zh-CN" altLang="en-US" dirty="0"/>
              <a:t>直流</a:t>
            </a:r>
            <a:r>
              <a:rPr kumimoji="1" lang="en-US" altLang="zh-CN" dirty="0"/>
              <a:t>/</a:t>
            </a:r>
            <a:r>
              <a:rPr kumimoji="1" lang="zh-CN" altLang="en-US" dirty="0"/>
              <a:t>交流等效方法</a:t>
            </a:r>
          </a:p>
        </p:txBody>
      </p:sp>
      <p:sp>
        <p:nvSpPr>
          <p:cNvPr id="4" name="页脚占位符 3">
            <a:extLst>
              <a:ext uri="{FF2B5EF4-FFF2-40B4-BE49-F238E27FC236}">
                <a16:creationId xmlns:a16="http://schemas.microsoft.com/office/drawing/2014/main" id="{7E433531-B392-2456-6A4F-61C0B1D00675}"/>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D2C8D6CD-8E1B-F94A-F6C1-ED93903EAE85}"/>
              </a:ext>
            </a:extLst>
          </p:cNvPr>
          <p:cNvSpPr>
            <a:spLocks noGrp="1"/>
          </p:cNvSpPr>
          <p:nvPr>
            <p:ph type="sldNum" sz="quarter" idx="12"/>
          </p:nvPr>
        </p:nvSpPr>
        <p:spPr/>
        <p:txBody>
          <a:bodyPr/>
          <a:lstStyle/>
          <a:p>
            <a:fld id="{9E260BC5-5BF3-8746-862B-DC45E9CAA88B}" type="slidenum">
              <a:rPr lang="en-US" smtClean="0"/>
              <a:pPr/>
              <a:t>22</a:t>
            </a:fld>
            <a:r>
              <a:rPr lang="en-US" altLang="zh-CN" dirty="0"/>
              <a:t>/33</a:t>
            </a:r>
            <a:endParaRPr lang="en-US" dirty="0"/>
          </a:p>
        </p:txBody>
      </p:sp>
      <p:graphicFrame>
        <p:nvGraphicFramePr>
          <p:cNvPr id="6" name="表格 7">
            <a:extLst>
              <a:ext uri="{FF2B5EF4-FFF2-40B4-BE49-F238E27FC236}">
                <a16:creationId xmlns:a16="http://schemas.microsoft.com/office/drawing/2014/main" id="{8CDA9921-5DA8-B05F-998A-9BA2CCA3D6CC}"/>
              </a:ext>
            </a:extLst>
          </p:cNvPr>
          <p:cNvGraphicFramePr>
            <a:graphicFrameLocks noGrp="1"/>
          </p:cNvGraphicFramePr>
          <p:nvPr>
            <p:extLst>
              <p:ext uri="{D42A27DB-BD31-4B8C-83A1-F6EECF244321}">
                <p14:modId xmlns:p14="http://schemas.microsoft.com/office/powerpoint/2010/main" val="1686421217"/>
              </p:ext>
            </p:extLst>
          </p:nvPr>
        </p:nvGraphicFramePr>
        <p:xfrm>
          <a:off x="166902" y="2831871"/>
          <a:ext cx="9589976" cy="2237693"/>
        </p:xfrm>
        <a:graphic>
          <a:graphicData uri="http://schemas.openxmlformats.org/drawingml/2006/table">
            <a:tbl>
              <a:tblPr firstRow="1" bandRow="1">
                <a:tableStyleId>{5C22544A-7EE6-4342-B048-85BDC9FD1C3A}</a:tableStyleId>
              </a:tblPr>
              <a:tblGrid>
                <a:gridCol w="1198747">
                  <a:extLst>
                    <a:ext uri="{9D8B030D-6E8A-4147-A177-3AD203B41FA5}">
                      <a16:colId xmlns:a16="http://schemas.microsoft.com/office/drawing/2014/main" val="607158549"/>
                    </a:ext>
                  </a:extLst>
                </a:gridCol>
                <a:gridCol w="1446132">
                  <a:extLst>
                    <a:ext uri="{9D8B030D-6E8A-4147-A177-3AD203B41FA5}">
                      <a16:colId xmlns:a16="http://schemas.microsoft.com/office/drawing/2014/main" val="241199702"/>
                    </a:ext>
                  </a:extLst>
                </a:gridCol>
                <a:gridCol w="1406012">
                  <a:extLst>
                    <a:ext uri="{9D8B030D-6E8A-4147-A177-3AD203B41FA5}">
                      <a16:colId xmlns:a16="http://schemas.microsoft.com/office/drawing/2014/main" val="1830020200"/>
                    </a:ext>
                  </a:extLst>
                </a:gridCol>
                <a:gridCol w="1396181">
                  <a:extLst>
                    <a:ext uri="{9D8B030D-6E8A-4147-A177-3AD203B41FA5}">
                      <a16:colId xmlns:a16="http://schemas.microsoft.com/office/drawing/2014/main" val="1761114442"/>
                    </a:ext>
                  </a:extLst>
                </a:gridCol>
                <a:gridCol w="1465007">
                  <a:extLst>
                    <a:ext uri="{9D8B030D-6E8A-4147-A177-3AD203B41FA5}">
                      <a16:colId xmlns:a16="http://schemas.microsoft.com/office/drawing/2014/main" val="1777720442"/>
                    </a:ext>
                  </a:extLst>
                </a:gridCol>
                <a:gridCol w="698090">
                  <a:extLst>
                    <a:ext uri="{9D8B030D-6E8A-4147-A177-3AD203B41FA5}">
                      <a16:colId xmlns:a16="http://schemas.microsoft.com/office/drawing/2014/main" val="3406803493"/>
                    </a:ext>
                  </a:extLst>
                </a:gridCol>
                <a:gridCol w="781060">
                  <a:extLst>
                    <a:ext uri="{9D8B030D-6E8A-4147-A177-3AD203B41FA5}">
                      <a16:colId xmlns:a16="http://schemas.microsoft.com/office/drawing/2014/main" val="3108246383"/>
                    </a:ext>
                  </a:extLst>
                </a:gridCol>
                <a:gridCol w="1198747">
                  <a:extLst>
                    <a:ext uri="{9D8B030D-6E8A-4147-A177-3AD203B41FA5}">
                      <a16:colId xmlns:a16="http://schemas.microsoft.com/office/drawing/2014/main" val="3692685958"/>
                    </a:ext>
                  </a:extLst>
                </a:gridCol>
              </a:tblGrid>
              <a:tr h="395895">
                <a:tc>
                  <a:txBody>
                    <a:bodyPr/>
                    <a:lstStyle/>
                    <a:p>
                      <a:endParaRPr lang="zh-CN" altLang="en-US" b="0" dirty="0">
                        <a:solidFill>
                          <a:schemeClr val="bg1"/>
                        </a:solidFill>
                        <a:latin typeface="+mj-ea"/>
                        <a:ea typeface="+mj-ea"/>
                      </a:endParaRPr>
                    </a:p>
                  </a:txBody>
                  <a:tcPr/>
                </a:tc>
                <a:tc>
                  <a:txBody>
                    <a:bodyPr/>
                    <a:lstStyle/>
                    <a:p>
                      <a:r>
                        <a:rPr lang="zh-CN" altLang="en-US" b="0" dirty="0">
                          <a:solidFill>
                            <a:schemeClr val="bg1"/>
                          </a:solidFill>
                          <a:latin typeface="+mj-ea"/>
                          <a:ea typeface="+mj-ea"/>
                        </a:rPr>
                        <a:t>直流电压源</a:t>
                      </a:r>
                    </a:p>
                  </a:txBody>
                  <a:tcPr/>
                </a:tc>
                <a:tc>
                  <a:txBody>
                    <a:bodyPr/>
                    <a:lstStyle/>
                    <a:p>
                      <a:r>
                        <a:rPr lang="zh-CN" altLang="en-US" b="0" dirty="0">
                          <a:solidFill>
                            <a:schemeClr val="bg1"/>
                          </a:solidFill>
                          <a:latin typeface="+mj-ea"/>
                          <a:ea typeface="+mj-ea"/>
                        </a:rPr>
                        <a:t>交流电压源</a:t>
                      </a:r>
                    </a:p>
                  </a:txBody>
                  <a:tcPr/>
                </a:tc>
                <a:tc>
                  <a:txBody>
                    <a:bodyPr/>
                    <a:lstStyle/>
                    <a:p>
                      <a:r>
                        <a:rPr lang="zh-CN" altLang="en-US" b="0" dirty="0">
                          <a:solidFill>
                            <a:schemeClr val="bg1"/>
                          </a:solidFill>
                          <a:latin typeface="+mj-ea"/>
                          <a:ea typeface="+mj-ea"/>
                        </a:rPr>
                        <a:t>直流电流源</a:t>
                      </a:r>
                    </a:p>
                  </a:txBody>
                  <a:tcPr/>
                </a:tc>
                <a:tc>
                  <a:txBody>
                    <a:bodyPr/>
                    <a:lstStyle/>
                    <a:p>
                      <a:r>
                        <a:rPr lang="zh-CN" altLang="en-US" b="0" dirty="0">
                          <a:solidFill>
                            <a:schemeClr val="bg1"/>
                          </a:solidFill>
                          <a:latin typeface="+mj-ea"/>
                          <a:ea typeface="+mj-ea"/>
                        </a:rPr>
                        <a:t>交流电流源</a:t>
                      </a:r>
                    </a:p>
                  </a:txBody>
                  <a:tcPr/>
                </a:tc>
                <a:tc>
                  <a:txBody>
                    <a:bodyPr/>
                    <a:lstStyle/>
                    <a:p>
                      <a:r>
                        <a:rPr lang="zh-CN" altLang="en-US" b="0" dirty="0">
                          <a:solidFill>
                            <a:schemeClr val="bg1"/>
                          </a:solidFill>
                          <a:latin typeface="+mj-ea"/>
                          <a:ea typeface="+mj-ea"/>
                        </a:rPr>
                        <a:t>电容</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chemeClr val="bg1"/>
                          </a:solidFill>
                          <a:latin typeface="+mj-ea"/>
                          <a:ea typeface="+mj-ea"/>
                        </a:rPr>
                        <a:t>电感</a:t>
                      </a:r>
                    </a:p>
                    <a:p>
                      <a:endParaRPr lang="zh-CN" altLang="en-US" b="0" dirty="0">
                        <a:solidFill>
                          <a:schemeClr val="bg1"/>
                        </a:solidFill>
                        <a:latin typeface="+mj-ea"/>
                        <a:ea typeface="+mj-ea"/>
                      </a:endParaRPr>
                    </a:p>
                  </a:txBody>
                  <a:tcPr/>
                </a:tc>
                <a:tc>
                  <a:txBody>
                    <a:bodyPr/>
                    <a:lstStyle/>
                    <a:p>
                      <a:r>
                        <a:rPr lang="zh-CN" altLang="en-US" b="0" dirty="0">
                          <a:solidFill>
                            <a:schemeClr val="bg1"/>
                          </a:solidFill>
                          <a:latin typeface="+mj-ea"/>
                          <a:ea typeface="+mj-ea"/>
                        </a:rPr>
                        <a:t>其它器件</a:t>
                      </a:r>
                    </a:p>
                  </a:txBody>
                  <a:tcPr/>
                </a:tc>
                <a:extLst>
                  <a:ext uri="{0D108BD9-81ED-4DB2-BD59-A6C34878D82A}">
                    <a16:rowId xmlns:a16="http://schemas.microsoft.com/office/drawing/2014/main" val="2715857467"/>
                  </a:ext>
                </a:extLst>
              </a:tr>
              <a:tr h="395895">
                <a:tc>
                  <a:txBody>
                    <a:bodyPr/>
                    <a:lstStyle/>
                    <a:p>
                      <a:r>
                        <a:rPr lang="zh-CN" altLang="en-US" b="1" dirty="0">
                          <a:solidFill>
                            <a:schemeClr val="tx1"/>
                          </a:solidFill>
                          <a:latin typeface="+mj-ea"/>
                          <a:ea typeface="+mj-ea"/>
                        </a:rPr>
                        <a:t>直流等效</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j-ea"/>
                          <a:ea typeface="+mj-ea"/>
                        </a:rPr>
                        <a:t>不变</a:t>
                      </a:r>
                    </a:p>
                    <a:p>
                      <a:endParaRPr lang="zh-CN" altLang="en-US" dirty="0">
                        <a:solidFill>
                          <a:schemeClr val="tx1"/>
                        </a:solidFill>
                        <a:latin typeface="+mj-ea"/>
                        <a:ea typeface="+mj-ea"/>
                      </a:endParaRPr>
                    </a:p>
                  </a:txBody>
                  <a:tcPr/>
                </a:tc>
                <a:tc>
                  <a:txBody>
                    <a:bodyPr/>
                    <a:lstStyle/>
                    <a:p>
                      <a:r>
                        <a:rPr lang="zh-CN" altLang="en-US" dirty="0">
                          <a:solidFill>
                            <a:schemeClr val="tx1"/>
                          </a:solidFill>
                          <a:latin typeface="+mj-ea"/>
                          <a:ea typeface="+mj-ea"/>
                        </a:rPr>
                        <a:t>短路</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j-ea"/>
                          <a:ea typeface="+mj-ea"/>
                        </a:rPr>
                        <a:t>不变</a:t>
                      </a:r>
                    </a:p>
                    <a:p>
                      <a:endParaRPr lang="zh-CN" altLang="en-US" dirty="0">
                        <a:solidFill>
                          <a:schemeClr val="tx1"/>
                        </a:solidFill>
                        <a:latin typeface="+mj-ea"/>
                        <a:ea typeface="+mj-ea"/>
                      </a:endParaRPr>
                    </a:p>
                  </a:txBody>
                  <a:tcPr/>
                </a:tc>
                <a:tc>
                  <a:txBody>
                    <a:bodyPr/>
                    <a:lstStyle/>
                    <a:p>
                      <a:r>
                        <a:rPr lang="zh-CN" altLang="en-US" dirty="0">
                          <a:solidFill>
                            <a:schemeClr val="tx1"/>
                          </a:solidFill>
                          <a:latin typeface="+mj-ea"/>
                          <a:ea typeface="+mj-ea"/>
                        </a:rPr>
                        <a:t>断路</a:t>
                      </a:r>
                    </a:p>
                  </a:txBody>
                  <a:tcPr/>
                </a:tc>
                <a:tc>
                  <a:txBody>
                    <a:bodyPr/>
                    <a:lstStyle/>
                    <a:p>
                      <a:r>
                        <a:rPr lang="zh-CN" altLang="en-US" dirty="0">
                          <a:solidFill>
                            <a:schemeClr val="tx1"/>
                          </a:solidFill>
                          <a:latin typeface="+mj-ea"/>
                          <a:ea typeface="+mj-ea"/>
                        </a:rPr>
                        <a:t>断路</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j-ea"/>
                          <a:ea typeface="+mj-ea"/>
                        </a:rPr>
                        <a:t>短路</a:t>
                      </a:r>
                    </a:p>
                    <a:p>
                      <a:endParaRPr lang="zh-CN" altLang="en-US" dirty="0">
                        <a:solidFill>
                          <a:schemeClr val="tx1"/>
                        </a:solidFill>
                        <a:latin typeface="+mj-ea"/>
                        <a:ea typeface="+mj-ea"/>
                      </a:endParaRPr>
                    </a:p>
                  </a:txBody>
                  <a:tcPr/>
                </a:tc>
                <a:tc>
                  <a:txBody>
                    <a:bodyPr/>
                    <a:lstStyle/>
                    <a:p>
                      <a:r>
                        <a:rPr lang="zh-CN" altLang="en-US" dirty="0">
                          <a:solidFill>
                            <a:schemeClr val="tx1"/>
                          </a:solidFill>
                          <a:latin typeface="+mj-ea"/>
                          <a:ea typeface="+mj-ea"/>
                        </a:rPr>
                        <a:t>不变</a:t>
                      </a:r>
                    </a:p>
                  </a:txBody>
                  <a:tcPr/>
                </a:tc>
                <a:extLst>
                  <a:ext uri="{0D108BD9-81ED-4DB2-BD59-A6C34878D82A}">
                    <a16:rowId xmlns:a16="http://schemas.microsoft.com/office/drawing/2014/main" val="307517873"/>
                  </a:ext>
                </a:extLst>
              </a:tr>
              <a:tr h="957533">
                <a:tc>
                  <a:txBody>
                    <a:bodyPr/>
                    <a:lstStyle/>
                    <a:p>
                      <a:r>
                        <a:rPr lang="zh-CN" altLang="en-US" b="1" dirty="0">
                          <a:solidFill>
                            <a:schemeClr val="tx1"/>
                          </a:solidFill>
                          <a:latin typeface="+mj-ea"/>
                          <a:ea typeface="+mj-ea"/>
                        </a:rPr>
                        <a:t>交流等效</a:t>
                      </a:r>
                    </a:p>
                  </a:txBody>
                  <a:tcPr/>
                </a:tc>
                <a:tc>
                  <a:txBody>
                    <a:bodyPr/>
                    <a:lstStyle/>
                    <a:p>
                      <a:r>
                        <a:rPr lang="zh-CN" altLang="en-US" dirty="0">
                          <a:solidFill>
                            <a:schemeClr val="tx1"/>
                          </a:solidFill>
                          <a:latin typeface="+mj-ea"/>
                          <a:ea typeface="+mj-ea"/>
                        </a:rPr>
                        <a:t>短路（如单独给个</a:t>
                      </a:r>
                      <a:r>
                        <a:rPr lang="en-US" altLang="zh-CN" dirty="0">
                          <a:solidFill>
                            <a:schemeClr val="tx1"/>
                          </a:solidFill>
                          <a:latin typeface="+mj-ea"/>
                          <a:ea typeface="+mj-ea"/>
                        </a:rPr>
                        <a:t>VCC</a:t>
                      </a:r>
                      <a:r>
                        <a:rPr lang="zh-CN" altLang="en-US" dirty="0">
                          <a:solidFill>
                            <a:schemeClr val="tx1"/>
                          </a:solidFill>
                          <a:latin typeface="+mj-ea"/>
                          <a:ea typeface="+mj-ea"/>
                        </a:rPr>
                        <a:t>，直接拉到地）</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j-ea"/>
                          <a:ea typeface="+mj-ea"/>
                        </a:rPr>
                        <a:t>不变</a:t>
                      </a:r>
                    </a:p>
                    <a:p>
                      <a:endParaRPr lang="zh-CN" altLang="en-US" dirty="0">
                        <a:solidFill>
                          <a:schemeClr val="tx1"/>
                        </a:solidFill>
                        <a:latin typeface="+mj-ea"/>
                        <a:ea typeface="+mj-ea"/>
                      </a:endParaRPr>
                    </a:p>
                  </a:txBody>
                  <a:tcPr/>
                </a:tc>
                <a:tc>
                  <a:txBody>
                    <a:bodyPr/>
                    <a:lstStyle/>
                    <a:p>
                      <a:r>
                        <a:rPr lang="zh-CN" altLang="en-US" dirty="0">
                          <a:solidFill>
                            <a:schemeClr val="tx1"/>
                          </a:solidFill>
                          <a:latin typeface="+mj-ea"/>
                          <a:ea typeface="+mj-ea"/>
                        </a:rPr>
                        <a:t>断路</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j-ea"/>
                          <a:ea typeface="+mj-ea"/>
                        </a:rPr>
                        <a:t>不变</a:t>
                      </a:r>
                    </a:p>
                    <a:p>
                      <a:endParaRPr lang="zh-CN" altLang="en-US" dirty="0">
                        <a:solidFill>
                          <a:schemeClr val="tx1"/>
                        </a:solidFill>
                        <a:latin typeface="+mj-ea"/>
                        <a:ea typeface="+mj-ea"/>
                      </a:endParaRPr>
                    </a:p>
                  </a:txBody>
                  <a:tcPr/>
                </a:tc>
                <a:tc>
                  <a:txBody>
                    <a:bodyPr/>
                    <a:lstStyle/>
                    <a:p>
                      <a:r>
                        <a:rPr lang="zh-CN" altLang="en-US" dirty="0">
                          <a:solidFill>
                            <a:schemeClr val="tx1"/>
                          </a:solidFill>
                          <a:latin typeface="+mj-ea"/>
                          <a:ea typeface="+mj-ea"/>
                        </a:rPr>
                        <a:t>短路</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mj-ea"/>
                          <a:ea typeface="+mj-ea"/>
                        </a:rPr>
                        <a:t>断路</a:t>
                      </a:r>
                    </a:p>
                    <a:p>
                      <a:endParaRPr lang="zh-CN" altLang="en-US" dirty="0">
                        <a:solidFill>
                          <a:schemeClr val="tx1"/>
                        </a:solidFill>
                        <a:latin typeface="+mj-ea"/>
                        <a:ea typeface="+mj-ea"/>
                      </a:endParaRPr>
                    </a:p>
                  </a:txBody>
                  <a:tcPr/>
                </a:tc>
                <a:tc>
                  <a:txBody>
                    <a:bodyPr/>
                    <a:lstStyle/>
                    <a:p>
                      <a:r>
                        <a:rPr lang="zh-CN" altLang="en-US" dirty="0">
                          <a:solidFill>
                            <a:schemeClr val="tx1"/>
                          </a:solidFill>
                          <a:latin typeface="+mj-ea"/>
                          <a:ea typeface="+mj-ea"/>
                        </a:rPr>
                        <a:t>不变</a:t>
                      </a:r>
                    </a:p>
                  </a:txBody>
                  <a:tcPr/>
                </a:tc>
                <a:extLst>
                  <a:ext uri="{0D108BD9-81ED-4DB2-BD59-A6C34878D82A}">
                    <a16:rowId xmlns:a16="http://schemas.microsoft.com/office/drawing/2014/main" val="3799721858"/>
                  </a:ext>
                </a:extLst>
              </a:tr>
            </a:tbl>
          </a:graphicData>
        </a:graphic>
      </p:graphicFrame>
      <p:sp>
        <p:nvSpPr>
          <p:cNvPr id="7" name="内容占位符 2">
            <a:extLst>
              <a:ext uri="{FF2B5EF4-FFF2-40B4-BE49-F238E27FC236}">
                <a16:creationId xmlns:a16="http://schemas.microsoft.com/office/drawing/2014/main" id="{EC33B22F-08FD-03AE-9430-FD4E1053B08B}"/>
              </a:ext>
            </a:extLst>
          </p:cNvPr>
          <p:cNvSpPr>
            <a:spLocks noGrp="1"/>
          </p:cNvSpPr>
          <p:nvPr>
            <p:ph idx="1"/>
          </p:nvPr>
        </p:nvSpPr>
        <p:spPr>
          <a:xfrm>
            <a:off x="17780" y="585760"/>
            <a:ext cx="9888220" cy="5947119"/>
          </a:xfrm>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等效电路快画法</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kumimoji="1" lang="zh-CN" altLang="en-US" kern="0" dirty="0">
                <a:latin typeface="Microsoft YaHei" panose="020B0503020204020204" pitchFamily="34" charset="-122"/>
                <a:ea typeface="Microsoft YaHei" panose="020B0503020204020204" pitchFamily="34" charset="-122"/>
              </a:rPr>
              <a:t>思路：直流等效则保留直流成分，交流部分涉及到的器件则思考其在仅存在直流时等效为短路还是断路；交流等效同理。</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40144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871A62-7F38-D2E4-9531-6CA899E335FE}"/>
              </a:ext>
            </a:extLst>
          </p:cNvPr>
          <p:cNvSpPr>
            <a:spLocks noGrp="1"/>
          </p:cNvSpPr>
          <p:nvPr>
            <p:ph type="title"/>
          </p:nvPr>
        </p:nvSpPr>
        <p:spPr/>
        <p:txBody>
          <a:bodyPr>
            <a:normAutofit fontScale="90000"/>
          </a:bodyPr>
          <a:lstStyle/>
          <a:p>
            <a:r>
              <a:rPr lang="zh-CN" altLang="en-US" dirty="0"/>
              <a:t>图解法静态分析</a:t>
            </a:r>
            <a:endParaRPr kumimoji="1" lang="zh-CN" altLang="en-US" dirty="0"/>
          </a:p>
        </p:txBody>
      </p:sp>
      <p:sp>
        <p:nvSpPr>
          <p:cNvPr id="4" name="页脚占位符 3">
            <a:extLst>
              <a:ext uri="{FF2B5EF4-FFF2-40B4-BE49-F238E27FC236}">
                <a16:creationId xmlns:a16="http://schemas.microsoft.com/office/drawing/2014/main" id="{9331E273-7FEE-DAC8-7F88-BAFD88480A4F}"/>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4A55442F-25E1-B57F-4406-90031B92E3EB}"/>
              </a:ext>
            </a:extLst>
          </p:cNvPr>
          <p:cNvSpPr>
            <a:spLocks noGrp="1"/>
          </p:cNvSpPr>
          <p:nvPr>
            <p:ph type="sldNum" sz="quarter" idx="12"/>
          </p:nvPr>
        </p:nvSpPr>
        <p:spPr/>
        <p:txBody>
          <a:bodyPr/>
          <a:lstStyle/>
          <a:p>
            <a:fld id="{9E260BC5-5BF3-8746-862B-DC45E9CAA88B}" type="slidenum">
              <a:rPr lang="en-US" smtClean="0"/>
              <a:pPr/>
              <a:t>23</a:t>
            </a:fld>
            <a:r>
              <a:rPr lang="en-US" altLang="zh-CN" dirty="0"/>
              <a:t>/33</a:t>
            </a:r>
            <a:endParaRPr lang="en-US" dirty="0"/>
          </a:p>
        </p:txBody>
      </p:sp>
      <p:sp>
        <p:nvSpPr>
          <p:cNvPr id="6" name="Freeform 2">
            <a:extLst>
              <a:ext uri="{FF2B5EF4-FFF2-40B4-BE49-F238E27FC236}">
                <a16:creationId xmlns:a16="http://schemas.microsoft.com/office/drawing/2014/main" id="{84A368CF-67EC-A03F-4E52-8AF934D97466}"/>
              </a:ext>
            </a:extLst>
          </p:cNvPr>
          <p:cNvSpPr>
            <a:spLocks/>
          </p:cNvSpPr>
          <p:nvPr/>
        </p:nvSpPr>
        <p:spPr bwMode="auto">
          <a:xfrm>
            <a:off x="4537075" y="4364038"/>
            <a:ext cx="1938338" cy="1482725"/>
          </a:xfrm>
          <a:custGeom>
            <a:avLst/>
            <a:gdLst>
              <a:gd name="T0" fmla="*/ 0 w 2260"/>
              <a:gd name="T1" fmla="*/ 2147483646 h 1380"/>
              <a:gd name="T2" fmla="*/ 2147483646 w 2260"/>
              <a:gd name="T3" fmla="*/ 2147483646 h 1380"/>
              <a:gd name="T4" fmla="*/ 2147483646 w 2260"/>
              <a:gd name="T5" fmla="*/ 2147483646 h 1380"/>
              <a:gd name="T6" fmla="*/ 2147483646 w 2260"/>
              <a:gd name="T7" fmla="*/ 2147483646 h 1380"/>
              <a:gd name="T8" fmla="*/ 2147483646 w 2260"/>
              <a:gd name="T9" fmla="*/ 0 h 1380"/>
              <a:gd name="T10" fmla="*/ 0 60000 65536"/>
              <a:gd name="T11" fmla="*/ 0 60000 65536"/>
              <a:gd name="T12" fmla="*/ 0 60000 65536"/>
              <a:gd name="T13" fmla="*/ 0 60000 65536"/>
              <a:gd name="T14" fmla="*/ 0 60000 65536"/>
              <a:gd name="T15" fmla="*/ 0 w 2260"/>
              <a:gd name="T16" fmla="*/ 0 h 1380"/>
              <a:gd name="T17" fmla="*/ 2260 w 2260"/>
              <a:gd name="T18" fmla="*/ 1380 h 1380"/>
            </a:gdLst>
            <a:ahLst/>
            <a:cxnLst>
              <a:cxn ang="T10">
                <a:pos x="T0" y="T1"/>
              </a:cxn>
              <a:cxn ang="T11">
                <a:pos x="T2" y="T3"/>
              </a:cxn>
              <a:cxn ang="T12">
                <a:pos x="T4" y="T5"/>
              </a:cxn>
              <a:cxn ang="T13">
                <a:pos x="T6" y="T7"/>
              </a:cxn>
              <a:cxn ang="T14">
                <a:pos x="T8" y="T9"/>
              </a:cxn>
            </a:cxnLst>
            <a:rect l="T15" t="T16" r="T17" b="T18"/>
            <a:pathLst>
              <a:path w="2260" h="1380">
                <a:moveTo>
                  <a:pt x="0" y="1380"/>
                </a:moveTo>
                <a:cubicBezTo>
                  <a:pt x="12" y="1237"/>
                  <a:pt x="48" y="729"/>
                  <a:pt x="73" y="525"/>
                </a:cubicBezTo>
                <a:cubicBezTo>
                  <a:pt x="99" y="321"/>
                  <a:pt x="86" y="236"/>
                  <a:pt x="155" y="157"/>
                </a:cubicBezTo>
                <a:cubicBezTo>
                  <a:pt x="223" y="77"/>
                  <a:pt x="132" y="76"/>
                  <a:pt x="483" y="50"/>
                </a:cubicBezTo>
                <a:cubicBezTo>
                  <a:pt x="834" y="24"/>
                  <a:pt x="1890" y="10"/>
                  <a:pt x="2260" y="0"/>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7" name="Line 4">
            <a:extLst>
              <a:ext uri="{FF2B5EF4-FFF2-40B4-BE49-F238E27FC236}">
                <a16:creationId xmlns:a16="http://schemas.microsoft.com/office/drawing/2014/main" id="{8A356209-8593-A513-AB08-B35C947107D8}"/>
              </a:ext>
            </a:extLst>
          </p:cNvPr>
          <p:cNvSpPr>
            <a:spLocks noChangeShapeType="1"/>
          </p:cNvSpPr>
          <p:nvPr/>
        </p:nvSpPr>
        <p:spPr bwMode="auto">
          <a:xfrm flipV="1">
            <a:off x="1358900" y="2924175"/>
            <a:ext cx="0" cy="3016250"/>
          </a:xfrm>
          <a:prstGeom prst="line">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 name="Line 5">
            <a:extLst>
              <a:ext uri="{FF2B5EF4-FFF2-40B4-BE49-F238E27FC236}">
                <a16:creationId xmlns:a16="http://schemas.microsoft.com/office/drawing/2014/main" id="{6D510453-CE48-350C-9349-87A8AF996785}"/>
              </a:ext>
            </a:extLst>
          </p:cNvPr>
          <p:cNvSpPr>
            <a:spLocks noChangeShapeType="1"/>
          </p:cNvSpPr>
          <p:nvPr/>
        </p:nvSpPr>
        <p:spPr bwMode="auto">
          <a:xfrm flipV="1">
            <a:off x="1358900" y="5902325"/>
            <a:ext cx="1636713" cy="19050"/>
          </a:xfrm>
          <a:prstGeom prst="line">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9" name="Text Box 6">
            <a:extLst>
              <a:ext uri="{FF2B5EF4-FFF2-40B4-BE49-F238E27FC236}">
                <a16:creationId xmlns:a16="http://schemas.microsoft.com/office/drawing/2014/main" id="{0A2E5779-02DB-3E74-1DF7-F1812E67D617}"/>
              </a:ext>
            </a:extLst>
          </p:cNvPr>
          <p:cNvSpPr txBox="1">
            <a:spLocks noChangeArrowheads="1"/>
          </p:cNvSpPr>
          <p:nvPr/>
        </p:nvSpPr>
        <p:spPr bwMode="auto">
          <a:xfrm>
            <a:off x="1476375" y="2781300"/>
            <a:ext cx="503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latin typeface="Times New Roman" panose="02020603050405020304" pitchFamily="18" charset="0"/>
                <a:ea typeface="楷体_GB2312" pitchFamily="49" charset="-122"/>
              </a:rPr>
              <a:t>i</a:t>
            </a:r>
            <a:r>
              <a:rPr kumimoji="1" lang="en-US" altLang="zh-CN" baseline="-5000">
                <a:latin typeface="Times New Roman" panose="02020603050405020304" pitchFamily="18" charset="0"/>
                <a:ea typeface="楷体_GB2312" pitchFamily="49" charset="-122"/>
              </a:rPr>
              <a:t>B</a:t>
            </a:r>
          </a:p>
        </p:txBody>
      </p:sp>
      <p:sp>
        <p:nvSpPr>
          <p:cNvPr id="10" name="Text Box 7">
            <a:extLst>
              <a:ext uri="{FF2B5EF4-FFF2-40B4-BE49-F238E27FC236}">
                <a16:creationId xmlns:a16="http://schemas.microsoft.com/office/drawing/2014/main" id="{B18395B5-9476-3720-ACCE-7BADBE869717}"/>
              </a:ext>
            </a:extLst>
          </p:cNvPr>
          <p:cNvSpPr txBox="1">
            <a:spLocks noChangeArrowheads="1"/>
          </p:cNvSpPr>
          <p:nvPr/>
        </p:nvSpPr>
        <p:spPr bwMode="auto">
          <a:xfrm>
            <a:off x="2652713" y="5257800"/>
            <a:ext cx="717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latin typeface="Times New Roman" panose="02020603050405020304" pitchFamily="18" charset="0"/>
                <a:ea typeface="楷体_GB2312" pitchFamily="49" charset="-122"/>
              </a:rPr>
              <a:t>v</a:t>
            </a:r>
            <a:r>
              <a:rPr kumimoji="1" lang="en-US" altLang="zh-CN" baseline="-25000">
                <a:latin typeface="Times New Roman" panose="02020603050405020304" pitchFamily="18" charset="0"/>
                <a:ea typeface="楷体_GB2312" pitchFamily="49" charset="-122"/>
              </a:rPr>
              <a:t>BE</a:t>
            </a:r>
            <a:endParaRPr kumimoji="1" lang="en-US" altLang="zh-CN">
              <a:latin typeface="Times New Roman" panose="02020603050405020304" pitchFamily="18" charset="0"/>
              <a:ea typeface="楷体_GB2312" pitchFamily="49" charset="-122"/>
            </a:endParaRPr>
          </a:p>
        </p:txBody>
      </p:sp>
      <p:sp>
        <p:nvSpPr>
          <p:cNvPr id="11" name="Freeform 8">
            <a:extLst>
              <a:ext uri="{FF2B5EF4-FFF2-40B4-BE49-F238E27FC236}">
                <a16:creationId xmlns:a16="http://schemas.microsoft.com/office/drawing/2014/main" id="{E9F2E964-6921-3CBC-394C-59F9434717B6}"/>
              </a:ext>
            </a:extLst>
          </p:cNvPr>
          <p:cNvSpPr>
            <a:spLocks/>
          </p:cNvSpPr>
          <p:nvPr/>
        </p:nvSpPr>
        <p:spPr bwMode="auto">
          <a:xfrm>
            <a:off x="1358900" y="3521075"/>
            <a:ext cx="1065213" cy="2378075"/>
          </a:xfrm>
          <a:custGeom>
            <a:avLst/>
            <a:gdLst>
              <a:gd name="T0" fmla="*/ 0 w 1344"/>
              <a:gd name="T1" fmla="*/ 2147483646 h 2280"/>
              <a:gd name="T2" fmla="*/ 2147483646 w 1344"/>
              <a:gd name="T3" fmla="*/ 2147483646 h 2280"/>
              <a:gd name="T4" fmla="*/ 2147483646 w 1344"/>
              <a:gd name="T5" fmla="*/ 2147483646 h 2280"/>
              <a:gd name="T6" fmla="*/ 2147483646 w 1344"/>
              <a:gd name="T7" fmla="*/ 2147483646 h 2280"/>
              <a:gd name="T8" fmla="*/ 2147483646 w 1344"/>
              <a:gd name="T9" fmla="*/ 2147483646 h 2280"/>
              <a:gd name="T10" fmla="*/ 2147483646 w 1344"/>
              <a:gd name="T11" fmla="*/ 0 h 2280"/>
              <a:gd name="T12" fmla="*/ 0 60000 65536"/>
              <a:gd name="T13" fmla="*/ 0 60000 65536"/>
              <a:gd name="T14" fmla="*/ 0 60000 65536"/>
              <a:gd name="T15" fmla="*/ 0 60000 65536"/>
              <a:gd name="T16" fmla="*/ 0 60000 65536"/>
              <a:gd name="T17" fmla="*/ 0 60000 65536"/>
              <a:gd name="T18" fmla="*/ 0 w 1344"/>
              <a:gd name="T19" fmla="*/ 0 h 2280"/>
              <a:gd name="T20" fmla="*/ 1344 w 1344"/>
              <a:gd name="T21" fmla="*/ 2280 h 2280"/>
            </a:gdLst>
            <a:ahLst/>
            <a:cxnLst>
              <a:cxn ang="T12">
                <a:pos x="T0" y="T1"/>
              </a:cxn>
              <a:cxn ang="T13">
                <a:pos x="T2" y="T3"/>
              </a:cxn>
              <a:cxn ang="T14">
                <a:pos x="T4" y="T5"/>
              </a:cxn>
              <a:cxn ang="T15">
                <a:pos x="T6" y="T7"/>
              </a:cxn>
              <a:cxn ang="T16">
                <a:pos x="T8" y="T9"/>
              </a:cxn>
              <a:cxn ang="T17">
                <a:pos x="T10" y="T11"/>
              </a:cxn>
            </a:cxnLst>
            <a:rect l="T18" t="T19" r="T20" b="T21"/>
            <a:pathLst>
              <a:path w="1344" h="2280">
                <a:moveTo>
                  <a:pt x="0" y="2280"/>
                </a:moveTo>
                <a:cubicBezTo>
                  <a:pt x="174" y="2273"/>
                  <a:pt x="348" y="2266"/>
                  <a:pt x="456" y="2256"/>
                </a:cubicBezTo>
                <a:cubicBezTo>
                  <a:pt x="564" y="2246"/>
                  <a:pt x="574" y="2268"/>
                  <a:pt x="648" y="2220"/>
                </a:cubicBezTo>
                <a:cubicBezTo>
                  <a:pt x="722" y="2172"/>
                  <a:pt x="828" y="2120"/>
                  <a:pt x="900" y="1968"/>
                </a:cubicBezTo>
                <a:cubicBezTo>
                  <a:pt x="972" y="1816"/>
                  <a:pt x="1006" y="1636"/>
                  <a:pt x="1080" y="1308"/>
                </a:cubicBezTo>
                <a:cubicBezTo>
                  <a:pt x="1154" y="980"/>
                  <a:pt x="1289" y="272"/>
                  <a:pt x="1344" y="0"/>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2" name="Line 9">
            <a:extLst>
              <a:ext uri="{FF2B5EF4-FFF2-40B4-BE49-F238E27FC236}">
                <a16:creationId xmlns:a16="http://schemas.microsoft.com/office/drawing/2014/main" id="{73F764FC-CD3A-D710-6278-AA91BF3B1B44}"/>
              </a:ext>
            </a:extLst>
          </p:cNvPr>
          <p:cNvSpPr>
            <a:spLocks noChangeShapeType="1"/>
          </p:cNvSpPr>
          <p:nvPr/>
        </p:nvSpPr>
        <p:spPr bwMode="auto">
          <a:xfrm>
            <a:off x="1368425" y="4392613"/>
            <a:ext cx="935038" cy="0"/>
          </a:xfrm>
          <a:prstGeom prst="line">
            <a:avLst/>
          </a:prstGeom>
          <a:noFill/>
          <a:ln w="3810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3" name="Line 10">
            <a:extLst>
              <a:ext uri="{FF2B5EF4-FFF2-40B4-BE49-F238E27FC236}">
                <a16:creationId xmlns:a16="http://schemas.microsoft.com/office/drawing/2014/main" id="{52D5655A-365A-F13C-D818-50551F62CC49}"/>
              </a:ext>
            </a:extLst>
          </p:cNvPr>
          <p:cNvSpPr>
            <a:spLocks noChangeShapeType="1"/>
          </p:cNvSpPr>
          <p:nvPr/>
        </p:nvSpPr>
        <p:spPr bwMode="auto">
          <a:xfrm>
            <a:off x="2309813" y="4429125"/>
            <a:ext cx="0" cy="1484313"/>
          </a:xfrm>
          <a:prstGeom prst="line">
            <a:avLst/>
          </a:prstGeom>
          <a:noFill/>
          <a:ln w="3810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 name="Line 11">
            <a:extLst>
              <a:ext uri="{FF2B5EF4-FFF2-40B4-BE49-F238E27FC236}">
                <a16:creationId xmlns:a16="http://schemas.microsoft.com/office/drawing/2014/main" id="{0D3F20AA-6FD9-AC70-4678-6995CF945259}"/>
              </a:ext>
            </a:extLst>
          </p:cNvPr>
          <p:cNvSpPr>
            <a:spLocks noChangeShapeType="1"/>
          </p:cNvSpPr>
          <p:nvPr/>
        </p:nvSpPr>
        <p:spPr bwMode="auto">
          <a:xfrm>
            <a:off x="5357813" y="4400550"/>
            <a:ext cx="0" cy="1512888"/>
          </a:xfrm>
          <a:prstGeom prst="line">
            <a:avLst/>
          </a:prstGeom>
          <a:noFill/>
          <a:ln w="3810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 name="Rectangle 12">
            <a:extLst>
              <a:ext uri="{FF2B5EF4-FFF2-40B4-BE49-F238E27FC236}">
                <a16:creationId xmlns:a16="http://schemas.microsoft.com/office/drawing/2014/main" id="{FB602853-FBD2-C37C-051B-860C1044A7A6}"/>
              </a:ext>
            </a:extLst>
          </p:cNvPr>
          <p:cNvSpPr>
            <a:spLocks noChangeArrowheads="1"/>
          </p:cNvSpPr>
          <p:nvPr/>
        </p:nvSpPr>
        <p:spPr bwMode="auto">
          <a:xfrm>
            <a:off x="4981575" y="5975350"/>
            <a:ext cx="912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solidFill>
                  <a:schemeClr val="accent2"/>
                </a:solidFill>
                <a:latin typeface="Times New Roman" panose="02020603050405020304" pitchFamily="18" charset="0"/>
                <a:ea typeface="楷体_GB2312" pitchFamily="49" charset="-122"/>
              </a:rPr>
              <a:t>V</a:t>
            </a:r>
            <a:r>
              <a:rPr kumimoji="1" lang="en-US" altLang="zh-CN" sz="1800">
                <a:solidFill>
                  <a:schemeClr val="accent2"/>
                </a:solidFill>
                <a:latin typeface="Times New Roman" panose="02020603050405020304" pitchFamily="18" charset="0"/>
                <a:ea typeface="楷体_GB2312" pitchFamily="49" charset="-122"/>
              </a:rPr>
              <a:t>CEQ</a:t>
            </a:r>
          </a:p>
        </p:txBody>
      </p:sp>
      <p:sp>
        <p:nvSpPr>
          <p:cNvPr id="16" name="Line 13">
            <a:extLst>
              <a:ext uri="{FF2B5EF4-FFF2-40B4-BE49-F238E27FC236}">
                <a16:creationId xmlns:a16="http://schemas.microsoft.com/office/drawing/2014/main" id="{AB733AC9-D113-9AF1-157A-C18902C62EF3}"/>
              </a:ext>
            </a:extLst>
          </p:cNvPr>
          <p:cNvSpPr>
            <a:spLocks noChangeShapeType="1"/>
          </p:cNvSpPr>
          <p:nvPr/>
        </p:nvSpPr>
        <p:spPr bwMode="auto">
          <a:xfrm>
            <a:off x="4532313" y="4400550"/>
            <a:ext cx="868362" cy="0"/>
          </a:xfrm>
          <a:prstGeom prst="line">
            <a:avLst/>
          </a:prstGeom>
          <a:noFill/>
          <a:ln w="38100">
            <a:solidFill>
              <a:srgbClr val="0000FF"/>
            </a:solidFill>
            <a:prstDash val="dash"/>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7" name="Rectangle 14">
            <a:extLst>
              <a:ext uri="{FF2B5EF4-FFF2-40B4-BE49-F238E27FC236}">
                <a16:creationId xmlns:a16="http://schemas.microsoft.com/office/drawing/2014/main" id="{52760F5C-B9CC-15B2-5D8F-54E60CD2A1B7}"/>
              </a:ext>
            </a:extLst>
          </p:cNvPr>
          <p:cNvSpPr>
            <a:spLocks noChangeArrowheads="1"/>
          </p:cNvSpPr>
          <p:nvPr/>
        </p:nvSpPr>
        <p:spPr bwMode="auto">
          <a:xfrm>
            <a:off x="3717925" y="4146550"/>
            <a:ext cx="661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solidFill>
                  <a:schemeClr val="accent2"/>
                </a:solidFill>
                <a:latin typeface="Times New Roman" panose="02020603050405020304" pitchFamily="18" charset="0"/>
                <a:ea typeface="楷体_GB2312" pitchFamily="49" charset="-122"/>
              </a:rPr>
              <a:t>I</a:t>
            </a:r>
            <a:r>
              <a:rPr kumimoji="1" lang="en-US" altLang="zh-CN" sz="1800">
                <a:solidFill>
                  <a:schemeClr val="accent2"/>
                </a:solidFill>
                <a:latin typeface="Times New Roman" panose="02020603050405020304" pitchFamily="18" charset="0"/>
                <a:ea typeface="楷体_GB2312" pitchFamily="49" charset="-122"/>
              </a:rPr>
              <a:t>CQ</a:t>
            </a:r>
          </a:p>
        </p:txBody>
      </p:sp>
      <p:sp>
        <p:nvSpPr>
          <p:cNvPr id="18" name="Text Box 15">
            <a:extLst>
              <a:ext uri="{FF2B5EF4-FFF2-40B4-BE49-F238E27FC236}">
                <a16:creationId xmlns:a16="http://schemas.microsoft.com/office/drawing/2014/main" id="{40B1E37C-B20D-0D0B-944D-9DB6F63839B9}"/>
              </a:ext>
            </a:extLst>
          </p:cNvPr>
          <p:cNvSpPr txBox="1">
            <a:spLocks noChangeArrowheads="1"/>
          </p:cNvSpPr>
          <p:nvPr/>
        </p:nvSpPr>
        <p:spPr bwMode="auto">
          <a:xfrm>
            <a:off x="4643438" y="2708275"/>
            <a:ext cx="587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i="1">
                <a:latin typeface="Times New Roman" panose="02020603050405020304" pitchFamily="18" charset="0"/>
                <a:ea typeface="楷体_GB2312" pitchFamily="49" charset="-122"/>
              </a:rPr>
              <a:t>i</a:t>
            </a:r>
            <a:r>
              <a:rPr kumimoji="1" lang="en-US" altLang="zh-CN" baseline="-5000">
                <a:latin typeface="Times New Roman" panose="02020603050405020304" pitchFamily="18" charset="0"/>
                <a:ea typeface="楷体_GB2312" pitchFamily="49" charset="-122"/>
              </a:rPr>
              <a:t>C</a:t>
            </a:r>
          </a:p>
        </p:txBody>
      </p:sp>
      <p:sp>
        <p:nvSpPr>
          <p:cNvPr id="19" name="Text Box 16">
            <a:extLst>
              <a:ext uri="{FF2B5EF4-FFF2-40B4-BE49-F238E27FC236}">
                <a16:creationId xmlns:a16="http://schemas.microsoft.com/office/drawing/2014/main" id="{00892571-C037-D1E5-1A3C-5F77D4D0EE72}"/>
              </a:ext>
            </a:extLst>
          </p:cNvPr>
          <p:cNvSpPr txBox="1">
            <a:spLocks noChangeArrowheads="1"/>
          </p:cNvSpPr>
          <p:nvPr/>
        </p:nvSpPr>
        <p:spPr bwMode="auto">
          <a:xfrm>
            <a:off x="6781800" y="5278438"/>
            <a:ext cx="731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i="1">
                <a:latin typeface="Times New Roman" panose="02020603050405020304" pitchFamily="18" charset="0"/>
                <a:ea typeface="楷体_GB2312" pitchFamily="49" charset="-122"/>
              </a:rPr>
              <a:t>v</a:t>
            </a:r>
            <a:r>
              <a:rPr kumimoji="1" lang="en-US" altLang="zh-CN" baseline="-25000">
                <a:latin typeface="Times New Roman" panose="02020603050405020304" pitchFamily="18" charset="0"/>
                <a:ea typeface="楷体_GB2312" pitchFamily="49" charset="-122"/>
              </a:rPr>
              <a:t>CE</a:t>
            </a:r>
            <a:endParaRPr kumimoji="1" lang="en-US" altLang="zh-CN">
              <a:latin typeface="Times New Roman" panose="02020603050405020304" pitchFamily="18" charset="0"/>
              <a:ea typeface="楷体_GB2312" pitchFamily="49" charset="-122"/>
            </a:endParaRPr>
          </a:p>
        </p:txBody>
      </p:sp>
      <p:sp>
        <p:nvSpPr>
          <p:cNvPr id="20" name="Line 17">
            <a:extLst>
              <a:ext uri="{FF2B5EF4-FFF2-40B4-BE49-F238E27FC236}">
                <a16:creationId xmlns:a16="http://schemas.microsoft.com/office/drawing/2014/main" id="{CB437BF3-0A31-3F22-2D05-1542C18F4771}"/>
              </a:ext>
            </a:extLst>
          </p:cNvPr>
          <p:cNvSpPr>
            <a:spLocks noChangeShapeType="1"/>
          </p:cNvSpPr>
          <p:nvPr/>
        </p:nvSpPr>
        <p:spPr bwMode="auto">
          <a:xfrm flipV="1">
            <a:off x="4519613" y="5903913"/>
            <a:ext cx="2516187" cy="0"/>
          </a:xfrm>
          <a:prstGeom prst="line">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1" name="Line 18">
            <a:extLst>
              <a:ext uri="{FF2B5EF4-FFF2-40B4-BE49-F238E27FC236}">
                <a16:creationId xmlns:a16="http://schemas.microsoft.com/office/drawing/2014/main" id="{3AB83591-099F-F5E1-33A4-348862147AF3}"/>
              </a:ext>
            </a:extLst>
          </p:cNvPr>
          <p:cNvSpPr>
            <a:spLocks noChangeShapeType="1"/>
          </p:cNvSpPr>
          <p:nvPr/>
        </p:nvSpPr>
        <p:spPr bwMode="auto">
          <a:xfrm flipH="1" flipV="1">
            <a:off x="4538663" y="2894013"/>
            <a:ext cx="0" cy="3009900"/>
          </a:xfrm>
          <a:prstGeom prst="line">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2" name="Freeform 19">
            <a:extLst>
              <a:ext uri="{FF2B5EF4-FFF2-40B4-BE49-F238E27FC236}">
                <a16:creationId xmlns:a16="http://schemas.microsoft.com/office/drawing/2014/main" id="{D63B079B-0490-E184-0379-007604859A07}"/>
              </a:ext>
            </a:extLst>
          </p:cNvPr>
          <p:cNvSpPr>
            <a:spLocks/>
          </p:cNvSpPr>
          <p:nvPr/>
        </p:nvSpPr>
        <p:spPr bwMode="auto">
          <a:xfrm>
            <a:off x="4521200" y="5743575"/>
            <a:ext cx="2046288" cy="139700"/>
          </a:xfrm>
          <a:custGeom>
            <a:avLst/>
            <a:gdLst>
              <a:gd name="T0" fmla="*/ 2147483646 w 2387"/>
              <a:gd name="T1" fmla="*/ 2147483646 h 131"/>
              <a:gd name="T2" fmla="*/ 2147483646 w 2387"/>
              <a:gd name="T3" fmla="*/ 2147483646 h 131"/>
              <a:gd name="T4" fmla="*/ 2147483646 w 2387"/>
              <a:gd name="T5" fmla="*/ 2147483646 h 131"/>
              <a:gd name="T6" fmla="*/ 2147483646 w 2387"/>
              <a:gd name="T7" fmla="*/ 0 h 131"/>
              <a:gd name="T8" fmla="*/ 0 60000 65536"/>
              <a:gd name="T9" fmla="*/ 0 60000 65536"/>
              <a:gd name="T10" fmla="*/ 0 60000 65536"/>
              <a:gd name="T11" fmla="*/ 0 60000 65536"/>
              <a:gd name="T12" fmla="*/ 0 w 2387"/>
              <a:gd name="T13" fmla="*/ 0 h 131"/>
              <a:gd name="T14" fmla="*/ 2387 w 2387"/>
              <a:gd name="T15" fmla="*/ 131 h 131"/>
            </a:gdLst>
            <a:ahLst/>
            <a:cxnLst>
              <a:cxn ang="T8">
                <a:pos x="T0" y="T1"/>
              </a:cxn>
              <a:cxn ang="T9">
                <a:pos x="T2" y="T3"/>
              </a:cxn>
              <a:cxn ang="T10">
                <a:pos x="T4" y="T5"/>
              </a:cxn>
              <a:cxn ang="T11">
                <a:pos x="T6" y="T7"/>
              </a:cxn>
            </a:cxnLst>
            <a:rect l="T12" t="T13" r="T14" b="T15"/>
            <a:pathLst>
              <a:path w="2387" h="131">
                <a:moveTo>
                  <a:pt x="19" y="131"/>
                </a:moveTo>
                <a:cubicBezTo>
                  <a:pt x="27" y="125"/>
                  <a:pt x="0" y="113"/>
                  <a:pt x="69" y="95"/>
                </a:cubicBezTo>
                <a:cubicBezTo>
                  <a:pt x="138" y="77"/>
                  <a:pt x="45" y="40"/>
                  <a:pt x="431" y="24"/>
                </a:cubicBezTo>
                <a:cubicBezTo>
                  <a:pt x="817" y="8"/>
                  <a:pt x="1980" y="5"/>
                  <a:pt x="2387" y="0"/>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23" name="Freeform 20">
            <a:extLst>
              <a:ext uri="{FF2B5EF4-FFF2-40B4-BE49-F238E27FC236}">
                <a16:creationId xmlns:a16="http://schemas.microsoft.com/office/drawing/2014/main" id="{BEC797F3-AD93-DA49-B028-E4FFA9FFA8F4}"/>
              </a:ext>
            </a:extLst>
          </p:cNvPr>
          <p:cNvSpPr>
            <a:spLocks/>
          </p:cNvSpPr>
          <p:nvPr/>
        </p:nvSpPr>
        <p:spPr bwMode="auto">
          <a:xfrm>
            <a:off x="4537075" y="5343525"/>
            <a:ext cx="1979613" cy="541338"/>
          </a:xfrm>
          <a:custGeom>
            <a:avLst/>
            <a:gdLst>
              <a:gd name="T0" fmla="*/ 0 w 2308"/>
              <a:gd name="T1" fmla="*/ 2147483646 h 504"/>
              <a:gd name="T2" fmla="*/ 2147483646 w 2308"/>
              <a:gd name="T3" fmla="*/ 2147483646 h 504"/>
              <a:gd name="T4" fmla="*/ 2147483646 w 2308"/>
              <a:gd name="T5" fmla="*/ 2147483646 h 504"/>
              <a:gd name="T6" fmla="*/ 2147483646 w 2308"/>
              <a:gd name="T7" fmla="*/ 2147483646 h 504"/>
              <a:gd name="T8" fmla="*/ 2147483646 w 2308"/>
              <a:gd name="T9" fmla="*/ 2147483646 h 504"/>
              <a:gd name="T10" fmla="*/ 2147483646 w 2308"/>
              <a:gd name="T11" fmla="*/ 2147483646 h 504"/>
              <a:gd name="T12" fmla="*/ 2147483646 w 2308"/>
              <a:gd name="T13" fmla="*/ 0 h 504"/>
              <a:gd name="T14" fmla="*/ 0 60000 65536"/>
              <a:gd name="T15" fmla="*/ 0 60000 65536"/>
              <a:gd name="T16" fmla="*/ 0 60000 65536"/>
              <a:gd name="T17" fmla="*/ 0 60000 65536"/>
              <a:gd name="T18" fmla="*/ 0 60000 65536"/>
              <a:gd name="T19" fmla="*/ 0 60000 65536"/>
              <a:gd name="T20" fmla="*/ 0 60000 65536"/>
              <a:gd name="T21" fmla="*/ 0 w 2308"/>
              <a:gd name="T22" fmla="*/ 0 h 504"/>
              <a:gd name="T23" fmla="*/ 2308 w 2308"/>
              <a:gd name="T24" fmla="*/ 504 h 5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8" h="504">
                <a:moveTo>
                  <a:pt x="0" y="504"/>
                </a:moveTo>
                <a:cubicBezTo>
                  <a:pt x="3" y="472"/>
                  <a:pt x="6" y="352"/>
                  <a:pt x="15" y="314"/>
                </a:cubicBezTo>
                <a:cubicBezTo>
                  <a:pt x="24" y="276"/>
                  <a:pt x="26" y="302"/>
                  <a:pt x="52" y="276"/>
                </a:cubicBezTo>
                <a:cubicBezTo>
                  <a:pt x="78" y="250"/>
                  <a:pt x="124" y="190"/>
                  <a:pt x="172" y="156"/>
                </a:cubicBezTo>
                <a:cubicBezTo>
                  <a:pt x="220" y="122"/>
                  <a:pt x="244" y="90"/>
                  <a:pt x="340" y="72"/>
                </a:cubicBezTo>
                <a:cubicBezTo>
                  <a:pt x="436" y="54"/>
                  <a:pt x="420" y="60"/>
                  <a:pt x="748" y="48"/>
                </a:cubicBezTo>
                <a:cubicBezTo>
                  <a:pt x="1076" y="36"/>
                  <a:pt x="1983" y="10"/>
                  <a:pt x="2308" y="0"/>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24" name="Freeform 21">
            <a:extLst>
              <a:ext uri="{FF2B5EF4-FFF2-40B4-BE49-F238E27FC236}">
                <a16:creationId xmlns:a16="http://schemas.microsoft.com/office/drawing/2014/main" id="{42E5DEC3-3907-8A5A-2A01-7DDF1D490CA7}"/>
              </a:ext>
            </a:extLst>
          </p:cNvPr>
          <p:cNvSpPr>
            <a:spLocks/>
          </p:cNvSpPr>
          <p:nvPr/>
        </p:nvSpPr>
        <p:spPr bwMode="auto">
          <a:xfrm>
            <a:off x="4535488" y="4865688"/>
            <a:ext cx="1970087" cy="1019175"/>
          </a:xfrm>
          <a:custGeom>
            <a:avLst/>
            <a:gdLst>
              <a:gd name="T0" fmla="*/ 0 w 2299"/>
              <a:gd name="T1" fmla="*/ 2147483646 h 948"/>
              <a:gd name="T2" fmla="*/ 2147483646 w 2299"/>
              <a:gd name="T3" fmla="*/ 2147483646 h 948"/>
              <a:gd name="T4" fmla="*/ 2147483646 w 2299"/>
              <a:gd name="T5" fmla="*/ 2147483646 h 948"/>
              <a:gd name="T6" fmla="*/ 2147483646 w 2299"/>
              <a:gd name="T7" fmla="*/ 2147483646 h 948"/>
              <a:gd name="T8" fmla="*/ 2147483646 w 2299"/>
              <a:gd name="T9" fmla="*/ 2147483646 h 948"/>
              <a:gd name="T10" fmla="*/ 2147483646 w 2299"/>
              <a:gd name="T11" fmla="*/ 0 h 948"/>
              <a:gd name="T12" fmla="*/ 0 60000 65536"/>
              <a:gd name="T13" fmla="*/ 0 60000 65536"/>
              <a:gd name="T14" fmla="*/ 0 60000 65536"/>
              <a:gd name="T15" fmla="*/ 0 60000 65536"/>
              <a:gd name="T16" fmla="*/ 0 60000 65536"/>
              <a:gd name="T17" fmla="*/ 0 60000 65536"/>
              <a:gd name="T18" fmla="*/ 0 w 2299"/>
              <a:gd name="T19" fmla="*/ 0 h 948"/>
              <a:gd name="T20" fmla="*/ 2299 w 2299"/>
              <a:gd name="T21" fmla="*/ 948 h 948"/>
            </a:gdLst>
            <a:ahLst/>
            <a:cxnLst>
              <a:cxn ang="T12">
                <a:pos x="T0" y="T1"/>
              </a:cxn>
              <a:cxn ang="T13">
                <a:pos x="T2" y="T3"/>
              </a:cxn>
              <a:cxn ang="T14">
                <a:pos x="T4" y="T5"/>
              </a:cxn>
              <a:cxn ang="T15">
                <a:pos x="T6" y="T7"/>
              </a:cxn>
              <a:cxn ang="T16">
                <a:pos x="T8" y="T9"/>
              </a:cxn>
              <a:cxn ang="T17">
                <a:pos x="T10" y="T11"/>
              </a:cxn>
            </a:cxnLst>
            <a:rect l="T18" t="T19" r="T20" b="T21"/>
            <a:pathLst>
              <a:path w="2299" h="948">
                <a:moveTo>
                  <a:pt x="0" y="948"/>
                </a:moveTo>
                <a:cubicBezTo>
                  <a:pt x="9" y="858"/>
                  <a:pt x="20" y="540"/>
                  <a:pt x="55" y="408"/>
                </a:cubicBezTo>
                <a:cubicBezTo>
                  <a:pt x="90" y="276"/>
                  <a:pt x="151" y="212"/>
                  <a:pt x="211" y="156"/>
                </a:cubicBezTo>
                <a:cubicBezTo>
                  <a:pt x="271" y="100"/>
                  <a:pt x="247" y="93"/>
                  <a:pt x="413" y="69"/>
                </a:cubicBezTo>
                <a:cubicBezTo>
                  <a:pt x="579" y="45"/>
                  <a:pt x="893" y="23"/>
                  <a:pt x="1207" y="12"/>
                </a:cubicBezTo>
                <a:cubicBezTo>
                  <a:pt x="1521" y="1"/>
                  <a:pt x="2072" y="2"/>
                  <a:pt x="2299" y="0"/>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25" name="Freeform 22">
            <a:extLst>
              <a:ext uri="{FF2B5EF4-FFF2-40B4-BE49-F238E27FC236}">
                <a16:creationId xmlns:a16="http://schemas.microsoft.com/office/drawing/2014/main" id="{E5BDBC15-FD54-7541-4853-015759BD2BC9}"/>
              </a:ext>
            </a:extLst>
          </p:cNvPr>
          <p:cNvSpPr>
            <a:spLocks/>
          </p:cNvSpPr>
          <p:nvPr/>
        </p:nvSpPr>
        <p:spPr bwMode="auto">
          <a:xfrm>
            <a:off x="4537075" y="3924300"/>
            <a:ext cx="1906588" cy="1922463"/>
          </a:xfrm>
          <a:custGeom>
            <a:avLst/>
            <a:gdLst>
              <a:gd name="T0" fmla="*/ 0 w 2224"/>
              <a:gd name="T1" fmla="*/ 2147483646 h 1788"/>
              <a:gd name="T2" fmla="*/ 2147483646 w 2224"/>
              <a:gd name="T3" fmla="*/ 2147483646 h 1788"/>
              <a:gd name="T4" fmla="*/ 2147483646 w 2224"/>
              <a:gd name="T5" fmla="*/ 2147483646 h 1788"/>
              <a:gd name="T6" fmla="*/ 2147483646 w 2224"/>
              <a:gd name="T7" fmla="*/ 2147483646 h 1788"/>
              <a:gd name="T8" fmla="*/ 2147483646 w 2224"/>
              <a:gd name="T9" fmla="*/ 2147483646 h 1788"/>
              <a:gd name="T10" fmla="*/ 2147483646 w 2224"/>
              <a:gd name="T11" fmla="*/ 0 h 1788"/>
              <a:gd name="T12" fmla="*/ 0 60000 65536"/>
              <a:gd name="T13" fmla="*/ 0 60000 65536"/>
              <a:gd name="T14" fmla="*/ 0 60000 65536"/>
              <a:gd name="T15" fmla="*/ 0 60000 65536"/>
              <a:gd name="T16" fmla="*/ 0 60000 65536"/>
              <a:gd name="T17" fmla="*/ 0 60000 65536"/>
              <a:gd name="T18" fmla="*/ 0 w 2224"/>
              <a:gd name="T19" fmla="*/ 0 h 1788"/>
              <a:gd name="T20" fmla="*/ 2224 w 2224"/>
              <a:gd name="T21" fmla="*/ 1788 h 1788"/>
            </a:gdLst>
            <a:ahLst/>
            <a:cxnLst>
              <a:cxn ang="T12">
                <a:pos x="T0" y="T1"/>
              </a:cxn>
              <a:cxn ang="T13">
                <a:pos x="T2" y="T3"/>
              </a:cxn>
              <a:cxn ang="T14">
                <a:pos x="T4" y="T5"/>
              </a:cxn>
              <a:cxn ang="T15">
                <a:pos x="T6" y="T7"/>
              </a:cxn>
              <a:cxn ang="T16">
                <a:pos x="T8" y="T9"/>
              </a:cxn>
              <a:cxn ang="T17">
                <a:pos x="T10" y="T11"/>
              </a:cxn>
            </a:cxnLst>
            <a:rect l="T18" t="T19" r="T20" b="T21"/>
            <a:pathLst>
              <a:path w="2224" h="1788">
                <a:moveTo>
                  <a:pt x="0" y="1788"/>
                </a:moveTo>
                <a:cubicBezTo>
                  <a:pt x="15" y="1616"/>
                  <a:pt x="70" y="1000"/>
                  <a:pt x="89" y="754"/>
                </a:cubicBezTo>
                <a:cubicBezTo>
                  <a:pt x="108" y="508"/>
                  <a:pt x="92" y="417"/>
                  <a:pt x="112" y="312"/>
                </a:cubicBezTo>
                <a:cubicBezTo>
                  <a:pt x="132" y="207"/>
                  <a:pt x="121" y="171"/>
                  <a:pt x="209" y="125"/>
                </a:cubicBezTo>
                <a:cubicBezTo>
                  <a:pt x="297" y="79"/>
                  <a:pt x="304" y="57"/>
                  <a:pt x="640" y="36"/>
                </a:cubicBezTo>
                <a:cubicBezTo>
                  <a:pt x="976" y="15"/>
                  <a:pt x="1894" y="8"/>
                  <a:pt x="2224" y="0"/>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26" name="Freeform 23">
            <a:extLst>
              <a:ext uri="{FF2B5EF4-FFF2-40B4-BE49-F238E27FC236}">
                <a16:creationId xmlns:a16="http://schemas.microsoft.com/office/drawing/2014/main" id="{6CE0C3D8-B61D-8A53-5BD3-FA4E3B0D908B}"/>
              </a:ext>
            </a:extLst>
          </p:cNvPr>
          <p:cNvSpPr>
            <a:spLocks/>
          </p:cNvSpPr>
          <p:nvPr/>
        </p:nvSpPr>
        <p:spPr bwMode="auto">
          <a:xfrm>
            <a:off x="4537075" y="3330575"/>
            <a:ext cx="1897063" cy="2554288"/>
          </a:xfrm>
          <a:custGeom>
            <a:avLst/>
            <a:gdLst>
              <a:gd name="T0" fmla="*/ 0 w 2212"/>
              <a:gd name="T1" fmla="*/ 2147483646 h 2377"/>
              <a:gd name="T2" fmla="*/ 2147483646 w 2212"/>
              <a:gd name="T3" fmla="*/ 2147483646 h 2377"/>
              <a:gd name="T4" fmla="*/ 2147483646 w 2212"/>
              <a:gd name="T5" fmla="*/ 2147483646 h 2377"/>
              <a:gd name="T6" fmla="*/ 2147483646 w 2212"/>
              <a:gd name="T7" fmla="*/ 2147483646 h 2377"/>
              <a:gd name="T8" fmla="*/ 2147483646 w 2212"/>
              <a:gd name="T9" fmla="*/ 2147483646 h 2377"/>
              <a:gd name="T10" fmla="*/ 0 60000 65536"/>
              <a:gd name="T11" fmla="*/ 0 60000 65536"/>
              <a:gd name="T12" fmla="*/ 0 60000 65536"/>
              <a:gd name="T13" fmla="*/ 0 60000 65536"/>
              <a:gd name="T14" fmla="*/ 0 60000 65536"/>
              <a:gd name="T15" fmla="*/ 0 w 2212"/>
              <a:gd name="T16" fmla="*/ 0 h 2377"/>
              <a:gd name="T17" fmla="*/ 2212 w 2212"/>
              <a:gd name="T18" fmla="*/ 2377 h 2377"/>
            </a:gdLst>
            <a:ahLst/>
            <a:cxnLst>
              <a:cxn ang="T10">
                <a:pos x="T0" y="T1"/>
              </a:cxn>
              <a:cxn ang="T11">
                <a:pos x="T2" y="T3"/>
              </a:cxn>
              <a:cxn ang="T12">
                <a:pos x="T4" y="T5"/>
              </a:cxn>
              <a:cxn ang="T13">
                <a:pos x="T6" y="T7"/>
              </a:cxn>
              <a:cxn ang="T14">
                <a:pos x="T8" y="T9"/>
              </a:cxn>
            </a:cxnLst>
            <a:rect l="T15" t="T16" r="T17" b="T18"/>
            <a:pathLst>
              <a:path w="2212" h="2377">
                <a:moveTo>
                  <a:pt x="0" y="2377"/>
                </a:moveTo>
                <a:cubicBezTo>
                  <a:pt x="15" y="2189"/>
                  <a:pt x="62" y="1583"/>
                  <a:pt x="93" y="1248"/>
                </a:cubicBezTo>
                <a:cubicBezTo>
                  <a:pt x="124" y="914"/>
                  <a:pt x="113" y="567"/>
                  <a:pt x="186" y="369"/>
                </a:cubicBezTo>
                <a:cubicBezTo>
                  <a:pt x="259" y="171"/>
                  <a:pt x="194" y="122"/>
                  <a:pt x="532" y="61"/>
                </a:cubicBezTo>
                <a:cubicBezTo>
                  <a:pt x="870" y="0"/>
                  <a:pt x="1862" y="13"/>
                  <a:pt x="2212" y="1"/>
                </a:cubicBezTo>
              </a:path>
            </a:pathLst>
          </a:custGeom>
          <a:noFill/>
          <a:ln w="38100">
            <a:solidFill>
              <a:schemeClr val="tx1"/>
            </a:solidFill>
            <a:round/>
            <a:headEnd type="none" w="sm" len="sm"/>
            <a:tailEnd type="none" w="med" len="lg"/>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sp>
        <p:nvSpPr>
          <p:cNvPr id="27" name="Text Box 24">
            <a:extLst>
              <a:ext uri="{FF2B5EF4-FFF2-40B4-BE49-F238E27FC236}">
                <a16:creationId xmlns:a16="http://schemas.microsoft.com/office/drawing/2014/main" id="{14CA3991-E2D2-E93C-B4D6-CE5FBAA43AE3}"/>
              </a:ext>
            </a:extLst>
          </p:cNvPr>
          <p:cNvSpPr txBox="1">
            <a:spLocks noChangeArrowheads="1"/>
          </p:cNvSpPr>
          <p:nvPr/>
        </p:nvSpPr>
        <p:spPr bwMode="auto">
          <a:xfrm>
            <a:off x="6208713" y="5953125"/>
            <a:ext cx="876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10000">
                <a:latin typeface="Times New Roman" panose="02020603050405020304" pitchFamily="18" charset="0"/>
                <a:ea typeface="楷体_GB2312" pitchFamily="49" charset="-122"/>
              </a:rPr>
              <a:t>CC</a:t>
            </a:r>
          </a:p>
        </p:txBody>
      </p:sp>
      <p:graphicFrame>
        <p:nvGraphicFramePr>
          <p:cNvPr id="28" name="Object 25">
            <a:extLst>
              <a:ext uri="{FF2B5EF4-FFF2-40B4-BE49-F238E27FC236}">
                <a16:creationId xmlns:a16="http://schemas.microsoft.com/office/drawing/2014/main" id="{8EA5646B-7A01-5A37-6BBD-117F50A8E065}"/>
              </a:ext>
            </a:extLst>
          </p:cNvPr>
          <p:cNvGraphicFramePr>
            <a:graphicFrameLocks noChangeAspect="1"/>
          </p:cNvGraphicFramePr>
          <p:nvPr/>
        </p:nvGraphicFramePr>
        <p:xfrm>
          <a:off x="3773488" y="2960688"/>
          <a:ext cx="639762" cy="842962"/>
        </p:xfrm>
        <a:graphic>
          <a:graphicData uri="http://schemas.openxmlformats.org/presentationml/2006/ole">
            <mc:AlternateContent xmlns:mc="http://schemas.openxmlformats.org/markup-compatibility/2006">
              <mc:Choice xmlns:v="urn:schemas-microsoft-com:vml" Requires="v">
                <p:oleObj name="公式" r:id="rId2" imgW="279279" imgH="393529" progId="Equation.3">
                  <p:embed/>
                </p:oleObj>
              </mc:Choice>
              <mc:Fallback>
                <p:oleObj name="公式" r:id="rId2" imgW="279279" imgH="393529" progId="Equation.3">
                  <p:embed/>
                  <p:pic>
                    <p:nvPicPr>
                      <p:cNvPr id="722969"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488" y="2960688"/>
                        <a:ext cx="639762"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 name="Line 26">
            <a:extLst>
              <a:ext uri="{FF2B5EF4-FFF2-40B4-BE49-F238E27FC236}">
                <a16:creationId xmlns:a16="http://schemas.microsoft.com/office/drawing/2014/main" id="{EFCC504C-0DFF-5703-A27A-9273850CE4C8}"/>
              </a:ext>
            </a:extLst>
          </p:cNvPr>
          <p:cNvSpPr>
            <a:spLocks noChangeShapeType="1"/>
          </p:cNvSpPr>
          <p:nvPr/>
        </p:nvSpPr>
        <p:spPr bwMode="auto">
          <a:xfrm>
            <a:off x="4564063" y="3333750"/>
            <a:ext cx="1944687" cy="25923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nvGrpSpPr>
          <p:cNvPr id="30" name="Group 27">
            <a:extLst>
              <a:ext uri="{FF2B5EF4-FFF2-40B4-BE49-F238E27FC236}">
                <a16:creationId xmlns:a16="http://schemas.microsoft.com/office/drawing/2014/main" id="{E8CB0462-A359-6A1C-49EF-59E0973F8955}"/>
              </a:ext>
            </a:extLst>
          </p:cNvPr>
          <p:cNvGrpSpPr>
            <a:grpSpLocks/>
          </p:cNvGrpSpPr>
          <p:nvPr/>
        </p:nvGrpSpPr>
        <p:grpSpPr bwMode="auto">
          <a:xfrm>
            <a:off x="5284788" y="3868738"/>
            <a:ext cx="657225" cy="573087"/>
            <a:chOff x="1512" y="2279"/>
            <a:chExt cx="413" cy="361"/>
          </a:xfrm>
        </p:grpSpPr>
        <p:sp>
          <p:nvSpPr>
            <p:cNvPr id="31" name="Oval 28">
              <a:extLst>
                <a:ext uri="{FF2B5EF4-FFF2-40B4-BE49-F238E27FC236}">
                  <a16:creationId xmlns:a16="http://schemas.microsoft.com/office/drawing/2014/main" id="{536F1727-FF44-A1A5-91D4-9C5577BAEA5C}"/>
                </a:ext>
              </a:extLst>
            </p:cNvPr>
            <p:cNvSpPr>
              <a:spLocks noChangeArrowheads="1"/>
            </p:cNvSpPr>
            <p:nvPr/>
          </p:nvSpPr>
          <p:spPr bwMode="auto">
            <a:xfrm>
              <a:off x="1512" y="2556"/>
              <a:ext cx="72" cy="84"/>
            </a:xfrm>
            <a:prstGeom prst="ellipse">
              <a:avLst/>
            </a:prstGeom>
            <a:solidFill>
              <a:srgbClr val="FF3300"/>
            </a:solidFill>
            <a:ln w="38100">
              <a:solidFill>
                <a:srgbClr val="FF3300"/>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2" name="Text Box 29">
              <a:extLst>
                <a:ext uri="{FF2B5EF4-FFF2-40B4-BE49-F238E27FC236}">
                  <a16:creationId xmlns:a16="http://schemas.microsoft.com/office/drawing/2014/main" id="{E972E24D-C7D5-CC14-685C-B9A1D5CFB3E7}"/>
                </a:ext>
              </a:extLst>
            </p:cNvPr>
            <p:cNvSpPr txBox="1">
              <a:spLocks noChangeArrowheads="1"/>
            </p:cNvSpPr>
            <p:nvPr/>
          </p:nvSpPr>
          <p:spPr bwMode="auto">
            <a:xfrm>
              <a:off x="1638" y="2279"/>
              <a:ext cx="2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solidFill>
                    <a:srgbClr val="FF3300"/>
                  </a:solidFill>
                  <a:latin typeface="Times New Roman" panose="02020603050405020304" pitchFamily="18" charset="0"/>
                  <a:ea typeface="楷体_GB2312" pitchFamily="49" charset="-122"/>
                </a:rPr>
                <a:t>Q</a:t>
              </a:r>
            </a:p>
          </p:txBody>
        </p:sp>
      </p:grpSp>
      <p:sp>
        <p:nvSpPr>
          <p:cNvPr id="33" name="Oval 30">
            <a:extLst>
              <a:ext uri="{FF2B5EF4-FFF2-40B4-BE49-F238E27FC236}">
                <a16:creationId xmlns:a16="http://schemas.microsoft.com/office/drawing/2014/main" id="{69CEC75C-7411-E7AC-57FB-C902242F5E24}"/>
              </a:ext>
            </a:extLst>
          </p:cNvPr>
          <p:cNvSpPr>
            <a:spLocks noChangeArrowheads="1"/>
          </p:cNvSpPr>
          <p:nvPr/>
        </p:nvSpPr>
        <p:spPr bwMode="auto">
          <a:xfrm>
            <a:off x="4479925" y="3262313"/>
            <a:ext cx="104775" cy="104775"/>
          </a:xfrm>
          <a:prstGeom prst="ellipse">
            <a:avLst/>
          </a:prstGeom>
          <a:solidFill>
            <a:srgbClr val="CC3300"/>
          </a:solidFill>
          <a:ln w="9525">
            <a:solidFill>
              <a:srgbClr val="CC3300"/>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4" name="Oval 31">
            <a:extLst>
              <a:ext uri="{FF2B5EF4-FFF2-40B4-BE49-F238E27FC236}">
                <a16:creationId xmlns:a16="http://schemas.microsoft.com/office/drawing/2014/main" id="{B9AF21BE-02AF-72CD-0CA3-E71F9DF9E671}"/>
              </a:ext>
            </a:extLst>
          </p:cNvPr>
          <p:cNvSpPr>
            <a:spLocks noChangeArrowheads="1"/>
          </p:cNvSpPr>
          <p:nvPr/>
        </p:nvSpPr>
        <p:spPr bwMode="auto">
          <a:xfrm>
            <a:off x="6435725" y="5846763"/>
            <a:ext cx="104775" cy="104775"/>
          </a:xfrm>
          <a:prstGeom prst="ellipse">
            <a:avLst/>
          </a:prstGeom>
          <a:solidFill>
            <a:srgbClr val="CC3300"/>
          </a:solidFill>
          <a:ln w="9525">
            <a:solidFill>
              <a:srgbClr val="CC3300"/>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5" name="Rectangle 32">
            <a:extLst>
              <a:ext uri="{FF2B5EF4-FFF2-40B4-BE49-F238E27FC236}">
                <a16:creationId xmlns:a16="http://schemas.microsoft.com/office/drawing/2014/main" id="{9F1F46DD-D280-B091-05AD-C9FE507C1C17}"/>
              </a:ext>
            </a:extLst>
          </p:cNvPr>
          <p:cNvSpPr>
            <a:spLocks noChangeArrowheads="1"/>
          </p:cNvSpPr>
          <p:nvPr/>
        </p:nvSpPr>
        <p:spPr bwMode="auto">
          <a:xfrm>
            <a:off x="1843088" y="5948363"/>
            <a:ext cx="9001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solidFill>
                  <a:schemeClr val="accent2"/>
                </a:solidFill>
                <a:latin typeface="Times New Roman" panose="02020603050405020304" pitchFamily="18" charset="0"/>
                <a:ea typeface="楷体_GB2312" pitchFamily="49" charset="-122"/>
              </a:rPr>
              <a:t>V</a:t>
            </a:r>
            <a:r>
              <a:rPr kumimoji="1" lang="en-US" altLang="zh-CN" sz="1800">
                <a:solidFill>
                  <a:schemeClr val="accent2"/>
                </a:solidFill>
                <a:latin typeface="Times New Roman" panose="02020603050405020304" pitchFamily="18" charset="0"/>
                <a:ea typeface="楷体_GB2312" pitchFamily="49" charset="-122"/>
              </a:rPr>
              <a:t>BEQ</a:t>
            </a:r>
          </a:p>
        </p:txBody>
      </p:sp>
      <p:sp>
        <p:nvSpPr>
          <p:cNvPr id="36" name="Rectangle 33">
            <a:extLst>
              <a:ext uri="{FF2B5EF4-FFF2-40B4-BE49-F238E27FC236}">
                <a16:creationId xmlns:a16="http://schemas.microsoft.com/office/drawing/2014/main" id="{A2E15284-E1D8-24EF-164B-D44548CDEEF6}"/>
              </a:ext>
            </a:extLst>
          </p:cNvPr>
          <p:cNvSpPr>
            <a:spLocks noChangeArrowheads="1"/>
          </p:cNvSpPr>
          <p:nvPr/>
        </p:nvSpPr>
        <p:spPr bwMode="auto">
          <a:xfrm>
            <a:off x="595313" y="4103688"/>
            <a:ext cx="649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solidFill>
                  <a:schemeClr val="accent2"/>
                </a:solidFill>
                <a:latin typeface="Times New Roman" panose="02020603050405020304" pitchFamily="18" charset="0"/>
                <a:ea typeface="楷体_GB2312" pitchFamily="49" charset="-122"/>
              </a:rPr>
              <a:t>I</a:t>
            </a:r>
            <a:r>
              <a:rPr kumimoji="1" lang="en-US" altLang="zh-CN" sz="1800">
                <a:solidFill>
                  <a:schemeClr val="accent2"/>
                </a:solidFill>
                <a:latin typeface="Times New Roman" panose="02020603050405020304" pitchFamily="18" charset="0"/>
                <a:ea typeface="楷体_GB2312" pitchFamily="49" charset="-122"/>
              </a:rPr>
              <a:t>BQ</a:t>
            </a:r>
          </a:p>
        </p:txBody>
      </p:sp>
      <p:grpSp>
        <p:nvGrpSpPr>
          <p:cNvPr id="37" name="Group 34">
            <a:extLst>
              <a:ext uri="{FF2B5EF4-FFF2-40B4-BE49-F238E27FC236}">
                <a16:creationId xmlns:a16="http://schemas.microsoft.com/office/drawing/2014/main" id="{7C062F92-38BB-14F6-8D4B-A73EB73A8247}"/>
              </a:ext>
            </a:extLst>
          </p:cNvPr>
          <p:cNvGrpSpPr>
            <a:grpSpLocks/>
          </p:cNvGrpSpPr>
          <p:nvPr/>
        </p:nvGrpSpPr>
        <p:grpSpPr bwMode="auto">
          <a:xfrm>
            <a:off x="2252663" y="3881438"/>
            <a:ext cx="655637" cy="573087"/>
            <a:chOff x="1512" y="2279"/>
            <a:chExt cx="413" cy="361"/>
          </a:xfrm>
        </p:grpSpPr>
        <p:sp>
          <p:nvSpPr>
            <p:cNvPr id="38" name="Oval 35">
              <a:extLst>
                <a:ext uri="{FF2B5EF4-FFF2-40B4-BE49-F238E27FC236}">
                  <a16:creationId xmlns:a16="http://schemas.microsoft.com/office/drawing/2014/main" id="{326AE8FC-78BC-ED09-F5A5-310D83494A8B}"/>
                </a:ext>
              </a:extLst>
            </p:cNvPr>
            <p:cNvSpPr>
              <a:spLocks noChangeArrowheads="1"/>
            </p:cNvSpPr>
            <p:nvPr/>
          </p:nvSpPr>
          <p:spPr bwMode="auto">
            <a:xfrm>
              <a:off x="1512" y="2556"/>
              <a:ext cx="72" cy="84"/>
            </a:xfrm>
            <a:prstGeom prst="ellipse">
              <a:avLst/>
            </a:prstGeom>
            <a:solidFill>
              <a:srgbClr val="FF3300"/>
            </a:solidFill>
            <a:ln w="38100">
              <a:solidFill>
                <a:srgbClr val="FF3300"/>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9" name="Text Box 36">
              <a:extLst>
                <a:ext uri="{FF2B5EF4-FFF2-40B4-BE49-F238E27FC236}">
                  <a16:creationId xmlns:a16="http://schemas.microsoft.com/office/drawing/2014/main" id="{426D9287-3F75-281F-631A-609795B45E9E}"/>
                </a:ext>
              </a:extLst>
            </p:cNvPr>
            <p:cNvSpPr txBox="1">
              <a:spLocks noChangeArrowheads="1"/>
            </p:cNvSpPr>
            <p:nvPr/>
          </p:nvSpPr>
          <p:spPr bwMode="auto">
            <a:xfrm>
              <a:off x="1637" y="2279"/>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solidFill>
                    <a:srgbClr val="FF3300"/>
                  </a:solidFill>
                  <a:latin typeface="Times New Roman" panose="02020603050405020304" pitchFamily="18" charset="0"/>
                  <a:ea typeface="楷体_GB2312" pitchFamily="49" charset="-122"/>
                </a:rPr>
                <a:t>Q</a:t>
              </a:r>
            </a:p>
          </p:txBody>
        </p:sp>
      </p:grpSp>
      <p:sp>
        <p:nvSpPr>
          <p:cNvPr id="40" name="Line 37">
            <a:extLst>
              <a:ext uri="{FF2B5EF4-FFF2-40B4-BE49-F238E27FC236}">
                <a16:creationId xmlns:a16="http://schemas.microsoft.com/office/drawing/2014/main" id="{3131DAB3-D92C-CA37-AE5A-E64A4A8A491D}"/>
              </a:ext>
            </a:extLst>
          </p:cNvPr>
          <p:cNvSpPr>
            <a:spLocks noChangeShapeType="1"/>
          </p:cNvSpPr>
          <p:nvPr/>
        </p:nvSpPr>
        <p:spPr bwMode="auto">
          <a:xfrm>
            <a:off x="1377950" y="3749675"/>
            <a:ext cx="1738313" cy="12065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1" name="Oval 38">
            <a:extLst>
              <a:ext uri="{FF2B5EF4-FFF2-40B4-BE49-F238E27FC236}">
                <a16:creationId xmlns:a16="http://schemas.microsoft.com/office/drawing/2014/main" id="{E594FD46-BAD4-EE0E-B57B-92D1271AF12E}"/>
              </a:ext>
            </a:extLst>
          </p:cNvPr>
          <p:cNvSpPr>
            <a:spLocks noChangeArrowheads="1"/>
          </p:cNvSpPr>
          <p:nvPr/>
        </p:nvSpPr>
        <p:spPr bwMode="auto">
          <a:xfrm>
            <a:off x="1308100" y="3678238"/>
            <a:ext cx="104775" cy="104775"/>
          </a:xfrm>
          <a:prstGeom prst="ellipse">
            <a:avLst/>
          </a:prstGeom>
          <a:solidFill>
            <a:srgbClr val="FF0000"/>
          </a:solidFill>
          <a:ln w="9525">
            <a:solidFill>
              <a:srgbClr val="FF0000"/>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Rectangle 39">
            <a:extLst>
              <a:ext uri="{FF2B5EF4-FFF2-40B4-BE49-F238E27FC236}">
                <a16:creationId xmlns:a16="http://schemas.microsoft.com/office/drawing/2014/main" id="{7CE628FA-88A2-EFD6-2F10-CB518C55004B}"/>
              </a:ext>
            </a:extLst>
          </p:cNvPr>
          <p:cNvSpPr>
            <a:spLocks noChangeArrowheads="1"/>
          </p:cNvSpPr>
          <p:nvPr/>
        </p:nvSpPr>
        <p:spPr bwMode="auto">
          <a:xfrm>
            <a:off x="6465888" y="4117975"/>
            <a:ext cx="649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solidFill>
                  <a:schemeClr val="accent2"/>
                </a:solidFill>
                <a:latin typeface="Times New Roman" panose="02020603050405020304" pitchFamily="18" charset="0"/>
                <a:ea typeface="楷体_GB2312" pitchFamily="49" charset="-122"/>
              </a:rPr>
              <a:t>I</a:t>
            </a:r>
            <a:r>
              <a:rPr kumimoji="1" lang="en-US" altLang="zh-CN" sz="1800">
                <a:solidFill>
                  <a:schemeClr val="accent2"/>
                </a:solidFill>
                <a:latin typeface="Times New Roman" panose="02020603050405020304" pitchFamily="18" charset="0"/>
                <a:ea typeface="楷体_GB2312" pitchFamily="49" charset="-122"/>
              </a:rPr>
              <a:t>BQ</a:t>
            </a:r>
          </a:p>
        </p:txBody>
      </p:sp>
      <p:sp>
        <p:nvSpPr>
          <p:cNvPr id="43" name="Rectangle 40">
            <a:extLst>
              <a:ext uri="{FF2B5EF4-FFF2-40B4-BE49-F238E27FC236}">
                <a16:creationId xmlns:a16="http://schemas.microsoft.com/office/drawing/2014/main" id="{F3A09238-E444-7C0F-ECA4-7CC287F4A0E4}"/>
              </a:ext>
            </a:extLst>
          </p:cNvPr>
          <p:cNvSpPr>
            <a:spLocks noChangeArrowheads="1"/>
          </p:cNvSpPr>
          <p:nvPr/>
        </p:nvSpPr>
        <p:spPr bwMode="auto">
          <a:xfrm>
            <a:off x="628651" y="1501549"/>
            <a:ext cx="25860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0" rIns="90000" bIns="4680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25000">
                <a:latin typeface="Times New Roman" panose="02020603050405020304" pitchFamily="18" charset="0"/>
                <a:ea typeface="楷体_GB2312" pitchFamily="49" charset="-122"/>
              </a:rPr>
              <a:t>BE</a:t>
            </a:r>
            <a:r>
              <a:rPr kumimoji="1" lang="en-US" altLang="zh-CN" sz="2800">
                <a:latin typeface="Times New Roman" panose="02020603050405020304" pitchFamily="18" charset="0"/>
                <a:ea typeface="楷体_GB2312" pitchFamily="49" charset="-122"/>
              </a:rPr>
              <a:t>=</a:t>
            </a:r>
            <a:r>
              <a:rPr kumimoji="1" lang="en-US" altLang="zh-CN" sz="2800" i="1">
                <a:latin typeface="Times New Roman" panose="02020603050405020304" pitchFamily="18" charset="0"/>
                <a:ea typeface="楷体_GB2312" pitchFamily="49" charset="-122"/>
              </a:rPr>
              <a:t>V</a:t>
            </a:r>
            <a:r>
              <a:rPr kumimoji="1" lang="en-US" altLang="zh-CN" sz="2800" baseline="-25000">
                <a:latin typeface="Times New Roman" panose="02020603050405020304" pitchFamily="18" charset="0"/>
                <a:ea typeface="楷体_GB2312" pitchFamily="49" charset="-122"/>
              </a:rPr>
              <a:t>CC </a:t>
            </a:r>
            <a:r>
              <a:rPr kumimoji="1" lang="en-US" altLang="zh-CN" sz="2800">
                <a:latin typeface="Times New Roman" panose="02020603050405020304" pitchFamily="18" charset="0"/>
                <a:ea typeface="楷体_GB2312" pitchFamily="49" charset="-122"/>
              </a:rPr>
              <a:t>– </a:t>
            </a:r>
            <a:r>
              <a:rPr kumimoji="1" lang="en-US" altLang="zh-CN" sz="2800" i="1">
                <a:latin typeface="Times New Roman" panose="02020603050405020304" pitchFamily="18" charset="0"/>
                <a:ea typeface="楷体_GB2312" pitchFamily="49" charset="-122"/>
              </a:rPr>
              <a:t>i</a:t>
            </a:r>
            <a:r>
              <a:rPr kumimoji="1" lang="en-US" altLang="zh-CN" sz="2800" baseline="-25000">
                <a:latin typeface="Times New Roman" panose="02020603050405020304" pitchFamily="18" charset="0"/>
                <a:ea typeface="楷体_GB2312" pitchFamily="49" charset="-122"/>
              </a:rPr>
              <a:t>B</a:t>
            </a:r>
            <a:r>
              <a:rPr kumimoji="1" lang="en-US" altLang="zh-CN" sz="2800">
                <a:latin typeface="Times New Roman" panose="02020603050405020304" pitchFamily="18" charset="0"/>
                <a:ea typeface="楷体_GB2312" pitchFamily="49" charset="-122"/>
              </a:rPr>
              <a:t>R</a:t>
            </a:r>
            <a:r>
              <a:rPr kumimoji="1" lang="en-US" altLang="zh-CN" sz="2800" baseline="-25000">
                <a:latin typeface="Times New Roman" panose="02020603050405020304" pitchFamily="18" charset="0"/>
                <a:ea typeface="楷体_GB2312" pitchFamily="49" charset="-122"/>
              </a:rPr>
              <a:t>b</a:t>
            </a:r>
            <a:endParaRPr kumimoji="1" lang="en-US" altLang="zh-CN" baseline="-5000">
              <a:latin typeface="Times New Roman" panose="02020603050405020304" pitchFamily="18" charset="0"/>
              <a:ea typeface="楷体_GB2312" pitchFamily="49" charset="-122"/>
            </a:endParaRPr>
          </a:p>
        </p:txBody>
      </p:sp>
      <p:graphicFrame>
        <p:nvGraphicFramePr>
          <p:cNvPr id="44" name="Object 41">
            <a:extLst>
              <a:ext uri="{FF2B5EF4-FFF2-40B4-BE49-F238E27FC236}">
                <a16:creationId xmlns:a16="http://schemas.microsoft.com/office/drawing/2014/main" id="{AA501946-15E0-5B0A-829B-6D32AF2964F1}"/>
              </a:ext>
            </a:extLst>
          </p:cNvPr>
          <p:cNvGraphicFramePr>
            <a:graphicFrameLocks noChangeAspect="1"/>
          </p:cNvGraphicFramePr>
          <p:nvPr/>
        </p:nvGraphicFramePr>
        <p:xfrm>
          <a:off x="650875" y="3254375"/>
          <a:ext cx="639763" cy="858838"/>
        </p:xfrm>
        <a:graphic>
          <a:graphicData uri="http://schemas.openxmlformats.org/presentationml/2006/ole">
            <mc:AlternateContent xmlns:mc="http://schemas.openxmlformats.org/markup-compatibility/2006">
              <mc:Choice xmlns:v="urn:schemas-microsoft-com:vml" Requires="v">
                <p:oleObj name="公式" r:id="rId4" imgW="279279" imgH="393529" progId="Equation.3">
                  <p:embed/>
                </p:oleObj>
              </mc:Choice>
              <mc:Fallback>
                <p:oleObj name="公式" r:id="rId4" imgW="279279" imgH="393529" progId="Equation.3">
                  <p:embed/>
                  <p:pic>
                    <p:nvPicPr>
                      <p:cNvPr id="722985"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875" y="3254375"/>
                        <a:ext cx="639763"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5" name="Rectangle 42">
            <a:extLst>
              <a:ext uri="{FF2B5EF4-FFF2-40B4-BE49-F238E27FC236}">
                <a16:creationId xmlns:a16="http://schemas.microsoft.com/office/drawing/2014/main" id="{3BEFDCD4-81BD-8D79-935C-C9B9BA14FA68}"/>
              </a:ext>
            </a:extLst>
          </p:cNvPr>
          <p:cNvSpPr>
            <a:spLocks noChangeArrowheads="1"/>
          </p:cNvSpPr>
          <p:nvPr/>
        </p:nvSpPr>
        <p:spPr bwMode="auto">
          <a:xfrm>
            <a:off x="736601" y="1033236"/>
            <a:ext cx="4643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dirty="0">
                <a:latin typeface="+mj-ea"/>
                <a:ea typeface="+mj-ea"/>
              </a:rPr>
              <a:t>输入</a:t>
            </a:r>
            <a:r>
              <a:rPr kumimoji="1" lang="en-US" altLang="zh-CN" sz="2800" b="0" dirty="0">
                <a:latin typeface="+mj-ea"/>
                <a:ea typeface="+mj-ea"/>
              </a:rPr>
              <a:t>/</a:t>
            </a:r>
            <a:r>
              <a:rPr kumimoji="1" lang="zh-CN" altLang="en-US" sz="2800" b="0" dirty="0">
                <a:latin typeface="+mj-ea"/>
                <a:ea typeface="+mj-ea"/>
              </a:rPr>
              <a:t>输出直流负载线：</a:t>
            </a:r>
            <a:endParaRPr kumimoji="1" lang="en-US" altLang="zh-CN" sz="2800" b="0" dirty="0">
              <a:latin typeface="+mj-ea"/>
              <a:ea typeface="+mj-ea"/>
            </a:endParaRPr>
          </a:p>
        </p:txBody>
      </p:sp>
      <p:sp>
        <p:nvSpPr>
          <p:cNvPr id="46" name="Rectangle 43">
            <a:extLst>
              <a:ext uri="{FF2B5EF4-FFF2-40B4-BE49-F238E27FC236}">
                <a16:creationId xmlns:a16="http://schemas.microsoft.com/office/drawing/2014/main" id="{B3D73C3C-4567-6948-7157-183D0F28E8BA}"/>
              </a:ext>
            </a:extLst>
          </p:cNvPr>
          <p:cNvSpPr>
            <a:spLocks noChangeArrowheads="1"/>
          </p:cNvSpPr>
          <p:nvPr/>
        </p:nvSpPr>
        <p:spPr bwMode="auto">
          <a:xfrm>
            <a:off x="3582988" y="1666649"/>
            <a:ext cx="2449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0" rIns="90000" bIns="4680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25000">
                <a:latin typeface="Times New Roman" panose="02020603050405020304" pitchFamily="18" charset="0"/>
                <a:ea typeface="楷体_GB2312" pitchFamily="49" charset="-122"/>
              </a:rPr>
              <a:t>CE</a:t>
            </a:r>
            <a:r>
              <a:rPr kumimoji="1" lang="en-US" altLang="zh-CN" sz="2800">
                <a:latin typeface="Times New Roman" panose="02020603050405020304" pitchFamily="18" charset="0"/>
                <a:ea typeface="楷体_GB2312" pitchFamily="49" charset="-122"/>
              </a:rPr>
              <a:t>=</a:t>
            </a:r>
            <a:r>
              <a:rPr kumimoji="1" lang="en-US" altLang="zh-CN" sz="2800" i="1">
                <a:latin typeface="Times New Roman" panose="02020603050405020304" pitchFamily="18" charset="0"/>
                <a:ea typeface="楷体_GB2312" pitchFamily="49" charset="-122"/>
              </a:rPr>
              <a:t>V</a:t>
            </a:r>
            <a:r>
              <a:rPr kumimoji="1" lang="en-US" altLang="zh-CN" sz="2800" baseline="-25000">
                <a:latin typeface="Times New Roman" panose="02020603050405020304" pitchFamily="18" charset="0"/>
                <a:ea typeface="楷体_GB2312" pitchFamily="49" charset="-122"/>
              </a:rPr>
              <a:t>CC </a:t>
            </a:r>
            <a:r>
              <a:rPr kumimoji="1" lang="en-US" altLang="zh-CN" sz="2800">
                <a:latin typeface="Times New Roman" panose="02020603050405020304" pitchFamily="18" charset="0"/>
                <a:ea typeface="楷体_GB2312" pitchFamily="49" charset="-122"/>
              </a:rPr>
              <a:t>– </a:t>
            </a:r>
            <a:r>
              <a:rPr kumimoji="1" lang="en-US" altLang="zh-CN" sz="2800" i="1">
                <a:latin typeface="Times New Roman" panose="02020603050405020304" pitchFamily="18" charset="0"/>
                <a:ea typeface="楷体_GB2312" pitchFamily="49" charset="-122"/>
              </a:rPr>
              <a:t>i</a:t>
            </a:r>
            <a:r>
              <a:rPr kumimoji="1" lang="en-US" altLang="zh-CN" sz="2800" baseline="-25000">
                <a:latin typeface="Times New Roman" panose="02020603050405020304" pitchFamily="18" charset="0"/>
                <a:ea typeface="楷体_GB2312" pitchFamily="49" charset="-122"/>
              </a:rPr>
              <a:t>C</a:t>
            </a:r>
            <a:r>
              <a:rPr kumimoji="1" lang="en-US" altLang="zh-CN" sz="2800">
                <a:latin typeface="Times New Roman" panose="02020603050405020304" pitchFamily="18" charset="0"/>
                <a:ea typeface="楷体_GB2312" pitchFamily="49" charset="-122"/>
              </a:rPr>
              <a:t>R</a:t>
            </a:r>
            <a:r>
              <a:rPr kumimoji="1" lang="en-US" altLang="zh-CN" baseline="-5000">
                <a:latin typeface="Times New Roman" panose="02020603050405020304" pitchFamily="18" charset="0"/>
                <a:ea typeface="楷体_GB2312" pitchFamily="49" charset="-122"/>
              </a:rPr>
              <a:t>c</a:t>
            </a:r>
          </a:p>
        </p:txBody>
      </p:sp>
      <p:sp>
        <p:nvSpPr>
          <p:cNvPr id="47" name="Text Box 45">
            <a:extLst>
              <a:ext uri="{FF2B5EF4-FFF2-40B4-BE49-F238E27FC236}">
                <a16:creationId xmlns:a16="http://schemas.microsoft.com/office/drawing/2014/main" id="{30B503BD-EA2E-8529-4E8B-DB0558713977}"/>
              </a:ext>
            </a:extLst>
          </p:cNvPr>
          <p:cNvSpPr txBox="1">
            <a:spLocks noChangeArrowheads="1"/>
          </p:cNvSpPr>
          <p:nvPr/>
        </p:nvSpPr>
        <p:spPr bwMode="auto">
          <a:xfrm>
            <a:off x="6575425" y="1695450"/>
            <a:ext cx="541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a:t>
            </a:r>
            <a:r>
              <a:rPr kumimoji="1" lang="en-US" altLang="zh-CN" sz="2000">
                <a:latin typeface="Times New Roman" panose="02020603050405020304" pitchFamily="18" charset="0"/>
                <a:ea typeface="楷体_GB2312" pitchFamily="49" charset="-122"/>
              </a:rPr>
              <a:t>b</a:t>
            </a:r>
          </a:p>
        </p:txBody>
      </p:sp>
      <p:sp>
        <p:nvSpPr>
          <p:cNvPr id="48" name="Line 46">
            <a:extLst>
              <a:ext uri="{FF2B5EF4-FFF2-40B4-BE49-F238E27FC236}">
                <a16:creationId xmlns:a16="http://schemas.microsoft.com/office/drawing/2014/main" id="{8499E020-4184-FEC5-CA4F-B62C0D7E13FC}"/>
              </a:ext>
            </a:extLst>
          </p:cNvPr>
          <p:cNvSpPr>
            <a:spLocks noChangeShapeType="1"/>
          </p:cNvSpPr>
          <p:nvPr/>
        </p:nvSpPr>
        <p:spPr bwMode="auto">
          <a:xfrm>
            <a:off x="7207250" y="1463675"/>
            <a:ext cx="0" cy="124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9" name="Rectangle 47">
            <a:extLst>
              <a:ext uri="{FF2B5EF4-FFF2-40B4-BE49-F238E27FC236}">
                <a16:creationId xmlns:a16="http://schemas.microsoft.com/office/drawing/2014/main" id="{F62AF22D-69EF-608D-3854-037AEF9D3ACA}"/>
              </a:ext>
            </a:extLst>
          </p:cNvPr>
          <p:cNvSpPr>
            <a:spLocks noChangeArrowheads="1"/>
          </p:cNvSpPr>
          <p:nvPr/>
        </p:nvSpPr>
        <p:spPr bwMode="auto">
          <a:xfrm>
            <a:off x="7104063" y="1739900"/>
            <a:ext cx="150812" cy="41433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0" name="Line 48">
            <a:extLst>
              <a:ext uri="{FF2B5EF4-FFF2-40B4-BE49-F238E27FC236}">
                <a16:creationId xmlns:a16="http://schemas.microsoft.com/office/drawing/2014/main" id="{28B4F266-4776-A0C0-3ABC-A9AC23379B8C}"/>
              </a:ext>
            </a:extLst>
          </p:cNvPr>
          <p:cNvSpPr>
            <a:spLocks noChangeShapeType="1"/>
          </p:cNvSpPr>
          <p:nvPr/>
        </p:nvSpPr>
        <p:spPr bwMode="auto">
          <a:xfrm>
            <a:off x="7204075" y="1463675"/>
            <a:ext cx="12382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1" name="Line 49">
            <a:extLst>
              <a:ext uri="{FF2B5EF4-FFF2-40B4-BE49-F238E27FC236}">
                <a16:creationId xmlns:a16="http://schemas.microsoft.com/office/drawing/2014/main" id="{AFFF6B01-5B71-2591-A36B-C7314FA71068}"/>
              </a:ext>
            </a:extLst>
          </p:cNvPr>
          <p:cNvSpPr>
            <a:spLocks noChangeShapeType="1"/>
          </p:cNvSpPr>
          <p:nvPr/>
        </p:nvSpPr>
        <p:spPr bwMode="auto">
          <a:xfrm flipV="1">
            <a:off x="7210425" y="2708275"/>
            <a:ext cx="665163"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2" name="Line 50">
            <a:extLst>
              <a:ext uri="{FF2B5EF4-FFF2-40B4-BE49-F238E27FC236}">
                <a16:creationId xmlns:a16="http://schemas.microsoft.com/office/drawing/2014/main" id="{A46063DA-B3BE-DFB8-7CCE-AB73E0814F8E}"/>
              </a:ext>
            </a:extLst>
          </p:cNvPr>
          <p:cNvSpPr>
            <a:spLocks noChangeShapeType="1"/>
          </p:cNvSpPr>
          <p:nvPr/>
        </p:nvSpPr>
        <p:spPr bwMode="auto">
          <a:xfrm>
            <a:off x="7858125" y="2544763"/>
            <a:ext cx="0" cy="365125"/>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3" name="Line 51">
            <a:extLst>
              <a:ext uri="{FF2B5EF4-FFF2-40B4-BE49-F238E27FC236}">
                <a16:creationId xmlns:a16="http://schemas.microsoft.com/office/drawing/2014/main" id="{69BB0A09-F276-6B18-CDDC-7A97AC120A21}"/>
              </a:ext>
            </a:extLst>
          </p:cNvPr>
          <p:cNvSpPr>
            <a:spLocks noChangeShapeType="1"/>
          </p:cNvSpPr>
          <p:nvPr/>
        </p:nvSpPr>
        <p:spPr bwMode="auto">
          <a:xfrm>
            <a:off x="7858125" y="2727325"/>
            <a:ext cx="225425" cy="188913"/>
          </a:xfrm>
          <a:prstGeom prst="line">
            <a:avLst/>
          </a:prstGeom>
          <a:noFill/>
          <a:ln w="38100">
            <a:solidFill>
              <a:srgbClr val="CC3300"/>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4" name="Line 52">
            <a:extLst>
              <a:ext uri="{FF2B5EF4-FFF2-40B4-BE49-F238E27FC236}">
                <a16:creationId xmlns:a16="http://schemas.microsoft.com/office/drawing/2014/main" id="{A2286BE2-53D9-E782-239B-51F942F1DF29}"/>
              </a:ext>
            </a:extLst>
          </p:cNvPr>
          <p:cNvSpPr>
            <a:spLocks noChangeShapeType="1"/>
          </p:cNvSpPr>
          <p:nvPr/>
        </p:nvSpPr>
        <p:spPr bwMode="auto">
          <a:xfrm flipH="1">
            <a:off x="8080375" y="1463675"/>
            <a:ext cx="0" cy="1104900"/>
          </a:xfrm>
          <a:prstGeom prst="line">
            <a:avLst/>
          </a:prstGeom>
          <a:noFill/>
          <a:ln w="38100">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5" name="Line 53">
            <a:extLst>
              <a:ext uri="{FF2B5EF4-FFF2-40B4-BE49-F238E27FC236}">
                <a16:creationId xmlns:a16="http://schemas.microsoft.com/office/drawing/2014/main" id="{AD9EEB37-F2A4-1067-111E-4889B3083FA1}"/>
              </a:ext>
            </a:extLst>
          </p:cNvPr>
          <p:cNvSpPr>
            <a:spLocks noChangeShapeType="1"/>
          </p:cNvSpPr>
          <p:nvPr/>
        </p:nvSpPr>
        <p:spPr bwMode="auto">
          <a:xfrm>
            <a:off x="8069263" y="2905125"/>
            <a:ext cx="0" cy="468313"/>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6" name="Text Box 54">
            <a:extLst>
              <a:ext uri="{FF2B5EF4-FFF2-40B4-BE49-F238E27FC236}">
                <a16:creationId xmlns:a16="http://schemas.microsoft.com/office/drawing/2014/main" id="{C11AD420-E3D9-7B49-BA86-41F36DC9368C}"/>
              </a:ext>
            </a:extLst>
          </p:cNvPr>
          <p:cNvSpPr txBox="1">
            <a:spLocks noChangeArrowheads="1"/>
          </p:cNvSpPr>
          <p:nvPr/>
        </p:nvSpPr>
        <p:spPr bwMode="auto">
          <a:xfrm>
            <a:off x="7986713" y="944563"/>
            <a:ext cx="849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i="1">
                <a:latin typeface="Times New Roman" panose="02020603050405020304" pitchFamily="18" charset="0"/>
                <a:ea typeface="楷体_GB2312" pitchFamily="49" charset="-122"/>
              </a:rPr>
              <a:t>+V</a:t>
            </a:r>
            <a:r>
              <a:rPr kumimoji="1" lang="en-US" altLang="zh-CN" sz="2400" baseline="-10000">
                <a:latin typeface="Times New Roman" panose="02020603050405020304" pitchFamily="18" charset="0"/>
                <a:ea typeface="楷体_GB2312" pitchFamily="49" charset="-122"/>
              </a:rPr>
              <a:t>CC</a:t>
            </a:r>
          </a:p>
        </p:txBody>
      </p:sp>
      <p:sp>
        <p:nvSpPr>
          <p:cNvPr id="57" name="Rectangle 55">
            <a:extLst>
              <a:ext uri="{FF2B5EF4-FFF2-40B4-BE49-F238E27FC236}">
                <a16:creationId xmlns:a16="http://schemas.microsoft.com/office/drawing/2014/main" id="{BB15A951-A7D4-577D-6016-980F68A4E9C1}"/>
              </a:ext>
            </a:extLst>
          </p:cNvPr>
          <p:cNvSpPr>
            <a:spLocks noChangeArrowheads="1"/>
          </p:cNvSpPr>
          <p:nvPr/>
        </p:nvSpPr>
        <p:spPr bwMode="auto">
          <a:xfrm>
            <a:off x="7994650" y="1739900"/>
            <a:ext cx="149225" cy="41433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8" name="Oval 56">
            <a:extLst>
              <a:ext uri="{FF2B5EF4-FFF2-40B4-BE49-F238E27FC236}">
                <a16:creationId xmlns:a16="http://schemas.microsoft.com/office/drawing/2014/main" id="{B8F06855-1726-94A1-3D2D-ECBD94EEEFEC}"/>
              </a:ext>
            </a:extLst>
          </p:cNvPr>
          <p:cNvSpPr>
            <a:spLocks noChangeArrowheads="1"/>
          </p:cNvSpPr>
          <p:nvPr/>
        </p:nvSpPr>
        <p:spPr bwMode="auto">
          <a:xfrm>
            <a:off x="8439150" y="1416050"/>
            <a:ext cx="109538" cy="984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9" name="Text Box 57">
            <a:extLst>
              <a:ext uri="{FF2B5EF4-FFF2-40B4-BE49-F238E27FC236}">
                <a16:creationId xmlns:a16="http://schemas.microsoft.com/office/drawing/2014/main" id="{C6FF5F02-99D1-ECFE-DFB5-4ADE65A61855}"/>
              </a:ext>
            </a:extLst>
          </p:cNvPr>
          <p:cNvSpPr txBox="1">
            <a:spLocks noChangeArrowheads="1"/>
          </p:cNvSpPr>
          <p:nvPr/>
        </p:nvSpPr>
        <p:spPr bwMode="auto">
          <a:xfrm>
            <a:off x="7456488" y="1698625"/>
            <a:ext cx="53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Rc</a:t>
            </a:r>
          </a:p>
        </p:txBody>
      </p:sp>
      <p:sp>
        <p:nvSpPr>
          <p:cNvPr id="60" name="Line 58">
            <a:extLst>
              <a:ext uri="{FF2B5EF4-FFF2-40B4-BE49-F238E27FC236}">
                <a16:creationId xmlns:a16="http://schemas.microsoft.com/office/drawing/2014/main" id="{1AC8B45E-167F-1F50-E4CF-0C89A51A31FA}"/>
              </a:ext>
            </a:extLst>
          </p:cNvPr>
          <p:cNvSpPr>
            <a:spLocks noChangeShapeType="1"/>
          </p:cNvSpPr>
          <p:nvPr/>
        </p:nvSpPr>
        <p:spPr bwMode="auto">
          <a:xfrm flipV="1">
            <a:off x="7950200" y="3373438"/>
            <a:ext cx="2587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1" name="Line 59">
            <a:extLst>
              <a:ext uri="{FF2B5EF4-FFF2-40B4-BE49-F238E27FC236}">
                <a16:creationId xmlns:a16="http://schemas.microsoft.com/office/drawing/2014/main" id="{5112EDDE-ADA6-D5A5-9D79-B4CE74174407}"/>
              </a:ext>
            </a:extLst>
          </p:cNvPr>
          <p:cNvSpPr>
            <a:spLocks noChangeShapeType="1"/>
          </p:cNvSpPr>
          <p:nvPr/>
        </p:nvSpPr>
        <p:spPr bwMode="auto">
          <a:xfrm flipV="1">
            <a:off x="7858125" y="2551113"/>
            <a:ext cx="225425" cy="16351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2" name="Line 60">
            <a:extLst>
              <a:ext uri="{FF2B5EF4-FFF2-40B4-BE49-F238E27FC236}">
                <a16:creationId xmlns:a16="http://schemas.microsoft.com/office/drawing/2014/main" id="{AFF5D148-ADC9-A9CD-2750-76A20E30B4A2}"/>
              </a:ext>
            </a:extLst>
          </p:cNvPr>
          <p:cNvSpPr>
            <a:spLocks noChangeShapeType="1"/>
          </p:cNvSpPr>
          <p:nvPr/>
        </p:nvSpPr>
        <p:spPr bwMode="auto">
          <a:xfrm>
            <a:off x="8294688" y="1655763"/>
            <a:ext cx="0" cy="530225"/>
          </a:xfrm>
          <a:prstGeom prst="line">
            <a:avLst/>
          </a:prstGeom>
          <a:noFill/>
          <a:ln w="38100">
            <a:solidFill>
              <a:srgbClr val="0000FF"/>
            </a:solidFill>
            <a:round/>
            <a:headEnd/>
            <a:tailEnd type="arrow"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3" name="Text Box 61">
            <a:extLst>
              <a:ext uri="{FF2B5EF4-FFF2-40B4-BE49-F238E27FC236}">
                <a16:creationId xmlns:a16="http://schemas.microsoft.com/office/drawing/2014/main" id="{A681E7E7-DB78-CE31-1222-7E249518A3C0}"/>
              </a:ext>
            </a:extLst>
          </p:cNvPr>
          <p:cNvSpPr txBox="1">
            <a:spLocks noChangeArrowheads="1"/>
          </p:cNvSpPr>
          <p:nvPr/>
        </p:nvSpPr>
        <p:spPr bwMode="auto">
          <a:xfrm>
            <a:off x="8393113" y="1604963"/>
            <a:ext cx="509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C</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64" name="Text Box 62">
            <a:extLst>
              <a:ext uri="{FF2B5EF4-FFF2-40B4-BE49-F238E27FC236}">
                <a16:creationId xmlns:a16="http://schemas.microsoft.com/office/drawing/2014/main" id="{641BAACF-18A6-4008-99E7-3F75E5E062AE}"/>
              </a:ext>
            </a:extLst>
          </p:cNvPr>
          <p:cNvSpPr txBox="1">
            <a:spLocks noChangeArrowheads="1"/>
          </p:cNvSpPr>
          <p:nvPr/>
        </p:nvSpPr>
        <p:spPr bwMode="auto">
          <a:xfrm>
            <a:off x="6497638" y="2133600"/>
            <a:ext cx="40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B</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65" name="Text Box 63">
            <a:extLst>
              <a:ext uri="{FF2B5EF4-FFF2-40B4-BE49-F238E27FC236}">
                <a16:creationId xmlns:a16="http://schemas.microsoft.com/office/drawing/2014/main" id="{F3EE4A84-DA79-3FD1-11A1-CF2719C3794B}"/>
              </a:ext>
            </a:extLst>
          </p:cNvPr>
          <p:cNvSpPr txBox="1">
            <a:spLocks noChangeArrowheads="1"/>
          </p:cNvSpPr>
          <p:nvPr/>
        </p:nvSpPr>
        <p:spPr bwMode="auto">
          <a:xfrm>
            <a:off x="8245475" y="2293938"/>
            <a:ext cx="173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solidFill>
                  <a:srgbClr val="0000FF"/>
                </a:solidFill>
                <a:latin typeface="Times New Roman" panose="02020603050405020304" pitchFamily="18" charset="0"/>
                <a:ea typeface="楷体_GB2312" pitchFamily="49" charset="-122"/>
              </a:rPr>
              <a:t>+</a:t>
            </a:r>
          </a:p>
        </p:txBody>
      </p:sp>
      <p:sp>
        <p:nvSpPr>
          <p:cNvPr id="66" name="Text Box 64">
            <a:extLst>
              <a:ext uri="{FF2B5EF4-FFF2-40B4-BE49-F238E27FC236}">
                <a16:creationId xmlns:a16="http://schemas.microsoft.com/office/drawing/2014/main" id="{62B583A8-74B3-46E0-BE95-3BCE86FA2741}"/>
              </a:ext>
            </a:extLst>
          </p:cNvPr>
          <p:cNvSpPr txBox="1">
            <a:spLocks noChangeArrowheads="1"/>
          </p:cNvSpPr>
          <p:nvPr/>
        </p:nvSpPr>
        <p:spPr bwMode="auto">
          <a:xfrm>
            <a:off x="8256588" y="2806700"/>
            <a:ext cx="152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b="0">
                <a:solidFill>
                  <a:srgbClr val="0000FF"/>
                </a:solidFill>
                <a:latin typeface="Times New Roman" panose="02020603050405020304" pitchFamily="18" charset="0"/>
                <a:ea typeface="楷体_GB2312" pitchFamily="49" charset="-122"/>
              </a:rPr>
              <a:t>-</a:t>
            </a:r>
          </a:p>
        </p:txBody>
      </p:sp>
      <p:sp>
        <p:nvSpPr>
          <p:cNvPr id="67" name="Text Box 65">
            <a:extLst>
              <a:ext uri="{FF2B5EF4-FFF2-40B4-BE49-F238E27FC236}">
                <a16:creationId xmlns:a16="http://schemas.microsoft.com/office/drawing/2014/main" id="{9B2305B0-DE28-74F1-9C1A-8BF10E622361}"/>
              </a:ext>
            </a:extLst>
          </p:cNvPr>
          <p:cNvSpPr txBox="1">
            <a:spLocks noChangeArrowheads="1"/>
          </p:cNvSpPr>
          <p:nvPr/>
        </p:nvSpPr>
        <p:spPr bwMode="auto">
          <a:xfrm>
            <a:off x="8204200" y="2557463"/>
            <a:ext cx="415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v</a:t>
            </a:r>
            <a:r>
              <a:rPr kumimoji="1" lang="en-US" altLang="zh-CN" sz="2400" baseline="-15000">
                <a:solidFill>
                  <a:srgbClr val="0000FF"/>
                </a:solidFill>
                <a:latin typeface="Times New Roman" panose="02020603050405020304" pitchFamily="18" charset="0"/>
                <a:ea typeface="楷体_GB2312" pitchFamily="49" charset="-122"/>
              </a:rPr>
              <a:t>CE</a:t>
            </a:r>
          </a:p>
        </p:txBody>
      </p:sp>
      <p:sp>
        <p:nvSpPr>
          <p:cNvPr id="68" name="Line 66">
            <a:extLst>
              <a:ext uri="{FF2B5EF4-FFF2-40B4-BE49-F238E27FC236}">
                <a16:creationId xmlns:a16="http://schemas.microsoft.com/office/drawing/2014/main" id="{347BD953-4135-96E6-C294-C87F0EEB3AC0}"/>
              </a:ext>
            </a:extLst>
          </p:cNvPr>
          <p:cNvSpPr>
            <a:spLocks noChangeShapeType="1"/>
          </p:cNvSpPr>
          <p:nvPr/>
        </p:nvSpPr>
        <p:spPr bwMode="auto">
          <a:xfrm>
            <a:off x="6958013" y="2168525"/>
            <a:ext cx="0" cy="528638"/>
          </a:xfrm>
          <a:prstGeom prst="line">
            <a:avLst/>
          </a:prstGeom>
          <a:noFill/>
          <a:ln w="38100">
            <a:solidFill>
              <a:srgbClr val="0000FF"/>
            </a:solidFill>
            <a:round/>
            <a:headEnd/>
            <a:tailEnd type="arrow"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69" name="Text Box 67">
            <a:extLst>
              <a:ext uri="{FF2B5EF4-FFF2-40B4-BE49-F238E27FC236}">
                <a16:creationId xmlns:a16="http://schemas.microsoft.com/office/drawing/2014/main" id="{DBD17372-D8F1-8B54-469F-6CA346319D5B}"/>
              </a:ext>
            </a:extLst>
          </p:cNvPr>
          <p:cNvSpPr txBox="1">
            <a:spLocks noChangeArrowheads="1"/>
          </p:cNvSpPr>
          <p:nvPr/>
        </p:nvSpPr>
        <p:spPr bwMode="auto">
          <a:xfrm>
            <a:off x="7397750" y="3060700"/>
            <a:ext cx="152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3600" b="0">
                <a:solidFill>
                  <a:srgbClr val="0000FF"/>
                </a:solidFill>
                <a:latin typeface="Times New Roman" panose="02020603050405020304" pitchFamily="18" charset="0"/>
                <a:ea typeface="楷体_GB2312" pitchFamily="49" charset="-122"/>
              </a:rPr>
              <a:t>-</a:t>
            </a:r>
          </a:p>
        </p:txBody>
      </p:sp>
      <p:sp>
        <p:nvSpPr>
          <p:cNvPr id="70" name="Text Box 68">
            <a:extLst>
              <a:ext uri="{FF2B5EF4-FFF2-40B4-BE49-F238E27FC236}">
                <a16:creationId xmlns:a16="http://schemas.microsoft.com/office/drawing/2014/main" id="{37A5F4A3-7D78-F0B8-6640-B736E3EA6167}"/>
              </a:ext>
            </a:extLst>
          </p:cNvPr>
          <p:cNvSpPr txBox="1">
            <a:spLocks noChangeArrowheads="1"/>
          </p:cNvSpPr>
          <p:nvPr/>
        </p:nvSpPr>
        <p:spPr bwMode="auto">
          <a:xfrm>
            <a:off x="7345363" y="2852738"/>
            <a:ext cx="4048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v</a:t>
            </a:r>
            <a:r>
              <a:rPr kumimoji="1" lang="en-US" altLang="zh-CN" sz="2400" baseline="-15000">
                <a:solidFill>
                  <a:srgbClr val="0000FF"/>
                </a:solidFill>
                <a:latin typeface="Times New Roman" panose="02020603050405020304" pitchFamily="18" charset="0"/>
                <a:ea typeface="楷体_GB2312" pitchFamily="49" charset="-122"/>
              </a:rPr>
              <a:t>BE</a:t>
            </a:r>
          </a:p>
        </p:txBody>
      </p:sp>
      <p:sp>
        <p:nvSpPr>
          <p:cNvPr id="71" name="Text Box 69">
            <a:extLst>
              <a:ext uri="{FF2B5EF4-FFF2-40B4-BE49-F238E27FC236}">
                <a16:creationId xmlns:a16="http://schemas.microsoft.com/office/drawing/2014/main" id="{766C1D45-E691-F688-51E8-91A27FCE4AA5}"/>
              </a:ext>
            </a:extLst>
          </p:cNvPr>
          <p:cNvSpPr txBox="1">
            <a:spLocks noChangeArrowheads="1"/>
          </p:cNvSpPr>
          <p:nvPr/>
        </p:nvSpPr>
        <p:spPr bwMode="auto">
          <a:xfrm>
            <a:off x="7388225" y="2636838"/>
            <a:ext cx="173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solidFill>
                  <a:srgbClr val="0000FF"/>
                </a:solidFill>
                <a:latin typeface="Times New Roman" panose="02020603050405020304" pitchFamily="18" charset="0"/>
                <a:ea typeface="楷体_GB2312" pitchFamily="49" charset="-122"/>
              </a:rPr>
              <a:t>+</a:t>
            </a:r>
          </a:p>
        </p:txBody>
      </p:sp>
    </p:spTree>
    <p:extLst>
      <p:ext uri="{BB962C8B-B14F-4D97-AF65-F5344CB8AC3E}">
        <p14:creationId xmlns:p14="http://schemas.microsoft.com/office/powerpoint/2010/main" val="2507133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A3A21A-3C5E-4480-00F3-0C195E1C3031}"/>
              </a:ext>
            </a:extLst>
          </p:cNvPr>
          <p:cNvSpPr>
            <a:spLocks noGrp="1"/>
          </p:cNvSpPr>
          <p:nvPr>
            <p:ph type="title"/>
          </p:nvPr>
        </p:nvSpPr>
        <p:spPr/>
        <p:txBody>
          <a:bodyPr>
            <a:normAutofit fontScale="90000"/>
          </a:bodyPr>
          <a:lstStyle/>
          <a:p>
            <a:r>
              <a:rPr kumimoji="1" lang="zh-CN" altLang="en-US" dirty="0"/>
              <a:t>图解法动态分析</a:t>
            </a:r>
          </a:p>
        </p:txBody>
      </p:sp>
      <p:sp>
        <p:nvSpPr>
          <p:cNvPr id="4" name="页脚占位符 3">
            <a:extLst>
              <a:ext uri="{FF2B5EF4-FFF2-40B4-BE49-F238E27FC236}">
                <a16:creationId xmlns:a16="http://schemas.microsoft.com/office/drawing/2014/main" id="{9BB93514-FEC7-A945-2F58-3C9E164FA4DD}"/>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6D92ADB4-DF01-BB64-8A42-7113CF5D8C1F}"/>
              </a:ext>
            </a:extLst>
          </p:cNvPr>
          <p:cNvSpPr>
            <a:spLocks noGrp="1"/>
          </p:cNvSpPr>
          <p:nvPr>
            <p:ph type="sldNum" sz="quarter" idx="12"/>
          </p:nvPr>
        </p:nvSpPr>
        <p:spPr/>
        <p:txBody>
          <a:bodyPr/>
          <a:lstStyle/>
          <a:p>
            <a:fld id="{9E260BC5-5BF3-8746-862B-DC45E9CAA88B}" type="slidenum">
              <a:rPr lang="en-US" smtClean="0"/>
              <a:pPr/>
              <a:t>24</a:t>
            </a:fld>
            <a:r>
              <a:rPr lang="en-US" altLang="zh-CN" dirty="0"/>
              <a:t>/33</a:t>
            </a:r>
            <a:endParaRPr lang="en-US" dirty="0"/>
          </a:p>
        </p:txBody>
      </p:sp>
      <p:pic>
        <p:nvPicPr>
          <p:cNvPr id="6" name="Picture 2">
            <a:extLst>
              <a:ext uri="{FF2B5EF4-FFF2-40B4-BE49-F238E27FC236}">
                <a16:creationId xmlns:a16="http://schemas.microsoft.com/office/drawing/2014/main" id="{C90123E1-4A26-3C30-6C5C-1A9FBD97B4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1253" y="529877"/>
            <a:ext cx="3941762"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a:extLst>
              <a:ext uri="{FF2B5EF4-FFF2-40B4-BE49-F238E27FC236}">
                <a16:creationId xmlns:a16="http://schemas.microsoft.com/office/drawing/2014/main" id="{C217D774-E42F-E944-AF76-86B9E15D50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1160463"/>
            <a:ext cx="3563938"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5">
            <a:extLst>
              <a:ext uri="{FF2B5EF4-FFF2-40B4-BE49-F238E27FC236}">
                <a16:creationId xmlns:a16="http://schemas.microsoft.com/office/drawing/2014/main" id="{0A0B28F2-BF2A-1795-8EC4-1CFC85D0F9F5}"/>
              </a:ext>
            </a:extLst>
          </p:cNvPr>
          <p:cNvGrpSpPr>
            <a:grpSpLocks/>
          </p:cNvGrpSpPr>
          <p:nvPr/>
        </p:nvGrpSpPr>
        <p:grpSpPr bwMode="auto">
          <a:xfrm>
            <a:off x="792163" y="3897313"/>
            <a:ext cx="4103687" cy="2395537"/>
            <a:chOff x="2857" y="232"/>
            <a:chExt cx="2585" cy="1509"/>
          </a:xfrm>
        </p:grpSpPr>
        <p:grpSp>
          <p:nvGrpSpPr>
            <p:cNvPr id="9" name="Group 6">
              <a:extLst>
                <a:ext uri="{FF2B5EF4-FFF2-40B4-BE49-F238E27FC236}">
                  <a16:creationId xmlns:a16="http://schemas.microsoft.com/office/drawing/2014/main" id="{0EC3C0D1-1904-F331-190D-FA1340127FC6}"/>
                </a:ext>
              </a:extLst>
            </p:cNvPr>
            <p:cNvGrpSpPr>
              <a:grpSpLocks/>
            </p:cNvGrpSpPr>
            <p:nvPr/>
          </p:nvGrpSpPr>
          <p:grpSpPr bwMode="auto">
            <a:xfrm>
              <a:off x="2857" y="608"/>
              <a:ext cx="2585" cy="1133"/>
              <a:chOff x="3129" y="656"/>
              <a:chExt cx="2476" cy="1085"/>
            </a:xfrm>
          </p:grpSpPr>
          <p:sp>
            <p:nvSpPr>
              <p:cNvPr id="14" name="Text Box 7">
                <a:extLst>
                  <a:ext uri="{FF2B5EF4-FFF2-40B4-BE49-F238E27FC236}">
                    <a16:creationId xmlns:a16="http://schemas.microsoft.com/office/drawing/2014/main" id="{70E1D054-97BB-3FDB-C16F-D3A6E8EB6F44}"/>
                  </a:ext>
                </a:extLst>
              </p:cNvPr>
              <p:cNvSpPr txBox="1">
                <a:spLocks noChangeArrowheads="1"/>
              </p:cNvSpPr>
              <p:nvPr/>
            </p:nvSpPr>
            <p:spPr bwMode="auto">
              <a:xfrm>
                <a:off x="3368" y="1094"/>
                <a:ext cx="32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a:t>
                </a:r>
                <a:r>
                  <a:rPr kumimoji="1" lang="en-US" altLang="zh-CN" sz="2000">
                    <a:latin typeface="Times New Roman" panose="02020603050405020304" pitchFamily="18" charset="0"/>
                    <a:ea typeface="楷体_GB2312" pitchFamily="49" charset="-122"/>
                  </a:rPr>
                  <a:t>b</a:t>
                </a:r>
              </a:p>
            </p:txBody>
          </p:sp>
          <p:sp>
            <p:nvSpPr>
              <p:cNvPr id="15" name="Line 8">
                <a:extLst>
                  <a:ext uri="{FF2B5EF4-FFF2-40B4-BE49-F238E27FC236}">
                    <a16:creationId xmlns:a16="http://schemas.microsoft.com/office/drawing/2014/main" id="{3B56F75B-E3AE-7AF2-BCAC-757D9F45A101}"/>
                  </a:ext>
                </a:extLst>
              </p:cNvPr>
              <p:cNvSpPr>
                <a:spLocks noChangeShapeType="1"/>
              </p:cNvSpPr>
              <p:nvPr/>
            </p:nvSpPr>
            <p:spPr bwMode="auto">
              <a:xfrm flipV="1">
                <a:off x="3769" y="920"/>
                <a:ext cx="0" cy="649"/>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6" name="Rectangle 9">
                <a:extLst>
                  <a:ext uri="{FF2B5EF4-FFF2-40B4-BE49-F238E27FC236}">
                    <a16:creationId xmlns:a16="http://schemas.microsoft.com/office/drawing/2014/main" id="{869D90D9-A97B-DB09-7562-03EAC9244944}"/>
                  </a:ext>
                </a:extLst>
              </p:cNvPr>
              <p:cNvSpPr>
                <a:spLocks noChangeArrowheads="1"/>
              </p:cNvSpPr>
              <p:nvPr/>
            </p:nvSpPr>
            <p:spPr bwMode="auto">
              <a:xfrm>
                <a:off x="3714" y="1093"/>
                <a:ext cx="109" cy="30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7" name="Line 10">
                <a:extLst>
                  <a:ext uri="{FF2B5EF4-FFF2-40B4-BE49-F238E27FC236}">
                    <a16:creationId xmlns:a16="http://schemas.microsoft.com/office/drawing/2014/main" id="{5471D955-A7D3-6A3A-9392-3FF77EDEBB93}"/>
                  </a:ext>
                </a:extLst>
              </p:cNvPr>
              <p:cNvSpPr>
                <a:spLocks noChangeShapeType="1"/>
              </p:cNvSpPr>
              <p:nvPr/>
            </p:nvSpPr>
            <p:spPr bwMode="auto">
              <a:xfrm flipV="1">
                <a:off x="3290" y="920"/>
                <a:ext cx="819"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8" name="Line 11">
                <a:extLst>
                  <a:ext uri="{FF2B5EF4-FFF2-40B4-BE49-F238E27FC236}">
                    <a16:creationId xmlns:a16="http://schemas.microsoft.com/office/drawing/2014/main" id="{D0B03139-9E69-B86B-7286-25D557AE5305}"/>
                  </a:ext>
                </a:extLst>
              </p:cNvPr>
              <p:cNvSpPr>
                <a:spLocks noChangeShapeType="1"/>
              </p:cNvSpPr>
              <p:nvPr/>
            </p:nvSpPr>
            <p:spPr bwMode="auto">
              <a:xfrm>
                <a:off x="4096" y="798"/>
                <a:ext cx="0" cy="27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9" name="Line 12">
                <a:extLst>
                  <a:ext uri="{FF2B5EF4-FFF2-40B4-BE49-F238E27FC236}">
                    <a16:creationId xmlns:a16="http://schemas.microsoft.com/office/drawing/2014/main" id="{3507BD62-ABAB-0D30-B19F-6B45FF156F3F}"/>
                  </a:ext>
                </a:extLst>
              </p:cNvPr>
              <p:cNvSpPr>
                <a:spLocks noChangeShapeType="1"/>
              </p:cNvSpPr>
              <p:nvPr/>
            </p:nvSpPr>
            <p:spPr bwMode="auto">
              <a:xfrm>
                <a:off x="4096" y="934"/>
                <a:ext cx="164" cy="140"/>
              </a:xfrm>
              <a:prstGeom prst="line">
                <a:avLst/>
              </a:prstGeom>
              <a:noFill/>
              <a:ln w="38100">
                <a:solidFill>
                  <a:srgbClr val="CC3300"/>
                </a:solidFill>
                <a:round/>
                <a:headEnd type="none" w="sm" len="sm"/>
                <a:tailEnd type="triangl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0" name="Line 13">
                <a:extLst>
                  <a:ext uri="{FF2B5EF4-FFF2-40B4-BE49-F238E27FC236}">
                    <a16:creationId xmlns:a16="http://schemas.microsoft.com/office/drawing/2014/main" id="{03F0DC78-B53A-FD58-2A01-06549B4C23D0}"/>
                  </a:ext>
                </a:extLst>
              </p:cNvPr>
              <p:cNvSpPr>
                <a:spLocks noChangeShapeType="1"/>
              </p:cNvSpPr>
              <p:nvPr/>
            </p:nvSpPr>
            <p:spPr bwMode="auto">
              <a:xfrm flipH="1">
                <a:off x="4720" y="710"/>
                <a:ext cx="0" cy="86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1" name="Line 14">
                <a:extLst>
                  <a:ext uri="{FF2B5EF4-FFF2-40B4-BE49-F238E27FC236}">
                    <a16:creationId xmlns:a16="http://schemas.microsoft.com/office/drawing/2014/main" id="{4DCF1E73-6564-6DAB-91FC-30D3BE95847C}"/>
                  </a:ext>
                </a:extLst>
              </p:cNvPr>
              <p:cNvSpPr>
                <a:spLocks noChangeShapeType="1"/>
              </p:cNvSpPr>
              <p:nvPr/>
            </p:nvSpPr>
            <p:spPr bwMode="auto">
              <a:xfrm>
                <a:off x="4250" y="1065"/>
                <a:ext cx="0" cy="641"/>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2" name="Line 15">
                <a:extLst>
                  <a:ext uri="{FF2B5EF4-FFF2-40B4-BE49-F238E27FC236}">
                    <a16:creationId xmlns:a16="http://schemas.microsoft.com/office/drawing/2014/main" id="{49B4C14A-AAD4-B694-E23C-454FE73003C2}"/>
                  </a:ext>
                </a:extLst>
              </p:cNvPr>
              <p:cNvSpPr>
                <a:spLocks noChangeShapeType="1"/>
              </p:cNvSpPr>
              <p:nvPr/>
            </p:nvSpPr>
            <p:spPr bwMode="auto">
              <a:xfrm>
                <a:off x="3307" y="1575"/>
                <a:ext cx="2167"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3" name="Rectangle 16">
                <a:extLst>
                  <a:ext uri="{FF2B5EF4-FFF2-40B4-BE49-F238E27FC236}">
                    <a16:creationId xmlns:a16="http://schemas.microsoft.com/office/drawing/2014/main" id="{0C5AF7C1-B351-D092-6D23-3766E10C46B1}"/>
                  </a:ext>
                </a:extLst>
              </p:cNvPr>
              <p:cNvSpPr>
                <a:spLocks noChangeArrowheads="1"/>
              </p:cNvSpPr>
              <p:nvPr/>
            </p:nvSpPr>
            <p:spPr bwMode="auto">
              <a:xfrm>
                <a:off x="4666" y="915"/>
                <a:ext cx="109" cy="30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4" name="Oval 17">
                <a:extLst>
                  <a:ext uri="{FF2B5EF4-FFF2-40B4-BE49-F238E27FC236}">
                    <a16:creationId xmlns:a16="http://schemas.microsoft.com/office/drawing/2014/main" id="{C3BE873A-F40D-A01A-B0F6-689BF12F0762}"/>
                  </a:ext>
                </a:extLst>
              </p:cNvPr>
              <p:cNvSpPr>
                <a:spLocks noChangeArrowheads="1"/>
              </p:cNvSpPr>
              <p:nvPr/>
            </p:nvSpPr>
            <p:spPr bwMode="auto">
              <a:xfrm>
                <a:off x="3220" y="883"/>
                <a:ext cx="80"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5" name="Oval 18">
                <a:extLst>
                  <a:ext uri="{FF2B5EF4-FFF2-40B4-BE49-F238E27FC236}">
                    <a16:creationId xmlns:a16="http://schemas.microsoft.com/office/drawing/2014/main" id="{997A3361-38A7-BAF8-DB15-A931CC90B44E}"/>
                  </a:ext>
                </a:extLst>
              </p:cNvPr>
              <p:cNvSpPr>
                <a:spLocks noChangeArrowheads="1"/>
              </p:cNvSpPr>
              <p:nvPr/>
            </p:nvSpPr>
            <p:spPr bwMode="auto">
              <a:xfrm>
                <a:off x="3226" y="1537"/>
                <a:ext cx="78"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Line 19">
                <a:extLst>
                  <a:ext uri="{FF2B5EF4-FFF2-40B4-BE49-F238E27FC236}">
                    <a16:creationId xmlns:a16="http://schemas.microsoft.com/office/drawing/2014/main" id="{114441B3-B584-3612-38BA-9325DC3328F2}"/>
                  </a:ext>
                </a:extLst>
              </p:cNvPr>
              <p:cNvSpPr>
                <a:spLocks noChangeShapeType="1"/>
              </p:cNvSpPr>
              <p:nvPr/>
            </p:nvSpPr>
            <p:spPr bwMode="auto">
              <a:xfrm flipH="1">
                <a:off x="4252" y="699"/>
                <a:ext cx="12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7" name="Text Box 20">
                <a:extLst>
                  <a:ext uri="{FF2B5EF4-FFF2-40B4-BE49-F238E27FC236}">
                    <a16:creationId xmlns:a16="http://schemas.microsoft.com/office/drawing/2014/main" id="{DD4EC6B9-B9AF-EC0F-BDDD-A992968927B0}"/>
                  </a:ext>
                </a:extLst>
              </p:cNvPr>
              <p:cNvSpPr txBox="1">
                <a:spLocks noChangeArrowheads="1"/>
              </p:cNvSpPr>
              <p:nvPr/>
            </p:nvSpPr>
            <p:spPr bwMode="auto">
              <a:xfrm>
                <a:off x="4333" y="916"/>
                <a:ext cx="3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Rc</a:t>
                </a:r>
              </a:p>
            </p:txBody>
          </p:sp>
          <p:sp>
            <p:nvSpPr>
              <p:cNvPr id="28" name="Line 21">
                <a:extLst>
                  <a:ext uri="{FF2B5EF4-FFF2-40B4-BE49-F238E27FC236}">
                    <a16:creationId xmlns:a16="http://schemas.microsoft.com/office/drawing/2014/main" id="{DF0091BF-1A50-9279-C835-F12BE266B5E4}"/>
                  </a:ext>
                </a:extLst>
              </p:cNvPr>
              <p:cNvSpPr>
                <a:spLocks noChangeShapeType="1"/>
              </p:cNvSpPr>
              <p:nvPr/>
            </p:nvSpPr>
            <p:spPr bwMode="auto">
              <a:xfrm>
                <a:off x="4250" y="1583"/>
                <a:ext cx="0" cy="15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9" name="Line 22">
                <a:extLst>
                  <a:ext uri="{FF2B5EF4-FFF2-40B4-BE49-F238E27FC236}">
                    <a16:creationId xmlns:a16="http://schemas.microsoft.com/office/drawing/2014/main" id="{60043EB7-A58B-B731-8561-AF0251739DFA}"/>
                  </a:ext>
                </a:extLst>
              </p:cNvPr>
              <p:cNvSpPr>
                <a:spLocks noChangeShapeType="1"/>
              </p:cNvSpPr>
              <p:nvPr/>
            </p:nvSpPr>
            <p:spPr bwMode="auto">
              <a:xfrm flipV="1">
                <a:off x="4163" y="1741"/>
                <a:ext cx="18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0" name="Oval 23">
                <a:extLst>
                  <a:ext uri="{FF2B5EF4-FFF2-40B4-BE49-F238E27FC236}">
                    <a16:creationId xmlns:a16="http://schemas.microsoft.com/office/drawing/2014/main" id="{F1134593-E770-C0CE-4EEF-D372BB028509}"/>
                  </a:ext>
                </a:extLst>
              </p:cNvPr>
              <p:cNvSpPr>
                <a:spLocks noChangeArrowheads="1"/>
              </p:cNvSpPr>
              <p:nvPr/>
            </p:nvSpPr>
            <p:spPr bwMode="auto">
              <a:xfrm>
                <a:off x="4230" y="1555"/>
                <a:ext cx="38" cy="37"/>
              </a:xfrm>
              <a:prstGeom prst="ellipse">
                <a:avLst/>
              </a:prstGeom>
              <a:solidFill>
                <a:schemeClr val="tx1"/>
              </a:solidFill>
              <a:ln w="38100">
                <a:solidFill>
                  <a:schemeClr val="tx1"/>
                </a:solidFill>
                <a:round/>
                <a:headEnd/>
                <a:tailEnd/>
              </a:ln>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1" name="Text Box 24">
                <a:extLst>
                  <a:ext uri="{FF2B5EF4-FFF2-40B4-BE49-F238E27FC236}">
                    <a16:creationId xmlns:a16="http://schemas.microsoft.com/office/drawing/2014/main" id="{00417EB1-CE7B-C751-4A0B-84425304ECE2}"/>
                  </a:ext>
                </a:extLst>
              </p:cNvPr>
              <p:cNvSpPr txBox="1">
                <a:spLocks noChangeArrowheads="1"/>
              </p:cNvSpPr>
              <p:nvPr/>
            </p:nvSpPr>
            <p:spPr bwMode="auto">
              <a:xfrm>
                <a:off x="3158" y="953"/>
                <a:ext cx="19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latin typeface="Times New Roman" panose="02020603050405020304" pitchFamily="18" charset="0"/>
                    <a:ea typeface="楷体_GB2312" pitchFamily="49" charset="-122"/>
                  </a:rPr>
                  <a:t>+</a:t>
                </a:r>
              </a:p>
            </p:txBody>
          </p:sp>
          <p:sp>
            <p:nvSpPr>
              <p:cNvPr id="32" name="Text Box 25">
                <a:extLst>
                  <a:ext uri="{FF2B5EF4-FFF2-40B4-BE49-F238E27FC236}">
                    <a16:creationId xmlns:a16="http://schemas.microsoft.com/office/drawing/2014/main" id="{F5340D0A-AB82-8CBB-CBD3-DF29A3AAD5C6}"/>
                  </a:ext>
                </a:extLst>
              </p:cNvPr>
              <p:cNvSpPr txBox="1">
                <a:spLocks noChangeArrowheads="1"/>
              </p:cNvSpPr>
              <p:nvPr/>
            </p:nvSpPr>
            <p:spPr bwMode="auto">
              <a:xfrm>
                <a:off x="3209" y="1288"/>
                <a:ext cx="62"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b="0">
                    <a:latin typeface="Times New Roman" panose="02020603050405020304" pitchFamily="18" charset="0"/>
                    <a:ea typeface="楷体_GB2312" pitchFamily="49" charset="-122"/>
                  </a:rPr>
                  <a:t>-</a:t>
                </a:r>
              </a:p>
            </p:txBody>
          </p:sp>
          <p:sp>
            <p:nvSpPr>
              <p:cNvPr id="33" name="Text Box 26">
                <a:extLst>
                  <a:ext uri="{FF2B5EF4-FFF2-40B4-BE49-F238E27FC236}">
                    <a16:creationId xmlns:a16="http://schemas.microsoft.com/office/drawing/2014/main" id="{C46CFA41-E166-686F-6E05-27663063EDB8}"/>
                  </a:ext>
                </a:extLst>
              </p:cNvPr>
              <p:cNvSpPr txBox="1">
                <a:spLocks noChangeArrowheads="1"/>
              </p:cNvSpPr>
              <p:nvPr/>
            </p:nvSpPr>
            <p:spPr bwMode="auto">
              <a:xfrm>
                <a:off x="3129" y="1126"/>
                <a:ext cx="135"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5000">
                    <a:latin typeface="Times New Roman" panose="02020603050405020304" pitchFamily="18" charset="0"/>
                    <a:ea typeface="楷体_GB2312" pitchFamily="49" charset="-122"/>
                  </a:rPr>
                  <a:t>i</a:t>
                </a:r>
              </a:p>
            </p:txBody>
          </p:sp>
          <p:sp>
            <p:nvSpPr>
              <p:cNvPr id="34" name="Line 27">
                <a:extLst>
                  <a:ext uri="{FF2B5EF4-FFF2-40B4-BE49-F238E27FC236}">
                    <a16:creationId xmlns:a16="http://schemas.microsoft.com/office/drawing/2014/main" id="{E3916C1F-5F0C-8F46-A422-7A925BA83819}"/>
                  </a:ext>
                </a:extLst>
              </p:cNvPr>
              <p:cNvSpPr>
                <a:spLocks noChangeShapeType="1"/>
              </p:cNvSpPr>
              <p:nvPr/>
            </p:nvSpPr>
            <p:spPr bwMode="auto">
              <a:xfrm flipV="1">
                <a:off x="4096" y="803"/>
                <a:ext cx="164" cy="122"/>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5" name="Oval 28">
                <a:extLst>
                  <a:ext uri="{FF2B5EF4-FFF2-40B4-BE49-F238E27FC236}">
                    <a16:creationId xmlns:a16="http://schemas.microsoft.com/office/drawing/2014/main" id="{D8248C50-2D32-BEB0-C98A-979743D920B7}"/>
                  </a:ext>
                </a:extLst>
              </p:cNvPr>
              <p:cNvSpPr>
                <a:spLocks noChangeArrowheads="1"/>
              </p:cNvSpPr>
              <p:nvPr/>
            </p:nvSpPr>
            <p:spPr bwMode="auto">
              <a:xfrm flipH="1">
                <a:off x="5464" y="656"/>
                <a:ext cx="79"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Oval 29">
                <a:extLst>
                  <a:ext uri="{FF2B5EF4-FFF2-40B4-BE49-F238E27FC236}">
                    <a16:creationId xmlns:a16="http://schemas.microsoft.com/office/drawing/2014/main" id="{78F5152B-AB93-175C-4F82-5753A4DC5557}"/>
                  </a:ext>
                </a:extLst>
              </p:cNvPr>
              <p:cNvSpPr>
                <a:spLocks noChangeArrowheads="1"/>
              </p:cNvSpPr>
              <p:nvPr/>
            </p:nvSpPr>
            <p:spPr bwMode="auto">
              <a:xfrm flipH="1">
                <a:off x="5464" y="1537"/>
                <a:ext cx="79" cy="7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7" name="Text Box 30">
                <a:extLst>
                  <a:ext uri="{FF2B5EF4-FFF2-40B4-BE49-F238E27FC236}">
                    <a16:creationId xmlns:a16="http://schemas.microsoft.com/office/drawing/2014/main" id="{FC08A6BA-7002-115A-594B-EB7B1FAC51F4}"/>
                  </a:ext>
                </a:extLst>
              </p:cNvPr>
              <p:cNvSpPr txBox="1">
                <a:spLocks noChangeArrowheads="1"/>
              </p:cNvSpPr>
              <p:nvPr/>
            </p:nvSpPr>
            <p:spPr bwMode="auto">
              <a:xfrm>
                <a:off x="5465" y="757"/>
                <a:ext cx="10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a:latin typeface="Times New Roman" panose="02020603050405020304" pitchFamily="18" charset="0"/>
                    <a:ea typeface="楷体_GB2312" pitchFamily="49" charset="-122"/>
                  </a:rPr>
                  <a:t>+</a:t>
                </a:r>
              </a:p>
            </p:txBody>
          </p:sp>
          <p:sp>
            <p:nvSpPr>
              <p:cNvPr id="38" name="Text Box 31">
                <a:extLst>
                  <a:ext uri="{FF2B5EF4-FFF2-40B4-BE49-F238E27FC236}">
                    <a16:creationId xmlns:a16="http://schemas.microsoft.com/office/drawing/2014/main" id="{E4F28748-3C45-736F-1539-83DEAC0E7777}"/>
                  </a:ext>
                </a:extLst>
              </p:cNvPr>
              <p:cNvSpPr txBox="1">
                <a:spLocks noChangeArrowheads="1"/>
              </p:cNvSpPr>
              <p:nvPr/>
            </p:nvSpPr>
            <p:spPr bwMode="auto">
              <a:xfrm>
                <a:off x="5473" y="1271"/>
                <a:ext cx="62"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b="0">
                    <a:latin typeface="Times New Roman" panose="02020603050405020304" pitchFamily="18" charset="0"/>
                    <a:ea typeface="楷体_GB2312" pitchFamily="49" charset="-122"/>
                  </a:rPr>
                  <a:t>-</a:t>
                </a:r>
              </a:p>
            </p:txBody>
          </p:sp>
          <p:sp>
            <p:nvSpPr>
              <p:cNvPr id="39" name="Text Box 32">
                <a:extLst>
                  <a:ext uri="{FF2B5EF4-FFF2-40B4-BE49-F238E27FC236}">
                    <a16:creationId xmlns:a16="http://schemas.microsoft.com/office/drawing/2014/main" id="{902AE18A-F604-4228-756E-10CF95B8665B}"/>
                  </a:ext>
                </a:extLst>
              </p:cNvPr>
              <p:cNvSpPr txBox="1">
                <a:spLocks noChangeArrowheads="1"/>
              </p:cNvSpPr>
              <p:nvPr/>
            </p:nvSpPr>
            <p:spPr bwMode="auto">
              <a:xfrm>
                <a:off x="5437" y="968"/>
                <a:ext cx="16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i="1">
                    <a:latin typeface="Times New Roman" panose="02020603050405020304" pitchFamily="18" charset="0"/>
                    <a:ea typeface="楷体_GB2312" pitchFamily="49" charset="-122"/>
                  </a:rPr>
                  <a:t>v</a:t>
                </a:r>
                <a:r>
                  <a:rPr kumimoji="1" lang="en-US" altLang="zh-CN" sz="2800" baseline="-5000">
                    <a:latin typeface="Times New Roman" panose="02020603050405020304" pitchFamily="18" charset="0"/>
                    <a:ea typeface="楷体_GB2312" pitchFamily="49" charset="-122"/>
                  </a:rPr>
                  <a:t>o</a:t>
                </a:r>
              </a:p>
            </p:txBody>
          </p:sp>
          <p:sp>
            <p:nvSpPr>
              <p:cNvPr id="40" name="Line 33">
                <a:extLst>
                  <a:ext uri="{FF2B5EF4-FFF2-40B4-BE49-F238E27FC236}">
                    <a16:creationId xmlns:a16="http://schemas.microsoft.com/office/drawing/2014/main" id="{A505C7DA-CE7E-8162-8BCE-7D08BFF28D70}"/>
                  </a:ext>
                </a:extLst>
              </p:cNvPr>
              <p:cNvSpPr>
                <a:spLocks noChangeShapeType="1"/>
              </p:cNvSpPr>
              <p:nvPr/>
            </p:nvSpPr>
            <p:spPr bwMode="auto">
              <a:xfrm flipH="1">
                <a:off x="5240" y="695"/>
                <a:ext cx="0" cy="883"/>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1" name="Rectangle 34">
                <a:extLst>
                  <a:ext uri="{FF2B5EF4-FFF2-40B4-BE49-F238E27FC236}">
                    <a16:creationId xmlns:a16="http://schemas.microsoft.com/office/drawing/2014/main" id="{C6604550-98A6-89B7-6583-EE3952EDE40D}"/>
                  </a:ext>
                </a:extLst>
              </p:cNvPr>
              <p:cNvSpPr>
                <a:spLocks noChangeArrowheads="1"/>
              </p:cNvSpPr>
              <p:nvPr/>
            </p:nvSpPr>
            <p:spPr bwMode="auto">
              <a:xfrm>
                <a:off x="5185" y="943"/>
                <a:ext cx="108" cy="308"/>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Text Box 35">
                <a:extLst>
                  <a:ext uri="{FF2B5EF4-FFF2-40B4-BE49-F238E27FC236}">
                    <a16:creationId xmlns:a16="http://schemas.microsoft.com/office/drawing/2014/main" id="{3A8C70FA-9A3F-3123-891E-0E47CF78D888}"/>
                  </a:ext>
                </a:extLst>
              </p:cNvPr>
              <p:cNvSpPr txBox="1">
                <a:spLocks noChangeArrowheads="1"/>
              </p:cNvSpPr>
              <p:nvPr/>
            </p:nvSpPr>
            <p:spPr bwMode="auto">
              <a:xfrm>
                <a:off x="4871" y="947"/>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R</a:t>
                </a:r>
                <a:r>
                  <a:rPr kumimoji="1" lang="en-US" altLang="zh-CN" sz="1600">
                    <a:latin typeface="Times New Roman" panose="02020603050405020304" pitchFamily="18" charset="0"/>
                    <a:ea typeface="楷体_GB2312" pitchFamily="49" charset="-122"/>
                  </a:rPr>
                  <a:t>L</a:t>
                </a:r>
              </a:p>
            </p:txBody>
          </p:sp>
          <p:sp>
            <p:nvSpPr>
              <p:cNvPr id="43" name="Line 36">
                <a:extLst>
                  <a:ext uri="{FF2B5EF4-FFF2-40B4-BE49-F238E27FC236}">
                    <a16:creationId xmlns:a16="http://schemas.microsoft.com/office/drawing/2014/main" id="{90E5FE71-5720-1DB0-BDF1-0D1551D36B9B}"/>
                  </a:ext>
                </a:extLst>
              </p:cNvPr>
              <p:cNvSpPr>
                <a:spLocks noChangeShapeType="1"/>
              </p:cNvSpPr>
              <p:nvPr/>
            </p:nvSpPr>
            <p:spPr bwMode="auto">
              <a:xfrm>
                <a:off x="4260" y="694"/>
                <a:ext cx="0" cy="1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sp>
          <p:nvSpPr>
            <p:cNvPr id="10" name="Text Box 37">
              <a:extLst>
                <a:ext uri="{FF2B5EF4-FFF2-40B4-BE49-F238E27FC236}">
                  <a16:creationId xmlns:a16="http://schemas.microsoft.com/office/drawing/2014/main" id="{612444A0-FD91-9F47-9689-486F43F89E10}"/>
                </a:ext>
              </a:extLst>
            </p:cNvPr>
            <p:cNvSpPr txBox="1">
              <a:spLocks noChangeArrowheads="1"/>
            </p:cNvSpPr>
            <p:nvPr/>
          </p:nvSpPr>
          <p:spPr bwMode="auto">
            <a:xfrm>
              <a:off x="3560" y="459"/>
              <a:ext cx="2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B</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11" name="Line 38">
              <a:extLst>
                <a:ext uri="{FF2B5EF4-FFF2-40B4-BE49-F238E27FC236}">
                  <a16:creationId xmlns:a16="http://schemas.microsoft.com/office/drawing/2014/main" id="{580EE85F-6B92-585C-5779-DB6139F6E660}"/>
                </a:ext>
              </a:extLst>
            </p:cNvPr>
            <p:cNvSpPr>
              <a:spLocks noChangeShapeType="1"/>
            </p:cNvSpPr>
            <p:nvPr/>
          </p:nvSpPr>
          <p:spPr bwMode="auto">
            <a:xfrm>
              <a:off x="3583" y="793"/>
              <a:ext cx="204" cy="0"/>
            </a:xfrm>
            <a:prstGeom prst="line">
              <a:avLst/>
            </a:prstGeom>
            <a:noFill/>
            <a:ln w="28575">
              <a:solidFill>
                <a:srgbClr val="0000FF"/>
              </a:solidFill>
              <a:round/>
              <a:headEnd/>
              <a:tailEnd type="arrow"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 name="Text Box 39">
              <a:extLst>
                <a:ext uri="{FF2B5EF4-FFF2-40B4-BE49-F238E27FC236}">
                  <a16:creationId xmlns:a16="http://schemas.microsoft.com/office/drawing/2014/main" id="{CB2FF171-7ACC-AD2A-2D28-0F0A0CFEB359}"/>
                </a:ext>
              </a:extLst>
            </p:cNvPr>
            <p:cNvSpPr txBox="1">
              <a:spLocks noChangeArrowheads="1"/>
            </p:cNvSpPr>
            <p:nvPr/>
          </p:nvSpPr>
          <p:spPr bwMode="auto">
            <a:xfrm>
              <a:off x="4150" y="232"/>
              <a:ext cx="2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400" i="1">
                  <a:solidFill>
                    <a:srgbClr val="0000FF"/>
                  </a:solidFill>
                  <a:latin typeface="Times New Roman" panose="02020603050405020304" pitchFamily="18" charset="0"/>
                  <a:ea typeface="楷体_GB2312" pitchFamily="49" charset="-122"/>
                </a:rPr>
                <a:t>i</a:t>
              </a:r>
              <a:r>
                <a:rPr kumimoji="1" lang="en-US" altLang="zh-CN" sz="2400" i="1" baseline="-25000">
                  <a:solidFill>
                    <a:srgbClr val="0000FF"/>
                  </a:solidFill>
                  <a:latin typeface="Times New Roman" panose="02020603050405020304" pitchFamily="18" charset="0"/>
                  <a:ea typeface="楷体_GB2312" pitchFamily="49" charset="-122"/>
                </a:rPr>
                <a:t>C</a:t>
              </a:r>
              <a:endParaRPr kumimoji="1" lang="en-US" altLang="zh-CN" sz="2400" i="1">
                <a:solidFill>
                  <a:srgbClr val="0000FF"/>
                </a:solidFill>
                <a:latin typeface="Times New Roman" panose="02020603050405020304" pitchFamily="18" charset="0"/>
                <a:ea typeface="楷体_GB2312" pitchFamily="49" charset="-122"/>
              </a:endParaRPr>
            </a:p>
          </p:txBody>
        </p:sp>
        <p:sp>
          <p:nvSpPr>
            <p:cNvPr id="13" name="Line 40">
              <a:extLst>
                <a:ext uri="{FF2B5EF4-FFF2-40B4-BE49-F238E27FC236}">
                  <a16:creationId xmlns:a16="http://schemas.microsoft.com/office/drawing/2014/main" id="{6AB5EFB0-5777-23B4-A25D-86FB87772B56}"/>
                </a:ext>
              </a:extLst>
            </p:cNvPr>
            <p:cNvSpPr>
              <a:spLocks noChangeShapeType="1"/>
            </p:cNvSpPr>
            <p:nvPr/>
          </p:nvSpPr>
          <p:spPr bwMode="auto">
            <a:xfrm>
              <a:off x="4173" y="566"/>
              <a:ext cx="204" cy="0"/>
            </a:xfrm>
            <a:prstGeom prst="line">
              <a:avLst/>
            </a:prstGeom>
            <a:noFill/>
            <a:ln w="28575">
              <a:solidFill>
                <a:srgbClr val="0000FF"/>
              </a:solidFill>
              <a:round/>
              <a:headEnd type="arrow"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sp>
        <p:nvSpPr>
          <p:cNvPr id="44" name="Rectangle 41">
            <a:extLst>
              <a:ext uri="{FF2B5EF4-FFF2-40B4-BE49-F238E27FC236}">
                <a16:creationId xmlns:a16="http://schemas.microsoft.com/office/drawing/2014/main" id="{525BB2EB-2E5A-1372-E62A-72BAC4AB088D}"/>
              </a:ext>
            </a:extLst>
          </p:cNvPr>
          <p:cNvSpPr>
            <a:spLocks noChangeArrowheads="1"/>
          </p:cNvSpPr>
          <p:nvPr/>
        </p:nvSpPr>
        <p:spPr bwMode="auto">
          <a:xfrm>
            <a:off x="5470949" y="5314703"/>
            <a:ext cx="39966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000" b="0" dirty="0">
                <a:latin typeface="Microsoft YaHei" panose="020B0503020204020204" pitchFamily="34" charset="-122"/>
                <a:ea typeface="Microsoft YaHei" panose="020B0503020204020204" pitchFamily="34" charset="-122"/>
              </a:rPr>
              <a:t>交流负载线（！基于直流</a:t>
            </a:r>
            <a:r>
              <a:rPr kumimoji="1" lang="en-US" altLang="zh-CN" sz="2000" b="0" dirty="0">
                <a:latin typeface="Microsoft YaHei" panose="020B0503020204020204" pitchFamily="34" charset="-122"/>
                <a:ea typeface="Microsoft YaHei" panose="020B0503020204020204" pitchFamily="34" charset="-122"/>
              </a:rPr>
              <a:t>Q</a:t>
            </a:r>
            <a:r>
              <a:rPr kumimoji="1" lang="zh-CN" altLang="en-US" sz="2000" b="0" dirty="0">
                <a:latin typeface="Microsoft YaHei" panose="020B0503020204020204" pitchFamily="34" charset="-122"/>
                <a:ea typeface="Microsoft YaHei" panose="020B0503020204020204" pitchFamily="34" charset="-122"/>
              </a:rPr>
              <a:t>点）：</a:t>
            </a:r>
            <a:endParaRPr kumimoji="1" lang="en-US" altLang="zh-CN" sz="2000" b="0" dirty="0">
              <a:latin typeface="Microsoft YaHei" panose="020B0503020204020204" pitchFamily="34" charset="-122"/>
              <a:ea typeface="Microsoft YaHei" panose="020B0503020204020204" pitchFamily="34" charset="-122"/>
            </a:endParaRPr>
          </a:p>
        </p:txBody>
      </p:sp>
      <p:sp>
        <p:nvSpPr>
          <p:cNvPr id="45" name="Rectangle 42">
            <a:extLst>
              <a:ext uri="{FF2B5EF4-FFF2-40B4-BE49-F238E27FC236}">
                <a16:creationId xmlns:a16="http://schemas.microsoft.com/office/drawing/2014/main" id="{F5132CE3-4E13-A3E4-8D8B-F04CCD9FD2F3}"/>
              </a:ext>
            </a:extLst>
          </p:cNvPr>
          <p:cNvSpPr>
            <a:spLocks noChangeArrowheads="1"/>
          </p:cNvSpPr>
          <p:nvPr/>
        </p:nvSpPr>
        <p:spPr bwMode="auto">
          <a:xfrm>
            <a:off x="5435590" y="5685420"/>
            <a:ext cx="328612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Aft>
                <a:spcPct val="0"/>
              </a:spcAft>
              <a:buFontTx/>
              <a:buNone/>
            </a:pPr>
            <a:r>
              <a:rPr kumimoji="1" lang="en-US" altLang="zh-CN" sz="2800" i="1">
                <a:latin typeface="Times New Roman" panose="02020603050405020304" pitchFamily="18" charset="0"/>
              </a:rPr>
              <a:t>v</a:t>
            </a:r>
            <a:r>
              <a:rPr kumimoji="1" lang="en-US" altLang="zh-CN" sz="2800" baseline="-25000">
                <a:latin typeface="Times New Roman" panose="02020603050405020304" pitchFamily="18" charset="0"/>
              </a:rPr>
              <a:t>CE</a:t>
            </a:r>
            <a:r>
              <a:rPr kumimoji="1" lang="en-US" altLang="zh-CN" sz="2800" baseline="-25000">
                <a:latin typeface="Times New Roman" panose="02020603050405020304" pitchFamily="18" charset="0"/>
                <a:ea typeface="楷体_GB2312" pitchFamily="49" charset="-122"/>
              </a:rPr>
              <a:t> </a:t>
            </a:r>
            <a:r>
              <a:rPr kumimoji="1" lang="en-US" altLang="zh-CN" sz="2800">
                <a:latin typeface="Times New Roman" panose="02020603050405020304" pitchFamily="18" charset="0"/>
                <a:ea typeface="楷体_GB2312" pitchFamily="49" charset="-122"/>
              </a:rPr>
              <a:t>= –(</a:t>
            </a:r>
            <a:r>
              <a:rPr kumimoji="1" lang="en-US" altLang="zh-CN" sz="2800" i="1">
                <a:latin typeface="Times New Roman" panose="02020603050405020304" pitchFamily="18" charset="0"/>
                <a:ea typeface="楷体_GB2312" pitchFamily="49" charset="-122"/>
              </a:rPr>
              <a:t>R</a:t>
            </a:r>
            <a:r>
              <a:rPr kumimoji="1" lang="en-US" altLang="zh-CN" sz="2800" baseline="-25000">
                <a:latin typeface="Times New Roman" panose="02020603050405020304" pitchFamily="18" charset="0"/>
                <a:ea typeface="楷体_GB2312" pitchFamily="49" charset="-122"/>
              </a:rPr>
              <a:t>c</a:t>
            </a:r>
            <a:r>
              <a:rPr kumimoji="1" lang="en-US" altLang="zh-CN" sz="2800">
                <a:latin typeface="Times New Roman" panose="02020603050405020304" pitchFamily="18" charset="0"/>
                <a:ea typeface="楷体_GB2312" pitchFamily="49" charset="-122"/>
              </a:rPr>
              <a:t>∥</a:t>
            </a:r>
            <a:r>
              <a:rPr kumimoji="1" lang="en-US" altLang="zh-CN" sz="2800" i="1">
                <a:latin typeface="Times New Roman" panose="02020603050405020304" pitchFamily="18" charset="0"/>
                <a:ea typeface="楷体_GB2312" pitchFamily="49" charset="-122"/>
              </a:rPr>
              <a:t>R</a:t>
            </a:r>
            <a:r>
              <a:rPr kumimoji="1" lang="en-US" altLang="zh-CN" sz="2800" baseline="-25000">
                <a:latin typeface="Times New Roman" panose="02020603050405020304" pitchFamily="18" charset="0"/>
                <a:ea typeface="楷体_GB2312" pitchFamily="49" charset="-122"/>
              </a:rPr>
              <a:t>L</a:t>
            </a:r>
            <a:r>
              <a:rPr kumimoji="1" lang="en-US" altLang="zh-CN" sz="2800">
                <a:latin typeface="Times New Roman" panose="02020603050405020304" pitchFamily="18" charset="0"/>
                <a:ea typeface="楷体_GB2312" pitchFamily="49" charset="-122"/>
              </a:rPr>
              <a:t>) </a:t>
            </a:r>
            <a:r>
              <a:rPr kumimoji="1" lang="en-US" altLang="zh-CN" sz="2800" i="1">
                <a:latin typeface="Times New Roman" panose="02020603050405020304" pitchFamily="18" charset="0"/>
                <a:ea typeface="楷体_GB2312" pitchFamily="49" charset="-122"/>
              </a:rPr>
              <a:t>i</a:t>
            </a:r>
            <a:r>
              <a:rPr kumimoji="1" lang="en-US" altLang="zh-CN" sz="2800" baseline="-25000">
                <a:latin typeface="Times New Roman" panose="02020603050405020304" pitchFamily="18" charset="0"/>
                <a:ea typeface="楷体_GB2312" pitchFamily="49" charset="-122"/>
              </a:rPr>
              <a:t>C</a:t>
            </a:r>
          </a:p>
        </p:txBody>
      </p:sp>
      <p:sp>
        <p:nvSpPr>
          <p:cNvPr id="46" name="Rectangle 43">
            <a:extLst>
              <a:ext uri="{FF2B5EF4-FFF2-40B4-BE49-F238E27FC236}">
                <a16:creationId xmlns:a16="http://schemas.microsoft.com/office/drawing/2014/main" id="{802C73B2-6A7B-845C-FE88-01D9F2EF1B7B}"/>
              </a:ext>
            </a:extLst>
          </p:cNvPr>
          <p:cNvSpPr>
            <a:spLocks noChangeArrowheads="1"/>
          </p:cNvSpPr>
          <p:nvPr/>
        </p:nvSpPr>
        <p:spPr bwMode="auto">
          <a:xfrm>
            <a:off x="684213" y="3897313"/>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icrosoft YaHei" panose="020B0503020204020204" pitchFamily="34" charset="-122"/>
                <a:ea typeface="Microsoft YaHei" panose="020B0503020204020204" pitchFamily="34" charset="-122"/>
              </a:rPr>
              <a:t>交流通路</a:t>
            </a:r>
          </a:p>
        </p:txBody>
      </p:sp>
    </p:spTree>
    <p:extLst>
      <p:ext uri="{BB962C8B-B14F-4D97-AF65-F5344CB8AC3E}">
        <p14:creationId xmlns:p14="http://schemas.microsoft.com/office/powerpoint/2010/main" val="3095871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8EDF6-521E-D948-C927-1B531D94EFED}"/>
              </a:ext>
            </a:extLst>
          </p:cNvPr>
          <p:cNvSpPr>
            <a:spLocks noGrp="1"/>
          </p:cNvSpPr>
          <p:nvPr>
            <p:ph type="title"/>
          </p:nvPr>
        </p:nvSpPr>
        <p:spPr/>
        <p:txBody>
          <a:bodyPr>
            <a:normAutofit fontScale="90000"/>
          </a:bodyPr>
          <a:lstStyle/>
          <a:p>
            <a:r>
              <a:rPr lang="zh-CN" altLang="en-US" dirty="0"/>
              <a:t>估算法静态分析</a:t>
            </a:r>
            <a:endParaRPr kumimoji="1" lang="zh-CN" altLang="en-US" dirty="0"/>
          </a:p>
        </p:txBody>
      </p:sp>
      <p:sp>
        <p:nvSpPr>
          <p:cNvPr id="4" name="页脚占位符 3">
            <a:extLst>
              <a:ext uri="{FF2B5EF4-FFF2-40B4-BE49-F238E27FC236}">
                <a16:creationId xmlns:a16="http://schemas.microsoft.com/office/drawing/2014/main" id="{ADC190E9-06E2-2E12-D92D-7BBC597BEE09}"/>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C81DDDA0-793A-9EC2-FF8B-11CDD630C183}"/>
              </a:ext>
            </a:extLst>
          </p:cNvPr>
          <p:cNvSpPr>
            <a:spLocks noGrp="1"/>
          </p:cNvSpPr>
          <p:nvPr>
            <p:ph type="sldNum" sz="quarter" idx="12"/>
          </p:nvPr>
        </p:nvSpPr>
        <p:spPr/>
        <p:txBody>
          <a:bodyPr/>
          <a:lstStyle/>
          <a:p>
            <a:fld id="{9E260BC5-5BF3-8746-862B-DC45E9CAA88B}" type="slidenum">
              <a:rPr lang="en-US" smtClean="0"/>
              <a:pPr/>
              <a:t>25</a:t>
            </a:fld>
            <a:r>
              <a:rPr lang="en-US" altLang="zh-CN" dirty="0"/>
              <a:t>/33</a:t>
            </a:r>
            <a:endParaRPr lang="en-US" dirty="0"/>
          </a:p>
        </p:txBody>
      </p:sp>
      <p:graphicFrame>
        <p:nvGraphicFramePr>
          <p:cNvPr id="6" name="Object 3">
            <a:extLst>
              <a:ext uri="{FF2B5EF4-FFF2-40B4-BE49-F238E27FC236}">
                <a16:creationId xmlns:a16="http://schemas.microsoft.com/office/drawing/2014/main" id="{D8ACCF18-187F-8AA8-FCAD-B0D9C716ED68}"/>
              </a:ext>
            </a:extLst>
          </p:cNvPr>
          <p:cNvGraphicFramePr>
            <a:graphicFrameLocks noChangeAspect="1"/>
          </p:cNvGraphicFramePr>
          <p:nvPr>
            <p:extLst>
              <p:ext uri="{D42A27DB-BD31-4B8C-83A1-F6EECF244321}">
                <p14:modId xmlns:p14="http://schemas.microsoft.com/office/powerpoint/2010/main" val="4238504742"/>
              </p:ext>
            </p:extLst>
          </p:nvPr>
        </p:nvGraphicFramePr>
        <p:xfrm>
          <a:off x="5399264" y="1242544"/>
          <a:ext cx="3552825" cy="2138362"/>
        </p:xfrm>
        <a:graphic>
          <a:graphicData uri="http://schemas.openxmlformats.org/presentationml/2006/ole">
            <mc:AlternateContent xmlns:mc="http://schemas.openxmlformats.org/markup-compatibility/2006">
              <mc:Choice xmlns:v="urn:schemas-microsoft-com:vml" Requires="v">
                <p:oleObj name="公式" r:id="rId2" imgW="1155700" imgH="939800" progId="Equation.3">
                  <p:embed/>
                </p:oleObj>
              </mc:Choice>
              <mc:Fallback>
                <p:oleObj name="公式" r:id="rId2" imgW="1155700" imgH="939800" progId="Equation.3">
                  <p:embed/>
                  <p:pic>
                    <p:nvPicPr>
                      <p:cNvPr id="72192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264" y="1242544"/>
                        <a:ext cx="3552825" cy="213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 name="Rectangle 5">
            <a:extLst>
              <a:ext uri="{FF2B5EF4-FFF2-40B4-BE49-F238E27FC236}">
                <a16:creationId xmlns:a16="http://schemas.microsoft.com/office/drawing/2014/main" id="{61EE1B9D-ED1A-BACF-82D2-304A793D566B}"/>
              </a:ext>
            </a:extLst>
          </p:cNvPr>
          <p:cNvSpPr>
            <a:spLocks noChangeArrowheads="1"/>
          </p:cNvSpPr>
          <p:nvPr/>
        </p:nvSpPr>
        <p:spPr bwMode="auto">
          <a:xfrm>
            <a:off x="1008845" y="5824009"/>
            <a:ext cx="7956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000" b="0" dirty="0">
                <a:latin typeface="Microsoft YaHei" panose="020B0503020204020204" pitchFamily="34" charset="-122"/>
                <a:ea typeface="Microsoft YaHei" panose="020B0503020204020204" pitchFamily="34" charset="-122"/>
              </a:rPr>
              <a:t>*估算法求静态：硅管</a:t>
            </a:r>
            <a:r>
              <a:rPr lang="en-US" altLang="zh-CN" sz="2000" b="0" i="1" dirty="0">
                <a:latin typeface="Microsoft YaHei" panose="020B0503020204020204" pitchFamily="34" charset="-122"/>
                <a:ea typeface="Microsoft YaHei" panose="020B0503020204020204" pitchFamily="34" charset="-122"/>
              </a:rPr>
              <a:t>V</a:t>
            </a:r>
            <a:r>
              <a:rPr lang="en-US" altLang="zh-CN" sz="2000" b="0" baseline="-15000" dirty="0">
                <a:latin typeface="Microsoft YaHei" panose="020B0503020204020204" pitchFamily="34" charset="-122"/>
                <a:ea typeface="Microsoft YaHei" panose="020B0503020204020204" pitchFamily="34" charset="-122"/>
              </a:rPr>
              <a:t>BEQ</a:t>
            </a:r>
            <a:r>
              <a:rPr lang="zh-CN" altLang="en-US" sz="2000" b="0" dirty="0">
                <a:latin typeface="Microsoft YaHei" panose="020B0503020204020204" pitchFamily="34" charset="-122"/>
                <a:ea typeface="Microsoft YaHei" panose="020B0503020204020204" pitchFamily="34" charset="-122"/>
              </a:rPr>
              <a:t>为</a:t>
            </a:r>
            <a:r>
              <a:rPr lang="en-US" altLang="zh-CN" sz="2000" b="0" dirty="0">
                <a:latin typeface="Microsoft YaHei" panose="020B0503020204020204" pitchFamily="34" charset="-122"/>
                <a:ea typeface="Microsoft YaHei" panose="020B0503020204020204" pitchFamily="34" charset="-122"/>
              </a:rPr>
              <a:t>0.7 V</a:t>
            </a:r>
            <a:r>
              <a:rPr lang="zh-CN" altLang="en-US" sz="2000" b="0" dirty="0">
                <a:latin typeface="Microsoft YaHei" panose="020B0503020204020204" pitchFamily="34" charset="-122"/>
                <a:ea typeface="Microsoft YaHei" panose="020B0503020204020204" pitchFamily="34" charset="-122"/>
              </a:rPr>
              <a:t>，锗管为</a:t>
            </a:r>
            <a:r>
              <a:rPr lang="en-US" altLang="zh-CN" sz="2000" b="0" dirty="0">
                <a:latin typeface="Microsoft YaHei" panose="020B0503020204020204" pitchFamily="34" charset="-122"/>
                <a:ea typeface="Microsoft YaHei" panose="020B0503020204020204" pitchFamily="34" charset="-122"/>
              </a:rPr>
              <a:t>0.2 V</a:t>
            </a:r>
            <a:endParaRPr lang="zh-CN" altLang="en-US" sz="2000" b="0" dirty="0">
              <a:latin typeface="Microsoft YaHei" panose="020B0503020204020204" pitchFamily="34" charset="-122"/>
              <a:ea typeface="Microsoft YaHei" panose="020B0503020204020204" pitchFamily="34" charset="-122"/>
            </a:endParaRPr>
          </a:p>
        </p:txBody>
      </p:sp>
      <p:grpSp>
        <p:nvGrpSpPr>
          <p:cNvPr id="8" name="Group 76">
            <a:extLst>
              <a:ext uri="{FF2B5EF4-FFF2-40B4-BE49-F238E27FC236}">
                <a16:creationId xmlns:a16="http://schemas.microsoft.com/office/drawing/2014/main" id="{8470E0B6-50E8-09A9-55EC-59CCE62B84E5}"/>
              </a:ext>
            </a:extLst>
          </p:cNvPr>
          <p:cNvGrpSpPr>
            <a:grpSpLocks/>
          </p:cNvGrpSpPr>
          <p:nvPr/>
        </p:nvGrpSpPr>
        <p:grpSpPr bwMode="auto">
          <a:xfrm>
            <a:off x="458759" y="1295309"/>
            <a:ext cx="3929063" cy="3970338"/>
            <a:chOff x="340" y="890"/>
            <a:chExt cx="2475" cy="2501"/>
          </a:xfrm>
        </p:grpSpPr>
        <p:sp>
          <p:nvSpPr>
            <p:cNvPr id="9" name="Rectangle 4">
              <a:extLst>
                <a:ext uri="{FF2B5EF4-FFF2-40B4-BE49-F238E27FC236}">
                  <a16:creationId xmlns:a16="http://schemas.microsoft.com/office/drawing/2014/main" id="{BA8E7E4F-CB49-A4EE-523A-7936E5E42856}"/>
                </a:ext>
              </a:extLst>
            </p:cNvPr>
            <p:cNvSpPr>
              <a:spLocks noChangeArrowheads="1"/>
            </p:cNvSpPr>
            <p:nvPr/>
          </p:nvSpPr>
          <p:spPr bwMode="auto">
            <a:xfrm>
              <a:off x="1051" y="3103"/>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j-ea"/>
                  <a:ea typeface="+mj-ea"/>
                </a:rPr>
                <a:t>直流通路</a:t>
              </a:r>
            </a:p>
          </p:txBody>
        </p:sp>
        <p:sp>
          <p:nvSpPr>
            <p:cNvPr id="10" name="Text Box 7">
              <a:extLst>
                <a:ext uri="{FF2B5EF4-FFF2-40B4-BE49-F238E27FC236}">
                  <a16:creationId xmlns:a16="http://schemas.microsoft.com/office/drawing/2014/main" id="{2F982B78-F1DD-21C7-5739-F84867C43471}"/>
                </a:ext>
              </a:extLst>
            </p:cNvPr>
            <p:cNvSpPr txBox="1">
              <a:spLocks noChangeArrowheads="1"/>
            </p:cNvSpPr>
            <p:nvPr/>
          </p:nvSpPr>
          <p:spPr bwMode="auto">
            <a:xfrm>
              <a:off x="486" y="1343"/>
              <a:ext cx="3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a:t>
              </a:r>
              <a:r>
                <a:rPr kumimoji="1" lang="en-US" altLang="zh-CN" sz="2400">
                  <a:latin typeface="Times New Roman" panose="02020603050405020304" pitchFamily="18" charset="0"/>
                  <a:ea typeface="楷体_GB2312" pitchFamily="49" charset="-122"/>
                </a:rPr>
                <a:t>b</a:t>
              </a:r>
            </a:p>
          </p:txBody>
        </p:sp>
        <p:sp>
          <p:nvSpPr>
            <p:cNvPr id="11" name="Line 8">
              <a:extLst>
                <a:ext uri="{FF2B5EF4-FFF2-40B4-BE49-F238E27FC236}">
                  <a16:creationId xmlns:a16="http://schemas.microsoft.com/office/drawing/2014/main" id="{8C0ECF94-7E46-F033-923C-9F6EFE75FF4E}"/>
                </a:ext>
              </a:extLst>
            </p:cNvPr>
            <p:cNvSpPr>
              <a:spLocks noChangeShapeType="1"/>
            </p:cNvSpPr>
            <p:nvPr/>
          </p:nvSpPr>
          <p:spPr bwMode="auto">
            <a:xfrm>
              <a:off x="992" y="1055"/>
              <a:ext cx="0" cy="121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 name="Rectangle 9">
              <a:extLst>
                <a:ext uri="{FF2B5EF4-FFF2-40B4-BE49-F238E27FC236}">
                  <a16:creationId xmlns:a16="http://schemas.microsoft.com/office/drawing/2014/main" id="{3D13299B-0B77-62DA-C9DA-4EBCF8E95688}"/>
                </a:ext>
              </a:extLst>
            </p:cNvPr>
            <p:cNvSpPr>
              <a:spLocks noChangeArrowheads="1"/>
            </p:cNvSpPr>
            <p:nvPr/>
          </p:nvSpPr>
          <p:spPr bwMode="auto">
            <a:xfrm>
              <a:off x="902" y="1325"/>
              <a:ext cx="131" cy="404"/>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 name="Line 10">
              <a:extLst>
                <a:ext uri="{FF2B5EF4-FFF2-40B4-BE49-F238E27FC236}">
                  <a16:creationId xmlns:a16="http://schemas.microsoft.com/office/drawing/2014/main" id="{BA0690C9-0571-44E1-81DE-A8C025CB7899}"/>
                </a:ext>
              </a:extLst>
            </p:cNvPr>
            <p:cNvSpPr>
              <a:spLocks noChangeShapeType="1"/>
            </p:cNvSpPr>
            <p:nvPr/>
          </p:nvSpPr>
          <p:spPr bwMode="auto">
            <a:xfrm>
              <a:off x="989" y="1055"/>
              <a:ext cx="108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 name="Line 11">
              <a:extLst>
                <a:ext uri="{FF2B5EF4-FFF2-40B4-BE49-F238E27FC236}">
                  <a16:creationId xmlns:a16="http://schemas.microsoft.com/office/drawing/2014/main" id="{F77E1594-A38A-E51E-5FBC-56F196EDB327}"/>
                </a:ext>
              </a:extLst>
            </p:cNvPr>
            <p:cNvSpPr>
              <a:spLocks noChangeShapeType="1"/>
            </p:cNvSpPr>
            <p:nvPr/>
          </p:nvSpPr>
          <p:spPr bwMode="auto">
            <a:xfrm flipV="1">
              <a:off x="994" y="2269"/>
              <a:ext cx="581" cy="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 name="Line 12">
              <a:extLst>
                <a:ext uri="{FF2B5EF4-FFF2-40B4-BE49-F238E27FC236}">
                  <a16:creationId xmlns:a16="http://schemas.microsoft.com/office/drawing/2014/main" id="{FA843153-C58C-45DC-A6C6-1FF71918C9B4}"/>
                </a:ext>
              </a:extLst>
            </p:cNvPr>
            <p:cNvSpPr>
              <a:spLocks noChangeShapeType="1"/>
            </p:cNvSpPr>
            <p:nvPr/>
          </p:nvSpPr>
          <p:spPr bwMode="auto">
            <a:xfrm>
              <a:off x="1560" y="2109"/>
              <a:ext cx="0" cy="357"/>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6" name="Line 13">
              <a:extLst>
                <a:ext uri="{FF2B5EF4-FFF2-40B4-BE49-F238E27FC236}">
                  <a16:creationId xmlns:a16="http://schemas.microsoft.com/office/drawing/2014/main" id="{76CEED7C-698B-DA00-806C-7F218F1F83CA}"/>
                </a:ext>
              </a:extLst>
            </p:cNvPr>
            <p:cNvSpPr>
              <a:spLocks noChangeShapeType="1"/>
            </p:cNvSpPr>
            <p:nvPr/>
          </p:nvSpPr>
          <p:spPr bwMode="auto">
            <a:xfrm>
              <a:off x="1560" y="2288"/>
              <a:ext cx="197" cy="184"/>
            </a:xfrm>
            <a:prstGeom prst="line">
              <a:avLst/>
            </a:prstGeom>
            <a:noFill/>
            <a:ln w="38100">
              <a:solidFill>
                <a:srgbClr val="CC3300"/>
              </a:solidFill>
              <a:round/>
              <a:headEnd type="none" w="sm" len="sm"/>
              <a:tailEnd type="triangl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7" name="Line 14">
              <a:extLst>
                <a:ext uri="{FF2B5EF4-FFF2-40B4-BE49-F238E27FC236}">
                  <a16:creationId xmlns:a16="http://schemas.microsoft.com/office/drawing/2014/main" id="{934C6FAD-C380-D0C3-0CCD-5498E8CB92FE}"/>
                </a:ext>
              </a:extLst>
            </p:cNvPr>
            <p:cNvSpPr>
              <a:spLocks noChangeShapeType="1"/>
            </p:cNvSpPr>
            <p:nvPr/>
          </p:nvSpPr>
          <p:spPr bwMode="auto">
            <a:xfrm flipH="1">
              <a:off x="1754" y="1055"/>
              <a:ext cx="0" cy="1078"/>
            </a:xfrm>
            <a:prstGeom prst="line">
              <a:avLst/>
            </a:prstGeom>
            <a:noFill/>
            <a:ln w="38100">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8" name="Line 15">
              <a:extLst>
                <a:ext uri="{FF2B5EF4-FFF2-40B4-BE49-F238E27FC236}">
                  <a16:creationId xmlns:a16="http://schemas.microsoft.com/office/drawing/2014/main" id="{E3611D4C-1CAA-7CD2-6EAB-A19700ED9197}"/>
                </a:ext>
              </a:extLst>
            </p:cNvPr>
            <p:cNvSpPr>
              <a:spLocks noChangeShapeType="1"/>
            </p:cNvSpPr>
            <p:nvPr/>
          </p:nvSpPr>
          <p:spPr bwMode="auto">
            <a:xfrm>
              <a:off x="1744" y="2461"/>
              <a:ext cx="0" cy="457"/>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9" name="Text Box 16">
              <a:extLst>
                <a:ext uri="{FF2B5EF4-FFF2-40B4-BE49-F238E27FC236}">
                  <a16:creationId xmlns:a16="http://schemas.microsoft.com/office/drawing/2014/main" id="{D6390A08-E9A4-F247-7678-3969D7C520C6}"/>
                </a:ext>
              </a:extLst>
            </p:cNvPr>
            <p:cNvSpPr txBox="1">
              <a:spLocks noChangeArrowheads="1"/>
            </p:cNvSpPr>
            <p:nvPr/>
          </p:nvSpPr>
          <p:spPr bwMode="auto">
            <a:xfrm>
              <a:off x="2204" y="890"/>
              <a:ext cx="6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a:t>
              </a:r>
              <a:r>
                <a:rPr kumimoji="1" lang="en-US" altLang="zh-CN" sz="2800" i="1">
                  <a:latin typeface="Times New Roman" panose="02020603050405020304" pitchFamily="18" charset="0"/>
                  <a:ea typeface="楷体_GB2312" pitchFamily="49" charset="-122"/>
                </a:rPr>
                <a:t>V</a:t>
              </a:r>
              <a:r>
                <a:rPr kumimoji="1" lang="en-US" altLang="zh-CN" sz="2800" baseline="-10000">
                  <a:latin typeface="Times New Roman" panose="02020603050405020304" pitchFamily="18" charset="0"/>
                  <a:ea typeface="楷体_GB2312" pitchFamily="49" charset="-122"/>
                </a:rPr>
                <a:t>CC</a:t>
              </a:r>
            </a:p>
          </p:txBody>
        </p:sp>
        <p:sp>
          <p:nvSpPr>
            <p:cNvPr id="20" name="Rectangle 17">
              <a:extLst>
                <a:ext uri="{FF2B5EF4-FFF2-40B4-BE49-F238E27FC236}">
                  <a16:creationId xmlns:a16="http://schemas.microsoft.com/office/drawing/2014/main" id="{58222951-1A2F-EFC4-D011-E2A9A23BF6D8}"/>
                </a:ext>
              </a:extLst>
            </p:cNvPr>
            <p:cNvSpPr>
              <a:spLocks noChangeArrowheads="1"/>
            </p:cNvSpPr>
            <p:nvPr/>
          </p:nvSpPr>
          <p:spPr bwMode="auto">
            <a:xfrm>
              <a:off x="1679" y="1325"/>
              <a:ext cx="131" cy="404"/>
            </a:xfrm>
            <a:prstGeom prst="rect">
              <a:avLst/>
            </a:prstGeom>
            <a:solidFill>
              <a:srgbClr val="FFFF00"/>
            </a:solidFill>
            <a:ln w="38100">
              <a:solidFill>
                <a:schemeClr val="tx1"/>
              </a:solidFill>
              <a:miter lim="800000"/>
              <a:headEnd type="none" w="sm" len="sm"/>
              <a:tailEnd type="none" w="med" len="lg"/>
            </a:ln>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Oval 18">
              <a:extLst>
                <a:ext uri="{FF2B5EF4-FFF2-40B4-BE49-F238E27FC236}">
                  <a16:creationId xmlns:a16="http://schemas.microsoft.com/office/drawing/2014/main" id="{E9AAF8E5-7A5B-BAFE-5993-C5EA0F518E27}"/>
                </a:ext>
              </a:extLst>
            </p:cNvPr>
            <p:cNvSpPr>
              <a:spLocks noChangeArrowheads="1"/>
            </p:cNvSpPr>
            <p:nvPr/>
          </p:nvSpPr>
          <p:spPr bwMode="auto">
            <a:xfrm>
              <a:off x="2067" y="1009"/>
              <a:ext cx="96" cy="96"/>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Text Box 19">
              <a:extLst>
                <a:ext uri="{FF2B5EF4-FFF2-40B4-BE49-F238E27FC236}">
                  <a16:creationId xmlns:a16="http://schemas.microsoft.com/office/drawing/2014/main" id="{6FBC9EC0-ED0B-B9D3-F1FF-9EC0BB9EAE53}"/>
                </a:ext>
              </a:extLst>
            </p:cNvPr>
            <p:cNvSpPr txBox="1">
              <a:spLocks noChangeArrowheads="1"/>
            </p:cNvSpPr>
            <p:nvPr/>
          </p:nvSpPr>
          <p:spPr bwMode="auto">
            <a:xfrm>
              <a:off x="1257" y="1344"/>
              <a:ext cx="3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med" len="lg"/>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a:latin typeface="Times New Roman" panose="02020603050405020304" pitchFamily="18" charset="0"/>
                  <a:ea typeface="楷体_GB2312" pitchFamily="49" charset="-122"/>
                </a:rPr>
                <a:t>Rc</a:t>
              </a:r>
            </a:p>
          </p:txBody>
        </p:sp>
        <p:sp>
          <p:nvSpPr>
            <p:cNvPr id="23" name="Line 20">
              <a:extLst>
                <a:ext uri="{FF2B5EF4-FFF2-40B4-BE49-F238E27FC236}">
                  <a16:creationId xmlns:a16="http://schemas.microsoft.com/office/drawing/2014/main" id="{2E02B9A5-425F-FB41-2F46-C94D4FBC08D9}"/>
                </a:ext>
              </a:extLst>
            </p:cNvPr>
            <p:cNvSpPr>
              <a:spLocks noChangeShapeType="1"/>
            </p:cNvSpPr>
            <p:nvPr/>
          </p:nvSpPr>
          <p:spPr bwMode="auto">
            <a:xfrm flipV="1">
              <a:off x="1640" y="2918"/>
              <a:ext cx="22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4" name="Line 21">
              <a:extLst>
                <a:ext uri="{FF2B5EF4-FFF2-40B4-BE49-F238E27FC236}">
                  <a16:creationId xmlns:a16="http://schemas.microsoft.com/office/drawing/2014/main" id="{C1EA427A-EAE6-693B-2038-AC3645F404A2}"/>
                </a:ext>
              </a:extLst>
            </p:cNvPr>
            <p:cNvSpPr>
              <a:spLocks noChangeShapeType="1"/>
            </p:cNvSpPr>
            <p:nvPr/>
          </p:nvSpPr>
          <p:spPr bwMode="auto">
            <a:xfrm flipV="1">
              <a:off x="1560" y="2116"/>
              <a:ext cx="197" cy="160"/>
            </a:xfrm>
            <a:prstGeom prst="line">
              <a:avLst/>
            </a:prstGeom>
            <a:noFill/>
            <a:ln w="38100">
              <a:solidFill>
                <a:srgbClr val="CC3300"/>
              </a:solidFill>
              <a:round/>
              <a:headEnd type="none" w="sm" len="sm"/>
              <a:tailEnd type="none"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5" name="Line 22">
              <a:extLst>
                <a:ext uri="{FF2B5EF4-FFF2-40B4-BE49-F238E27FC236}">
                  <a16:creationId xmlns:a16="http://schemas.microsoft.com/office/drawing/2014/main" id="{7CC828B7-4E1D-86FC-7EAE-1939DAF861DF}"/>
                </a:ext>
              </a:extLst>
            </p:cNvPr>
            <p:cNvSpPr>
              <a:spLocks noChangeShapeType="1"/>
            </p:cNvSpPr>
            <p:nvPr/>
          </p:nvSpPr>
          <p:spPr bwMode="auto">
            <a:xfrm>
              <a:off x="1941" y="1243"/>
              <a:ext cx="0" cy="516"/>
            </a:xfrm>
            <a:prstGeom prst="line">
              <a:avLst/>
            </a:prstGeom>
            <a:noFill/>
            <a:ln w="28575">
              <a:solidFill>
                <a:srgbClr val="0000FF"/>
              </a:solidFill>
              <a:round/>
              <a:headEnd/>
              <a:tailEnd type="arrow"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6" name="Text Box 23">
              <a:extLst>
                <a:ext uri="{FF2B5EF4-FFF2-40B4-BE49-F238E27FC236}">
                  <a16:creationId xmlns:a16="http://schemas.microsoft.com/office/drawing/2014/main" id="{BE3C036A-3FF5-4487-E1B2-C814B90E2073}"/>
                </a:ext>
              </a:extLst>
            </p:cNvPr>
            <p:cNvSpPr txBox="1">
              <a:spLocks noChangeArrowheads="1"/>
            </p:cNvSpPr>
            <p:nvPr/>
          </p:nvSpPr>
          <p:spPr bwMode="auto">
            <a:xfrm>
              <a:off x="1995" y="1253"/>
              <a:ext cx="4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800" i="1">
                  <a:solidFill>
                    <a:srgbClr val="0000FF"/>
                  </a:solidFill>
                  <a:latin typeface="Times New Roman" panose="02020603050405020304" pitchFamily="18" charset="0"/>
                  <a:ea typeface="楷体_GB2312" pitchFamily="49" charset="-122"/>
                </a:rPr>
                <a:t>I</a:t>
              </a:r>
              <a:r>
                <a:rPr kumimoji="1" lang="en-US" altLang="zh-CN" sz="2800" i="1" baseline="-25000">
                  <a:solidFill>
                    <a:srgbClr val="0000FF"/>
                  </a:solidFill>
                  <a:latin typeface="Times New Roman" panose="02020603050405020304" pitchFamily="18" charset="0"/>
                  <a:ea typeface="楷体_GB2312" pitchFamily="49" charset="-122"/>
                </a:rPr>
                <a:t>CQ</a:t>
              </a:r>
              <a:endParaRPr kumimoji="1" lang="en-US" altLang="zh-CN" sz="2800" i="1">
                <a:solidFill>
                  <a:srgbClr val="0000FF"/>
                </a:solidFill>
                <a:latin typeface="Times New Roman" panose="02020603050405020304" pitchFamily="18" charset="0"/>
                <a:ea typeface="楷体_GB2312" pitchFamily="49" charset="-122"/>
              </a:endParaRPr>
            </a:p>
          </p:txBody>
        </p:sp>
        <p:sp>
          <p:nvSpPr>
            <p:cNvPr id="27" name="Text Box 24">
              <a:extLst>
                <a:ext uri="{FF2B5EF4-FFF2-40B4-BE49-F238E27FC236}">
                  <a16:creationId xmlns:a16="http://schemas.microsoft.com/office/drawing/2014/main" id="{2524AC97-D31A-DFE4-2001-51BB504DF3DB}"/>
                </a:ext>
              </a:extLst>
            </p:cNvPr>
            <p:cNvSpPr txBox="1">
              <a:spLocks noChangeArrowheads="1"/>
            </p:cNvSpPr>
            <p:nvPr/>
          </p:nvSpPr>
          <p:spPr bwMode="auto">
            <a:xfrm>
              <a:off x="340" y="1770"/>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FontTx/>
                <a:buNone/>
              </a:pPr>
              <a:r>
                <a:rPr kumimoji="1" lang="en-US" altLang="zh-CN" sz="2800" i="1">
                  <a:solidFill>
                    <a:srgbClr val="0000FF"/>
                  </a:solidFill>
                  <a:latin typeface="Times New Roman" panose="02020603050405020304" pitchFamily="18" charset="0"/>
                  <a:ea typeface="楷体_GB2312" pitchFamily="49" charset="-122"/>
                </a:rPr>
                <a:t>I</a:t>
              </a:r>
              <a:r>
                <a:rPr kumimoji="1" lang="en-US" altLang="zh-CN" sz="2800" i="1" baseline="-25000">
                  <a:solidFill>
                    <a:srgbClr val="0000FF"/>
                  </a:solidFill>
                  <a:latin typeface="Times New Roman" panose="02020603050405020304" pitchFamily="18" charset="0"/>
                  <a:ea typeface="楷体_GB2312" pitchFamily="49" charset="-122"/>
                </a:rPr>
                <a:t>BQ</a:t>
              </a:r>
              <a:endParaRPr kumimoji="1" lang="en-US" altLang="zh-CN" sz="2800" i="1">
                <a:solidFill>
                  <a:srgbClr val="0000FF"/>
                </a:solidFill>
                <a:latin typeface="Times New Roman" panose="02020603050405020304" pitchFamily="18" charset="0"/>
                <a:ea typeface="楷体_GB2312" pitchFamily="49" charset="-122"/>
              </a:endParaRPr>
            </a:p>
          </p:txBody>
        </p:sp>
        <p:sp>
          <p:nvSpPr>
            <p:cNvPr id="28" name="Text Box 25">
              <a:extLst>
                <a:ext uri="{FF2B5EF4-FFF2-40B4-BE49-F238E27FC236}">
                  <a16:creationId xmlns:a16="http://schemas.microsoft.com/office/drawing/2014/main" id="{D32A0590-F772-4B1B-8C39-A43A09369120}"/>
                </a:ext>
              </a:extLst>
            </p:cNvPr>
            <p:cNvSpPr txBox="1">
              <a:spLocks noChangeArrowheads="1"/>
            </p:cNvSpPr>
            <p:nvPr/>
          </p:nvSpPr>
          <p:spPr bwMode="auto">
            <a:xfrm>
              <a:off x="1898" y="1909"/>
              <a:ext cx="1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a:solidFill>
                    <a:srgbClr val="0000FF"/>
                  </a:solidFill>
                  <a:latin typeface="Times New Roman" panose="02020603050405020304" pitchFamily="18" charset="0"/>
                  <a:ea typeface="楷体_GB2312" pitchFamily="49" charset="-122"/>
                </a:rPr>
                <a:t>+</a:t>
              </a:r>
            </a:p>
          </p:txBody>
        </p:sp>
        <p:sp>
          <p:nvSpPr>
            <p:cNvPr id="29" name="Text Box 26">
              <a:extLst>
                <a:ext uri="{FF2B5EF4-FFF2-40B4-BE49-F238E27FC236}">
                  <a16:creationId xmlns:a16="http://schemas.microsoft.com/office/drawing/2014/main" id="{1BCD8CD5-8534-1ED8-1B37-018893AB00E9}"/>
                </a:ext>
              </a:extLst>
            </p:cNvPr>
            <p:cNvSpPr txBox="1">
              <a:spLocks noChangeArrowheads="1"/>
            </p:cNvSpPr>
            <p:nvPr/>
          </p:nvSpPr>
          <p:spPr bwMode="auto">
            <a:xfrm>
              <a:off x="1908" y="2325"/>
              <a:ext cx="10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4000" b="0">
                  <a:solidFill>
                    <a:srgbClr val="0000FF"/>
                  </a:solidFill>
                  <a:latin typeface="Times New Roman" panose="02020603050405020304" pitchFamily="18" charset="0"/>
                  <a:ea typeface="楷体_GB2312" pitchFamily="49" charset="-122"/>
                </a:rPr>
                <a:t>-</a:t>
              </a:r>
            </a:p>
          </p:txBody>
        </p:sp>
        <p:sp>
          <p:nvSpPr>
            <p:cNvPr id="30" name="Text Box 27">
              <a:extLst>
                <a:ext uri="{FF2B5EF4-FFF2-40B4-BE49-F238E27FC236}">
                  <a16:creationId xmlns:a16="http://schemas.microsoft.com/office/drawing/2014/main" id="{7E669CBB-4A6B-811D-50C4-A5547F2E1E2B}"/>
                </a:ext>
              </a:extLst>
            </p:cNvPr>
            <p:cNvSpPr txBox="1">
              <a:spLocks noChangeArrowheads="1"/>
            </p:cNvSpPr>
            <p:nvPr/>
          </p:nvSpPr>
          <p:spPr bwMode="auto">
            <a:xfrm>
              <a:off x="1863" y="2166"/>
              <a:ext cx="47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i="1">
                  <a:solidFill>
                    <a:srgbClr val="0000FF"/>
                  </a:solidFill>
                  <a:latin typeface="Times New Roman" panose="02020603050405020304" pitchFamily="18" charset="0"/>
                  <a:ea typeface="楷体_GB2312" pitchFamily="49" charset="-122"/>
                </a:rPr>
                <a:t>V</a:t>
              </a:r>
              <a:r>
                <a:rPr kumimoji="1" lang="en-US" altLang="zh-CN" sz="2800" baseline="-15000">
                  <a:solidFill>
                    <a:srgbClr val="0000FF"/>
                  </a:solidFill>
                  <a:latin typeface="Times New Roman" panose="02020603050405020304" pitchFamily="18" charset="0"/>
                  <a:ea typeface="楷体_GB2312" pitchFamily="49" charset="-122"/>
                </a:rPr>
                <a:t>CEQ</a:t>
              </a:r>
            </a:p>
          </p:txBody>
        </p:sp>
        <p:sp>
          <p:nvSpPr>
            <p:cNvPr id="31" name="Line 28">
              <a:extLst>
                <a:ext uri="{FF2B5EF4-FFF2-40B4-BE49-F238E27FC236}">
                  <a16:creationId xmlns:a16="http://schemas.microsoft.com/office/drawing/2014/main" id="{82A9BC7D-12FE-9B15-E76A-3FC5335D7C11}"/>
                </a:ext>
              </a:extLst>
            </p:cNvPr>
            <p:cNvSpPr>
              <a:spLocks noChangeShapeType="1"/>
            </p:cNvSpPr>
            <p:nvPr/>
          </p:nvSpPr>
          <p:spPr bwMode="auto">
            <a:xfrm>
              <a:off x="793" y="1758"/>
              <a:ext cx="0" cy="516"/>
            </a:xfrm>
            <a:prstGeom prst="line">
              <a:avLst/>
            </a:prstGeom>
            <a:noFill/>
            <a:ln w="28575">
              <a:solidFill>
                <a:srgbClr val="0000FF"/>
              </a:solidFill>
              <a:round/>
              <a:headEnd/>
              <a:tailEnd type="arrow" w="med"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2" name="Text Box 29">
              <a:extLst>
                <a:ext uri="{FF2B5EF4-FFF2-40B4-BE49-F238E27FC236}">
                  <a16:creationId xmlns:a16="http://schemas.microsoft.com/office/drawing/2014/main" id="{238E9161-561B-302F-DBB5-00F7D61BE0AB}"/>
                </a:ext>
              </a:extLst>
            </p:cNvPr>
            <p:cNvSpPr txBox="1">
              <a:spLocks noChangeArrowheads="1"/>
            </p:cNvSpPr>
            <p:nvPr/>
          </p:nvSpPr>
          <p:spPr bwMode="auto">
            <a:xfrm>
              <a:off x="1150" y="2261"/>
              <a:ext cx="1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a:solidFill>
                    <a:srgbClr val="0000FF"/>
                  </a:solidFill>
                  <a:latin typeface="Times New Roman" panose="02020603050405020304" pitchFamily="18" charset="0"/>
                  <a:ea typeface="楷体_GB2312" pitchFamily="49" charset="-122"/>
                </a:rPr>
                <a:t>+</a:t>
              </a:r>
            </a:p>
          </p:txBody>
        </p:sp>
        <p:sp>
          <p:nvSpPr>
            <p:cNvPr id="33" name="Text Box 30">
              <a:extLst>
                <a:ext uri="{FF2B5EF4-FFF2-40B4-BE49-F238E27FC236}">
                  <a16:creationId xmlns:a16="http://schemas.microsoft.com/office/drawing/2014/main" id="{953F89D2-98E3-0E4F-9593-DB23B21FE4A0}"/>
                </a:ext>
              </a:extLst>
            </p:cNvPr>
            <p:cNvSpPr txBox="1">
              <a:spLocks noChangeArrowheads="1"/>
            </p:cNvSpPr>
            <p:nvPr/>
          </p:nvSpPr>
          <p:spPr bwMode="auto">
            <a:xfrm>
              <a:off x="1157" y="2677"/>
              <a:ext cx="1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4000" b="0">
                  <a:solidFill>
                    <a:srgbClr val="0000FF"/>
                  </a:solidFill>
                  <a:latin typeface="Times New Roman" panose="02020603050405020304" pitchFamily="18" charset="0"/>
                  <a:ea typeface="楷体_GB2312" pitchFamily="49" charset="-122"/>
                </a:rPr>
                <a:t>-</a:t>
              </a:r>
            </a:p>
          </p:txBody>
        </p:sp>
        <p:sp>
          <p:nvSpPr>
            <p:cNvPr id="34" name="Text Box 31">
              <a:extLst>
                <a:ext uri="{FF2B5EF4-FFF2-40B4-BE49-F238E27FC236}">
                  <a16:creationId xmlns:a16="http://schemas.microsoft.com/office/drawing/2014/main" id="{1464D1DD-FBA0-4017-D681-1BCFF4E6519A}"/>
                </a:ext>
              </a:extLst>
            </p:cNvPr>
            <p:cNvSpPr txBox="1">
              <a:spLocks noChangeArrowheads="1"/>
            </p:cNvSpPr>
            <p:nvPr/>
          </p:nvSpPr>
          <p:spPr bwMode="auto">
            <a:xfrm>
              <a:off x="1115" y="2518"/>
              <a:ext cx="46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800" i="1">
                  <a:solidFill>
                    <a:srgbClr val="0000FF"/>
                  </a:solidFill>
                  <a:latin typeface="Times New Roman" panose="02020603050405020304" pitchFamily="18" charset="0"/>
                  <a:ea typeface="楷体_GB2312" pitchFamily="49" charset="-122"/>
                </a:rPr>
                <a:t>V</a:t>
              </a:r>
              <a:r>
                <a:rPr kumimoji="1" lang="en-US" altLang="zh-CN" sz="2800" baseline="-15000">
                  <a:solidFill>
                    <a:srgbClr val="0000FF"/>
                  </a:solidFill>
                  <a:latin typeface="Times New Roman" panose="02020603050405020304" pitchFamily="18" charset="0"/>
                  <a:ea typeface="楷体_GB2312" pitchFamily="49" charset="-122"/>
                </a:rPr>
                <a:t>BEQ</a:t>
              </a:r>
            </a:p>
          </p:txBody>
        </p:sp>
      </p:gr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6B6AA5F1-E904-292B-58C2-32D88D1EF730}"/>
                  </a:ext>
                </a:extLst>
              </p:cNvPr>
              <p:cNvSpPr/>
              <p:nvPr/>
            </p:nvSpPr>
            <p:spPr>
              <a:xfrm>
                <a:off x="5701080" y="3862041"/>
                <a:ext cx="4339370" cy="487762"/>
              </a:xfrm>
              <a:prstGeom prst="rect">
                <a:avLst/>
              </a:prstGeom>
            </p:spPr>
            <p:txBody>
              <a:bodyPr wrap="square">
                <a:spAutoFit/>
              </a:bodyPr>
              <a:lstStyle/>
              <a:p>
                <a:r>
                  <a:rPr lang="zh-CN" altLang="en-US" sz="2400" b="0" dirty="0">
                    <a:latin typeface="Microsoft YaHei" panose="020B0503020204020204" pitchFamily="34" charset="-122"/>
                    <a:ea typeface="Microsoft YaHei" panose="020B0503020204020204" pitchFamily="34" charset="-122"/>
                  </a:rPr>
                  <a:t>只需要知道</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𝐵𝐸𝑄</m:t>
                        </m:r>
                      </m:sub>
                    </m:sSub>
                    <m:r>
                      <a:rPr lang="zh-CN" altLang="en-US" sz="2400" b="0" i="1">
                        <a:latin typeface="Cambria Math" panose="02040503050406030204" pitchFamily="18" charset="0"/>
                      </a:rPr>
                      <m:t>和</m:t>
                    </m:r>
                    <m:r>
                      <a:rPr lang="zh-CN" altLang="en-US" sz="2400" b="0" i="1" smtClean="0">
                        <a:latin typeface="Cambria Math" panose="02040503050406030204" pitchFamily="18" charset="0"/>
                      </a:rPr>
                      <m:t>𝛽</m:t>
                    </m:r>
                  </m:oMath>
                </a14:m>
                <a:r>
                  <a:rPr lang="zh-CN" altLang="en-US" sz="2400" dirty="0">
                    <a:latin typeface="Microsoft YaHei" panose="020B0503020204020204" pitchFamily="34" charset="-122"/>
                    <a:ea typeface="Microsoft YaHei" panose="020B0503020204020204" pitchFamily="34" charset="-122"/>
                  </a:rPr>
                  <a:t>即可：</a:t>
                </a:r>
                <a:endParaRPr lang="en-US" altLang="zh-CN" sz="2400" dirty="0">
                  <a:latin typeface="Microsoft YaHei" panose="020B0503020204020204" pitchFamily="34" charset="-122"/>
                  <a:ea typeface="Microsoft YaHei" panose="020B0503020204020204" pitchFamily="34" charset="-122"/>
                </a:endParaRPr>
              </a:p>
            </p:txBody>
          </p:sp>
        </mc:Choice>
        <mc:Fallback xmlns="">
          <p:sp>
            <p:nvSpPr>
              <p:cNvPr id="35" name="矩形 34">
                <a:extLst>
                  <a:ext uri="{FF2B5EF4-FFF2-40B4-BE49-F238E27FC236}">
                    <a16:creationId xmlns:a16="http://schemas.microsoft.com/office/drawing/2014/main" id="{6B6AA5F1-E904-292B-58C2-32D88D1EF730}"/>
                  </a:ext>
                </a:extLst>
              </p:cNvPr>
              <p:cNvSpPr>
                <a:spLocks noRot="1" noChangeAspect="1" noMove="1" noResize="1" noEditPoints="1" noAdjustHandles="1" noChangeArrowheads="1" noChangeShapeType="1" noTextEdit="1"/>
              </p:cNvSpPr>
              <p:nvPr/>
            </p:nvSpPr>
            <p:spPr>
              <a:xfrm>
                <a:off x="5701080" y="3862041"/>
                <a:ext cx="4339370" cy="487762"/>
              </a:xfrm>
              <a:prstGeom prst="rect">
                <a:avLst/>
              </a:prstGeom>
              <a:blipFill>
                <a:blip r:embed="rId4"/>
                <a:stretch>
                  <a:fillRect l="-2041" t="-10256" b="-23077"/>
                </a:stretch>
              </a:blipFill>
            </p:spPr>
            <p:txBody>
              <a:bodyPr/>
              <a:lstStyle/>
              <a:p>
                <a:r>
                  <a:rPr lang="zh-CN" altLang="en-US">
                    <a:noFill/>
                  </a:rPr>
                  <a:t> </a:t>
                </a:r>
              </a:p>
            </p:txBody>
          </p:sp>
        </mc:Fallback>
      </mc:AlternateContent>
      <p:pic>
        <p:nvPicPr>
          <p:cNvPr id="36" name="图片 35">
            <a:extLst>
              <a:ext uri="{FF2B5EF4-FFF2-40B4-BE49-F238E27FC236}">
                <a16:creationId xmlns:a16="http://schemas.microsoft.com/office/drawing/2014/main" id="{E7182832-361D-B8C9-9E32-082B339462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8452" y="3874912"/>
            <a:ext cx="1292628" cy="1292628"/>
          </a:xfrm>
          <a:prstGeom prst="rect">
            <a:avLst/>
          </a:prstGeom>
        </p:spPr>
      </p:pic>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45095273-DD93-6BAA-4283-57698B85485A}"/>
                  </a:ext>
                </a:extLst>
              </p:cNvPr>
              <p:cNvSpPr/>
              <p:nvPr/>
            </p:nvSpPr>
            <p:spPr>
              <a:xfrm>
                <a:off x="5791978" y="4427695"/>
                <a:ext cx="3173417" cy="733855"/>
              </a:xfrm>
              <a:prstGeom prst="rect">
                <a:avLst/>
              </a:prstGeom>
            </p:spPr>
            <p:txBody>
              <a:bodyPr wrap="square">
                <a:spAutoFit/>
              </a:bodyPr>
              <a:lstStyle/>
              <a:p>
                <a:pPr marL="342900" indent="-342900">
                  <a:buFont typeface="Wingdings" panose="05000000000000000000" pitchFamily="2" charset="2"/>
                  <a:buChar char="ü"/>
                </a:pP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𝐵𝐸𝑄</m:t>
                        </m:r>
                      </m:sub>
                    </m:sSub>
                    <m:r>
                      <a:rPr lang="zh-CN" altLang="en-US" sz="2000" i="1">
                        <a:latin typeface="Cambria Math" panose="02040503050406030204" pitchFamily="18" charset="0"/>
                      </a:rPr>
                      <m:t>在</m:t>
                    </m:r>
                  </m:oMath>
                </a14:m>
                <a:r>
                  <a:rPr lang="zh-CN" altLang="en-US" sz="2000" dirty="0">
                    <a:latin typeface="Microsoft YaHei" panose="020B0503020204020204" pitchFamily="34" charset="-122"/>
                    <a:ea typeface="Microsoft YaHei" panose="020B0503020204020204" pitchFamily="34" charset="-122"/>
                  </a:rPr>
                  <a:t>导通时基本不变</a:t>
                </a:r>
                <a:endParaRPr lang="en-US" altLang="zh-CN" sz="2000" dirty="0">
                  <a:latin typeface="Microsoft YaHei" panose="020B0503020204020204" pitchFamily="34" charset="-122"/>
                  <a:ea typeface="Microsoft YaHei" panose="020B0503020204020204" pitchFamily="34" charset="-122"/>
                </a:endParaRPr>
              </a:p>
              <a:p>
                <a:pPr marL="342900" indent="-342900">
                  <a:buFont typeface="Wingdings" panose="05000000000000000000" pitchFamily="2" charset="2"/>
                  <a:buChar char="ü"/>
                </a:pPr>
                <a14:m>
                  <m:oMath xmlns:m="http://schemas.openxmlformats.org/officeDocument/2006/math">
                    <m:r>
                      <a:rPr lang="zh-CN" altLang="en-US" sz="2000" b="0" i="1" smtClean="0">
                        <a:latin typeface="Cambria Math" panose="02040503050406030204" pitchFamily="18" charset="0"/>
                      </a:rPr>
                      <m:t>𝛽</m:t>
                    </m:r>
                  </m:oMath>
                </a14:m>
                <a:r>
                  <a:rPr lang="zh-CN" altLang="en-US" sz="2000" dirty="0">
                    <a:latin typeface="Microsoft YaHei" panose="020B0503020204020204" pitchFamily="34" charset="-122"/>
                    <a:ea typeface="Microsoft YaHei" panose="020B0503020204020204" pitchFamily="34" charset="-122"/>
                  </a:rPr>
                  <a:t>在放大区基本为常数</a:t>
                </a:r>
              </a:p>
            </p:txBody>
          </p:sp>
        </mc:Choice>
        <mc:Fallback xmlns="">
          <p:sp>
            <p:nvSpPr>
              <p:cNvPr id="37" name="矩形 36">
                <a:extLst>
                  <a:ext uri="{FF2B5EF4-FFF2-40B4-BE49-F238E27FC236}">
                    <a16:creationId xmlns:a16="http://schemas.microsoft.com/office/drawing/2014/main" id="{45095273-DD93-6BAA-4283-57698B85485A}"/>
                  </a:ext>
                </a:extLst>
              </p:cNvPr>
              <p:cNvSpPr>
                <a:spLocks noRot="1" noChangeAspect="1" noMove="1" noResize="1" noEditPoints="1" noAdjustHandles="1" noChangeArrowheads="1" noChangeShapeType="1" noTextEdit="1"/>
              </p:cNvSpPr>
              <p:nvPr/>
            </p:nvSpPr>
            <p:spPr>
              <a:xfrm>
                <a:off x="5791978" y="4427695"/>
                <a:ext cx="3173417" cy="733855"/>
              </a:xfrm>
              <a:prstGeom prst="rect">
                <a:avLst/>
              </a:prstGeom>
              <a:blipFill>
                <a:blip r:embed="rId6"/>
                <a:stretch>
                  <a:fillRect l="-1594" t="-3390" b="-135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5641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2470C-5587-6496-7F19-97F4E77B020E}"/>
              </a:ext>
            </a:extLst>
          </p:cNvPr>
          <p:cNvSpPr>
            <a:spLocks noGrp="1"/>
          </p:cNvSpPr>
          <p:nvPr>
            <p:ph type="title"/>
          </p:nvPr>
        </p:nvSpPr>
        <p:spPr/>
        <p:txBody>
          <a:bodyPr>
            <a:normAutofit fontScale="90000"/>
          </a:bodyPr>
          <a:lstStyle/>
          <a:p>
            <a:r>
              <a:rPr kumimoji="1" lang="zh-CN" altLang="en-US" dirty="0"/>
              <a:t>等效电路法动态分析</a:t>
            </a:r>
          </a:p>
        </p:txBody>
      </p:sp>
      <p:sp>
        <p:nvSpPr>
          <p:cNvPr id="4" name="页脚占位符 3">
            <a:extLst>
              <a:ext uri="{FF2B5EF4-FFF2-40B4-BE49-F238E27FC236}">
                <a16:creationId xmlns:a16="http://schemas.microsoft.com/office/drawing/2014/main" id="{4D9D9E60-ED9C-3F1B-7264-44AF2C8A16E7}"/>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F774B7BF-51BD-70DE-127C-2B6E4E7260E4}"/>
              </a:ext>
            </a:extLst>
          </p:cNvPr>
          <p:cNvSpPr>
            <a:spLocks noGrp="1"/>
          </p:cNvSpPr>
          <p:nvPr>
            <p:ph type="sldNum" sz="quarter" idx="12"/>
          </p:nvPr>
        </p:nvSpPr>
        <p:spPr/>
        <p:txBody>
          <a:bodyPr/>
          <a:lstStyle/>
          <a:p>
            <a:fld id="{9E260BC5-5BF3-8746-862B-DC45E9CAA88B}" type="slidenum">
              <a:rPr lang="en-US" smtClean="0"/>
              <a:pPr/>
              <a:t>26</a:t>
            </a:fld>
            <a:r>
              <a:rPr lang="en-US" altLang="zh-CN" dirty="0"/>
              <a:t>/33</a:t>
            </a:r>
            <a:endParaRPr lang="en-US" dirty="0"/>
          </a:p>
        </p:txBody>
      </p:sp>
      <p:pic>
        <p:nvPicPr>
          <p:cNvPr id="10" name="图片 9">
            <a:extLst>
              <a:ext uri="{FF2B5EF4-FFF2-40B4-BE49-F238E27FC236}">
                <a16:creationId xmlns:a16="http://schemas.microsoft.com/office/drawing/2014/main" id="{AF83D781-01E2-AFCC-500E-3E7699A30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892" y="2132856"/>
            <a:ext cx="2000122" cy="2000122"/>
          </a:xfrm>
          <a:prstGeom prst="rect">
            <a:avLst/>
          </a:prstGeom>
        </p:spPr>
      </p:pic>
      <p:grpSp>
        <p:nvGrpSpPr>
          <p:cNvPr id="11" name="组合 10">
            <a:extLst>
              <a:ext uri="{FF2B5EF4-FFF2-40B4-BE49-F238E27FC236}">
                <a16:creationId xmlns:a16="http://schemas.microsoft.com/office/drawing/2014/main" id="{707F5B6C-4D58-7374-192D-2824AEBD5F04}"/>
              </a:ext>
            </a:extLst>
          </p:cNvPr>
          <p:cNvGrpSpPr/>
          <p:nvPr/>
        </p:nvGrpSpPr>
        <p:grpSpPr>
          <a:xfrm>
            <a:off x="3029688" y="1664804"/>
            <a:ext cx="3406886" cy="3416074"/>
            <a:chOff x="3029688" y="1664804"/>
            <a:chExt cx="3406886" cy="3416074"/>
          </a:xfrm>
        </p:grpSpPr>
        <p:cxnSp>
          <p:nvCxnSpPr>
            <p:cNvPr id="12" name="直接连接符 8">
              <a:extLst>
                <a:ext uri="{FF2B5EF4-FFF2-40B4-BE49-F238E27FC236}">
                  <a16:creationId xmlns:a16="http://schemas.microsoft.com/office/drawing/2014/main" id="{AC369C79-40AE-BEAA-3DC4-414CBD8A4E45}"/>
                </a:ext>
              </a:extLst>
            </p:cNvPr>
            <p:cNvCxnSpPr/>
            <p:nvPr/>
          </p:nvCxnSpPr>
          <p:spPr>
            <a:xfrm>
              <a:off x="3095836" y="1664804"/>
              <a:ext cx="2916324" cy="28083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9">
              <a:extLst>
                <a:ext uri="{FF2B5EF4-FFF2-40B4-BE49-F238E27FC236}">
                  <a16:creationId xmlns:a16="http://schemas.microsoft.com/office/drawing/2014/main" id="{CF3943D1-5C3D-A8C0-A87F-0CD540828835}"/>
                </a:ext>
              </a:extLst>
            </p:cNvPr>
            <p:cNvCxnSpPr/>
            <p:nvPr/>
          </p:nvCxnSpPr>
          <p:spPr>
            <a:xfrm flipV="1">
              <a:off x="3095836" y="1772816"/>
              <a:ext cx="3096344" cy="27003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69E1739-5693-FE29-27A0-C6C1589CD57E}"/>
                </a:ext>
              </a:extLst>
            </p:cNvPr>
            <p:cNvSpPr txBox="1"/>
            <p:nvPr/>
          </p:nvSpPr>
          <p:spPr>
            <a:xfrm>
              <a:off x="3029688" y="4557658"/>
              <a:ext cx="3406886" cy="523220"/>
            </a:xfrm>
            <a:prstGeom prst="rect">
              <a:avLst/>
            </a:prstGeom>
            <a:noFill/>
          </p:spPr>
          <p:txBody>
            <a:bodyPr wrap="square" rtlCol="0">
              <a:spAutoFit/>
            </a:bodyPr>
            <a:lstStyle/>
            <a:p>
              <a:r>
                <a:rPr lang="zh-CN" altLang="en-US" sz="2800" dirty="0">
                  <a:latin typeface="Microsoft YaHei" panose="020B0503020204020204" pitchFamily="34" charset="-122"/>
                  <a:ea typeface="Microsoft YaHei" panose="020B0503020204020204" pitchFamily="34" charset="-122"/>
                </a:rPr>
                <a:t>下一个</a:t>
              </a:r>
              <a:r>
                <a:rPr lang="en-US" altLang="zh-CN" sz="2800" dirty="0">
                  <a:latin typeface="Microsoft YaHei" panose="020B0503020204020204" pitchFamily="34" charset="-122"/>
                  <a:ea typeface="Microsoft YaHei" panose="020B0503020204020204" pitchFamily="34" charset="-122"/>
                </a:rPr>
                <a:t>PPT</a:t>
              </a:r>
              <a:r>
                <a:rPr lang="zh-CN" altLang="en-US" sz="2800" dirty="0">
                  <a:latin typeface="Microsoft YaHei" panose="020B0503020204020204" pitchFamily="34" charset="-122"/>
                  <a:ea typeface="Microsoft YaHei" panose="020B0503020204020204" pitchFamily="34" charset="-122"/>
                </a:rPr>
                <a:t>重点讲！</a:t>
              </a:r>
            </a:p>
          </p:txBody>
        </p:sp>
      </p:grpSp>
    </p:spTree>
    <p:extLst>
      <p:ext uri="{BB962C8B-B14F-4D97-AF65-F5344CB8AC3E}">
        <p14:creationId xmlns:p14="http://schemas.microsoft.com/office/powerpoint/2010/main" val="100296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0E1C0-7567-3B86-4998-D9E29C33B01C}"/>
              </a:ext>
            </a:extLst>
          </p:cNvPr>
          <p:cNvSpPr>
            <a:spLocks noGrp="1"/>
          </p:cNvSpPr>
          <p:nvPr>
            <p:ph type="title"/>
          </p:nvPr>
        </p:nvSpPr>
        <p:spPr/>
        <p:txBody>
          <a:bodyPr>
            <a:normAutofit fontScale="90000"/>
          </a:bodyPr>
          <a:lstStyle/>
          <a:p>
            <a:r>
              <a:rPr lang="zh-CN" altLang="en-US" dirty="0"/>
              <a:t>例</a:t>
            </a:r>
            <a:r>
              <a:rPr lang="en-US" altLang="zh-CN" dirty="0"/>
              <a:t>2</a:t>
            </a:r>
            <a:r>
              <a:rPr lang="zh-CN" altLang="en-US" dirty="0"/>
              <a:t>：共集极放大电路</a:t>
            </a:r>
            <a:endParaRPr kumimoji="1" lang="zh-CN" altLang="en-US" dirty="0"/>
          </a:p>
        </p:txBody>
      </p:sp>
      <p:sp>
        <p:nvSpPr>
          <p:cNvPr id="4" name="页脚占位符 3">
            <a:extLst>
              <a:ext uri="{FF2B5EF4-FFF2-40B4-BE49-F238E27FC236}">
                <a16:creationId xmlns:a16="http://schemas.microsoft.com/office/drawing/2014/main" id="{CA97DD66-0F6F-5C6A-44AF-2FB2E39B59DD}"/>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44FA3DF6-1291-1FE5-3697-12FEBB256965}"/>
              </a:ext>
            </a:extLst>
          </p:cNvPr>
          <p:cNvSpPr>
            <a:spLocks noGrp="1"/>
          </p:cNvSpPr>
          <p:nvPr>
            <p:ph type="sldNum" sz="quarter" idx="12"/>
          </p:nvPr>
        </p:nvSpPr>
        <p:spPr/>
        <p:txBody>
          <a:bodyPr/>
          <a:lstStyle/>
          <a:p>
            <a:fld id="{9E260BC5-5BF3-8746-862B-DC45E9CAA88B}" type="slidenum">
              <a:rPr lang="en-US" smtClean="0"/>
              <a:pPr/>
              <a:t>27</a:t>
            </a:fld>
            <a:r>
              <a:rPr lang="en-US" altLang="zh-CN" dirty="0"/>
              <a:t>/33</a:t>
            </a:r>
            <a:endParaRPr lang="en-US" dirty="0"/>
          </a:p>
        </p:txBody>
      </p:sp>
      <p:graphicFrame>
        <p:nvGraphicFramePr>
          <p:cNvPr id="6" name="Object 4">
            <a:extLst>
              <a:ext uri="{FF2B5EF4-FFF2-40B4-BE49-F238E27FC236}">
                <a16:creationId xmlns:a16="http://schemas.microsoft.com/office/drawing/2014/main" id="{085C3F65-D4F8-05C3-246C-11FE55144AC2}"/>
              </a:ext>
            </a:extLst>
          </p:cNvPr>
          <p:cNvGraphicFramePr>
            <a:graphicFrameLocks noChangeAspect="1"/>
          </p:cNvGraphicFramePr>
          <p:nvPr>
            <p:extLst>
              <p:ext uri="{D42A27DB-BD31-4B8C-83A1-F6EECF244321}">
                <p14:modId xmlns:p14="http://schemas.microsoft.com/office/powerpoint/2010/main" val="1668384637"/>
              </p:ext>
            </p:extLst>
          </p:nvPr>
        </p:nvGraphicFramePr>
        <p:xfrm>
          <a:off x="4749524" y="4371167"/>
          <a:ext cx="2532062" cy="808038"/>
        </p:xfrm>
        <a:graphic>
          <a:graphicData uri="http://schemas.openxmlformats.org/presentationml/2006/ole">
            <mc:AlternateContent xmlns:mc="http://schemas.openxmlformats.org/markup-compatibility/2006">
              <mc:Choice xmlns:v="urn:schemas-microsoft-com:vml" Requires="v">
                <p:oleObj name="公式" r:id="rId3" imgW="1345616" imgH="444307" progId="Equation.3">
                  <p:embed/>
                </p:oleObj>
              </mc:Choice>
              <mc:Fallback>
                <p:oleObj name="公式" r:id="rId3" imgW="1345616" imgH="444307" progId="Equation.3">
                  <p:embed/>
                  <p:pic>
                    <p:nvPicPr>
                      <p:cNvPr id="7444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9524" y="4371167"/>
                        <a:ext cx="2532062"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6E0692E8-3EC8-F3BB-6F92-2C6C49EB9909}"/>
              </a:ext>
            </a:extLst>
          </p:cNvPr>
          <p:cNvGraphicFramePr>
            <a:graphicFrameLocks noChangeAspect="1"/>
          </p:cNvGraphicFramePr>
          <p:nvPr>
            <p:extLst>
              <p:ext uri="{D42A27DB-BD31-4B8C-83A1-F6EECF244321}">
                <p14:modId xmlns:p14="http://schemas.microsoft.com/office/powerpoint/2010/main" val="3845205141"/>
              </p:ext>
            </p:extLst>
          </p:nvPr>
        </p:nvGraphicFramePr>
        <p:xfrm>
          <a:off x="7522886" y="4545792"/>
          <a:ext cx="1387475" cy="438150"/>
        </p:xfrm>
        <a:graphic>
          <a:graphicData uri="http://schemas.openxmlformats.org/presentationml/2006/ole">
            <mc:AlternateContent xmlns:mc="http://schemas.openxmlformats.org/markup-compatibility/2006">
              <mc:Choice xmlns:v="urn:schemas-microsoft-com:vml" Requires="v">
                <p:oleObj name="公式" r:id="rId5" imgW="736600" imgH="241300" progId="Equation.3">
                  <p:embed/>
                </p:oleObj>
              </mc:Choice>
              <mc:Fallback>
                <p:oleObj name="公式" r:id="rId5" imgW="736600" imgH="241300" progId="Equation.3">
                  <p:embed/>
                  <p:pic>
                    <p:nvPicPr>
                      <p:cNvPr id="74445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22886" y="4545792"/>
                        <a:ext cx="138747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6">
            <a:extLst>
              <a:ext uri="{FF2B5EF4-FFF2-40B4-BE49-F238E27FC236}">
                <a16:creationId xmlns:a16="http://schemas.microsoft.com/office/drawing/2014/main" id="{5D2917F1-C14A-04D1-062D-9A7F775B8447}"/>
              </a:ext>
            </a:extLst>
          </p:cNvPr>
          <p:cNvGraphicFramePr>
            <a:graphicFrameLocks noChangeAspect="1"/>
          </p:cNvGraphicFramePr>
          <p:nvPr>
            <p:extLst>
              <p:ext uri="{D42A27DB-BD31-4B8C-83A1-F6EECF244321}">
                <p14:modId xmlns:p14="http://schemas.microsoft.com/office/powerpoint/2010/main" val="2887264485"/>
              </p:ext>
            </p:extLst>
          </p:nvPr>
        </p:nvGraphicFramePr>
        <p:xfrm>
          <a:off x="4749524" y="5415742"/>
          <a:ext cx="2078037" cy="438150"/>
        </p:xfrm>
        <a:graphic>
          <a:graphicData uri="http://schemas.openxmlformats.org/presentationml/2006/ole">
            <mc:AlternateContent xmlns:mc="http://schemas.openxmlformats.org/markup-compatibility/2006">
              <mc:Choice xmlns:v="urn:schemas-microsoft-com:vml" Requires="v">
                <p:oleObj name="公式" r:id="rId7" imgW="1104900" imgH="241300" progId="Equation.3">
                  <p:embed/>
                </p:oleObj>
              </mc:Choice>
              <mc:Fallback>
                <p:oleObj name="公式" r:id="rId7" imgW="1104900" imgH="241300" progId="Equation.3">
                  <p:embed/>
                  <p:pic>
                    <p:nvPicPr>
                      <p:cNvPr id="744454"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49524" y="5415742"/>
                        <a:ext cx="2078037"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7">
            <a:extLst>
              <a:ext uri="{FF2B5EF4-FFF2-40B4-BE49-F238E27FC236}">
                <a16:creationId xmlns:a16="http://schemas.microsoft.com/office/drawing/2014/main" id="{699667DA-0F18-E649-02C7-8C232F41CCB0}"/>
              </a:ext>
            </a:extLst>
          </p:cNvPr>
          <p:cNvGraphicFramePr>
            <a:graphicFrameLocks noChangeAspect="1"/>
          </p:cNvGraphicFramePr>
          <p:nvPr>
            <p:extLst>
              <p:ext uri="{D42A27DB-BD31-4B8C-83A1-F6EECF244321}">
                <p14:modId xmlns:p14="http://schemas.microsoft.com/office/powerpoint/2010/main" val="321351520"/>
              </p:ext>
            </p:extLst>
          </p:nvPr>
        </p:nvGraphicFramePr>
        <p:xfrm>
          <a:off x="7126011" y="5444317"/>
          <a:ext cx="1938338" cy="439738"/>
        </p:xfrm>
        <a:graphic>
          <a:graphicData uri="http://schemas.openxmlformats.org/presentationml/2006/ole">
            <mc:AlternateContent xmlns:mc="http://schemas.openxmlformats.org/markup-compatibility/2006">
              <mc:Choice xmlns:v="urn:schemas-microsoft-com:vml" Requires="v">
                <p:oleObj name="公式" r:id="rId9" imgW="1028254" imgH="241195" progId="Equation.3">
                  <p:embed/>
                </p:oleObj>
              </mc:Choice>
              <mc:Fallback>
                <p:oleObj name="公式" r:id="rId9" imgW="1028254" imgH="241195" progId="Equation.3">
                  <p:embed/>
                  <p:pic>
                    <p:nvPicPr>
                      <p:cNvPr id="744455"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6011" y="5444317"/>
                        <a:ext cx="1938338"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0" name="Picture 10">
            <a:extLst>
              <a:ext uri="{FF2B5EF4-FFF2-40B4-BE49-F238E27FC236}">
                <a16:creationId xmlns:a16="http://schemas.microsoft.com/office/drawing/2014/main" id="{908E1DD2-E084-1EE9-2599-44C59F626EE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84549" y="1296130"/>
            <a:ext cx="2284413"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3">
            <a:extLst>
              <a:ext uri="{FF2B5EF4-FFF2-40B4-BE49-F238E27FC236}">
                <a16:creationId xmlns:a16="http://schemas.microsoft.com/office/drawing/2014/main" id="{E3811B16-96FB-C27B-B9FB-A1B0EEBFD6A0}"/>
              </a:ext>
            </a:extLst>
          </p:cNvPr>
          <p:cNvSpPr>
            <a:spLocks noChangeArrowheads="1"/>
          </p:cNvSpPr>
          <p:nvPr/>
        </p:nvSpPr>
        <p:spPr bwMode="auto">
          <a:xfrm>
            <a:off x="5582874" y="3564382"/>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直流通路</a:t>
            </a:r>
          </a:p>
        </p:txBody>
      </p:sp>
      <p:pic>
        <p:nvPicPr>
          <p:cNvPr id="12" name="Picture 9">
            <a:extLst>
              <a:ext uri="{FF2B5EF4-FFF2-40B4-BE49-F238E27FC236}">
                <a16:creationId xmlns:a16="http://schemas.microsoft.com/office/drawing/2014/main" id="{3201E6FF-C185-6D13-C01D-4F800D68582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7524" y="1236855"/>
            <a:ext cx="424973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581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147294-1C68-1FCC-DB85-185C7EC526FA}"/>
              </a:ext>
            </a:extLst>
          </p:cNvPr>
          <p:cNvSpPr>
            <a:spLocks noGrp="1"/>
          </p:cNvSpPr>
          <p:nvPr>
            <p:ph type="title"/>
          </p:nvPr>
        </p:nvSpPr>
        <p:spPr/>
        <p:txBody>
          <a:bodyPr>
            <a:normAutofit fontScale="90000"/>
          </a:bodyPr>
          <a:lstStyle/>
          <a:p>
            <a:r>
              <a:rPr lang="zh-CN" altLang="en-US" dirty="0"/>
              <a:t>例</a:t>
            </a:r>
            <a:r>
              <a:rPr lang="en-US" altLang="zh-CN" dirty="0"/>
              <a:t>2</a:t>
            </a:r>
            <a:r>
              <a:rPr lang="zh-CN" altLang="en-US" dirty="0"/>
              <a:t>：共集极放大电路</a:t>
            </a:r>
            <a:endParaRPr kumimoji="1" lang="zh-CN" altLang="en-US" dirty="0"/>
          </a:p>
        </p:txBody>
      </p:sp>
      <p:sp>
        <p:nvSpPr>
          <p:cNvPr id="4" name="页脚占位符 3">
            <a:extLst>
              <a:ext uri="{FF2B5EF4-FFF2-40B4-BE49-F238E27FC236}">
                <a16:creationId xmlns:a16="http://schemas.microsoft.com/office/drawing/2014/main" id="{E1FA06D2-4FC7-F784-862E-0F9294C490FF}"/>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C6B22F24-450A-B776-5685-5949242B28A9}"/>
              </a:ext>
            </a:extLst>
          </p:cNvPr>
          <p:cNvSpPr>
            <a:spLocks noGrp="1"/>
          </p:cNvSpPr>
          <p:nvPr>
            <p:ph type="sldNum" sz="quarter" idx="12"/>
          </p:nvPr>
        </p:nvSpPr>
        <p:spPr/>
        <p:txBody>
          <a:bodyPr/>
          <a:lstStyle/>
          <a:p>
            <a:fld id="{9E260BC5-5BF3-8746-862B-DC45E9CAA88B}" type="slidenum">
              <a:rPr lang="en-US" smtClean="0"/>
              <a:pPr/>
              <a:t>28</a:t>
            </a:fld>
            <a:r>
              <a:rPr lang="en-US" altLang="zh-CN" dirty="0"/>
              <a:t>/33</a:t>
            </a:r>
            <a:endParaRPr lang="en-US" dirty="0"/>
          </a:p>
        </p:txBody>
      </p:sp>
      <p:pic>
        <p:nvPicPr>
          <p:cNvPr id="6" name="Picture 9">
            <a:extLst>
              <a:ext uri="{FF2B5EF4-FFF2-40B4-BE49-F238E27FC236}">
                <a16:creationId xmlns:a16="http://schemas.microsoft.com/office/drawing/2014/main" id="{5DEA1B04-5BDF-72CB-1BBD-4581F11CA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524" y="1236855"/>
            <a:ext cx="424973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4">
            <a:extLst>
              <a:ext uri="{FF2B5EF4-FFF2-40B4-BE49-F238E27FC236}">
                <a16:creationId xmlns:a16="http://schemas.microsoft.com/office/drawing/2014/main" id="{D24E9972-D291-5C0A-043E-02BEFB9626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7862" y="1236855"/>
            <a:ext cx="3776119"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5">
            <a:extLst>
              <a:ext uri="{FF2B5EF4-FFF2-40B4-BE49-F238E27FC236}">
                <a16:creationId xmlns:a16="http://schemas.microsoft.com/office/drawing/2014/main" id="{B85B696A-77EB-70E1-16AF-C2FB01B0BD2B}"/>
              </a:ext>
            </a:extLst>
          </p:cNvPr>
          <p:cNvSpPr>
            <a:spLocks noChangeArrowheads="1"/>
          </p:cNvSpPr>
          <p:nvPr/>
        </p:nvSpPr>
        <p:spPr bwMode="auto">
          <a:xfrm>
            <a:off x="5572769" y="1325754"/>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交流通路</a:t>
            </a:r>
          </a:p>
        </p:txBody>
      </p:sp>
      <p:sp>
        <p:nvSpPr>
          <p:cNvPr id="9" name="文本框 8">
            <a:extLst>
              <a:ext uri="{FF2B5EF4-FFF2-40B4-BE49-F238E27FC236}">
                <a16:creationId xmlns:a16="http://schemas.microsoft.com/office/drawing/2014/main" id="{52EF1C77-0A1E-FDA5-720E-8C286F57B0AC}"/>
              </a:ext>
            </a:extLst>
          </p:cNvPr>
          <p:cNvSpPr txBox="1"/>
          <p:nvPr/>
        </p:nvSpPr>
        <p:spPr>
          <a:xfrm>
            <a:off x="5481582" y="4329100"/>
            <a:ext cx="3406886" cy="523220"/>
          </a:xfrm>
          <a:prstGeom prst="rect">
            <a:avLst/>
          </a:prstGeom>
          <a:noFill/>
        </p:spPr>
        <p:txBody>
          <a:bodyPr wrap="square" rtlCol="0">
            <a:spAutoFit/>
          </a:bodyPr>
          <a:lstStyle/>
          <a:p>
            <a:r>
              <a:rPr lang="zh-CN" altLang="en-US" sz="2800" dirty="0">
                <a:latin typeface="Microsoft YaHei" panose="020B0503020204020204" pitchFamily="34" charset="-122"/>
                <a:ea typeface="Microsoft YaHei" panose="020B0503020204020204" pitchFamily="34" charset="-122"/>
              </a:rPr>
              <a:t>下一个</a:t>
            </a:r>
            <a:r>
              <a:rPr lang="en-US" altLang="zh-CN" sz="2800" dirty="0">
                <a:latin typeface="Microsoft YaHei" panose="020B0503020204020204" pitchFamily="34" charset="-122"/>
                <a:ea typeface="Microsoft YaHei" panose="020B0503020204020204" pitchFamily="34" charset="-122"/>
              </a:rPr>
              <a:t>PPT</a:t>
            </a:r>
            <a:r>
              <a:rPr lang="zh-CN" altLang="en-US" sz="2800" dirty="0">
                <a:latin typeface="Microsoft YaHei" panose="020B0503020204020204" pitchFamily="34" charset="-122"/>
                <a:ea typeface="Microsoft YaHei" panose="020B0503020204020204" pitchFamily="34" charset="-122"/>
              </a:rPr>
              <a:t>重点讲！</a:t>
            </a:r>
          </a:p>
        </p:txBody>
      </p:sp>
    </p:spTree>
    <p:extLst>
      <p:ext uri="{BB962C8B-B14F-4D97-AF65-F5344CB8AC3E}">
        <p14:creationId xmlns:p14="http://schemas.microsoft.com/office/powerpoint/2010/main" val="4079598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105BFB-E935-8637-165A-6F19793C88D9}"/>
              </a:ext>
            </a:extLst>
          </p:cNvPr>
          <p:cNvSpPr>
            <a:spLocks noGrp="1"/>
          </p:cNvSpPr>
          <p:nvPr>
            <p:ph type="title"/>
          </p:nvPr>
        </p:nvSpPr>
        <p:spPr/>
        <p:txBody>
          <a:bodyPr>
            <a:normAutofit fontScale="90000"/>
          </a:bodyPr>
          <a:lstStyle/>
          <a:p>
            <a:r>
              <a:rPr lang="zh-CN" altLang="en-US" dirty="0"/>
              <a:t>例</a:t>
            </a:r>
            <a:r>
              <a:rPr lang="en-US" altLang="zh-CN" dirty="0"/>
              <a:t>3</a:t>
            </a:r>
            <a:r>
              <a:rPr lang="zh-CN" altLang="en-US" dirty="0">
                <a:latin typeface="Times New Roman" panose="02020603050405020304" pitchFamily="18" charset="0"/>
                <a:cs typeface="Times New Roman" panose="02020603050405020304" pitchFamily="18" charset="0"/>
              </a:rPr>
              <a:t>：共射极放大电路 </a:t>
            </a:r>
            <a:endParaRPr kumimoji="1" lang="zh-CN" altLang="en-US" dirty="0"/>
          </a:p>
        </p:txBody>
      </p:sp>
      <p:sp>
        <p:nvSpPr>
          <p:cNvPr id="4" name="页脚占位符 3">
            <a:extLst>
              <a:ext uri="{FF2B5EF4-FFF2-40B4-BE49-F238E27FC236}">
                <a16:creationId xmlns:a16="http://schemas.microsoft.com/office/drawing/2014/main" id="{AA549B58-FCC0-4432-A658-B20B965F017B}"/>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CCA2E92B-BCAF-E555-9E3A-505C1507926D}"/>
              </a:ext>
            </a:extLst>
          </p:cNvPr>
          <p:cNvSpPr>
            <a:spLocks noGrp="1"/>
          </p:cNvSpPr>
          <p:nvPr>
            <p:ph type="sldNum" sz="quarter" idx="12"/>
          </p:nvPr>
        </p:nvSpPr>
        <p:spPr/>
        <p:txBody>
          <a:bodyPr/>
          <a:lstStyle/>
          <a:p>
            <a:fld id="{9E260BC5-5BF3-8746-862B-DC45E9CAA88B}" type="slidenum">
              <a:rPr lang="en-US" smtClean="0"/>
              <a:pPr/>
              <a:t>29</a:t>
            </a:fld>
            <a:r>
              <a:rPr lang="en-US" altLang="zh-CN" dirty="0"/>
              <a:t>/33</a:t>
            </a:r>
            <a:endParaRPr lang="en-US" dirty="0"/>
          </a:p>
        </p:txBody>
      </p:sp>
      <p:pic>
        <p:nvPicPr>
          <p:cNvPr id="6" name="Picture 33" descr="422">
            <a:extLst>
              <a:ext uri="{FF2B5EF4-FFF2-40B4-BE49-F238E27FC236}">
                <a16:creationId xmlns:a16="http://schemas.microsoft.com/office/drawing/2014/main" id="{66DD1456-C683-AECF-E6F4-6A11D7A9BE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4139" y="1124744"/>
            <a:ext cx="3858381" cy="2821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6" descr="421">
            <a:extLst>
              <a:ext uri="{FF2B5EF4-FFF2-40B4-BE49-F238E27FC236}">
                <a16:creationId xmlns:a16="http://schemas.microsoft.com/office/drawing/2014/main" id="{9D006D18-7E9E-9AE3-6B8D-80E2CE908E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516" y="2276872"/>
            <a:ext cx="4314825" cy="315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37D1CE25-4DEF-9C8A-032D-9F33CA5F83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6526" y="4061969"/>
            <a:ext cx="3463966" cy="236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8318C0AC-364F-C14A-65DA-F9355169D70F}"/>
              </a:ext>
            </a:extLst>
          </p:cNvPr>
          <p:cNvSpPr txBox="1"/>
          <p:nvPr/>
        </p:nvSpPr>
        <p:spPr>
          <a:xfrm>
            <a:off x="5400092" y="1433397"/>
            <a:ext cx="1620180" cy="369332"/>
          </a:xfrm>
          <a:prstGeom prst="rect">
            <a:avLst/>
          </a:prstGeom>
          <a:noFill/>
        </p:spPr>
        <p:txBody>
          <a:bodyPr wrap="square" rtlCol="0">
            <a:spAutoFit/>
          </a:bodyPr>
          <a:lstStyle/>
          <a:p>
            <a:r>
              <a:rPr lang="zh-CN" altLang="en-US" dirty="0">
                <a:latin typeface="+mj-ea"/>
                <a:ea typeface="+mj-ea"/>
              </a:rPr>
              <a:t>直流通路</a:t>
            </a:r>
          </a:p>
        </p:txBody>
      </p:sp>
      <p:sp>
        <p:nvSpPr>
          <p:cNvPr id="10" name="文本框 9">
            <a:extLst>
              <a:ext uri="{FF2B5EF4-FFF2-40B4-BE49-F238E27FC236}">
                <a16:creationId xmlns:a16="http://schemas.microsoft.com/office/drawing/2014/main" id="{FA299BE5-6942-6D01-388E-84B4EDA13A30}"/>
              </a:ext>
            </a:extLst>
          </p:cNvPr>
          <p:cNvSpPr txBox="1"/>
          <p:nvPr/>
        </p:nvSpPr>
        <p:spPr>
          <a:xfrm>
            <a:off x="5525987" y="4150685"/>
            <a:ext cx="1659038" cy="369332"/>
          </a:xfrm>
          <a:prstGeom prst="rect">
            <a:avLst/>
          </a:prstGeom>
          <a:noFill/>
        </p:spPr>
        <p:txBody>
          <a:bodyPr wrap="square" rtlCol="0">
            <a:spAutoFit/>
          </a:bodyPr>
          <a:lstStyle/>
          <a:p>
            <a:r>
              <a:rPr lang="zh-CN" altLang="en-US" dirty="0">
                <a:latin typeface="+mj-ea"/>
                <a:ea typeface="+mj-ea"/>
              </a:rPr>
              <a:t>交流通路</a:t>
            </a:r>
          </a:p>
        </p:txBody>
      </p:sp>
    </p:spTree>
    <p:extLst>
      <p:ext uri="{BB962C8B-B14F-4D97-AF65-F5344CB8AC3E}">
        <p14:creationId xmlns:p14="http://schemas.microsoft.com/office/powerpoint/2010/main" val="1294345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kern="0" dirty="0">
                <a:latin typeface="Microsoft YaHei" panose="020B0503020204020204" pitchFamily="34" charset="-122"/>
                <a:ea typeface="Microsoft YaHei" panose="020B0503020204020204" pitchFamily="34" charset="-122"/>
              </a:rPr>
              <a:t>模拟</a:t>
            </a:r>
            <a:r>
              <a:rPr lang="zh-CN" altLang="en-US" sz="2800" kern="0" dirty="0">
                <a:latin typeface="Microsoft YaHei" panose="020B0503020204020204" pitchFamily="34" charset="-122"/>
                <a:ea typeface="Microsoft YaHei" panose="020B0503020204020204" pitchFamily="34" charset="-122"/>
              </a:rPr>
              <a:t>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P183-184</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5.2.1</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b-d</a:t>
            </a:r>
            <a:r>
              <a:rPr lang="zh-CN" altLang="en-US" sz="2400" kern="0" dirty="0">
                <a:latin typeface="Microsoft YaHei" panose="020B0503020204020204" pitchFamily="34" charset="-122"/>
                <a:ea typeface="Microsoft YaHei" panose="020B0503020204020204" pitchFamily="34" charset="-122"/>
              </a:rPr>
              <a:t>图），</a:t>
            </a:r>
            <a:r>
              <a:rPr lang="en-US" altLang="zh-CN" sz="2400" kern="0" dirty="0">
                <a:latin typeface="Microsoft YaHei" panose="020B0503020204020204" pitchFamily="34" charset="-122"/>
                <a:ea typeface="Microsoft YaHei" panose="020B0503020204020204" pitchFamily="34" charset="-122"/>
              </a:rPr>
              <a:t>5.2.2</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5.2.3</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30</a:t>
            </a:fld>
            <a:r>
              <a:rPr lang="en-US" altLang="zh-CN" dirty="0"/>
              <a:t>/33</a:t>
            </a:r>
            <a:endParaRPr lang="en-US" dirty="0"/>
          </a:p>
        </p:txBody>
      </p:sp>
    </p:spTree>
    <p:extLst>
      <p:ext uri="{BB962C8B-B14F-4D97-AF65-F5344CB8AC3E}">
        <p14:creationId xmlns:p14="http://schemas.microsoft.com/office/powerpoint/2010/main" val="701391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C123D-62CB-78CA-A87E-9A039A1FF7AC}"/>
              </a:ext>
            </a:extLst>
          </p:cNvPr>
          <p:cNvSpPr>
            <a:spLocks noGrp="1"/>
          </p:cNvSpPr>
          <p:nvPr>
            <p:ph type="title"/>
          </p:nvPr>
        </p:nvSpPr>
        <p:spPr/>
        <p:txBody>
          <a:bodyPr>
            <a:normAutofit fontScale="90000"/>
          </a:bodyPr>
          <a:lstStyle/>
          <a:p>
            <a:r>
              <a:rPr lang="zh-CN" altLang="en-US" dirty="0"/>
              <a:t>补充：正弦波与电容</a:t>
            </a:r>
            <a:r>
              <a:rPr lang="en-US" altLang="zh-CN" dirty="0"/>
              <a:t>(1)</a:t>
            </a:r>
            <a:endParaRPr kumimoji="1" lang="zh-CN" altLang="en-US" dirty="0"/>
          </a:p>
        </p:txBody>
      </p:sp>
      <p:sp>
        <p:nvSpPr>
          <p:cNvPr id="4" name="页脚占位符 3">
            <a:extLst>
              <a:ext uri="{FF2B5EF4-FFF2-40B4-BE49-F238E27FC236}">
                <a16:creationId xmlns:a16="http://schemas.microsoft.com/office/drawing/2014/main" id="{21F8861A-3F3D-F8BE-BC1B-75656675C47D}"/>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7BB9F95D-6956-D65C-932D-87039C9CC313}"/>
              </a:ext>
            </a:extLst>
          </p:cNvPr>
          <p:cNvSpPr>
            <a:spLocks noGrp="1"/>
          </p:cNvSpPr>
          <p:nvPr>
            <p:ph type="sldNum" sz="quarter" idx="12"/>
          </p:nvPr>
        </p:nvSpPr>
        <p:spPr/>
        <p:txBody>
          <a:bodyPr/>
          <a:lstStyle/>
          <a:p>
            <a:fld id="{9E260BC5-5BF3-8746-862B-DC45E9CAA88B}" type="slidenum">
              <a:rPr lang="en-US" smtClean="0"/>
              <a:pPr/>
              <a:t>31</a:t>
            </a:fld>
            <a:r>
              <a:rPr lang="en-US" altLang="zh-CN" dirty="0"/>
              <a:t>/33</a:t>
            </a:r>
            <a:endParaRPr lang="en-US" dirty="0"/>
          </a:p>
        </p:txBody>
      </p:sp>
      <p:pic>
        <p:nvPicPr>
          <p:cNvPr id="6" name="Picture 9">
            <a:extLst>
              <a:ext uri="{FF2B5EF4-FFF2-40B4-BE49-F238E27FC236}">
                <a16:creationId xmlns:a16="http://schemas.microsoft.com/office/drawing/2014/main" id="{4FA38B36-173C-15BE-EEC4-C304C0EE9E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816" y="1882472"/>
            <a:ext cx="4136207" cy="280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8">
            <a:extLst>
              <a:ext uri="{FF2B5EF4-FFF2-40B4-BE49-F238E27FC236}">
                <a16:creationId xmlns:a16="http://schemas.microsoft.com/office/drawing/2014/main" id="{A813A010-7D7C-6C08-A35B-5495CC15A520}"/>
              </a:ext>
            </a:extLst>
          </p:cNvPr>
          <p:cNvPicPr>
            <a:picLocks noChangeAspect="1"/>
          </p:cNvPicPr>
          <p:nvPr/>
        </p:nvPicPr>
        <p:blipFill>
          <a:blip r:embed="rId3">
            <a:extLst>
              <a:ext uri="{28A0092B-C50C-407E-A947-70E740481C1C}">
                <a14:useLocalDpi xmlns:a14="http://schemas.microsoft.com/office/drawing/2010/main" val="0"/>
              </a:ext>
            </a:extLst>
          </a:blip>
          <a:srcRect l="4352" r="5711"/>
          <a:stretch>
            <a:fillRect/>
          </a:stretch>
        </p:blipFill>
        <p:spPr bwMode="auto">
          <a:xfrm>
            <a:off x="4384130" y="1158195"/>
            <a:ext cx="5514159" cy="273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圆角矩形 7">
            <a:extLst>
              <a:ext uri="{FF2B5EF4-FFF2-40B4-BE49-F238E27FC236}">
                <a16:creationId xmlns:a16="http://schemas.microsoft.com/office/drawing/2014/main" id="{6E30B9C0-8E4A-814A-62EE-B961E3D74E44}"/>
              </a:ext>
            </a:extLst>
          </p:cNvPr>
          <p:cNvSpPr/>
          <p:nvPr/>
        </p:nvSpPr>
        <p:spPr>
          <a:xfrm>
            <a:off x="5658893" y="3092768"/>
            <a:ext cx="2298927" cy="3297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圆角矩形 8">
            <a:extLst>
              <a:ext uri="{FF2B5EF4-FFF2-40B4-BE49-F238E27FC236}">
                <a16:creationId xmlns:a16="http://schemas.microsoft.com/office/drawing/2014/main" id="{4B3FA973-BB5F-4B1C-A3A0-711FD91A0AE0}"/>
              </a:ext>
            </a:extLst>
          </p:cNvPr>
          <p:cNvSpPr/>
          <p:nvPr/>
        </p:nvSpPr>
        <p:spPr>
          <a:xfrm>
            <a:off x="1035050" y="4826000"/>
            <a:ext cx="2162175" cy="46355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0" name="Object 15">
            <a:extLst>
              <a:ext uri="{FF2B5EF4-FFF2-40B4-BE49-F238E27FC236}">
                <a16:creationId xmlns:a16="http://schemas.microsoft.com/office/drawing/2014/main" id="{E09282BA-CA70-709D-EC2A-AF115D58EEB9}"/>
              </a:ext>
            </a:extLst>
          </p:cNvPr>
          <p:cNvGraphicFramePr>
            <a:graphicFrameLocks noChangeAspect="1"/>
          </p:cNvGraphicFramePr>
          <p:nvPr/>
        </p:nvGraphicFramePr>
        <p:xfrm>
          <a:off x="1243013" y="4848225"/>
          <a:ext cx="1747837" cy="420688"/>
        </p:xfrm>
        <a:graphic>
          <a:graphicData uri="http://schemas.openxmlformats.org/presentationml/2006/ole">
            <mc:AlternateContent xmlns:mc="http://schemas.openxmlformats.org/markup-compatibility/2006">
              <mc:Choice xmlns:v="urn:schemas-microsoft-com:vml" Requires="v">
                <p:oleObj name="公式" r:id="rId4" imgW="952087" imgH="228501" progId="Equation.3">
                  <p:embed/>
                </p:oleObj>
              </mc:Choice>
              <mc:Fallback>
                <p:oleObj name="公式" r:id="rId4" imgW="952087" imgH="228501" progId="Equation.3">
                  <p:embed/>
                  <p:pic>
                    <p:nvPicPr>
                      <p:cNvPr id="13"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3013" y="4848225"/>
                        <a:ext cx="17478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7986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3AEB3-2543-6063-0005-8F8D8277E4D9}"/>
              </a:ext>
            </a:extLst>
          </p:cNvPr>
          <p:cNvSpPr>
            <a:spLocks noGrp="1"/>
          </p:cNvSpPr>
          <p:nvPr>
            <p:ph type="title"/>
          </p:nvPr>
        </p:nvSpPr>
        <p:spPr/>
        <p:txBody>
          <a:bodyPr>
            <a:normAutofit fontScale="90000"/>
          </a:bodyPr>
          <a:lstStyle/>
          <a:p>
            <a:r>
              <a:rPr lang="zh-CN" altLang="en-US" dirty="0">
                <a:latin typeface="+mn-lt"/>
              </a:rPr>
              <a:t>正弦波与电容</a:t>
            </a:r>
            <a:endParaRPr kumimoji="1" lang="zh-CN" altLang="en-US" dirty="0"/>
          </a:p>
        </p:txBody>
      </p:sp>
      <p:sp>
        <p:nvSpPr>
          <p:cNvPr id="3" name="内容占位符 2">
            <a:extLst>
              <a:ext uri="{FF2B5EF4-FFF2-40B4-BE49-F238E27FC236}">
                <a16:creationId xmlns:a16="http://schemas.microsoft.com/office/drawing/2014/main" id="{3127D5FA-A151-46EE-77A2-F8BE9FC438EC}"/>
              </a:ext>
            </a:extLst>
          </p:cNvPr>
          <p:cNvSpPr>
            <a:spLocks noGrp="1"/>
          </p:cNvSpPr>
          <p:nvPr>
            <p:ph idx="1"/>
          </p:nvPr>
        </p:nvSpPr>
        <p:spPr/>
        <p:txBody>
          <a:bodyPr/>
          <a:lstStyle/>
          <a:p>
            <a:r>
              <a:rPr lang="zh-CN" altLang="en-US" sz="2800" b="0" dirty="0"/>
              <a:t>滤波电路改变信号</a:t>
            </a:r>
            <a:endParaRPr lang="zh-CN" altLang="en-US" dirty="0"/>
          </a:p>
          <a:p>
            <a:endParaRPr kumimoji="1" lang="zh-CN" altLang="en-US" dirty="0"/>
          </a:p>
        </p:txBody>
      </p:sp>
      <p:sp>
        <p:nvSpPr>
          <p:cNvPr id="4" name="页脚占位符 3">
            <a:extLst>
              <a:ext uri="{FF2B5EF4-FFF2-40B4-BE49-F238E27FC236}">
                <a16:creationId xmlns:a16="http://schemas.microsoft.com/office/drawing/2014/main" id="{F558466A-4A9D-F5FF-8731-258C56555612}"/>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651AD95E-1D3D-2554-9ED9-387BF452E25C}"/>
              </a:ext>
            </a:extLst>
          </p:cNvPr>
          <p:cNvSpPr>
            <a:spLocks noGrp="1"/>
          </p:cNvSpPr>
          <p:nvPr>
            <p:ph type="sldNum" sz="quarter" idx="12"/>
          </p:nvPr>
        </p:nvSpPr>
        <p:spPr/>
        <p:txBody>
          <a:bodyPr/>
          <a:lstStyle/>
          <a:p>
            <a:fld id="{9E260BC5-5BF3-8746-862B-DC45E9CAA88B}" type="slidenum">
              <a:rPr lang="en-US" smtClean="0"/>
              <a:pPr/>
              <a:t>32</a:t>
            </a:fld>
            <a:r>
              <a:rPr lang="en-US" altLang="zh-CN" dirty="0"/>
              <a:t>/33</a:t>
            </a:r>
            <a:endParaRPr lang="en-US" dirty="0"/>
          </a:p>
        </p:txBody>
      </p:sp>
      <p:pic>
        <p:nvPicPr>
          <p:cNvPr id="6" name="Picture 2">
            <a:extLst>
              <a:ext uri="{FF2B5EF4-FFF2-40B4-BE49-F238E27FC236}">
                <a16:creationId xmlns:a16="http://schemas.microsoft.com/office/drawing/2014/main" id="{9C022623-A856-FF5D-7385-EC840785B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578" y="1763486"/>
            <a:ext cx="9600993" cy="360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8643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42ED59-ACF5-FA57-FB20-1D944CB56E7E}"/>
              </a:ext>
            </a:extLst>
          </p:cNvPr>
          <p:cNvSpPr>
            <a:spLocks noGrp="1"/>
          </p:cNvSpPr>
          <p:nvPr>
            <p:ph type="title"/>
          </p:nvPr>
        </p:nvSpPr>
        <p:spPr/>
        <p:txBody>
          <a:bodyPr>
            <a:normAutofit fontScale="90000"/>
          </a:bodyPr>
          <a:lstStyle/>
          <a:p>
            <a:r>
              <a:rPr lang="zh-CN" altLang="en-US" dirty="0"/>
              <a:t>电容容抗</a:t>
            </a:r>
            <a:endParaRPr kumimoji="1" lang="zh-CN" altLang="en-US" dirty="0"/>
          </a:p>
        </p:txBody>
      </p:sp>
      <p:sp>
        <p:nvSpPr>
          <p:cNvPr id="3" name="内容占位符 2">
            <a:extLst>
              <a:ext uri="{FF2B5EF4-FFF2-40B4-BE49-F238E27FC236}">
                <a16:creationId xmlns:a16="http://schemas.microsoft.com/office/drawing/2014/main" id="{A518B335-2B7E-DF0D-BEF4-D7AC9397AA34}"/>
              </a:ext>
            </a:extLst>
          </p:cNvPr>
          <p:cNvSpPr>
            <a:spLocks noGrp="1"/>
          </p:cNvSpPr>
          <p:nvPr>
            <p:ph idx="1"/>
          </p:nvPr>
        </p:nvSpPr>
        <p:spPr/>
        <p:txBody>
          <a:bodyPr/>
          <a:lstStyle/>
          <a:p>
            <a:r>
              <a:rPr lang="zh-CN" altLang="en-US" sz="2800" b="0" dirty="0"/>
              <a:t>电容在频域中的表现</a:t>
            </a:r>
            <a:endParaRPr lang="zh-CN" altLang="en-US" dirty="0"/>
          </a:p>
        </p:txBody>
      </p:sp>
      <p:sp>
        <p:nvSpPr>
          <p:cNvPr id="4" name="页脚占位符 3">
            <a:extLst>
              <a:ext uri="{FF2B5EF4-FFF2-40B4-BE49-F238E27FC236}">
                <a16:creationId xmlns:a16="http://schemas.microsoft.com/office/drawing/2014/main" id="{38DACA9D-945B-B42B-16AD-E09E9C2B7E52}"/>
              </a:ext>
            </a:extLst>
          </p:cNvPr>
          <p:cNvSpPr>
            <a:spLocks noGrp="1"/>
          </p:cNvSpPr>
          <p:nvPr>
            <p:ph type="ftr" sz="quarter" idx="11"/>
          </p:nvPr>
        </p:nvSpPr>
        <p:spPr/>
        <p:txBody>
          <a:bodyPr/>
          <a:lstStyle/>
          <a:p>
            <a:r>
              <a:rPr lang="zh-CN" altLang="en-US"/>
              <a:t>模拟与数字电路：</a:t>
            </a:r>
            <a:r>
              <a:rPr lang="en-US" altLang="zh-CN"/>
              <a:t>25. </a:t>
            </a:r>
            <a:r>
              <a:rPr lang="zh-CN" altLang="en-US"/>
              <a:t>基本放大电路</a:t>
            </a:r>
            <a:r>
              <a:rPr lang="en-US" altLang="zh-CN"/>
              <a:t>1</a:t>
            </a:r>
            <a:endParaRPr lang="en-US" dirty="0"/>
          </a:p>
        </p:txBody>
      </p:sp>
      <p:sp>
        <p:nvSpPr>
          <p:cNvPr id="5" name="灯片编号占位符 4">
            <a:extLst>
              <a:ext uri="{FF2B5EF4-FFF2-40B4-BE49-F238E27FC236}">
                <a16:creationId xmlns:a16="http://schemas.microsoft.com/office/drawing/2014/main" id="{AB58A4C4-7EBE-B6E0-222B-33A0D43045F1}"/>
              </a:ext>
            </a:extLst>
          </p:cNvPr>
          <p:cNvSpPr>
            <a:spLocks noGrp="1"/>
          </p:cNvSpPr>
          <p:nvPr>
            <p:ph type="sldNum" sz="quarter" idx="12"/>
          </p:nvPr>
        </p:nvSpPr>
        <p:spPr/>
        <p:txBody>
          <a:bodyPr/>
          <a:lstStyle/>
          <a:p>
            <a:fld id="{9E260BC5-5BF3-8746-862B-DC45E9CAA88B}" type="slidenum">
              <a:rPr lang="en-US" smtClean="0"/>
              <a:pPr/>
              <a:t>33</a:t>
            </a:fld>
            <a:r>
              <a:rPr lang="en-US" altLang="zh-CN" dirty="0"/>
              <a:t>/33</a:t>
            </a:r>
            <a:endParaRPr lang="en-US" dirty="0"/>
          </a:p>
        </p:txBody>
      </p:sp>
      <p:sp>
        <p:nvSpPr>
          <p:cNvPr id="6" name="矩形 5">
            <a:extLst>
              <a:ext uri="{FF2B5EF4-FFF2-40B4-BE49-F238E27FC236}">
                <a16:creationId xmlns:a16="http://schemas.microsoft.com/office/drawing/2014/main" id="{2E45D859-3082-77E7-80A9-0D643C8A55FB}"/>
              </a:ext>
            </a:extLst>
          </p:cNvPr>
          <p:cNvSpPr/>
          <p:nvPr/>
        </p:nvSpPr>
        <p:spPr>
          <a:xfrm>
            <a:off x="2669397" y="3764048"/>
            <a:ext cx="2772308" cy="923330"/>
          </a:xfrm>
          <a:prstGeom prst="rect">
            <a:avLst/>
          </a:prstGeom>
        </p:spPr>
        <p:txBody>
          <a:bodyPr wrap="square">
            <a:spAutoFit/>
          </a:bodyPr>
          <a:lstStyle/>
          <a:p>
            <a:pPr lvl="1" eaLnBrk="1" hangingPunct="1">
              <a:buFontTx/>
              <a:buNone/>
              <a:defRPr/>
            </a:pPr>
            <a:r>
              <a:rPr lang="zh-CN" altLang="en-US" dirty="0">
                <a:latin typeface="Microsoft YaHei" panose="020B0503020204020204" pitchFamily="34" charset="-122"/>
                <a:ea typeface="Microsoft YaHei" panose="020B0503020204020204" pitchFamily="34" charset="-122"/>
              </a:rPr>
              <a:t>高频交流相当于短路</a:t>
            </a:r>
            <a:endParaRPr lang="en-US" altLang="zh-CN" dirty="0">
              <a:latin typeface="Microsoft YaHei" panose="020B0503020204020204" pitchFamily="34" charset="-122"/>
              <a:ea typeface="Microsoft YaHei" panose="020B0503020204020204" pitchFamily="34" charset="-122"/>
            </a:endParaRPr>
          </a:p>
          <a:p>
            <a:pPr lvl="1" eaLnBrk="1" hangingPunct="1">
              <a:buFontTx/>
              <a:buNone/>
              <a:defRPr/>
            </a:pPr>
            <a:endParaRPr lang="en-US" altLang="zh-CN" dirty="0">
              <a:latin typeface="Microsoft YaHei" panose="020B0503020204020204" pitchFamily="34" charset="-122"/>
              <a:ea typeface="Microsoft YaHei" panose="020B0503020204020204" pitchFamily="34" charset="-122"/>
            </a:endParaRPr>
          </a:p>
          <a:p>
            <a:pPr lvl="1" eaLnBrk="1" hangingPunct="1">
              <a:buFontTx/>
              <a:buNone/>
              <a:defRPr/>
            </a:pPr>
            <a:r>
              <a:rPr lang="zh-CN" altLang="en-US" dirty="0">
                <a:latin typeface="Microsoft YaHei" panose="020B0503020204020204" pitchFamily="34" charset="-122"/>
                <a:ea typeface="Microsoft YaHei" panose="020B0503020204020204" pitchFamily="34" charset="-122"/>
              </a:rPr>
              <a:t>直流相当于断路</a:t>
            </a:r>
            <a:endParaRPr lang="en-US" altLang="zh-CN"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F03DD6B-2FB6-D005-95E5-377D8F1F14E9}"/>
                  </a:ext>
                </a:extLst>
              </p:cNvPr>
              <p:cNvSpPr txBox="1"/>
              <p:nvPr/>
            </p:nvSpPr>
            <p:spPr>
              <a:xfrm>
                <a:off x="758767" y="1694101"/>
                <a:ext cx="5251566"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𝑉</m:t>
                          </m:r>
                        </m:e>
                      </m:acc>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0</m:t>
                              </m:r>
                            </m:sub>
                          </m:sSub>
                          <m:r>
                            <m:rPr>
                              <m:sty m:val="p"/>
                            </m:rPr>
                            <a:rPr lang="en-US" altLang="zh-CN" b="0" i="0" smtClean="0">
                              <a:latin typeface="Cambria Math" panose="02040503050406030204" pitchFamily="18" charset="0"/>
                            </a:rPr>
                            <m:t>sin</m:t>
                          </m:r>
                        </m:fName>
                        <m:e>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𝜔</m:t>
                              </m:r>
                              <m:r>
                                <a:rPr lang="en-US" altLang="zh-CN" b="0" i="1" smtClean="0">
                                  <a:latin typeface="Cambria Math" panose="02040503050406030204" pitchFamily="18" charset="0"/>
                                </a:rPr>
                                <m:t>𝑡</m:t>
                              </m:r>
                            </m:e>
                          </m:d>
                        </m:e>
                      </m:func>
                      <m:d>
                        <m:dPr>
                          <m:ctrlPr>
                            <a:rPr lang="en-US" altLang="zh-CN" b="0" i="1" smtClean="0">
                              <a:solidFill>
                                <a:schemeClr val="tx1">
                                  <a:lumMod val="50000"/>
                                  <a:lumOff val="50000"/>
                                </a:schemeClr>
                              </a:solidFill>
                              <a:latin typeface="Cambria Math" panose="02040503050406030204" pitchFamily="18" charset="0"/>
                            </a:rPr>
                          </m:ctrlPr>
                        </m:dPr>
                        <m:e>
                          <m:r>
                            <a:rPr lang="en-US" altLang="zh-CN" b="0" i="1" smtClean="0">
                              <a:solidFill>
                                <a:schemeClr val="tx1">
                                  <a:lumMod val="50000"/>
                                  <a:lumOff val="50000"/>
                                </a:schemeClr>
                              </a:solidFill>
                              <a:latin typeface="Cambria Math" panose="02040503050406030204" pitchFamily="18" charset="0"/>
                            </a:rPr>
                            <m:t>+</m:t>
                          </m:r>
                          <m:func>
                            <m:funcPr>
                              <m:ctrlPr>
                                <a:rPr lang="en-US" altLang="zh-CN" i="1">
                                  <a:solidFill>
                                    <a:schemeClr val="tx1">
                                      <a:lumMod val="50000"/>
                                      <a:lumOff val="50000"/>
                                    </a:schemeClr>
                                  </a:solidFill>
                                  <a:latin typeface="Cambria Math" panose="02040503050406030204" pitchFamily="18" charset="0"/>
                                </a:rPr>
                              </m:ctrlPr>
                            </m:funcPr>
                            <m:fName>
                              <m:sSub>
                                <m:sSubPr>
                                  <m:ctrlPr>
                                    <a:rPr lang="en-US" altLang="zh-CN" i="1">
                                      <a:solidFill>
                                        <a:schemeClr val="tx1">
                                          <a:lumMod val="50000"/>
                                          <a:lumOff val="50000"/>
                                        </a:schemeClr>
                                      </a:solidFill>
                                      <a:latin typeface="Cambria Math" panose="02040503050406030204" pitchFamily="18" charset="0"/>
                                    </a:rPr>
                                  </m:ctrlPr>
                                </m:sSubPr>
                                <m:e>
                                  <m:r>
                                    <a:rPr lang="en-US" altLang="zh-CN" b="0" i="1" smtClean="0">
                                      <a:solidFill>
                                        <a:schemeClr val="tx1">
                                          <a:lumMod val="50000"/>
                                          <a:lumOff val="50000"/>
                                        </a:schemeClr>
                                      </a:solidFill>
                                      <a:latin typeface="Cambria Math" panose="02040503050406030204" pitchFamily="18" charset="0"/>
                                    </a:rPr>
                                    <m:t>𝑗</m:t>
                                  </m:r>
                                  <m:r>
                                    <a:rPr lang="en-US" altLang="zh-CN" i="1">
                                      <a:solidFill>
                                        <a:schemeClr val="tx1">
                                          <a:lumMod val="50000"/>
                                          <a:lumOff val="50000"/>
                                        </a:schemeClr>
                                      </a:solidFill>
                                      <a:latin typeface="Cambria Math" panose="02040503050406030204" pitchFamily="18" charset="0"/>
                                    </a:rPr>
                                    <m:t>𝑉</m:t>
                                  </m:r>
                                </m:e>
                                <m:sub>
                                  <m:r>
                                    <a:rPr lang="en-US" altLang="zh-CN" i="1">
                                      <a:solidFill>
                                        <a:schemeClr val="tx1">
                                          <a:lumMod val="50000"/>
                                          <a:lumOff val="50000"/>
                                        </a:schemeClr>
                                      </a:solidFill>
                                      <a:latin typeface="Cambria Math" panose="02040503050406030204" pitchFamily="18" charset="0"/>
                                    </a:rPr>
                                    <m:t>0</m:t>
                                  </m:r>
                                </m:sub>
                              </m:sSub>
                              <m:r>
                                <m:rPr>
                                  <m:sty m:val="p"/>
                                </m:rPr>
                                <a:rPr lang="en-US" altLang="zh-CN" b="0" i="0" smtClean="0">
                                  <a:solidFill>
                                    <a:schemeClr val="tx1">
                                      <a:lumMod val="50000"/>
                                      <a:lumOff val="50000"/>
                                    </a:schemeClr>
                                  </a:solidFill>
                                  <a:latin typeface="Cambria Math" panose="02040503050406030204" pitchFamily="18" charset="0"/>
                                </a:rPr>
                                <m:t>cos</m:t>
                              </m:r>
                            </m:fName>
                            <m:e>
                              <m:d>
                                <m:dPr>
                                  <m:ctrlPr>
                                    <a:rPr lang="en-US" altLang="zh-CN" i="1">
                                      <a:solidFill>
                                        <a:schemeClr val="tx1">
                                          <a:lumMod val="50000"/>
                                          <a:lumOff val="50000"/>
                                        </a:schemeClr>
                                      </a:solidFill>
                                      <a:latin typeface="Cambria Math" panose="02040503050406030204" pitchFamily="18" charset="0"/>
                                    </a:rPr>
                                  </m:ctrlPr>
                                </m:dPr>
                                <m:e>
                                  <m:r>
                                    <a:rPr lang="zh-CN" altLang="en-US" i="1">
                                      <a:solidFill>
                                        <a:schemeClr val="tx1">
                                          <a:lumMod val="50000"/>
                                          <a:lumOff val="50000"/>
                                        </a:schemeClr>
                                      </a:solidFill>
                                      <a:latin typeface="Cambria Math" panose="02040503050406030204" pitchFamily="18" charset="0"/>
                                    </a:rPr>
                                    <m:t>𝜔</m:t>
                                  </m:r>
                                  <m:r>
                                    <a:rPr lang="en-US" altLang="zh-CN" i="1">
                                      <a:solidFill>
                                        <a:schemeClr val="tx1">
                                          <a:lumMod val="50000"/>
                                          <a:lumOff val="50000"/>
                                        </a:schemeClr>
                                      </a:solidFill>
                                      <a:latin typeface="Cambria Math" panose="02040503050406030204" pitchFamily="18" charset="0"/>
                                    </a:rPr>
                                    <m:t>𝑡</m:t>
                                  </m:r>
                                </m:e>
                              </m:d>
                            </m:e>
                          </m:func>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0</m:t>
                              </m:r>
                            </m:sub>
                          </m:sSub>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𝑗</m:t>
                          </m:r>
                          <m:r>
                            <a:rPr lang="zh-CN" altLang="en-US" b="0" i="1" smtClean="0">
                              <a:latin typeface="Cambria Math" panose="02040503050406030204" pitchFamily="18" charset="0"/>
                            </a:rPr>
                            <m:t>𝜔</m:t>
                          </m:r>
                          <m:r>
                            <a:rPr lang="en-US" altLang="zh-CN" b="0" i="1" smtClean="0">
                              <a:latin typeface="Cambria Math" panose="02040503050406030204" pitchFamily="18" charset="0"/>
                            </a:rPr>
                            <m:t>𝑡</m:t>
                          </m:r>
                        </m:sup>
                      </m:sSup>
                      <m:r>
                        <a:rPr lang="zh-CN" altLang="en-US" i="1">
                          <a:latin typeface="Cambria Math" panose="02040503050406030204" pitchFamily="18" charset="0"/>
                        </a:rPr>
                        <m:t>，</m:t>
                      </m:r>
                      <m:r>
                        <a:rPr lang="zh-CN" altLang="en-US" i="1">
                          <a:latin typeface="Cambria Math" panose="02040503050406030204" pitchFamily="18" charset="0"/>
                        </a:rPr>
                        <m:t>𝜔</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𝜋</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7" name="文本框 6">
                <a:extLst>
                  <a:ext uri="{FF2B5EF4-FFF2-40B4-BE49-F238E27FC236}">
                    <a16:creationId xmlns:a16="http://schemas.microsoft.com/office/drawing/2014/main" id="{9F03DD6B-2FB6-D005-95E5-377D8F1F14E9}"/>
                  </a:ext>
                </a:extLst>
              </p:cNvPr>
              <p:cNvSpPr txBox="1">
                <a:spLocks noRot="1" noChangeAspect="1" noMove="1" noResize="1" noEditPoints="1" noAdjustHandles="1" noChangeArrowheads="1" noChangeShapeType="1" noTextEdit="1"/>
              </p:cNvSpPr>
              <p:nvPr/>
            </p:nvSpPr>
            <p:spPr>
              <a:xfrm>
                <a:off x="758767" y="1694101"/>
                <a:ext cx="5251566" cy="285912"/>
              </a:xfrm>
              <a:prstGeom prst="rect">
                <a:avLst/>
              </a:prstGeom>
              <a:blipFill>
                <a:blip r:embed="rId2"/>
                <a:stretch>
                  <a:fillRect t="-13043" b="-391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DA546E8-59F2-6B1B-CC1E-8C99A3EEBAB8}"/>
                  </a:ext>
                </a:extLst>
              </p:cNvPr>
              <p:cNvSpPr txBox="1"/>
              <p:nvPr/>
            </p:nvSpPr>
            <p:spPr>
              <a:xfrm>
                <a:off x="684709" y="2176437"/>
                <a:ext cx="3253647" cy="5615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𝐼</m:t>
                          </m:r>
                        </m:e>
                      </m:acc>
                      <m:r>
                        <a:rPr lang="en-US" altLang="zh-CN" b="0" i="1" smtClean="0">
                          <a:latin typeface="Cambria Math" panose="02040503050406030204" pitchFamily="18" charset="0"/>
                        </a:rPr>
                        <m:t>=</m:t>
                      </m:r>
                      <m:r>
                        <a:rPr lang="en-US" altLang="zh-CN" b="0" i="1" smtClean="0">
                          <a:latin typeface="Cambria Math" panose="02040503050406030204" pitchFamily="18" charset="0"/>
                        </a:rPr>
                        <m:t>𝐶</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𝑑</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𝑉</m:t>
                              </m:r>
                            </m:e>
                          </m:acc>
                        </m:num>
                        <m:den>
                          <m:r>
                            <a:rPr lang="en-US" altLang="zh-CN" b="0" i="1" smtClean="0">
                              <a:latin typeface="Cambria Math" panose="02040503050406030204" pitchFamily="18" charset="0"/>
                            </a:rPr>
                            <m:t>𝑑𝑡</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zh-CN" altLang="en-US" b="0" i="1" smtClean="0">
                          <a:latin typeface="Cambria Math" panose="02040503050406030204" pitchFamily="18" charset="0"/>
                        </a:rPr>
                        <m:t>𝜔</m:t>
                      </m:r>
                      <m:r>
                        <a:rPr lang="en-US" altLang="zh-CN" b="0" i="1" smtClean="0">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0</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𝑗</m:t>
                          </m:r>
                          <m:r>
                            <a:rPr lang="zh-CN" altLang="en-US" b="0" i="1" smtClean="0">
                              <a:latin typeface="Cambria Math" panose="02040503050406030204" pitchFamily="18" charset="0"/>
                            </a:rPr>
                            <m:t>𝜔</m:t>
                          </m:r>
                          <m:r>
                            <a:rPr lang="en-US" altLang="zh-CN" b="0" i="1" smtClean="0">
                              <a:latin typeface="Cambria Math" panose="02040503050406030204" pitchFamily="18" charset="0"/>
                            </a:rPr>
                            <m:t>𝑡</m:t>
                          </m:r>
                        </m:sup>
                      </m:sSup>
                      <m:r>
                        <a:rPr lang="en-US" altLang="zh-CN" b="0" i="1" smtClean="0">
                          <a:latin typeface="Cambria Math" panose="02040503050406030204" pitchFamily="18" charset="0"/>
                        </a:rPr>
                        <m:t>=</m:t>
                      </m:r>
                      <m:r>
                        <a:rPr lang="en-US" altLang="zh-CN" i="1">
                          <a:latin typeface="Cambria Math" panose="02040503050406030204" pitchFamily="18" charset="0"/>
                        </a:rPr>
                        <m:t>𝑗</m:t>
                      </m:r>
                      <m:r>
                        <a:rPr lang="zh-CN" altLang="en-US" i="1">
                          <a:latin typeface="Cambria Math" panose="02040503050406030204" pitchFamily="18" charset="0"/>
                        </a:rPr>
                        <m:t>𝜔</m:t>
                      </m:r>
                      <m:r>
                        <a:rPr lang="en-US" altLang="zh-CN" i="1">
                          <a:latin typeface="Cambria Math" panose="02040503050406030204" pitchFamily="18" charset="0"/>
                        </a:rPr>
                        <m:t>𝐶</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𝑉</m:t>
                          </m:r>
                        </m:e>
                      </m:acc>
                    </m:oMath>
                  </m:oMathPara>
                </a14:m>
                <a:endParaRPr lang="zh-CN" altLang="en-US" dirty="0"/>
              </a:p>
            </p:txBody>
          </p:sp>
        </mc:Choice>
        <mc:Fallback xmlns="">
          <p:sp>
            <p:nvSpPr>
              <p:cNvPr id="8" name="文本框 7">
                <a:extLst>
                  <a:ext uri="{FF2B5EF4-FFF2-40B4-BE49-F238E27FC236}">
                    <a16:creationId xmlns:a16="http://schemas.microsoft.com/office/drawing/2014/main" id="{0DA546E8-59F2-6B1B-CC1E-8C99A3EEBAB8}"/>
                  </a:ext>
                </a:extLst>
              </p:cNvPr>
              <p:cNvSpPr txBox="1">
                <a:spLocks noRot="1" noChangeAspect="1" noMove="1" noResize="1" noEditPoints="1" noAdjustHandles="1" noChangeArrowheads="1" noChangeShapeType="1" noTextEdit="1"/>
              </p:cNvSpPr>
              <p:nvPr/>
            </p:nvSpPr>
            <p:spPr>
              <a:xfrm>
                <a:off x="684709" y="2176437"/>
                <a:ext cx="3253647" cy="561564"/>
              </a:xfrm>
              <a:prstGeom prst="rect">
                <a:avLst/>
              </a:prstGeom>
              <a:blipFill>
                <a:blip r:embed="rId3"/>
                <a:stretch>
                  <a:fillRect t="-6667" b="-1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F4ED64A-7AEE-C202-4ECA-454CA74D5F74}"/>
                  </a:ext>
                </a:extLst>
              </p:cNvPr>
              <p:cNvSpPr txBox="1"/>
              <p:nvPr/>
            </p:nvSpPr>
            <p:spPr>
              <a:xfrm>
                <a:off x="1321753" y="2926499"/>
                <a:ext cx="1465529" cy="6101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𝐶</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𝑉</m:t>
                              </m:r>
                            </m:e>
                          </m:acc>
                        </m:num>
                        <m:den>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𝐼</m:t>
                              </m:r>
                            </m:e>
                          </m:acc>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𝑗</m:t>
                          </m:r>
                          <m:r>
                            <a:rPr lang="zh-CN" altLang="en-US" b="0" i="1" smtClean="0">
                              <a:latin typeface="Cambria Math" panose="02040503050406030204" pitchFamily="18" charset="0"/>
                            </a:rPr>
                            <m:t>𝜔</m:t>
                          </m:r>
                          <m:r>
                            <a:rPr lang="en-US" altLang="zh-CN" b="0" i="1" smtClean="0">
                              <a:latin typeface="Cambria Math" panose="02040503050406030204" pitchFamily="18" charset="0"/>
                            </a:rPr>
                            <m:t>𝐶</m:t>
                          </m:r>
                        </m:den>
                      </m:f>
                    </m:oMath>
                  </m:oMathPara>
                </a14:m>
                <a:endParaRPr lang="zh-CN" altLang="en-US" dirty="0"/>
              </a:p>
            </p:txBody>
          </p:sp>
        </mc:Choice>
        <mc:Fallback xmlns="">
          <p:sp>
            <p:nvSpPr>
              <p:cNvPr id="9" name="文本框 8">
                <a:extLst>
                  <a:ext uri="{FF2B5EF4-FFF2-40B4-BE49-F238E27FC236}">
                    <a16:creationId xmlns:a16="http://schemas.microsoft.com/office/drawing/2014/main" id="{DF4ED64A-7AEE-C202-4ECA-454CA74D5F74}"/>
                  </a:ext>
                </a:extLst>
              </p:cNvPr>
              <p:cNvSpPr txBox="1">
                <a:spLocks noRot="1" noChangeAspect="1" noMove="1" noResize="1" noEditPoints="1" noAdjustHandles="1" noChangeArrowheads="1" noChangeShapeType="1" noTextEdit="1"/>
              </p:cNvSpPr>
              <p:nvPr/>
            </p:nvSpPr>
            <p:spPr>
              <a:xfrm>
                <a:off x="1321753" y="2926499"/>
                <a:ext cx="1465529" cy="610103"/>
              </a:xfrm>
              <a:prstGeom prst="rect">
                <a:avLst/>
              </a:prstGeom>
              <a:blipFill>
                <a:blip r:embed="rId4"/>
                <a:stretch>
                  <a:fillRect l="-3448" t="-4082" r="-1724" b="-16327"/>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3444EDF2-BFDB-4CAA-2D21-9DF8ED74A59D}"/>
              </a:ext>
            </a:extLst>
          </p:cNvPr>
          <p:cNvSpPr txBox="1"/>
          <p:nvPr/>
        </p:nvSpPr>
        <p:spPr>
          <a:xfrm>
            <a:off x="675422" y="3046885"/>
            <a:ext cx="646331" cy="369332"/>
          </a:xfrm>
          <a:prstGeom prst="rect">
            <a:avLst/>
          </a:prstGeom>
          <a:noFill/>
        </p:spPr>
        <p:txBody>
          <a:bodyPr wrap="none" rtlCol="0">
            <a:spAutoFit/>
          </a:bodyPr>
          <a:lstStyle/>
          <a:p>
            <a:r>
              <a:rPr lang="zh-CN" altLang="en-US" dirty="0">
                <a:latin typeface="Microsoft YaHei" panose="020B0503020204020204" pitchFamily="34" charset="-122"/>
                <a:ea typeface="Microsoft YaHei" panose="020B0503020204020204" pitchFamily="34" charset="-122"/>
              </a:rPr>
              <a:t>容抗</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0386AA9-DCBD-27E3-6254-AE3E3C8F29E2}"/>
                  </a:ext>
                </a:extLst>
              </p:cNvPr>
              <p:cNvSpPr txBox="1"/>
              <p:nvPr/>
            </p:nvSpPr>
            <p:spPr>
              <a:xfrm>
                <a:off x="747430" y="3621631"/>
                <a:ext cx="2114361"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lim</m:t>
                              </m:r>
                            </m:e>
                            <m:lim>
                              <m:r>
                                <a:rPr lang="zh-CN" altLang="en-US" i="1" smtClean="0">
                                  <a:latin typeface="Cambria Math" panose="02040503050406030204" pitchFamily="18" charset="0"/>
                                </a:rPr>
                                <m:t>𝜔</m:t>
                              </m:r>
                              <m:r>
                                <a:rPr lang="zh-CN" altLang="en-US" i="1" smtClean="0">
                                  <a:latin typeface="Cambria Math" panose="02040503050406030204" pitchFamily="18" charset="0"/>
                                </a:rPr>
                                <m:t>→∞</m:t>
                              </m:r>
                            </m:lim>
                          </m:limLow>
                        </m:fName>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𝐶</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𝑗𝐶</m:t>
                              </m:r>
                              <m:r>
                                <a:rPr lang="zh-CN" altLang="en-US" b="0" i="1" smtClean="0">
                                  <a:latin typeface="Cambria Math" panose="02040503050406030204" pitchFamily="18" charset="0"/>
                                </a:rPr>
                                <m:t>∙∞</m:t>
                              </m:r>
                            </m:den>
                          </m:f>
                          <m:r>
                            <a:rPr lang="en-US" altLang="zh-CN" b="0" i="1" smtClean="0">
                              <a:latin typeface="Cambria Math" panose="02040503050406030204" pitchFamily="18" charset="0"/>
                            </a:rPr>
                            <m:t>=0</m:t>
                          </m:r>
                        </m:e>
                      </m:func>
                    </m:oMath>
                  </m:oMathPara>
                </a14:m>
                <a:endParaRPr lang="zh-CN" altLang="en-US" dirty="0"/>
              </a:p>
            </p:txBody>
          </p:sp>
        </mc:Choice>
        <mc:Fallback xmlns="">
          <p:sp>
            <p:nvSpPr>
              <p:cNvPr id="11" name="文本框 10">
                <a:extLst>
                  <a:ext uri="{FF2B5EF4-FFF2-40B4-BE49-F238E27FC236}">
                    <a16:creationId xmlns:a16="http://schemas.microsoft.com/office/drawing/2014/main" id="{C0386AA9-DCBD-27E3-6254-AE3E3C8F29E2}"/>
                  </a:ext>
                </a:extLst>
              </p:cNvPr>
              <p:cNvSpPr txBox="1">
                <a:spLocks noRot="1" noChangeAspect="1" noMove="1" noResize="1" noEditPoints="1" noAdjustHandles="1" noChangeArrowheads="1" noChangeShapeType="1" noTextEdit="1"/>
              </p:cNvSpPr>
              <p:nvPr/>
            </p:nvSpPr>
            <p:spPr>
              <a:xfrm>
                <a:off x="747430" y="3621631"/>
                <a:ext cx="2114361" cy="568938"/>
              </a:xfrm>
              <a:prstGeom prst="rect">
                <a:avLst/>
              </a:prstGeom>
              <a:blipFill>
                <a:blip r:embed="rId5"/>
                <a:stretch>
                  <a:fillRect t="-4444" r="-1796"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240C18E-7DD1-91E6-C8A9-F3ACC4541AF3}"/>
                  </a:ext>
                </a:extLst>
              </p:cNvPr>
              <p:cNvSpPr txBox="1"/>
              <p:nvPr/>
            </p:nvSpPr>
            <p:spPr>
              <a:xfrm>
                <a:off x="768976" y="4262007"/>
                <a:ext cx="2056653"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lim</m:t>
                              </m:r>
                            </m:e>
                            <m:lim>
                              <m:r>
                                <a:rPr lang="zh-CN" altLang="en-US" i="1" smtClean="0">
                                  <a:latin typeface="Cambria Math" panose="02040503050406030204" pitchFamily="18" charset="0"/>
                                </a:rPr>
                                <m:t>𝜔</m:t>
                              </m:r>
                              <m:r>
                                <a:rPr lang="zh-CN" altLang="en-US" i="1" smtClean="0">
                                  <a:latin typeface="Cambria Math" panose="02040503050406030204" pitchFamily="18" charset="0"/>
                                </a:rPr>
                                <m:t>→0</m:t>
                              </m:r>
                            </m:lim>
                          </m:limLow>
                        </m:fName>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𝐶</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𝑗𝐶</m:t>
                              </m:r>
                              <m:r>
                                <a:rPr lang="zh-CN" altLang="en-US" b="0" i="1" smtClean="0">
                                  <a:latin typeface="Cambria Math" panose="02040503050406030204" pitchFamily="18" charset="0"/>
                                </a:rPr>
                                <m:t>∙0</m:t>
                              </m:r>
                            </m:den>
                          </m:f>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e>
                      </m:func>
                    </m:oMath>
                  </m:oMathPara>
                </a14:m>
                <a:endParaRPr lang="zh-CN" altLang="en-US" dirty="0"/>
              </a:p>
            </p:txBody>
          </p:sp>
        </mc:Choice>
        <mc:Fallback xmlns="">
          <p:sp>
            <p:nvSpPr>
              <p:cNvPr id="12" name="文本框 11">
                <a:extLst>
                  <a:ext uri="{FF2B5EF4-FFF2-40B4-BE49-F238E27FC236}">
                    <a16:creationId xmlns:a16="http://schemas.microsoft.com/office/drawing/2014/main" id="{F240C18E-7DD1-91E6-C8A9-F3ACC4541AF3}"/>
                  </a:ext>
                </a:extLst>
              </p:cNvPr>
              <p:cNvSpPr txBox="1">
                <a:spLocks noRot="1" noChangeAspect="1" noMove="1" noResize="1" noEditPoints="1" noAdjustHandles="1" noChangeArrowheads="1" noChangeShapeType="1" noTextEdit="1"/>
              </p:cNvSpPr>
              <p:nvPr/>
            </p:nvSpPr>
            <p:spPr>
              <a:xfrm>
                <a:off x="768976" y="4262007"/>
                <a:ext cx="2056653" cy="568938"/>
              </a:xfrm>
              <a:prstGeom prst="rect">
                <a:avLst/>
              </a:prstGeom>
              <a:blipFill>
                <a:blip r:embed="rId6"/>
                <a:stretch>
                  <a:fillRect l="-613" t="-4348" r="-613" b="-152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1460987"/>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19279</TotalTime>
  <Words>2889</Words>
  <Application>Microsoft Macintosh PowerPoint</Application>
  <PresentationFormat>A4 纸张(210x297 毫米)</PresentationFormat>
  <Paragraphs>436</Paragraphs>
  <Slides>33</Slides>
  <Notes>15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6" baseType="lpstr">
      <vt:lpstr>等线</vt:lpstr>
      <vt:lpstr>黑体</vt:lpstr>
      <vt:lpstr>宋体</vt:lpstr>
      <vt:lpstr>Microsoft YaHei</vt:lpstr>
      <vt:lpstr>Microsoft YaHei</vt:lpstr>
      <vt:lpstr>Arial</vt:lpstr>
      <vt:lpstr>Arial Black</vt:lpstr>
      <vt:lpstr>Book Antiqua</vt:lpstr>
      <vt:lpstr>Cambria Math</vt:lpstr>
      <vt:lpstr>Times New Roman</vt:lpstr>
      <vt:lpstr>Wingdings</vt:lpstr>
      <vt:lpstr>Office-Design</vt:lpstr>
      <vt:lpstr>公式</vt:lpstr>
      <vt:lpstr>  模拟与数字电路 Analog and Digital Circuits</vt:lpstr>
      <vt:lpstr>内容提纲</vt:lpstr>
      <vt:lpstr>为什么需要放大？</vt:lpstr>
      <vt:lpstr>放大是什么？</vt:lpstr>
      <vt:lpstr>基本放大元件</vt:lpstr>
      <vt:lpstr>BJT的简化小信号模型</vt:lpstr>
      <vt:lpstr>基本放大电路</vt:lpstr>
      <vt:lpstr>基本放大电路</vt:lpstr>
      <vt:lpstr>共射极放大电路 (1)</vt:lpstr>
      <vt:lpstr>静态分析</vt:lpstr>
      <vt:lpstr>动态分析</vt:lpstr>
      <vt:lpstr>动态分析</vt:lpstr>
      <vt:lpstr>截止失真</vt:lpstr>
      <vt:lpstr>饱和失真</vt:lpstr>
      <vt:lpstr>失真后如何调整？</vt:lpstr>
      <vt:lpstr>放大电路的分析方法</vt:lpstr>
      <vt:lpstr>静态分析</vt:lpstr>
      <vt:lpstr>动态分析</vt:lpstr>
      <vt:lpstr>共射极放大电路 (2)</vt:lpstr>
      <vt:lpstr>共射极放大电路放大原理</vt:lpstr>
      <vt:lpstr>直流/交流等效电路</vt:lpstr>
      <vt:lpstr>直流/交流等效方法</vt:lpstr>
      <vt:lpstr>图解法静态分析</vt:lpstr>
      <vt:lpstr>图解法动态分析</vt:lpstr>
      <vt:lpstr>估算法静态分析</vt:lpstr>
      <vt:lpstr>等效电路法动态分析</vt:lpstr>
      <vt:lpstr>例2：共集极放大电路</vt:lpstr>
      <vt:lpstr>例2：共集极放大电路</vt:lpstr>
      <vt:lpstr>例3：共射极放大电路 </vt:lpstr>
      <vt:lpstr>作业</vt:lpstr>
      <vt:lpstr>补充：正弦波与电容(1)</vt:lpstr>
      <vt:lpstr>正弦波与电容</vt:lpstr>
      <vt:lpstr>电容容抗</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2543</cp:revision>
  <cp:lastPrinted>2020-05-26T13:24:01Z</cp:lastPrinted>
  <dcterms:created xsi:type="dcterms:W3CDTF">2020-04-07T12:23:01Z</dcterms:created>
  <dcterms:modified xsi:type="dcterms:W3CDTF">2024-11-26T01:19:08Z</dcterms:modified>
</cp:coreProperties>
</file>