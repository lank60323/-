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handoutMasterIdLst>
    <p:handoutMasterId r:id="rId36"/>
  </p:handoutMasterIdLst>
  <p:sldIdLst>
    <p:sldId id="256" r:id="rId2"/>
    <p:sldId id="444" r:id="rId3"/>
    <p:sldId id="512" r:id="rId4"/>
    <p:sldId id="513" r:id="rId5"/>
    <p:sldId id="514" r:id="rId6"/>
    <p:sldId id="515" r:id="rId7"/>
    <p:sldId id="516" r:id="rId8"/>
    <p:sldId id="517" r:id="rId9"/>
    <p:sldId id="518" r:id="rId10"/>
    <p:sldId id="519" r:id="rId11"/>
    <p:sldId id="520" r:id="rId12"/>
    <p:sldId id="521" r:id="rId13"/>
    <p:sldId id="522" r:id="rId14"/>
    <p:sldId id="523" r:id="rId15"/>
    <p:sldId id="524" r:id="rId16"/>
    <p:sldId id="525" r:id="rId17"/>
    <p:sldId id="526" r:id="rId18"/>
    <p:sldId id="527" r:id="rId19"/>
    <p:sldId id="528" r:id="rId20"/>
    <p:sldId id="529" r:id="rId21"/>
    <p:sldId id="530" r:id="rId22"/>
    <p:sldId id="531" r:id="rId23"/>
    <p:sldId id="532" r:id="rId24"/>
    <p:sldId id="533" r:id="rId25"/>
    <p:sldId id="534" r:id="rId26"/>
    <p:sldId id="535" r:id="rId27"/>
    <p:sldId id="536" r:id="rId28"/>
    <p:sldId id="537" r:id="rId29"/>
    <p:sldId id="538" r:id="rId30"/>
    <p:sldId id="539" r:id="rId31"/>
    <p:sldId id="540" r:id="rId32"/>
    <p:sldId id="511" r:id="rId33"/>
    <p:sldId id="541" r:id="rId34"/>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8049"/>
    <p:restoredTop sz="82516"/>
  </p:normalViewPr>
  <p:slideViewPr>
    <p:cSldViewPr snapToGrid="0" snapToObjects="1">
      <p:cViewPr varScale="1">
        <p:scale>
          <a:sx n="106" d="100"/>
          <a:sy n="106" d="100"/>
        </p:scale>
        <p:origin x="1320" y="176"/>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2024/11/12</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2024/11/12</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所谓半导体，顾名思义，就是导电能力介乎导体和绝缘体之间的一类物质。用得最多的半导体是锗和硅，都是四价元素。 </a:t>
            </a:r>
          </a:p>
          <a:p>
            <a:pPr eaLnBrk="1" hangingPunct="1"/>
            <a:r>
              <a:rPr lang="zh-CN" altLang="en-US" dirty="0"/>
              <a:t>半导体的电阻率比导体大许多数量级，例如本征硅的电阻率</a:t>
            </a:r>
            <a:r>
              <a:rPr lang="en-US" altLang="zh-CN" dirty="0"/>
              <a:t>(2300)</a:t>
            </a:r>
            <a:r>
              <a:rPr lang="zh-CN" altLang="en-US" dirty="0"/>
              <a:t>比铜</a:t>
            </a:r>
            <a:r>
              <a:rPr lang="en-US" altLang="zh-CN" dirty="0"/>
              <a:t>(1.67x10e-8)</a:t>
            </a:r>
            <a:r>
              <a:rPr lang="zh-CN" altLang="en-US" dirty="0"/>
              <a:t>大一千亿倍以上。</a:t>
            </a:r>
            <a:endParaRPr lang="zh-CN" altLang="en-US" dirty="0">
              <a:solidFill>
                <a:srgbClr val="0000FF"/>
              </a:solidFill>
            </a:endParaRPr>
          </a:p>
          <a:p>
            <a:pPr eaLnBrk="1" hangingPunct="1"/>
            <a:r>
              <a:rPr lang="zh-CN" altLang="en-US" dirty="0"/>
              <a:t>半导体在温度增高、受光照等条件下，导电能力会显著增加，利用这种特性可制造热敏电阻、光敏电阻等器件。 </a:t>
            </a:r>
          </a:p>
          <a:p>
            <a:pPr eaLnBrk="1" hangingPunct="1"/>
            <a:r>
              <a:rPr lang="zh-CN" altLang="en-US" dirty="0"/>
              <a:t>更重要的是，在本征半导体中掺入微量杂质后，其导电能力可增强几十万乃至几百万倍，利用这种特性可制造二极管、三极管等半导体器件。 </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5</a:t>
            </a:fld>
            <a:endParaRPr lang="zh-CN" altLang="en-US"/>
          </a:p>
        </p:txBody>
      </p:sp>
    </p:spTree>
    <p:extLst>
      <p:ext uri="{BB962C8B-B14F-4D97-AF65-F5344CB8AC3E}">
        <p14:creationId xmlns:p14="http://schemas.microsoft.com/office/powerpoint/2010/main" val="747238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所谓半导体，顾名思义，就是导电能力介乎导体和绝缘体之间的一类物质。用得最多的半导体是锗和硅，都是四价元素。 </a:t>
            </a:r>
          </a:p>
          <a:p>
            <a:pPr eaLnBrk="1" hangingPunct="1"/>
            <a:r>
              <a:rPr lang="zh-CN" altLang="en-US" dirty="0"/>
              <a:t>半导体的电阻率比导体大许多数量级，例如本征硅的电阻率</a:t>
            </a:r>
            <a:r>
              <a:rPr lang="en-US" altLang="zh-CN" dirty="0"/>
              <a:t>(2300)</a:t>
            </a:r>
            <a:r>
              <a:rPr lang="zh-CN" altLang="en-US" dirty="0"/>
              <a:t>比铜</a:t>
            </a:r>
            <a:r>
              <a:rPr lang="en-US" altLang="zh-CN" dirty="0"/>
              <a:t>(1.67x10e-8)</a:t>
            </a:r>
            <a:r>
              <a:rPr lang="zh-CN" altLang="en-US" dirty="0"/>
              <a:t>大一千亿倍以上。</a:t>
            </a:r>
            <a:endParaRPr lang="zh-CN" altLang="en-US" dirty="0">
              <a:solidFill>
                <a:srgbClr val="0000FF"/>
              </a:solidFill>
            </a:endParaRPr>
          </a:p>
          <a:p>
            <a:pPr eaLnBrk="1" hangingPunct="1"/>
            <a:r>
              <a:rPr lang="zh-CN" altLang="en-US" dirty="0"/>
              <a:t>半导体在温度增高、受光照等条件下，导电能力会显著增加，利用这种特性可制造热敏电阻、光敏电阻等器件。 </a:t>
            </a:r>
          </a:p>
          <a:p>
            <a:pPr eaLnBrk="1" hangingPunct="1"/>
            <a:r>
              <a:rPr lang="zh-CN" altLang="en-US" dirty="0"/>
              <a:t>更重要的是，在本征半导体中掺入微量杂质后，其导电能力可增强几十万乃至几百万倍，利用这种特性可制造二极管、三极管等半导体器件。 </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6</a:t>
            </a:fld>
            <a:endParaRPr lang="zh-CN" altLang="en-US"/>
          </a:p>
        </p:txBody>
      </p:sp>
    </p:spTree>
    <p:extLst>
      <p:ext uri="{BB962C8B-B14F-4D97-AF65-F5344CB8AC3E}">
        <p14:creationId xmlns:p14="http://schemas.microsoft.com/office/powerpoint/2010/main" val="3653192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111111"/>
                </a:solidFill>
              </a:rPr>
              <a:t>自由电子产生的同时，在其原来的共价键中就出现了一个空位，称之为</a:t>
            </a:r>
            <a:r>
              <a:rPr kumimoji="1" lang="zh-CN" altLang="en-US" dirty="0">
                <a:solidFill>
                  <a:srgbClr val="FF0000"/>
                </a:solidFill>
              </a:rPr>
              <a:t>空穴</a:t>
            </a:r>
            <a:r>
              <a:rPr kumimoji="1" lang="zh-CN" altLang="en-US" dirty="0"/>
              <a:t>。</a:t>
            </a:r>
          </a:p>
          <a:p>
            <a:pPr eaLnBrk="1" hangingPunct="1"/>
            <a:r>
              <a:rPr kumimoji="1" lang="zh-CN" altLang="en-US" dirty="0"/>
              <a:t>空穴，也能像自由电子一样，起导电作用。</a:t>
            </a:r>
          </a:p>
          <a:p>
            <a:pPr eaLnBrk="1" hangingPunct="1"/>
            <a:r>
              <a:rPr kumimoji="1" lang="zh-CN" altLang="en-US" dirty="0"/>
              <a:t>载流子就是带有电荷、并可运动而输运电流的粒子。半导体中有两种载流子，即带负电的自由电子和带正电的空穴。</a:t>
            </a:r>
          </a:p>
          <a:p>
            <a:pPr eaLnBrk="1" hangingPunct="1"/>
            <a:r>
              <a:rPr kumimoji="1" lang="zh-CN" altLang="en-US" dirty="0"/>
              <a:t>一般来说，半导体中的价电子不完全像绝缘体中价电子所受束缚那样强，如果能从外界获得一定的能量</a:t>
            </a:r>
            <a:r>
              <a:rPr kumimoji="1" lang="en-US" altLang="zh-CN" dirty="0"/>
              <a:t>(</a:t>
            </a:r>
            <a:r>
              <a:rPr kumimoji="1" lang="zh-CN" altLang="en-US" dirty="0"/>
              <a:t>如光照、温升、电磁场激发等</a:t>
            </a:r>
            <a:r>
              <a:rPr kumimoji="1" lang="en-US" altLang="zh-CN" dirty="0"/>
              <a:t>)</a:t>
            </a:r>
            <a:r>
              <a:rPr kumimoji="1" lang="zh-CN" altLang="en-US" dirty="0"/>
              <a:t>，一些价电子就可能挣脱共价键的束缚而成为近似自由的电子（同时产生出一个空穴），这就是本征激发。 </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7</a:t>
            </a:fld>
            <a:endParaRPr lang="zh-CN" altLang="en-US"/>
          </a:p>
        </p:txBody>
      </p:sp>
    </p:spTree>
    <p:extLst>
      <p:ext uri="{BB962C8B-B14F-4D97-AF65-F5344CB8AC3E}">
        <p14:creationId xmlns:p14="http://schemas.microsoft.com/office/powerpoint/2010/main" val="4019849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111111"/>
                </a:solidFill>
              </a:rPr>
              <a:t>因五价杂质原子中只有四个价电子能与周围四个半导体原子中的价电子形成共价键，而多余的一个价电子因无共价键束缚而很容易形成自由电子。</a:t>
            </a:r>
            <a:endParaRPr kumimoji="1" lang="en-US" altLang="zh-CN" dirty="0">
              <a:solidFill>
                <a:srgbClr val="111111"/>
              </a:solidFill>
            </a:endParaRPr>
          </a:p>
          <a:p>
            <a:pPr eaLnBrk="1" hangingPunct="1"/>
            <a:r>
              <a:rPr kumimoji="1" lang="zh-CN" altLang="en-US" dirty="0">
                <a:solidFill>
                  <a:srgbClr val="111111"/>
                </a:solidFill>
              </a:rPr>
              <a:t>在</a:t>
            </a:r>
            <a:r>
              <a:rPr kumimoji="1" lang="en-US" altLang="zh-CN" dirty="0">
                <a:solidFill>
                  <a:srgbClr val="111111"/>
                </a:solidFill>
              </a:rPr>
              <a:t>N</a:t>
            </a:r>
            <a:r>
              <a:rPr kumimoji="1" lang="zh-CN" altLang="en-US" dirty="0">
                <a:solidFill>
                  <a:srgbClr val="111111"/>
                </a:solidFill>
              </a:rPr>
              <a:t>型半导体中自由电子是多数载流子，它主要由杂质原子提供；空穴是少数载流子</a:t>
            </a:r>
            <a:r>
              <a:rPr kumimoji="1" lang="en-US" altLang="zh-CN" dirty="0">
                <a:solidFill>
                  <a:srgbClr val="111111"/>
                </a:solidFill>
              </a:rPr>
              <a:t>, </a:t>
            </a:r>
            <a:r>
              <a:rPr kumimoji="1" lang="zh-CN" altLang="en-US" dirty="0">
                <a:solidFill>
                  <a:srgbClr val="111111"/>
                </a:solidFill>
              </a:rPr>
              <a:t>由热激发形成。</a:t>
            </a:r>
          </a:p>
          <a:p>
            <a:pPr eaLnBrk="1" hangingPunct="1"/>
            <a:r>
              <a:rPr kumimoji="1" lang="zh-CN" altLang="en-US" dirty="0">
                <a:solidFill>
                  <a:srgbClr val="111111"/>
                </a:solidFill>
              </a:rPr>
              <a:t>提供自由电子的五价杂质原子因带正电荷而成为正离子，因此五价杂质原子也称为施主杂质。</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9</a:t>
            </a:fld>
            <a:endParaRPr lang="zh-CN" altLang="en-US"/>
          </a:p>
        </p:txBody>
      </p:sp>
    </p:spTree>
    <p:extLst>
      <p:ext uri="{BB962C8B-B14F-4D97-AF65-F5344CB8AC3E}">
        <p14:creationId xmlns:p14="http://schemas.microsoft.com/office/powerpoint/2010/main" val="289674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在一块本征半导体两侧通过扩散不同的杂质</a:t>
            </a:r>
            <a:r>
              <a:rPr kumimoji="1" lang="en-US" altLang="zh-CN" dirty="0"/>
              <a:t>,</a:t>
            </a:r>
            <a:r>
              <a:rPr kumimoji="1" lang="zh-CN" altLang="en-US" dirty="0"/>
              <a:t>分别形成</a:t>
            </a:r>
            <a:r>
              <a:rPr kumimoji="1" lang="en-US" altLang="zh-CN" b="1" dirty="0">
                <a:solidFill>
                  <a:srgbClr val="0000FF"/>
                </a:solidFill>
              </a:rPr>
              <a:t>N</a:t>
            </a:r>
            <a:r>
              <a:rPr kumimoji="1" lang="zh-CN" altLang="en-US" dirty="0"/>
              <a:t>型半导体和</a:t>
            </a:r>
            <a:r>
              <a:rPr kumimoji="1" lang="en-US" altLang="zh-CN" b="1" dirty="0">
                <a:solidFill>
                  <a:srgbClr val="FF0000"/>
                </a:solidFill>
              </a:rPr>
              <a:t>P</a:t>
            </a:r>
            <a:r>
              <a:rPr kumimoji="1" lang="zh-CN" altLang="en-US" dirty="0"/>
              <a:t>型半导体。</a:t>
            </a:r>
            <a:endParaRPr kumimoji="1" lang="en-US" altLang="zh-CN" dirty="0"/>
          </a:p>
          <a:p>
            <a:pPr eaLnBrk="1" hangingPunct="1"/>
            <a:endParaRPr kumimoji="1" lang="zh-CN" altLang="en-US" dirty="0"/>
          </a:p>
          <a:p>
            <a:pPr eaLnBrk="1" hangingPunct="1"/>
            <a:r>
              <a:rPr lang="zh-CN" altLang="en-US" dirty="0">
                <a:solidFill>
                  <a:schemeClr val="bg1"/>
                </a:solidFill>
              </a:rPr>
              <a:t>杂质半导体的转型：当掺入三价元素的密度大于五价元素的密度时，可将</a:t>
            </a:r>
            <a:r>
              <a:rPr lang="en-US" altLang="zh-CN" dirty="0">
                <a:solidFill>
                  <a:srgbClr val="FFFF00"/>
                </a:solidFill>
              </a:rPr>
              <a:t>N</a:t>
            </a:r>
            <a:r>
              <a:rPr lang="zh-CN" altLang="en-US" dirty="0">
                <a:solidFill>
                  <a:schemeClr val="bg1"/>
                </a:solidFill>
              </a:rPr>
              <a:t>型转为</a:t>
            </a:r>
            <a:r>
              <a:rPr lang="en-US" altLang="zh-CN" dirty="0">
                <a:solidFill>
                  <a:srgbClr val="FFFF00"/>
                </a:solidFill>
              </a:rPr>
              <a:t>P</a:t>
            </a:r>
            <a:r>
              <a:rPr lang="zh-CN" altLang="en-US" dirty="0">
                <a:solidFill>
                  <a:schemeClr val="bg1"/>
                </a:solidFill>
              </a:rPr>
              <a:t>型；当掺入五价元素的密度大于三价元素的密度时，可将</a:t>
            </a:r>
            <a:r>
              <a:rPr lang="en-US" altLang="zh-CN" dirty="0">
                <a:solidFill>
                  <a:srgbClr val="FFFF00"/>
                </a:solidFill>
              </a:rPr>
              <a:t>P</a:t>
            </a:r>
            <a:r>
              <a:rPr lang="zh-CN" altLang="en-US" dirty="0">
                <a:solidFill>
                  <a:schemeClr val="bg1"/>
                </a:solidFill>
              </a:rPr>
              <a:t>型转为</a:t>
            </a:r>
            <a:r>
              <a:rPr lang="en-US" altLang="zh-CN" dirty="0">
                <a:solidFill>
                  <a:srgbClr val="FFFF00"/>
                </a:solidFill>
              </a:rPr>
              <a:t>N</a:t>
            </a:r>
            <a:r>
              <a:rPr lang="zh-CN" altLang="en-US" dirty="0">
                <a:solidFill>
                  <a:schemeClr val="bg1"/>
                </a:solidFill>
              </a:rPr>
              <a:t>型。</a:t>
            </a:r>
            <a:endParaRPr lang="en-US" altLang="zh-CN" dirty="0">
              <a:solidFill>
                <a:schemeClr val="bg1"/>
              </a:solidFill>
            </a:endParaRPr>
          </a:p>
          <a:p>
            <a:pPr eaLnBrk="1" hangingPunct="1"/>
            <a:endParaRPr lang="zh-CN" altLang="en-US" dirty="0">
              <a:solidFill>
                <a:schemeClr val="bg1"/>
              </a:solidFill>
            </a:endParaRPr>
          </a:p>
          <a:p>
            <a:pPr eaLnBrk="1" hangingPunct="1"/>
            <a:r>
              <a:rPr lang="zh-CN" altLang="en-US" dirty="0"/>
              <a:t>以</a:t>
            </a:r>
            <a:r>
              <a:rPr lang="en-US" altLang="zh-CN" dirty="0"/>
              <a:t>N</a:t>
            </a:r>
            <a:r>
              <a:rPr lang="zh-CN" altLang="en-US" dirty="0"/>
              <a:t>型半导体为基片，通过扩散工艺使半导体的一边形成</a:t>
            </a:r>
            <a:r>
              <a:rPr lang="en-US" altLang="zh-CN" dirty="0"/>
              <a:t>N</a:t>
            </a:r>
            <a:r>
              <a:rPr lang="zh-CN" altLang="en-US" dirty="0"/>
              <a:t>型区，另一边形成</a:t>
            </a:r>
            <a:r>
              <a:rPr lang="en-US" altLang="zh-CN" dirty="0"/>
              <a:t>P</a:t>
            </a:r>
            <a:r>
              <a:rPr lang="zh-CN" altLang="en-US" dirty="0"/>
              <a:t>型区。</a:t>
            </a:r>
            <a:endParaRPr lang="en-US" altLang="zh-CN" dirty="0"/>
          </a:p>
          <a:p>
            <a:pPr eaLnBrk="1" hangingPunct="1"/>
            <a:endParaRPr lang="zh-CN" altLang="en-US" dirty="0"/>
          </a:p>
          <a:p>
            <a:pPr eaLnBrk="1" hangingPunct="1"/>
            <a:r>
              <a:rPr kumimoji="1" lang="zh-CN" altLang="en-US" dirty="0">
                <a:solidFill>
                  <a:schemeClr val="bg1"/>
                </a:solidFill>
              </a:rPr>
              <a:t>在浓度差的作用下，两边多子互相扩散。在</a:t>
            </a:r>
            <a:r>
              <a:rPr kumimoji="1" lang="en-US" altLang="zh-CN" dirty="0">
                <a:solidFill>
                  <a:schemeClr val="bg1"/>
                </a:solidFill>
              </a:rPr>
              <a:t>P</a:t>
            </a:r>
            <a:r>
              <a:rPr kumimoji="1" lang="zh-CN" altLang="en-US" dirty="0">
                <a:solidFill>
                  <a:schemeClr val="bg1"/>
                </a:solidFill>
              </a:rPr>
              <a:t>区和</a:t>
            </a:r>
            <a:r>
              <a:rPr kumimoji="1" lang="en-US" altLang="zh-CN" dirty="0">
                <a:solidFill>
                  <a:schemeClr val="bg1"/>
                </a:solidFill>
              </a:rPr>
              <a:t>N</a:t>
            </a:r>
            <a:r>
              <a:rPr kumimoji="1" lang="zh-CN" altLang="en-US" dirty="0">
                <a:solidFill>
                  <a:schemeClr val="bg1"/>
                </a:solidFill>
              </a:rPr>
              <a:t>区交界面上，形成了一层不能移动的正、负离子，称为</a:t>
            </a:r>
            <a:r>
              <a:rPr kumimoji="1" lang="zh-CN" altLang="en-US" dirty="0"/>
              <a:t>空间电荷区，也称耗尽区，势垒区，即</a:t>
            </a:r>
            <a:r>
              <a:rPr kumimoji="1" lang="en-US" altLang="zh-CN" dirty="0"/>
              <a:t>PN</a:t>
            </a:r>
            <a:r>
              <a:rPr kumimoji="1" lang="zh-CN" altLang="en-US" dirty="0"/>
              <a:t>结。空间电荷区形成的内电场一方面阻碍多子的扩散，另一方面加速少子的漂移，最终达到动态平衡。</a:t>
            </a:r>
            <a:endParaRPr kumimoji="1" lang="en-US" altLang="zh-CN" dirty="0"/>
          </a:p>
          <a:p>
            <a:pPr eaLnBrk="1" hangingPunct="1"/>
            <a:endParaRPr kumimoji="1" lang="zh-CN" altLang="en-US" dirty="0"/>
          </a:p>
          <a:p>
            <a:pPr eaLnBrk="1" hangingPunct="1"/>
            <a:r>
              <a:rPr kumimoji="1" lang="zh-CN" altLang="en-US" dirty="0"/>
              <a:t>扩散的结果是使空间电荷区逐渐加宽，空间电荷区越宽，内电场越强，就使漂移运动越强，而漂移使空间电荷区变薄。所以扩散和漂移这一对相反的运动最终达到平衡，相当于两个区之间没有电荷运动，空间电荷区的厚度固定不变。</a:t>
            </a:r>
            <a:endParaRPr kumimoji="1" lang="en-US" altLang="zh-CN" dirty="0"/>
          </a:p>
          <a:p>
            <a:pPr eaLnBrk="1" hangingPunct="1"/>
            <a:endParaRPr kumimoji="1" lang="zh-CN" altLang="en-US" dirty="0"/>
          </a:p>
          <a:p>
            <a:pPr eaLnBrk="1" hangingPunct="1"/>
            <a:r>
              <a:rPr kumimoji="1" lang="zh-CN" altLang="en-US" dirty="0"/>
              <a:t>漂移运动：在电场作用下引起的载流子的运动。</a:t>
            </a:r>
          </a:p>
          <a:p>
            <a:pPr eaLnBrk="1" hangingPunct="1"/>
            <a:r>
              <a:rPr kumimoji="1" lang="zh-CN" altLang="en-US" dirty="0"/>
              <a:t>扩散运动：因载流子的浓度差引起的载流子的运动。</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12</a:t>
            </a:fld>
            <a:endParaRPr lang="zh-CN" altLang="en-US"/>
          </a:p>
        </p:txBody>
      </p:sp>
    </p:spTree>
    <p:extLst>
      <p:ext uri="{BB962C8B-B14F-4D97-AF65-F5344CB8AC3E}">
        <p14:creationId xmlns:p14="http://schemas.microsoft.com/office/powerpoint/2010/main" val="2483064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t>PN</a:t>
            </a:r>
            <a:r>
              <a:rPr lang="zh-CN" altLang="en-US" dirty="0"/>
              <a:t>结正向偏置</a:t>
            </a:r>
            <a:r>
              <a:rPr lang="en-US" altLang="zh-CN" dirty="0"/>
              <a:t>—— </a:t>
            </a:r>
            <a:r>
              <a:rPr lang="zh-CN" altLang="en-US" dirty="0"/>
              <a:t>当外加直流电压使</a:t>
            </a:r>
            <a:r>
              <a:rPr lang="en-US" altLang="zh-CN" dirty="0"/>
              <a:t>PN</a:t>
            </a:r>
            <a:r>
              <a:rPr lang="zh-CN" altLang="en-US" dirty="0"/>
              <a:t>结</a:t>
            </a:r>
            <a:r>
              <a:rPr lang="en-US" altLang="zh-CN" dirty="0"/>
              <a:t>P</a:t>
            </a:r>
            <a:r>
              <a:rPr lang="zh-CN" altLang="en-US" dirty="0"/>
              <a:t>型半导体的一端的电位高于</a:t>
            </a:r>
            <a:r>
              <a:rPr lang="en-US" altLang="zh-CN" dirty="0"/>
              <a:t>N</a:t>
            </a:r>
            <a:r>
              <a:rPr lang="zh-CN" altLang="en-US" dirty="0"/>
              <a:t>型半导体一端的电位时，称</a:t>
            </a:r>
            <a:r>
              <a:rPr lang="en-US" altLang="zh-CN" dirty="0"/>
              <a:t>PN</a:t>
            </a:r>
            <a:r>
              <a:rPr lang="zh-CN" altLang="en-US" dirty="0"/>
              <a:t>结正向偏置，简称正偏。</a:t>
            </a:r>
          </a:p>
          <a:p>
            <a:pPr eaLnBrk="1" hangingPunct="1"/>
            <a:r>
              <a:rPr lang="en-US" altLang="zh-CN" dirty="0"/>
              <a:t>PN</a:t>
            </a:r>
            <a:r>
              <a:rPr lang="zh-CN" altLang="en-US" dirty="0"/>
              <a:t>结反向偏置</a:t>
            </a:r>
            <a:r>
              <a:rPr lang="en-US" altLang="zh-CN" dirty="0"/>
              <a:t>—— </a:t>
            </a:r>
            <a:r>
              <a:rPr lang="zh-CN" altLang="en-US" dirty="0"/>
              <a:t>当外加直流电压使</a:t>
            </a:r>
            <a:r>
              <a:rPr lang="en-US" altLang="zh-CN" dirty="0"/>
              <a:t>PN</a:t>
            </a:r>
            <a:r>
              <a:rPr lang="zh-CN" altLang="en-US" dirty="0"/>
              <a:t>结</a:t>
            </a:r>
            <a:r>
              <a:rPr lang="en-US" altLang="zh-CN" dirty="0"/>
              <a:t>N</a:t>
            </a:r>
            <a:r>
              <a:rPr lang="zh-CN" altLang="en-US" dirty="0"/>
              <a:t>型半导体的一端的电位高于</a:t>
            </a:r>
            <a:r>
              <a:rPr lang="en-US" altLang="zh-CN" dirty="0"/>
              <a:t>P</a:t>
            </a:r>
            <a:r>
              <a:rPr lang="zh-CN" altLang="en-US" dirty="0"/>
              <a:t>型半导体一端的电位时，称</a:t>
            </a:r>
            <a:r>
              <a:rPr lang="en-US" altLang="zh-CN" dirty="0"/>
              <a:t>PN</a:t>
            </a:r>
            <a:r>
              <a:rPr lang="zh-CN" altLang="en-US" dirty="0"/>
              <a:t>结反向偏置，简称反偏。</a:t>
            </a:r>
            <a:endParaRPr lang="en-US" altLang="zh-CN" dirty="0"/>
          </a:p>
          <a:p>
            <a:pPr eaLnBrk="1" hangingPunct="1"/>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r>
              <a:rPr lang="en-US" altLang="zh-CN" sz="900" dirty="0">
                <a:solidFill>
                  <a:srgbClr val="3333FF"/>
                </a:solidFill>
                <a:latin typeface="黑体" panose="02010609060101010101" pitchFamily="49" charset="-122"/>
                <a:ea typeface="黑体" panose="02010609060101010101" pitchFamily="49" charset="-122"/>
              </a:rPr>
              <a:t>PN</a:t>
            </a:r>
            <a:r>
              <a:rPr lang="zh-CN" altLang="en-US" sz="900" dirty="0">
                <a:solidFill>
                  <a:srgbClr val="3333FF"/>
                </a:solidFill>
                <a:latin typeface="黑体" panose="02010609060101010101" pitchFamily="49" charset="-122"/>
                <a:ea typeface="黑体" panose="02010609060101010101" pitchFamily="49" charset="-122"/>
              </a:rPr>
              <a:t>结内部有</a:t>
            </a:r>
            <a:r>
              <a:rPr lang="en-US" altLang="zh-CN" sz="900" dirty="0">
                <a:solidFill>
                  <a:srgbClr val="3333FF"/>
                </a:solidFill>
                <a:latin typeface="黑体" panose="02010609060101010101" pitchFamily="49" charset="-122"/>
                <a:ea typeface="黑体" panose="02010609060101010101" pitchFamily="49" charset="-122"/>
              </a:rPr>
              <a:t>N-&gt;P</a:t>
            </a:r>
            <a:r>
              <a:rPr lang="zh-CN" altLang="en-US" sz="900" dirty="0">
                <a:solidFill>
                  <a:srgbClr val="3333FF"/>
                </a:solidFill>
                <a:latin typeface="黑体" panose="02010609060101010101" pitchFamily="49" charset="-122"/>
                <a:ea typeface="黑体" panose="02010609060101010101" pitchFamily="49" charset="-122"/>
              </a:rPr>
              <a:t>方向的电场。当正向偏压时，</a:t>
            </a:r>
            <a:r>
              <a:rPr lang="en-US" altLang="zh-CN" sz="900" dirty="0">
                <a:solidFill>
                  <a:srgbClr val="3333FF"/>
                </a:solidFill>
                <a:latin typeface="黑体" panose="02010609060101010101" pitchFamily="49" charset="-122"/>
                <a:ea typeface="黑体" panose="02010609060101010101" pitchFamily="49" charset="-122"/>
              </a:rPr>
              <a:t>P</a:t>
            </a:r>
            <a:r>
              <a:rPr lang="zh-CN" altLang="en-US" sz="900" dirty="0">
                <a:solidFill>
                  <a:srgbClr val="3333FF"/>
                </a:solidFill>
                <a:latin typeface="黑体" panose="02010609060101010101" pitchFamily="49" charset="-122"/>
                <a:ea typeface="黑体" panose="02010609060101010101" pitchFamily="49" charset="-122"/>
              </a:rPr>
              <a:t>边的空穴受电场驱动向</a:t>
            </a:r>
            <a:r>
              <a:rPr lang="en-US" altLang="zh-CN" sz="900" dirty="0">
                <a:solidFill>
                  <a:srgbClr val="3333FF"/>
                </a:solidFill>
                <a:latin typeface="黑体" panose="02010609060101010101" pitchFamily="49" charset="-122"/>
                <a:ea typeface="黑体" panose="02010609060101010101" pitchFamily="49" charset="-122"/>
              </a:rPr>
              <a:t>PN</a:t>
            </a:r>
            <a:r>
              <a:rPr lang="zh-CN" altLang="en-US" sz="900" dirty="0">
                <a:solidFill>
                  <a:srgbClr val="3333FF"/>
                </a:solidFill>
                <a:latin typeface="黑体" panose="02010609060101010101" pitchFamily="49" charset="-122"/>
                <a:ea typeface="黑体" panose="02010609060101010101" pitchFamily="49" charset="-122"/>
              </a:rPr>
              <a:t>结移动，中和一部分在界面左边的负电量；</a:t>
            </a:r>
            <a:r>
              <a:rPr lang="en-US" altLang="zh-CN" sz="900" dirty="0">
                <a:solidFill>
                  <a:srgbClr val="3333FF"/>
                </a:solidFill>
                <a:latin typeface="黑体" panose="02010609060101010101" pitchFamily="49" charset="-122"/>
                <a:ea typeface="黑体" panose="02010609060101010101" pitchFamily="49" charset="-122"/>
              </a:rPr>
              <a:t>N</a:t>
            </a:r>
            <a:r>
              <a:rPr lang="zh-CN" altLang="en-US" sz="900" dirty="0">
                <a:solidFill>
                  <a:srgbClr val="3333FF"/>
                </a:solidFill>
                <a:latin typeface="黑体" panose="02010609060101010101" pitchFamily="49" charset="-122"/>
                <a:ea typeface="黑体" panose="02010609060101010101" pitchFamily="49" charset="-122"/>
              </a:rPr>
              <a:t>边的电子向</a:t>
            </a:r>
            <a:r>
              <a:rPr lang="de-DE" altLang="zh-CN" sz="900" dirty="0">
                <a:solidFill>
                  <a:srgbClr val="3333FF"/>
                </a:solidFill>
                <a:latin typeface="黑体" panose="02010609060101010101" pitchFamily="49" charset="-122"/>
                <a:ea typeface="黑体" panose="02010609060101010101" pitchFamily="49" charset="-122"/>
              </a:rPr>
              <a:t>PN</a:t>
            </a:r>
            <a:r>
              <a:rPr lang="zh-CN" altLang="en-US" sz="900" dirty="0">
                <a:solidFill>
                  <a:srgbClr val="3333FF"/>
                </a:solidFill>
                <a:latin typeface="黑体" panose="02010609060101010101" pitchFamily="49" charset="-122"/>
                <a:ea typeface="黑体" panose="02010609060101010101" pitchFamily="49" charset="-122"/>
              </a:rPr>
              <a:t>结移动，中和一部分界面右边的正电量，因此整体的</a:t>
            </a:r>
            <a:r>
              <a:rPr lang="en-US" altLang="zh-CN" sz="900" dirty="0">
                <a:solidFill>
                  <a:srgbClr val="3333FF"/>
                </a:solidFill>
                <a:latin typeface="黑体" panose="02010609060101010101" pitchFamily="49" charset="-122"/>
                <a:ea typeface="黑体" panose="02010609060101010101" pitchFamily="49" charset="-122"/>
              </a:rPr>
              <a:t>PN</a:t>
            </a:r>
            <a:r>
              <a:rPr lang="zh-CN" altLang="en-US" sz="900" dirty="0">
                <a:solidFill>
                  <a:srgbClr val="3333FF"/>
                </a:solidFill>
                <a:latin typeface="黑体" panose="02010609060101010101" pitchFamily="49" charset="-122"/>
                <a:ea typeface="黑体" panose="02010609060101010101" pitchFamily="49" charset="-122"/>
              </a:rPr>
              <a:t>结宽度减小。更加容易导电，尤其是当电压大到</a:t>
            </a:r>
            <a:r>
              <a:rPr lang="en-US" altLang="zh-CN" sz="900" dirty="0">
                <a:solidFill>
                  <a:srgbClr val="3333FF"/>
                </a:solidFill>
                <a:latin typeface="黑体" panose="02010609060101010101" pitchFamily="49" charset="-122"/>
                <a:ea typeface="黑体" panose="02010609060101010101" pitchFamily="49" charset="-122"/>
              </a:rPr>
              <a:t>PN</a:t>
            </a:r>
            <a:r>
              <a:rPr lang="zh-CN" altLang="en-US" sz="900" dirty="0">
                <a:solidFill>
                  <a:srgbClr val="3333FF"/>
                </a:solidFill>
                <a:latin typeface="黑体" panose="02010609060101010101" pitchFamily="49" charset="-122"/>
                <a:ea typeface="黑体" panose="02010609060101010101" pitchFamily="49" charset="-122"/>
              </a:rPr>
              <a:t>结几乎消失之后，电阻急剧降低。</a:t>
            </a:r>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r>
              <a:rPr lang="zh-CN" altLang="en-US" sz="900" dirty="0">
                <a:solidFill>
                  <a:srgbClr val="3333FF"/>
                </a:solidFill>
                <a:latin typeface="黑体" panose="02010609060101010101" pitchFamily="49" charset="-122"/>
                <a:ea typeface="黑体" panose="02010609060101010101" pitchFamily="49" charset="-122"/>
              </a:rPr>
              <a:t>反向电压加上后，</a:t>
            </a:r>
            <a:r>
              <a:rPr lang="en-US" altLang="zh-CN" sz="900" dirty="0">
                <a:solidFill>
                  <a:srgbClr val="3333FF"/>
                </a:solidFill>
                <a:latin typeface="黑体" panose="02010609060101010101" pitchFamily="49" charset="-122"/>
                <a:ea typeface="黑体" panose="02010609060101010101" pitchFamily="49" charset="-122"/>
              </a:rPr>
              <a:t>PN</a:t>
            </a:r>
            <a:r>
              <a:rPr lang="zh-CN" altLang="en-US" sz="900" dirty="0">
                <a:solidFill>
                  <a:srgbClr val="3333FF"/>
                </a:solidFill>
                <a:latin typeface="黑体" panose="02010609060101010101" pitchFamily="49" charset="-122"/>
                <a:ea typeface="黑体" panose="02010609060101010101" pitchFamily="49" charset="-122"/>
              </a:rPr>
              <a:t>结变大，电阻变大。</a:t>
            </a:r>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r>
              <a:rPr lang="zh-CN" altLang="en-US" sz="900" dirty="0">
                <a:solidFill>
                  <a:srgbClr val="3333FF"/>
                </a:solidFill>
                <a:latin typeface="黑体" panose="02010609060101010101" pitchFamily="49" charset="-122"/>
                <a:ea typeface="黑体" panose="02010609060101010101" pitchFamily="49" charset="-122"/>
              </a:rPr>
              <a:t>而当反向电压大到一定程度，则可能发生雪崩击穿（和／或奇纳击穿：仅仅在掺杂浓度非常高的情况下），产生大量新的电子空穴对，增加导电能力。参见模电</a:t>
            </a:r>
            <a:r>
              <a:rPr lang="en-US" altLang="zh-CN" sz="900" dirty="0">
                <a:solidFill>
                  <a:srgbClr val="3333FF"/>
                </a:solidFill>
                <a:latin typeface="黑体" panose="02010609060101010101" pitchFamily="49" charset="-122"/>
                <a:ea typeface="黑体" panose="02010609060101010101" pitchFamily="49" charset="-122"/>
              </a:rPr>
              <a:t>P56</a:t>
            </a:r>
            <a:r>
              <a:rPr lang="zh-CN" altLang="en-US" sz="900" dirty="0">
                <a:solidFill>
                  <a:srgbClr val="3333FF"/>
                </a:solidFill>
                <a:latin typeface="黑体" panose="02010609060101010101" pitchFamily="49" charset="-122"/>
                <a:ea typeface="黑体" panose="02010609060101010101" pitchFamily="49" charset="-122"/>
              </a:rPr>
              <a:t>。</a:t>
            </a:r>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r>
              <a:rPr lang="en-US" altLang="zh-CN" sz="900" dirty="0">
                <a:solidFill>
                  <a:srgbClr val="3333FF"/>
                </a:solidFill>
                <a:latin typeface="黑体" panose="02010609060101010101" pitchFamily="49" charset="-122"/>
                <a:ea typeface="黑体" panose="02010609060101010101" pitchFamily="49" charset="-122"/>
              </a:rPr>
              <a:t>PN</a:t>
            </a:r>
            <a:r>
              <a:rPr lang="zh-CN" altLang="en-US" sz="900" dirty="0">
                <a:solidFill>
                  <a:srgbClr val="3333FF"/>
                </a:solidFill>
                <a:latin typeface="黑体" panose="02010609060101010101" pitchFamily="49" charset="-122"/>
                <a:ea typeface="黑体" panose="02010609060101010101" pitchFamily="49" charset="-122"/>
              </a:rPr>
              <a:t>结加正向电压时，呈现低电阻，具有较大的正向扩散电流；</a:t>
            </a:r>
          </a:p>
          <a:p>
            <a:pPr eaLnBrk="1" hangingPunct="1"/>
            <a:r>
              <a:rPr lang="en-US" altLang="zh-CN" sz="900" dirty="0">
                <a:solidFill>
                  <a:srgbClr val="3333FF"/>
                </a:solidFill>
                <a:latin typeface="黑体" panose="02010609060101010101" pitchFamily="49" charset="-122"/>
                <a:ea typeface="黑体" panose="02010609060101010101" pitchFamily="49" charset="-122"/>
              </a:rPr>
              <a:t>PN</a:t>
            </a:r>
            <a:r>
              <a:rPr lang="zh-CN" altLang="en-US" sz="900" dirty="0">
                <a:solidFill>
                  <a:srgbClr val="3333FF"/>
                </a:solidFill>
                <a:latin typeface="黑体" panose="02010609060101010101" pitchFamily="49" charset="-122"/>
                <a:ea typeface="黑体" panose="02010609060101010101" pitchFamily="49" charset="-122"/>
              </a:rPr>
              <a:t>结加反向电压时，呈现高电阻，具有很小的反向漂移电流。</a:t>
            </a:r>
          </a:p>
          <a:p>
            <a:pPr eaLnBrk="1" hangingPunct="1"/>
            <a:r>
              <a:rPr lang="zh-CN" altLang="en-US" sz="900" dirty="0">
                <a:solidFill>
                  <a:srgbClr val="3333FF"/>
                </a:solidFill>
                <a:latin typeface="黑体" panose="02010609060101010101" pitchFamily="49" charset="-122"/>
                <a:ea typeface="黑体" panose="02010609060101010101" pitchFamily="49" charset="-122"/>
              </a:rPr>
              <a:t>由此可以得出结论：</a:t>
            </a:r>
            <a:r>
              <a:rPr lang="en-US" altLang="zh-CN" sz="900" dirty="0">
                <a:solidFill>
                  <a:srgbClr val="3333FF"/>
                </a:solidFill>
                <a:latin typeface="黑体" panose="02010609060101010101" pitchFamily="49" charset="-122"/>
                <a:ea typeface="黑体" panose="02010609060101010101" pitchFamily="49" charset="-122"/>
              </a:rPr>
              <a:t>PN</a:t>
            </a:r>
            <a:r>
              <a:rPr lang="zh-CN" altLang="en-US" sz="900" dirty="0">
                <a:solidFill>
                  <a:srgbClr val="3333FF"/>
                </a:solidFill>
                <a:latin typeface="黑体" panose="02010609060101010101" pitchFamily="49" charset="-122"/>
                <a:ea typeface="黑体" panose="02010609060101010101" pitchFamily="49" charset="-122"/>
              </a:rPr>
              <a:t>结具有单向导电性。</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13</a:t>
            </a:fld>
            <a:endParaRPr lang="zh-CN" altLang="en-US"/>
          </a:p>
        </p:txBody>
      </p:sp>
    </p:spTree>
    <p:extLst>
      <p:ext uri="{BB962C8B-B14F-4D97-AF65-F5344CB8AC3E}">
        <p14:creationId xmlns:p14="http://schemas.microsoft.com/office/powerpoint/2010/main" val="3591376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3333FF"/>
                </a:solidFill>
                <a:latin typeface="黑体" panose="02010609060101010101" pitchFamily="49" charset="-122"/>
                <a:ea typeface="黑体" panose="02010609060101010101" pitchFamily="49" charset="-122"/>
              </a:rPr>
              <a:t>在</a:t>
            </a:r>
            <a:r>
              <a:rPr lang="en-US" altLang="zh-CN" dirty="0">
                <a:solidFill>
                  <a:srgbClr val="3333FF"/>
                </a:solidFill>
                <a:latin typeface="黑体" panose="02010609060101010101" pitchFamily="49" charset="-122"/>
                <a:ea typeface="黑体" panose="02010609060101010101" pitchFamily="49" charset="-122"/>
              </a:rPr>
              <a:t>PN</a:t>
            </a:r>
            <a:r>
              <a:rPr lang="zh-CN" altLang="en-US" dirty="0">
                <a:solidFill>
                  <a:srgbClr val="3333FF"/>
                </a:solidFill>
                <a:latin typeface="黑体" panose="02010609060101010101" pitchFamily="49" charset="-122"/>
                <a:ea typeface="黑体" panose="02010609060101010101" pitchFamily="49" charset="-122"/>
              </a:rPr>
              <a:t>结上加上引线和封装，就成为一个二极管。二极管按结构分有点接触型、面接触型两大类。</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15</a:t>
            </a:fld>
            <a:endParaRPr lang="zh-CN" altLang="en-US"/>
          </a:p>
        </p:txBody>
      </p:sp>
    </p:spTree>
    <p:extLst>
      <p:ext uri="{BB962C8B-B14F-4D97-AF65-F5344CB8AC3E}">
        <p14:creationId xmlns:p14="http://schemas.microsoft.com/office/powerpoint/2010/main" val="4067786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阳极：</a:t>
            </a:r>
            <a:r>
              <a:rPr lang="en-US" altLang="zh-CN" dirty="0" err="1">
                <a:solidFill>
                  <a:srgbClr val="3333FF"/>
                </a:solidFill>
                <a:latin typeface="黑体" panose="02010609060101010101" pitchFamily="49" charset="-122"/>
                <a:ea typeface="黑体" panose="02010609060101010101" pitchFamily="49" charset="-122"/>
              </a:rPr>
              <a:t>adode</a:t>
            </a:r>
            <a:r>
              <a:rPr lang="zh-CN" altLang="en-US" dirty="0">
                <a:solidFill>
                  <a:srgbClr val="3333FF"/>
                </a:solidFill>
                <a:latin typeface="黑体" panose="02010609060101010101" pitchFamily="49" charset="-122"/>
                <a:ea typeface="黑体" panose="02010609060101010101" pitchFamily="49" charset="-122"/>
              </a:rPr>
              <a:t>；阴极：</a:t>
            </a:r>
            <a:r>
              <a:rPr lang="en-US" altLang="zh-CN" dirty="0" err="1">
                <a:solidFill>
                  <a:srgbClr val="3333FF"/>
                </a:solidFill>
                <a:latin typeface="黑体" panose="02010609060101010101" pitchFamily="49" charset="-122"/>
                <a:ea typeface="黑体" panose="02010609060101010101" pitchFamily="49" charset="-122"/>
              </a:rPr>
              <a:t>kathode</a:t>
            </a:r>
            <a:r>
              <a:rPr lang="zh-CN" altLang="en-US" dirty="0">
                <a:solidFill>
                  <a:srgbClr val="3333FF"/>
                </a:solidFill>
                <a:latin typeface="黑体" panose="02010609060101010101" pitchFamily="49" charset="-122"/>
                <a:ea typeface="黑体" panose="02010609060101010101" pitchFamily="49" charset="-122"/>
              </a:rPr>
              <a:t>（</a:t>
            </a:r>
            <a:r>
              <a:rPr lang="en-US" altLang="zh-CN" dirty="0">
                <a:solidFill>
                  <a:srgbClr val="3333FF"/>
                </a:solidFill>
                <a:latin typeface="黑体" panose="02010609060101010101" pitchFamily="49" charset="-122"/>
                <a:ea typeface="黑体" panose="02010609060101010101" pitchFamily="49" charset="-122"/>
              </a:rPr>
              <a:t>cathode</a:t>
            </a:r>
            <a:r>
              <a:rPr lang="zh-CN" altLang="en-US" dirty="0">
                <a:solidFill>
                  <a:srgbClr val="3333FF"/>
                </a:solidFill>
                <a:latin typeface="黑体" panose="02010609060101010101" pitchFamily="49" charset="-122"/>
                <a:ea typeface="黑体" panose="02010609060101010101" pitchFamily="49" charset="-122"/>
              </a:rPr>
              <a:t>）</a:t>
            </a:r>
            <a:endParaRPr lang="en-US" altLang="zh-CN" dirty="0">
              <a:solidFill>
                <a:srgbClr val="3333FF"/>
              </a:solidFill>
              <a:latin typeface="黑体" panose="02010609060101010101" pitchFamily="49" charset="-122"/>
              <a:ea typeface="黑体" panose="02010609060101010101" pitchFamily="49" charset="-122"/>
            </a:endParaRPr>
          </a:p>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点接触型：</a:t>
            </a:r>
            <a:r>
              <a:rPr lang="en-US" altLang="zh-CN" dirty="0">
                <a:solidFill>
                  <a:srgbClr val="3333FF"/>
                </a:solidFill>
                <a:latin typeface="黑体" panose="02010609060101010101" pitchFamily="49" charset="-122"/>
                <a:ea typeface="黑体" panose="02010609060101010101" pitchFamily="49" charset="-122"/>
              </a:rPr>
              <a:t>PN</a:t>
            </a:r>
            <a:r>
              <a:rPr lang="zh-CN" altLang="en-US" dirty="0">
                <a:solidFill>
                  <a:srgbClr val="3333FF"/>
                </a:solidFill>
                <a:latin typeface="黑体" panose="02010609060101010101" pitchFamily="49" charset="-122"/>
                <a:ea typeface="黑体" panose="02010609060101010101" pitchFamily="49" charset="-122"/>
              </a:rPr>
              <a:t>结面积小，结电容小，用于检波和变频等高频电路。</a:t>
            </a:r>
            <a:endParaRPr lang="en-US" altLang="zh-CN" dirty="0">
              <a:solidFill>
                <a:srgbClr val="3333FF"/>
              </a:solidFill>
              <a:latin typeface="黑体" panose="02010609060101010101" pitchFamily="49" charset="-122"/>
              <a:ea typeface="黑体" panose="02010609060101010101" pitchFamily="49" charset="-122"/>
            </a:endParaRPr>
          </a:p>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面接触型：</a:t>
            </a:r>
            <a:r>
              <a:rPr lang="en-US" altLang="zh-CN" dirty="0">
                <a:solidFill>
                  <a:srgbClr val="3333FF"/>
                </a:solidFill>
                <a:latin typeface="黑体" panose="02010609060101010101" pitchFamily="49" charset="-122"/>
                <a:ea typeface="黑体" panose="02010609060101010101" pitchFamily="49" charset="-122"/>
              </a:rPr>
              <a:t>PN</a:t>
            </a:r>
            <a:r>
              <a:rPr lang="zh-CN" altLang="en-US" dirty="0">
                <a:solidFill>
                  <a:srgbClr val="3333FF"/>
                </a:solidFill>
                <a:latin typeface="黑体" panose="02010609060101010101" pitchFamily="49" charset="-122"/>
                <a:ea typeface="黑体" panose="02010609060101010101" pitchFamily="49" charset="-122"/>
              </a:rPr>
              <a:t>结面积大，用于工频大电流整流电路。</a:t>
            </a:r>
            <a:endParaRPr lang="en-US" altLang="zh-CN" dirty="0">
              <a:solidFill>
                <a:srgbClr val="3333FF"/>
              </a:solidFill>
              <a:latin typeface="黑体" panose="02010609060101010101" pitchFamily="49" charset="-122"/>
              <a:ea typeface="黑体" panose="02010609060101010101" pitchFamily="49" charset="-122"/>
            </a:endParaRPr>
          </a:p>
          <a:p>
            <a:pPr eaLnBrk="1" hangingPunct="1">
              <a:lnSpc>
                <a:spcPct val="130000"/>
              </a:lnSpc>
            </a:pPr>
            <a:endParaRPr lang="en-US" altLang="zh-CN" dirty="0">
              <a:solidFill>
                <a:srgbClr val="3333FF"/>
              </a:solidFill>
              <a:latin typeface="黑体" panose="02010609060101010101" pitchFamily="49" charset="-122"/>
              <a:ea typeface="黑体" panose="02010609060101010101" pitchFamily="49" charset="-122"/>
            </a:endParaRPr>
          </a:p>
          <a:p>
            <a:pPr eaLnBrk="1" hangingPunct="1">
              <a:lnSpc>
                <a:spcPct val="130000"/>
              </a:lnSpc>
            </a:pPr>
            <a:r>
              <a:rPr lang="zh-CN" altLang="en-US" dirty="0"/>
              <a:t>点接触型二极管是用一根很细的金属丝压在光洁的半导体晶片表面，通以脉冲电流，使触丝一端与晶片牢固地烧结在一起，形成一个“</a:t>
            </a:r>
            <a:r>
              <a:rPr lang="en-US" altLang="zh-CN" dirty="0"/>
              <a:t>PN</a:t>
            </a:r>
            <a:r>
              <a:rPr lang="zh-CN" altLang="en-US" dirty="0"/>
              <a:t>结”。由于是点接触，只允许通过较小的电流（不超过几十毫安），适用于高频小电流电路，如收音机的检波等。</a:t>
            </a:r>
            <a:endParaRPr lang="en-US" altLang="zh-CN" dirty="0"/>
          </a:p>
          <a:p>
            <a:pPr eaLnBrk="1" hangingPunct="1">
              <a:lnSpc>
                <a:spcPct val="130000"/>
              </a:lnSpc>
            </a:pPr>
            <a:endParaRPr lang="en-US" altLang="zh-CN" dirty="0"/>
          </a:p>
          <a:p>
            <a:pPr eaLnBrk="1" hangingPunct="1">
              <a:lnSpc>
                <a:spcPct val="130000"/>
              </a:lnSpc>
            </a:pPr>
            <a:r>
              <a:rPr lang="zh-CN" altLang="en-US" dirty="0"/>
              <a:t>面接触二极管是利用扩散、多用合金及外延等掺杂方法，实现</a:t>
            </a:r>
            <a:r>
              <a:rPr lang="en-US" altLang="zh-CN" dirty="0"/>
              <a:t>P</a:t>
            </a:r>
            <a:r>
              <a:rPr lang="zh-CN" altLang="en-US" dirty="0"/>
              <a:t>型半导体和</a:t>
            </a:r>
            <a:r>
              <a:rPr lang="en-US" altLang="zh-CN" dirty="0"/>
              <a:t>N</a:t>
            </a:r>
            <a:r>
              <a:rPr lang="zh-CN" altLang="en-US" dirty="0"/>
              <a:t>型半导体直接接触而形成</a:t>
            </a:r>
            <a:r>
              <a:rPr lang="en-US" altLang="zh-CN" dirty="0"/>
              <a:t>PN</a:t>
            </a:r>
            <a:r>
              <a:rPr lang="zh-CN" altLang="en-US" dirty="0"/>
              <a:t>结的。</a:t>
            </a:r>
            <a:endParaRPr lang="en-US" altLang="zh-CN" dirty="0"/>
          </a:p>
          <a:p>
            <a:pPr eaLnBrk="1" hangingPunct="1">
              <a:lnSpc>
                <a:spcPct val="130000"/>
              </a:lnSpc>
            </a:pPr>
            <a:endParaRPr lang="en-US" altLang="zh-CN" dirty="0"/>
          </a:p>
          <a:p>
            <a:pPr eaLnBrk="1" hangingPunct="1">
              <a:lnSpc>
                <a:spcPct val="130000"/>
              </a:lnSpc>
            </a:pPr>
            <a:r>
              <a:rPr lang="zh-CN" altLang="en-US" dirty="0"/>
              <a:t>点接触型二极管的特点是</a:t>
            </a:r>
            <a:r>
              <a:rPr lang="en-US" altLang="zh-CN" dirty="0"/>
              <a:t>PN</a:t>
            </a:r>
            <a:r>
              <a:rPr lang="zh-CN" altLang="en-US" dirty="0"/>
              <a:t>结面积小，不能通过大电流。但由于其接触面积小，结电容小，高频性能好，故而常用在检波或脉冲电路中；</a:t>
            </a:r>
            <a:endParaRPr lang="en-US" altLang="zh-CN" dirty="0"/>
          </a:p>
          <a:p>
            <a:pPr eaLnBrk="1" hangingPunct="1">
              <a:lnSpc>
                <a:spcPct val="130000"/>
              </a:lnSpc>
            </a:pPr>
            <a:r>
              <a:rPr lang="zh-CN" altLang="en-US" dirty="0"/>
              <a:t>面接触型二极管的特点是</a:t>
            </a:r>
            <a:r>
              <a:rPr lang="en-US" altLang="zh-CN" dirty="0"/>
              <a:t>PN</a:t>
            </a:r>
            <a:r>
              <a:rPr lang="zh-CN" altLang="en-US" dirty="0"/>
              <a:t>结面积大，可以通过较大的电流，适合用于大功率的整流电路中；</a:t>
            </a:r>
            <a:endParaRPr lang="en-US" altLang="zh-CN" dirty="0"/>
          </a:p>
          <a:p>
            <a:pPr eaLnBrk="1" hangingPunct="1">
              <a:lnSpc>
                <a:spcPct val="130000"/>
              </a:lnSpc>
            </a:pPr>
            <a:r>
              <a:rPr lang="zh-CN" altLang="en-US" dirty="0"/>
              <a:t>平面型二极管如果结面积较大，则结电容也会大点，会应用在大功率整流中，如果面积较小则适合脉冲数字电路等应用。</a:t>
            </a:r>
          </a:p>
          <a:p>
            <a:pPr eaLnBrk="1" hangingPunct="1">
              <a:lnSpc>
                <a:spcPct val="130000"/>
              </a:lnSpc>
            </a:pPr>
            <a:br>
              <a:rPr lang="zh-CN" altLang="en-US" dirty="0"/>
            </a:br>
            <a:r>
              <a:rPr lang="en-US" altLang="zh-CN" dirty="0"/>
              <a:t>1.</a:t>
            </a:r>
            <a:r>
              <a:rPr lang="zh-CN" altLang="en-US" dirty="0"/>
              <a:t>点接触型二极管</a:t>
            </a:r>
            <a:r>
              <a:rPr lang="en-US" altLang="zh-CN" dirty="0"/>
              <a:t>(</a:t>
            </a:r>
            <a:r>
              <a:rPr lang="zh-CN" altLang="en-US" dirty="0"/>
              <a:t>一般为锗管</a:t>
            </a:r>
            <a:r>
              <a:rPr lang="en-US" altLang="zh-CN" dirty="0"/>
              <a:t>)      </a:t>
            </a:r>
          </a:p>
          <a:p>
            <a:pPr eaLnBrk="1" hangingPunct="1">
              <a:lnSpc>
                <a:spcPct val="130000"/>
              </a:lnSpc>
            </a:pPr>
            <a:r>
              <a:rPr lang="zh-CN" altLang="en-US" dirty="0"/>
              <a:t>点接触型二极管</a:t>
            </a:r>
            <a:r>
              <a:rPr lang="en-US" altLang="zh-CN" dirty="0"/>
              <a:t>PN</a:t>
            </a:r>
            <a:r>
              <a:rPr lang="zh-CN" altLang="en-US" dirty="0"/>
              <a:t>结的结面积很小，不能通过较大电流，但结电容小，高频性能好，一般适用于高频和小功率的工作，也用作数字电路中的开关元件。如国产的</a:t>
            </a:r>
            <a:r>
              <a:rPr lang="en-US" altLang="zh-CN" dirty="0"/>
              <a:t>2AP</a:t>
            </a:r>
            <a:r>
              <a:rPr lang="zh-CN" altLang="en-US" dirty="0"/>
              <a:t>型、</a:t>
            </a:r>
            <a:r>
              <a:rPr lang="en-US" altLang="zh-CN" dirty="0"/>
              <a:t>2AK</a:t>
            </a:r>
            <a:r>
              <a:rPr lang="zh-CN" altLang="en-US" dirty="0"/>
              <a:t>型。</a:t>
            </a:r>
          </a:p>
          <a:p>
            <a:pPr eaLnBrk="1" hangingPunct="1">
              <a:lnSpc>
                <a:spcPct val="130000"/>
              </a:lnSpc>
            </a:pPr>
            <a:r>
              <a:rPr lang="zh-CN" altLang="en-US" dirty="0"/>
              <a:t> </a:t>
            </a:r>
          </a:p>
          <a:p>
            <a:pPr eaLnBrk="1" hangingPunct="1">
              <a:lnSpc>
                <a:spcPct val="130000"/>
              </a:lnSpc>
            </a:pPr>
            <a:r>
              <a:rPr lang="en-US" altLang="zh-CN" dirty="0"/>
              <a:t>2.</a:t>
            </a:r>
            <a:r>
              <a:rPr lang="zh-CN" altLang="en-US" dirty="0"/>
              <a:t>面接触型二极管</a:t>
            </a:r>
            <a:r>
              <a:rPr lang="en-US" altLang="zh-CN" dirty="0"/>
              <a:t>(</a:t>
            </a:r>
            <a:r>
              <a:rPr lang="zh-CN" altLang="en-US" dirty="0"/>
              <a:t>一般为硅管</a:t>
            </a:r>
            <a:r>
              <a:rPr lang="en-US" altLang="zh-CN" dirty="0"/>
              <a:t>)      </a:t>
            </a:r>
          </a:p>
          <a:p>
            <a:pPr eaLnBrk="1" hangingPunct="1">
              <a:lnSpc>
                <a:spcPct val="130000"/>
              </a:lnSpc>
            </a:pPr>
            <a:r>
              <a:rPr lang="zh-CN" altLang="en-US" dirty="0"/>
              <a:t>面接触型二极管</a:t>
            </a:r>
            <a:r>
              <a:rPr lang="en-US" altLang="zh-CN" dirty="0"/>
              <a:t>PN</a:t>
            </a:r>
            <a:r>
              <a:rPr lang="zh-CN" altLang="en-US" dirty="0"/>
              <a:t>结面积大，能允许通过较大的电流，但由于其结电容也大，所以一般用于较低频率的整流电路中。如国产的</a:t>
            </a:r>
            <a:r>
              <a:rPr lang="en-US" altLang="zh-CN" dirty="0"/>
              <a:t>2CZ</a:t>
            </a:r>
            <a:r>
              <a:rPr lang="zh-CN" altLang="en-US" dirty="0"/>
              <a:t>型、</a:t>
            </a:r>
            <a:r>
              <a:rPr lang="en-US" altLang="zh-CN" dirty="0"/>
              <a:t>2CP</a:t>
            </a:r>
            <a:r>
              <a:rPr lang="zh-CN" altLang="en-US" dirty="0"/>
              <a:t>型。</a:t>
            </a:r>
            <a:endParaRPr lang="en-US" altLang="zh-CN" dirty="0"/>
          </a:p>
          <a:p>
            <a:pPr eaLnBrk="1" hangingPunct="1">
              <a:lnSpc>
                <a:spcPct val="130000"/>
              </a:lnSpc>
            </a:pPr>
            <a:endParaRPr lang="zh-CN" altLang="en-US" dirty="0">
              <a:solidFill>
                <a:srgbClr val="3333FF"/>
              </a:solidFill>
              <a:latin typeface="黑体" panose="02010609060101010101" pitchFamily="49" charset="-122"/>
              <a:ea typeface="黑体" panose="02010609060101010101" pitchFamily="49" charset="-122"/>
            </a:endParaRP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17</a:t>
            </a:fld>
            <a:endParaRPr lang="zh-CN" altLang="en-US"/>
          </a:p>
        </p:txBody>
      </p:sp>
    </p:spTree>
    <p:extLst>
      <p:ext uri="{BB962C8B-B14F-4D97-AF65-F5344CB8AC3E}">
        <p14:creationId xmlns:p14="http://schemas.microsoft.com/office/powerpoint/2010/main" val="997185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正向特性：近似呈现为指数曲线，有死区（</a:t>
            </a:r>
            <a:r>
              <a:rPr kumimoji="1" lang="en-US" altLang="zh-CN" dirty="0"/>
              <a:t>i≈0</a:t>
            </a:r>
            <a:r>
              <a:rPr kumimoji="1" lang="zh-CN" altLang="en-US" dirty="0"/>
              <a:t>的区域</a:t>
            </a:r>
            <a:r>
              <a:rPr kumimoji="1" lang="en-US" altLang="zh-CN" dirty="0"/>
              <a:t>)</a:t>
            </a:r>
            <a:r>
              <a:rPr kumimoji="1" lang="zh-CN" altLang="en-US" dirty="0"/>
              <a:t>。导通后（即</a:t>
            </a:r>
            <a:r>
              <a:rPr kumimoji="1" lang="en-US" altLang="zh-CN" dirty="0"/>
              <a:t>u</a:t>
            </a:r>
            <a:r>
              <a:rPr kumimoji="1" lang="zh-CN" altLang="en-US" dirty="0"/>
              <a:t>大于死区电压后）</a:t>
            </a:r>
            <a:r>
              <a:rPr kumimoji="1" lang="en-US" altLang="zh-CN" dirty="0"/>
              <a:t>u</a:t>
            </a:r>
            <a:r>
              <a:rPr kumimoji="1" lang="zh-CN" altLang="en-US" dirty="0"/>
              <a:t>略有升高， </a:t>
            </a:r>
            <a:r>
              <a:rPr kumimoji="1" lang="en-US" altLang="zh-CN" dirty="0" err="1"/>
              <a:t>i</a:t>
            </a:r>
            <a:r>
              <a:rPr kumimoji="1" lang="zh-CN" altLang="en-US" dirty="0"/>
              <a:t>急剧增大。导通压降约为硅管</a:t>
            </a:r>
            <a:r>
              <a:rPr kumimoji="1" lang="en-US" altLang="zh-CN" dirty="0"/>
              <a:t>0.6~0 .8V</a:t>
            </a:r>
            <a:r>
              <a:rPr kumimoji="1" lang="zh-CN" altLang="en-US" dirty="0"/>
              <a:t>，锗管</a:t>
            </a:r>
            <a:r>
              <a:rPr kumimoji="1" lang="en-US" altLang="zh-CN" dirty="0"/>
              <a:t>0.2~0.3V</a:t>
            </a:r>
            <a:r>
              <a:rPr kumimoji="1" lang="zh-CN" altLang="en-US" dirty="0"/>
              <a:t>，通常近似取硅管</a:t>
            </a:r>
            <a:r>
              <a:rPr kumimoji="1" lang="en-US" altLang="zh-CN" dirty="0"/>
              <a:t>0.7</a:t>
            </a:r>
            <a:r>
              <a:rPr kumimoji="1" lang="zh-CN" altLang="en-US" dirty="0"/>
              <a:t>，锗管</a:t>
            </a:r>
            <a:r>
              <a:rPr kumimoji="1" lang="en-US" altLang="zh-CN" dirty="0"/>
              <a:t>0.2</a:t>
            </a:r>
            <a:r>
              <a:rPr kumimoji="1" lang="zh-CN" altLang="en-US" dirty="0"/>
              <a:t>。 </a:t>
            </a:r>
          </a:p>
          <a:p>
            <a:pPr eaLnBrk="1" hangingPunct="1"/>
            <a:r>
              <a:rPr kumimoji="1" lang="zh-CN" altLang="en-US" dirty="0"/>
              <a:t>正向区分为两段：</a:t>
            </a:r>
          </a:p>
          <a:p>
            <a:pPr lvl="1" eaLnBrk="1" hangingPunct="1"/>
            <a:r>
              <a:rPr kumimoji="1" lang="zh-CN" altLang="en-US" dirty="0"/>
              <a:t>当</a:t>
            </a:r>
            <a:r>
              <a:rPr kumimoji="1" lang="en-US" altLang="zh-CN" dirty="0">
                <a:solidFill>
                  <a:srgbClr val="FF0000"/>
                </a:solidFill>
              </a:rPr>
              <a:t>0</a:t>
            </a:r>
            <a:r>
              <a:rPr kumimoji="1" lang="zh-CN" altLang="en-US" dirty="0">
                <a:solidFill>
                  <a:srgbClr val="FF0000"/>
                </a:solidFill>
              </a:rPr>
              <a:t>＜</a:t>
            </a:r>
            <a:r>
              <a:rPr kumimoji="1" lang="en-US" altLang="zh-CN" i="1" dirty="0">
                <a:solidFill>
                  <a:srgbClr val="FF0000"/>
                </a:solidFill>
              </a:rPr>
              <a:t>u</a:t>
            </a:r>
            <a:r>
              <a:rPr kumimoji="1" lang="zh-CN" altLang="en-US" dirty="0">
                <a:solidFill>
                  <a:srgbClr val="FF0000"/>
                </a:solidFill>
              </a:rPr>
              <a:t>＜</a:t>
            </a:r>
            <a:r>
              <a:rPr kumimoji="1" lang="en-US" altLang="zh-CN" i="1" dirty="0">
                <a:solidFill>
                  <a:srgbClr val="FF0000"/>
                </a:solidFill>
              </a:rPr>
              <a:t>V</a:t>
            </a:r>
            <a:r>
              <a:rPr kumimoji="1" lang="en-US" altLang="zh-CN" dirty="0">
                <a:solidFill>
                  <a:srgbClr val="FF0000"/>
                </a:solidFill>
              </a:rPr>
              <a:t>th</a:t>
            </a:r>
            <a:r>
              <a:rPr kumimoji="1" lang="zh-CN" altLang="en-US" dirty="0"/>
              <a:t>时，正向电流为零，</a:t>
            </a:r>
            <a:r>
              <a:rPr kumimoji="1" lang="en-US" altLang="zh-CN" i="1" dirty="0"/>
              <a:t>V</a:t>
            </a:r>
            <a:r>
              <a:rPr kumimoji="1" lang="en-US" altLang="zh-CN" dirty="0"/>
              <a:t>th</a:t>
            </a:r>
            <a:r>
              <a:rPr kumimoji="1" lang="zh-CN" altLang="en-US" dirty="0"/>
              <a:t>称死区</a:t>
            </a:r>
            <a:r>
              <a:rPr kumimoji="1" lang="en-US" altLang="zh-CN" dirty="0"/>
              <a:t>/</a:t>
            </a:r>
            <a:r>
              <a:rPr kumimoji="1" lang="zh-CN" altLang="en-US" dirty="0"/>
              <a:t>阈值</a:t>
            </a:r>
            <a:r>
              <a:rPr kumimoji="1" lang="en-US" altLang="zh-CN" dirty="0"/>
              <a:t>/</a:t>
            </a:r>
            <a:r>
              <a:rPr kumimoji="1" lang="zh-CN" altLang="en-US" dirty="0"/>
              <a:t>开启电压；</a:t>
            </a:r>
          </a:p>
          <a:p>
            <a:pPr lvl="1" eaLnBrk="1" hangingPunct="1"/>
            <a:r>
              <a:rPr kumimoji="1" lang="zh-CN" altLang="en-US" dirty="0"/>
              <a:t>当</a:t>
            </a:r>
            <a:r>
              <a:rPr kumimoji="1" lang="en-US" altLang="zh-CN" i="1" dirty="0">
                <a:solidFill>
                  <a:srgbClr val="FF0000"/>
                </a:solidFill>
              </a:rPr>
              <a:t>u </a:t>
            </a:r>
            <a:r>
              <a:rPr kumimoji="1" lang="zh-CN" altLang="en-US" dirty="0">
                <a:solidFill>
                  <a:srgbClr val="FF0000"/>
                </a:solidFill>
              </a:rPr>
              <a:t>＞</a:t>
            </a:r>
            <a:r>
              <a:rPr kumimoji="1" lang="en-US" altLang="zh-CN" i="1" dirty="0">
                <a:solidFill>
                  <a:srgbClr val="FF0000"/>
                </a:solidFill>
              </a:rPr>
              <a:t>V</a:t>
            </a:r>
            <a:r>
              <a:rPr kumimoji="1" lang="en-US" altLang="zh-CN" dirty="0">
                <a:solidFill>
                  <a:srgbClr val="FF0000"/>
                </a:solidFill>
              </a:rPr>
              <a:t>th</a:t>
            </a:r>
            <a:r>
              <a:rPr kumimoji="1" lang="zh-CN" altLang="en-US" dirty="0"/>
              <a:t>时，开始出现正向电流，并按指数规律增长。</a:t>
            </a:r>
          </a:p>
          <a:p>
            <a:pPr eaLnBrk="1" hangingPunct="1"/>
            <a:r>
              <a:rPr kumimoji="1" lang="zh-CN" altLang="en-US" dirty="0">
                <a:solidFill>
                  <a:srgbClr val="3333FF"/>
                </a:solidFill>
              </a:rPr>
              <a:t>硅</a:t>
            </a:r>
            <a:r>
              <a:rPr kumimoji="1" lang="zh-CN" altLang="en-US" dirty="0"/>
              <a:t>二极管的死区电压</a:t>
            </a:r>
            <a:r>
              <a:rPr kumimoji="1" lang="en-US" altLang="zh-CN" i="1" dirty="0">
                <a:solidFill>
                  <a:srgbClr val="FF0000"/>
                </a:solidFill>
              </a:rPr>
              <a:t>V</a:t>
            </a:r>
            <a:r>
              <a:rPr kumimoji="1" lang="en-US" altLang="zh-CN" dirty="0">
                <a:solidFill>
                  <a:srgbClr val="FF0000"/>
                </a:solidFill>
              </a:rPr>
              <a:t>th=0.5V</a:t>
            </a:r>
            <a:r>
              <a:rPr kumimoji="1" lang="zh-CN" altLang="en-US" dirty="0"/>
              <a:t>左右，</a:t>
            </a:r>
            <a:r>
              <a:rPr kumimoji="1" lang="zh-CN" altLang="en-US" dirty="0">
                <a:solidFill>
                  <a:srgbClr val="FC1D06"/>
                </a:solidFill>
              </a:rPr>
              <a:t>锗</a:t>
            </a:r>
            <a:r>
              <a:rPr kumimoji="1" lang="zh-CN" altLang="en-US" dirty="0"/>
              <a:t>二极管的死区电压</a:t>
            </a:r>
            <a:r>
              <a:rPr kumimoji="1" lang="en-US" altLang="zh-CN" i="1" dirty="0">
                <a:solidFill>
                  <a:srgbClr val="FF0000"/>
                </a:solidFill>
              </a:rPr>
              <a:t>V</a:t>
            </a:r>
            <a:r>
              <a:rPr kumimoji="1" lang="en-US" altLang="zh-CN" dirty="0">
                <a:solidFill>
                  <a:srgbClr val="FF0000"/>
                </a:solidFill>
              </a:rPr>
              <a:t>th=0.2V</a:t>
            </a:r>
            <a:r>
              <a:rPr kumimoji="1" lang="zh-CN" altLang="en-US" dirty="0"/>
              <a:t>左右。</a:t>
            </a:r>
            <a:endParaRPr kumimoji="1" lang="en-US" altLang="zh-CN" dirty="0"/>
          </a:p>
          <a:p>
            <a:pPr eaLnBrk="1" hangingPunct="1"/>
            <a:endParaRPr kumimoji="1" lang="zh-CN" altLang="en-US" dirty="0"/>
          </a:p>
          <a:p>
            <a:pPr eaLnBrk="1" hangingPunct="1"/>
            <a:r>
              <a:rPr kumimoji="1" lang="zh-CN" altLang="en-US" dirty="0"/>
              <a:t>反向区也分两个区域：</a:t>
            </a:r>
          </a:p>
          <a:p>
            <a:pPr eaLnBrk="1" hangingPunct="1"/>
            <a:r>
              <a:rPr kumimoji="1" lang="zh-CN" altLang="en-US" dirty="0"/>
              <a:t> 当</a:t>
            </a:r>
            <a:r>
              <a:rPr kumimoji="1" lang="en-US" altLang="zh-CN" i="1" dirty="0">
                <a:solidFill>
                  <a:srgbClr val="FF0000"/>
                </a:solidFill>
              </a:rPr>
              <a:t>V</a:t>
            </a:r>
            <a:r>
              <a:rPr kumimoji="1" lang="en-US" altLang="zh-CN" dirty="0">
                <a:solidFill>
                  <a:srgbClr val="FF0000"/>
                </a:solidFill>
              </a:rPr>
              <a:t>BR</a:t>
            </a:r>
            <a:r>
              <a:rPr kumimoji="1" lang="zh-CN" altLang="en-US" dirty="0">
                <a:solidFill>
                  <a:srgbClr val="FF0000"/>
                </a:solidFill>
              </a:rPr>
              <a:t>＜</a:t>
            </a:r>
            <a:r>
              <a:rPr kumimoji="1" lang="en-US" altLang="zh-CN" i="1" dirty="0">
                <a:solidFill>
                  <a:srgbClr val="FF0000"/>
                </a:solidFill>
              </a:rPr>
              <a:t>u</a:t>
            </a:r>
            <a:r>
              <a:rPr kumimoji="1" lang="zh-CN" altLang="en-US" dirty="0">
                <a:solidFill>
                  <a:srgbClr val="FF0000"/>
                </a:solidFill>
              </a:rPr>
              <a:t>＜</a:t>
            </a:r>
            <a:r>
              <a:rPr kumimoji="1" lang="en-US" altLang="zh-CN" dirty="0">
                <a:solidFill>
                  <a:srgbClr val="FF3300"/>
                </a:solidFill>
              </a:rPr>
              <a:t>0</a:t>
            </a:r>
            <a:r>
              <a:rPr kumimoji="1" lang="zh-CN" altLang="en-US" dirty="0"/>
              <a:t>时，反向电流很小，且基本不随反向电压的变化而变化，此时的反向电流也称</a:t>
            </a:r>
            <a:r>
              <a:rPr kumimoji="1" lang="zh-CN" altLang="en-US" dirty="0">
                <a:solidFill>
                  <a:srgbClr val="FF3300"/>
                </a:solidFill>
              </a:rPr>
              <a:t>反向饱和电流</a:t>
            </a:r>
            <a:r>
              <a:rPr kumimoji="1" lang="en-US" altLang="zh-CN" i="1" dirty="0">
                <a:solidFill>
                  <a:srgbClr val="FF3300"/>
                </a:solidFill>
              </a:rPr>
              <a:t>I</a:t>
            </a:r>
            <a:r>
              <a:rPr kumimoji="1" lang="en-US" altLang="zh-CN" dirty="0">
                <a:solidFill>
                  <a:srgbClr val="FF3300"/>
                </a:solidFill>
              </a:rPr>
              <a:t>S</a:t>
            </a:r>
            <a:r>
              <a:rPr kumimoji="1" lang="en-US" altLang="zh-CN" dirty="0"/>
              <a:t> </a:t>
            </a:r>
            <a:r>
              <a:rPr kumimoji="1" lang="zh-CN" altLang="en-US" dirty="0"/>
              <a:t>。</a:t>
            </a:r>
          </a:p>
          <a:p>
            <a:pPr eaLnBrk="1" hangingPunct="1"/>
            <a:r>
              <a:rPr kumimoji="1" lang="zh-CN" altLang="en-US" dirty="0"/>
              <a:t>当</a:t>
            </a:r>
            <a:r>
              <a:rPr kumimoji="1" lang="en-US" altLang="zh-CN" i="1" dirty="0" err="1">
                <a:solidFill>
                  <a:srgbClr val="FF0000"/>
                </a:solidFill>
              </a:rPr>
              <a:t>u≥V</a:t>
            </a:r>
            <a:r>
              <a:rPr kumimoji="1" lang="en-US" altLang="zh-CN" dirty="0" err="1">
                <a:solidFill>
                  <a:srgbClr val="FF0000"/>
                </a:solidFill>
              </a:rPr>
              <a:t>BR</a:t>
            </a:r>
            <a:r>
              <a:rPr kumimoji="1" lang="zh-CN" altLang="en-US" dirty="0"/>
              <a:t>时，反向电流急剧增加，</a:t>
            </a:r>
            <a:r>
              <a:rPr kumimoji="1" lang="en-US" altLang="zh-CN" i="1" dirty="0">
                <a:solidFill>
                  <a:srgbClr val="FF3300"/>
                </a:solidFill>
              </a:rPr>
              <a:t>V</a:t>
            </a:r>
            <a:r>
              <a:rPr kumimoji="1" lang="en-US" altLang="zh-CN" dirty="0">
                <a:solidFill>
                  <a:srgbClr val="FF3300"/>
                </a:solidFill>
              </a:rPr>
              <a:t>BR</a:t>
            </a:r>
            <a:r>
              <a:rPr kumimoji="1" lang="zh-CN" altLang="en-US" dirty="0"/>
              <a:t>称为</a:t>
            </a:r>
            <a:r>
              <a:rPr kumimoji="1" lang="zh-CN" altLang="en-US" dirty="0">
                <a:solidFill>
                  <a:srgbClr val="FF3300"/>
                </a:solidFill>
              </a:rPr>
              <a:t>反向击穿电压 </a:t>
            </a:r>
            <a:r>
              <a:rPr kumimoji="1" lang="zh-CN" altLang="en-US" dirty="0"/>
              <a:t>。</a:t>
            </a:r>
            <a:endParaRPr kumimoji="1" lang="en-US" altLang="zh-CN" dirty="0"/>
          </a:p>
          <a:p>
            <a:pPr eaLnBrk="1" hangingPunct="1"/>
            <a:endParaRPr kumimoji="1" lang="en-US" altLang="zh-CN" dirty="0"/>
          </a:p>
          <a:p>
            <a:pPr eaLnBrk="1" hangingPunct="1"/>
            <a:r>
              <a:rPr kumimoji="1" lang="zh-CN" altLang="en-US" dirty="0"/>
              <a:t>在一定的温度条件下，由本征激发决定的少子浓度是一定的，故少子形成的漂移电流是恒定的，基本上与所加反向电压的大小无关，这个电流也称为反向饱和电流。 </a:t>
            </a:r>
            <a:endParaRPr kumimoji="1" lang="en-US" altLang="zh-CN" dirty="0"/>
          </a:p>
          <a:p>
            <a:pPr eaLnBrk="1" hangingPunct="1"/>
            <a:r>
              <a:rPr kumimoji="1" lang="zh-CN" altLang="en-US" dirty="0"/>
              <a:t>当</a:t>
            </a:r>
            <a:r>
              <a:rPr kumimoji="1" lang="en-US" altLang="zh-CN" dirty="0"/>
              <a:t>PN</a:t>
            </a:r>
            <a:r>
              <a:rPr kumimoji="1" lang="zh-CN" altLang="en-US" dirty="0"/>
              <a:t>结的反向电压增加到一定数值时，反向电流突然快速增加，此现象称为</a:t>
            </a:r>
            <a:r>
              <a:rPr kumimoji="1" lang="en-US" altLang="zh-CN" dirty="0"/>
              <a:t>PN</a:t>
            </a:r>
            <a:r>
              <a:rPr kumimoji="1" lang="zh-CN" altLang="en-US" dirty="0"/>
              <a:t>结的反向击穿。电击穿</a:t>
            </a:r>
            <a:r>
              <a:rPr kumimoji="1" lang="en-US" altLang="zh-CN" dirty="0"/>
              <a:t>(</a:t>
            </a:r>
            <a:r>
              <a:rPr kumimoji="1" lang="zh-CN" altLang="en-US" dirty="0"/>
              <a:t>雪崩或齐纳</a:t>
            </a:r>
            <a:r>
              <a:rPr kumimoji="1" lang="en-US" altLang="zh-CN" dirty="0"/>
              <a:t>)——</a:t>
            </a:r>
            <a:r>
              <a:rPr kumimoji="1" lang="zh-CN" altLang="en-US" dirty="0"/>
              <a:t>可逆，热击穿</a:t>
            </a:r>
            <a:r>
              <a:rPr kumimoji="1" lang="en-US" altLang="zh-CN" dirty="0"/>
              <a:t>——</a:t>
            </a:r>
            <a:r>
              <a:rPr kumimoji="1" lang="zh-CN" altLang="en-US" dirty="0"/>
              <a:t>不可逆。</a:t>
            </a:r>
            <a:endParaRPr kumimoji="1" lang="en-US" altLang="zh-CN"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18</a:t>
            </a:fld>
            <a:endParaRPr lang="zh-CN" altLang="en-US"/>
          </a:p>
        </p:txBody>
      </p:sp>
    </p:spTree>
    <p:extLst>
      <p:ext uri="{BB962C8B-B14F-4D97-AF65-F5344CB8AC3E}">
        <p14:creationId xmlns:p14="http://schemas.microsoft.com/office/powerpoint/2010/main" val="2183057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solidFill>
                  <a:srgbClr val="3333FF"/>
                </a:solidFill>
                <a:latin typeface="黑体" panose="02010609060101010101" pitchFamily="49" charset="-122"/>
                <a:ea typeface="黑体" panose="02010609060101010101" pitchFamily="49" charset="-122"/>
              </a:rPr>
              <a:t>最高工作频率</a:t>
            </a:r>
            <a:r>
              <a:rPr lang="en-US" altLang="zh-CN" dirty="0" err="1">
                <a:solidFill>
                  <a:srgbClr val="3333FF"/>
                </a:solidFill>
                <a:latin typeface="黑体" panose="02010609060101010101" pitchFamily="49" charset="-122"/>
                <a:ea typeface="黑体" panose="02010609060101010101" pitchFamily="49" charset="-122"/>
              </a:rPr>
              <a:t>fm</a:t>
            </a:r>
            <a:r>
              <a:rPr lang="en-US" altLang="zh-CN" dirty="0">
                <a:solidFill>
                  <a:srgbClr val="3333FF"/>
                </a:solidFill>
                <a:ea typeface="黑体" panose="02010609060101010101" pitchFamily="49" charset="-122"/>
              </a:rPr>
              <a:t>——</a:t>
            </a:r>
            <a:r>
              <a:rPr lang="zh-CN" altLang="en-US" dirty="0">
                <a:solidFill>
                  <a:srgbClr val="3333FF"/>
                </a:solidFill>
                <a:latin typeface="黑体" panose="02010609060101010101" pitchFamily="49" charset="-122"/>
                <a:ea typeface="黑体" panose="02010609060101010101" pitchFamily="49" charset="-122"/>
              </a:rPr>
              <a:t>二极管工作在高频时，电流容易从结电容通过，使管子的单向导电性能变差，甚至可能失去单向导电性，为此规定一个最高工作频率，它主要决定于</a:t>
            </a:r>
            <a:r>
              <a:rPr lang="en-US" altLang="zh-CN" dirty="0">
                <a:solidFill>
                  <a:srgbClr val="3333FF"/>
                </a:solidFill>
                <a:latin typeface="黑体" panose="02010609060101010101" pitchFamily="49" charset="-122"/>
                <a:ea typeface="黑体" panose="02010609060101010101" pitchFamily="49" charset="-122"/>
              </a:rPr>
              <a:t>PN</a:t>
            </a:r>
            <a:r>
              <a:rPr lang="zh-CN" altLang="en-US" dirty="0">
                <a:solidFill>
                  <a:srgbClr val="3333FF"/>
                </a:solidFill>
                <a:latin typeface="黑体" panose="02010609060101010101" pitchFamily="49" charset="-122"/>
                <a:ea typeface="黑体" panose="02010609060101010101" pitchFamily="49" charset="-122"/>
              </a:rPr>
              <a:t>结结电容的大小，结电容愈大，则</a:t>
            </a:r>
            <a:r>
              <a:rPr lang="en-US" altLang="zh-CN" dirty="0" err="1">
                <a:solidFill>
                  <a:srgbClr val="3333FF"/>
                </a:solidFill>
                <a:latin typeface="黑体" panose="02010609060101010101" pitchFamily="49" charset="-122"/>
                <a:ea typeface="黑体" panose="02010609060101010101" pitchFamily="49" charset="-122"/>
              </a:rPr>
              <a:t>f</a:t>
            </a:r>
            <a:r>
              <a:rPr lang="en-US" altLang="zh-CN" baseline="-25000" dirty="0" err="1">
                <a:solidFill>
                  <a:srgbClr val="3333FF"/>
                </a:solidFill>
                <a:latin typeface="黑体" panose="02010609060101010101" pitchFamily="49" charset="-122"/>
                <a:ea typeface="黑体" panose="02010609060101010101" pitchFamily="49" charset="-122"/>
              </a:rPr>
              <a:t>M</a:t>
            </a:r>
            <a:r>
              <a:rPr lang="zh-CN" altLang="en-US" dirty="0">
                <a:solidFill>
                  <a:srgbClr val="3333FF"/>
                </a:solidFill>
                <a:latin typeface="黑体" panose="02010609060101010101" pitchFamily="49" charset="-122"/>
                <a:ea typeface="黑体" panose="02010609060101010101" pitchFamily="49" charset="-122"/>
              </a:rPr>
              <a:t>愈低。</a:t>
            </a:r>
          </a:p>
          <a:p>
            <a:pPr algn="just" eaLnBrk="1" hangingPunct="1"/>
            <a:r>
              <a:rPr lang="zh-CN" altLang="en-US" dirty="0">
                <a:solidFill>
                  <a:srgbClr val="3333FF"/>
                </a:solidFill>
                <a:latin typeface="黑体" panose="02010609060101010101" pitchFamily="49" charset="-122"/>
                <a:ea typeface="黑体" panose="02010609060101010101" pitchFamily="49" charset="-122"/>
              </a:rPr>
              <a:t>二极管的参数还有结电容及最高结温等。</a:t>
            </a:r>
            <a:endParaRPr lang="en-US" altLang="zh-CN" dirty="0">
              <a:solidFill>
                <a:srgbClr val="3333FF"/>
              </a:solidFill>
              <a:latin typeface="黑体" panose="02010609060101010101" pitchFamily="49" charset="-122"/>
              <a:ea typeface="黑体" panose="02010609060101010101" pitchFamily="49" charset="-122"/>
            </a:endParaRPr>
          </a:p>
          <a:p>
            <a:pPr algn="just" eaLnBrk="1" hangingPunct="1"/>
            <a:r>
              <a:rPr kumimoji="1" lang="zh-CN" altLang="en-US" sz="1000" b="1" dirty="0">
                <a:latin typeface="宋体" panose="02010600030101010101" pitchFamily="2" charset="-122"/>
              </a:rPr>
              <a:t>为安全计，在实际工作时，最大反向工作电压</a:t>
            </a:r>
            <a:r>
              <a:rPr kumimoji="1" lang="en-US" altLang="zh-CN" sz="1000" b="1" i="1" dirty="0">
                <a:latin typeface="宋体" panose="02010600030101010101" pitchFamily="2" charset="-122"/>
              </a:rPr>
              <a:t>V</a:t>
            </a:r>
            <a:r>
              <a:rPr kumimoji="1" lang="en-US" altLang="zh-CN" sz="1000" b="1" dirty="0">
                <a:latin typeface="宋体" panose="02010600030101010101" pitchFamily="2" charset="-122"/>
              </a:rPr>
              <a:t>RM</a:t>
            </a:r>
            <a:r>
              <a:rPr kumimoji="1" lang="zh-CN" altLang="en-US" sz="1000" b="1" dirty="0">
                <a:latin typeface="宋体" panose="02010600030101010101" pitchFamily="2" charset="-122"/>
              </a:rPr>
              <a:t>一般只按反向击穿电压</a:t>
            </a:r>
            <a:r>
              <a:rPr kumimoji="1" lang="en-US" altLang="zh-CN" sz="1000" b="1" i="1" dirty="0">
                <a:latin typeface="宋体" panose="02010600030101010101" pitchFamily="2" charset="-122"/>
              </a:rPr>
              <a:t>V</a:t>
            </a:r>
            <a:r>
              <a:rPr kumimoji="1" lang="en-US" altLang="zh-CN" sz="1000" b="1" dirty="0">
                <a:latin typeface="宋体" panose="02010600030101010101" pitchFamily="2" charset="-122"/>
              </a:rPr>
              <a:t>BR</a:t>
            </a:r>
            <a:r>
              <a:rPr kumimoji="1" lang="zh-CN" altLang="en-US" sz="1000" b="1" dirty="0">
                <a:latin typeface="宋体" panose="02010600030101010101" pitchFamily="2" charset="-122"/>
              </a:rPr>
              <a:t>的一半计算。</a:t>
            </a:r>
          </a:p>
          <a:p>
            <a:pPr eaLnBrk="1" hangingPunct="1"/>
            <a:r>
              <a:rPr kumimoji="1" lang="zh-CN" altLang="en-US" dirty="0">
                <a:latin typeface="宋体" panose="02010600030101010101" pitchFamily="2" charset="-122"/>
              </a:rPr>
              <a:t>通常认为，硅管的正向压降约为</a:t>
            </a:r>
            <a:r>
              <a:rPr kumimoji="1" lang="en-US" altLang="zh-CN" dirty="0">
                <a:latin typeface="宋体" panose="02010600030101010101" pitchFamily="2" charset="-122"/>
              </a:rPr>
              <a:t>0.7V</a:t>
            </a:r>
            <a:r>
              <a:rPr kumimoji="1" lang="zh-CN" altLang="en-US" dirty="0">
                <a:latin typeface="宋体" panose="02010600030101010101" pitchFamily="2" charset="-122"/>
              </a:rPr>
              <a:t>；锗管约为</a:t>
            </a:r>
            <a:r>
              <a:rPr kumimoji="1" lang="en-US" altLang="zh-CN" dirty="0">
                <a:latin typeface="宋体" panose="02010600030101010101" pitchFamily="2" charset="-122"/>
              </a:rPr>
              <a:t>0.2V</a:t>
            </a:r>
            <a:r>
              <a:rPr kumimoji="1" lang="zh-CN" altLang="en-US" dirty="0">
                <a:latin typeface="宋体" panose="02010600030101010101" pitchFamily="2" charset="-122"/>
              </a:rPr>
              <a:t>。</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19</a:t>
            </a:fld>
            <a:endParaRPr lang="zh-CN" altLang="en-US"/>
          </a:p>
        </p:txBody>
      </p:sp>
    </p:spTree>
    <p:extLst>
      <p:ext uri="{BB962C8B-B14F-4D97-AF65-F5344CB8AC3E}">
        <p14:creationId xmlns:p14="http://schemas.microsoft.com/office/powerpoint/2010/main" val="2737980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首先使用静态分析求出</a:t>
            </a:r>
            <a:r>
              <a:rPr lang="en-US" altLang="zh-CN" dirty="0"/>
              <a:t>I_D(</a:t>
            </a:r>
            <a:r>
              <a:rPr lang="zh-CN" altLang="en-US" dirty="0"/>
              <a:t>电流直流分量</a:t>
            </a:r>
            <a:r>
              <a:rPr lang="en-US" altLang="zh-CN" dirty="0"/>
              <a:t>)</a:t>
            </a:r>
            <a:r>
              <a:rPr lang="zh-CN" altLang="en-US" dirty="0"/>
              <a:t>，然后参见模电</a:t>
            </a:r>
            <a:r>
              <a:rPr lang="en-US" altLang="zh-CN" dirty="0"/>
              <a:t>P66</a:t>
            </a:r>
            <a:r>
              <a:rPr lang="zh-CN" altLang="en-US" dirty="0"/>
              <a:t>页，二极管电阻模型，公式</a:t>
            </a:r>
            <a:r>
              <a:rPr lang="en-US" altLang="zh-CN" dirty="0"/>
              <a:t> 3.4.4</a:t>
            </a:r>
            <a:r>
              <a:rPr lang="zh-CN" altLang="en-US" dirty="0"/>
              <a:t>：</a:t>
            </a:r>
            <a:r>
              <a:rPr lang="en-US" altLang="zh-CN" dirty="0"/>
              <a:t> </a:t>
            </a:r>
            <a:r>
              <a:rPr lang="en-US" altLang="zh-CN" dirty="0" err="1"/>
              <a:t>r_d</a:t>
            </a:r>
            <a:r>
              <a:rPr lang="en-US" altLang="zh-CN" dirty="0"/>
              <a:t>=26(mV)/I_D(mA) </a:t>
            </a:r>
            <a:r>
              <a:rPr lang="zh-CN" altLang="en-US" dirty="0"/>
              <a:t>（</a:t>
            </a:r>
            <a:r>
              <a:rPr lang="en-US" altLang="zh-CN" dirty="0"/>
              <a:t>!</a:t>
            </a:r>
            <a:r>
              <a:rPr lang="zh-CN" altLang="en-US" dirty="0"/>
              <a:t>交流电阻</a:t>
            </a:r>
            <a:r>
              <a:rPr lang="en-US" altLang="zh-CN" dirty="0" err="1"/>
              <a:t>r_d</a:t>
            </a:r>
            <a:r>
              <a:rPr lang="zh-CN" altLang="en-US" dirty="0"/>
              <a:t>是二极管</a:t>
            </a:r>
            <a:r>
              <a:rPr lang="en-US" altLang="zh-CN" dirty="0"/>
              <a:t>V-I_D</a:t>
            </a:r>
            <a:r>
              <a:rPr lang="zh-CN" altLang="en-US" dirty="0"/>
              <a:t>的斜率，而非</a:t>
            </a:r>
            <a:r>
              <a:rPr lang="en-US" altLang="zh-CN" dirty="0"/>
              <a:t>V_D/I_D</a:t>
            </a:r>
            <a:r>
              <a:rPr lang="zh-CN" altLang="en-US" dirty="0"/>
              <a:t>）</a:t>
            </a:r>
            <a:r>
              <a:rPr lang="zh-CN" altLang="en-US" dirty="0">
                <a:sym typeface="Wingdings" panose="05000000000000000000" pitchFamily="2" charset="2"/>
              </a:rPr>
              <a:t></a:t>
            </a:r>
            <a:r>
              <a:rPr lang="en-US" altLang="zh-CN" dirty="0">
                <a:sym typeface="Wingdings" panose="05000000000000000000" pitchFamily="2" charset="2"/>
              </a:rPr>
              <a:t> </a:t>
            </a:r>
            <a:r>
              <a:rPr lang="en-US" altLang="zh-CN" dirty="0" err="1">
                <a:sym typeface="Wingdings" panose="05000000000000000000" pitchFamily="2" charset="2"/>
              </a:rPr>
              <a:t>r_d</a:t>
            </a:r>
            <a:r>
              <a:rPr lang="en-US" altLang="zh-CN" dirty="0">
                <a:sym typeface="Wingdings" panose="05000000000000000000" pitchFamily="2" charset="2"/>
              </a:rPr>
              <a:t>=1300/43</a:t>
            </a:r>
            <a:r>
              <a:rPr lang="zh-CN" altLang="en-US" dirty="0">
                <a:sym typeface="Wingdings" panose="05000000000000000000" pitchFamily="2" charset="2"/>
              </a:rPr>
              <a:t>，求出</a:t>
            </a:r>
            <a:r>
              <a:rPr lang="en-US" altLang="zh-CN" dirty="0" err="1">
                <a:sym typeface="Wingdings" panose="05000000000000000000" pitchFamily="2" charset="2"/>
              </a:rPr>
              <a:t>v_s</a:t>
            </a:r>
            <a:r>
              <a:rPr lang="zh-CN" altLang="en-US" dirty="0">
                <a:sym typeface="Wingdings" panose="05000000000000000000" pitchFamily="2" charset="2"/>
              </a:rPr>
              <a:t>的幅度：</a:t>
            </a:r>
            <a:endParaRPr lang="en-US" altLang="zh-CN" dirty="0">
              <a:sym typeface="Wingdings" panose="05000000000000000000" pitchFamily="2" charset="2"/>
            </a:endParaRPr>
          </a:p>
          <a:p>
            <a:endParaRPr lang="en-US" altLang="zh-CN" dirty="0">
              <a:sym typeface="Wingdings" panose="05000000000000000000" pitchFamily="2" charset="2"/>
            </a:endParaRPr>
          </a:p>
          <a:p>
            <a:r>
              <a:rPr lang="en-US" altLang="zh-CN" dirty="0">
                <a:sym typeface="Wingdings" panose="05000000000000000000" pitchFamily="2" charset="2"/>
              </a:rPr>
              <a:t>0.1*5K/(5K+1300/43) = 0.0994</a:t>
            </a:r>
          </a:p>
          <a:p>
            <a:endParaRPr lang="en-US" altLang="zh-CN" dirty="0">
              <a:sym typeface="Wingdings" panose="05000000000000000000" pitchFamily="2" charset="2"/>
            </a:endParaRPr>
          </a:p>
          <a:p>
            <a:r>
              <a:rPr lang="zh-CN" altLang="en-US" dirty="0"/>
              <a:t>本章中的电流电压符号有时大写，有时候小写</a:t>
            </a:r>
            <a:r>
              <a:rPr lang="en-US" altLang="ja-JP" dirty="0"/>
              <a:t> </a:t>
            </a:r>
            <a:r>
              <a:rPr lang="zh-CN" altLang="en-US" dirty="0"/>
              <a:t>，其规定如下：</a:t>
            </a:r>
            <a:endParaRPr lang="en-US" altLang="zh-CN" dirty="0"/>
          </a:p>
          <a:p>
            <a:r>
              <a:rPr lang="zh-CN" altLang="en-US" dirty="0"/>
              <a:t>如信号只有直流分量，则</a:t>
            </a:r>
            <a:r>
              <a:rPr lang="en-US" altLang="zh-CN" dirty="0"/>
              <a:t>I</a:t>
            </a:r>
            <a:r>
              <a:rPr lang="zh-CN" altLang="en-US" dirty="0"/>
              <a:t>和</a:t>
            </a:r>
            <a:r>
              <a:rPr lang="en-US" altLang="zh-CN" dirty="0"/>
              <a:t>V</a:t>
            </a:r>
            <a:r>
              <a:rPr lang="zh-CN" altLang="en-US" dirty="0"/>
              <a:t>以及其下标均为大写；</a:t>
            </a:r>
            <a:endParaRPr lang="en-US" altLang="zh-CN" dirty="0"/>
          </a:p>
          <a:p>
            <a:r>
              <a:rPr lang="zh-CN" altLang="en-US" dirty="0"/>
              <a:t>如信号只有交流分量（平均值为</a:t>
            </a:r>
            <a:r>
              <a:rPr lang="en-US" altLang="zh-CN" dirty="0"/>
              <a:t>0</a:t>
            </a:r>
            <a:r>
              <a:rPr lang="zh-CN" altLang="en-US" dirty="0"/>
              <a:t>），则</a:t>
            </a:r>
            <a:r>
              <a:rPr lang="en-US" altLang="zh-CN" dirty="0"/>
              <a:t>I</a:t>
            </a:r>
            <a:r>
              <a:rPr lang="zh-CN" altLang="en-US" dirty="0"/>
              <a:t>和</a:t>
            </a:r>
            <a:r>
              <a:rPr lang="en-US" altLang="zh-CN" dirty="0"/>
              <a:t>V</a:t>
            </a:r>
            <a:r>
              <a:rPr lang="zh-CN" altLang="en-US" dirty="0"/>
              <a:t>以及其下标均为小写；</a:t>
            </a:r>
            <a:endParaRPr lang="en-US" altLang="zh-CN" dirty="0"/>
          </a:p>
          <a:p>
            <a:r>
              <a:rPr lang="zh-CN" altLang="en-US" dirty="0"/>
              <a:t>如信号既有直流分量（平均值不为</a:t>
            </a:r>
            <a:r>
              <a:rPr lang="en-US" altLang="zh-CN" dirty="0"/>
              <a:t>0</a:t>
            </a:r>
            <a:r>
              <a:rPr lang="zh-CN" altLang="en-US" dirty="0"/>
              <a:t>），也有交流分量，则</a:t>
            </a:r>
            <a:r>
              <a:rPr lang="en-US" altLang="zh-CN" dirty="0" err="1"/>
              <a:t>i</a:t>
            </a:r>
            <a:r>
              <a:rPr lang="zh-CN" altLang="en-US" dirty="0"/>
              <a:t>和</a:t>
            </a:r>
            <a:r>
              <a:rPr lang="en-US" altLang="zh-CN" dirty="0"/>
              <a:t>v</a:t>
            </a:r>
            <a:r>
              <a:rPr lang="zh-CN" altLang="en-US" dirty="0"/>
              <a:t>小写，其下标为大写；</a:t>
            </a:r>
            <a:endParaRPr lang="en-US" altLang="zh-CN"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23</a:t>
            </a:fld>
            <a:endParaRPr lang="zh-CN" altLang="en-US"/>
          </a:p>
        </p:txBody>
      </p:sp>
    </p:spTree>
    <p:extLst>
      <p:ext uri="{BB962C8B-B14F-4D97-AF65-F5344CB8AC3E}">
        <p14:creationId xmlns:p14="http://schemas.microsoft.com/office/powerpoint/2010/main" val="3881538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首先使用静态分析求出</a:t>
            </a:r>
            <a:r>
              <a:rPr lang="en-US" altLang="zh-CN" dirty="0"/>
              <a:t>I_D(</a:t>
            </a:r>
            <a:r>
              <a:rPr lang="zh-CN" altLang="en-US" dirty="0"/>
              <a:t>电流直流分量</a:t>
            </a:r>
            <a:r>
              <a:rPr lang="en-US" altLang="zh-CN" dirty="0"/>
              <a:t>)</a:t>
            </a:r>
            <a:r>
              <a:rPr lang="zh-CN" altLang="en-US" dirty="0"/>
              <a:t>，然后参见模电</a:t>
            </a:r>
            <a:r>
              <a:rPr lang="en-US" altLang="zh-CN" dirty="0"/>
              <a:t>P66</a:t>
            </a:r>
            <a:r>
              <a:rPr lang="zh-CN" altLang="en-US" dirty="0"/>
              <a:t>页，二极管电阻模型，公式</a:t>
            </a:r>
            <a:r>
              <a:rPr lang="en-US" altLang="zh-CN" dirty="0"/>
              <a:t> 3.4.4</a:t>
            </a:r>
            <a:r>
              <a:rPr lang="zh-CN" altLang="en-US" dirty="0"/>
              <a:t>：</a:t>
            </a:r>
            <a:r>
              <a:rPr lang="en-US" altLang="zh-CN" dirty="0"/>
              <a:t> </a:t>
            </a:r>
            <a:r>
              <a:rPr lang="en-US" altLang="zh-CN" dirty="0" err="1"/>
              <a:t>r_d</a:t>
            </a:r>
            <a:r>
              <a:rPr lang="en-US" altLang="zh-CN" dirty="0"/>
              <a:t>=26(mV)/I_D(mA) </a:t>
            </a:r>
            <a:r>
              <a:rPr lang="zh-CN" altLang="en-US" dirty="0"/>
              <a:t>（</a:t>
            </a:r>
            <a:r>
              <a:rPr lang="en-US" altLang="zh-CN" dirty="0"/>
              <a:t>!</a:t>
            </a:r>
            <a:r>
              <a:rPr lang="zh-CN" altLang="en-US" dirty="0"/>
              <a:t>交流电阻</a:t>
            </a:r>
            <a:r>
              <a:rPr lang="en-US" altLang="zh-CN" dirty="0" err="1"/>
              <a:t>r_d</a:t>
            </a:r>
            <a:r>
              <a:rPr lang="zh-CN" altLang="en-US" dirty="0"/>
              <a:t>是二极管</a:t>
            </a:r>
            <a:r>
              <a:rPr lang="en-US" altLang="zh-CN" dirty="0"/>
              <a:t>V-I_D</a:t>
            </a:r>
            <a:r>
              <a:rPr lang="zh-CN" altLang="en-US" dirty="0"/>
              <a:t>的斜率，而非</a:t>
            </a:r>
            <a:r>
              <a:rPr lang="en-US" altLang="zh-CN" dirty="0"/>
              <a:t>V_D/I_D</a:t>
            </a:r>
            <a:r>
              <a:rPr lang="zh-CN" altLang="en-US" dirty="0"/>
              <a:t>）</a:t>
            </a:r>
            <a:r>
              <a:rPr lang="zh-CN" altLang="en-US" dirty="0">
                <a:sym typeface="Wingdings" panose="05000000000000000000" pitchFamily="2" charset="2"/>
              </a:rPr>
              <a:t></a:t>
            </a:r>
            <a:r>
              <a:rPr lang="en-US" altLang="zh-CN" dirty="0">
                <a:sym typeface="Wingdings" panose="05000000000000000000" pitchFamily="2" charset="2"/>
              </a:rPr>
              <a:t> </a:t>
            </a:r>
            <a:r>
              <a:rPr lang="en-US" altLang="zh-CN" dirty="0" err="1">
                <a:sym typeface="Wingdings" panose="05000000000000000000" pitchFamily="2" charset="2"/>
              </a:rPr>
              <a:t>r_d</a:t>
            </a:r>
            <a:r>
              <a:rPr lang="en-US" altLang="zh-CN" dirty="0">
                <a:sym typeface="Wingdings" panose="05000000000000000000" pitchFamily="2" charset="2"/>
              </a:rPr>
              <a:t>=1300/43</a:t>
            </a:r>
            <a:r>
              <a:rPr lang="zh-CN" altLang="en-US" dirty="0">
                <a:sym typeface="Wingdings" panose="05000000000000000000" pitchFamily="2" charset="2"/>
              </a:rPr>
              <a:t>，求出</a:t>
            </a:r>
            <a:r>
              <a:rPr lang="en-US" altLang="zh-CN" dirty="0" err="1">
                <a:sym typeface="Wingdings" panose="05000000000000000000" pitchFamily="2" charset="2"/>
              </a:rPr>
              <a:t>v_s</a:t>
            </a:r>
            <a:r>
              <a:rPr lang="zh-CN" altLang="en-US" dirty="0">
                <a:sym typeface="Wingdings" panose="05000000000000000000" pitchFamily="2" charset="2"/>
              </a:rPr>
              <a:t>的幅度：</a:t>
            </a:r>
            <a:endParaRPr lang="en-US" altLang="zh-CN" dirty="0">
              <a:sym typeface="Wingdings" panose="05000000000000000000" pitchFamily="2" charset="2"/>
            </a:endParaRPr>
          </a:p>
          <a:p>
            <a:endParaRPr lang="en-US" altLang="zh-CN" dirty="0">
              <a:sym typeface="Wingdings" panose="05000000000000000000" pitchFamily="2" charset="2"/>
            </a:endParaRPr>
          </a:p>
          <a:p>
            <a:r>
              <a:rPr lang="en-US" altLang="zh-CN" dirty="0">
                <a:sym typeface="Wingdings" panose="05000000000000000000" pitchFamily="2" charset="2"/>
              </a:rPr>
              <a:t>0.1*5K/(5K+1300/43) = 0.0994</a:t>
            </a: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24</a:t>
            </a:fld>
            <a:endParaRPr lang="zh-CN" altLang="en-US"/>
          </a:p>
        </p:txBody>
      </p:sp>
    </p:spTree>
    <p:extLst>
      <p:ext uri="{BB962C8B-B14F-4D97-AF65-F5344CB8AC3E}">
        <p14:creationId xmlns:p14="http://schemas.microsoft.com/office/powerpoint/2010/main" val="3884917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solidFill>
                  <a:srgbClr val="3333FF"/>
                </a:solidFill>
                <a:latin typeface="黑体" panose="02010609060101010101" pitchFamily="49" charset="-122"/>
                <a:ea typeface="黑体" panose="02010609060101010101" pitchFamily="49" charset="-122"/>
              </a:rPr>
              <a:t>PN</a:t>
            </a:r>
            <a:r>
              <a:rPr lang="zh-CN" altLang="en-US" dirty="0">
                <a:solidFill>
                  <a:srgbClr val="3333FF"/>
                </a:solidFill>
                <a:latin typeface="黑体" panose="02010609060101010101" pitchFamily="49" charset="-122"/>
                <a:ea typeface="黑体" panose="02010609060101010101" pitchFamily="49" charset="-122"/>
              </a:rPr>
              <a:t>结还有感温、感光、发光等特性。</a:t>
            </a:r>
          </a:p>
          <a:p>
            <a:pPr eaLnBrk="1" hangingPunct="1"/>
            <a:r>
              <a:rPr kumimoji="1" lang="zh-CN" altLang="en-US" dirty="0">
                <a:solidFill>
                  <a:srgbClr val="000000"/>
                </a:solidFill>
              </a:rPr>
              <a:t>利用某些特殊的手段，采用砷、镓、磷等材料制成的二极管，由于它在有电流通过时，能发出光来，所以称作发光二极管，常用</a:t>
            </a:r>
            <a:r>
              <a:rPr kumimoji="1" lang="en-US" altLang="zh-CN" dirty="0">
                <a:solidFill>
                  <a:srgbClr val="000000"/>
                </a:solidFill>
              </a:rPr>
              <a:t>LED</a:t>
            </a:r>
            <a:r>
              <a:rPr kumimoji="1" lang="zh-CN" altLang="en-US" dirty="0">
                <a:solidFill>
                  <a:srgbClr val="000000"/>
                </a:solidFill>
              </a:rPr>
              <a:t>表示。</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25</a:t>
            </a:fld>
            <a:endParaRPr lang="zh-CN" altLang="en-US"/>
          </a:p>
        </p:txBody>
      </p:sp>
    </p:spTree>
    <p:extLst>
      <p:ext uri="{BB962C8B-B14F-4D97-AF65-F5344CB8AC3E}">
        <p14:creationId xmlns:p14="http://schemas.microsoft.com/office/powerpoint/2010/main" val="2517394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20. </a:t>
            </a:r>
            <a:r>
              <a:rPr lang="zh-CN" altLang="en-US"/>
              <a:t>二极管</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2024</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20. </a:t>
            </a:r>
            <a:r>
              <a:rPr lang="zh-CN" altLang="en-US"/>
              <a:t>二极管</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30.wmf"/><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oleObject" Target="../embeddings/oleObject2.bin"/><Relationship Id="rId11" Type="http://schemas.openxmlformats.org/officeDocument/2006/relationships/image" Target="../media/image34.png"/><Relationship Id="rId5" Type="http://schemas.openxmlformats.org/officeDocument/2006/relationships/image" Target="../media/image29.wmf"/><Relationship Id="rId10" Type="http://schemas.openxmlformats.org/officeDocument/2006/relationships/image" Target="../media/image33.png"/><Relationship Id="rId4" Type="http://schemas.openxmlformats.org/officeDocument/2006/relationships/oleObject" Target="../embeddings/oleObject1.bin"/><Relationship Id="rId9"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43.png"/><Relationship Id="rId3" Type="http://schemas.openxmlformats.org/officeDocument/2006/relationships/oleObject" Target="../embeddings/oleObject4.bin"/><Relationship Id="rId7" Type="http://schemas.openxmlformats.org/officeDocument/2006/relationships/image" Target="../media/image38.png"/><Relationship Id="rId12"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3.emf"/><Relationship Id="rId11" Type="http://schemas.openxmlformats.org/officeDocument/2006/relationships/image" Target="../media/image41.png"/><Relationship Id="rId5" Type="http://schemas.openxmlformats.org/officeDocument/2006/relationships/oleObject" Target="../embeddings/oleObject5.bin"/><Relationship Id="rId10" Type="http://schemas.openxmlformats.org/officeDocument/2006/relationships/image" Target="../media/image40.png"/><Relationship Id="rId4" Type="http://schemas.openxmlformats.org/officeDocument/2006/relationships/image" Target="../media/image32.emf"/><Relationship Id="rId9" Type="http://schemas.openxmlformats.org/officeDocument/2006/relationships/image" Target="../media/image34.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35.w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oleObject" Target="../embeddings/oleObject8.bin"/><Relationship Id="rId5" Type="http://schemas.openxmlformats.org/officeDocument/2006/relationships/image" Target="../media/image44.png"/><Relationship Id="rId4" Type="http://schemas.openxmlformats.org/officeDocument/2006/relationships/image" Target="../media/image32.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1.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2269558"/>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20_</a:t>
            </a:r>
            <a:r>
              <a:rPr lang="zh-CN" altLang="en-US" sz="3600" b="1" dirty="0">
                <a:solidFill>
                  <a:schemeClr val="tx1"/>
                </a:solidFill>
                <a:latin typeface="Microsoft YaHei" panose="020B0503020204020204" pitchFamily="34" charset="-122"/>
                <a:ea typeface="Microsoft YaHei" panose="020B0503020204020204" pitchFamily="34" charset="-122"/>
              </a:rPr>
              <a:t>二极管</a:t>
            </a:r>
            <a:endParaRPr lang="en-US" altLang="zh-CN" sz="3600" b="1"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a:t>
            </a:r>
            <a:r>
              <a:rPr lang="zh-CN" altLang="en-US" sz="2000" dirty="0">
                <a:solidFill>
                  <a:srgbClr val="FF0000"/>
                </a:solidFill>
                <a:latin typeface="Microsoft YaHei" panose="020B0503020204020204" pitchFamily="34" charset="-122"/>
                <a:ea typeface="Microsoft YaHei" panose="020B0503020204020204" pitchFamily="34" charset="-122"/>
              </a:rPr>
              <a:t>模电</a:t>
            </a:r>
            <a:r>
              <a:rPr lang="en-US" altLang="zh-CN" sz="2000" dirty="0">
                <a:solidFill>
                  <a:schemeClr val="tx1"/>
                </a:solidFill>
                <a:latin typeface="Microsoft YaHei" panose="020B0503020204020204" pitchFamily="34" charset="-122"/>
                <a:ea typeface="Microsoft YaHei" panose="020B0503020204020204" pitchFamily="34" charset="-122"/>
              </a:rPr>
              <a:t>P51-84</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altLang="zh-CN" sz="2000" dirty="0">
              <a:solidFill>
                <a:schemeClr val="tx1"/>
              </a:solidFill>
              <a:latin typeface="Microsoft YaHei" panose="020B0503020204020204" pitchFamily="34" charset="-122"/>
              <a:ea typeface="Microsoft YaHei" panose="020B0503020204020204" pitchFamily="34" charset="-122"/>
            </a:endParaRPr>
          </a:p>
          <a:p>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康光华、张林，电子技术基础：</a:t>
            </a:r>
            <a:r>
              <a:rPr kumimoji="1" lang="zh-CN" altLang="en-US" sz="2000" dirty="0">
                <a:solidFill>
                  <a:srgbClr val="FF0000"/>
                </a:solidFill>
                <a:latin typeface="Microsoft YaHei" panose="020B0503020204020204" pitchFamily="34" charset="-122"/>
                <a:ea typeface="Microsoft YaHei" panose="020B0503020204020204" pitchFamily="34" charset="-122"/>
              </a:rPr>
              <a:t>模拟部分</a:t>
            </a:r>
            <a:r>
              <a:rPr kumimoji="1" lang="zh-CN" altLang="en-US" sz="2000" dirty="0">
                <a:latin typeface="Microsoft YaHei" panose="020B0503020204020204" pitchFamily="34" charset="-122"/>
                <a:ea typeface="Microsoft YaHei" panose="020B0503020204020204" pitchFamily="34" charset="-122"/>
              </a:rPr>
              <a:t>，</a:t>
            </a:r>
            <a:r>
              <a:rPr kumimoji="1" lang="zh-CN" altLang="en-US" sz="2000" dirty="0">
                <a:solidFill>
                  <a:srgbClr val="FF0000"/>
                </a:solidFill>
                <a:latin typeface="Microsoft YaHei" panose="020B0503020204020204" pitchFamily="34" charset="-122"/>
                <a:ea typeface="Microsoft YaHei" panose="020B0503020204020204" pitchFamily="34" charset="-122"/>
              </a:rPr>
              <a:t>第</a:t>
            </a:r>
            <a:r>
              <a:rPr kumimoji="1" lang="en-US" altLang="zh-CN" sz="2000" dirty="0">
                <a:solidFill>
                  <a:srgbClr val="FF0000"/>
                </a:solidFill>
                <a:latin typeface="Microsoft YaHei" panose="020B0503020204020204" pitchFamily="34" charset="-122"/>
                <a:ea typeface="Microsoft YaHei" panose="020B0503020204020204" pitchFamily="34" charset="-122"/>
              </a:rPr>
              <a:t>7</a:t>
            </a:r>
            <a:r>
              <a:rPr kumimoji="1" lang="zh-CN" altLang="en-US" sz="2000" dirty="0">
                <a:solidFill>
                  <a:srgbClr val="FF0000"/>
                </a:solidFill>
                <a:latin typeface="Microsoft YaHei" panose="020B0503020204020204" pitchFamily="34" charset="-122"/>
                <a:ea typeface="Microsoft YaHei" panose="020B0503020204020204" pitchFamily="34" charset="-122"/>
              </a:rPr>
              <a:t>版</a:t>
            </a:r>
            <a:r>
              <a:rPr kumimoji="1" lang="en-US" altLang="zh-CN" sz="2000" dirty="0">
                <a:latin typeface="Microsoft YaHei" panose="020B0503020204020204" pitchFamily="34" charset="-122"/>
                <a:ea typeface="Microsoft YaHei" panose="020B0503020204020204" pitchFamily="34" charset="-122"/>
              </a:rPr>
              <a:t>)</a:t>
            </a: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DBC4C-9640-AD61-0F3B-5CF8739795FF}"/>
              </a:ext>
            </a:extLst>
          </p:cNvPr>
          <p:cNvSpPr>
            <a:spLocks noGrp="1"/>
          </p:cNvSpPr>
          <p:nvPr>
            <p:ph type="title"/>
          </p:nvPr>
        </p:nvSpPr>
        <p:spPr/>
        <p:txBody>
          <a:bodyPr>
            <a:normAutofit fontScale="90000"/>
          </a:bodyPr>
          <a:lstStyle/>
          <a:p>
            <a:r>
              <a:rPr kumimoji="1" lang="zh-CN" altLang="en-US" dirty="0"/>
              <a:t>内容提纲</a:t>
            </a:r>
          </a:p>
        </p:txBody>
      </p:sp>
      <p:sp>
        <p:nvSpPr>
          <p:cNvPr id="3" name="内容占位符 2">
            <a:extLst>
              <a:ext uri="{FF2B5EF4-FFF2-40B4-BE49-F238E27FC236}">
                <a16:creationId xmlns:a16="http://schemas.microsoft.com/office/drawing/2014/main" id="{F106375B-3C17-2170-48EE-3E1111080382}"/>
              </a:ext>
            </a:extLst>
          </p:cNvPr>
          <p:cNvSpPr>
            <a:spLocks noGrp="1"/>
          </p:cNvSpPr>
          <p:nvPr>
            <p:ph idx="1"/>
          </p:nvPr>
        </p:nvSpPr>
        <p:spPr/>
        <p:txBody>
          <a:bodyPr>
            <a:normAutofit/>
          </a:bodyPr>
          <a:lstStyle/>
          <a:p>
            <a:pPr eaLnBrk="1" hangingPunct="1"/>
            <a:r>
              <a:rPr lang="zh-CN" altLang="en-US" dirty="0"/>
              <a:t>半导体基础知识</a:t>
            </a:r>
          </a:p>
          <a:p>
            <a:pPr eaLnBrk="1" hangingPunct="1">
              <a:spcBef>
                <a:spcPct val="30000"/>
              </a:spcBef>
              <a:spcAft>
                <a:spcPct val="0"/>
              </a:spcAft>
            </a:pPr>
            <a:r>
              <a:rPr lang="zh-CN" altLang="en-US" dirty="0"/>
              <a:t>二极管及其应用</a:t>
            </a:r>
            <a:endParaRPr lang="en-US" altLang="zh-CN" dirty="0"/>
          </a:p>
        </p:txBody>
      </p:sp>
      <p:sp>
        <p:nvSpPr>
          <p:cNvPr id="4" name="页脚占位符 3">
            <a:extLst>
              <a:ext uri="{FF2B5EF4-FFF2-40B4-BE49-F238E27FC236}">
                <a16:creationId xmlns:a16="http://schemas.microsoft.com/office/drawing/2014/main" id="{64B087B8-46F4-E8D4-8B30-EF3E7278EC2E}"/>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B47B7386-9DB7-80F6-203E-055AF101294E}"/>
              </a:ext>
            </a:extLst>
          </p:cNvPr>
          <p:cNvSpPr>
            <a:spLocks noGrp="1"/>
          </p:cNvSpPr>
          <p:nvPr>
            <p:ph type="sldNum" sz="quarter" idx="12"/>
          </p:nvPr>
        </p:nvSpPr>
        <p:spPr/>
        <p:txBody>
          <a:bodyPr/>
          <a:lstStyle/>
          <a:p>
            <a:fld id="{9E260BC5-5BF3-8746-862B-DC45E9CAA88B}" type="slidenum">
              <a:rPr lang="en-US" smtClean="0"/>
              <a:pPr/>
              <a:t>2</a:t>
            </a:fld>
            <a:r>
              <a:rPr lang="en-US" altLang="zh-CN" dirty="0"/>
              <a:t>/33</a:t>
            </a:r>
            <a:endParaRPr lang="en-US" dirty="0"/>
          </a:p>
        </p:txBody>
      </p:sp>
    </p:spTree>
    <p:extLst>
      <p:ext uri="{BB962C8B-B14F-4D97-AF65-F5344CB8AC3E}">
        <p14:creationId xmlns:p14="http://schemas.microsoft.com/office/powerpoint/2010/main" val="212930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CA93E5-8E3F-8637-0EC7-3C64629EB723}"/>
              </a:ext>
            </a:extLst>
          </p:cNvPr>
          <p:cNvSpPr>
            <a:spLocks noGrp="1"/>
          </p:cNvSpPr>
          <p:nvPr>
            <p:ph type="title"/>
          </p:nvPr>
        </p:nvSpPr>
        <p:spPr/>
        <p:txBody>
          <a:bodyPr>
            <a:normAutofit fontScale="90000"/>
          </a:bodyPr>
          <a:lstStyle/>
          <a:p>
            <a:r>
              <a:rPr lang="zh-CN" altLang="en-US" dirty="0"/>
              <a:t>你们看出来了点什么？</a:t>
            </a:r>
            <a:endParaRPr kumimoji="1" lang="zh-CN" altLang="en-US" dirty="0"/>
          </a:p>
        </p:txBody>
      </p:sp>
      <p:sp>
        <p:nvSpPr>
          <p:cNvPr id="4" name="页脚占位符 3">
            <a:extLst>
              <a:ext uri="{FF2B5EF4-FFF2-40B4-BE49-F238E27FC236}">
                <a16:creationId xmlns:a16="http://schemas.microsoft.com/office/drawing/2014/main" id="{AF32AEF0-1F70-F9F9-061F-9A89F2202B2C}"/>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0C553B93-9DA7-B99F-A9E4-60D1FD8E4DC2}"/>
              </a:ext>
            </a:extLst>
          </p:cNvPr>
          <p:cNvSpPr>
            <a:spLocks noGrp="1"/>
          </p:cNvSpPr>
          <p:nvPr>
            <p:ph type="sldNum" sz="quarter" idx="12"/>
          </p:nvPr>
        </p:nvSpPr>
        <p:spPr/>
        <p:txBody>
          <a:bodyPr/>
          <a:lstStyle/>
          <a:p>
            <a:fld id="{9E260BC5-5BF3-8746-862B-DC45E9CAA88B}" type="slidenum">
              <a:rPr lang="en-US" smtClean="0"/>
              <a:pPr/>
              <a:t>3</a:t>
            </a:fld>
            <a:r>
              <a:rPr lang="en-US" altLang="zh-CN" dirty="0"/>
              <a:t>/33</a:t>
            </a:r>
            <a:endParaRPr lang="en-US" dirty="0"/>
          </a:p>
        </p:txBody>
      </p:sp>
      <p:grpSp>
        <p:nvGrpSpPr>
          <p:cNvPr id="6" name="Group 4">
            <a:extLst>
              <a:ext uri="{FF2B5EF4-FFF2-40B4-BE49-F238E27FC236}">
                <a16:creationId xmlns:a16="http://schemas.microsoft.com/office/drawing/2014/main" id="{2413E405-83B9-7003-C204-1B2575DCD55B}"/>
              </a:ext>
            </a:extLst>
          </p:cNvPr>
          <p:cNvGrpSpPr>
            <a:grpSpLocks/>
          </p:cNvGrpSpPr>
          <p:nvPr/>
        </p:nvGrpSpPr>
        <p:grpSpPr bwMode="auto">
          <a:xfrm>
            <a:off x="1127715" y="1286542"/>
            <a:ext cx="2281238" cy="746125"/>
            <a:chOff x="3484" y="3385"/>
            <a:chExt cx="1437" cy="470"/>
          </a:xfrm>
        </p:grpSpPr>
        <p:sp>
          <p:nvSpPr>
            <p:cNvPr id="7" name="Text Box 5">
              <a:extLst>
                <a:ext uri="{FF2B5EF4-FFF2-40B4-BE49-F238E27FC236}">
                  <a16:creationId xmlns:a16="http://schemas.microsoft.com/office/drawing/2014/main" id="{2F33C651-70D9-5A6B-3FE1-84D8828DBA0D}"/>
                </a:ext>
              </a:extLst>
            </p:cNvPr>
            <p:cNvSpPr txBox="1">
              <a:spLocks noChangeArrowheads="1"/>
            </p:cNvSpPr>
            <p:nvPr/>
          </p:nvSpPr>
          <p:spPr bwMode="auto">
            <a:xfrm>
              <a:off x="3484" y="3385"/>
              <a:ext cx="204" cy="2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A</a:t>
              </a:r>
              <a:endParaRPr kumimoji="1" lang="en-US" altLang="zh-CN" sz="2400" b="0" baseline="-25000">
                <a:latin typeface="+mj-ea"/>
                <a:ea typeface="+mj-ea"/>
              </a:endParaRPr>
            </a:p>
          </p:txBody>
        </p:sp>
        <p:sp>
          <p:nvSpPr>
            <p:cNvPr id="8" name="Text Box 6">
              <a:extLst>
                <a:ext uri="{FF2B5EF4-FFF2-40B4-BE49-F238E27FC236}">
                  <a16:creationId xmlns:a16="http://schemas.microsoft.com/office/drawing/2014/main" id="{0E9E5A45-5637-34AF-60A8-0BC9992686FE}"/>
                </a:ext>
              </a:extLst>
            </p:cNvPr>
            <p:cNvSpPr txBox="1">
              <a:spLocks noChangeArrowheads="1"/>
            </p:cNvSpPr>
            <p:nvPr/>
          </p:nvSpPr>
          <p:spPr bwMode="auto">
            <a:xfrm>
              <a:off x="3493" y="3646"/>
              <a:ext cx="204" cy="2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B</a:t>
              </a:r>
              <a:endParaRPr kumimoji="1" lang="en-US" altLang="zh-CN" sz="2400" b="0" baseline="-25000">
                <a:latin typeface="+mj-ea"/>
                <a:ea typeface="+mj-ea"/>
              </a:endParaRPr>
            </a:p>
          </p:txBody>
        </p:sp>
        <p:sp>
          <p:nvSpPr>
            <p:cNvPr id="9" name="Line 7">
              <a:extLst>
                <a:ext uri="{FF2B5EF4-FFF2-40B4-BE49-F238E27FC236}">
                  <a16:creationId xmlns:a16="http://schemas.microsoft.com/office/drawing/2014/main" id="{384875E8-63CD-FA1C-FA1E-809FA2EA0987}"/>
                </a:ext>
              </a:extLst>
            </p:cNvPr>
            <p:cNvSpPr>
              <a:spLocks noChangeShapeType="1"/>
            </p:cNvSpPr>
            <p:nvPr/>
          </p:nvSpPr>
          <p:spPr bwMode="auto">
            <a:xfrm>
              <a:off x="3742" y="3521"/>
              <a:ext cx="298"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latin typeface="+mj-ea"/>
                <a:ea typeface="+mj-ea"/>
              </a:endParaRPr>
            </a:p>
          </p:txBody>
        </p:sp>
        <p:sp>
          <p:nvSpPr>
            <p:cNvPr id="10" name="Line 8">
              <a:extLst>
                <a:ext uri="{FF2B5EF4-FFF2-40B4-BE49-F238E27FC236}">
                  <a16:creationId xmlns:a16="http://schemas.microsoft.com/office/drawing/2014/main" id="{1B6937CB-3714-B8AE-FF23-D290EB16006A}"/>
                </a:ext>
              </a:extLst>
            </p:cNvPr>
            <p:cNvSpPr>
              <a:spLocks noChangeShapeType="1"/>
            </p:cNvSpPr>
            <p:nvPr/>
          </p:nvSpPr>
          <p:spPr bwMode="auto">
            <a:xfrm>
              <a:off x="3742" y="3725"/>
              <a:ext cx="298"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latin typeface="+mj-ea"/>
                <a:ea typeface="+mj-ea"/>
              </a:endParaRPr>
            </a:p>
          </p:txBody>
        </p:sp>
        <p:sp>
          <p:nvSpPr>
            <p:cNvPr id="11" name="Line 9">
              <a:extLst>
                <a:ext uri="{FF2B5EF4-FFF2-40B4-BE49-F238E27FC236}">
                  <a16:creationId xmlns:a16="http://schemas.microsoft.com/office/drawing/2014/main" id="{B8324325-FAFB-5048-28EE-6AE6214130CB}"/>
                </a:ext>
              </a:extLst>
            </p:cNvPr>
            <p:cNvSpPr>
              <a:spLocks noChangeShapeType="1"/>
            </p:cNvSpPr>
            <p:nvPr/>
          </p:nvSpPr>
          <p:spPr bwMode="auto">
            <a:xfrm>
              <a:off x="4400" y="3634"/>
              <a:ext cx="296"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latin typeface="+mj-ea"/>
                <a:ea typeface="+mj-ea"/>
              </a:endParaRPr>
            </a:p>
          </p:txBody>
        </p:sp>
        <p:sp>
          <p:nvSpPr>
            <p:cNvPr id="12" name="Text Box 10">
              <a:extLst>
                <a:ext uri="{FF2B5EF4-FFF2-40B4-BE49-F238E27FC236}">
                  <a16:creationId xmlns:a16="http://schemas.microsoft.com/office/drawing/2014/main" id="{A87D4999-7087-2B55-DF1D-C2B445F7CF03}"/>
                </a:ext>
              </a:extLst>
            </p:cNvPr>
            <p:cNvSpPr txBox="1">
              <a:spLocks noChangeArrowheads="1"/>
            </p:cNvSpPr>
            <p:nvPr/>
          </p:nvSpPr>
          <p:spPr bwMode="auto">
            <a:xfrm>
              <a:off x="4717" y="3541"/>
              <a:ext cx="204" cy="2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Y</a:t>
              </a:r>
              <a:endParaRPr kumimoji="1" lang="en-US" altLang="zh-CN" sz="2400" b="0" baseline="-25000">
                <a:latin typeface="+mj-ea"/>
                <a:ea typeface="+mj-ea"/>
              </a:endParaRPr>
            </a:p>
          </p:txBody>
        </p:sp>
        <p:sp>
          <p:nvSpPr>
            <p:cNvPr id="13" name="AutoShape 11">
              <a:extLst>
                <a:ext uri="{FF2B5EF4-FFF2-40B4-BE49-F238E27FC236}">
                  <a16:creationId xmlns:a16="http://schemas.microsoft.com/office/drawing/2014/main" id="{7C098192-6E99-91F5-A4F9-4D463FC93D8A}"/>
                </a:ext>
              </a:extLst>
            </p:cNvPr>
            <p:cNvSpPr>
              <a:spLocks noChangeArrowheads="1"/>
            </p:cNvSpPr>
            <p:nvPr/>
          </p:nvSpPr>
          <p:spPr bwMode="auto">
            <a:xfrm>
              <a:off x="4040" y="3430"/>
              <a:ext cx="354" cy="389"/>
            </a:xfrm>
            <a:prstGeom prst="flowChartDelay">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grpSp>
      <p:grpSp>
        <p:nvGrpSpPr>
          <p:cNvPr id="14" name="Group 161">
            <a:extLst>
              <a:ext uri="{FF2B5EF4-FFF2-40B4-BE49-F238E27FC236}">
                <a16:creationId xmlns:a16="http://schemas.microsoft.com/office/drawing/2014/main" id="{53C3FD2E-51CE-B322-A882-9BA75D0A376D}"/>
              </a:ext>
            </a:extLst>
          </p:cNvPr>
          <p:cNvGrpSpPr>
            <a:grpSpLocks/>
          </p:cNvGrpSpPr>
          <p:nvPr/>
        </p:nvGrpSpPr>
        <p:grpSpPr bwMode="auto">
          <a:xfrm>
            <a:off x="1035638" y="2306511"/>
            <a:ext cx="2411413" cy="712787"/>
            <a:chOff x="476" y="3028"/>
            <a:chExt cx="1519" cy="449"/>
          </a:xfrm>
        </p:grpSpPr>
        <p:sp>
          <p:nvSpPr>
            <p:cNvPr id="15" name="Text Box 141">
              <a:extLst>
                <a:ext uri="{FF2B5EF4-FFF2-40B4-BE49-F238E27FC236}">
                  <a16:creationId xmlns:a16="http://schemas.microsoft.com/office/drawing/2014/main" id="{3B6380CE-23FA-CE26-FD71-E9A938392DD4}"/>
                </a:ext>
              </a:extLst>
            </p:cNvPr>
            <p:cNvSpPr txBox="1">
              <a:spLocks noChangeArrowheads="1"/>
            </p:cNvSpPr>
            <p:nvPr/>
          </p:nvSpPr>
          <p:spPr bwMode="auto">
            <a:xfrm>
              <a:off x="601" y="3028"/>
              <a:ext cx="187" cy="2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A</a:t>
              </a:r>
              <a:endParaRPr kumimoji="1" lang="en-US" altLang="zh-CN" sz="2400" b="0" baseline="-25000">
                <a:latin typeface="+mj-ea"/>
                <a:ea typeface="+mj-ea"/>
              </a:endParaRPr>
            </a:p>
          </p:txBody>
        </p:sp>
        <p:sp>
          <p:nvSpPr>
            <p:cNvPr id="16" name="Text Box 142">
              <a:extLst>
                <a:ext uri="{FF2B5EF4-FFF2-40B4-BE49-F238E27FC236}">
                  <a16:creationId xmlns:a16="http://schemas.microsoft.com/office/drawing/2014/main" id="{450EFF18-4D46-2A33-014D-F417756605BF}"/>
                </a:ext>
              </a:extLst>
            </p:cNvPr>
            <p:cNvSpPr txBox="1">
              <a:spLocks noChangeArrowheads="1"/>
            </p:cNvSpPr>
            <p:nvPr/>
          </p:nvSpPr>
          <p:spPr bwMode="auto">
            <a:xfrm>
              <a:off x="609" y="3268"/>
              <a:ext cx="188" cy="2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B</a:t>
              </a:r>
              <a:endParaRPr kumimoji="1" lang="en-US" altLang="zh-CN" sz="2400" b="0" baseline="-25000">
                <a:latin typeface="+mj-ea"/>
                <a:ea typeface="+mj-ea"/>
              </a:endParaRPr>
            </a:p>
          </p:txBody>
        </p:sp>
        <p:sp>
          <p:nvSpPr>
            <p:cNvPr id="17" name="Line 143">
              <a:extLst>
                <a:ext uri="{FF2B5EF4-FFF2-40B4-BE49-F238E27FC236}">
                  <a16:creationId xmlns:a16="http://schemas.microsoft.com/office/drawing/2014/main" id="{E290D198-EE88-ECD3-EAF7-1CE908E4DC3D}"/>
                </a:ext>
              </a:extLst>
            </p:cNvPr>
            <p:cNvSpPr>
              <a:spLocks noChangeShapeType="1"/>
            </p:cNvSpPr>
            <p:nvPr/>
          </p:nvSpPr>
          <p:spPr bwMode="auto">
            <a:xfrm>
              <a:off x="850" y="3153"/>
              <a:ext cx="250"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latin typeface="+mj-ea"/>
                <a:ea typeface="+mj-ea"/>
              </a:endParaRPr>
            </a:p>
          </p:txBody>
        </p:sp>
        <p:sp>
          <p:nvSpPr>
            <p:cNvPr id="18" name="Line 144">
              <a:extLst>
                <a:ext uri="{FF2B5EF4-FFF2-40B4-BE49-F238E27FC236}">
                  <a16:creationId xmlns:a16="http://schemas.microsoft.com/office/drawing/2014/main" id="{892E84ED-E639-5651-D743-BE07931F79A6}"/>
                </a:ext>
              </a:extLst>
            </p:cNvPr>
            <p:cNvSpPr>
              <a:spLocks noChangeShapeType="1"/>
            </p:cNvSpPr>
            <p:nvPr/>
          </p:nvSpPr>
          <p:spPr bwMode="auto">
            <a:xfrm>
              <a:off x="850" y="3361"/>
              <a:ext cx="250"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latin typeface="+mj-ea"/>
                <a:ea typeface="+mj-ea"/>
              </a:endParaRPr>
            </a:p>
          </p:txBody>
        </p:sp>
        <p:sp>
          <p:nvSpPr>
            <p:cNvPr id="19" name="Line 145">
              <a:extLst>
                <a:ext uri="{FF2B5EF4-FFF2-40B4-BE49-F238E27FC236}">
                  <a16:creationId xmlns:a16="http://schemas.microsoft.com/office/drawing/2014/main" id="{8788A481-8181-6169-0798-2893FFEEA459}"/>
                </a:ext>
              </a:extLst>
            </p:cNvPr>
            <p:cNvSpPr>
              <a:spLocks noChangeShapeType="1"/>
            </p:cNvSpPr>
            <p:nvPr/>
          </p:nvSpPr>
          <p:spPr bwMode="auto">
            <a:xfrm>
              <a:off x="1523" y="3254"/>
              <a:ext cx="272"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latin typeface="+mj-ea"/>
                <a:ea typeface="+mj-ea"/>
              </a:endParaRPr>
            </a:p>
          </p:txBody>
        </p:sp>
        <p:sp>
          <p:nvSpPr>
            <p:cNvPr id="20" name="Text Box 146">
              <a:extLst>
                <a:ext uri="{FF2B5EF4-FFF2-40B4-BE49-F238E27FC236}">
                  <a16:creationId xmlns:a16="http://schemas.microsoft.com/office/drawing/2014/main" id="{E86BD175-D76D-BBF0-B48C-61896752554B}"/>
                </a:ext>
              </a:extLst>
            </p:cNvPr>
            <p:cNvSpPr txBox="1">
              <a:spLocks noChangeArrowheads="1"/>
            </p:cNvSpPr>
            <p:nvPr/>
          </p:nvSpPr>
          <p:spPr bwMode="auto">
            <a:xfrm>
              <a:off x="1808" y="3153"/>
              <a:ext cx="187" cy="2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Y</a:t>
              </a:r>
              <a:endParaRPr kumimoji="1" lang="en-US" altLang="zh-CN" sz="2400" b="0" baseline="-25000">
                <a:latin typeface="+mj-ea"/>
                <a:ea typeface="+mj-ea"/>
              </a:endParaRPr>
            </a:p>
          </p:txBody>
        </p:sp>
        <p:grpSp>
          <p:nvGrpSpPr>
            <p:cNvPr id="21" name="Group 155">
              <a:extLst>
                <a:ext uri="{FF2B5EF4-FFF2-40B4-BE49-F238E27FC236}">
                  <a16:creationId xmlns:a16="http://schemas.microsoft.com/office/drawing/2014/main" id="{E9BEE514-D1F3-484E-D4FF-E30D992C15DE}"/>
                </a:ext>
              </a:extLst>
            </p:cNvPr>
            <p:cNvGrpSpPr>
              <a:grpSpLocks/>
            </p:cNvGrpSpPr>
            <p:nvPr/>
          </p:nvGrpSpPr>
          <p:grpSpPr bwMode="auto">
            <a:xfrm>
              <a:off x="476" y="3048"/>
              <a:ext cx="1061" cy="417"/>
              <a:chOff x="986" y="3158"/>
              <a:chExt cx="1671" cy="658"/>
            </a:xfrm>
          </p:grpSpPr>
          <p:sp>
            <p:nvSpPr>
              <p:cNvPr id="22" name="Arc 156">
                <a:extLst>
                  <a:ext uri="{FF2B5EF4-FFF2-40B4-BE49-F238E27FC236}">
                    <a16:creationId xmlns:a16="http://schemas.microsoft.com/office/drawing/2014/main" id="{8A6FF4E6-9D10-359E-25D5-EEE5175737AE}"/>
                  </a:ext>
                </a:extLst>
              </p:cNvPr>
              <p:cNvSpPr>
                <a:spLocks/>
              </p:cNvSpPr>
              <p:nvPr/>
            </p:nvSpPr>
            <p:spPr bwMode="auto">
              <a:xfrm>
                <a:off x="2177" y="3159"/>
                <a:ext cx="480" cy="657"/>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latin typeface="+mj-ea"/>
                  <a:ea typeface="+mj-ea"/>
                </a:endParaRPr>
              </a:p>
            </p:txBody>
          </p:sp>
          <p:sp>
            <p:nvSpPr>
              <p:cNvPr id="23" name="Arc 157">
                <a:extLst>
                  <a:ext uri="{FF2B5EF4-FFF2-40B4-BE49-F238E27FC236}">
                    <a16:creationId xmlns:a16="http://schemas.microsoft.com/office/drawing/2014/main" id="{39C194CC-6592-B888-5170-C888AFD678EC}"/>
                  </a:ext>
                </a:extLst>
              </p:cNvPr>
              <p:cNvSpPr>
                <a:spLocks/>
              </p:cNvSpPr>
              <p:nvPr/>
            </p:nvSpPr>
            <p:spPr bwMode="auto">
              <a:xfrm flipV="1">
                <a:off x="2183" y="3159"/>
                <a:ext cx="470" cy="657"/>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latin typeface="+mj-ea"/>
                  <a:ea typeface="+mj-ea"/>
                </a:endParaRPr>
              </a:p>
            </p:txBody>
          </p:sp>
          <p:sp>
            <p:nvSpPr>
              <p:cNvPr id="24" name="Arc 158">
                <a:extLst>
                  <a:ext uri="{FF2B5EF4-FFF2-40B4-BE49-F238E27FC236}">
                    <a16:creationId xmlns:a16="http://schemas.microsoft.com/office/drawing/2014/main" id="{6980D718-C525-3825-F765-8B57CA9D7A42}"/>
                  </a:ext>
                </a:extLst>
              </p:cNvPr>
              <p:cNvSpPr>
                <a:spLocks/>
              </p:cNvSpPr>
              <p:nvPr/>
            </p:nvSpPr>
            <p:spPr bwMode="auto">
              <a:xfrm rot="5400000">
                <a:off x="1174" y="2973"/>
                <a:ext cx="655" cy="1032"/>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latin typeface="+mj-ea"/>
                  <a:ea typeface="+mj-ea"/>
                </a:endParaRPr>
              </a:p>
            </p:txBody>
          </p:sp>
          <p:sp>
            <p:nvSpPr>
              <p:cNvPr id="25" name="Line 159">
                <a:extLst>
                  <a:ext uri="{FF2B5EF4-FFF2-40B4-BE49-F238E27FC236}">
                    <a16:creationId xmlns:a16="http://schemas.microsoft.com/office/drawing/2014/main" id="{D8BCC240-C9A4-30F3-3112-97321A140055}"/>
                  </a:ext>
                </a:extLst>
              </p:cNvPr>
              <p:cNvSpPr>
                <a:spLocks noChangeShapeType="1"/>
              </p:cNvSpPr>
              <p:nvPr/>
            </p:nvSpPr>
            <p:spPr bwMode="auto">
              <a:xfrm flipH="1">
                <a:off x="1882" y="3816"/>
                <a:ext cx="318"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26" name="Line 160">
                <a:extLst>
                  <a:ext uri="{FF2B5EF4-FFF2-40B4-BE49-F238E27FC236}">
                    <a16:creationId xmlns:a16="http://schemas.microsoft.com/office/drawing/2014/main" id="{F45ACC8B-7B82-BF6C-A4DE-44D4790B1458}"/>
                  </a:ext>
                </a:extLst>
              </p:cNvPr>
              <p:cNvSpPr>
                <a:spLocks noChangeShapeType="1"/>
              </p:cNvSpPr>
              <p:nvPr/>
            </p:nvSpPr>
            <p:spPr bwMode="auto">
              <a:xfrm flipH="1">
                <a:off x="1882" y="3158"/>
                <a:ext cx="318"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grpSp>
      </p:grpSp>
      <p:grpSp>
        <p:nvGrpSpPr>
          <p:cNvPr id="27" name="Group 166">
            <a:extLst>
              <a:ext uri="{FF2B5EF4-FFF2-40B4-BE49-F238E27FC236}">
                <a16:creationId xmlns:a16="http://schemas.microsoft.com/office/drawing/2014/main" id="{E1798E13-BE02-8D3E-480D-334A0A9CB8C6}"/>
              </a:ext>
            </a:extLst>
          </p:cNvPr>
          <p:cNvGrpSpPr>
            <a:grpSpLocks/>
          </p:cNvGrpSpPr>
          <p:nvPr/>
        </p:nvGrpSpPr>
        <p:grpSpPr bwMode="auto">
          <a:xfrm>
            <a:off x="1186451" y="3377279"/>
            <a:ext cx="2162175" cy="585788"/>
            <a:chOff x="612" y="3088"/>
            <a:chExt cx="1362" cy="369"/>
          </a:xfrm>
        </p:grpSpPr>
        <p:sp>
          <p:nvSpPr>
            <p:cNvPr id="28" name="Text Box 152">
              <a:extLst>
                <a:ext uri="{FF2B5EF4-FFF2-40B4-BE49-F238E27FC236}">
                  <a16:creationId xmlns:a16="http://schemas.microsoft.com/office/drawing/2014/main" id="{E9EF1FEA-7922-33A9-6DF4-ED06D74AF585}"/>
                </a:ext>
              </a:extLst>
            </p:cNvPr>
            <p:cNvSpPr txBox="1">
              <a:spLocks noChangeArrowheads="1"/>
            </p:cNvSpPr>
            <p:nvPr/>
          </p:nvSpPr>
          <p:spPr bwMode="auto">
            <a:xfrm>
              <a:off x="612" y="3148"/>
              <a:ext cx="180" cy="2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A</a:t>
              </a:r>
              <a:endParaRPr kumimoji="1" lang="en-US" altLang="zh-CN" sz="2400" b="0" baseline="-25000">
                <a:latin typeface="+mj-ea"/>
                <a:ea typeface="+mj-ea"/>
              </a:endParaRPr>
            </a:p>
          </p:txBody>
        </p:sp>
        <p:sp>
          <p:nvSpPr>
            <p:cNvPr id="29" name="Line 153">
              <a:extLst>
                <a:ext uri="{FF2B5EF4-FFF2-40B4-BE49-F238E27FC236}">
                  <a16:creationId xmlns:a16="http://schemas.microsoft.com/office/drawing/2014/main" id="{3128BD4D-E1ED-2759-13A5-DE9707FC45EF}"/>
                </a:ext>
              </a:extLst>
            </p:cNvPr>
            <p:cNvSpPr>
              <a:spLocks noChangeShapeType="1"/>
            </p:cNvSpPr>
            <p:nvPr/>
          </p:nvSpPr>
          <p:spPr bwMode="auto">
            <a:xfrm>
              <a:off x="852" y="3268"/>
              <a:ext cx="259"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latin typeface="+mj-ea"/>
                <a:ea typeface="+mj-ea"/>
              </a:endParaRPr>
            </a:p>
          </p:txBody>
        </p:sp>
        <p:sp>
          <p:nvSpPr>
            <p:cNvPr id="30" name="Line 154">
              <a:extLst>
                <a:ext uri="{FF2B5EF4-FFF2-40B4-BE49-F238E27FC236}">
                  <a16:creationId xmlns:a16="http://schemas.microsoft.com/office/drawing/2014/main" id="{C787F1A0-0714-2148-25E5-381AE07731B8}"/>
                </a:ext>
              </a:extLst>
            </p:cNvPr>
            <p:cNvSpPr>
              <a:spLocks noChangeShapeType="1"/>
            </p:cNvSpPr>
            <p:nvPr/>
          </p:nvSpPr>
          <p:spPr bwMode="auto">
            <a:xfrm>
              <a:off x="1520" y="3270"/>
              <a:ext cx="262"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latin typeface="+mj-ea"/>
                <a:ea typeface="+mj-ea"/>
              </a:endParaRPr>
            </a:p>
          </p:txBody>
        </p:sp>
        <p:sp>
          <p:nvSpPr>
            <p:cNvPr id="31" name="Text Box 155">
              <a:extLst>
                <a:ext uri="{FF2B5EF4-FFF2-40B4-BE49-F238E27FC236}">
                  <a16:creationId xmlns:a16="http://schemas.microsoft.com/office/drawing/2014/main" id="{6306BCB3-D4EA-F23B-32B4-AEBD3303C1FA}"/>
                </a:ext>
              </a:extLst>
            </p:cNvPr>
            <p:cNvSpPr txBox="1">
              <a:spLocks noChangeArrowheads="1"/>
            </p:cNvSpPr>
            <p:nvPr/>
          </p:nvSpPr>
          <p:spPr bwMode="auto">
            <a:xfrm>
              <a:off x="1794" y="3173"/>
              <a:ext cx="180" cy="2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Y</a:t>
              </a:r>
              <a:endParaRPr kumimoji="1" lang="en-US" altLang="zh-CN" sz="2400" b="0" baseline="-25000">
                <a:latin typeface="+mj-ea"/>
                <a:ea typeface="+mj-ea"/>
              </a:endParaRPr>
            </a:p>
          </p:txBody>
        </p:sp>
        <p:sp>
          <p:nvSpPr>
            <p:cNvPr id="32" name="AutoShape 162">
              <a:extLst>
                <a:ext uri="{FF2B5EF4-FFF2-40B4-BE49-F238E27FC236}">
                  <a16:creationId xmlns:a16="http://schemas.microsoft.com/office/drawing/2014/main" id="{9EDAA869-605A-6F9B-632B-B3B4F495C5A9}"/>
                </a:ext>
              </a:extLst>
            </p:cNvPr>
            <p:cNvSpPr>
              <a:spLocks noChangeArrowheads="1"/>
            </p:cNvSpPr>
            <p:nvPr/>
          </p:nvSpPr>
          <p:spPr bwMode="auto">
            <a:xfrm rot="5400000">
              <a:off x="1092" y="3110"/>
              <a:ext cx="369" cy="326"/>
            </a:xfrm>
            <a:prstGeom prst="triangle">
              <a:avLst>
                <a:gd name="adj" fmla="val 50000"/>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33" name="Oval 163">
              <a:extLst>
                <a:ext uri="{FF2B5EF4-FFF2-40B4-BE49-F238E27FC236}">
                  <a16:creationId xmlns:a16="http://schemas.microsoft.com/office/drawing/2014/main" id="{766C6E2B-C432-9B9C-C6F4-ECB1A0909CA9}"/>
                </a:ext>
              </a:extLst>
            </p:cNvPr>
            <p:cNvSpPr>
              <a:spLocks noChangeArrowheads="1"/>
            </p:cNvSpPr>
            <p:nvPr/>
          </p:nvSpPr>
          <p:spPr bwMode="auto">
            <a:xfrm>
              <a:off x="1443" y="3227"/>
              <a:ext cx="81" cy="81"/>
            </a:xfrm>
            <a:prstGeom prst="ellipse">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grpSp>
      <p:grpSp>
        <p:nvGrpSpPr>
          <p:cNvPr id="34" name="Group 4">
            <a:extLst>
              <a:ext uri="{FF2B5EF4-FFF2-40B4-BE49-F238E27FC236}">
                <a16:creationId xmlns:a16="http://schemas.microsoft.com/office/drawing/2014/main" id="{65694D39-7B24-0FE7-91F7-E08C5B32EB98}"/>
              </a:ext>
            </a:extLst>
          </p:cNvPr>
          <p:cNvGrpSpPr>
            <a:grpSpLocks/>
          </p:cNvGrpSpPr>
          <p:nvPr/>
        </p:nvGrpSpPr>
        <p:grpSpPr bwMode="auto">
          <a:xfrm>
            <a:off x="1303928" y="4207337"/>
            <a:ext cx="2238375" cy="1223962"/>
            <a:chOff x="2314" y="1502"/>
            <a:chExt cx="1410" cy="771"/>
          </a:xfrm>
        </p:grpSpPr>
        <p:sp>
          <p:nvSpPr>
            <p:cNvPr id="35" name="Rectangle 5">
              <a:extLst>
                <a:ext uri="{FF2B5EF4-FFF2-40B4-BE49-F238E27FC236}">
                  <a16:creationId xmlns:a16="http://schemas.microsoft.com/office/drawing/2014/main" id="{2699D344-6529-F6EC-65F4-77BF2B12903B}"/>
                </a:ext>
              </a:extLst>
            </p:cNvPr>
            <p:cNvSpPr>
              <a:spLocks noChangeArrowheads="1"/>
            </p:cNvSpPr>
            <p:nvPr/>
          </p:nvSpPr>
          <p:spPr bwMode="auto">
            <a:xfrm>
              <a:off x="2602" y="1502"/>
              <a:ext cx="527" cy="771"/>
            </a:xfrm>
            <a:prstGeom prst="rect">
              <a:avLst/>
            </a:prstGeom>
            <a:noFill/>
            <a:ln w="2857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36" name="Line 6">
              <a:extLst>
                <a:ext uri="{FF2B5EF4-FFF2-40B4-BE49-F238E27FC236}">
                  <a16:creationId xmlns:a16="http://schemas.microsoft.com/office/drawing/2014/main" id="{5144DFDE-5B49-FFCD-14BE-026609007572}"/>
                </a:ext>
              </a:extLst>
            </p:cNvPr>
            <p:cNvSpPr>
              <a:spLocks noChangeShapeType="1"/>
            </p:cNvSpPr>
            <p:nvPr/>
          </p:nvSpPr>
          <p:spPr bwMode="auto">
            <a:xfrm>
              <a:off x="2314" y="1685"/>
              <a:ext cx="288"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37" name="Line 7">
              <a:extLst>
                <a:ext uri="{FF2B5EF4-FFF2-40B4-BE49-F238E27FC236}">
                  <a16:creationId xmlns:a16="http://schemas.microsoft.com/office/drawing/2014/main" id="{DB99291D-4340-FDAE-F2AB-369DFF61097B}"/>
                </a:ext>
              </a:extLst>
            </p:cNvPr>
            <p:cNvSpPr>
              <a:spLocks noChangeShapeType="1"/>
            </p:cNvSpPr>
            <p:nvPr/>
          </p:nvSpPr>
          <p:spPr bwMode="auto">
            <a:xfrm>
              <a:off x="2314" y="2067"/>
              <a:ext cx="288"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38" name="Line 8">
              <a:extLst>
                <a:ext uri="{FF2B5EF4-FFF2-40B4-BE49-F238E27FC236}">
                  <a16:creationId xmlns:a16="http://schemas.microsoft.com/office/drawing/2014/main" id="{8CA53CC0-2AC9-2203-1CC1-B7AD4DE70E38}"/>
                </a:ext>
              </a:extLst>
            </p:cNvPr>
            <p:cNvSpPr>
              <a:spLocks noChangeShapeType="1"/>
            </p:cNvSpPr>
            <p:nvPr/>
          </p:nvSpPr>
          <p:spPr bwMode="auto">
            <a:xfrm>
              <a:off x="3131" y="1685"/>
              <a:ext cx="288"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39" name="Line 9">
              <a:extLst>
                <a:ext uri="{FF2B5EF4-FFF2-40B4-BE49-F238E27FC236}">
                  <a16:creationId xmlns:a16="http://schemas.microsoft.com/office/drawing/2014/main" id="{B7206709-3095-DF59-EF5F-AB2E3E550D87}"/>
                </a:ext>
              </a:extLst>
            </p:cNvPr>
            <p:cNvSpPr>
              <a:spLocks noChangeShapeType="1"/>
            </p:cNvSpPr>
            <p:nvPr/>
          </p:nvSpPr>
          <p:spPr bwMode="auto">
            <a:xfrm>
              <a:off x="3131" y="2067"/>
              <a:ext cx="288"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40" name="Text Box 10">
              <a:extLst>
                <a:ext uri="{FF2B5EF4-FFF2-40B4-BE49-F238E27FC236}">
                  <a16:creationId xmlns:a16="http://schemas.microsoft.com/office/drawing/2014/main" id="{98D61A57-040D-0C20-2F28-F91750D5AE33}"/>
                </a:ext>
              </a:extLst>
            </p:cNvPr>
            <p:cNvSpPr txBox="1">
              <a:spLocks noChangeArrowheads="1"/>
            </p:cNvSpPr>
            <p:nvPr/>
          </p:nvSpPr>
          <p:spPr bwMode="auto">
            <a:xfrm>
              <a:off x="2591" y="1531"/>
              <a:ext cx="270"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b="0">
                  <a:latin typeface="+mj-ea"/>
                  <a:ea typeface="+mj-ea"/>
                </a:rPr>
                <a:t>D</a:t>
              </a:r>
              <a:endParaRPr kumimoji="1" lang="en-US" altLang="zh-CN" sz="1600" b="0">
                <a:latin typeface="+mj-ea"/>
                <a:ea typeface="+mj-ea"/>
              </a:endParaRPr>
            </a:p>
          </p:txBody>
        </p:sp>
        <p:sp>
          <p:nvSpPr>
            <p:cNvPr id="41" name="Text Box 11">
              <a:extLst>
                <a:ext uri="{FF2B5EF4-FFF2-40B4-BE49-F238E27FC236}">
                  <a16:creationId xmlns:a16="http://schemas.microsoft.com/office/drawing/2014/main" id="{634A513A-2FA6-2933-6C7E-3A569397BDC3}"/>
                </a:ext>
              </a:extLst>
            </p:cNvPr>
            <p:cNvSpPr txBox="1">
              <a:spLocks noChangeArrowheads="1"/>
            </p:cNvSpPr>
            <p:nvPr/>
          </p:nvSpPr>
          <p:spPr bwMode="auto">
            <a:xfrm>
              <a:off x="2670" y="1922"/>
              <a:ext cx="255"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b="0">
                  <a:latin typeface="+mj-ea"/>
                  <a:ea typeface="+mj-ea"/>
                </a:rPr>
                <a:t>C</a:t>
              </a:r>
              <a:endParaRPr kumimoji="1" lang="en-US" altLang="zh-CN" sz="1600" b="0">
                <a:latin typeface="+mj-ea"/>
                <a:ea typeface="+mj-ea"/>
              </a:endParaRPr>
            </a:p>
          </p:txBody>
        </p:sp>
        <p:sp>
          <p:nvSpPr>
            <p:cNvPr id="42" name="Text Box 12">
              <a:extLst>
                <a:ext uri="{FF2B5EF4-FFF2-40B4-BE49-F238E27FC236}">
                  <a16:creationId xmlns:a16="http://schemas.microsoft.com/office/drawing/2014/main" id="{DB91B1B1-E012-A223-98BC-A00B5B4B0CE5}"/>
                </a:ext>
              </a:extLst>
            </p:cNvPr>
            <p:cNvSpPr txBox="1">
              <a:spLocks noChangeArrowheads="1"/>
            </p:cNvSpPr>
            <p:nvPr/>
          </p:nvSpPr>
          <p:spPr bwMode="auto">
            <a:xfrm>
              <a:off x="3439" y="1531"/>
              <a:ext cx="275"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b="0">
                  <a:latin typeface="+mj-ea"/>
                  <a:ea typeface="+mj-ea"/>
                </a:rPr>
                <a:t>Q</a:t>
              </a:r>
            </a:p>
          </p:txBody>
        </p:sp>
        <p:sp>
          <p:nvSpPr>
            <p:cNvPr id="43" name="Text Box 13">
              <a:extLst>
                <a:ext uri="{FF2B5EF4-FFF2-40B4-BE49-F238E27FC236}">
                  <a16:creationId xmlns:a16="http://schemas.microsoft.com/office/drawing/2014/main" id="{ADB54AB8-36AB-6CF7-9402-6FD61B2AC6AD}"/>
                </a:ext>
              </a:extLst>
            </p:cNvPr>
            <p:cNvSpPr txBox="1">
              <a:spLocks noChangeArrowheads="1"/>
            </p:cNvSpPr>
            <p:nvPr/>
          </p:nvSpPr>
          <p:spPr bwMode="auto">
            <a:xfrm>
              <a:off x="3449" y="1909"/>
              <a:ext cx="275"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b="0">
                  <a:latin typeface="+mj-ea"/>
                  <a:ea typeface="+mj-ea"/>
                </a:rPr>
                <a:t>Q</a:t>
              </a:r>
            </a:p>
          </p:txBody>
        </p:sp>
        <p:sp>
          <p:nvSpPr>
            <p:cNvPr id="44" name="Line 14">
              <a:extLst>
                <a:ext uri="{FF2B5EF4-FFF2-40B4-BE49-F238E27FC236}">
                  <a16:creationId xmlns:a16="http://schemas.microsoft.com/office/drawing/2014/main" id="{B9C18E8B-2211-161F-8508-5215582027B5}"/>
                </a:ext>
              </a:extLst>
            </p:cNvPr>
            <p:cNvSpPr>
              <a:spLocks noChangeShapeType="1"/>
            </p:cNvSpPr>
            <p:nvPr/>
          </p:nvSpPr>
          <p:spPr bwMode="auto">
            <a:xfrm>
              <a:off x="3500" y="1955"/>
              <a:ext cx="1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45" name="Oval 15">
              <a:extLst>
                <a:ext uri="{FF2B5EF4-FFF2-40B4-BE49-F238E27FC236}">
                  <a16:creationId xmlns:a16="http://schemas.microsoft.com/office/drawing/2014/main" id="{78040FA4-CA1D-21BF-F943-D3234BA7F688}"/>
                </a:ext>
              </a:extLst>
            </p:cNvPr>
            <p:cNvSpPr>
              <a:spLocks noChangeArrowheads="1"/>
            </p:cNvSpPr>
            <p:nvPr/>
          </p:nvSpPr>
          <p:spPr bwMode="auto">
            <a:xfrm>
              <a:off x="3132" y="2023"/>
              <a:ext cx="82" cy="8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46" name="Line 16">
              <a:extLst>
                <a:ext uri="{FF2B5EF4-FFF2-40B4-BE49-F238E27FC236}">
                  <a16:creationId xmlns:a16="http://schemas.microsoft.com/office/drawing/2014/main" id="{2AA9B4D0-ED8B-1264-B8EC-91538CC86FCD}"/>
                </a:ext>
              </a:extLst>
            </p:cNvPr>
            <p:cNvSpPr>
              <a:spLocks noChangeShapeType="1"/>
            </p:cNvSpPr>
            <p:nvPr/>
          </p:nvSpPr>
          <p:spPr bwMode="auto">
            <a:xfrm>
              <a:off x="2602" y="1974"/>
              <a:ext cx="91" cy="91"/>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47" name="Line 17">
              <a:extLst>
                <a:ext uri="{FF2B5EF4-FFF2-40B4-BE49-F238E27FC236}">
                  <a16:creationId xmlns:a16="http://schemas.microsoft.com/office/drawing/2014/main" id="{14BE67EA-4B02-E896-5689-2311293F0AD1}"/>
                </a:ext>
              </a:extLst>
            </p:cNvPr>
            <p:cNvSpPr>
              <a:spLocks noChangeShapeType="1"/>
            </p:cNvSpPr>
            <p:nvPr/>
          </p:nvSpPr>
          <p:spPr bwMode="auto">
            <a:xfrm flipV="1">
              <a:off x="2602" y="2064"/>
              <a:ext cx="91" cy="91"/>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grpSp>
      <p:sp>
        <p:nvSpPr>
          <p:cNvPr id="48" name="文本框 47">
            <a:extLst>
              <a:ext uri="{FF2B5EF4-FFF2-40B4-BE49-F238E27FC236}">
                <a16:creationId xmlns:a16="http://schemas.microsoft.com/office/drawing/2014/main" id="{E56108EB-FB62-7C92-7A4C-75E08B276FEC}"/>
              </a:ext>
            </a:extLst>
          </p:cNvPr>
          <p:cNvSpPr txBox="1"/>
          <p:nvPr/>
        </p:nvSpPr>
        <p:spPr>
          <a:xfrm>
            <a:off x="1094454" y="5578441"/>
            <a:ext cx="2320849" cy="369332"/>
          </a:xfrm>
          <a:prstGeom prst="rect">
            <a:avLst/>
          </a:prstGeom>
          <a:noFill/>
          <a:ln>
            <a:solidFill>
              <a:srgbClr val="0000FF"/>
            </a:solidFill>
          </a:ln>
        </p:spPr>
        <p:txBody>
          <a:bodyPr wrap="square" rtlCol="0">
            <a:spAutoFit/>
          </a:bodyPr>
          <a:lstStyle/>
          <a:p>
            <a:pPr algn="ctr"/>
            <a:r>
              <a:rPr lang="zh-CN" altLang="en-US" dirty="0">
                <a:latin typeface="+mj-ea"/>
                <a:ea typeface="+mj-ea"/>
              </a:rPr>
              <a:t>数字电路</a:t>
            </a:r>
          </a:p>
        </p:txBody>
      </p:sp>
      <p:sp>
        <p:nvSpPr>
          <p:cNvPr id="49" name="文本框 48">
            <a:extLst>
              <a:ext uri="{FF2B5EF4-FFF2-40B4-BE49-F238E27FC236}">
                <a16:creationId xmlns:a16="http://schemas.microsoft.com/office/drawing/2014/main" id="{00661422-574E-5AA6-9A69-4CC9151444CA}"/>
              </a:ext>
            </a:extLst>
          </p:cNvPr>
          <p:cNvSpPr txBox="1"/>
          <p:nvPr/>
        </p:nvSpPr>
        <p:spPr>
          <a:xfrm>
            <a:off x="1679257" y="640709"/>
            <a:ext cx="2073376" cy="369332"/>
          </a:xfrm>
          <a:prstGeom prst="rect">
            <a:avLst/>
          </a:prstGeom>
          <a:noFill/>
        </p:spPr>
        <p:txBody>
          <a:bodyPr wrap="square" rtlCol="0">
            <a:spAutoFit/>
          </a:bodyPr>
          <a:lstStyle/>
          <a:p>
            <a:r>
              <a:rPr lang="zh-CN" altLang="en-US" dirty="0">
                <a:latin typeface="+mj-ea"/>
                <a:ea typeface="+mj-ea"/>
              </a:rPr>
              <a:t>单向</a:t>
            </a:r>
            <a:r>
              <a:rPr lang="en-US" altLang="zh-CN" dirty="0">
                <a:latin typeface="+mj-ea"/>
                <a:ea typeface="+mj-ea"/>
              </a:rPr>
              <a:t>, </a:t>
            </a:r>
            <a:r>
              <a:rPr lang="zh-CN" altLang="en-US" dirty="0">
                <a:latin typeface="+mj-ea"/>
                <a:ea typeface="+mj-ea"/>
              </a:rPr>
              <a:t>非线性</a:t>
            </a:r>
          </a:p>
        </p:txBody>
      </p:sp>
      <p:cxnSp>
        <p:nvCxnSpPr>
          <p:cNvPr id="50" name="直接箭头连接符 51">
            <a:extLst>
              <a:ext uri="{FF2B5EF4-FFF2-40B4-BE49-F238E27FC236}">
                <a16:creationId xmlns:a16="http://schemas.microsoft.com/office/drawing/2014/main" id="{938441C4-0AFF-264F-A372-A61D42258DED}"/>
              </a:ext>
            </a:extLst>
          </p:cNvPr>
          <p:cNvCxnSpPr/>
          <p:nvPr/>
        </p:nvCxnSpPr>
        <p:spPr>
          <a:xfrm>
            <a:off x="1234076" y="1025150"/>
            <a:ext cx="211455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1" name="图片 50">
            <a:extLst>
              <a:ext uri="{FF2B5EF4-FFF2-40B4-BE49-F238E27FC236}">
                <a16:creationId xmlns:a16="http://schemas.microsoft.com/office/drawing/2014/main" id="{3805EE1B-1278-3CD5-9E57-199E573324F0}"/>
              </a:ext>
            </a:extLst>
          </p:cNvPr>
          <p:cNvPicPr>
            <a:picLocks noChangeAspect="1"/>
          </p:cNvPicPr>
          <p:nvPr/>
        </p:nvPicPr>
        <p:blipFill rotWithShape="1">
          <a:blip r:embed="rId2">
            <a:extLst>
              <a:ext uri="{28A0092B-C50C-407E-A947-70E740481C1C}">
                <a14:useLocalDpi xmlns:a14="http://schemas.microsoft.com/office/drawing/2010/main" val="0"/>
              </a:ext>
            </a:extLst>
          </a:blip>
          <a:srcRect r="63190"/>
          <a:stretch/>
        </p:blipFill>
        <p:spPr>
          <a:xfrm>
            <a:off x="5584078" y="992294"/>
            <a:ext cx="2520280" cy="2435883"/>
          </a:xfrm>
          <a:prstGeom prst="rect">
            <a:avLst/>
          </a:prstGeom>
        </p:spPr>
      </p:pic>
      <p:cxnSp>
        <p:nvCxnSpPr>
          <p:cNvPr id="52" name="直接箭头连接符 53">
            <a:extLst>
              <a:ext uri="{FF2B5EF4-FFF2-40B4-BE49-F238E27FC236}">
                <a16:creationId xmlns:a16="http://schemas.microsoft.com/office/drawing/2014/main" id="{F8EE4E38-D3AB-8CAC-BA55-056008193D33}"/>
              </a:ext>
            </a:extLst>
          </p:cNvPr>
          <p:cNvCxnSpPr/>
          <p:nvPr/>
        </p:nvCxnSpPr>
        <p:spPr>
          <a:xfrm>
            <a:off x="5601364" y="1106522"/>
            <a:ext cx="2114550" cy="0"/>
          </a:xfrm>
          <a:prstGeom prst="straightConnector1">
            <a:avLst/>
          </a:prstGeom>
          <a:ln w="57150">
            <a:solidFill>
              <a:schemeClr val="tx1"/>
            </a:solidFill>
            <a:headEnd type="stealth"/>
            <a:tailEnd type="triangl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BDC1D9BF-70E0-202D-4F5D-F4C7B1334C9D}"/>
              </a:ext>
            </a:extLst>
          </p:cNvPr>
          <p:cNvSpPr txBox="1"/>
          <p:nvPr/>
        </p:nvSpPr>
        <p:spPr>
          <a:xfrm>
            <a:off x="5850230" y="670509"/>
            <a:ext cx="1384426" cy="369332"/>
          </a:xfrm>
          <a:prstGeom prst="rect">
            <a:avLst/>
          </a:prstGeom>
          <a:noFill/>
        </p:spPr>
        <p:txBody>
          <a:bodyPr wrap="square" rtlCol="0">
            <a:spAutoFit/>
          </a:bodyPr>
          <a:lstStyle/>
          <a:p>
            <a:r>
              <a:rPr lang="zh-CN" altLang="en-US" dirty="0">
                <a:latin typeface="+mj-ea"/>
                <a:ea typeface="+mj-ea"/>
              </a:rPr>
              <a:t>双向，线性</a:t>
            </a:r>
          </a:p>
        </p:txBody>
      </p:sp>
      <p:sp>
        <p:nvSpPr>
          <p:cNvPr id="54" name="Line 9">
            <a:extLst>
              <a:ext uri="{FF2B5EF4-FFF2-40B4-BE49-F238E27FC236}">
                <a16:creationId xmlns:a16="http://schemas.microsoft.com/office/drawing/2014/main" id="{7B3874C7-8063-4CA5-47C1-86EAF0B6FE2C}"/>
              </a:ext>
            </a:extLst>
          </p:cNvPr>
          <p:cNvSpPr>
            <a:spLocks noChangeShapeType="1"/>
          </p:cNvSpPr>
          <p:nvPr/>
        </p:nvSpPr>
        <p:spPr bwMode="auto">
          <a:xfrm rot="16200000">
            <a:off x="5862698" y="5033630"/>
            <a:ext cx="504825" cy="158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55" name="AutoShape 10">
            <a:extLst>
              <a:ext uri="{FF2B5EF4-FFF2-40B4-BE49-F238E27FC236}">
                <a16:creationId xmlns:a16="http://schemas.microsoft.com/office/drawing/2014/main" id="{79A61F55-1EF8-5D36-4C61-E7055208A3CA}"/>
              </a:ext>
            </a:extLst>
          </p:cNvPr>
          <p:cNvSpPr>
            <a:spLocks noChangeArrowheads="1"/>
          </p:cNvSpPr>
          <p:nvPr/>
        </p:nvSpPr>
        <p:spPr bwMode="auto">
          <a:xfrm rot="16200000" flipV="1">
            <a:off x="5712679" y="4862974"/>
            <a:ext cx="431800" cy="342900"/>
          </a:xfrm>
          <a:prstGeom prst="triangle">
            <a:avLst>
              <a:gd name="adj" fmla="val 50000"/>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56" name="Line 11">
            <a:extLst>
              <a:ext uri="{FF2B5EF4-FFF2-40B4-BE49-F238E27FC236}">
                <a16:creationId xmlns:a16="http://schemas.microsoft.com/office/drawing/2014/main" id="{CE84BFA7-1726-D7E5-A577-73FA491F797B}"/>
              </a:ext>
            </a:extLst>
          </p:cNvPr>
          <p:cNvSpPr>
            <a:spLocks noChangeShapeType="1"/>
          </p:cNvSpPr>
          <p:nvPr/>
        </p:nvSpPr>
        <p:spPr bwMode="auto">
          <a:xfrm>
            <a:off x="5218083" y="5034424"/>
            <a:ext cx="1511465"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57" name="文本框 56">
            <a:extLst>
              <a:ext uri="{FF2B5EF4-FFF2-40B4-BE49-F238E27FC236}">
                <a16:creationId xmlns:a16="http://schemas.microsoft.com/office/drawing/2014/main" id="{5CB1AD3F-3028-37E3-B8FC-A1373B8B929C}"/>
              </a:ext>
            </a:extLst>
          </p:cNvPr>
          <p:cNvSpPr txBox="1"/>
          <p:nvPr/>
        </p:nvSpPr>
        <p:spPr>
          <a:xfrm>
            <a:off x="5520427" y="5475909"/>
            <a:ext cx="1003918" cy="369332"/>
          </a:xfrm>
          <a:prstGeom prst="rect">
            <a:avLst/>
          </a:prstGeom>
          <a:noFill/>
        </p:spPr>
        <p:txBody>
          <a:bodyPr wrap="square" rtlCol="0">
            <a:spAutoFit/>
          </a:bodyPr>
          <a:lstStyle/>
          <a:p>
            <a:r>
              <a:rPr lang="zh-CN" altLang="en-US" dirty="0">
                <a:latin typeface="+mj-ea"/>
                <a:ea typeface="+mj-ea"/>
              </a:rPr>
              <a:t>二极管</a:t>
            </a:r>
          </a:p>
        </p:txBody>
      </p:sp>
      <p:grpSp>
        <p:nvGrpSpPr>
          <p:cNvPr id="58" name="Group 103">
            <a:extLst>
              <a:ext uri="{FF2B5EF4-FFF2-40B4-BE49-F238E27FC236}">
                <a16:creationId xmlns:a16="http://schemas.microsoft.com/office/drawing/2014/main" id="{B8D77AEC-7908-DA2D-2B56-95FA463ED2D8}"/>
              </a:ext>
            </a:extLst>
          </p:cNvPr>
          <p:cNvGrpSpPr>
            <a:grpSpLocks/>
          </p:cNvGrpSpPr>
          <p:nvPr/>
        </p:nvGrpSpPr>
        <p:grpSpPr bwMode="auto">
          <a:xfrm>
            <a:off x="7038052" y="4122774"/>
            <a:ext cx="1431925" cy="2070100"/>
            <a:chOff x="577" y="2344"/>
            <a:chExt cx="902" cy="1304"/>
          </a:xfrm>
        </p:grpSpPr>
        <p:grpSp>
          <p:nvGrpSpPr>
            <p:cNvPr id="59" name="Group 36">
              <a:extLst>
                <a:ext uri="{FF2B5EF4-FFF2-40B4-BE49-F238E27FC236}">
                  <a16:creationId xmlns:a16="http://schemas.microsoft.com/office/drawing/2014/main" id="{A13A0CAB-6700-7474-F424-44F03E2802AD}"/>
                </a:ext>
              </a:extLst>
            </p:cNvPr>
            <p:cNvGrpSpPr>
              <a:grpSpLocks/>
            </p:cNvGrpSpPr>
            <p:nvPr/>
          </p:nvGrpSpPr>
          <p:grpSpPr bwMode="auto">
            <a:xfrm>
              <a:off x="577" y="2344"/>
              <a:ext cx="902" cy="1159"/>
              <a:chOff x="499" y="2864"/>
              <a:chExt cx="902" cy="1159"/>
            </a:xfrm>
          </p:grpSpPr>
          <p:grpSp>
            <p:nvGrpSpPr>
              <p:cNvPr id="61" name="Group 37">
                <a:extLst>
                  <a:ext uri="{FF2B5EF4-FFF2-40B4-BE49-F238E27FC236}">
                    <a16:creationId xmlns:a16="http://schemas.microsoft.com/office/drawing/2014/main" id="{B5C282CA-DE30-B592-1B7D-E827EBC06975}"/>
                  </a:ext>
                </a:extLst>
              </p:cNvPr>
              <p:cNvGrpSpPr>
                <a:grpSpLocks/>
              </p:cNvGrpSpPr>
              <p:nvPr/>
            </p:nvGrpSpPr>
            <p:grpSpPr bwMode="auto">
              <a:xfrm>
                <a:off x="635" y="2864"/>
                <a:ext cx="766" cy="1119"/>
                <a:chOff x="932" y="2319"/>
                <a:chExt cx="873" cy="1274"/>
              </a:xfrm>
            </p:grpSpPr>
            <p:sp>
              <p:nvSpPr>
                <p:cNvPr id="63" name="Line 38">
                  <a:extLst>
                    <a:ext uri="{FF2B5EF4-FFF2-40B4-BE49-F238E27FC236}">
                      <a16:creationId xmlns:a16="http://schemas.microsoft.com/office/drawing/2014/main" id="{AAF59106-3661-ABA1-28FC-0971730B011D}"/>
                    </a:ext>
                  </a:extLst>
                </p:cNvPr>
                <p:cNvSpPr>
                  <a:spLocks noChangeShapeType="1"/>
                </p:cNvSpPr>
                <p:nvPr/>
              </p:nvSpPr>
              <p:spPr bwMode="auto">
                <a:xfrm>
                  <a:off x="1334" y="2772"/>
                  <a:ext cx="0" cy="405"/>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64" name="Line 39">
                  <a:extLst>
                    <a:ext uri="{FF2B5EF4-FFF2-40B4-BE49-F238E27FC236}">
                      <a16:creationId xmlns:a16="http://schemas.microsoft.com/office/drawing/2014/main" id="{94978AD5-F535-CA40-94BB-AFFA3BBE9AF4}"/>
                    </a:ext>
                  </a:extLst>
                </p:cNvPr>
                <p:cNvSpPr>
                  <a:spLocks noChangeShapeType="1"/>
                </p:cNvSpPr>
                <p:nvPr/>
              </p:nvSpPr>
              <p:spPr bwMode="auto">
                <a:xfrm flipH="1">
                  <a:off x="1022" y="2976"/>
                  <a:ext cx="312"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65" name="Line 40">
                  <a:extLst>
                    <a:ext uri="{FF2B5EF4-FFF2-40B4-BE49-F238E27FC236}">
                      <a16:creationId xmlns:a16="http://schemas.microsoft.com/office/drawing/2014/main" id="{A6F076D8-147B-A2A6-E90C-271ACF31AC3B}"/>
                    </a:ext>
                  </a:extLst>
                </p:cNvPr>
                <p:cNvSpPr>
                  <a:spLocks noChangeShapeType="1"/>
                </p:cNvSpPr>
                <p:nvPr/>
              </p:nvSpPr>
              <p:spPr bwMode="auto">
                <a:xfrm flipV="1">
                  <a:off x="1331" y="2769"/>
                  <a:ext cx="220" cy="139"/>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66" name="Line 41">
                  <a:extLst>
                    <a:ext uri="{FF2B5EF4-FFF2-40B4-BE49-F238E27FC236}">
                      <a16:creationId xmlns:a16="http://schemas.microsoft.com/office/drawing/2014/main" id="{9A28C679-FDA5-A652-D28D-C3D0B64631DB}"/>
                    </a:ext>
                  </a:extLst>
                </p:cNvPr>
                <p:cNvSpPr>
                  <a:spLocks noChangeShapeType="1"/>
                </p:cNvSpPr>
                <p:nvPr/>
              </p:nvSpPr>
              <p:spPr bwMode="auto">
                <a:xfrm>
                  <a:off x="1334" y="3046"/>
                  <a:ext cx="210" cy="131"/>
                </a:xfrm>
                <a:prstGeom prst="line">
                  <a:avLst/>
                </a:prstGeom>
                <a:noFill/>
                <a:ln w="38100">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67" name="Line 42">
                  <a:extLst>
                    <a:ext uri="{FF2B5EF4-FFF2-40B4-BE49-F238E27FC236}">
                      <a16:creationId xmlns:a16="http://schemas.microsoft.com/office/drawing/2014/main" id="{C50B4844-EF52-D7DF-ECFE-15E563E7D67B}"/>
                    </a:ext>
                  </a:extLst>
                </p:cNvPr>
                <p:cNvSpPr>
                  <a:spLocks noChangeShapeType="1"/>
                </p:cNvSpPr>
                <p:nvPr/>
              </p:nvSpPr>
              <p:spPr bwMode="auto">
                <a:xfrm flipV="1">
                  <a:off x="1544" y="2510"/>
                  <a:ext cx="0" cy="26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68" name="Line 43">
                  <a:extLst>
                    <a:ext uri="{FF2B5EF4-FFF2-40B4-BE49-F238E27FC236}">
                      <a16:creationId xmlns:a16="http://schemas.microsoft.com/office/drawing/2014/main" id="{2C480F10-B762-20F5-B20B-2146A45B313D}"/>
                    </a:ext>
                  </a:extLst>
                </p:cNvPr>
                <p:cNvSpPr>
                  <a:spLocks noChangeShapeType="1"/>
                </p:cNvSpPr>
                <p:nvPr/>
              </p:nvSpPr>
              <p:spPr bwMode="auto">
                <a:xfrm>
                  <a:off x="1544" y="3177"/>
                  <a:ext cx="0" cy="253"/>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latin typeface="+mj-ea"/>
                    <a:ea typeface="+mj-ea"/>
                  </a:endParaRPr>
                </a:p>
              </p:txBody>
            </p:sp>
            <p:sp>
              <p:nvSpPr>
                <p:cNvPr id="69" name="Oval 44">
                  <a:extLst>
                    <a:ext uri="{FF2B5EF4-FFF2-40B4-BE49-F238E27FC236}">
                      <a16:creationId xmlns:a16="http://schemas.microsoft.com/office/drawing/2014/main" id="{480B779D-DD53-2E00-C349-1270BBA60976}"/>
                    </a:ext>
                  </a:extLst>
                </p:cNvPr>
                <p:cNvSpPr>
                  <a:spLocks noChangeArrowheads="1"/>
                </p:cNvSpPr>
                <p:nvPr/>
              </p:nvSpPr>
              <p:spPr bwMode="auto">
                <a:xfrm>
                  <a:off x="937" y="2925"/>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70" name="Oval 45">
                  <a:extLst>
                    <a:ext uri="{FF2B5EF4-FFF2-40B4-BE49-F238E27FC236}">
                      <a16:creationId xmlns:a16="http://schemas.microsoft.com/office/drawing/2014/main" id="{E0A24D34-4BE4-B3D2-6318-DFB03B6AFF35}"/>
                    </a:ext>
                  </a:extLst>
                </p:cNvPr>
                <p:cNvSpPr>
                  <a:spLocks noChangeArrowheads="1"/>
                </p:cNvSpPr>
                <p:nvPr/>
              </p:nvSpPr>
              <p:spPr bwMode="auto">
                <a:xfrm>
                  <a:off x="1495" y="2415"/>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71" name="Oval 46">
                  <a:extLst>
                    <a:ext uri="{FF2B5EF4-FFF2-40B4-BE49-F238E27FC236}">
                      <a16:creationId xmlns:a16="http://schemas.microsoft.com/office/drawing/2014/main" id="{85072049-B080-6091-9BEE-4547CB5DE271}"/>
                    </a:ext>
                  </a:extLst>
                </p:cNvPr>
                <p:cNvSpPr>
                  <a:spLocks noChangeArrowheads="1"/>
                </p:cNvSpPr>
                <p:nvPr/>
              </p:nvSpPr>
              <p:spPr bwMode="auto">
                <a:xfrm>
                  <a:off x="1495" y="3420"/>
                  <a:ext cx="91" cy="91"/>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grpSp>
              <p:nvGrpSpPr>
                <p:cNvPr id="72" name="Group 47">
                  <a:extLst>
                    <a:ext uri="{FF2B5EF4-FFF2-40B4-BE49-F238E27FC236}">
                      <a16:creationId xmlns:a16="http://schemas.microsoft.com/office/drawing/2014/main" id="{C00C79F1-7195-339A-ADA8-D3E7279C3201}"/>
                    </a:ext>
                  </a:extLst>
                </p:cNvPr>
                <p:cNvGrpSpPr>
                  <a:grpSpLocks/>
                </p:cNvGrpSpPr>
                <p:nvPr/>
              </p:nvGrpSpPr>
              <p:grpSpPr bwMode="auto">
                <a:xfrm>
                  <a:off x="932" y="2319"/>
                  <a:ext cx="873" cy="1274"/>
                  <a:chOff x="4520" y="351"/>
                  <a:chExt cx="873" cy="1274"/>
                </a:xfrm>
              </p:grpSpPr>
              <p:sp>
                <p:nvSpPr>
                  <p:cNvPr id="73" name="Rectangle 48">
                    <a:extLst>
                      <a:ext uri="{FF2B5EF4-FFF2-40B4-BE49-F238E27FC236}">
                        <a16:creationId xmlns:a16="http://schemas.microsoft.com/office/drawing/2014/main" id="{7F6D5E60-80FE-B011-3BB8-66F917E08234}"/>
                      </a:ext>
                    </a:extLst>
                  </p:cNvPr>
                  <p:cNvSpPr>
                    <a:spLocks noChangeArrowheads="1"/>
                  </p:cNvSpPr>
                  <p:nvPr/>
                </p:nvSpPr>
                <p:spPr bwMode="auto">
                  <a:xfrm flipH="1">
                    <a:off x="5258" y="351"/>
                    <a:ext cx="114" cy="2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mj-ea"/>
                        <a:ea typeface="+mj-ea"/>
                      </a:rPr>
                      <a:t>c</a:t>
                    </a:r>
                  </a:p>
                </p:txBody>
              </p:sp>
              <p:sp>
                <p:nvSpPr>
                  <p:cNvPr id="74" name="Rectangle 49">
                    <a:extLst>
                      <a:ext uri="{FF2B5EF4-FFF2-40B4-BE49-F238E27FC236}">
                        <a16:creationId xmlns:a16="http://schemas.microsoft.com/office/drawing/2014/main" id="{58482F0F-EAAA-E113-7A4C-5AF17286739A}"/>
                      </a:ext>
                    </a:extLst>
                  </p:cNvPr>
                  <p:cNvSpPr>
                    <a:spLocks noChangeArrowheads="1"/>
                  </p:cNvSpPr>
                  <p:nvPr/>
                </p:nvSpPr>
                <p:spPr bwMode="auto">
                  <a:xfrm flipH="1">
                    <a:off x="4520" y="684"/>
                    <a:ext cx="147" cy="2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mj-ea"/>
                        <a:ea typeface="+mj-ea"/>
                      </a:rPr>
                      <a:t>b</a:t>
                    </a:r>
                  </a:p>
                </p:txBody>
              </p:sp>
              <p:sp>
                <p:nvSpPr>
                  <p:cNvPr id="75" name="Rectangle 50">
                    <a:extLst>
                      <a:ext uri="{FF2B5EF4-FFF2-40B4-BE49-F238E27FC236}">
                        <a16:creationId xmlns:a16="http://schemas.microsoft.com/office/drawing/2014/main" id="{445911B6-2089-2EF5-1E93-B6729101B8DE}"/>
                      </a:ext>
                    </a:extLst>
                  </p:cNvPr>
                  <p:cNvSpPr>
                    <a:spLocks noChangeArrowheads="1"/>
                  </p:cNvSpPr>
                  <p:nvPr/>
                </p:nvSpPr>
                <p:spPr bwMode="auto">
                  <a:xfrm flipH="1">
                    <a:off x="5264" y="1360"/>
                    <a:ext cx="129" cy="2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mj-ea"/>
                        <a:ea typeface="+mj-ea"/>
                      </a:rPr>
                      <a:t>e</a:t>
                    </a:r>
                  </a:p>
                </p:txBody>
              </p:sp>
            </p:grpSp>
          </p:grpSp>
          <p:sp>
            <p:nvSpPr>
              <p:cNvPr id="62" name="Rectangle 51">
                <a:extLst>
                  <a:ext uri="{FF2B5EF4-FFF2-40B4-BE49-F238E27FC236}">
                    <a16:creationId xmlns:a16="http://schemas.microsoft.com/office/drawing/2014/main" id="{C0D8D749-BC10-F609-551A-5A0A8E8D7F3C}"/>
                  </a:ext>
                </a:extLst>
              </p:cNvPr>
              <p:cNvSpPr>
                <a:spLocks noChangeArrowheads="1"/>
              </p:cNvSpPr>
              <p:nvPr/>
            </p:nvSpPr>
            <p:spPr bwMode="auto">
              <a:xfrm>
                <a:off x="499" y="3735"/>
                <a:ext cx="116"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kumimoji="1" lang="zh-CN" altLang="en-US" sz="2400" b="0">
                  <a:latin typeface="+mj-ea"/>
                  <a:ea typeface="+mj-ea"/>
                </a:endParaRPr>
              </a:p>
            </p:txBody>
          </p:sp>
        </p:grpSp>
        <p:sp>
          <p:nvSpPr>
            <p:cNvPr id="60" name="Rectangle 69">
              <a:extLst>
                <a:ext uri="{FF2B5EF4-FFF2-40B4-BE49-F238E27FC236}">
                  <a16:creationId xmlns:a16="http://schemas.microsoft.com/office/drawing/2014/main" id="{C7F95EA5-FB29-E442-7653-500AF6371100}"/>
                </a:ext>
              </a:extLst>
            </p:cNvPr>
            <p:cNvSpPr>
              <a:spLocks noChangeArrowheads="1"/>
            </p:cNvSpPr>
            <p:nvPr/>
          </p:nvSpPr>
          <p:spPr bwMode="auto">
            <a:xfrm>
              <a:off x="665" y="3415"/>
              <a:ext cx="556" cy="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1800" b="0" dirty="0">
                  <a:latin typeface="+mj-ea"/>
                  <a:ea typeface="+mj-ea"/>
                </a:rPr>
                <a:t>三极管</a:t>
              </a:r>
            </a:p>
          </p:txBody>
        </p:sp>
      </p:grpSp>
      <p:sp>
        <p:nvSpPr>
          <p:cNvPr id="76" name="文本框 75">
            <a:extLst>
              <a:ext uri="{FF2B5EF4-FFF2-40B4-BE49-F238E27FC236}">
                <a16:creationId xmlns:a16="http://schemas.microsoft.com/office/drawing/2014/main" id="{C5B51867-096B-A3EF-B878-AE3CE21F05EE}"/>
              </a:ext>
            </a:extLst>
          </p:cNvPr>
          <p:cNvSpPr txBox="1"/>
          <p:nvPr/>
        </p:nvSpPr>
        <p:spPr>
          <a:xfrm>
            <a:off x="5424097" y="3765874"/>
            <a:ext cx="2692167" cy="369332"/>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pPr algn="ctr"/>
            <a:r>
              <a:rPr lang="zh-CN" altLang="en-US" dirty="0">
                <a:latin typeface="+mj-ea"/>
                <a:ea typeface="+mj-ea"/>
              </a:rPr>
              <a:t>单向，非线性元件</a:t>
            </a:r>
          </a:p>
        </p:txBody>
      </p:sp>
    </p:spTree>
    <p:extLst>
      <p:ext uri="{BB962C8B-B14F-4D97-AF65-F5344CB8AC3E}">
        <p14:creationId xmlns:p14="http://schemas.microsoft.com/office/powerpoint/2010/main" val="325477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fade">
                                      <p:cBhvr>
                                        <p:cTn id="23" dur="500"/>
                                        <p:tgtEl>
                                          <p:spTgt spid="5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fade">
                                      <p:cBhvr>
                                        <p:cTn id="26" dur="500"/>
                                        <p:tgtEl>
                                          <p:spTgt spid="5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fade">
                                      <p:cBhvr>
                                        <p:cTn id="29" dur="500"/>
                                        <p:tgtEl>
                                          <p:spTgt spid="5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par>
                                <p:cTn id="33" presetID="10"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3" grpId="0"/>
      <p:bldP spid="54" grpId="0" animBg="1"/>
      <p:bldP spid="55" grpId="0" animBg="1"/>
      <p:bldP spid="56" grpId="0" animBg="1"/>
      <p:bldP spid="57" grpId="0"/>
      <p:bldP spid="7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F92794-40D1-CE33-239F-706AD4548951}"/>
              </a:ext>
            </a:extLst>
          </p:cNvPr>
          <p:cNvSpPr>
            <a:spLocks noGrp="1"/>
          </p:cNvSpPr>
          <p:nvPr>
            <p:ph type="title"/>
          </p:nvPr>
        </p:nvSpPr>
        <p:spPr/>
        <p:txBody>
          <a:bodyPr>
            <a:normAutofit fontScale="90000"/>
          </a:bodyPr>
          <a:lstStyle/>
          <a:p>
            <a:r>
              <a:rPr lang="zh-CN" altLang="en-US" dirty="0"/>
              <a:t>最早的单向模拟</a:t>
            </a:r>
            <a:endParaRPr kumimoji="1" lang="zh-CN" altLang="en-US" dirty="0"/>
          </a:p>
        </p:txBody>
      </p:sp>
      <p:sp>
        <p:nvSpPr>
          <p:cNvPr id="3" name="内容占位符 2">
            <a:extLst>
              <a:ext uri="{FF2B5EF4-FFF2-40B4-BE49-F238E27FC236}">
                <a16:creationId xmlns:a16="http://schemas.microsoft.com/office/drawing/2014/main" id="{0DD5CE36-80DC-495F-6303-BD0DBE50EA0E}"/>
              </a:ext>
            </a:extLst>
          </p:cNvPr>
          <p:cNvSpPr>
            <a:spLocks noGrp="1"/>
          </p:cNvSpPr>
          <p:nvPr>
            <p:ph idx="1"/>
          </p:nvPr>
        </p:nvSpPr>
        <p:spPr/>
        <p:txBody>
          <a:bodyPr/>
          <a:lstStyle/>
          <a:p>
            <a:r>
              <a:rPr lang="zh-CN" altLang="en-US" dirty="0"/>
              <a:t>真空二极管</a:t>
            </a:r>
            <a:r>
              <a:rPr lang="en-US" altLang="zh-CN" dirty="0"/>
              <a:t>/</a:t>
            </a:r>
            <a:r>
              <a:rPr lang="zh-CN" altLang="en-US" dirty="0"/>
              <a:t>电子二极管</a:t>
            </a:r>
          </a:p>
          <a:p>
            <a:endParaRPr kumimoji="1" lang="zh-CN" altLang="en-US" dirty="0"/>
          </a:p>
        </p:txBody>
      </p:sp>
      <p:sp>
        <p:nvSpPr>
          <p:cNvPr id="4" name="页脚占位符 3">
            <a:extLst>
              <a:ext uri="{FF2B5EF4-FFF2-40B4-BE49-F238E27FC236}">
                <a16:creationId xmlns:a16="http://schemas.microsoft.com/office/drawing/2014/main" id="{128B1B1B-0A10-12D3-D260-3414917FA85F}"/>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BD35EAC4-A2FC-CFB0-9BCA-5B1B330FE89D}"/>
              </a:ext>
            </a:extLst>
          </p:cNvPr>
          <p:cNvSpPr>
            <a:spLocks noGrp="1"/>
          </p:cNvSpPr>
          <p:nvPr>
            <p:ph type="sldNum" sz="quarter" idx="12"/>
          </p:nvPr>
        </p:nvSpPr>
        <p:spPr/>
        <p:txBody>
          <a:bodyPr/>
          <a:lstStyle/>
          <a:p>
            <a:fld id="{9E260BC5-5BF3-8746-862B-DC45E9CAA88B}" type="slidenum">
              <a:rPr lang="en-US" smtClean="0"/>
              <a:pPr/>
              <a:t>4</a:t>
            </a:fld>
            <a:r>
              <a:rPr lang="en-US" altLang="zh-CN" dirty="0"/>
              <a:t>/33</a:t>
            </a:r>
            <a:endParaRPr lang="en-US" dirty="0"/>
          </a:p>
        </p:txBody>
      </p:sp>
      <p:pic>
        <p:nvPicPr>
          <p:cNvPr id="6" name="图片 5">
            <a:extLst>
              <a:ext uri="{FF2B5EF4-FFF2-40B4-BE49-F238E27FC236}">
                <a16:creationId xmlns:a16="http://schemas.microsoft.com/office/drawing/2014/main" id="{5E9E20F8-FDBE-66D9-7D08-DCD29F7D2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69" y="1821680"/>
            <a:ext cx="5682427" cy="4017344"/>
          </a:xfrm>
          <a:prstGeom prst="rect">
            <a:avLst/>
          </a:prstGeom>
        </p:spPr>
      </p:pic>
      <p:pic>
        <p:nvPicPr>
          <p:cNvPr id="7" name="图片 6">
            <a:extLst>
              <a:ext uri="{FF2B5EF4-FFF2-40B4-BE49-F238E27FC236}">
                <a16:creationId xmlns:a16="http://schemas.microsoft.com/office/drawing/2014/main" id="{FD563F32-6272-BA78-9534-7C84355A1107}"/>
              </a:ext>
            </a:extLst>
          </p:cNvPr>
          <p:cNvPicPr>
            <a:picLocks noChangeAspect="1"/>
          </p:cNvPicPr>
          <p:nvPr/>
        </p:nvPicPr>
        <p:blipFill rotWithShape="1">
          <a:blip r:embed="rId3">
            <a:extLst>
              <a:ext uri="{28A0092B-C50C-407E-A947-70E740481C1C}">
                <a14:useLocalDpi xmlns:a14="http://schemas.microsoft.com/office/drawing/2010/main" val="0"/>
              </a:ext>
            </a:extLst>
          </a:blip>
          <a:srcRect l="31030" r="10054"/>
          <a:stretch/>
        </p:blipFill>
        <p:spPr>
          <a:xfrm>
            <a:off x="5966273" y="1293432"/>
            <a:ext cx="1575911" cy="1303982"/>
          </a:xfrm>
          <a:prstGeom prst="rect">
            <a:avLst/>
          </a:prstGeom>
        </p:spPr>
      </p:pic>
      <p:sp>
        <p:nvSpPr>
          <p:cNvPr id="8" name="矩形 7">
            <a:extLst>
              <a:ext uri="{FF2B5EF4-FFF2-40B4-BE49-F238E27FC236}">
                <a16:creationId xmlns:a16="http://schemas.microsoft.com/office/drawing/2014/main" id="{7456E430-E6F0-DE5F-B99B-F03793E985A2}"/>
              </a:ext>
            </a:extLst>
          </p:cNvPr>
          <p:cNvSpPr/>
          <p:nvPr/>
        </p:nvSpPr>
        <p:spPr>
          <a:xfrm>
            <a:off x="5838396" y="2681187"/>
            <a:ext cx="3672799" cy="369332"/>
          </a:xfrm>
          <a:prstGeom prst="rect">
            <a:avLst/>
          </a:prstGeom>
        </p:spPr>
        <p:txBody>
          <a:bodyPr wrap="square">
            <a:spAutoFit/>
          </a:bodyPr>
          <a:lstStyle/>
          <a:p>
            <a:r>
              <a:rPr lang="zh-CN" altLang="en-US" dirty="0">
                <a:solidFill>
                  <a:srgbClr val="333333"/>
                </a:solidFill>
                <a:latin typeface="+mj-ea"/>
                <a:ea typeface="+mj-ea"/>
              </a:rPr>
              <a:t>托马斯</a:t>
            </a:r>
            <a:r>
              <a:rPr lang="en-US" altLang="zh-CN" dirty="0">
                <a:solidFill>
                  <a:srgbClr val="333333"/>
                </a:solidFill>
                <a:latin typeface="+mj-ea"/>
                <a:ea typeface="+mj-ea"/>
              </a:rPr>
              <a:t>·</a:t>
            </a:r>
            <a:r>
              <a:rPr lang="zh-CN" altLang="en-US" dirty="0">
                <a:solidFill>
                  <a:srgbClr val="333333"/>
                </a:solidFill>
                <a:latin typeface="+mj-ea"/>
                <a:ea typeface="+mj-ea"/>
              </a:rPr>
              <a:t>爱迪生（美，</a:t>
            </a:r>
            <a:r>
              <a:rPr lang="en-US" altLang="zh-CN" dirty="0">
                <a:solidFill>
                  <a:srgbClr val="333333"/>
                </a:solidFill>
                <a:latin typeface="+mj-ea"/>
                <a:ea typeface="+mj-ea"/>
              </a:rPr>
              <a:t>1847-1931</a:t>
            </a:r>
            <a:r>
              <a:rPr lang="zh-CN" altLang="en-US" dirty="0">
                <a:solidFill>
                  <a:srgbClr val="333333"/>
                </a:solidFill>
                <a:latin typeface="+mj-ea"/>
                <a:ea typeface="+mj-ea"/>
              </a:rPr>
              <a:t>）</a:t>
            </a:r>
            <a:endParaRPr lang="zh-CN" altLang="en-US" dirty="0">
              <a:latin typeface="+mj-ea"/>
              <a:ea typeface="+mj-ea"/>
            </a:endParaRPr>
          </a:p>
        </p:txBody>
      </p:sp>
      <p:sp>
        <p:nvSpPr>
          <p:cNvPr id="9" name="文本框 8">
            <a:extLst>
              <a:ext uri="{FF2B5EF4-FFF2-40B4-BE49-F238E27FC236}">
                <a16:creationId xmlns:a16="http://schemas.microsoft.com/office/drawing/2014/main" id="{4F834214-2842-A82C-772C-DB4BEC196BB2}"/>
              </a:ext>
            </a:extLst>
          </p:cNvPr>
          <p:cNvSpPr txBox="1"/>
          <p:nvPr/>
        </p:nvSpPr>
        <p:spPr>
          <a:xfrm>
            <a:off x="6540866" y="3022046"/>
            <a:ext cx="1980220" cy="369332"/>
          </a:xfrm>
          <a:prstGeom prst="rect">
            <a:avLst/>
          </a:prstGeom>
          <a:noFill/>
        </p:spPr>
        <p:txBody>
          <a:bodyPr wrap="square" rtlCol="0">
            <a:spAutoFit/>
          </a:bodyPr>
          <a:lstStyle/>
          <a:p>
            <a:r>
              <a:rPr lang="zh-CN" altLang="en-US" dirty="0">
                <a:latin typeface="+mj-ea"/>
                <a:ea typeface="+mj-ea"/>
              </a:rPr>
              <a:t>（爱迪生效应）</a:t>
            </a:r>
          </a:p>
        </p:txBody>
      </p:sp>
      <p:pic>
        <p:nvPicPr>
          <p:cNvPr id="10" name="图片 9">
            <a:extLst>
              <a:ext uri="{FF2B5EF4-FFF2-40B4-BE49-F238E27FC236}">
                <a16:creationId xmlns:a16="http://schemas.microsoft.com/office/drawing/2014/main" id="{6DF87F66-CC8E-DCFC-0D14-6C3CCCAD5F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5433" y="3607654"/>
            <a:ext cx="1792885" cy="2207456"/>
          </a:xfrm>
          <a:prstGeom prst="rect">
            <a:avLst/>
          </a:prstGeom>
        </p:spPr>
      </p:pic>
      <p:sp>
        <p:nvSpPr>
          <p:cNvPr id="11" name="矩形 10">
            <a:extLst>
              <a:ext uri="{FF2B5EF4-FFF2-40B4-BE49-F238E27FC236}">
                <a16:creationId xmlns:a16="http://schemas.microsoft.com/office/drawing/2014/main" id="{E0CC4D2D-287B-8840-2038-BE3AF0A39C2C}"/>
              </a:ext>
            </a:extLst>
          </p:cNvPr>
          <p:cNvSpPr/>
          <p:nvPr/>
        </p:nvSpPr>
        <p:spPr>
          <a:xfrm>
            <a:off x="5488921" y="5886548"/>
            <a:ext cx="4134465" cy="646331"/>
          </a:xfrm>
          <a:prstGeom prst="rect">
            <a:avLst/>
          </a:prstGeom>
        </p:spPr>
        <p:txBody>
          <a:bodyPr wrap="none">
            <a:spAutoFit/>
          </a:bodyPr>
          <a:lstStyle/>
          <a:p>
            <a:r>
              <a:rPr lang="zh-CN" altLang="en-US" dirty="0">
                <a:solidFill>
                  <a:srgbClr val="333333"/>
                </a:solidFill>
                <a:latin typeface="+mj-ea"/>
                <a:ea typeface="+mj-ea"/>
              </a:rPr>
              <a:t>约翰</a:t>
            </a:r>
            <a:r>
              <a:rPr lang="en-US" altLang="zh-CN" dirty="0">
                <a:solidFill>
                  <a:srgbClr val="333333"/>
                </a:solidFill>
                <a:latin typeface="+mj-ea"/>
                <a:ea typeface="+mj-ea"/>
              </a:rPr>
              <a:t>·</a:t>
            </a:r>
            <a:r>
              <a:rPr lang="zh-CN" altLang="en-US" dirty="0">
                <a:solidFill>
                  <a:srgbClr val="333333"/>
                </a:solidFill>
                <a:latin typeface="+mj-ea"/>
                <a:ea typeface="+mj-ea"/>
              </a:rPr>
              <a:t>安布罗斯</a:t>
            </a:r>
            <a:r>
              <a:rPr lang="en-US" altLang="zh-CN" dirty="0">
                <a:solidFill>
                  <a:srgbClr val="333333"/>
                </a:solidFill>
                <a:latin typeface="+mj-ea"/>
                <a:ea typeface="+mj-ea"/>
              </a:rPr>
              <a:t>·</a:t>
            </a:r>
            <a:r>
              <a:rPr lang="zh-CN" altLang="en-US" dirty="0">
                <a:solidFill>
                  <a:srgbClr val="333333"/>
                </a:solidFill>
                <a:latin typeface="+mj-ea"/>
                <a:ea typeface="+mj-ea"/>
              </a:rPr>
              <a:t>弗莱明</a:t>
            </a:r>
            <a:r>
              <a:rPr lang="en-US" altLang="zh-CN" dirty="0">
                <a:solidFill>
                  <a:srgbClr val="333333"/>
                </a:solidFill>
                <a:latin typeface="+mj-ea"/>
                <a:ea typeface="+mj-ea"/>
              </a:rPr>
              <a:t>(</a:t>
            </a:r>
            <a:r>
              <a:rPr lang="zh-CN" altLang="en-US" dirty="0">
                <a:solidFill>
                  <a:srgbClr val="333333"/>
                </a:solidFill>
                <a:latin typeface="+mj-ea"/>
                <a:ea typeface="+mj-ea"/>
              </a:rPr>
              <a:t>英，</a:t>
            </a:r>
            <a:r>
              <a:rPr lang="en-US" altLang="zh-CN" dirty="0">
                <a:solidFill>
                  <a:srgbClr val="333333"/>
                </a:solidFill>
                <a:latin typeface="+mj-ea"/>
                <a:ea typeface="+mj-ea"/>
              </a:rPr>
              <a:t>1864-1945)</a:t>
            </a:r>
          </a:p>
          <a:p>
            <a:pPr algn="ctr"/>
            <a:r>
              <a:rPr lang="en-US" altLang="zh-CN" dirty="0">
                <a:solidFill>
                  <a:srgbClr val="333333"/>
                </a:solidFill>
                <a:latin typeface="+mj-ea"/>
                <a:ea typeface="+mj-ea"/>
              </a:rPr>
              <a:t>(</a:t>
            </a:r>
            <a:r>
              <a:rPr lang="zh-CN" altLang="en-US" dirty="0">
                <a:solidFill>
                  <a:srgbClr val="333333"/>
                </a:solidFill>
                <a:latin typeface="+mj-ea"/>
                <a:ea typeface="+mj-ea"/>
              </a:rPr>
              <a:t>使用真空二极管整流、检波</a:t>
            </a:r>
            <a:r>
              <a:rPr lang="en-US" altLang="zh-CN" dirty="0">
                <a:solidFill>
                  <a:srgbClr val="333333"/>
                </a:solidFill>
                <a:latin typeface="+mj-ea"/>
                <a:ea typeface="+mj-ea"/>
              </a:rPr>
              <a:t>)</a:t>
            </a:r>
            <a:endParaRPr lang="zh-CN" altLang="en-US" dirty="0">
              <a:solidFill>
                <a:srgbClr val="333333"/>
              </a:solidFill>
              <a:latin typeface="+mj-ea"/>
              <a:ea typeface="+mj-ea"/>
            </a:endParaRPr>
          </a:p>
        </p:txBody>
      </p:sp>
      <p:pic>
        <p:nvPicPr>
          <p:cNvPr id="12" name="图片 11">
            <a:extLst>
              <a:ext uri="{FF2B5EF4-FFF2-40B4-BE49-F238E27FC236}">
                <a16:creationId xmlns:a16="http://schemas.microsoft.com/office/drawing/2014/main" id="{E15FA0A6-62CB-8E1D-52E9-58E51D743B9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17118"/>
          <a:stretch/>
        </p:blipFill>
        <p:spPr>
          <a:xfrm rot="5400000">
            <a:off x="7239087" y="788940"/>
            <a:ext cx="2153131" cy="1463817"/>
          </a:xfrm>
          <a:prstGeom prst="rect">
            <a:avLst/>
          </a:prstGeom>
        </p:spPr>
      </p:pic>
    </p:spTree>
    <p:extLst>
      <p:ext uri="{BB962C8B-B14F-4D97-AF65-F5344CB8AC3E}">
        <p14:creationId xmlns:p14="http://schemas.microsoft.com/office/powerpoint/2010/main" val="46428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2297E1-3274-38C8-CBC8-16D3D7C7D6BA}"/>
              </a:ext>
            </a:extLst>
          </p:cNvPr>
          <p:cNvSpPr>
            <a:spLocks noGrp="1"/>
          </p:cNvSpPr>
          <p:nvPr>
            <p:ph type="title"/>
          </p:nvPr>
        </p:nvSpPr>
        <p:spPr/>
        <p:txBody>
          <a:bodyPr>
            <a:normAutofit fontScale="90000"/>
          </a:bodyPr>
          <a:lstStyle/>
          <a:p>
            <a:r>
              <a:rPr lang="zh-CN" altLang="en-US" dirty="0"/>
              <a:t>从真空管到半导体管</a:t>
            </a:r>
            <a:endParaRPr kumimoji="1" lang="zh-CN" altLang="en-US" dirty="0"/>
          </a:p>
        </p:txBody>
      </p:sp>
      <p:sp>
        <p:nvSpPr>
          <p:cNvPr id="4" name="页脚占位符 3">
            <a:extLst>
              <a:ext uri="{FF2B5EF4-FFF2-40B4-BE49-F238E27FC236}">
                <a16:creationId xmlns:a16="http://schemas.microsoft.com/office/drawing/2014/main" id="{E2ED5AC2-EB07-925D-93AE-54EF6B58B4EE}"/>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198D2CB1-A3FD-796B-123B-BF4A6D864D6E}"/>
              </a:ext>
            </a:extLst>
          </p:cNvPr>
          <p:cNvSpPr>
            <a:spLocks noGrp="1"/>
          </p:cNvSpPr>
          <p:nvPr>
            <p:ph type="sldNum" sz="quarter" idx="12"/>
          </p:nvPr>
        </p:nvSpPr>
        <p:spPr/>
        <p:txBody>
          <a:bodyPr/>
          <a:lstStyle/>
          <a:p>
            <a:fld id="{9E260BC5-5BF3-8746-862B-DC45E9CAA88B}" type="slidenum">
              <a:rPr lang="en-US" smtClean="0"/>
              <a:pPr/>
              <a:t>5</a:t>
            </a:fld>
            <a:r>
              <a:rPr lang="en-US" altLang="zh-CN" dirty="0"/>
              <a:t>/33</a:t>
            </a:r>
            <a:endParaRPr lang="en-US" dirty="0"/>
          </a:p>
        </p:txBody>
      </p:sp>
      <p:pic>
        <p:nvPicPr>
          <p:cNvPr id="6" name="图片 5">
            <a:extLst>
              <a:ext uri="{FF2B5EF4-FFF2-40B4-BE49-F238E27FC236}">
                <a16:creationId xmlns:a16="http://schemas.microsoft.com/office/drawing/2014/main" id="{EB459C4E-C8AE-2536-7E1E-905A247B64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794" y="1388819"/>
            <a:ext cx="2356255" cy="2520119"/>
          </a:xfrm>
          <a:prstGeom prst="rect">
            <a:avLst/>
          </a:prstGeom>
        </p:spPr>
      </p:pic>
      <p:sp>
        <p:nvSpPr>
          <p:cNvPr id="7" name="下箭头 6">
            <a:extLst>
              <a:ext uri="{FF2B5EF4-FFF2-40B4-BE49-F238E27FC236}">
                <a16:creationId xmlns:a16="http://schemas.microsoft.com/office/drawing/2014/main" id="{74952875-D359-B8A5-108D-4BEB7493D0C0}"/>
              </a:ext>
            </a:extLst>
          </p:cNvPr>
          <p:cNvSpPr/>
          <p:nvPr/>
        </p:nvSpPr>
        <p:spPr>
          <a:xfrm rot="16200000">
            <a:off x="4385094" y="2374442"/>
            <a:ext cx="737704" cy="5488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pic>
        <p:nvPicPr>
          <p:cNvPr id="8" name="图片 7">
            <a:extLst>
              <a:ext uri="{FF2B5EF4-FFF2-40B4-BE49-F238E27FC236}">
                <a16:creationId xmlns:a16="http://schemas.microsoft.com/office/drawing/2014/main" id="{781E5356-45FB-8994-0650-A7E6A47538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1658" y="1398009"/>
            <a:ext cx="3327123" cy="2416323"/>
          </a:xfrm>
          <a:prstGeom prst="rect">
            <a:avLst/>
          </a:prstGeom>
        </p:spPr>
      </p:pic>
      <p:sp>
        <p:nvSpPr>
          <p:cNvPr id="9" name="文本框 8">
            <a:extLst>
              <a:ext uri="{FF2B5EF4-FFF2-40B4-BE49-F238E27FC236}">
                <a16:creationId xmlns:a16="http://schemas.microsoft.com/office/drawing/2014/main" id="{3B9656C7-6B55-5DB1-9793-4F7ED06C0B96}"/>
              </a:ext>
            </a:extLst>
          </p:cNvPr>
          <p:cNvSpPr txBox="1"/>
          <p:nvPr/>
        </p:nvSpPr>
        <p:spPr>
          <a:xfrm>
            <a:off x="1419169" y="4197131"/>
            <a:ext cx="2057879" cy="1754326"/>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大、</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热、</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功耗高、</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容易坏、</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不易大规模生产、</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金贵</a:t>
            </a:r>
            <a:endParaRPr lang="en-US" altLang="zh-CN" dirty="0">
              <a:latin typeface="Microsoft YaHei" panose="020B0503020204020204" pitchFamily="34" charset="-122"/>
              <a:ea typeface="Microsoft YaHei" panose="020B0503020204020204" pitchFamily="34" charset="-122"/>
            </a:endParaRPr>
          </a:p>
        </p:txBody>
      </p:sp>
      <p:sp>
        <p:nvSpPr>
          <p:cNvPr id="10" name="文本框 9">
            <a:extLst>
              <a:ext uri="{FF2B5EF4-FFF2-40B4-BE49-F238E27FC236}">
                <a16:creationId xmlns:a16="http://schemas.microsoft.com/office/drawing/2014/main" id="{CFB38D04-1A7D-32AF-7FAF-D3208ACA58BB}"/>
              </a:ext>
            </a:extLst>
          </p:cNvPr>
          <p:cNvSpPr txBox="1"/>
          <p:nvPr/>
        </p:nvSpPr>
        <p:spPr>
          <a:xfrm>
            <a:off x="6521450" y="4197016"/>
            <a:ext cx="2177345" cy="1754326"/>
          </a:xfrm>
          <a:prstGeom prst="rect">
            <a:avLst/>
          </a:prstGeom>
          <a:noFill/>
        </p:spPr>
        <p:txBody>
          <a:bodyPr wrap="square" rtlCol="0">
            <a:spAutoFit/>
          </a:bodyPr>
          <a:lstStyle/>
          <a:p>
            <a:r>
              <a:rPr lang="zh-CN" altLang="en-US" dirty="0">
                <a:latin typeface="Microsoft YaHei" panose="020B0503020204020204" pitchFamily="34" charset="-122"/>
                <a:ea typeface="Microsoft YaHei" panose="020B0503020204020204" pitchFamily="34" charset="-122"/>
              </a:rPr>
              <a:t>小、</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常温、</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功耗低、</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比较牢靠、</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容易大规模生产、</a:t>
            </a:r>
            <a:endParaRPr lang="en-US" altLang="zh-CN" dirty="0">
              <a:latin typeface="Microsoft YaHei" panose="020B0503020204020204" pitchFamily="34" charset="-122"/>
              <a:ea typeface="Microsoft YaHei" panose="020B0503020204020204" pitchFamily="34" charset="-122"/>
            </a:endParaRPr>
          </a:p>
          <a:p>
            <a:r>
              <a:rPr lang="zh-CN" altLang="en-US" dirty="0">
                <a:latin typeface="Microsoft YaHei" panose="020B0503020204020204" pitchFamily="34" charset="-122"/>
                <a:ea typeface="Microsoft YaHei" panose="020B0503020204020204" pitchFamily="34" charset="-122"/>
              </a:rPr>
              <a:t>便宜</a:t>
            </a:r>
          </a:p>
        </p:txBody>
      </p:sp>
    </p:spTree>
    <p:extLst>
      <p:ext uri="{BB962C8B-B14F-4D97-AF65-F5344CB8AC3E}">
        <p14:creationId xmlns:p14="http://schemas.microsoft.com/office/powerpoint/2010/main" val="3218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7BF3FB-894D-E7EC-9AD7-7A945A9572A1}"/>
              </a:ext>
            </a:extLst>
          </p:cNvPr>
          <p:cNvSpPr>
            <a:spLocks noGrp="1"/>
          </p:cNvSpPr>
          <p:nvPr>
            <p:ph type="title"/>
          </p:nvPr>
        </p:nvSpPr>
        <p:spPr/>
        <p:txBody>
          <a:bodyPr>
            <a:normAutofit fontScale="90000"/>
          </a:bodyPr>
          <a:lstStyle/>
          <a:p>
            <a:r>
              <a:rPr lang="zh-CN" altLang="en-US" dirty="0"/>
              <a:t>从真空管到半导体管</a:t>
            </a:r>
            <a:endParaRPr kumimoji="1" lang="zh-CN" altLang="en-US" dirty="0"/>
          </a:p>
        </p:txBody>
      </p:sp>
      <p:sp>
        <p:nvSpPr>
          <p:cNvPr id="3" name="内容占位符 2">
            <a:extLst>
              <a:ext uri="{FF2B5EF4-FFF2-40B4-BE49-F238E27FC236}">
                <a16:creationId xmlns:a16="http://schemas.microsoft.com/office/drawing/2014/main" id="{291EC893-8A0F-86AF-9023-F44650C8EFE9}"/>
              </a:ext>
            </a:extLst>
          </p:cNvPr>
          <p:cNvSpPr>
            <a:spLocks noGrp="1"/>
          </p:cNvSpPr>
          <p:nvPr>
            <p:ph idx="1"/>
          </p:nvPr>
        </p:nvSpPr>
        <p:spPr/>
        <p:txBody>
          <a:bodyPr/>
          <a:lstStyle/>
          <a:p>
            <a:r>
              <a:rPr lang="zh-CN" altLang="en-US" dirty="0"/>
              <a:t>半导体</a:t>
            </a:r>
          </a:p>
          <a:p>
            <a:pPr lvl="1"/>
            <a:r>
              <a:rPr lang="zh-CN" altLang="en-US" dirty="0"/>
              <a:t>常温下导电能力介于导体与绝缘体之间的材料 </a:t>
            </a:r>
          </a:p>
          <a:p>
            <a:pPr lvl="1"/>
            <a:r>
              <a:rPr lang="zh-CN" altLang="en-US" dirty="0"/>
              <a:t>常用的有：硅、锗、砷化镓等</a:t>
            </a:r>
          </a:p>
          <a:p>
            <a:pPr>
              <a:spcBef>
                <a:spcPct val="20000"/>
              </a:spcBef>
            </a:pPr>
            <a:r>
              <a:rPr lang="zh-CN" altLang="en-US" dirty="0"/>
              <a:t>半导体特性</a:t>
            </a:r>
          </a:p>
          <a:p>
            <a:pPr lvl="1"/>
            <a:r>
              <a:rPr lang="zh-CN" altLang="en-US" dirty="0"/>
              <a:t>受热或光照，其导电能力显著提高</a:t>
            </a:r>
          </a:p>
          <a:p>
            <a:pPr lvl="1"/>
            <a:r>
              <a:rPr lang="zh-CN" altLang="en-US" dirty="0"/>
              <a:t>纯净半导体中加入微量杂质后，其导电能力急剧增强</a:t>
            </a:r>
          </a:p>
          <a:p>
            <a:pPr lvl="1"/>
            <a:r>
              <a:rPr lang="zh-CN" altLang="en-US" dirty="0"/>
              <a:t>利用这些特性可制造热敏电阻、光敏电阻、二极管、三极管等器件</a:t>
            </a:r>
          </a:p>
          <a:p>
            <a:endParaRPr kumimoji="1" lang="zh-CN" altLang="en-US" dirty="0"/>
          </a:p>
        </p:txBody>
      </p:sp>
      <p:sp>
        <p:nvSpPr>
          <p:cNvPr id="4" name="页脚占位符 3">
            <a:extLst>
              <a:ext uri="{FF2B5EF4-FFF2-40B4-BE49-F238E27FC236}">
                <a16:creationId xmlns:a16="http://schemas.microsoft.com/office/drawing/2014/main" id="{C0AAC1A8-1A9A-0CC3-41CC-AFBD1088D415}"/>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70B450D4-391B-A35E-B9DB-7776C422673E}"/>
              </a:ext>
            </a:extLst>
          </p:cNvPr>
          <p:cNvSpPr>
            <a:spLocks noGrp="1"/>
          </p:cNvSpPr>
          <p:nvPr>
            <p:ph type="sldNum" sz="quarter" idx="12"/>
          </p:nvPr>
        </p:nvSpPr>
        <p:spPr/>
        <p:txBody>
          <a:bodyPr/>
          <a:lstStyle/>
          <a:p>
            <a:fld id="{9E260BC5-5BF3-8746-862B-DC45E9CAA88B}" type="slidenum">
              <a:rPr lang="en-US" smtClean="0"/>
              <a:pPr/>
              <a:t>6</a:t>
            </a:fld>
            <a:r>
              <a:rPr lang="en-US" altLang="zh-CN" dirty="0"/>
              <a:t>/33</a:t>
            </a:r>
            <a:endParaRPr lang="en-US" dirty="0"/>
          </a:p>
        </p:txBody>
      </p:sp>
    </p:spTree>
    <p:extLst>
      <p:ext uri="{BB962C8B-B14F-4D97-AF65-F5344CB8AC3E}">
        <p14:creationId xmlns:p14="http://schemas.microsoft.com/office/powerpoint/2010/main" val="3399073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EF876C-F647-9223-4575-51EC035BB3FB}"/>
              </a:ext>
            </a:extLst>
          </p:cNvPr>
          <p:cNvSpPr>
            <a:spLocks noGrp="1"/>
          </p:cNvSpPr>
          <p:nvPr>
            <p:ph type="title"/>
          </p:nvPr>
        </p:nvSpPr>
        <p:spPr/>
        <p:txBody>
          <a:bodyPr>
            <a:normAutofit fontScale="90000"/>
          </a:bodyPr>
          <a:lstStyle/>
          <a:p>
            <a:r>
              <a:rPr lang="zh-CN" altLang="en-US" dirty="0"/>
              <a:t>本征半导体</a:t>
            </a:r>
            <a:endParaRPr kumimoji="1" lang="zh-CN" altLang="en-US" dirty="0"/>
          </a:p>
        </p:txBody>
      </p:sp>
      <p:sp>
        <p:nvSpPr>
          <p:cNvPr id="3" name="内容占位符 2">
            <a:extLst>
              <a:ext uri="{FF2B5EF4-FFF2-40B4-BE49-F238E27FC236}">
                <a16:creationId xmlns:a16="http://schemas.microsoft.com/office/drawing/2014/main" id="{1AEE35EC-1130-9F77-B270-E3F2138AE601}"/>
              </a:ext>
            </a:extLst>
          </p:cNvPr>
          <p:cNvSpPr>
            <a:spLocks noGrp="1"/>
          </p:cNvSpPr>
          <p:nvPr>
            <p:ph idx="1"/>
          </p:nvPr>
        </p:nvSpPr>
        <p:spPr/>
        <p:txBody>
          <a:bodyPr/>
          <a:lstStyle/>
          <a:p>
            <a:r>
              <a:rPr lang="zh-CN" altLang="en-US" dirty="0"/>
              <a:t>本征半导体：完全纯净、结构完整的半导体</a:t>
            </a:r>
            <a:endParaRPr lang="en-US" altLang="zh-CN" dirty="0"/>
          </a:p>
          <a:p>
            <a:r>
              <a:rPr lang="zh-CN" altLang="en-US" dirty="0"/>
              <a:t>本征激发：本征半导体因受外部激发（如受热或光照），产生自由电子和空穴的现象</a:t>
            </a:r>
            <a:endParaRPr lang="en-US" altLang="zh-CN" dirty="0"/>
          </a:p>
          <a:p>
            <a:r>
              <a:rPr lang="zh-CN" altLang="en-US" dirty="0"/>
              <a:t>空穴：共价键中的空位</a:t>
            </a:r>
            <a:endParaRPr lang="en-US" altLang="zh-CN" dirty="0"/>
          </a:p>
          <a:p>
            <a:r>
              <a:rPr lang="zh-CN" altLang="en-US" dirty="0"/>
              <a:t>载流子：能够起导电作用的带电粒子</a:t>
            </a:r>
            <a:endParaRPr lang="en-US" altLang="zh-CN" dirty="0"/>
          </a:p>
          <a:p>
            <a:pPr lvl="1"/>
            <a:r>
              <a:rPr lang="zh-CN" altLang="en-US" dirty="0"/>
              <a:t>存在两种载流子：自由电子和空穴</a:t>
            </a:r>
            <a:endParaRPr lang="en-US" altLang="zh-CN" dirty="0"/>
          </a:p>
          <a:p>
            <a:pPr marL="457200" lvl="1" indent="0">
              <a:buNone/>
            </a:pPr>
            <a:endParaRPr lang="zh-CN" altLang="en-US" dirty="0"/>
          </a:p>
          <a:p>
            <a:endParaRPr kumimoji="1" lang="zh-CN" altLang="en-US" dirty="0"/>
          </a:p>
        </p:txBody>
      </p:sp>
      <p:sp>
        <p:nvSpPr>
          <p:cNvPr id="4" name="页脚占位符 3">
            <a:extLst>
              <a:ext uri="{FF2B5EF4-FFF2-40B4-BE49-F238E27FC236}">
                <a16:creationId xmlns:a16="http://schemas.microsoft.com/office/drawing/2014/main" id="{F7D86709-234A-8319-0251-AF09E47492E4}"/>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784CE5B1-AAFD-DF2C-AE7F-1529F9532817}"/>
              </a:ext>
            </a:extLst>
          </p:cNvPr>
          <p:cNvSpPr>
            <a:spLocks noGrp="1"/>
          </p:cNvSpPr>
          <p:nvPr>
            <p:ph type="sldNum" sz="quarter" idx="12"/>
          </p:nvPr>
        </p:nvSpPr>
        <p:spPr/>
        <p:txBody>
          <a:bodyPr/>
          <a:lstStyle/>
          <a:p>
            <a:fld id="{9E260BC5-5BF3-8746-862B-DC45E9CAA88B}" type="slidenum">
              <a:rPr lang="en-US" smtClean="0"/>
              <a:pPr/>
              <a:t>7</a:t>
            </a:fld>
            <a:r>
              <a:rPr lang="en-US" altLang="zh-CN" dirty="0"/>
              <a:t>/33</a:t>
            </a:r>
            <a:endParaRPr lang="en-US" dirty="0"/>
          </a:p>
        </p:txBody>
      </p:sp>
      <p:pic>
        <p:nvPicPr>
          <p:cNvPr id="7" name="Picture 7">
            <a:extLst>
              <a:ext uri="{FF2B5EF4-FFF2-40B4-BE49-F238E27FC236}">
                <a16:creationId xmlns:a16="http://schemas.microsoft.com/office/drawing/2014/main" id="{94926FC3-D438-56C1-1C7A-E6ECDA5478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450" y="2443735"/>
            <a:ext cx="2981325" cy="2838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8">
            <a:extLst>
              <a:ext uri="{FF2B5EF4-FFF2-40B4-BE49-F238E27FC236}">
                <a16:creationId xmlns:a16="http://schemas.microsoft.com/office/drawing/2014/main" id="{F9FB4E36-AD2B-69A7-73DE-71E731CEDC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1850" y="3996310"/>
            <a:ext cx="1362075" cy="1285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 name="Text Box 9">
            <a:extLst>
              <a:ext uri="{FF2B5EF4-FFF2-40B4-BE49-F238E27FC236}">
                <a16:creationId xmlns:a16="http://schemas.microsoft.com/office/drawing/2014/main" id="{D7EFB6B4-E3A1-F017-781B-50C8F6D86CD3}"/>
              </a:ext>
            </a:extLst>
          </p:cNvPr>
          <p:cNvSpPr txBox="1">
            <a:spLocks noChangeArrowheads="1"/>
          </p:cNvSpPr>
          <p:nvPr/>
        </p:nvSpPr>
        <p:spPr bwMode="auto">
          <a:xfrm>
            <a:off x="4354513" y="5455222"/>
            <a:ext cx="1962150"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b="0">
                <a:latin typeface="Microsoft YaHei" panose="020B0503020204020204" pitchFamily="34" charset="-122"/>
                <a:ea typeface="Microsoft YaHei" panose="020B0503020204020204" pitchFamily="34" charset="-122"/>
              </a:rPr>
              <a:t>硅、锗原子结构</a:t>
            </a:r>
          </a:p>
          <a:p>
            <a:pPr algn="ctr" eaLnBrk="1" hangingPunct="1">
              <a:spcAft>
                <a:spcPct val="0"/>
              </a:spcAft>
              <a:buFontTx/>
              <a:buNone/>
            </a:pPr>
            <a:r>
              <a:rPr kumimoji="1" lang="zh-CN" altLang="en-US" sz="2000" b="0">
                <a:latin typeface="Microsoft YaHei" panose="020B0503020204020204" pitchFamily="34" charset="-122"/>
                <a:ea typeface="Microsoft YaHei" panose="020B0503020204020204" pitchFamily="34" charset="-122"/>
              </a:rPr>
              <a:t>简化模型</a:t>
            </a:r>
          </a:p>
        </p:txBody>
      </p:sp>
      <p:sp>
        <p:nvSpPr>
          <p:cNvPr id="10" name="Text Box 10">
            <a:extLst>
              <a:ext uri="{FF2B5EF4-FFF2-40B4-BE49-F238E27FC236}">
                <a16:creationId xmlns:a16="http://schemas.microsoft.com/office/drawing/2014/main" id="{9A3B6618-274F-7899-F672-8D1C4752F19E}"/>
              </a:ext>
            </a:extLst>
          </p:cNvPr>
          <p:cNvSpPr txBox="1">
            <a:spLocks noChangeArrowheads="1"/>
          </p:cNvSpPr>
          <p:nvPr/>
        </p:nvSpPr>
        <p:spPr bwMode="auto">
          <a:xfrm>
            <a:off x="7091363" y="5480623"/>
            <a:ext cx="1962150"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b="0" dirty="0">
                <a:latin typeface="Microsoft YaHei" panose="020B0503020204020204" pitchFamily="34" charset="-122"/>
                <a:ea typeface="Microsoft YaHei" panose="020B0503020204020204" pitchFamily="34" charset="-122"/>
              </a:rPr>
              <a:t>硅、锗晶体结构</a:t>
            </a:r>
          </a:p>
          <a:p>
            <a:pPr algn="ctr" eaLnBrk="1" hangingPunct="1">
              <a:spcAft>
                <a:spcPct val="0"/>
              </a:spcAft>
              <a:buFontTx/>
              <a:buNone/>
            </a:pPr>
            <a:r>
              <a:rPr kumimoji="1" lang="zh-CN" altLang="en-US" sz="2000" b="0" dirty="0">
                <a:latin typeface="Microsoft YaHei" panose="020B0503020204020204" pitchFamily="34" charset="-122"/>
                <a:ea typeface="Microsoft YaHei" panose="020B0503020204020204" pitchFamily="34" charset="-122"/>
              </a:rPr>
              <a:t>平面示意图</a:t>
            </a:r>
            <a:endParaRPr kumimoji="1" lang="en-US" altLang="zh-CN" sz="2000" b="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60829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6BFE56-129E-399E-1C95-67B7BB51FD76}"/>
              </a:ext>
            </a:extLst>
          </p:cNvPr>
          <p:cNvSpPr>
            <a:spLocks noGrp="1"/>
          </p:cNvSpPr>
          <p:nvPr>
            <p:ph type="title"/>
          </p:nvPr>
        </p:nvSpPr>
        <p:spPr/>
        <p:txBody>
          <a:bodyPr>
            <a:normAutofit fontScale="90000"/>
          </a:bodyPr>
          <a:lstStyle/>
          <a:p>
            <a:r>
              <a:rPr lang="zh-CN" altLang="en-US" dirty="0"/>
              <a:t>杂质半导体</a:t>
            </a:r>
            <a:endParaRPr kumimoji="1" lang="zh-CN" altLang="en-US" dirty="0"/>
          </a:p>
        </p:txBody>
      </p:sp>
      <p:sp>
        <p:nvSpPr>
          <p:cNvPr id="3" name="内容占位符 2">
            <a:extLst>
              <a:ext uri="{FF2B5EF4-FFF2-40B4-BE49-F238E27FC236}">
                <a16:creationId xmlns:a16="http://schemas.microsoft.com/office/drawing/2014/main" id="{56ACE2C4-D44B-5C29-B7D8-50F23153BB37}"/>
              </a:ext>
            </a:extLst>
          </p:cNvPr>
          <p:cNvSpPr>
            <a:spLocks noGrp="1"/>
          </p:cNvSpPr>
          <p:nvPr>
            <p:ph idx="1"/>
          </p:nvPr>
        </p:nvSpPr>
        <p:spPr/>
        <p:txBody>
          <a:bodyPr/>
          <a:lstStyle/>
          <a:p>
            <a:r>
              <a:rPr lang="zh-CN" altLang="en-US" dirty="0"/>
              <a:t>在本征半导体中掺入微量的杂质元素后所形成的半导体</a:t>
            </a:r>
          </a:p>
          <a:p>
            <a:r>
              <a:rPr lang="zh-CN" altLang="en-US" dirty="0"/>
              <a:t>根据掺杂的不同，杂质半导体分为</a:t>
            </a:r>
          </a:p>
          <a:p>
            <a:pPr lvl="1"/>
            <a:r>
              <a:rPr lang="en-US" altLang="zh-CN" dirty="0"/>
              <a:t>N</a:t>
            </a:r>
            <a:r>
              <a:rPr lang="zh-CN" altLang="en-US" dirty="0"/>
              <a:t>型半导体 ：掺入五价杂质元素（如磷、砷、锑等）</a:t>
            </a:r>
          </a:p>
          <a:p>
            <a:pPr lvl="1"/>
            <a:r>
              <a:rPr lang="en-US" altLang="zh-CN" dirty="0"/>
              <a:t>P</a:t>
            </a:r>
            <a:r>
              <a:rPr lang="zh-CN" altLang="en-US" dirty="0"/>
              <a:t>型半导体 ：掺入三价杂质元素（如硼、铝和铟等</a:t>
            </a:r>
            <a:endParaRPr kumimoji="1" lang="zh-CN" altLang="en-US" dirty="0"/>
          </a:p>
        </p:txBody>
      </p:sp>
      <p:sp>
        <p:nvSpPr>
          <p:cNvPr id="4" name="页脚占位符 3">
            <a:extLst>
              <a:ext uri="{FF2B5EF4-FFF2-40B4-BE49-F238E27FC236}">
                <a16:creationId xmlns:a16="http://schemas.microsoft.com/office/drawing/2014/main" id="{5EC70A79-4221-B41D-A1BF-B49D1C0B21B9}"/>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C66AC153-D3B8-A8F6-A3C8-6FCA13587EBB}"/>
              </a:ext>
            </a:extLst>
          </p:cNvPr>
          <p:cNvSpPr>
            <a:spLocks noGrp="1"/>
          </p:cNvSpPr>
          <p:nvPr>
            <p:ph type="sldNum" sz="quarter" idx="12"/>
          </p:nvPr>
        </p:nvSpPr>
        <p:spPr/>
        <p:txBody>
          <a:bodyPr/>
          <a:lstStyle/>
          <a:p>
            <a:fld id="{9E260BC5-5BF3-8746-862B-DC45E9CAA88B}" type="slidenum">
              <a:rPr lang="en-US" smtClean="0"/>
              <a:pPr/>
              <a:t>8</a:t>
            </a:fld>
            <a:r>
              <a:rPr lang="en-US" altLang="zh-CN" dirty="0"/>
              <a:t>/33</a:t>
            </a:r>
            <a:endParaRPr lang="en-US" dirty="0"/>
          </a:p>
        </p:txBody>
      </p:sp>
    </p:spTree>
    <p:extLst>
      <p:ext uri="{BB962C8B-B14F-4D97-AF65-F5344CB8AC3E}">
        <p14:creationId xmlns:p14="http://schemas.microsoft.com/office/powerpoint/2010/main" val="319408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D7E32-5EE9-33BC-077A-69ECD82DC034}"/>
              </a:ext>
            </a:extLst>
          </p:cNvPr>
          <p:cNvSpPr>
            <a:spLocks noGrp="1"/>
          </p:cNvSpPr>
          <p:nvPr>
            <p:ph type="title"/>
          </p:nvPr>
        </p:nvSpPr>
        <p:spPr/>
        <p:txBody>
          <a:bodyPr>
            <a:normAutofit fontScale="90000"/>
          </a:bodyPr>
          <a:lstStyle/>
          <a:p>
            <a:r>
              <a:rPr lang="en-US" altLang="zh-CN" dirty="0"/>
              <a:t>N</a:t>
            </a:r>
            <a:r>
              <a:rPr lang="zh-CN" altLang="en-US" dirty="0"/>
              <a:t>型半导体</a:t>
            </a:r>
            <a:endParaRPr kumimoji="1" lang="zh-CN" altLang="en-US" dirty="0"/>
          </a:p>
        </p:txBody>
      </p:sp>
      <p:sp>
        <p:nvSpPr>
          <p:cNvPr id="3" name="内容占位符 2">
            <a:extLst>
              <a:ext uri="{FF2B5EF4-FFF2-40B4-BE49-F238E27FC236}">
                <a16:creationId xmlns:a16="http://schemas.microsoft.com/office/drawing/2014/main" id="{074E8266-CD79-95FA-42AB-6D3266E27E28}"/>
              </a:ext>
            </a:extLst>
          </p:cNvPr>
          <p:cNvSpPr>
            <a:spLocks noGrp="1"/>
          </p:cNvSpPr>
          <p:nvPr>
            <p:ph idx="1"/>
          </p:nvPr>
        </p:nvSpPr>
        <p:spPr/>
        <p:txBody>
          <a:bodyPr/>
          <a:lstStyle/>
          <a:p>
            <a:r>
              <a:rPr lang="en-US" altLang="zh-CN" dirty="0"/>
              <a:t>N</a:t>
            </a:r>
            <a:r>
              <a:rPr lang="zh-CN" altLang="en-US" dirty="0"/>
              <a:t>型半导体：掺入五价元素的杂质半导体</a:t>
            </a:r>
          </a:p>
          <a:p>
            <a:pPr>
              <a:spcAft>
                <a:spcPct val="30000"/>
              </a:spcAft>
            </a:pPr>
            <a:endParaRPr lang="en-US" altLang="zh-CN" dirty="0"/>
          </a:p>
          <a:p>
            <a:pPr>
              <a:spcAft>
                <a:spcPct val="30000"/>
              </a:spcAft>
            </a:pPr>
            <a:r>
              <a:rPr lang="zh-CN" altLang="en-US" dirty="0"/>
              <a:t>自由电子是多数载流子，简称多子</a:t>
            </a:r>
          </a:p>
          <a:p>
            <a:pPr lvl="1">
              <a:spcAft>
                <a:spcPct val="30000"/>
              </a:spcAft>
            </a:pPr>
            <a:r>
              <a:rPr lang="zh-CN" altLang="en-US" dirty="0"/>
              <a:t>每个杂质原子产生一个自由电子</a:t>
            </a:r>
          </a:p>
          <a:p>
            <a:pPr lvl="1">
              <a:spcAft>
                <a:spcPct val="30000"/>
              </a:spcAft>
            </a:pPr>
            <a:r>
              <a:rPr lang="zh-CN" altLang="en-US" dirty="0"/>
              <a:t>浓度较掺杂前高得多</a:t>
            </a:r>
          </a:p>
          <a:p>
            <a:pPr>
              <a:spcAft>
                <a:spcPct val="30000"/>
              </a:spcAft>
            </a:pPr>
            <a:r>
              <a:rPr lang="zh-CN" altLang="en-US" dirty="0"/>
              <a:t>空穴是少数载流子，简称少子</a:t>
            </a:r>
          </a:p>
          <a:p>
            <a:pPr lvl="1">
              <a:spcAft>
                <a:spcPct val="30000"/>
              </a:spcAft>
            </a:pPr>
            <a:r>
              <a:rPr lang="zh-CN" altLang="en-US" dirty="0"/>
              <a:t>由热激发产生</a:t>
            </a:r>
          </a:p>
          <a:p>
            <a:pPr lvl="1">
              <a:spcAft>
                <a:spcPct val="30000"/>
              </a:spcAft>
            </a:pPr>
            <a:r>
              <a:rPr lang="zh-CN" altLang="en-US" dirty="0"/>
              <a:t>浓度较掺杂前低得多</a:t>
            </a:r>
          </a:p>
          <a:p>
            <a:endParaRPr kumimoji="1" lang="zh-CN" altLang="en-US" dirty="0"/>
          </a:p>
        </p:txBody>
      </p:sp>
      <p:sp>
        <p:nvSpPr>
          <p:cNvPr id="4" name="页脚占位符 3">
            <a:extLst>
              <a:ext uri="{FF2B5EF4-FFF2-40B4-BE49-F238E27FC236}">
                <a16:creationId xmlns:a16="http://schemas.microsoft.com/office/drawing/2014/main" id="{6FF28EBE-904B-C76E-DA84-2727B924B0A8}"/>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6C320E62-7A60-D8E1-A8AC-53FCAC4422C4}"/>
              </a:ext>
            </a:extLst>
          </p:cNvPr>
          <p:cNvSpPr>
            <a:spLocks noGrp="1"/>
          </p:cNvSpPr>
          <p:nvPr>
            <p:ph type="sldNum" sz="quarter" idx="12"/>
          </p:nvPr>
        </p:nvSpPr>
        <p:spPr/>
        <p:txBody>
          <a:bodyPr/>
          <a:lstStyle/>
          <a:p>
            <a:fld id="{9E260BC5-5BF3-8746-862B-DC45E9CAA88B}" type="slidenum">
              <a:rPr lang="en-US" smtClean="0"/>
              <a:pPr/>
              <a:t>9</a:t>
            </a:fld>
            <a:r>
              <a:rPr lang="en-US" altLang="zh-CN" dirty="0"/>
              <a:t>/33</a:t>
            </a:r>
            <a:endParaRPr lang="en-US" dirty="0"/>
          </a:p>
        </p:txBody>
      </p:sp>
      <p:pic>
        <p:nvPicPr>
          <p:cNvPr id="6" name="Picture 2">
            <a:extLst>
              <a:ext uri="{FF2B5EF4-FFF2-40B4-BE49-F238E27FC236}">
                <a16:creationId xmlns:a16="http://schemas.microsoft.com/office/drawing/2014/main" id="{6AC3E631-AEE1-361C-ED25-649DC73FD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9175" y="1662112"/>
            <a:ext cx="2981325" cy="2838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7" name="Group 6">
            <a:extLst>
              <a:ext uri="{FF2B5EF4-FFF2-40B4-BE49-F238E27FC236}">
                <a16:creationId xmlns:a16="http://schemas.microsoft.com/office/drawing/2014/main" id="{789D3D06-1753-E012-53C2-5B611E1245F8}"/>
              </a:ext>
            </a:extLst>
          </p:cNvPr>
          <p:cNvGrpSpPr>
            <a:grpSpLocks/>
          </p:cNvGrpSpPr>
          <p:nvPr/>
        </p:nvGrpSpPr>
        <p:grpSpPr bwMode="auto">
          <a:xfrm>
            <a:off x="7215188" y="2741612"/>
            <a:ext cx="690562" cy="685800"/>
            <a:chOff x="4688" y="2487"/>
            <a:chExt cx="435" cy="432"/>
          </a:xfrm>
        </p:grpSpPr>
        <p:sp>
          <p:nvSpPr>
            <p:cNvPr id="8" name="Oval 7">
              <a:extLst>
                <a:ext uri="{FF2B5EF4-FFF2-40B4-BE49-F238E27FC236}">
                  <a16:creationId xmlns:a16="http://schemas.microsoft.com/office/drawing/2014/main" id="{6676BD31-48DB-0B63-96D9-D202955D6010}"/>
                </a:ext>
              </a:extLst>
            </p:cNvPr>
            <p:cNvSpPr>
              <a:spLocks noChangeArrowheads="1"/>
            </p:cNvSpPr>
            <p:nvPr/>
          </p:nvSpPr>
          <p:spPr bwMode="auto">
            <a:xfrm>
              <a:off x="4688" y="2487"/>
              <a:ext cx="63" cy="63"/>
            </a:xfrm>
            <a:prstGeom prst="ellipse">
              <a:avLst/>
            </a:prstGeom>
            <a:solidFill>
              <a:srgbClr val="FF33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nvGrpSpPr>
            <p:cNvPr id="9" name="Group 8">
              <a:extLst>
                <a:ext uri="{FF2B5EF4-FFF2-40B4-BE49-F238E27FC236}">
                  <a16:creationId xmlns:a16="http://schemas.microsoft.com/office/drawing/2014/main" id="{87DE26D3-80DD-A34D-2ECE-742FBD41F1FD}"/>
                </a:ext>
              </a:extLst>
            </p:cNvPr>
            <p:cNvGrpSpPr>
              <a:grpSpLocks/>
            </p:cNvGrpSpPr>
            <p:nvPr/>
          </p:nvGrpSpPr>
          <p:grpSpPr bwMode="auto">
            <a:xfrm>
              <a:off x="4773" y="2593"/>
              <a:ext cx="280" cy="231"/>
              <a:chOff x="5376" y="2218"/>
              <a:chExt cx="280" cy="231"/>
            </a:xfrm>
          </p:grpSpPr>
          <p:sp>
            <p:nvSpPr>
              <p:cNvPr id="14" name="Oval 9">
                <a:extLst>
                  <a:ext uri="{FF2B5EF4-FFF2-40B4-BE49-F238E27FC236}">
                    <a16:creationId xmlns:a16="http://schemas.microsoft.com/office/drawing/2014/main" id="{A8C7F2AE-D2F9-D49C-9873-D2D88FD141F3}"/>
                  </a:ext>
                </a:extLst>
              </p:cNvPr>
              <p:cNvSpPr>
                <a:spLocks noChangeArrowheads="1"/>
              </p:cNvSpPr>
              <p:nvPr/>
            </p:nvSpPr>
            <p:spPr bwMode="auto">
              <a:xfrm>
                <a:off x="5444" y="2263"/>
                <a:ext cx="151" cy="151"/>
              </a:xfrm>
              <a:prstGeom prst="ellipse">
                <a:avLst/>
              </a:pr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5" name="Text Box 10">
                <a:extLst>
                  <a:ext uri="{FF2B5EF4-FFF2-40B4-BE49-F238E27FC236}">
                    <a16:creationId xmlns:a16="http://schemas.microsoft.com/office/drawing/2014/main" id="{E1C19E6D-2D3E-40E5-13AB-AD616D0EB691}"/>
                  </a:ext>
                </a:extLst>
              </p:cNvPr>
              <p:cNvSpPr txBox="1">
                <a:spLocks noChangeArrowheads="1"/>
              </p:cNvSpPr>
              <p:nvPr/>
            </p:nvSpPr>
            <p:spPr bwMode="auto">
              <a:xfrm>
                <a:off x="5376" y="2218"/>
                <a:ext cx="280"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solidFill>
                      <a:srgbClr val="FF3300"/>
                    </a:solidFill>
                    <a:latin typeface="Arial" panose="020B0604020202020204" pitchFamily="34" charset="0"/>
                  </a:rPr>
                  <a:t>+5</a:t>
                </a:r>
              </a:p>
            </p:txBody>
          </p:sp>
        </p:grpSp>
        <p:sp>
          <p:nvSpPr>
            <p:cNvPr id="10" name="Oval 11">
              <a:extLst>
                <a:ext uri="{FF2B5EF4-FFF2-40B4-BE49-F238E27FC236}">
                  <a16:creationId xmlns:a16="http://schemas.microsoft.com/office/drawing/2014/main" id="{A39F52F5-D715-46F7-ECC8-18363EC15E0C}"/>
                </a:ext>
              </a:extLst>
            </p:cNvPr>
            <p:cNvSpPr>
              <a:spLocks noChangeArrowheads="1"/>
            </p:cNvSpPr>
            <p:nvPr/>
          </p:nvSpPr>
          <p:spPr bwMode="auto">
            <a:xfrm>
              <a:off x="4880" y="2508"/>
              <a:ext cx="63" cy="63"/>
            </a:xfrm>
            <a:prstGeom prst="ellipse">
              <a:avLst/>
            </a:prstGeom>
            <a:solidFill>
              <a:srgbClr val="FF33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1" name="Oval 12">
              <a:extLst>
                <a:ext uri="{FF2B5EF4-FFF2-40B4-BE49-F238E27FC236}">
                  <a16:creationId xmlns:a16="http://schemas.microsoft.com/office/drawing/2014/main" id="{1C8ACA54-7399-7C61-3884-DC1AE1215C10}"/>
                </a:ext>
              </a:extLst>
            </p:cNvPr>
            <p:cNvSpPr>
              <a:spLocks noChangeArrowheads="1"/>
            </p:cNvSpPr>
            <p:nvPr/>
          </p:nvSpPr>
          <p:spPr bwMode="auto">
            <a:xfrm>
              <a:off x="5060" y="2673"/>
              <a:ext cx="63" cy="63"/>
            </a:xfrm>
            <a:prstGeom prst="ellipse">
              <a:avLst/>
            </a:prstGeom>
            <a:solidFill>
              <a:srgbClr val="FF33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2" name="Oval 13">
              <a:extLst>
                <a:ext uri="{FF2B5EF4-FFF2-40B4-BE49-F238E27FC236}">
                  <a16:creationId xmlns:a16="http://schemas.microsoft.com/office/drawing/2014/main" id="{AC062071-17CF-3AA8-43A0-5F375DC8278A}"/>
                </a:ext>
              </a:extLst>
            </p:cNvPr>
            <p:cNvSpPr>
              <a:spLocks noChangeArrowheads="1"/>
            </p:cNvSpPr>
            <p:nvPr/>
          </p:nvSpPr>
          <p:spPr bwMode="auto">
            <a:xfrm>
              <a:off x="4883" y="2856"/>
              <a:ext cx="63" cy="63"/>
            </a:xfrm>
            <a:prstGeom prst="ellipse">
              <a:avLst/>
            </a:prstGeom>
            <a:solidFill>
              <a:srgbClr val="FF33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3" name="Oval 14">
              <a:extLst>
                <a:ext uri="{FF2B5EF4-FFF2-40B4-BE49-F238E27FC236}">
                  <a16:creationId xmlns:a16="http://schemas.microsoft.com/office/drawing/2014/main" id="{E3C2CEFE-37EB-941A-96F3-F5FCD4A97A5D}"/>
                </a:ext>
              </a:extLst>
            </p:cNvPr>
            <p:cNvSpPr>
              <a:spLocks noChangeArrowheads="1"/>
            </p:cNvSpPr>
            <p:nvPr/>
          </p:nvSpPr>
          <p:spPr bwMode="auto">
            <a:xfrm>
              <a:off x="4706" y="2679"/>
              <a:ext cx="63" cy="63"/>
            </a:xfrm>
            <a:prstGeom prst="ellipse">
              <a:avLst/>
            </a:prstGeom>
            <a:solidFill>
              <a:srgbClr val="FF33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16" name="Rectangle 15">
            <a:extLst>
              <a:ext uri="{FF2B5EF4-FFF2-40B4-BE49-F238E27FC236}">
                <a16:creationId xmlns:a16="http://schemas.microsoft.com/office/drawing/2014/main" id="{FC462CC1-AF13-B225-F4D9-E50C808F5832}"/>
              </a:ext>
            </a:extLst>
          </p:cNvPr>
          <p:cNvSpPr>
            <a:spLocks noChangeArrowheads="1"/>
          </p:cNvSpPr>
          <p:nvPr/>
        </p:nvSpPr>
        <p:spPr bwMode="auto">
          <a:xfrm>
            <a:off x="5838825" y="4862512"/>
            <a:ext cx="3717925" cy="885825"/>
          </a:xfrm>
          <a:prstGeom prst="rect">
            <a:avLst/>
          </a:prstGeom>
          <a:solidFill>
            <a:schemeClr val="accent1">
              <a:lumMod val="20000"/>
              <a:lumOff val="80000"/>
            </a:schemeClr>
          </a:solidFill>
          <a:ln w="28575">
            <a:solidFill>
              <a:schemeClr val="accent1">
                <a:lumMod val="50000"/>
              </a:schemeClr>
            </a:solidFill>
            <a:miter lim="800000"/>
            <a:headEnd/>
            <a:tailEnd/>
          </a:ln>
          <a:extLst>
            <a:ext uri="{909E8E84-426E-40dd-AFC4-6F175D3DCCD1}">
              <a14:hiddenFill xmlns="" xmlns:a14="http://schemas.microsoft.com/office/drawing/2010/main">
                <a:solidFill>
                  <a:srgbClr val="FFFFFF"/>
                </a:solidFill>
              </a14:hiddenFill>
            </a:ext>
          </a:extLst>
        </p:spPr>
        <p:txBody>
          <a:bodyPr wrap="none" t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b="0" dirty="0">
                <a:latin typeface="Microsoft YaHei" panose="020B0503020204020204" pitchFamily="34" charset="-122"/>
                <a:ea typeface="Microsoft YaHei" panose="020B0503020204020204" pitchFamily="34" charset="-122"/>
              </a:rPr>
              <a:t>因多子带负</a:t>
            </a:r>
            <a:r>
              <a:rPr lang="en-US" altLang="zh-CN" sz="2400" b="0" dirty="0">
                <a:latin typeface="Microsoft YaHei" panose="020B0503020204020204" pitchFamily="34" charset="-122"/>
                <a:ea typeface="Microsoft YaHei" panose="020B0503020204020204" pitchFamily="34" charset="-122"/>
              </a:rPr>
              <a:t>(Negative)</a:t>
            </a:r>
            <a:r>
              <a:rPr lang="zh-CN" altLang="en-US" sz="2400" b="0" dirty="0">
                <a:latin typeface="Microsoft YaHei" panose="020B0503020204020204" pitchFamily="34" charset="-122"/>
                <a:ea typeface="Microsoft YaHei" panose="020B0503020204020204" pitchFamily="34" charset="-122"/>
              </a:rPr>
              <a:t>电，</a:t>
            </a:r>
            <a:endParaRPr lang="en-US" altLang="zh-CN" sz="2400" b="0" dirty="0">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400" b="0" dirty="0">
                <a:latin typeface="Microsoft YaHei" panose="020B0503020204020204" pitchFamily="34" charset="-122"/>
                <a:ea typeface="Microsoft YaHei" panose="020B0503020204020204" pitchFamily="34" charset="-122"/>
              </a:rPr>
              <a:t>故称为</a:t>
            </a:r>
            <a:r>
              <a:rPr lang="en-US" altLang="zh-CN" sz="2400" b="0" dirty="0">
                <a:latin typeface="Microsoft YaHei" panose="020B0503020204020204" pitchFamily="34" charset="-122"/>
                <a:ea typeface="Microsoft YaHei" panose="020B0503020204020204" pitchFamily="34" charset="-122"/>
              </a:rPr>
              <a:t>N</a:t>
            </a:r>
            <a:r>
              <a:rPr lang="zh-CN" altLang="en-US" sz="2400" b="0" dirty="0">
                <a:latin typeface="Microsoft YaHei" panose="020B0503020204020204" pitchFamily="34" charset="-122"/>
                <a:ea typeface="Microsoft YaHei" panose="020B0503020204020204" pitchFamily="34" charset="-122"/>
              </a:rPr>
              <a:t>型半导体</a:t>
            </a:r>
          </a:p>
        </p:txBody>
      </p:sp>
    </p:spTree>
    <p:extLst>
      <p:ext uri="{BB962C8B-B14F-4D97-AF65-F5344CB8AC3E}">
        <p14:creationId xmlns:p14="http://schemas.microsoft.com/office/powerpoint/2010/main" val="370273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E9B5B-288B-9A86-AC64-F47AD4C41539}"/>
              </a:ext>
            </a:extLst>
          </p:cNvPr>
          <p:cNvSpPr>
            <a:spLocks noGrp="1"/>
          </p:cNvSpPr>
          <p:nvPr>
            <p:ph type="title"/>
          </p:nvPr>
        </p:nvSpPr>
        <p:spPr/>
        <p:txBody>
          <a:bodyPr>
            <a:normAutofit fontScale="90000"/>
          </a:bodyPr>
          <a:lstStyle/>
          <a:p>
            <a:r>
              <a:rPr lang="zh-CN" altLang="en-US" dirty="0"/>
              <a:t>示例</a:t>
            </a:r>
            <a:r>
              <a:rPr lang="zh-CN" altLang="en-US" dirty="0">
                <a:latin typeface="宋体" panose="02010600030101010101" pitchFamily="2" charset="-122"/>
              </a:rPr>
              <a:t>：</a:t>
            </a:r>
            <a:r>
              <a:rPr lang="zh-CN" altLang="en-US" dirty="0"/>
              <a:t>掺杂对导电性影响</a:t>
            </a:r>
            <a:endParaRPr kumimoji="1" lang="zh-CN" altLang="en-US" dirty="0"/>
          </a:p>
        </p:txBody>
      </p:sp>
      <p:sp>
        <p:nvSpPr>
          <p:cNvPr id="3" name="内容占位符 2">
            <a:extLst>
              <a:ext uri="{FF2B5EF4-FFF2-40B4-BE49-F238E27FC236}">
                <a16:creationId xmlns:a16="http://schemas.microsoft.com/office/drawing/2014/main" id="{EEE05CA4-B9DA-5550-1471-A04F317C0011}"/>
              </a:ext>
            </a:extLst>
          </p:cNvPr>
          <p:cNvSpPr>
            <a:spLocks noGrp="1"/>
          </p:cNvSpPr>
          <p:nvPr>
            <p:ph idx="1"/>
          </p:nvPr>
        </p:nvSpPr>
        <p:spPr/>
        <p:txBody>
          <a:bodyPr/>
          <a:lstStyle/>
          <a:p>
            <a:r>
              <a:rPr lang="en-US" altLang="zh-CN" dirty="0"/>
              <a:t>T=300 K</a:t>
            </a:r>
            <a:r>
              <a:rPr lang="zh-CN" altLang="en-US" dirty="0"/>
              <a:t>室温下</a:t>
            </a:r>
            <a:r>
              <a:rPr lang="en-US" altLang="zh-CN" dirty="0"/>
              <a:t>,</a:t>
            </a:r>
            <a:r>
              <a:rPr lang="zh-CN" altLang="en-US" dirty="0"/>
              <a:t>本征硅的电子和空穴浓度</a:t>
            </a:r>
            <a:endParaRPr lang="en-US" altLang="zh-CN" dirty="0"/>
          </a:p>
          <a:p>
            <a:pPr lvl="1">
              <a:buFontTx/>
              <a:buNone/>
            </a:pPr>
            <a:r>
              <a:rPr kumimoji="1" lang="en-US" altLang="zh-CN" sz="2800" b="1" i="1" dirty="0">
                <a:solidFill>
                  <a:srgbClr val="FF3300"/>
                </a:solidFill>
                <a:ea typeface="楷体_GB2312" pitchFamily="49" charset="-122"/>
              </a:rPr>
              <a:t>    n </a:t>
            </a:r>
            <a:r>
              <a:rPr kumimoji="1" lang="en-US" altLang="zh-CN" sz="2800" b="1" dirty="0">
                <a:solidFill>
                  <a:srgbClr val="FF3300"/>
                </a:solidFill>
                <a:ea typeface="楷体_GB2312" pitchFamily="49" charset="-122"/>
              </a:rPr>
              <a:t>= </a:t>
            </a:r>
            <a:r>
              <a:rPr kumimoji="1" lang="en-US" altLang="zh-CN" sz="2800" b="1" i="1" dirty="0">
                <a:solidFill>
                  <a:srgbClr val="FF3300"/>
                </a:solidFill>
                <a:ea typeface="楷体_GB2312" pitchFamily="49" charset="-122"/>
              </a:rPr>
              <a:t>p </a:t>
            </a:r>
            <a:r>
              <a:rPr kumimoji="1" lang="en-US" altLang="zh-CN" sz="2800" b="1" dirty="0">
                <a:solidFill>
                  <a:srgbClr val="FF3300"/>
                </a:solidFill>
                <a:ea typeface="楷体_GB2312" pitchFamily="49" charset="-122"/>
              </a:rPr>
              <a:t>=1.4×10</a:t>
            </a:r>
            <a:r>
              <a:rPr kumimoji="1" lang="en-US" altLang="zh-CN" sz="2800" b="1" baseline="30000" dirty="0">
                <a:solidFill>
                  <a:srgbClr val="FF3300"/>
                </a:solidFill>
                <a:ea typeface="楷体_GB2312" pitchFamily="49" charset="-122"/>
              </a:rPr>
              <a:t>10</a:t>
            </a:r>
            <a:r>
              <a:rPr kumimoji="1" lang="en-US" altLang="zh-CN" sz="2800" b="1" dirty="0">
                <a:solidFill>
                  <a:srgbClr val="FF3300"/>
                </a:solidFill>
                <a:ea typeface="楷体_GB2312" pitchFamily="49" charset="-122"/>
              </a:rPr>
              <a:t>/cm</a:t>
            </a:r>
            <a:r>
              <a:rPr kumimoji="1" lang="en-US" altLang="zh-CN" sz="2800" b="1" baseline="30000" dirty="0">
                <a:solidFill>
                  <a:srgbClr val="FF3300"/>
                </a:solidFill>
                <a:ea typeface="楷体_GB2312" pitchFamily="49" charset="-122"/>
              </a:rPr>
              <a:t>3</a:t>
            </a:r>
            <a:endParaRPr lang="en-US" altLang="zh-CN" sz="2800" dirty="0"/>
          </a:p>
          <a:p>
            <a:r>
              <a:rPr lang="zh-CN" altLang="en-US" dirty="0"/>
              <a:t>掺杂后 </a:t>
            </a:r>
            <a:r>
              <a:rPr lang="en-US" altLang="zh-CN" dirty="0"/>
              <a:t>N </a:t>
            </a:r>
            <a:r>
              <a:rPr lang="zh-CN" altLang="en-US" dirty="0"/>
              <a:t>型半导体中的自由电子浓度</a:t>
            </a:r>
            <a:endParaRPr lang="en-US" altLang="zh-CN" dirty="0"/>
          </a:p>
          <a:p>
            <a:pPr lvl="1">
              <a:buFontTx/>
              <a:buNone/>
            </a:pPr>
            <a:r>
              <a:rPr kumimoji="1" lang="en-US" altLang="zh-CN" sz="2800" b="1" i="1" dirty="0">
                <a:solidFill>
                  <a:srgbClr val="FF00FF"/>
                </a:solidFill>
                <a:ea typeface="楷体_GB2312" pitchFamily="49" charset="-122"/>
              </a:rPr>
              <a:t>    n=</a:t>
            </a:r>
            <a:r>
              <a:rPr kumimoji="1" lang="en-US" altLang="zh-CN" sz="2800" b="1" dirty="0">
                <a:solidFill>
                  <a:srgbClr val="FF00FF"/>
                </a:solidFill>
                <a:ea typeface="楷体_GB2312" pitchFamily="49" charset="-122"/>
              </a:rPr>
              <a:t>5×10</a:t>
            </a:r>
            <a:r>
              <a:rPr kumimoji="1" lang="en-US" altLang="zh-CN" sz="2800" b="1" baseline="30000" dirty="0">
                <a:solidFill>
                  <a:srgbClr val="FF00FF"/>
                </a:solidFill>
                <a:ea typeface="楷体_GB2312" pitchFamily="49" charset="-122"/>
              </a:rPr>
              <a:t>16</a:t>
            </a:r>
            <a:r>
              <a:rPr kumimoji="1" lang="en-US" altLang="zh-CN" sz="2800" b="1" dirty="0">
                <a:solidFill>
                  <a:srgbClr val="FF00FF"/>
                </a:solidFill>
                <a:ea typeface="楷体_GB2312" pitchFamily="49" charset="-122"/>
              </a:rPr>
              <a:t>/cm</a:t>
            </a:r>
            <a:r>
              <a:rPr kumimoji="1" lang="en-US" altLang="zh-CN" sz="2800" b="1" baseline="30000" dirty="0">
                <a:solidFill>
                  <a:srgbClr val="FF00FF"/>
                </a:solidFill>
                <a:ea typeface="楷体_GB2312" pitchFamily="49" charset="-122"/>
              </a:rPr>
              <a:t>3</a:t>
            </a:r>
            <a:endParaRPr lang="en-US" altLang="zh-CN" sz="2800" dirty="0"/>
          </a:p>
          <a:p>
            <a:r>
              <a:rPr lang="zh-CN" altLang="en-US" dirty="0"/>
              <a:t>本征硅的原子浓度</a:t>
            </a:r>
            <a:endParaRPr lang="en-US" altLang="zh-CN" dirty="0"/>
          </a:p>
          <a:p>
            <a:pPr lvl="1">
              <a:buFontTx/>
              <a:buNone/>
            </a:pPr>
            <a:r>
              <a:rPr kumimoji="1" lang="en-US" altLang="zh-CN" sz="2800" dirty="0">
                <a:solidFill>
                  <a:srgbClr val="0000FF"/>
                </a:solidFill>
                <a:ea typeface="楷体_GB2312" pitchFamily="49" charset="-122"/>
              </a:rPr>
              <a:t>    4.96×10</a:t>
            </a:r>
            <a:r>
              <a:rPr kumimoji="1" lang="en-US" altLang="zh-CN" sz="2800" baseline="30000" dirty="0">
                <a:solidFill>
                  <a:srgbClr val="0000FF"/>
                </a:solidFill>
                <a:ea typeface="楷体_GB2312" pitchFamily="49" charset="-122"/>
              </a:rPr>
              <a:t>22</a:t>
            </a:r>
            <a:r>
              <a:rPr kumimoji="1" lang="en-US" altLang="zh-CN" sz="2800" dirty="0">
                <a:solidFill>
                  <a:srgbClr val="0000FF"/>
                </a:solidFill>
                <a:ea typeface="楷体_GB2312" pitchFamily="49" charset="-122"/>
              </a:rPr>
              <a:t>/cm</a:t>
            </a:r>
            <a:r>
              <a:rPr kumimoji="1" lang="en-US" altLang="zh-CN" sz="2800" baseline="30000" dirty="0">
                <a:solidFill>
                  <a:srgbClr val="0000FF"/>
                </a:solidFill>
                <a:ea typeface="楷体_GB2312" pitchFamily="49" charset="-122"/>
              </a:rPr>
              <a:t>3</a:t>
            </a:r>
          </a:p>
          <a:p>
            <a:endParaRPr lang="en-US" altLang="zh-CN" dirty="0"/>
          </a:p>
          <a:p>
            <a:r>
              <a:rPr lang="zh-CN" altLang="en-US" dirty="0"/>
              <a:t>以上三个浓度基本上依次相差</a:t>
            </a:r>
            <a:r>
              <a:rPr kumimoji="1" lang="en-US" altLang="zh-CN" dirty="0">
                <a:ea typeface="楷体_GB2312" pitchFamily="49" charset="-122"/>
              </a:rPr>
              <a:t>10</a:t>
            </a:r>
            <a:r>
              <a:rPr kumimoji="1" lang="en-US" altLang="zh-CN" baseline="30000" dirty="0">
                <a:ea typeface="楷体_GB2312" pitchFamily="49" charset="-122"/>
              </a:rPr>
              <a:t>6</a:t>
            </a:r>
            <a:r>
              <a:rPr kumimoji="1" lang="en-US" altLang="zh-CN" dirty="0">
                <a:ea typeface="楷体_GB2312" pitchFamily="49" charset="-122"/>
              </a:rPr>
              <a:t>/cm</a:t>
            </a:r>
            <a:r>
              <a:rPr kumimoji="1" lang="en-US" altLang="zh-CN" baseline="30000" dirty="0">
                <a:ea typeface="楷体_GB2312" pitchFamily="49" charset="-122"/>
              </a:rPr>
              <a:t>3</a:t>
            </a:r>
          </a:p>
          <a:p>
            <a:r>
              <a:rPr kumimoji="1" lang="zh-CN" altLang="en-US" dirty="0"/>
              <a:t>掺入百万分之一杂质后，导电能力提高了百万倍</a:t>
            </a:r>
          </a:p>
          <a:p>
            <a:r>
              <a:rPr kumimoji="1" lang="zh-CN" altLang="en-US" dirty="0"/>
              <a:t>虽然掺杂甚微，但其对导电性影响极大</a:t>
            </a:r>
          </a:p>
          <a:p>
            <a:endParaRPr kumimoji="1" lang="zh-CN" altLang="en-US" dirty="0"/>
          </a:p>
        </p:txBody>
      </p:sp>
      <p:sp>
        <p:nvSpPr>
          <p:cNvPr id="4" name="页脚占位符 3">
            <a:extLst>
              <a:ext uri="{FF2B5EF4-FFF2-40B4-BE49-F238E27FC236}">
                <a16:creationId xmlns:a16="http://schemas.microsoft.com/office/drawing/2014/main" id="{0277A8CE-FDC9-05F1-299C-111C81F6F591}"/>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1235A36B-4F6D-74FD-0D31-081CE1CF5A01}"/>
              </a:ext>
            </a:extLst>
          </p:cNvPr>
          <p:cNvSpPr>
            <a:spLocks noGrp="1"/>
          </p:cNvSpPr>
          <p:nvPr>
            <p:ph type="sldNum" sz="quarter" idx="12"/>
          </p:nvPr>
        </p:nvSpPr>
        <p:spPr/>
        <p:txBody>
          <a:bodyPr/>
          <a:lstStyle/>
          <a:p>
            <a:fld id="{9E260BC5-5BF3-8746-862B-DC45E9CAA88B}" type="slidenum">
              <a:rPr lang="en-US" smtClean="0"/>
              <a:pPr/>
              <a:t>10</a:t>
            </a:fld>
            <a:r>
              <a:rPr lang="en-US" altLang="zh-CN" dirty="0"/>
              <a:t>/33</a:t>
            </a:r>
            <a:endParaRPr lang="en-US" dirty="0"/>
          </a:p>
        </p:txBody>
      </p:sp>
    </p:spTree>
    <p:extLst>
      <p:ext uri="{BB962C8B-B14F-4D97-AF65-F5344CB8AC3E}">
        <p14:creationId xmlns:p14="http://schemas.microsoft.com/office/powerpoint/2010/main" val="3276143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46943C-6C1C-2ADB-7113-499CC05E45AE}"/>
              </a:ext>
            </a:extLst>
          </p:cNvPr>
          <p:cNvSpPr>
            <a:spLocks noGrp="1"/>
          </p:cNvSpPr>
          <p:nvPr>
            <p:ph type="title"/>
          </p:nvPr>
        </p:nvSpPr>
        <p:spPr/>
        <p:txBody>
          <a:bodyPr>
            <a:normAutofit fontScale="90000"/>
          </a:bodyPr>
          <a:lstStyle/>
          <a:p>
            <a:r>
              <a:rPr lang="en-US" altLang="zh-CN" dirty="0"/>
              <a:t>P</a:t>
            </a:r>
            <a:r>
              <a:rPr lang="zh-CN" altLang="en-US" dirty="0"/>
              <a:t>型半导体</a:t>
            </a:r>
            <a:endParaRPr kumimoji="1" lang="zh-CN" altLang="en-US" dirty="0"/>
          </a:p>
        </p:txBody>
      </p:sp>
      <p:sp>
        <p:nvSpPr>
          <p:cNvPr id="3" name="内容占位符 2">
            <a:extLst>
              <a:ext uri="{FF2B5EF4-FFF2-40B4-BE49-F238E27FC236}">
                <a16:creationId xmlns:a16="http://schemas.microsoft.com/office/drawing/2014/main" id="{7B180EE6-302A-04FF-4A24-72723B654CC1}"/>
              </a:ext>
            </a:extLst>
          </p:cNvPr>
          <p:cNvSpPr>
            <a:spLocks noGrp="1"/>
          </p:cNvSpPr>
          <p:nvPr>
            <p:ph idx="1"/>
          </p:nvPr>
        </p:nvSpPr>
        <p:spPr/>
        <p:txBody>
          <a:bodyPr/>
          <a:lstStyle/>
          <a:p>
            <a:r>
              <a:rPr lang="en-US" altLang="zh-CN" dirty="0"/>
              <a:t>P</a:t>
            </a:r>
            <a:r>
              <a:rPr lang="zh-CN" altLang="en-US" dirty="0"/>
              <a:t>型半导体：掺入三价元素的杂质半导体</a:t>
            </a:r>
          </a:p>
          <a:p>
            <a:pPr>
              <a:spcAft>
                <a:spcPct val="30000"/>
              </a:spcAft>
            </a:pPr>
            <a:endParaRPr lang="en-US" altLang="zh-CN" dirty="0"/>
          </a:p>
          <a:p>
            <a:pPr>
              <a:spcAft>
                <a:spcPct val="30000"/>
              </a:spcAft>
            </a:pPr>
            <a:r>
              <a:rPr lang="zh-CN" altLang="en-US" dirty="0"/>
              <a:t>空穴是多子</a:t>
            </a:r>
          </a:p>
          <a:p>
            <a:pPr lvl="1">
              <a:spcAft>
                <a:spcPct val="30000"/>
              </a:spcAft>
            </a:pPr>
            <a:r>
              <a:rPr lang="zh-CN" altLang="en-US" dirty="0"/>
              <a:t>每个杂质原子产生一个空穴</a:t>
            </a:r>
          </a:p>
          <a:p>
            <a:pPr lvl="1">
              <a:spcAft>
                <a:spcPct val="30000"/>
              </a:spcAft>
            </a:pPr>
            <a:r>
              <a:rPr lang="zh-CN" altLang="en-US" dirty="0"/>
              <a:t>浓度较掺杂前高得多</a:t>
            </a:r>
          </a:p>
          <a:p>
            <a:pPr>
              <a:spcAft>
                <a:spcPct val="30000"/>
              </a:spcAft>
            </a:pPr>
            <a:r>
              <a:rPr lang="zh-CN" altLang="en-US" dirty="0"/>
              <a:t>自由电子是少子</a:t>
            </a:r>
          </a:p>
          <a:p>
            <a:pPr lvl="1">
              <a:spcAft>
                <a:spcPct val="30000"/>
              </a:spcAft>
            </a:pPr>
            <a:r>
              <a:rPr lang="zh-CN" altLang="en-US" dirty="0"/>
              <a:t>由热激发产生</a:t>
            </a:r>
          </a:p>
          <a:p>
            <a:pPr lvl="1">
              <a:spcAft>
                <a:spcPct val="30000"/>
              </a:spcAft>
            </a:pPr>
            <a:r>
              <a:rPr lang="zh-CN" altLang="en-US" dirty="0"/>
              <a:t>浓度较掺杂前低得多</a:t>
            </a:r>
          </a:p>
          <a:p>
            <a:endParaRPr kumimoji="1" lang="zh-CN" altLang="en-US" dirty="0"/>
          </a:p>
        </p:txBody>
      </p:sp>
      <p:sp>
        <p:nvSpPr>
          <p:cNvPr id="4" name="页脚占位符 3">
            <a:extLst>
              <a:ext uri="{FF2B5EF4-FFF2-40B4-BE49-F238E27FC236}">
                <a16:creationId xmlns:a16="http://schemas.microsoft.com/office/drawing/2014/main" id="{95959541-30D2-05C1-5A20-2697398F9AAC}"/>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A2AACE75-5E62-3B2A-FED5-37320370582C}"/>
              </a:ext>
            </a:extLst>
          </p:cNvPr>
          <p:cNvSpPr>
            <a:spLocks noGrp="1"/>
          </p:cNvSpPr>
          <p:nvPr>
            <p:ph type="sldNum" sz="quarter" idx="12"/>
          </p:nvPr>
        </p:nvSpPr>
        <p:spPr/>
        <p:txBody>
          <a:bodyPr/>
          <a:lstStyle/>
          <a:p>
            <a:fld id="{9E260BC5-5BF3-8746-862B-DC45E9CAA88B}" type="slidenum">
              <a:rPr lang="en-US" smtClean="0"/>
              <a:pPr/>
              <a:t>11</a:t>
            </a:fld>
            <a:r>
              <a:rPr lang="en-US" altLang="zh-CN" dirty="0"/>
              <a:t>/33</a:t>
            </a:r>
            <a:endParaRPr lang="en-US" dirty="0"/>
          </a:p>
        </p:txBody>
      </p:sp>
      <p:pic>
        <p:nvPicPr>
          <p:cNvPr id="6" name="Picture 2">
            <a:extLst>
              <a:ext uri="{FF2B5EF4-FFF2-40B4-BE49-F238E27FC236}">
                <a16:creationId xmlns:a16="http://schemas.microsoft.com/office/drawing/2014/main" id="{638F2836-F458-CA5F-3CE7-418803E855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7568" y="1745726"/>
            <a:ext cx="2981325" cy="2838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7" name="Group 6">
            <a:extLst>
              <a:ext uri="{FF2B5EF4-FFF2-40B4-BE49-F238E27FC236}">
                <a16:creationId xmlns:a16="http://schemas.microsoft.com/office/drawing/2014/main" id="{792C254F-D5FE-9BF6-7D64-0681C02ECF45}"/>
              </a:ext>
            </a:extLst>
          </p:cNvPr>
          <p:cNvGrpSpPr>
            <a:grpSpLocks/>
          </p:cNvGrpSpPr>
          <p:nvPr/>
        </p:nvGrpSpPr>
        <p:grpSpPr bwMode="auto">
          <a:xfrm>
            <a:off x="7176931" y="2834751"/>
            <a:ext cx="444500" cy="534987"/>
            <a:chOff x="4148" y="2205"/>
            <a:chExt cx="280" cy="337"/>
          </a:xfrm>
        </p:grpSpPr>
        <p:grpSp>
          <p:nvGrpSpPr>
            <p:cNvPr id="8" name="Group 7">
              <a:extLst>
                <a:ext uri="{FF2B5EF4-FFF2-40B4-BE49-F238E27FC236}">
                  <a16:creationId xmlns:a16="http://schemas.microsoft.com/office/drawing/2014/main" id="{C62C5C31-C389-92D2-30A7-183FAC3FD281}"/>
                </a:ext>
              </a:extLst>
            </p:cNvPr>
            <p:cNvGrpSpPr>
              <a:grpSpLocks/>
            </p:cNvGrpSpPr>
            <p:nvPr/>
          </p:nvGrpSpPr>
          <p:grpSpPr bwMode="auto">
            <a:xfrm>
              <a:off x="4148" y="2311"/>
              <a:ext cx="280" cy="231"/>
              <a:chOff x="5376" y="2218"/>
              <a:chExt cx="280" cy="231"/>
            </a:xfrm>
          </p:grpSpPr>
          <p:sp>
            <p:nvSpPr>
              <p:cNvPr id="10" name="Oval 8">
                <a:extLst>
                  <a:ext uri="{FF2B5EF4-FFF2-40B4-BE49-F238E27FC236}">
                    <a16:creationId xmlns:a16="http://schemas.microsoft.com/office/drawing/2014/main" id="{7632FF4C-0F26-44F8-9CA1-48BF40ED014D}"/>
                  </a:ext>
                </a:extLst>
              </p:cNvPr>
              <p:cNvSpPr>
                <a:spLocks noChangeArrowheads="1"/>
              </p:cNvSpPr>
              <p:nvPr/>
            </p:nvSpPr>
            <p:spPr bwMode="auto">
              <a:xfrm>
                <a:off x="5444" y="2263"/>
                <a:ext cx="151" cy="151"/>
              </a:xfrm>
              <a:prstGeom prst="ellipse">
                <a:avLst/>
              </a:pr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1" name="Text Box 9">
                <a:extLst>
                  <a:ext uri="{FF2B5EF4-FFF2-40B4-BE49-F238E27FC236}">
                    <a16:creationId xmlns:a16="http://schemas.microsoft.com/office/drawing/2014/main" id="{2DE7B5A4-F140-29FF-EE06-DC981319340D}"/>
                  </a:ext>
                </a:extLst>
              </p:cNvPr>
              <p:cNvSpPr txBox="1">
                <a:spLocks noChangeArrowheads="1"/>
              </p:cNvSpPr>
              <p:nvPr/>
            </p:nvSpPr>
            <p:spPr bwMode="auto">
              <a:xfrm>
                <a:off x="5376" y="2218"/>
                <a:ext cx="280"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solidFill>
                      <a:srgbClr val="009900"/>
                    </a:solidFill>
                    <a:latin typeface="Arial" panose="020B0604020202020204" pitchFamily="34" charset="0"/>
                  </a:rPr>
                  <a:t>+3</a:t>
                </a:r>
              </a:p>
            </p:txBody>
          </p:sp>
        </p:grpSp>
        <p:sp>
          <p:nvSpPr>
            <p:cNvPr id="9" name="Oval 10">
              <a:extLst>
                <a:ext uri="{FF2B5EF4-FFF2-40B4-BE49-F238E27FC236}">
                  <a16:creationId xmlns:a16="http://schemas.microsoft.com/office/drawing/2014/main" id="{3DC1E2B2-2F89-8AED-5ACD-A59C314F2199}"/>
                </a:ext>
              </a:extLst>
            </p:cNvPr>
            <p:cNvSpPr>
              <a:spLocks noChangeArrowheads="1"/>
            </p:cNvSpPr>
            <p:nvPr/>
          </p:nvSpPr>
          <p:spPr bwMode="auto">
            <a:xfrm>
              <a:off x="4252" y="2205"/>
              <a:ext cx="77" cy="77"/>
            </a:xfrm>
            <a:prstGeom prst="ellipse">
              <a:avLst/>
            </a:prstGeom>
            <a:solidFill>
              <a:schemeClr val="bg1"/>
            </a:solidFill>
            <a:ln w="28575">
              <a:solidFill>
                <a:srgbClr val="FF3300"/>
              </a:solidFill>
              <a:round/>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12" name="Rectangle 11">
            <a:extLst>
              <a:ext uri="{FF2B5EF4-FFF2-40B4-BE49-F238E27FC236}">
                <a16:creationId xmlns:a16="http://schemas.microsoft.com/office/drawing/2014/main" id="{4223CA43-04CB-09E6-DFC8-83F914BDB361}"/>
              </a:ext>
            </a:extLst>
          </p:cNvPr>
          <p:cNvSpPr>
            <a:spLocks noChangeArrowheads="1"/>
          </p:cNvSpPr>
          <p:nvPr/>
        </p:nvSpPr>
        <p:spPr bwMode="auto">
          <a:xfrm>
            <a:off x="5778343" y="4887388"/>
            <a:ext cx="3527425" cy="885825"/>
          </a:xfrm>
          <a:prstGeom prst="rect">
            <a:avLst/>
          </a:prstGeom>
          <a:solidFill>
            <a:schemeClr val="accent1">
              <a:lumMod val="20000"/>
              <a:lumOff val="80000"/>
            </a:schemeClr>
          </a:solidFill>
          <a:ln w="28575">
            <a:solidFill>
              <a:schemeClr val="accent1">
                <a:lumMod val="50000"/>
              </a:schemeClr>
            </a:solidFill>
            <a:miter lim="800000"/>
            <a:headEnd/>
            <a:tailEnd/>
          </a:ln>
          <a:extLst>
            <a:ext uri="{909E8E84-426E-40dd-AFC4-6F175D3DCCD1}">
              <a14:hiddenFill xmlns="" xmlns:a14="http://schemas.microsoft.com/office/drawing/2010/main">
                <a:solidFill>
                  <a:srgbClr val="FFFFFF"/>
                </a:solidFill>
              </a14:hiddenFill>
            </a:ext>
          </a:extLst>
        </p:spPr>
        <p:txBody>
          <a:bodyPr wrap="none" t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b="0">
                <a:latin typeface="Microsoft YaHei" panose="020B0503020204020204" pitchFamily="34" charset="-122"/>
                <a:ea typeface="Microsoft YaHei" panose="020B0503020204020204" pitchFamily="34" charset="-122"/>
              </a:rPr>
              <a:t>因多子带正</a:t>
            </a:r>
            <a:r>
              <a:rPr lang="en-US" altLang="zh-CN" sz="2400" b="0">
                <a:latin typeface="Microsoft YaHei" panose="020B0503020204020204" pitchFamily="34" charset="-122"/>
                <a:ea typeface="Microsoft YaHei" panose="020B0503020204020204" pitchFamily="34" charset="-122"/>
              </a:rPr>
              <a:t>(Postive)</a:t>
            </a:r>
            <a:r>
              <a:rPr lang="zh-CN" altLang="en-US" sz="2400" b="0">
                <a:latin typeface="Microsoft YaHei" panose="020B0503020204020204" pitchFamily="34" charset="-122"/>
                <a:ea typeface="Microsoft YaHei" panose="020B0503020204020204" pitchFamily="34" charset="-122"/>
              </a:rPr>
              <a:t>电，</a:t>
            </a:r>
            <a:endParaRPr lang="en-US" altLang="zh-CN" sz="2400" b="0">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400" b="0">
                <a:latin typeface="Microsoft YaHei" panose="020B0503020204020204" pitchFamily="34" charset="-122"/>
                <a:ea typeface="Microsoft YaHei" panose="020B0503020204020204" pitchFamily="34" charset="-122"/>
              </a:rPr>
              <a:t>故称为</a:t>
            </a:r>
            <a:r>
              <a:rPr lang="en-US" altLang="zh-CN" sz="2400" b="0">
                <a:latin typeface="Microsoft YaHei" panose="020B0503020204020204" pitchFamily="34" charset="-122"/>
                <a:ea typeface="Microsoft YaHei" panose="020B0503020204020204" pitchFamily="34" charset="-122"/>
              </a:rPr>
              <a:t>P</a:t>
            </a:r>
            <a:r>
              <a:rPr lang="zh-CN" altLang="en-US" sz="2400" b="0">
                <a:latin typeface="Microsoft YaHei" panose="020B0503020204020204" pitchFamily="34" charset="-122"/>
                <a:ea typeface="Microsoft YaHei" panose="020B0503020204020204" pitchFamily="34" charset="-122"/>
              </a:rPr>
              <a:t>型半导体</a:t>
            </a:r>
          </a:p>
        </p:txBody>
      </p:sp>
    </p:spTree>
    <p:extLst>
      <p:ext uri="{BB962C8B-B14F-4D97-AF65-F5344CB8AC3E}">
        <p14:creationId xmlns:p14="http://schemas.microsoft.com/office/powerpoint/2010/main" val="4085795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4B7DE4-EF42-2201-DE63-91E6BBDFBD16}"/>
              </a:ext>
            </a:extLst>
          </p:cNvPr>
          <p:cNvSpPr>
            <a:spLocks noGrp="1"/>
          </p:cNvSpPr>
          <p:nvPr>
            <p:ph type="title"/>
          </p:nvPr>
        </p:nvSpPr>
        <p:spPr/>
        <p:txBody>
          <a:bodyPr>
            <a:normAutofit fontScale="90000"/>
          </a:bodyPr>
          <a:lstStyle/>
          <a:p>
            <a:r>
              <a:rPr lang="en-US" altLang="zh-CN" dirty="0"/>
              <a:t>PN</a:t>
            </a:r>
            <a:r>
              <a:rPr lang="zh-CN" altLang="en-US" dirty="0"/>
              <a:t>结的形成</a:t>
            </a:r>
            <a:endParaRPr kumimoji="1" lang="zh-CN" altLang="en-US" dirty="0"/>
          </a:p>
        </p:txBody>
      </p:sp>
      <p:sp>
        <p:nvSpPr>
          <p:cNvPr id="3" name="内容占位符 2">
            <a:extLst>
              <a:ext uri="{FF2B5EF4-FFF2-40B4-BE49-F238E27FC236}">
                <a16:creationId xmlns:a16="http://schemas.microsoft.com/office/drawing/2014/main" id="{B84AB4E3-DE51-5ED2-24D4-E739796CAA38}"/>
              </a:ext>
            </a:extLst>
          </p:cNvPr>
          <p:cNvSpPr>
            <a:spLocks noGrp="1"/>
          </p:cNvSpPr>
          <p:nvPr>
            <p:ph idx="1"/>
          </p:nvPr>
        </p:nvSpPr>
        <p:spPr>
          <a:xfrm>
            <a:off x="17780" y="585760"/>
            <a:ext cx="9381053" cy="5947119"/>
          </a:xfrm>
        </p:spPr>
        <p:txBody>
          <a:bodyPr/>
          <a:lstStyle/>
          <a:p>
            <a:r>
              <a:rPr kumimoji="1" lang="en-US" altLang="zh-CN" dirty="0"/>
              <a:t>PN</a:t>
            </a:r>
            <a:r>
              <a:rPr kumimoji="1" lang="zh-CN" altLang="en-US" dirty="0"/>
              <a:t>结：在紧邻制作的</a:t>
            </a:r>
            <a:r>
              <a:rPr kumimoji="1" lang="en-US" altLang="zh-CN" dirty="0"/>
              <a:t>P</a:t>
            </a:r>
            <a:r>
              <a:rPr kumimoji="1" lang="zh-CN" altLang="en-US" dirty="0"/>
              <a:t>型半导体和</a:t>
            </a:r>
            <a:r>
              <a:rPr kumimoji="1" lang="en-US" altLang="zh-CN" dirty="0"/>
              <a:t>N</a:t>
            </a:r>
            <a:r>
              <a:rPr kumimoji="1" lang="zh-CN" altLang="en-US" dirty="0"/>
              <a:t>型半导体的交界面，由于载流子的扩散运动和漂移运动所形成的空间电荷区</a:t>
            </a:r>
          </a:p>
          <a:p>
            <a:r>
              <a:rPr kumimoji="1" lang="zh-CN" altLang="en-US" dirty="0"/>
              <a:t>扩散运动：因浓度差引起的载流子的运动</a:t>
            </a:r>
          </a:p>
          <a:p>
            <a:r>
              <a:rPr kumimoji="1" lang="zh-CN" altLang="en-US" dirty="0"/>
              <a:t>漂移运动：在电场作用下引起的载流子的运动</a:t>
            </a:r>
            <a:endParaRPr kumimoji="1" lang="en-US" altLang="zh-CN" dirty="0"/>
          </a:p>
          <a:p>
            <a:endParaRPr kumimoji="1" lang="zh-CN" altLang="en-US" dirty="0"/>
          </a:p>
        </p:txBody>
      </p:sp>
      <p:sp>
        <p:nvSpPr>
          <p:cNvPr id="4" name="页脚占位符 3">
            <a:extLst>
              <a:ext uri="{FF2B5EF4-FFF2-40B4-BE49-F238E27FC236}">
                <a16:creationId xmlns:a16="http://schemas.microsoft.com/office/drawing/2014/main" id="{745F121B-5449-DB1F-DC9D-4BB5E9F5F3A8}"/>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A4AA5D50-17E4-C317-BF28-D43618159E56}"/>
              </a:ext>
            </a:extLst>
          </p:cNvPr>
          <p:cNvSpPr>
            <a:spLocks noGrp="1"/>
          </p:cNvSpPr>
          <p:nvPr>
            <p:ph type="sldNum" sz="quarter" idx="12"/>
          </p:nvPr>
        </p:nvSpPr>
        <p:spPr/>
        <p:txBody>
          <a:bodyPr/>
          <a:lstStyle/>
          <a:p>
            <a:fld id="{9E260BC5-5BF3-8746-862B-DC45E9CAA88B}" type="slidenum">
              <a:rPr lang="en-US" smtClean="0"/>
              <a:pPr/>
              <a:t>12</a:t>
            </a:fld>
            <a:r>
              <a:rPr lang="en-US" altLang="zh-CN" dirty="0"/>
              <a:t>/33</a:t>
            </a:r>
            <a:endParaRPr lang="en-US" dirty="0"/>
          </a:p>
        </p:txBody>
      </p:sp>
      <p:pic>
        <p:nvPicPr>
          <p:cNvPr id="6" name="Picture 4">
            <a:extLst>
              <a:ext uri="{FF2B5EF4-FFF2-40B4-BE49-F238E27FC236}">
                <a16:creationId xmlns:a16="http://schemas.microsoft.com/office/drawing/2014/main" id="{0AFEF89A-BB33-2ECB-9828-FB3CBD834D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4087" y="3897313"/>
            <a:ext cx="3746500" cy="1446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Text Box 5">
            <a:extLst>
              <a:ext uri="{FF2B5EF4-FFF2-40B4-BE49-F238E27FC236}">
                <a16:creationId xmlns:a16="http://schemas.microsoft.com/office/drawing/2014/main" id="{668629EE-9614-1C50-9A14-54DDFF85BC5A}"/>
              </a:ext>
            </a:extLst>
          </p:cNvPr>
          <p:cNvSpPr txBox="1">
            <a:spLocks noChangeArrowheads="1"/>
          </p:cNvSpPr>
          <p:nvPr/>
        </p:nvSpPr>
        <p:spPr bwMode="auto">
          <a:xfrm>
            <a:off x="1604962" y="3443288"/>
            <a:ext cx="6921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a:latin typeface="Arial" panose="020B0604020202020204" pitchFamily="34" charset="0"/>
              </a:rPr>
              <a:t>P</a:t>
            </a:r>
            <a:r>
              <a:rPr lang="zh-CN" altLang="en-US" sz="2400">
                <a:latin typeface="Arial" panose="020B0604020202020204" pitchFamily="34" charset="0"/>
              </a:rPr>
              <a:t>型</a:t>
            </a:r>
          </a:p>
        </p:txBody>
      </p:sp>
      <p:sp>
        <p:nvSpPr>
          <p:cNvPr id="8" name="Text Box 6">
            <a:extLst>
              <a:ext uri="{FF2B5EF4-FFF2-40B4-BE49-F238E27FC236}">
                <a16:creationId xmlns:a16="http://schemas.microsoft.com/office/drawing/2014/main" id="{32B038E3-4580-AF01-BEDA-0EF10BAF7055}"/>
              </a:ext>
            </a:extLst>
          </p:cNvPr>
          <p:cNvSpPr txBox="1">
            <a:spLocks noChangeArrowheads="1"/>
          </p:cNvSpPr>
          <p:nvPr/>
        </p:nvSpPr>
        <p:spPr bwMode="auto">
          <a:xfrm>
            <a:off x="3440112" y="3443288"/>
            <a:ext cx="7096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a:latin typeface="Arial" panose="020B0604020202020204" pitchFamily="34" charset="0"/>
              </a:rPr>
              <a:t>N</a:t>
            </a:r>
            <a:r>
              <a:rPr lang="zh-CN" altLang="en-US" sz="2400">
                <a:latin typeface="Arial" panose="020B0604020202020204" pitchFamily="34" charset="0"/>
              </a:rPr>
              <a:t>型</a:t>
            </a:r>
          </a:p>
        </p:txBody>
      </p:sp>
      <p:grpSp>
        <p:nvGrpSpPr>
          <p:cNvPr id="9" name="Group 7">
            <a:extLst>
              <a:ext uri="{FF2B5EF4-FFF2-40B4-BE49-F238E27FC236}">
                <a16:creationId xmlns:a16="http://schemas.microsoft.com/office/drawing/2014/main" id="{24356116-37F2-F37B-22BC-539BFC383BE8}"/>
              </a:ext>
            </a:extLst>
          </p:cNvPr>
          <p:cNvGrpSpPr>
            <a:grpSpLocks/>
          </p:cNvGrpSpPr>
          <p:nvPr/>
        </p:nvGrpSpPr>
        <p:grpSpPr bwMode="auto">
          <a:xfrm>
            <a:off x="4953000" y="3429000"/>
            <a:ext cx="3743325" cy="1908175"/>
            <a:chOff x="2971" y="1502"/>
            <a:chExt cx="2358" cy="1202"/>
          </a:xfrm>
        </p:grpSpPr>
        <p:sp>
          <p:nvSpPr>
            <p:cNvPr id="10" name="Text Box 8">
              <a:extLst>
                <a:ext uri="{FF2B5EF4-FFF2-40B4-BE49-F238E27FC236}">
                  <a16:creationId xmlns:a16="http://schemas.microsoft.com/office/drawing/2014/main" id="{FA3A415B-601D-E0A0-7D51-7162B3CD92D9}"/>
                </a:ext>
              </a:extLst>
            </p:cNvPr>
            <p:cNvSpPr txBox="1">
              <a:spLocks noChangeArrowheads="1"/>
            </p:cNvSpPr>
            <p:nvPr/>
          </p:nvSpPr>
          <p:spPr bwMode="auto">
            <a:xfrm>
              <a:off x="3610" y="1502"/>
              <a:ext cx="1106"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dirty="0">
                  <a:solidFill>
                    <a:srgbClr val="0070C0"/>
                  </a:solidFill>
                  <a:latin typeface="Microsoft YaHei" panose="020B0503020204020204" pitchFamily="34" charset="-122"/>
                  <a:ea typeface="Microsoft YaHei" panose="020B0503020204020204" pitchFamily="34" charset="-122"/>
                </a:rPr>
                <a:t>空间电荷区</a:t>
              </a:r>
              <a:endParaRPr lang="en-US" altLang="zh-CN" sz="2400" dirty="0">
                <a:solidFill>
                  <a:srgbClr val="0070C0"/>
                </a:solidFill>
                <a:latin typeface="Microsoft YaHei" panose="020B0503020204020204" pitchFamily="34" charset="-122"/>
                <a:ea typeface="Microsoft YaHei" panose="020B0503020204020204" pitchFamily="34" charset="-122"/>
              </a:endParaRPr>
            </a:p>
          </p:txBody>
        </p:sp>
        <p:sp>
          <p:nvSpPr>
            <p:cNvPr id="11" name="Text Box 9">
              <a:extLst>
                <a:ext uri="{FF2B5EF4-FFF2-40B4-BE49-F238E27FC236}">
                  <a16:creationId xmlns:a16="http://schemas.microsoft.com/office/drawing/2014/main" id="{57FF90FD-AFCA-CD52-7743-A7E6986D521E}"/>
                </a:ext>
              </a:extLst>
            </p:cNvPr>
            <p:cNvSpPr txBox="1">
              <a:spLocks noChangeArrowheads="1"/>
            </p:cNvSpPr>
            <p:nvPr/>
          </p:nvSpPr>
          <p:spPr bwMode="auto">
            <a:xfrm>
              <a:off x="3152" y="1511"/>
              <a:ext cx="436"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a:latin typeface="Arial" panose="020B0604020202020204" pitchFamily="34" charset="0"/>
                </a:rPr>
                <a:t>P</a:t>
              </a:r>
              <a:r>
                <a:rPr lang="zh-CN" altLang="en-US" sz="2400">
                  <a:latin typeface="Arial" panose="020B0604020202020204" pitchFamily="34" charset="0"/>
                </a:rPr>
                <a:t>型</a:t>
              </a:r>
            </a:p>
          </p:txBody>
        </p:sp>
        <p:sp>
          <p:nvSpPr>
            <p:cNvPr id="12" name="Text Box 10">
              <a:extLst>
                <a:ext uri="{FF2B5EF4-FFF2-40B4-BE49-F238E27FC236}">
                  <a16:creationId xmlns:a16="http://schemas.microsoft.com/office/drawing/2014/main" id="{527511F1-65BA-5BB6-55F2-F786FE6BD010}"/>
                </a:ext>
              </a:extLst>
            </p:cNvPr>
            <p:cNvSpPr txBox="1">
              <a:spLocks noChangeArrowheads="1"/>
            </p:cNvSpPr>
            <p:nvPr/>
          </p:nvSpPr>
          <p:spPr bwMode="auto">
            <a:xfrm>
              <a:off x="4762" y="1511"/>
              <a:ext cx="447"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a:latin typeface="Arial" panose="020B0604020202020204" pitchFamily="34" charset="0"/>
                </a:rPr>
                <a:t>N</a:t>
              </a:r>
              <a:r>
                <a:rPr lang="zh-CN" altLang="en-US" sz="2400">
                  <a:latin typeface="Arial" panose="020B0604020202020204" pitchFamily="34" charset="0"/>
                </a:rPr>
                <a:t>型</a:t>
              </a:r>
            </a:p>
          </p:txBody>
        </p:sp>
        <p:pic>
          <p:nvPicPr>
            <p:cNvPr id="13" name="Picture 11">
              <a:extLst>
                <a:ext uri="{FF2B5EF4-FFF2-40B4-BE49-F238E27FC236}">
                  <a16:creationId xmlns:a16="http://schemas.microsoft.com/office/drawing/2014/main" id="{43C2AD3C-A3C2-4765-A194-57C40FB30E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 y="1817"/>
              <a:ext cx="2358" cy="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97761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BE2CB9-5FEC-55F4-117C-8242F5F65F2F}"/>
              </a:ext>
            </a:extLst>
          </p:cNvPr>
          <p:cNvSpPr>
            <a:spLocks noGrp="1"/>
          </p:cNvSpPr>
          <p:nvPr>
            <p:ph type="title"/>
          </p:nvPr>
        </p:nvSpPr>
        <p:spPr/>
        <p:txBody>
          <a:bodyPr>
            <a:normAutofit fontScale="90000"/>
          </a:bodyPr>
          <a:lstStyle/>
          <a:p>
            <a:r>
              <a:rPr lang="en-US" altLang="zh-CN" dirty="0"/>
              <a:t>PN</a:t>
            </a:r>
            <a:r>
              <a:rPr lang="zh-CN" altLang="en-US" dirty="0"/>
              <a:t>结单向导电性</a:t>
            </a:r>
            <a:endParaRPr kumimoji="1" lang="zh-CN" altLang="en-US" dirty="0"/>
          </a:p>
        </p:txBody>
      </p:sp>
      <p:sp>
        <p:nvSpPr>
          <p:cNvPr id="3" name="内容占位符 2">
            <a:extLst>
              <a:ext uri="{FF2B5EF4-FFF2-40B4-BE49-F238E27FC236}">
                <a16:creationId xmlns:a16="http://schemas.microsoft.com/office/drawing/2014/main" id="{B12CBEFF-22A2-B384-EC6C-614DB33435C1}"/>
              </a:ext>
            </a:extLst>
          </p:cNvPr>
          <p:cNvSpPr>
            <a:spLocks noGrp="1"/>
          </p:cNvSpPr>
          <p:nvPr>
            <p:ph idx="1"/>
          </p:nvPr>
        </p:nvSpPr>
        <p:spPr/>
        <p:txBody>
          <a:bodyPr/>
          <a:lstStyle/>
          <a:p>
            <a:r>
              <a:rPr lang="zh-CN" altLang="en-US" dirty="0"/>
              <a:t>加正向电压</a:t>
            </a:r>
            <a:r>
              <a:rPr lang="en-US" altLang="zh-CN" dirty="0"/>
              <a:t>(</a:t>
            </a:r>
            <a:r>
              <a:rPr lang="zh-CN" altLang="en-US" dirty="0"/>
              <a:t>正偏</a:t>
            </a:r>
            <a:r>
              <a:rPr lang="en-US" altLang="zh-CN" dirty="0"/>
              <a:t>)</a:t>
            </a:r>
          </a:p>
          <a:p>
            <a:pPr lvl="1"/>
            <a:r>
              <a:rPr lang="en-US" altLang="zh-CN" dirty="0"/>
              <a:t>P +</a:t>
            </a:r>
            <a:r>
              <a:rPr lang="zh-CN" altLang="en-US" dirty="0"/>
              <a:t>，</a:t>
            </a:r>
            <a:r>
              <a:rPr lang="en-US" altLang="zh-CN" dirty="0"/>
              <a:t>N –</a:t>
            </a:r>
          </a:p>
          <a:p>
            <a:pPr lvl="1"/>
            <a:r>
              <a:rPr lang="zh-CN" altLang="en-US" dirty="0"/>
              <a:t>具有较大的正向扩散电流</a:t>
            </a:r>
          </a:p>
          <a:p>
            <a:pPr lvl="1"/>
            <a:r>
              <a:rPr lang="zh-CN" altLang="en-US" dirty="0"/>
              <a:t>呈现低电阻，导通</a:t>
            </a:r>
          </a:p>
          <a:p>
            <a:pPr lvl="1"/>
            <a:endParaRPr lang="zh-CN" altLang="en-US" sz="1400" dirty="0"/>
          </a:p>
          <a:p>
            <a:r>
              <a:rPr lang="zh-CN" altLang="en-US" dirty="0"/>
              <a:t>加反向电压</a:t>
            </a:r>
            <a:r>
              <a:rPr lang="en-US" altLang="zh-CN" dirty="0"/>
              <a:t>(</a:t>
            </a:r>
            <a:r>
              <a:rPr lang="zh-CN" altLang="en-US" dirty="0"/>
              <a:t>反偏</a:t>
            </a:r>
            <a:r>
              <a:rPr lang="en-US" altLang="zh-CN" dirty="0"/>
              <a:t>)</a:t>
            </a:r>
          </a:p>
          <a:p>
            <a:pPr lvl="1"/>
            <a:r>
              <a:rPr lang="en-US" altLang="zh-CN" dirty="0"/>
              <a:t>P – </a:t>
            </a:r>
            <a:r>
              <a:rPr lang="zh-CN" altLang="en-US" dirty="0"/>
              <a:t>，</a:t>
            </a:r>
            <a:r>
              <a:rPr lang="en-US" altLang="zh-CN" dirty="0"/>
              <a:t>N +</a:t>
            </a:r>
            <a:endParaRPr lang="zh-CN" altLang="en-US" dirty="0"/>
          </a:p>
          <a:p>
            <a:pPr lvl="1"/>
            <a:r>
              <a:rPr lang="zh-CN" altLang="en-US" dirty="0"/>
              <a:t>具有很小的反向漂移电流</a:t>
            </a:r>
          </a:p>
          <a:p>
            <a:pPr lvl="1"/>
            <a:r>
              <a:rPr lang="zh-CN" altLang="en-US" dirty="0"/>
              <a:t>呈现高电阻，截止</a:t>
            </a:r>
            <a:endParaRPr kumimoji="1" lang="zh-CN" altLang="en-US" dirty="0"/>
          </a:p>
        </p:txBody>
      </p:sp>
      <p:sp>
        <p:nvSpPr>
          <p:cNvPr id="4" name="页脚占位符 3">
            <a:extLst>
              <a:ext uri="{FF2B5EF4-FFF2-40B4-BE49-F238E27FC236}">
                <a16:creationId xmlns:a16="http://schemas.microsoft.com/office/drawing/2014/main" id="{80F944FA-B1E7-BBAA-65B3-86BB8076800E}"/>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B8CC82A6-FEB6-66CD-6C8F-0E5CC07AEB73}"/>
              </a:ext>
            </a:extLst>
          </p:cNvPr>
          <p:cNvSpPr>
            <a:spLocks noGrp="1"/>
          </p:cNvSpPr>
          <p:nvPr>
            <p:ph type="sldNum" sz="quarter" idx="12"/>
          </p:nvPr>
        </p:nvSpPr>
        <p:spPr/>
        <p:txBody>
          <a:bodyPr/>
          <a:lstStyle/>
          <a:p>
            <a:fld id="{9E260BC5-5BF3-8746-862B-DC45E9CAA88B}" type="slidenum">
              <a:rPr lang="en-US" smtClean="0"/>
              <a:pPr/>
              <a:t>13</a:t>
            </a:fld>
            <a:r>
              <a:rPr lang="en-US" altLang="zh-CN" dirty="0"/>
              <a:t>/33</a:t>
            </a:r>
            <a:endParaRPr lang="en-US" dirty="0"/>
          </a:p>
        </p:txBody>
      </p:sp>
      <p:pic>
        <p:nvPicPr>
          <p:cNvPr id="6" name="Picture 2">
            <a:extLst>
              <a:ext uri="{FF2B5EF4-FFF2-40B4-BE49-F238E27FC236}">
                <a16:creationId xmlns:a16="http://schemas.microsoft.com/office/drawing/2014/main" id="{319DFCBC-67BD-EA39-6210-670CE81A91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9498" y="912760"/>
            <a:ext cx="3421063" cy="149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5B38C37B-E104-C591-1097-B25C9406C7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9498" y="920697"/>
            <a:ext cx="3427413" cy="1503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8" name="Group 6">
            <a:extLst>
              <a:ext uri="{FF2B5EF4-FFF2-40B4-BE49-F238E27FC236}">
                <a16:creationId xmlns:a16="http://schemas.microsoft.com/office/drawing/2014/main" id="{E49A1E4D-6BD6-673A-F884-49788F9B67D4}"/>
              </a:ext>
            </a:extLst>
          </p:cNvPr>
          <p:cNvGrpSpPr>
            <a:grpSpLocks/>
          </p:cNvGrpSpPr>
          <p:nvPr/>
        </p:nvGrpSpPr>
        <p:grpSpPr bwMode="auto">
          <a:xfrm>
            <a:off x="5082161" y="1668410"/>
            <a:ext cx="4032250" cy="1439862"/>
            <a:chOff x="2767" y="1457"/>
            <a:chExt cx="2540" cy="907"/>
          </a:xfrm>
        </p:grpSpPr>
        <p:grpSp>
          <p:nvGrpSpPr>
            <p:cNvPr id="9" name="Group 7">
              <a:extLst>
                <a:ext uri="{FF2B5EF4-FFF2-40B4-BE49-F238E27FC236}">
                  <a16:creationId xmlns:a16="http://schemas.microsoft.com/office/drawing/2014/main" id="{8D6AF10D-9ACE-FB4B-4571-77697208AAF9}"/>
                </a:ext>
              </a:extLst>
            </p:cNvPr>
            <p:cNvGrpSpPr>
              <a:grpSpLocks/>
            </p:cNvGrpSpPr>
            <p:nvPr/>
          </p:nvGrpSpPr>
          <p:grpSpPr bwMode="auto">
            <a:xfrm>
              <a:off x="3640" y="2092"/>
              <a:ext cx="81" cy="272"/>
              <a:chOff x="725" y="2183"/>
              <a:chExt cx="68" cy="226"/>
            </a:xfrm>
          </p:grpSpPr>
          <p:sp>
            <p:nvSpPr>
              <p:cNvPr id="22" name="Line 8">
                <a:extLst>
                  <a:ext uri="{FF2B5EF4-FFF2-40B4-BE49-F238E27FC236}">
                    <a16:creationId xmlns:a16="http://schemas.microsoft.com/office/drawing/2014/main" id="{A57659B3-6046-B74E-5F6C-7CFC7DCA0FE6}"/>
                  </a:ext>
                </a:extLst>
              </p:cNvPr>
              <p:cNvSpPr>
                <a:spLocks noChangeShapeType="1"/>
              </p:cNvSpPr>
              <p:nvPr/>
            </p:nvSpPr>
            <p:spPr bwMode="auto">
              <a:xfrm>
                <a:off x="725" y="2183"/>
                <a:ext cx="0" cy="226"/>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3" name="Line 9">
                <a:extLst>
                  <a:ext uri="{FF2B5EF4-FFF2-40B4-BE49-F238E27FC236}">
                    <a16:creationId xmlns:a16="http://schemas.microsoft.com/office/drawing/2014/main" id="{91376B95-CABD-6F29-D11A-4633F0C4C7AF}"/>
                  </a:ext>
                </a:extLst>
              </p:cNvPr>
              <p:cNvSpPr>
                <a:spLocks noChangeShapeType="1"/>
              </p:cNvSpPr>
              <p:nvPr/>
            </p:nvSpPr>
            <p:spPr bwMode="auto">
              <a:xfrm>
                <a:off x="793" y="2228"/>
                <a:ext cx="0" cy="136"/>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
          <p:nvSpPr>
            <p:cNvPr id="10" name="Line 10">
              <a:extLst>
                <a:ext uri="{FF2B5EF4-FFF2-40B4-BE49-F238E27FC236}">
                  <a16:creationId xmlns:a16="http://schemas.microsoft.com/office/drawing/2014/main" id="{FF9B1833-218D-DD70-4FD0-360B225AA02B}"/>
                </a:ext>
              </a:extLst>
            </p:cNvPr>
            <p:cNvSpPr>
              <a:spLocks noChangeShapeType="1"/>
            </p:cNvSpPr>
            <p:nvPr/>
          </p:nvSpPr>
          <p:spPr bwMode="auto">
            <a:xfrm>
              <a:off x="3720" y="2228"/>
              <a:ext cx="1587"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1" name="Line 11">
              <a:extLst>
                <a:ext uri="{FF2B5EF4-FFF2-40B4-BE49-F238E27FC236}">
                  <a16:creationId xmlns:a16="http://schemas.microsoft.com/office/drawing/2014/main" id="{DAC28D77-2136-5BF9-05D8-88C7165744C2}"/>
                </a:ext>
              </a:extLst>
            </p:cNvPr>
            <p:cNvSpPr>
              <a:spLocks noChangeShapeType="1"/>
            </p:cNvSpPr>
            <p:nvPr/>
          </p:nvSpPr>
          <p:spPr bwMode="auto">
            <a:xfrm>
              <a:off x="2767" y="2228"/>
              <a:ext cx="885"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2" name="Line 12">
              <a:extLst>
                <a:ext uri="{FF2B5EF4-FFF2-40B4-BE49-F238E27FC236}">
                  <a16:creationId xmlns:a16="http://schemas.microsoft.com/office/drawing/2014/main" id="{75D36332-34BA-B98E-B100-7CE165353639}"/>
                </a:ext>
              </a:extLst>
            </p:cNvPr>
            <p:cNvSpPr>
              <a:spLocks noChangeShapeType="1"/>
            </p:cNvSpPr>
            <p:nvPr/>
          </p:nvSpPr>
          <p:spPr bwMode="auto">
            <a:xfrm>
              <a:off x="2767" y="1457"/>
              <a:ext cx="0" cy="771"/>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3" name="Line 13">
              <a:extLst>
                <a:ext uri="{FF2B5EF4-FFF2-40B4-BE49-F238E27FC236}">
                  <a16:creationId xmlns:a16="http://schemas.microsoft.com/office/drawing/2014/main" id="{D8175BB0-556D-AB61-93F1-115A70CA0E41}"/>
                </a:ext>
              </a:extLst>
            </p:cNvPr>
            <p:cNvSpPr>
              <a:spLocks noChangeShapeType="1"/>
            </p:cNvSpPr>
            <p:nvPr/>
          </p:nvSpPr>
          <p:spPr bwMode="auto">
            <a:xfrm>
              <a:off x="2767" y="1457"/>
              <a:ext cx="20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 name="Line 14">
              <a:extLst>
                <a:ext uri="{FF2B5EF4-FFF2-40B4-BE49-F238E27FC236}">
                  <a16:creationId xmlns:a16="http://schemas.microsoft.com/office/drawing/2014/main" id="{80F38E17-D23D-C3B4-EE17-86EF01B6E1F5}"/>
                </a:ext>
              </a:extLst>
            </p:cNvPr>
            <p:cNvSpPr>
              <a:spLocks noChangeShapeType="1"/>
            </p:cNvSpPr>
            <p:nvPr/>
          </p:nvSpPr>
          <p:spPr bwMode="auto">
            <a:xfrm>
              <a:off x="5307" y="1457"/>
              <a:ext cx="0" cy="771"/>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 name="Line 15">
              <a:extLst>
                <a:ext uri="{FF2B5EF4-FFF2-40B4-BE49-F238E27FC236}">
                  <a16:creationId xmlns:a16="http://schemas.microsoft.com/office/drawing/2014/main" id="{654A1B33-008F-FDBC-1104-1CE8CFFD9381}"/>
                </a:ext>
              </a:extLst>
            </p:cNvPr>
            <p:cNvSpPr>
              <a:spLocks noChangeShapeType="1"/>
            </p:cNvSpPr>
            <p:nvPr/>
          </p:nvSpPr>
          <p:spPr bwMode="auto">
            <a:xfrm>
              <a:off x="5103" y="1457"/>
              <a:ext cx="20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6" name="Text Box 16">
              <a:extLst>
                <a:ext uri="{FF2B5EF4-FFF2-40B4-BE49-F238E27FC236}">
                  <a16:creationId xmlns:a16="http://schemas.microsoft.com/office/drawing/2014/main" id="{34D0C436-F041-DE4C-26C1-29571C1576C7}"/>
                </a:ext>
              </a:extLst>
            </p:cNvPr>
            <p:cNvSpPr txBox="1">
              <a:spLocks noChangeArrowheads="1"/>
            </p:cNvSpPr>
            <p:nvPr/>
          </p:nvSpPr>
          <p:spPr bwMode="auto">
            <a:xfrm>
              <a:off x="3117" y="1933"/>
              <a:ext cx="160"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i="1"/>
                <a:t>i</a:t>
              </a:r>
            </a:p>
          </p:txBody>
        </p:sp>
        <p:sp>
          <p:nvSpPr>
            <p:cNvPr id="17" name="Text Box 17">
              <a:extLst>
                <a:ext uri="{FF2B5EF4-FFF2-40B4-BE49-F238E27FC236}">
                  <a16:creationId xmlns:a16="http://schemas.microsoft.com/office/drawing/2014/main" id="{523FCD46-68D0-CE4A-113B-C9C5282AEA95}"/>
                </a:ext>
              </a:extLst>
            </p:cNvPr>
            <p:cNvSpPr txBox="1">
              <a:spLocks noChangeArrowheads="1"/>
            </p:cNvSpPr>
            <p:nvPr/>
          </p:nvSpPr>
          <p:spPr bwMode="auto">
            <a:xfrm>
              <a:off x="3769" y="1956"/>
              <a:ext cx="232"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a:t>V</a:t>
              </a:r>
            </a:p>
          </p:txBody>
        </p:sp>
        <p:grpSp>
          <p:nvGrpSpPr>
            <p:cNvPr id="18" name="Group 18">
              <a:extLst>
                <a:ext uri="{FF2B5EF4-FFF2-40B4-BE49-F238E27FC236}">
                  <a16:creationId xmlns:a16="http://schemas.microsoft.com/office/drawing/2014/main" id="{D701B114-3E2D-8D1D-FAE5-897CD68727B4}"/>
                </a:ext>
              </a:extLst>
            </p:cNvPr>
            <p:cNvGrpSpPr>
              <a:grpSpLocks/>
            </p:cNvGrpSpPr>
            <p:nvPr/>
          </p:nvGrpSpPr>
          <p:grpSpPr bwMode="auto">
            <a:xfrm>
              <a:off x="4401" y="1933"/>
              <a:ext cx="294" cy="347"/>
              <a:chOff x="1906" y="1978"/>
              <a:chExt cx="294" cy="347"/>
            </a:xfrm>
          </p:grpSpPr>
          <p:sp>
            <p:nvSpPr>
              <p:cNvPr id="20" name="Rectangle 19">
                <a:extLst>
                  <a:ext uri="{FF2B5EF4-FFF2-40B4-BE49-F238E27FC236}">
                    <a16:creationId xmlns:a16="http://schemas.microsoft.com/office/drawing/2014/main" id="{B04094F5-A83B-2FDB-1EE9-2C5258A062A3}"/>
                  </a:ext>
                </a:extLst>
              </p:cNvPr>
              <p:cNvSpPr>
                <a:spLocks noChangeArrowheads="1"/>
              </p:cNvSpPr>
              <p:nvPr/>
            </p:nvSpPr>
            <p:spPr bwMode="auto">
              <a:xfrm>
                <a:off x="1906" y="2228"/>
                <a:ext cx="294" cy="97"/>
              </a:xfrm>
              <a:prstGeom prst="rect">
                <a:avLst/>
              </a:prstGeom>
              <a:solidFill>
                <a:schemeClr val="bg1"/>
              </a:solidFill>
              <a:ln w="38100">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1" name="Text Box 20">
                <a:extLst>
                  <a:ext uri="{FF2B5EF4-FFF2-40B4-BE49-F238E27FC236}">
                    <a16:creationId xmlns:a16="http://schemas.microsoft.com/office/drawing/2014/main" id="{221C4E3C-8B68-94B4-8BD2-D0310436BCC1}"/>
                  </a:ext>
                </a:extLst>
              </p:cNvPr>
              <p:cNvSpPr txBox="1">
                <a:spLocks noChangeArrowheads="1"/>
              </p:cNvSpPr>
              <p:nvPr/>
            </p:nvSpPr>
            <p:spPr bwMode="auto">
              <a:xfrm>
                <a:off x="1927" y="1978"/>
                <a:ext cx="250"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i="1"/>
                  <a:t>R</a:t>
                </a:r>
              </a:p>
            </p:txBody>
          </p:sp>
        </p:grpSp>
        <p:sp>
          <p:nvSpPr>
            <p:cNvPr id="19" name="Line 21">
              <a:extLst>
                <a:ext uri="{FF2B5EF4-FFF2-40B4-BE49-F238E27FC236}">
                  <a16:creationId xmlns:a16="http://schemas.microsoft.com/office/drawing/2014/main" id="{64780788-E92E-1739-A147-3F4E58F8CB5A}"/>
                </a:ext>
              </a:extLst>
            </p:cNvPr>
            <p:cNvSpPr>
              <a:spLocks noChangeShapeType="1"/>
            </p:cNvSpPr>
            <p:nvPr/>
          </p:nvSpPr>
          <p:spPr bwMode="auto">
            <a:xfrm flipH="1">
              <a:off x="2994" y="2160"/>
              <a:ext cx="363" cy="0"/>
            </a:xfrm>
            <a:prstGeom prst="line">
              <a:avLst/>
            </a:prstGeom>
            <a:noFill/>
            <a:ln w="19050">
              <a:solidFill>
                <a:schemeClr val="tx1"/>
              </a:solidFill>
              <a:round/>
              <a:headEnd/>
              <a:tailEnd type="triangle" w="med" len="lg"/>
            </a:ln>
            <a:extLst>
              <a:ext uri="{909E8E84-426E-40dd-AFC4-6F175D3DCCD1}">
                <a14:hiddenFill xmlns="" xmlns:a14="http://schemas.microsoft.com/office/drawing/2010/main">
                  <a:noFill/>
                </a14:hiddenFill>
              </a:ext>
            </a:extLst>
          </p:spPr>
          <p:txBody>
            <a:bodyPr/>
            <a:lstStyle/>
            <a:p>
              <a:endParaRPr lang="zh-CN" altLang="en-US"/>
            </a:p>
          </p:txBody>
        </p:sp>
      </p:grpSp>
      <p:sp>
        <p:nvSpPr>
          <p:cNvPr id="24" name="Text Box 22">
            <a:extLst>
              <a:ext uri="{FF2B5EF4-FFF2-40B4-BE49-F238E27FC236}">
                <a16:creationId xmlns:a16="http://schemas.microsoft.com/office/drawing/2014/main" id="{58DF5385-89B2-317E-851B-61120F1B7DB1}"/>
              </a:ext>
            </a:extLst>
          </p:cNvPr>
          <p:cNvSpPr txBox="1">
            <a:spLocks noChangeArrowheads="1"/>
          </p:cNvSpPr>
          <p:nvPr/>
        </p:nvSpPr>
        <p:spPr bwMode="auto">
          <a:xfrm>
            <a:off x="5585398" y="1401710"/>
            <a:ext cx="401638"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a:t>P</a:t>
            </a:r>
          </a:p>
        </p:txBody>
      </p:sp>
      <p:sp>
        <p:nvSpPr>
          <p:cNvPr id="25" name="Text Box 23">
            <a:extLst>
              <a:ext uri="{FF2B5EF4-FFF2-40B4-BE49-F238E27FC236}">
                <a16:creationId xmlns:a16="http://schemas.microsoft.com/office/drawing/2014/main" id="{7FF65164-1E3D-7A5F-04FA-D27E291E51C2}"/>
              </a:ext>
            </a:extLst>
          </p:cNvPr>
          <p:cNvSpPr txBox="1">
            <a:spLocks noChangeArrowheads="1"/>
          </p:cNvSpPr>
          <p:nvPr/>
        </p:nvSpPr>
        <p:spPr bwMode="auto">
          <a:xfrm>
            <a:off x="8157148" y="1401710"/>
            <a:ext cx="441325"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a:t>N</a:t>
            </a:r>
          </a:p>
        </p:txBody>
      </p:sp>
      <p:grpSp>
        <p:nvGrpSpPr>
          <p:cNvPr id="26" name="Group 24">
            <a:extLst>
              <a:ext uri="{FF2B5EF4-FFF2-40B4-BE49-F238E27FC236}">
                <a16:creationId xmlns:a16="http://schemas.microsoft.com/office/drawing/2014/main" id="{522C03C9-78D2-618D-E138-ECAB30A3743F}"/>
              </a:ext>
            </a:extLst>
          </p:cNvPr>
          <p:cNvGrpSpPr>
            <a:grpSpLocks/>
          </p:cNvGrpSpPr>
          <p:nvPr/>
        </p:nvGrpSpPr>
        <p:grpSpPr bwMode="auto">
          <a:xfrm>
            <a:off x="5082161" y="3468635"/>
            <a:ext cx="4032250" cy="2197100"/>
            <a:chOff x="2767" y="2591"/>
            <a:chExt cx="2540" cy="1384"/>
          </a:xfrm>
        </p:grpSpPr>
        <p:pic>
          <p:nvPicPr>
            <p:cNvPr id="27" name="Picture 25">
              <a:extLst>
                <a:ext uri="{FF2B5EF4-FFF2-40B4-BE49-F238E27FC236}">
                  <a16:creationId xmlns:a16="http://schemas.microsoft.com/office/drawing/2014/main" id="{95BC49A3-C778-E478-1A26-A50DEEBBF1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 y="2591"/>
              <a:ext cx="2152" cy="9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8" name="Text Box 26">
              <a:extLst>
                <a:ext uri="{FF2B5EF4-FFF2-40B4-BE49-F238E27FC236}">
                  <a16:creationId xmlns:a16="http://schemas.microsoft.com/office/drawing/2014/main" id="{5EF9DE8C-F388-9B94-7A7B-BC1698C4D987}"/>
                </a:ext>
              </a:extLst>
            </p:cNvPr>
            <p:cNvSpPr txBox="1">
              <a:spLocks noChangeArrowheads="1"/>
            </p:cNvSpPr>
            <p:nvPr/>
          </p:nvSpPr>
          <p:spPr bwMode="auto">
            <a:xfrm>
              <a:off x="3039" y="3498"/>
              <a:ext cx="218"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i="1"/>
                <a:t>i</a:t>
              </a:r>
              <a:r>
                <a:rPr lang="en-US" altLang="zh-CN" sz="2000" baseline="-20000"/>
                <a:t>S</a:t>
              </a:r>
              <a:endParaRPr lang="en-US" altLang="zh-CN" sz="2000"/>
            </a:p>
          </p:txBody>
        </p:sp>
        <p:grpSp>
          <p:nvGrpSpPr>
            <p:cNvPr id="29" name="Group 27">
              <a:extLst>
                <a:ext uri="{FF2B5EF4-FFF2-40B4-BE49-F238E27FC236}">
                  <a16:creationId xmlns:a16="http://schemas.microsoft.com/office/drawing/2014/main" id="{416ECF8B-7AE4-BA76-BAA9-95FA7616483C}"/>
                </a:ext>
              </a:extLst>
            </p:cNvPr>
            <p:cNvGrpSpPr>
              <a:grpSpLocks/>
            </p:cNvGrpSpPr>
            <p:nvPr/>
          </p:nvGrpSpPr>
          <p:grpSpPr bwMode="auto">
            <a:xfrm rot="10800000">
              <a:off x="3640" y="3703"/>
              <a:ext cx="81" cy="272"/>
              <a:chOff x="725" y="2183"/>
              <a:chExt cx="68" cy="226"/>
            </a:xfrm>
          </p:grpSpPr>
          <p:sp>
            <p:nvSpPr>
              <p:cNvPr id="43" name="Line 28">
                <a:extLst>
                  <a:ext uri="{FF2B5EF4-FFF2-40B4-BE49-F238E27FC236}">
                    <a16:creationId xmlns:a16="http://schemas.microsoft.com/office/drawing/2014/main" id="{D4B1D553-ECAB-B306-E008-9E638DE0C7C5}"/>
                  </a:ext>
                </a:extLst>
              </p:cNvPr>
              <p:cNvSpPr>
                <a:spLocks noChangeShapeType="1"/>
              </p:cNvSpPr>
              <p:nvPr/>
            </p:nvSpPr>
            <p:spPr bwMode="auto">
              <a:xfrm>
                <a:off x="725" y="2183"/>
                <a:ext cx="0" cy="226"/>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44" name="Line 29">
                <a:extLst>
                  <a:ext uri="{FF2B5EF4-FFF2-40B4-BE49-F238E27FC236}">
                    <a16:creationId xmlns:a16="http://schemas.microsoft.com/office/drawing/2014/main" id="{B925A6A0-7447-49F8-AD8D-230D78FF50ED}"/>
                  </a:ext>
                </a:extLst>
              </p:cNvPr>
              <p:cNvSpPr>
                <a:spLocks noChangeShapeType="1"/>
              </p:cNvSpPr>
              <p:nvPr/>
            </p:nvSpPr>
            <p:spPr bwMode="auto">
              <a:xfrm>
                <a:off x="793" y="2228"/>
                <a:ext cx="0" cy="136"/>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
          <p:nvSpPr>
            <p:cNvPr id="30" name="Line 30">
              <a:extLst>
                <a:ext uri="{FF2B5EF4-FFF2-40B4-BE49-F238E27FC236}">
                  <a16:creationId xmlns:a16="http://schemas.microsoft.com/office/drawing/2014/main" id="{94386481-1893-EDCB-E380-D4B971B249D5}"/>
                </a:ext>
              </a:extLst>
            </p:cNvPr>
            <p:cNvSpPr>
              <a:spLocks noChangeShapeType="1"/>
            </p:cNvSpPr>
            <p:nvPr/>
          </p:nvSpPr>
          <p:spPr bwMode="auto">
            <a:xfrm>
              <a:off x="3720" y="3839"/>
              <a:ext cx="1587"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1" name="Line 31">
              <a:extLst>
                <a:ext uri="{FF2B5EF4-FFF2-40B4-BE49-F238E27FC236}">
                  <a16:creationId xmlns:a16="http://schemas.microsoft.com/office/drawing/2014/main" id="{3E1A45D9-CD8B-BE94-2BEC-E9F2ACD763C9}"/>
                </a:ext>
              </a:extLst>
            </p:cNvPr>
            <p:cNvSpPr>
              <a:spLocks noChangeShapeType="1"/>
            </p:cNvSpPr>
            <p:nvPr/>
          </p:nvSpPr>
          <p:spPr bwMode="auto">
            <a:xfrm>
              <a:off x="2767" y="3839"/>
              <a:ext cx="885"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2" name="Line 32">
              <a:extLst>
                <a:ext uri="{FF2B5EF4-FFF2-40B4-BE49-F238E27FC236}">
                  <a16:creationId xmlns:a16="http://schemas.microsoft.com/office/drawing/2014/main" id="{41226D45-C50C-A1B8-99CE-7EFBE2F44CFE}"/>
                </a:ext>
              </a:extLst>
            </p:cNvPr>
            <p:cNvSpPr>
              <a:spLocks noChangeShapeType="1"/>
            </p:cNvSpPr>
            <p:nvPr/>
          </p:nvSpPr>
          <p:spPr bwMode="auto">
            <a:xfrm>
              <a:off x="2767" y="3068"/>
              <a:ext cx="0" cy="771"/>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3" name="Line 33">
              <a:extLst>
                <a:ext uri="{FF2B5EF4-FFF2-40B4-BE49-F238E27FC236}">
                  <a16:creationId xmlns:a16="http://schemas.microsoft.com/office/drawing/2014/main" id="{E9134A39-0740-9648-351D-9D19E20C717C}"/>
                </a:ext>
              </a:extLst>
            </p:cNvPr>
            <p:cNvSpPr>
              <a:spLocks noChangeShapeType="1"/>
            </p:cNvSpPr>
            <p:nvPr/>
          </p:nvSpPr>
          <p:spPr bwMode="auto">
            <a:xfrm>
              <a:off x="2767" y="3068"/>
              <a:ext cx="20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4" name="Line 34">
              <a:extLst>
                <a:ext uri="{FF2B5EF4-FFF2-40B4-BE49-F238E27FC236}">
                  <a16:creationId xmlns:a16="http://schemas.microsoft.com/office/drawing/2014/main" id="{F1D39C82-D9AF-D107-D4E6-A8B892EF9745}"/>
                </a:ext>
              </a:extLst>
            </p:cNvPr>
            <p:cNvSpPr>
              <a:spLocks noChangeShapeType="1"/>
            </p:cNvSpPr>
            <p:nvPr/>
          </p:nvSpPr>
          <p:spPr bwMode="auto">
            <a:xfrm>
              <a:off x="5307" y="3068"/>
              <a:ext cx="0" cy="771"/>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5" name="Line 35">
              <a:extLst>
                <a:ext uri="{FF2B5EF4-FFF2-40B4-BE49-F238E27FC236}">
                  <a16:creationId xmlns:a16="http://schemas.microsoft.com/office/drawing/2014/main" id="{81B5BA3E-1A65-2DEB-1DDD-83BB08A8DC2C}"/>
                </a:ext>
              </a:extLst>
            </p:cNvPr>
            <p:cNvSpPr>
              <a:spLocks noChangeShapeType="1"/>
            </p:cNvSpPr>
            <p:nvPr/>
          </p:nvSpPr>
          <p:spPr bwMode="auto">
            <a:xfrm>
              <a:off x="5103" y="3068"/>
              <a:ext cx="20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6" name="Text Box 36">
              <a:extLst>
                <a:ext uri="{FF2B5EF4-FFF2-40B4-BE49-F238E27FC236}">
                  <a16:creationId xmlns:a16="http://schemas.microsoft.com/office/drawing/2014/main" id="{D6F4E591-57C2-AB1E-CAB7-570E146EB1FC}"/>
                </a:ext>
              </a:extLst>
            </p:cNvPr>
            <p:cNvSpPr txBox="1">
              <a:spLocks noChangeArrowheads="1"/>
            </p:cNvSpPr>
            <p:nvPr/>
          </p:nvSpPr>
          <p:spPr bwMode="auto">
            <a:xfrm>
              <a:off x="3769" y="3567"/>
              <a:ext cx="232"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a:t>V</a:t>
              </a:r>
            </a:p>
          </p:txBody>
        </p:sp>
        <p:grpSp>
          <p:nvGrpSpPr>
            <p:cNvPr id="37" name="Group 37">
              <a:extLst>
                <a:ext uri="{FF2B5EF4-FFF2-40B4-BE49-F238E27FC236}">
                  <a16:creationId xmlns:a16="http://schemas.microsoft.com/office/drawing/2014/main" id="{CB3BD4E4-AE78-EAE0-F97A-87CB9BED2200}"/>
                </a:ext>
              </a:extLst>
            </p:cNvPr>
            <p:cNvGrpSpPr>
              <a:grpSpLocks/>
            </p:cNvGrpSpPr>
            <p:nvPr/>
          </p:nvGrpSpPr>
          <p:grpSpPr bwMode="auto">
            <a:xfrm>
              <a:off x="4401" y="3544"/>
              <a:ext cx="294" cy="347"/>
              <a:chOff x="1906" y="1978"/>
              <a:chExt cx="294" cy="347"/>
            </a:xfrm>
          </p:grpSpPr>
          <p:sp>
            <p:nvSpPr>
              <p:cNvPr id="41" name="Rectangle 38">
                <a:extLst>
                  <a:ext uri="{FF2B5EF4-FFF2-40B4-BE49-F238E27FC236}">
                    <a16:creationId xmlns:a16="http://schemas.microsoft.com/office/drawing/2014/main" id="{7792E0E7-8145-D75F-6656-4F622BBF4EFB}"/>
                  </a:ext>
                </a:extLst>
              </p:cNvPr>
              <p:cNvSpPr>
                <a:spLocks noChangeArrowheads="1"/>
              </p:cNvSpPr>
              <p:nvPr/>
            </p:nvSpPr>
            <p:spPr bwMode="auto">
              <a:xfrm>
                <a:off x="1906" y="2228"/>
                <a:ext cx="294" cy="97"/>
              </a:xfrm>
              <a:prstGeom prst="rect">
                <a:avLst/>
              </a:prstGeom>
              <a:solidFill>
                <a:schemeClr val="bg1"/>
              </a:solidFill>
              <a:ln w="38100">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42" name="Text Box 39">
                <a:extLst>
                  <a:ext uri="{FF2B5EF4-FFF2-40B4-BE49-F238E27FC236}">
                    <a16:creationId xmlns:a16="http://schemas.microsoft.com/office/drawing/2014/main" id="{23170CB5-A629-9528-CAB8-F0B37BFC90B5}"/>
                  </a:ext>
                </a:extLst>
              </p:cNvPr>
              <p:cNvSpPr txBox="1">
                <a:spLocks noChangeArrowheads="1"/>
              </p:cNvSpPr>
              <p:nvPr/>
            </p:nvSpPr>
            <p:spPr bwMode="auto">
              <a:xfrm>
                <a:off x="1927" y="1978"/>
                <a:ext cx="250"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i="1"/>
                  <a:t>R</a:t>
                </a:r>
              </a:p>
            </p:txBody>
          </p:sp>
        </p:grpSp>
        <p:sp>
          <p:nvSpPr>
            <p:cNvPr id="38" name="Line 40">
              <a:extLst>
                <a:ext uri="{FF2B5EF4-FFF2-40B4-BE49-F238E27FC236}">
                  <a16:creationId xmlns:a16="http://schemas.microsoft.com/office/drawing/2014/main" id="{67324046-EBE5-FC63-087D-28D22004DAEB}"/>
                </a:ext>
              </a:extLst>
            </p:cNvPr>
            <p:cNvSpPr>
              <a:spLocks noChangeShapeType="1"/>
            </p:cNvSpPr>
            <p:nvPr/>
          </p:nvSpPr>
          <p:spPr bwMode="auto">
            <a:xfrm flipH="1">
              <a:off x="3084" y="3771"/>
              <a:ext cx="205" cy="0"/>
            </a:xfrm>
            <a:prstGeom prst="line">
              <a:avLst/>
            </a:prstGeom>
            <a:noFill/>
            <a:ln w="19050">
              <a:solidFill>
                <a:schemeClr val="tx1"/>
              </a:solidFill>
              <a:round/>
              <a:headEnd type="triangle" w="med" len="lg"/>
              <a:tailEnd type="none" w="med" len="lg"/>
            </a:ln>
            <a:extLst>
              <a:ext uri="{909E8E84-426E-40dd-AFC4-6F175D3DCCD1}">
                <a14:hiddenFill xmlns="" xmlns:a14="http://schemas.microsoft.com/office/drawing/2010/main">
                  <a:noFill/>
                </a14:hiddenFill>
              </a:ext>
            </a:extLst>
          </p:spPr>
          <p:txBody>
            <a:bodyPr/>
            <a:lstStyle/>
            <a:p>
              <a:endParaRPr lang="zh-CN" altLang="en-US"/>
            </a:p>
          </p:txBody>
        </p:sp>
        <p:sp>
          <p:nvSpPr>
            <p:cNvPr id="39" name="Text Box 41">
              <a:extLst>
                <a:ext uri="{FF2B5EF4-FFF2-40B4-BE49-F238E27FC236}">
                  <a16:creationId xmlns:a16="http://schemas.microsoft.com/office/drawing/2014/main" id="{32581E14-2A8A-7A4E-4C97-2DB854857E7E}"/>
                </a:ext>
              </a:extLst>
            </p:cNvPr>
            <p:cNvSpPr txBox="1">
              <a:spLocks noChangeArrowheads="1"/>
            </p:cNvSpPr>
            <p:nvPr/>
          </p:nvSpPr>
          <p:spPr bwMode="auto">
            <a:xfrm>
              <a:off x="3084" y="2909"/>
              <a:ext cx="253"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a:t>P</a:t>
              </a:r>
            </a:p>
          </p:txBody>
        </p:sp>
        <p:sp>
          <p:nvSpPr>
            <p:cNvPr id="40" name="Text Box 42">
              <a:extLst>
                <a:ext uri="{FF2B5EF4-FFF2-40B4-BE49-F238E27FC236}">
                  <a16:creationId xmlns:a16="http://schemas.microsoft.com/office/drawing/2014/main" id="{55708169-A388-75BB-115C-1EB27A99F7D2}"/>
                </a:ext>
              </a:extLst>
            </p:cNvPr>
            <p:cNvSpPr txBox="1">
              <a:spLocks noChangeArrowheads="1"/>
            </p:cNvSpPr>
            <p:nvPr/>
          </p:nvSpPr>
          <p:spPr bwMode="auto">
            <a:xfrm>
              <a:off x="4704" y="2909"/>
              <a:ext cx="27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a:t>N</a:t>
              </a:r>
            </a:p>
          </p:txBody>
        </p:sp>
      </p:grpSp>
    </p:spTree>
    <p:extLst>
      <p:ext uri="{BB962C8B-B14F-4D97-AF65-F5344CB8AC3E}">
        <p14:creationId xmlns:p14="http://schemas.microsoft.com/office/powerpoint/2010/main" val="344107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0B09E0-F1AA-0174-F069-5B73F82A7420}"/>
              </a:ext>
            </a:extLst>
          </p:cNvPr>
          <p:cNvSpPr>
            <a:spLocks noGrp="1"/>
          </p:cNvSpPr>
          <p:nvPr>
            <p:ph type="title"/>
          </p:nvPr>
        </p:nvSpPr>
        <p:spPr/>
        <p:txBody>
          <a:bodyPr>
            <a:normAutofit fontScale="90000"/>
          </a:bodyPr>
          <a:lstStyle/>
          <a:p>
            <a:r>
              <a:rPr lang="zh-CN" altLang="en-US" dirty="0"/>
              <a:t>二极管及其应用</a:t>
            </a:r>
            <a:endParaRPr kumimoji="1" lang="zh-CN" altLang="en-US" dirty="0"/>
          </a:p>
        </p:txBody>
      </p:sp>
      <p:sp>
        <p:nvSpPr>
          <p:cNvPr id="3" name="内容占位符 2">
            <a:extLst>
              <a:ext uri="{FF2B5EF4-FFF2-40B4-BE49-F238E27FC236}">
                <a16:creationId xmlns:a16="http://schemas.microsoft.com/office/drawing/2014/main" id="{D4556C87-0867-2D31-635F-6394E23918B5}"/>
              </a:ext>
            </a:extLst>
          </p:cNvPr>
          <p:cNvSpPr>
            <a:spLocks noGrp="1"/>
          </p:cNvSpPr>
          <p:nvPr>
            <p:ph idx="1"/>
          </p:nvPr>
        </p:nvSpPr>
        <p:spPr/>
        <p:txBody>
          <a:bodyPr/>
          <a:lstStyle/>
          <a:p>
            <a:pPr eaLnBrk="1" hangingPunct="1">
              <a:lnSpc>
                <a:spcPct val="120000"/>
              </a:lnSpc>
            </a:pPr>
            <a:r>
              <a:rPr lang="zh-CN" altLang="en-US" dirty="0"/>
              <a:t>二极管结构与符号</a:t>
            </a:r>
          </a:p>
          <a:p>
            <a:pPr eaLnBrk="1" hangingPunct="1">
              <a:lnSpc>
                <a:spcPct val="120000"/>
              </a:lnSpc>
            </a:pPr>
            <a:r>
              <a:rPr lang="zh-CN" altLang="en-US" dirty="0"/>
              <a:t>二极管伏安特性</a:t>
            </a:r>
          </a:p>
          <a:p>
            <a:pPr eaLnBrk="1" hangingPunct="1">
              <a:lnSpc>
                <a:spcPct val="120000"/>
              </a:lnSpc>
            </a:pPr>
            <a:r>
              <a:rPr lang="zh-CN" altLang="en-US" dirty="0"/>
              <a:t>二极管主要参数</a:t>
            </a:r>
          </a:p>
          <a:p>
            <a:pPr eaLnBrk="1" hangingPunct="1">
              <a:lnSpc>
                <a:spcPct val="120000"/>
              </a:lnSpc>
            </a:pPr>
            <a:r>
              <a:rPr lang="zh-CN" altLang="en-US" dirty="0"/>
              <a:t>二极管简化模型</a:t>
            </a:r>
          </a:p>
          <a:p>
            <a:pPr eaLnBrk="1" hangingPunct="1">
              <a:lnSpc>
                <a:spcPct val="120000"/>
              </a:lnSpc>
            </a:pPr>
            <a:r>
              <a:rPr lang="zh-CN" altLang="en-US" dirty="0"/>
              <a:t>二极管应用</a:t>
            </a:r>
          </a:p>
          <a:p>
            <a:endParaRPr kumimoji="1" lang="zh-CN" altLang="en-US" dirty="0"/>
          </a:p>
        </p:txBody>
      </p:sp>
      <p:sp>
        <p:nvSpPr>
          <p:cNvPr id="4" name="页脚占位符 3">
            <a:extLst>
              <a:ext uri="{FF2B5EF4-FFF2-40B4-BE49-F238E27FC236}">
                <a16:creationId xmlns:a16="http://schemas.microsoft.com/office/drawing/2014/main" id="{73F49EC6-78E8-9E75-B3E5-EE2FFEB45DB3}"/>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8C2DE0F2-396B-23B4-3AB3-DD9A42950E7D}"/>
              </a:ext>
            </a:extLst>
          </p:cNvPr>
          <p:cNvSpPr>
            <a:spLocks noGrp="1"/>
          </p:cNvSpPr>
          <p:nvPr>
            <p:ph type="sldNum" sz="quarter" idx="12"/>
          </p:nvPr>
        </p:nvSpPr>
        <p:spPr/>
        <p:txBody>
          <a:bodyPr/>
          <a:lstStyle/>
          <a:p>
            <a:fld id="{9E260BC5-5BF3-8746-862B-DC45E9CAA88B}" type="slidenum">
              <a:rPr lang="en-US" smtClean="0"/>
              <a:pPr/>
              <a:t>14</a:t>
            </a:fld>
            <a:r>
              <a:rPr lang="en-US" altLang="zh-CN" dirty="0"/>
              <a:t>/33</a:t>
            </a:r>
            <a:endParaRPr lang="en-US" dirty="0"/>
          </a:p>
        </p:txBody>
      </p:sp>
    </p:spTree>
    <p:extLst>
      <p:ext uri="{BB962C8B-B14F-4D97-AF65-F5344CB8AC3E}">
        <p14:creationId xmlns:p14="http://schemas.microsoft.com/office/powerpoint/2010/main" val="902825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576226-485B-E13E-5C48-527380B9EAAC}"/>
              </a:ext>
            </a:extLst>
          </p:cNvPr>
          <p:cNvSpPr>
            <a:spLocks noGrp="1"/>
          </p:cNvSpPr>
          <p:nvPr>
            <p:ph type="title"/>
          </p:nvPr>
        </p:nvSpPr>
        <p:spPr/>
        <p:txBody>
          <a:bodyPr>
            <a:normAutofit fontScale="90000"/>
          </a:bodyPr>
          <a:lstStyle/>
          <a:p>
            <a:r>
              <a:rPr lang="zh-CN" altLang="en-US" dirty="0"/>
              <a:t>二极管</a:t>
            </a:r>
            <a:endParaRPr kumimoji="1" lang="zh-CN" altLang="en-US" dirty="0"/>
          </a:p>
        </p:txBody>
      </p:sp>
      <p:sp>
        <p:nvSpPr>
          <p:cNvPr id="3" name="内容占位符 2">
            <a:extLst>
              <a:ext uri="{FF2B5EF4-FFF2-40B4-BE49-F238E27FC236}">
                <a16:creationId xmlns:a16="http://schemas.microsoft.com/office/drawing/2014/main" id="{298F3306-5639-AC02-9FE0-D8692FE73BD8}"/>
              </a:ext>
            </a:extLst>
          </p:cNvPr>
          <p:cNvSpPr>
            <a:spLocks noGrp="1"/>
          </p:cNvSpPr>
          <p:nvPr>
            <p:ph idx="1"/>
          </p:nvPr>
        </p:nvSpPr>
        <p:spPr>
          <a:xfrm>
            <a:off x="17780" y="585760"/>
            <a:ext cx="9321092" cy="5947119"/>
          </a:xfrm>
        </p:spPr>
        <p:txBody>
          <a:bodyPr/>
          <a:lstStyle/>
          <a:p>
            <a:r>
              <a:rPr kumimoji="1" lang="zh-CN" altLang="en-US" dirty="0"/>
              <a:t>将</a:t>
            </a:r>
            <a:r>
              <a:rPr kumimoji="1" lang="en-US" altLang="zh-CN" dirty="0"/>
              <a:t>PN</a:t>
            </a:r>
            <a:r>
              <a:rPr kumimoji="1" lang="zh-CN" altLang="en-US" dirty="0"/>
              <a:t>结加上引线和封装，就构成了半导体</a:t>
            </a:r>
            <a:r>
              <a:rPr lang="zh-CN" altLang="en-US" dirty="0"/>
              <a:t>二极管，简称二极管</a:t>
            </a:r>
            <a:endParaRPr lang="en-US" altLang="zh-CN" dirty="0"/>
          </a:p>
          <a:p>
            <a:endParaRPr lang="zh-CN" altLang="en-US" dirty="0"/>
          </a:p>
          <a:p>
            <a:endParaRPr lang="en-US" altLang="zh-CN" dirty="0"/>
          </a:p>
          <a:p>
            <a:endParaRPr lang="zh-CN" altLang="en-US" dirty="0"/>
          </a:p>
          <a:p>
            <a:r>
              <a:rPr lang="zh-CN" altLang="en-US" dirty="0"/>
              <a:t>分类</a:t>
            </a:r>
          </a:p>
          <a:p>
            <a:pPr lvl="1"/>
            <a:r>
              <a:rPr lang="zh-CN" altLang="en-US" dirty="0"/>
              <a:t>按制造材料：硅二极管和锗二极管</a:t>
            </a:r>
          </a:p>
          <a:p>
            <a:pPr lvl="1"/>
            <a:r>
              <a:rPr lang="zh-CN" altLang="en-US" dirty="0"/>
              <a:t>按用途：整流二极管、稳压二极管、开关二极管、发光</a:t>
            </a:r>
            <a:r>
              <a:rPr lang="en-US" altLang="zh-CN" dirty="0"/>
              <a:t>/</a:t>
            </a:r>
            <a:r>
              <a:rPr lang="zh-CN" altLang="en-US" dirty="0"/>
              <a:t>光电二极管等</a:t>
            </a:r>
          </a:p>
          <a:p>
            <a:pPr lvl="1"/>
            <a:r>
              <a:rPr lang="zh-CN" altLang="en-US" dirty="0"/>
              <a:t>按工艺结构：点接触型、面接触型、平面型等</a:t>
            </a:r>
          </a:p>
          <a:p>
            <a:endParaRPr kumimoji="1" lang="zh-CN" altLang="en-US" dirty="0"/>
          </a:p>
        </p:txBody>
      </p:sp>
      <p:sp>
        <p:nvSpPr>
          <p:cNvPr id="4" name="页脚占位符 3">
            <a:extLst>
              <a:ext uri="{FF2B5EF4-FFF2-40B4-BE49-F238E27FC236}">
                <a16:creationId xmlns:a16="http://schemas.microsoft.com/office/drawing/2014/main" id="{02FF8D97-066F-B40D-A22B-2D8ED98BAE01}"/>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45BBF1EC-FDAC-582F-8D73-747D8D0183B8}"/>
              </a:ext>
            </a:extLst>
          </p:cNvPr>
          <p:cNvSpPr>
            <a:spLocks noGrp="1"/>
          </p:cNvSpPr>
          <p:nvPr>
            <p:ph type="sldNum" sz="quarter" idx="12"/>
          </p:nvPr>
        </p:nvSpPr>
        <p:spPr/>
        <p:txBody>
          <a:bodyPr/>
          <a:lstStyle/>
          <a:p>
            <a:fld id="{9E260BC5-5BF3-8746-862B-DC45E9CAA88B}" type="slidenum">
              <a:rPr lang="en-US" smtClean="0"/>
              <a:pPr/>
              <a:t>15</a:t>
            </a:fld>
            <a:r>
              <a:rPr lang="en-US" altLang="zh-CN" dirty="0"/>
              <a:t>/33</a:t>
            </a:r>
            <a:endParaRPr lang="en-US" dirty="0"/>
          </a:p>
        </p:txBody>
      </p:sp>
      <p:grpSp>
        <p:nvGrpSpPr>
          <p:cNvPr id="6" name="Group 4">
            <a:extLst>
              <a:ext uri="{FF2B5EF4-FFF2-40B4-BE49-F238E27FC236}">
                <a16:creationId xmlns:a16="http://schemas.microsoft.com/office/drawing/2014/main" id="{9B7D4A3D-2394-589E-9AFB-28EC5ABC6EC6}"/>
              </a:ext>
            </a:extLst>
          </p:cNvPr>
          <p:cNvGrpSpPr>
            <a:grpSpLocks/>
          </p:cNvGrpSpPr>
          <p:nvPr/>
        </p:nvGrpSpPr>
        <p:grpSpPr bwMode="auto">
          <a:xfrm>
            <a:off x="3384550" y="1655945"/>
            <a:ext cx="2482850" cy="757238"/>
            <a:chOff x="477" y="2001"/>
            <a:chExt cx="1564" cy="477"/>
          </a:xfrm>
        </p:grpSpPr>
        <p:sp>
          <p:nvSpPr>
            <p:cNvPr id="7" name="Rectangle 5">
              <a:extLst>
                <a:ext uri="{FF2B5EF4-FFF2-40B4-BE49-F238E27FC236}">
                  <a16:creationId xmlns:a16="http://schemas.microsoft.com/office/drawing/2014/main" id="{C9B0541A-0D61-6E85-7CEB-344BAB271E7B}"/>
                </a:ext>
              </a:extLst>
            </p:cNvPr>
            <p:cNvSpPr>
              <a:spLocks noChangeArrowheads="1"/>
            </p:cNvSpPr>
            <p:nvPr/>
          </p:nvSpPr>
          <p:spPr bwMode="auto">
            <a:xfrm rot="-5400000">
              <a:off x="1015" y="1802"/>
              <a:ext cx="470" cy="881"/>
            </a:xfrm>
            <a:prstGeom prst="rect">
              <a:avLst/>
            </a:prstGeom>
            <a:solidFill>
              <a:srgbClr val="FFFFFF"/>
            </a:solidFill>
            <a:ln w="38100">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 name="Line 6">
              <a:extLst>
                <a:ext uri="{FF2B5EF4-FFF2-40B4-BE49-F238E27FC236}">
                  <a16:creationId xmlns:a16="http://schemas.microsoft.com/office/drawing/2014/main" id="{ECDC398A-956C-A2C3-4ED8-70B9269F1342}"/>
                </a:ext>
              </a:extLst>
            </p:cNvPr>
            <p:cNvSpPr>
              <a:spLocks noChangeShapeType="1"/>
            </p:cNvSpPr>
            <p:nvPr/>
          </p:nvSpPr>
          <p:spPr bwMode="auto">
            <a:xfrm rot="-5400000">
              <a:off x="1029" y="2236"/>
              <a:ext cx="47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sp>
          <p:nvSpPr>
            <p:cNvPr id="9" name="Text Box 7">
              <a:extLst>
                <a:ext uri="{FF2B5EF4-FFF2-40B4-BE49-F238E27FC236}">
                  <a16:creationId xmlns:a16="http://schemas.microsoft.com/office/drawing/2014/main" id="{9F32715F-634B-8F71-2B38-6A9C0D31A399}"/>
                </a:ext>
              </a:extLst>
            </p:cNvPr>
            <p:cNvSpPr txBox="1">
              <a:spLocks noChangeArrowheads="1"/>
            </p:cNvSpPr>
            <p:nvPr/>
          </p:nvSpPr>
          <p:spPr bwMode="auto">
            <a:xfrm>
              <a:off x="872" y="2047"/>
              <a:ext cx="313" cy="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0"/>
                </a:spcAft>
                <a:buFontTx/>
                <a:buNone/>
              </a:pPr>
              <a:r>
                <a:rPr kumimoji="1" lang="en-US" altLang="zh-CN" sz="3200">
                  <a:ea typeface="楷体_GB2312" pitchFamily="49" charset="-122"/>
                </a:rPr>
                <a:t>P</a:t>
              </a:r>
            </a:p>
          </p:txBody>
        </p:sp>
        <p:sp>
          <p:nvSpPr>
            <p:cNvPr id="10" name="Text Box 8">
              <a:extLst>
                <a:ext uri="{FF2B5EF4-FFF2-40B4-BE49-F238E27FC236}">
                  <a16:creationId xmlns:a16="http://schemas.microsoft.com/office/drawing/2014/main" id="{580B8814-6D22-8024-64B7-E4F58C2F8D1B}"/>
                </a:ext>
              </a:extLst>
            </p:cNvPr>
            <p:cNvSpPr txBox="1">
              <a:spLocks noChangeArrowheads="1"/>
            </p:cNvSpPr>
            <p:nvPr/>
          </p:nvSpPr>
          <p:spPr bwMode="auto">
            <a:xfrm>
              <a:off x="1303" y="2047"/>
              <a:ext cx="331" cy="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0"/>
                </a:spcAft>
                <a:buFontTx/>
                <a:buNone/>
              </a:pPr>
              <a:r>
                <a:rPr kumimoji="1" lang="en-US" altLang="zh-CN" sz="3200">
                  <a:ea typeface="楷体_GB2312" pitchFamily="49" charset="-122"/>
                </a:rPr>
                <a:t>N</a:t>
              </a:r>
            </a:p>
          </p:txBody>
        </p:sp>
        <p:sp>
          <p:nvSpPr>
            <p:cNvPr id="11" name="Line 9">
              <a:extLst>
                <a:ext uri="{FF2B5EF4-FFF2-40B4-BE49-F238E27FC236}">
                  <a16:creationId xmlns:a16="http://schemas.microsoft.com/office/drawing/2014/main" id="{F1B9628E-6200-73E2-B56C-B77367B414B9}"/>
                </a:ext>
              </a:extLst>
            </p:cNvPr>
            <p:cNvSpPr>
              <a:spLocks noChangeShapeType="1"/>
            </p:cNvSpPr>
            <p:nvPr/>
          </p:nvSpPr>
          <p:spPr bwMode="auto">
            <a:xfrm rot="-5400000">
              <a:off x="648" y="2080"/>
              <a:ext cx="0" cy="341"/>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sp>
          <p:nvSpPr>
            <p:cNvPr id="12" name="Line 10">
              <a:extLst>
                <a:ext uri="{FF2B5EF4-FFF2-40B4-BE49-F238E27FC236}">
                  <a16:creationId xmlns:a16="http://schemas.microsoft.com/office/drawing/2014/main" id="{8D072805-A40D-0D73-A64B-E42646F06330}"/>
                </a:ext>
              </a:extLst>
            </p:cNvPr>
            <p:cNvSpPr>
              <a:spLocks noChangeShapeType="1"/>
            </p:cNvSpPr>
            <p:nvPr/>
          </p:nvSpPr>
          <p:spPr bwMode="auto">
            <a:xfrm rot="-5400000">
              <a:off x="1871" y="2087"/>
              <a:ext cx="0" cy="341"/>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3691709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2E7DB6-2BD4-8BEF-B076-4294E6B4A0F0}"/>
              </a:ext>
            </a:extLst>
          </p:cNvPr>
          <p:cNvSpPr>
            <a:spLocks noGrp="1"/>
          </p:cNvSpPr>
          <p:nvPr>
            <p:ph type="title"/>
          </p:nvPr>
        </p:nvSpPr>
        <p:spPr/>
        <p:txBody>
          <a:bodyPr>
            <a:normAutofit fontScale="90000"/>
          </a:bodyPr>
          <a:lstStyle/>
          <a:p>
            <a:r>
              <a:rPr lang="zh-CN" altLang="en-US" dirty="0"/>
              <a:t>示例</a:t>
            </a:r>
            <a:r>
              <a:rPr lang="zh-CN" altLang="en-US" dirty="0">
                <a:latin typeface="宋体" panose="02010600030101010101" pitchFamily="2" charset="-122"/>
              </a:rPr>
              <a:t>：</a:t>
            </a:r>
            <a:r>
              <a:rPr lang="zh-CN" altLang="en-US" dirty="0"/>
              <a:t>二极管</a:t>
            </a:r>
            <a:r>
              <a:rPr kumimoji="1" lang="zh-CN" altLang="en-US" dirty="0"/>
              <a:t>外型</a:t>
            </a:r>
          </a:p>
        </p:txBody>
      </p:sp>
      <p:sp>
        <p:nvSpPr>
          <p:cNvPr id="4" name="页脚占位符 3">
            <a:extLst>
              <a:ext uri="{FF2B5EF4-FFF2-40B4-BE49-F238E27FC236}">
                <a16:creationId xmlns:a16="http://schemas.microsoft.com/office/drawing/2014/main" id="{6E3B6505-7570-2269-502B-FE7A95E10FCE}"/>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2AA74F2A-BC9E-58F4-1323-BA237BEC2B32}"/>
              </a:ext>
            </a:extLst>
          </p:cNvPr>
          <p:cNvSpPr>
            <a:spLocks noGrp="1"/>
          </p:cNvSpPr>
          <p:nvPr>
            <p:ph type="sldNum" sz="quarter" idx="12"/>
          </p:nvPr>
        </p:nvSpPr>
        <p:spPr/>
        <p:txBody>
          <a:bodyPr/>
          <a:lstStyle/>
          <a:p>
            <a:fld id="{9E260BC5-5BF3-8746-862B-DC45E9CAA88B}" type="slidenum">
              <a:rPr lang="en-US" smtClean="0"/>
              <a:pPr/>
              <a:t>16</a:t>
            </a:fld>
            <a:r>
              <a:rPr lang="en-US" altLang="zh-CN" dirty="0"/>
              <a:t>/33</a:t>
            </a:r>
            <a:endParaRPr lang="en-US" dirty="0"/>
          </a:p>
        </p:txBody>
      </p:sp>
      <p:pic>
        <p:nvPicPr>
          <p:cNvPr id="6" name="Picture 3">
            <a:extLst>
              <a:ext uri="{FF2B5EF4-FFF2-40B4-BE49-F238E27FC236}">
                <a16:creationId xmlns:a16="http://schemas.microsoft.com/office/drawing/2014/main" id="{A83A1ABF-15D4-4690-BF36-293B237205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25" y="1449388"/>
            <a:ext cx="2905125"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4">
            <a:extLst>
              <a:ext uri="{FF2B5EF4-FFF2-40B4-BE49-F238E27FC236}">
                <a16:creationId xmlns:a16="http://schemas.microsoft.com/office/drawing/2014/main" id="{D0090115-F038-C101-52DE-3A503D7234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449388"/>
            <a:ext cx="5400675" cy="4111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5">
            <a:extLst>
              <a:ext uri="{FF2B5EF4-FFF2-40B4-BE49-F238E27FC236}">
                <a16:creationId xmlns:a16="http://schemas.microsoft.com/office/drawing/2014/main" id="{15D72C36-3CCA-DD7E-A7EA-BD3FDA19B011}"/>
              </a:ext>
            </a:extLst>
          </p:cNvPr>
          <p:cNvSpPr>
            <a:spLocks noChangeArrowheads="1"/>
          </p:cNvSpPr>
          <p:nvPr/>
        </p:nvSpPr>
        <p:spPr bwMode="auto">
          <a:xfrm>
            <a:off x="6624638" y="5727700"/>
            <a:ext cx="17081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b="0">
                <a:latin typeface="Microsoft YaHei" panose="020B0503020204020204" pitchFamily="34" charset="-122"/>
                <a:ea typeface="Microsoft YaHei" panose="020B0503020204020204" pitchFamily="34" charset="-122"/>
              </a:rPr>
              <a:t>贴片二极管</a:t>
            </a:r>
          </a:p>
        </p:txBody>
      </p:sp>
      <p:sp>
        <p:nvSpPr>
          <p:cNvPr id="9" name="Rectangle 6">
            <a:extLst>
              <a:ext uri="{FF2B5EF4-FFF2-40B4-BE49-F238E27FC236}">
                <a16:creationId xmlns:a16="http://schemas.microsoft.com/office/drawing/2014/main" id="{72372BBB-DC8E-F0E3-B868-5FCE687F0CB4}"/>
              </a:ext>
            </a:extLst>
          </p:cNvPr>
          <p:cNvSpPr>
            <a:spLocks noChangeArrowheads="1"/>
          </p:cNvSpPr>
          <p:nvPr/>
        </p:nvSpPr>
        <p:spPr bwMode="auto">
          <a:xfrm>
            <a:off x="1692275" y="5697538"/>
            <a:ext cx="232886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b="0">
                <a:latin typeface="Microsoft YaHei" panose="020B0503020204020204" pitchFamily="34" charset="-122"/>
                <a:ea typeface="Microsoft YaHei" panose="020B0503020204020204" pitchFamily="34" charset="-122"/>
              </a:rPr>
              <a:t>通孔插装二极管</a:t>
            </a:r>
          </a:p>
        </p:txBody>
      </p:sp>
    </p:spTree>
    <p:extLst>
      <p:ext uri="{BB962C8B-B14F-4D97-AF65-F5344CB8AC3E}">
        <p14:creationId xmlns:p14="http://schemas.microsoft.com/office/powerpoint/2010/main" val="1876662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EF109F-A8AE-0C54-8217-A4E0B3AD352C}"/>
              </a:ext>
            </a:extLst>
          </p:cNvPr>
          <p:cNvSpPr>
            <a:spLocks noGrp="1"/>
          </p:cNvSpPr>
          <p:nvPr>
            <p:ph type="title"/>
          </p:nvPr>
        </p:nvSpPr>
        <p:spPr/>
        <p:txBody>
          <a:bodyPr>
            <a:normAutofit fontScale="90000"/>
          </a:bodyPr>
          <a:lstStyle/>
          <a:p>
            <a:r>
              <a:rPr lang="zh-CN" altLang="en-US" dirty="0"/>
              <a:t>二极管结构与符号</a:t>
            </a:r>
            <a:endParaRPr kumimoji="1" lang="zh-CN" altLang="en-US" dirty="0"/>
          </a:p>
        </p:txBody>
      </p:sp>
      <p:sp>
        <p:nvSpPr>
          <p:cNvPr id="4" name="页脚占位符 3">
            <a:extLst>
              <a:ext uri="{FF2B5EF4-FFF2-40B4-BE49-F238E27FC236}">
                <a16:creationId xmlns:a16="http://schemas.microsoft.com/office/drawing/2014/main" id="{679A6E99-A145-211E-2D85-F0037CBC8D80}"/>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96C3FEF0-EE5B-4B95-69BC-9B81A1959360}"/>
              </a:ext>
            </a:extLst>
          </p:cNvPr>
          <p:cNvSpPr>
            <a:spLocks noGrp="1"/>
          </p:cNvSpPr>
          <p:nvPr>
            <p:ph type="sldNum" sz="quarter" idx="12"/>
          </p:nvPr>
        </p:nvSpPr>
        <p:spPr/>
        <p:txBody>
          <a:bodyPr/>
          <a:lstStyle/>
          <a:p>
            <a:fld id="{9E260BC5-5BF3-8746-862B-DC45E9CAA88B}" type="slidenum">
              <a:rPr lang="en-US" smtClean="0"/>
              <a:pPr/>
              <a:t>17</a:t>
            </a:fld>
            <a:r>
              <a:rPr lang="en-US" altLang="zh-CN" dirty="0"/>
              <a:t>/33</a:t>
            </a:r>
            <a:endParaRPr lang="en-US" dirty="0"/>
          </a:p>
        </p:txBody>
      </p:sp>
      <p:pic>
        <p:nvPicPr>
          <p:cNvPr id="24" name="Picture 3">
            <a:extLst>
              <a:ext uri="{FF2B5EF4-FFF2-40B4-BE49-F238E27FC236}">
                <a16:creationId xmlns:a16="http://schemas.microsoft.com/office/drawing/2014/main" id="{88B7C7F3-BB4A-BE58-1A0B-8FB7E129A4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1" y="3832162"/>
            <a:ext cx="3816350" cy="2384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5" name="Picture 4">
            <a:extLst>
              <a:ext uri="{FF2B5EF4-FFF2-40B4-BE49-F238E27FC236}">
                <a16:creationId xmlns:a16="http://schemas.microsoft.com/office/drawing/2014/main" id="{0464D64D-C81C-417E-DFFD-90B90B112F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8218" y="1347633"/>
            <a:ext cx="3579813" cy="2366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6" name="Picture 5">
            <a:extLst>
              <a:ext uri="{FF2B5EF4-FFF2-40B4-BE49-F238E27FC236}">
                <a16:creationId xmlns:a16="http://schemas.microsoft.com/office/drawing/2014/main" id="{82397775-962D-1D73-9400-1A51F9260C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7913" y="1457262"/>
            <a:ext cx="4819650" cy="18716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7" name="Rectangle 6">
            <a:extLst>
              <a:ext uri="{FF2B5EF4-FFF2-40B4-BE49-F238E27FC236}">
                <a16:creationId xmlns:a16="http://schemas.microsoft.com/office/drawing/2014/main" id="{5DC5B13B-8125-6508-CA32-3D8CFB11B376}"/>
              </a:ext>
            </a:extLst>
          </p:cNvPr>
          <p:cNvSpPr>
            <a:spLocks noChangeArrowheads="1"/>
          </p:cNvSpPr>
          <p:nvPr/>
        </p:nvSpPr>
        <p:spPr bwMode="auto">
          <a:xfrm>
            <a:off x="6697663" y="4680019"/>
            <a:ext cx="185737"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P</a:t>
            </a:r>
          </a:p>
        </p:txBody>
      </p:sp>
      <p:sp>
        <p:nvSpPr>
          <p:cNvPr id="28" name="Rectangle 7">
            <a:extLst>
              <a:ext uri="{FF2B5EF4-FFF2-40B4-BE49-F238E27FC236}">
                <a16:creationId xmlns:a16="http://schemas.microsoft.com/office/drawing/2014/main" id="{BE38C543-965A-B209-4150-79EC5AC20430}"/>
              </a:ext>
            </a:extLst>
          </p:cNvPr>
          <p:cNvSpPr>
            <a:spLocks noChangeArrowheads="1"/>
          </p:cNvSpPr>
          <p:nvPr/>
        </p:nvSpPr>
        <p:spPr bwMode="auto">
          <a:xfrm>
            <a:off x="8335963" y="4684781"/>
            <a:ext cx="220662"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400"/>
              <a:t>N</a:t>
            </a:r>
          </a:p>
        </p:txBody>
      </p:sp>
      <p:sp>
        <p:nvSpPr>
          <p:cNvPr id="29" name="Rectangle 8">
            <a:extLst>
              <a:ext uri="{FF2B5EF4-FFF2-40B4-BE49-F238E27FC236}">
                <a16:creationId xmlns:a16="http://schemas.microsoft.com/office/drawing/2014/main" id="{D0AE66F9-C735-C178-2AC9-AFC7E62526E0}"/>
              </a:ext>
            </a:extLst>
          </p:cNvPr>
          <p:cNvSpPr>
            <a:spLocks noChangeArrowheads="1"/>
          </p:cNvSpPr>
          <p:nvPr/>
        </p:nvSpPr>
        <p:spPr bwMode="auto">
          <a:xfrm>
            <a:off x="6721475" y="5815081"/>
            <a:ext cx="17081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2400" dirty="0">
                <a:latin typeface="+mj-ea"/>
                <a:ea typeface="+mj-ea"/>
              </a:rPr>
              <a:t>二极管符号</a:t>
            </a:r>
          </a:p>
        </p:txBody>
      </p:sp>
      <p:sp>
        <p:nvSpPr>
          <p:cNvPr id="30" name="Line 9">
            <a:extLst>
              <a:ext uri="{FF2B5EF4-FFF2-40B4-BE49-F238E27FC236}">
                <a16:creationId xmlns:a16="http://schemas.microsoft.com/office/drawing/2014/main" id="{C1C5DD0A-B14E-82AD-06DA-AA56122A8C7F}"/>
              </a:ext>
            </a:extLst>
          </p:cNvPr>
          <p:cNvSpPr>
            <a:spLocks noChangeShapeType="1"/>
          </p:cNvSpPr>
          <p:nvPr/>
        </p:nvSpPr>
        <p:spPr bwMode="auto">
          <a:xfrm rot="16200000">
            <a:off x="7512844" y="5203100"/>
            <a:ext cx="504825" cy="1587"/>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1" name="AutoShape 10">
            <a:extLst>
              <a:ext uri="{FF2B5EF4-FFF2-40B4-BE49-F238E27FC236}">
                <a16:creationId xmlns:a16="http://schemas.microsoft.com/office/drawing/2014/main" id="{AA4F148E-C115-26F4-E352-71AE1B17C1F7}"/>
              </a:ext>
            </a:extLst>
          </p:cNvPr>
          <p:cNvSpPr>
            <a:spLocks noChangeArrowheads="1"/>
          </p:cNvSpPr>
          <p:nvPr/>
        </p:nvSpPr>
        <p:spPr bwMode="auto">
          <a:xfrm rot="16200000" flipV="1">
            <a:off x="7362825" y="5032444"/>
            <a:ext cx="431800" cy="342900"/>
          </a:xfrm>
          <a:prstGeom prst="triangle">
            <a:avLst>
              <a:gd name="adj" fmla="val 50000"/>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2" name="Line 11">
            <a:extLst>
              <a:ext uri="{FF2B5EF4-FFF2-40B4-BE49-F238E27FC236}">
                <a16:creationId xmlns:a16="http://schemas.microsoft.com/office/drawing/2014/main" id="{DE0B28A7-04AD-C27F-14C2-B986CF2B661B}"/>
              </a:ext>
            </a:extLst>
          </p:cNvPr>
          <p:cNvSpPr>
            <a:spLocks noChangeShapeType="1"/>
          </p:cNvSpPr>
          <p:nvPr/>
        </p:nvSpPr>
        <p:spPr bwMode="auto">
          <a:xfrm>
            <a:off x="6557963" y="5203894"/>
            <a:ext cx="2124075"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33" name="Rectangle 12">
            <a:extLst>
              <a:ext uri="{FF2B5EF4-FFF2-40B4-BE49-F238E27FC236}">
                <a16:creationId xmlns:a16="http://schemas.microsoft.com/office/drawing/2014/main" id="{D37D3192-7738-0FF6-D166-136670B4F945}"/>
              </a:ext>
            </a:extLst>
          </p:cNvPr>
          <p:cNvSpPr>
            <a:spLocks noChangeArrowheads="1"/>
          </p:cNvSpPr>
          <p:nvPr/>
        </p:nvSpPr>
        <p:spPr bwMode="auto">
          <a:xfrm>
            <a:off x="2767013" y="3220974"/>
            <a:ext cx="14097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latin typeface="+mj-ea"/>
                <a:ea typeface="+mj-ea"/>
              </a:rPr>
              <a:t>点接触型</a:t>
            </a:r>
          </a:p>
        </p:txBody>
      </p:sp>
      <p:sp>
        <p:nvSpPr>
          <p:cNvPr id="34" name="Rectangle 13">
            <a:extLst>
              <a:ext uri="{FF2B5EF4-FFF2-40B4-BE49-F238E27FC236}">
                <a16:creationId xmlns:a16="http://schemas.microsoft.com/office/drawing/2014/main" id="{A0BCBC42-F06C-7727-DC9E-5D3F4D9A964B}"/>
              </a:ext>
            </a:extLst>
          </p:cNvPr>
          <p:cNvSpPr>
            <a:spLocks noChangeArrowheads="1"/>
          </p:cNvSpPr>
          <p:nvPr/>
        </p:nvSpPr>
        <p:spPr bwMode="auto">
          <a:xfrm>
            <a:off x="1435101" y="5884799"/>
            <a:ext cx="14097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latin typeface="+mj-ea"/>
                <a:ea typeface="+mj-ea"/>
              </a:rPr>
              <a:t>面接触型</a:t>
            </a:r>
          </a:p>
        </p:txBody>
      </p:sp>
      <p:sp>
        <p:nvSpPr>
          <p:cNvPr id="35" name="Rectangle 14">
            <a:extLst>
              <a:ext uri="{FF2B5EF4-FFF2-40B4-BE49-F238E27FC236}">
                <a16:creationId xmlns:a16="http://schemas.microsoft.com/office/drawing/2014/main" id="{9252A5D0-27BF-D97F-5C82-4EC65AE5126D}"/>
              </a:ext>
            </a:extLst>
          </p:cNvPr>
          <p:cNvSpPr>
            <a:spLocks noChangeArrowheads="1"/>
          </p:cNvSpPr>
          <p:nvPr/>
        </p:nvSpPr>
        <p:spPr bwMode="auto">
          <a:xfrm>
            <a:off x="6966743" y="3868583"/>
            <a:ext cx="11033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dirty="0">
                <a:latin typeface="+mj-ea"/>
                <a:ea typeface="+mj-ea"/>
              </a:rPr>
              <a:t>平面型</a:t>
            </a:r>
          </a:p>
        </p:txBody>
      </p:sp>
      <p:sp>
        <p:nvSpPr>
          <p:cNvPr id="36" name="Rectangle 15">
            <a:extLst>
              <a:ext uri="{FF2B5EF4-FFF2-40B4-BE49-F238E27FC236}">
                <a16:creationId xmlns:a16="http://schemas.microsoft.com/office/drawing/2014/main" id="{5BD6AE2B-6F8F-7D01-50F7-48C2572DACDB}"/>
              </a:ext>
            </a:extLst>
          </p:cNvPr>
          <p:cNvSpPr>
            <a:spLocks noChangeArrowheads="1"/>
          </p:cNvSpPr>
          <p:nvPr/>
        </p:nvSpPr>
        <p:spPr bwMode="auto">
          <a:xfrm>
            <a:off x="6521450" y="5302319"/>
            <a:ext cx="609600"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t>阳极</a:t>
            </a:r>
          </a:p>
        </p:txBody>
      </p:sp>
      <p:sp>
        <p:nvSpPr>
          <p:cNvPr id="37" name="Rectangle 16">
            <a:extLst>
              <a:ext uri="{FF2B5EF4-FFF2-40B4-BE49-F238E27FC236}">
                <a16:creationId xmlns:a16="http://schemas.microsoft.com/office/drawing/2014/main" id="{552C23C5-D6A8-160B-CC9B-153EDD4D448F}"/>
              </a:ext>
            </a:extLst>
          </p:cNvPr>
          <p:cNvSpPr>
            <a:spLocks noChangeArrowheads="1"/>
          </p:cNvSpPr>
          <p:nvPr/>
        </p:nvSpPr>
        <p:spPr bwMode="auto">
          <a:xfrm>
            <a:off x="8177213" y="5307081"/>
            <a:ext cx="609600"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a:t>阴极</a:t>
            </a:r>
          </a:p>
        </p:txBody>
      </p:sp>
      <p:sp>
        <p:nvSpPr>
          <p:cNvPr id="38" name="椭圆形标注 37">
            <a:extLst>
              <a:ext uri="{FF2B5EF4-FFF2-40B4-BE49-F238E27FC236}">
                <a16:creationId xmlns:a16="http://schemas.microsoft.com/office/drawing/2014/main" id="{00D214A8-462C-A80A-0C6F-5D28173F0792}"/>
              </a:ext>
            </a:extLst>
          </p:cNvPr>
          <p:cNvSpPr/>
          <p:nvPr/>
        </p:nvSpPr>
        <p:spPr>
          <a:xfrm>
            <a:off x="149903" y="490293"/>
            <a:ext cx="2694898" cy="1357660"/>
          </a:xfrm>
          <a:prstGeom prst="wedgeEllipseCallout">
            <a:avLst>
              <a:gd name="adj1" fmla="val 83002"/>
              <a:gd name="adj2" fmla="val 91494"/>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00FF"/>
                </a:solidFill>
              </a:rPr>
              <a:t>会怎样</a:t>
            </a:r>
            <a:endParaRPr lang="en-US" altLang="zh-CN" sz="1600" b="1" dirty="0">
              <a:solidFill>
                <a:srgbClr val="0000FF"/>
              </a:solidFill>
            </a:endParaRPr>
          </a:p>
          <a:p>
            <a:pPr algn="ctr"/>
            <a:r>
              <a:rPr lang="zh-CN" altLang="en-US" sz="1600" dirty="0">
                <a:solidFill>
                  <a:schemeClr val="tx1"/>
                </a:solidFill>
              </a:rPr>
              <a:t>金属</a:t>
            </a:r>
            <a:r>
              <a:rPr lang="en-US" altLang="zh-CN" sz="1600" dirty="0">
                <a:solidFill>
                  <a:schemeClr val="tx1"/>
                </a:solidFill>
              </a:rPr>
              <a:t>+N</a:t>
            </a:r>
            <a:r>
              <a:rPr lang="zh-CN" altLang="en-US" sz="1600" dirty="0">
                <a:solidFill>
                  <a:schemeClr val="tx1"/>
                </a:solidFill>
              </a:rPr>
              <a:t>型半导体</a:t>
            </a:r>
            <a:endParaRPr lang="en-US" altLang="zh-CN" sz="1600" dirty="0">
              <a:solidFill>
                <a:schemeClr val="tx1"/>
              </a:solidFill>
            </a:endParaRPr>
          </a:p>
          <a:p>
            <a:pPr algn="ctr"/>
            <a:r>
              <a:rPr lang="zh-CN" altLang="en-US" sz="1600" i="1" dirty="0">
                <a:solidFill>
                  <a:schemeClr val="tx1"/>
                </a:solidFill>
              </a:rPr>
              <a:t>耗尽区、电容、工作频率、导通和击穿电压？</a:t>
            </a:r>
            <a:endParaRPr lang="en-US" altLang="zh-CN" sz="1600" i="1" dirty="0">
              <a:solidFill>
                <a:schemeClr val="tx1"/>
              </a:solidFill>
            </a:endParaRPr>
          </a:p>
        </p:txBody>
      </p:sp>
      <p:sp>
        <p:nvSpPr>
          <p:cNvPr id="39" name="椭圆形标注 38">
            <a:extLst>
              <a:ext uri="{FF2B5EF4-FFF2-40B4-BE49-F238E27FC236}">
                <a16:creationId xmlns:a16="http://schemas.microsoft.com/office/drawing/2014/main" id="{37B07985-74C2-F705-01E0-FDE0BA015282}"/>
              </a:ext>
            </a:extLst>
          </p:cNvPr>
          <p:cNvSpPr/>
          <p:nvPr/>
        </p:nvSpPr>
        <p:spPr>
          <a:xfrm>
            <a:off x="149904" y="3220974"/>
            <a:ext cx="2694898" cy="1182854"/>
          </a:xfrm>
          <a:prstGeom prst="wedgeEllipseCallout">
            <a:avLst>
              <a:gd name="adj1" fmla="val 62138"/>
              <a:gd name="adj2" fmla="val 66041"/>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00FF"/>
                </a:solidFill>
              </a:rPr>
              <a:t>为什么</a:t>
            </a:r>
            <a:endParaRPr lang="en-US" altLang="zh-CN" sz="1600" b="1" dirty="0">
              <a:solidFill>
                <a:srgbClr val="0000FF"/>
              </a:solidFill>
            </a:endParaRPr>
          </a:p>
          <a:p>
            <a:pPr algn="ctr"/>
            <a:r>
              <a:rPr lang="zh-CN" altLang="en-US" sz="1600" dirty="0">
                <a:solidFill>
                  <a:schemeClr val="tx1"/>
                </a:solidFill>
              </a:rPr>
              <a:t>要有点接触和面接触两种？</a:t>
            </a:r>
          </a:p>
        </p:txBody>
      </p:sp>
      <p:sp>
        <p:nvSpPr>
          <p:cNvPr id="40" name="TextBox 2">
            <a:extLst>
              <a:ext uri="{FF2B5EF4-FFF2-40B4-BE49-F238E27FC236}">
                <a16:creationId xmlns:a16="http://schemas.microsoft.com/office/drawing/2014/main" id="{21FD907C-911F-5C2E-5930-9DC0ECDB4458}"/>
              </a:ext>
            </a:extLst>
          </p:cNvPr>
          <p:cNvSpPr txBox="1"/>
          <p:nvPr/>
        </p:nvSpPr>
        <p:spPr>
          <a:xfrm>
            <a:off x="7117556" y="532388"/>
            <a:ext cx="2031325" cy="646331"/>
          </a:xfrm>
          <a:prstGeom prst="rect">
            <a:avLst/>
          </a:prstGeom>
          <a:solidFill>
            <a:schemeClr val="accent1">
              <a:lumMod val="20000"/>
              <a:lumOff val="80000"/>
            </a:schemeClr>
          </a:solidFill>
          <a:ln>
            <a:solidFill>
              <a:schemeClr val="accent1">
                <a:lumMod val="50000"/>
              </a:schemeClr>
            </a:solidFill>
          </a:ln>
        </p:spPr>
        <p:txBody>
          <a:bodyPr wrap="none" rtlCol="0">
            <a:spAutoFit/>
          </a:bodyPr>
          <a:lstStyle/>
          <a:p>
            <a:r>
              <a:rPr lang="zh-CN" altLang="en-US" dirty="0">
                <a:latin typeface="+mj-ea"/>
                <a:ea typeface="+mj-ea"/>
              </a:rPr>
              <a:t>扩展学习：</a:t>
            </a:r>
            <a:endParaRPr lang="en-US" altLang="zh-CN" dirty="0">
              <a:latin typeface="+mj-ea"/>
              <a:ea typeface="+mj-ea"/>
            </a:endParaRPr>
          </a:p>
          <a:p>
            <a:r>
              <a:rPr lang="zh-CN" altLang="en-US" dirty="0">
                <a:latin typeface="+mj-ea"/>
                <a:ea typeface="+mj-ea"/>
              </a:rPr>
              <a:t>肖特基势垒二极管</a:t>
            </a:r>
            <a:endParaRPr lang="en-US" dirty="0">
              <a:latin typeface="+mj-ea"/>
              <a:ea typeface="+mj-ea"/>
            </a:endParaRPr>
          </a:p>
        </p:txBody>
      </p:sp>
    </p:spTree>
    <p:extLst>
      <p:ext uri="{BB962C8B-B14F-4D97-AF65-F5344CB8AC3E}">
        <p14:creationId xmlns:p14="http://schemas.microsoft.com/office/powerpoint/2010/main" val="145123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247B15-0936-CA4F-79C9-207B4C387CFC}"/>
              </a:ext>
            </a:extLst>
          </p:cNvPr>
          <p:cNvSpPr>
            <a:spLocks noGrp="1"/>
          </p:cNvSpPr>
          <p:nvPr>
            <p:ph type="title"/>
          </p:nvPr>
        </p:nvSpPr>
        <p:spPr/>
        <p:txBody>
          <a:bodyPr>
            <a:normAutofit fontScale="90000"/>
          </a:bodyPr>
          <a:lstStyle/>
          <a:p>
            <a:r>
              <a:rPr lang="zh-CN" altLang="en-US" dirty="0"/>
              <a:t>二极管伏安特性</a:t>
            </a:r>
            <a:endParaRPr kumimoji="1" lang="zh-CN" altLang="en-US" dirty="0"/>
          </a:p>
        </p:txBody>
      </p:sp>
      <p:sp>
        <p:nvSpPr>
          <p:cNvPr id="3" name="内容占位符 2">
            <a:extLst>
              <a:ext uri="{FF2B5EF4-FFF2-40B4-BE49-F238E27FC236}">
                <a16:creationId xmlns:a16="http://schemas.microsoft.com/office/drawing/2014/main" id="{D616CEBE-F5EB-8119-5CEE-2EEED5E385F1}"/>
              </a:ext>
            </a:extLst>
          </p:cNvPr>
          <p:cNvSpPr>
            <a:spLocks noGrp="1"/>
          </p:cNvSpPr>
          <p:nvPr>
            <p:ph idx="1"/>
          </p:nvPr>
        </p:nvSpPr>
        <p:spPr>
          <a:xfrm>
            <a:off x="17780" y="585760"/>
            <a:ext cx="4464279" cy="5947119"/>
          </a:xfrm>
        </p:spPr>
        <p:txBody>
          <a:bodyPr/>
          <a:lstStyle/>
          <a:p>
            <a:r>
              <a:rPr kumimoji="1" lang="zh-CN" altLang="en-US" dirty="0"/>
              <a:t>正向特性 </a:t>
            </a:r>
            <a:r>
              <a:rPr kumimoji="1" lang="en-US" altLang="zh-CN" dirty="0"/>
              <a:t>(</a:t>
            </a:r>
            <a:r>
              <a:rPr kumimoji="1" lang="zh-CN" altLang="en-US" dirty="0"/>
              <a:t>当</a:t>
            </a:r>
            <a:r>
              <a:rPr kumimoji="1" lang="en-US" altLang="zh-CN" i="1" dirty="0"/>
              <a:t>v </a:t>
            </a:r>
            <a:r>
              <a:rPr kumimoji="1" lang="en-US" altLang="zh-CN" dirty="0"/>
              <a:t>&gt; 0)</a:t>
            </a:r>
          </a:p>
          <a:p>
            <a:pPr lvl="1"/>
            <a:r>
              <a:rPr kumimoji="1" lang="zh-CN" altLang="en-US" dirty="0"/>
              <a:t>死区：</a:t>
            </a:r>
            <a:r>
              <a:rPr kumimoji="1" lang="en-US" altLang="zh-CN" i="1" dirty="0"/>
              <a:t>v </a:t>
            </a:r>
            <a:r>
              <a:rPr kumimoji="1" lang="en-US" altLang="zh-CN" dirty="0"/>
              <a:t>&lt;</a:t>
            </a:r>
            <a:r>
              <a:rPr kumimoji="1" lang="en-US" altLang="zh-CN" i="1" dirty="0"/>
              <a:t>V</a:t>
            </a:r>
            <a:r>
              <a:rPr kumimoji="1" lang="en-US" altLang="zh-CN" sz="1800" dirty="0"/>
              <a:t>th</a:t>
            </a:r>
            <a:r>
              <a:rPr kumimoji="1" lang="en-US" altLang="zh-CN" dirty="0"/>
              <a:t>,  </a:t>
            </a:r>
            <a:r>
              <a:rPr kumimoji="1" lang="en-US" altLang="zh-CN" i="1" dirty="0"/>
              <a:t>i</a:t>
            </a:r>
            <a:r>
              <a:rPr kumimoji="1" lang="en-US" altLang="ja-JP" dirty="0"/>
              <a:t>≈</a:t>
            </a:r>
            <a:r>
              <a:rPr kumimoji="1" lang="en-US" altLang="zh-CN" dirty="0"/>
              <a:t>0</a:t>
            </a:r>
          </a:p>
          <a:p>
            <a:pPr lvl="1"/>
            <a:r>
              <a:rPr kumimoji="1" lang="zh-CN" altLang="en-US" dirty="0"/>
              <a:t>导通区：</a:t>
            </a:r>
            <a:r>
              <a:rPr kumimoji="1" lang="en-US" altLang="zh-CN" i="1" dirty="0"/>
              <a:t>v </a:t>
            </a:r>
            <a:r>
              <a:rPr kumimoji="1" lang="en-US" altLang="zh-CN" dirty="0"/>
              <a:t>&gt;</a:t>
            </a:r>
            <a:r>
              <a:rPr kumimoji="1" lang="en-US" altLang="zh-CN" i="1" dirty="0"/>
              <a:t>V</a:t>
            </a:r>
            <a:r>
              <a:rPr kumimoji="1" lang="en-US" altLang="zh-CN" sz="1800" dirty="0"/>
              <a:t>th</a:t>
            </a:r>
            <a:r>
              <a:rPr kumimoji="1" lang="en-US" altLang="zh-CN" dirty="0"/>
              <a:t>, </a:t>
            </a:r>
            <a:r>
              <a:rPr kumimoji="1" lang="en-US" altLang="zh-CN" i="1" dirty="0"/>
              <a:t>i</a:t>
            </a:r>
            <a:r>
              <a:rPr kumimoji="1" lang="en-US" altLang="zh-CN" dirty="0"/>
              <a:t>≠0</a:t>
            </a:r>
          </a:p>
          <a:p>
            <a:pPr lvl="1">
              <a:buFontTx/>
              <a:buNone/>
            </a:pPr>
            <a:r>
              <a:rPr kumimoji="1" lang="en-US" altLang="zh-CN" dirty="0"/>
              <a:t>    (</a:t>
            </a:r>
            <a:r>
              <a:rPr kumimoji="1" lang="en-US" altLang="zh-CN" i="1" dirty="0"/>
              <a:t>V</a:t>
            </a:r>
            <a:r>
              <a:rPr kumimoji="1" lang="en-US" altLang="zh-CN" sz="1600" dirty="0"/>
              <a:t>th</a:t>
            </a:r>
            <a:r>
              <a:rPr kumimoji="1" lang="zh-CN" altLang="en-US" dirty="0"/>
              <a:t>：称为死区电压或门坎电压，硅二极管约为</a:t>
            </a:r>
            <a:r>
              <a:rPr kumimoji="1" lang="en-US" altLang="zh-CN" dirty="0"/>
              <a:t>0.5V</a:t>
            </a:r>
            <a:r>
              <a:rPr kumimoji="1" lang="zh-CN" altLang="en-US" dirty="0"/>
              <a:t>，锗二极管约为</a:t>
            </a:r>
            <a:r>
              <a:rPr kumimoji="1" lang="en-US" altLang="zh-CN" dirty="0"/>
              <a:t>0.1V)</a:t>
            </a:r>
          </a:p>
          <a:p>
            <a:pPr lvl="1">
              <a:buFontTx/>
              <a:buNone/>
            </a:pPr>
            <a:endParaRPr kumimoji="1" lang="zh-CN" altLang="en-US" dirty="0"/>
          </a:p>
          <a:p>
            <a:r>
              <a:rPr kumimoji="1" lang="zh-CN" altLang="en-US" dirty="0"/>
              <a:t>反向特性 </a:t>
            </a:r>
            <a:r>
              <a:rPr kumimoji="1" lang="en-US" altLang="zh-CN" dirty="0"/>
              <a:t>(</a:t>
            </a:r>
            <a:r>
              <a:rPr kumimoji="1" lang="zh-CN" altLang="en-US" dirty="0"/>
              <a:t>当</a:t>
            </a:r>
            <a:r>
              <a:rPr kumimoji="1" lang="en-US" altLang="zh-CN" i="1" dirty="0"/>
              <a:t>v </a:t>
            </a:r>
            <a:r>
              <a:rPr kumimoji="1" lang="en-US" altLang="zh-CN" dirty="0"/>
              <a:t>&lt; 0)</a:t>
            </a:r>
          </a:p>
          <a:p>
            <a:pPr lvl="1"/>
            <a:r>
              <a:rPr kumimoji="1" lang="zh-CN" altLang="en-US" dirty="0"/>
              <a:t>截止区：</a:t>
            </a:r>
            <a:r>
              <a:rPr kumimoji="1" lang="en-US" altLang="zh-CN" dirty="0"/>
              <a:t>|</a:t>
            </a:r>
            <a:r>
              <a:rPr kumimoji="1" lang="en-US" altLang="zh-CN" i="1" dirty="0"/>
              <a:t>v</a:t>
            </a:r>
            <a:r>
              <a:rPr kumimoji="1" lang="en-US" altLang="zh-CN" dirty="0"/>
              <a:t>|&lt;</a:t>
            </a:r>
            <a:r>
              <a:rPr kumimoji="1" lang="en-US" altLang="zh-CN" i="1" dirty="0"/>
              <a:t>V</a:t>
            </a:r>
            <a:r>
              <a:rPr kumimoji="1" lang="en-US" altLang="zh-CN" sz="1600" dirty="0"/>
              <a:t>BR</a:t>
            </a:r>
            <a:r>
              <a:rPr kumimoji="1" lang="en-US" altLang="zh-CN" dirty="0"/>
              <a:t>, </a:t>
            </a:r>
            <a:r>
              <a:rPr kumimoji="1" lang="zh-CN" altLang="en-US" dirty="0"/>
              <a:t> </a:t>
            </a:r>
            <a:r>
              <a:rPr kumimoji="1" lang="en-US" altLang="zh-CN" i="1" dirty="0"/>
              <a:t>i</a:t>
            </a:r>
            <a:r>
              <a:rPr kumimoji="1" lang="en-US" altLang="ja-JP" dirty="0"/>
              <a:t>≈</a:t>
            </a:r>
            <a:r>
              <a:rPr kumimoji="1" lang="en-US" altLang="zh-CN" dirty="0"/>
              <a:t>0</a:t>
            </a:r>
            <a:endParaRPr kumimoji="1" lang="zh-CN" altLang="en-US" sz="1800" dirty="0"/>
          </a:p>
          <a:p>
            <a:pPr lvl="1"/>
            <a:r>
              <a:rPr kumimoji="1" lang="zh-CN" altLang="en-US" dirty="0"/>
              <a:t>击穿区：</a:t>
            </a:r>
            <a:r>
              <a:rPr kumimoji="1" lang="en-US" altLang="zh-CN" dirty="0"/>
              <a:t>|</a:t>
            </a:r>
            <a:r>
              <a:rPr kumimoji="1" lang="en-US" altLang="zh-CN" i="1" dirty="0"/>
              <a:t>v</a:t>
            </a:r>
            <a:r>
              <a:rPr kumimoji="1" lang="en-US" altLang="zh-CN" dirty="0"/>
              <a:t>|&gt;</a:t>
            </a:r>
            <a:r>
              <a:rPr kumimoji="1" lang="en-US" altLang="zh-CN" i="1" dirty="0"/>
              <a:t>V</a:t>
            </a:r>
            <a:r>
              <a:rPr kumimoji="1" lang="en-US" altLang="zh-CN" sz="1600" dirty="0"/>
              <a:t>BR</a:t>
            </a:r>
            <a:r>
              <a:rPr kumimoji="1" lang="en-US" altLang="zh-CN" dirty="0"/>
              <a:t>,  </a:t>
            </a:r>
            <a:r>
              <a:rPr kumimoji="1" lang="en-US" altLang="zh-CN" i="1" dirty="0"/>
              <a:t>i</a:t>
            </a:r>
            <a:r>
              <a:rPr kumimoji="1" lang="en-US" altLang="zh-CN" dirty="0"/>
              <a:t>≠0</a:t>
            </a:r>
          </a:p>
          <a:p>
            <a:pPr lvl="1">
              <a:buFontTx/>
              <a:buNone/>
            </a:pPr>
            <a:r>
              <a:rPr kumimoji="1" lang="zh-CN" altLang="en-US" dirty="0"/>
              <a:t>	</a:t>
            </a:r>
            <a:r>
              <a:rPr kumimoji="1" lang="en-US" altLang="zh-CN" dirty="0"/>
              <a:t>(</a:t>
            </a:r>
            <a:r>
              <a:rPr kumimoji="1" lang="en-US" altLang="zh-CN" i="1" dirty="0"/>
              <a:t>V</a:t>
            </a:r>
            <a:r>
              <a:rPr kumimoji="1" lang="en-US" altLang="zh-CN" sz="1600" dirty="0"/>
              <a:t>BR</a:t>
            </a:r>
            <a:r>
              <a:rPr kumimoji="1" lang="zh-CN" altLang="en-US" dirty="0"/>
              <a:t>：称为击穿电压</a:t>
            </a:r>
            <a:r>
              <a:rPr kumimoji="1" lang="en-US" altLang="zh-CN" dirty="0"/>
              <a:t>)</a:t>
            </a:r>
          </a:p>
          <a:p>
            <a:endParaRPr kumimoji="1" lang="zh-CN" altLang="en-US" dirty="0"/>
          </a:p>
        </p:txBody>
      </p:sp>
      <p:sp>
        <p:nvSpPr>
          <p:cNvPr id="4" name="页脚占位符 3">
            <a:extLst>
              <a:ext uri="{FF2B5EF4-FFF2-40B4-BE49-F238E27FC236}">
                <a16:creationId xmlns:a16="http://schemas.microsoft.com/office/drawing/2014/main" id="{C9DC364E-AE0C-0A6C-D563-34C1C7C726FC}"/>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8A084B3C-12F5-52F6-4F37-0ED674BE2023}"/>
              </a:ext>
            </a:extLst>
          </p:cNvPr>
          <p:cNvSpPr>
            <a:spLocks noGrp="1"/>
          </p:cNvSpPr>
          <p:nvPr>
            <p:ph type="sldNum" sz="quarter" idx="12"/>
          </p:nvPr>
        </p:nvSpPr>
        <p:spPr/>
        <p:txBody>
          <a:bodyPr/>
          <a:lstStyle/>
          <a:p>
            <a:fld id="{9E260BC5-5BF3-8746-862B-DC45E9CAA88B}" type="slidenum">
              <a:rPr lang="en-US" smtClean="0"/>
              <a:pPr/>
              <a:t>18</a:t>
            </a:fld>
            <a:r>
              <a:rPr lang="en-US" altLang="zh-CN" dirty="0"/>
              <a:t>/33</a:t>
            </a:r>
            <a:endParaRPr lang="en-US" dirty="0"/>
          </a:p>
        </p:txBody>
      </p:sp>
      <p:sp>
        <p:nvSpPr>
          <p:cNvPr id="6" name="Freeform 3">
            <a:extLst>
              <a:ext uri="{FF2B5EF4-FFF2-40B4-BE49-F238E27FC236}">
                <a16:creationId xmlns:a16="http://schemas.microsoft.com/office/drawing/2014/main" id="{41F57D98-6DA7-9B54-EE83-14B0143DFEF3}"/>
              </a:ext>
            </a:extLst>
          </p:cNvPr>
          <p:cNvSpPr>
            <a:spLocks/>
          </p:cNvSpPr>
          <p:nvPr/>
        </p:nvSpPr>
        <p:spPr bwMode="auto">
          <a:xfrm>
            <a:off x="7222581" y="2367561"/>
            <a:ext cx="860425" cy="1827213"/>
          </a:xfrm>
          <a:custGeom>
            <a:avLst/>
            <a:gdLst>
              <a:gd name="T0" fmla="*/ 0 w 542"/>
              <a:gd name="T1" fmla="*/ 2147483646 h 1151"/>
              <a:gd name="T2" fmla="*/ 2147483646 w 542"/>
              <a:gd name="T3" fmla="*/ 2147483646 h 1151"/>
              <a:gd name="T4" fmla="*/ 2147483646 w 542"/>
              <a:gd name="T5" fmla="*/ 2147483646 h 1151"/>
              <a:gd name="T6" fmla="*/ 2147483646 w 542"/>
              <a:gd name="T7" fmla="*/ 2147483646 h 1151"/>
              <a:gd name="T8" fmla="*/ 2147483646 w 542"/>
              <a:gd name="T9" fmla="*/ 2147483646 h 1151"/>
              <a:gd name="T10" fmla="*/ 2147483646 w 542"/>
              <a:gd name="T11" fmla="*/ 2147483646 h 1151"/>
              <a:gd name="T12" fmla="*/ 2147483646 w 542"/>
              <a:gd name="T13" fmla="*/ 0 h 1151"/>
              <a:gd name="T14" fmla="*/ 0 60000 65536"/>
              <a:gd name="T15" fmla="*/ 0 60000 65536"/>
              <a:gd name="T16" fmla="*/ 0 60000 65536"/>
              <a:gd name="T17" fmla="*/ 0 60000 65536"/>
              <a:gd name="T18" fmla="*/ 0 60000 65536"/>
              <a:gd name="T19" fmla="*/ 0 60000 65536"/>
              <a:gd name="T20" fmla="*/ 0 60000 65536"/>
              <a:gd name="T21" fmla="*/ 0 w 542"/>
              <a:gd name="T22" fmla="*/ 0 h 1151"/>
              <a:gd name="T23" fmla="*/ 542 w 542"/>
              <a:gd name="T24" fmla="*/ 1151 h 11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2" h="1151">
                <a:moveTo>
                  <a:pt x="0" y="1148"/>
                </a:moveTo>
                <a:cubicBezTo>
                  <a:pt x="46" y="1147"/>
                  <a:pt x="218" y="1151"/>
                  <a:pt x="278" y="1140"/>
                </a:cubicBezTo>
                <a:cubicBezTo>
                  <a:pt x="337" y="1129"/>
                  <a:pt x="340" y="1098"/>
                  <a:pt x="357" y="1081"/>
                </a:cubicBezTo>
                <a:cubicBezTo>
                  <a:pt x="374" y="1065"/>
                  <a:pt x="375" y="1057"/>
                  <a:pt x="382" y="1042"/>
                </a:cubicBezTo>
                <a:cubicBezTo>
                  <a:pt x="390" y="1027"/>
                  <a:pt x="394" y="1021"/>
                  <a:pt x="403" y="990"/>
                </a:cubicBezTo>
                <a:cubicBezTo>
                  <a:pt x="412" y="958"/>
                  <a:pt x="416" y="1017"/>
                  <a:pt x="439" y="852"/>
                </a:cubicBezTo>
                <a:cubicBezTo>
                  <a:pt x="462" y="687"/>
                  <a:pt x="521" y="177"/>
                  <a:pt x="542" y="0"/>
                </a:cubicBezTo>
              </a:path>
            </a:pathLst>
          </a:custGeom>
          <a:noFill/>
          <a:ln w="38100">
            <a:solidFill>
              <a:schemeClr val="tx1"/>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7" name="Line 4">
            <a:extLst>
              <a:ext uri="{FF2B5EF4-FFF2-40B4-BE49-F238E27FC236}">
                <a16:creationId xmlns:a16="http://schemas.microsoft.com/office/drawing/2014/main" id="{04134856-9576-BF9B-F7CF-CDA07208091F}"/>
              </a:ext>
            </a:extLst>
          </p:cNvPr>
          <p:cNvSpPr>
            <a:spLocks noChangeShapeType="1"/>
          </p:cNvSpPr>
          <p:nvPr/>
        </p:nvSpPr>
        <p:spPr bwMode="auto">
          <a:xfrm>
            <a:off x="7222581" y="4210649"/>
            <a:ext cx="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lIns="90000" tIns="46800" rIns="90000" bIns="46800" anchor="ctr">
            <a:spAutoFit/>
          </a:bodyPr>
          <a:lstStyle/>
          <a:p>
            <a:endParaRPr lang="zh-CN" altLang="en-US"/>
          </a:p>
        </p:txBody>
      </p:sp>
      <p:sp>
        <p:nvSpPr>
          <p:cNvPr id="8" name="Freeform 5">
            <a:extLst>
              <a:ext uri="{FF2B5EF4-FFF2-40B4-BE49-F238E27FC236}">
                <a16:creationId xmlns:a16="http://schemas.microsoft.com/office/drawing/2014/main" id="{64628F82-CE29-6626-F640-ABF4AC5CB2C9}"/>
              </a:ext>
            </a:extLst>
          </p:cNvPr>
          <p:cNvSpPr>
            <a:spLocks/>
          </p:cNvSpPr>
          <p:nvPr/>
        </p:nvSpPr>
        <p:spPr bwMode="auto">
          <a:xfrm>
            <a:off x="5722393" y="4204299"/>
            <a:ext cx="1500188" cy="1458912"/>
          </a:xfrm>
          <a:custGeom>
            <a:avLst/>
            <a:gdLst>
              <a:gd name="T0" fmla="*/ 2147483646 w 1115"/>
              <a:gd name="T1" fmla="*/ 0 h 919"/>
              <a:gd name="T2" fmla="*/ 2147483646 w 1115"/>
              <a:gd name="T3" fmla="*/ 2147483646 h 919"/>
              <a:gd name="T4" fmla="*/ 2147483646 w 1115"/>
              <a:gd name="T5" fmla="*/ 2147483646 h 919"/>
              <a:gd name="T6" fmla="*/ 2147483646 w 1115"/>
              <a:gd name="T7" fmla="*/ 2147483646 h 919"/>
              <a:gd name="T8" fmla="*/ 2147483646 w 1115"/>
              <a:gd name="T9" fmla="*/ 2147483646 h 919"/>
              <a:gd name="T10" fmla="*/ 2147483646 w 1115"/>
              <a:gd name="T11" fmla="*/ 2147483646 h 919"/>
              <a:gd name="T12" fmla="*/ 2147483646 w 1115"/>
              <a:gd name="T13" fmla="*/ 2147483646 h 919"/>
              <a:gd name="T14" fmla="*/ 0 w 1115"/>
              <a:gd name="T15" fmla="*/ 2147483646 h 919"/>
              <a:gd name="T16" fmla="*/ 0 60000 65536"/>
              <a:gd name="T17" fmla="*/ 0 60000 65536"/>
              <a:gd name="T18" fmla="*/ 0 60000 65536"/>
              <a:gd name="T19" fmla="*/ 0 60000 65536"/>
              <a:gd name="T20" fmla="*/ 0 60000 65536"/>
              <a:gd name="T21" fmla="*/ 0 60000 65536"/>
              <a:gd name="T22" fmla="*/ 0 60000 65536"/>
              <a:gd name="T23" fmla="*/ 0 60000 65536"/>
              <a:gd name="T24" fmla="*/ 0 w 1115"/>
              <a:gd name="T25" fmla="*/ 0 h 919"/>
              <a:gd name="T26" fmla="*/ 1115 w 1115"/>
              <a:gd name="T27" fmla="*/ 919 h 9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15" h="919">
                <a:moveTo>
                  <a:pt x="1115" y="0"/>
                </a:moveTo>
                <a:cubicBezTo>
                  <a:pt x="1104" y="5"/>
                  <a:pt x="1080" y="26"/>
                  <a:pt x="1049" y="32"/>
                </a:cubicBezTo>
                <a:cubicBezTo>
                  <a:pt x="1018" y="39"/>
                  <a:pt x="1017" y="38"/>
                  <a:pt x="929" y="41"/>
                </a:cubicBezTo>
                <a:cubicBezTo>
                  <a:pt x="841" y="43"/>
                  <a:pt x="639" y="43"/>
                  <a:pt x="521" y="45"/>
                </a:cubicBezTo>
                <a:cubicBezTo>
                  <a:pt x="403" y="47"/>
                  <a:pt x="287" y="47"/>
                  <a:pt x="221" y="53"/>
                </a:cubicBezTo>
                <a:cubicBezTo>
                  <a:pt x="155" y="58"/>
                  <a:pt x="149" y="55"/>
                  <a:pt x="125" y="77"/>
                </a:cubicBezTo>
                <a:cubicBezTo>
                  <a:pt x="101" y="99"/>
                  <a:pt x="98" y="46"/>
                  <a:pt x="77" y="186"/>
                </a:cubicBezTo>
                <a:cubicBezTo>
                  <a:pt x="56" y="326"/>
                  <a:pt x="16" y="766"/>
                  <a:pt x="0" y="919"/>
                </a:cubicBezTo>
              </a:path>
            </a:pathLst>
          </a:custGeom>
          <a:noFill/>
          <a:ln w="38100">
            <a:solidFill>
              <a:schemeClr val="tx1"/>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9" name="Line 6">
            <a:extLst>
              <a:ext uri="{FF2B5EF4-FFF2-40B4-BE49-F238E27FC236}">
                <a16:creationId xmlns:a16="http://schemas.microsoft.com/office/drawing/2014/main" id="{FA147491-AFAE-043B-4DB4-A7470EA2A3A6}"/>
              </a:ext>
            </a:extLst>
          </p:cNvPr>
          <p:cNvSpPr>
            <a:spLocks noChangeShapeType="1"/>
          </p:cNvSpPr>
          <p:nvPr/>
        </p:nvSpPr>
        <p:spPr bwMode="auto">
          <a:xfrm>
            <a:off x="7222581" y="2061174"/>
            <a:ext cx="0" cy="3636962"/>
          </a:xfrm>
          <a:prstGeom prst="line">
            <a:avLst/>
          </a:prstGeom>
          <a:noFill/>
          <a:ln w="25400">
            <a:solidFill>
              <a:schemeClr val="tx1"/>
            </a:solidFill>
            <a:round/>
            <a:headEnd type="triangle" w="med" len="lg"/>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0" name="Line 7">
            <a:extLst>
              <a:ext uri="{FF2B5EF4-FFF2-40B4-BE49-F238E27FC236}">
                <a16:creationId xmlns:a16="http://schemas.microsoft.com/office/drawing/2014/main" id="{2ABE9938-9BD4-1999-EFA8-B933443F3393}"/>
              </a:ext>
            </a:extLst>
          </p:cNvPr>
          <p:cNvSpPr>
            <a:spLocks noChangeShapeType="1"/>
          </p:cNvSpPr>
          <p:nvPr/>
        </p:nvSpPr>
        <p:spPr bwMode="auto">
          <a:xfrm rot="5400000">
            <a:off x="7077325" y="2357242"/>
            <a:ext cx="0" cy="3671887"/>
          </a:xfrm>
          <a:prstGeom prst="line">
            <a:avLst/>
          </a:prstGeom>
          <a:noFill/>
          <a:ln w="25400">
            <a:solidFill>
              <a:schemeClr val="tx1"/>
            </a:solidFill>
            <a:round/>
            <a:headEnd type="triangle" w="med" len="lg"/>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1" name="Text Box 8">
            <a:extLst>
              <a:ext uri="{FF2B5EF4-FFF2-40B4-BE49-F238E27FC236}">
                <a16:creationId xmlns:a16="http://schemas.microsoft.com/office/drawing/2014/main" id="{4C62D047-2364-90BB-DB90-464BA5742279}"/>
              </a:ext>
            </a:extLst>
          </p:cNvPr>
          <p:cNvSpPr txBox="1">
            <a:spLocks noChangeArrowheads="1"/>
          </p:cNvSpPr>
          <p:nvPr/>
        </p:nvSpPr>
        <p:spPr bwMode="auto">
          <a:xfrm>
            <a:off x="8871993" y="3926486"/>
            <a:ext cx="338138"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0"/>
              </a:spcAft>
              <a:buFontTx/>
              <a:buNone/>
            </a:pPr>
            <a:r>
              <a:rPr kumimoji="1" lang="en-US" altLang="zh-CN" i="1">
                <a:ea typeface="楷体_GB2312" pitchFamily="49" charset="-122"/>
              </a:rPr>
              <a:t>v</a:t>
            </a:r>
          </a:p>
        </p:txBody>
      </p:sp>
      <p:sp>
        <p:nvSpPr>
          <p:cNvPr id="12" name="Text Box 9">
            <a:extLst>
              <a:ext uri="{FF2B5EF4-FFF2-40B4-BE49-F238E27FC236}">
                <a16:creationId xmlns:a16="http://schemas.microsoft.com/office/drawing/2014/main" id="{37A5AA6F-494C-DD45-8E23-3A7332F01DED}"/>
              </a:ext>
            </a:extLst>
          </p:cNvPr>
          <p:cNvSpPr txBox="1">
            <a:spLocks noChangeArrowheads="1"/>
          </p:cNvSpPr>
          <p:nvPr/>
        </p:nvSpPr>
        <p:spPr bwMode="auto">
          <a:xfrm>
            <a:off x="7255918" y="1897661"/>
            <a:ext cx="400050"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0"/>
              </a:spcAft>
              <a:buFontTx/>
              <a:buNone/>
            </a:pPr>
            <a:r>
              <a:rPr kumimoji="1" lang="en-US" altLang="zh-CN" i="1">
                <a:ea typeface="楷体_GB2312" pitchFamily="49" charset="-122"/>
              </a:rPr>
              <a:t>i</a:t>
            </a:r>
          </a:p>
        </p:txBody>
      </p:sp>
      <p:sp>
        <p:nvSpPr>
          <p:cNvPr id="13" name="Text Box 10">
            <a:extLst>
              <a:ext uri="{FF2B5EF4-FFF2-40B4-BE49-F238E27FC236}">
                <a16:creationId xmlns:a16="http://schemas.microsoft.com/office/drawing/2014/main" id="{F9615E03-0672-AD19-B761-5446B176B417}"/>
              </a:ext>
            </a:extLst>
          </p:cNvPr>
          <p:cNvSpPr txBox="1">
            <a:spLocks noChangeArrowheads="1"/>
          </p:cNvSpPr>
          <p:nvPr/>
        </p:nvSpPr>
        <p:spPr bwMode="auto">
          <a:xfrm>
            <a:off x="7257506" y="3051774"/>
            <a:ext cx="433387"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kumimoji="1" lang="zh-CN" altLang="en-US" sz="2000">
                <a:latin typeface="宋体" panose="02010600030101010101" pitchFamily="2" charset="-122"/>
              </a:rPr>
              <a:t>死</a:t>
            </a:r>
          </a:p>
          <a:p>
            <a:pPr eaLnBrk="1" hangingPunct="1">
              <a:lnSpc>
                <a:spcPct val="90000"/>
              </a:lnSpc>
              <a:spcAft>
                <a:spcPct val="0"/>
              </a:spcAft>
              <a:buFontTx/>
              <a:buNone/>
            </a:pPr>
            <a:r>
              <a:rPr kumimoji="1" lang="zh-CN" altLang="en-US" sz="2000">
                <a:latin typeface="宋体" panose="02010600030101010101" pitchFamily="2" charset="-122"/>
              </a:rPr>
              <a:t>区</a:t>
            </a:r>
            <a:endParaRPr kumimoji="1" lang="zh-CN" altLang="en-US" sz="2000">
              <a:ea typeface="楷体_GB2312" pitchFamily="49" charset="-122"/>
            </a:endParaRPr>
          </a:p>
        </p:txBody>
      </p:sp>
      <p:sp>
        <p:nvSpPr>
          <p:cNvPr id="14" name="Line 11">
            <a:extLst>
              <a:ext uri="{FF2B5EF4-FFF2-40B4-BE49-F238E27FC236}">
                <a16:creationId xmlns:a16="http://schemas.microsoft.com/office/drawing/2014/main" id="{5A5CB6CD-84E8-FAAC-27A0-1BC6B6F63950}"/>
              </a:ext>
            </a:extLst>
          </p:cNvPr>
          <p:cNvSpPr>
            <a:spLocks noChangeShapeType="1"/>
          </p:cNvSpPr>
          <p:nvPr/>
        </p:nvSpPr>
        <p:spPr bwMode="auto">
          <a:xfrm>
            <a:off x="5830343" y="2378674"/>
            <a:ext cx="0" cy="3313112"/>
          </a:xfrm>
          <a:prstGeom prst="line">
            <a:avLst/>
          </a:prstGeom>
          <a:noFill/>
          <a:ln w="19050">
            <a:solidFill>
              <a:srgbClr val="0033CC"/>
            </a:solidFill>
            <a:prstDash val="dash"/>
            <a:round/>
            <a:headEnd/>
            <a:tailEnd/>
          </a:ln>
          <a:extLst>
            <a:ext uri="{909E8E84-426E-40dd-AFC4-6F175D3DCCD1}">
              <a14:hiddenFill xmlns="" xmlns:a14="http://schemas.microsoft.com/office/drawing/2010/main">
                <a:noFill/>
              </a14:hiddenFill>
            </a:ext>
          </a:extLst>
        </p:spPr>
        <p:txBody>
          <a:bodyPr wrap="none" anchor="ctr"/>
          <a:lstStyle/>
          <a:p>
            <a:endParaRPr lang="zh-CN" altLang="en-US"/>
          </a:p>
        </p:txBody>
      </p:sp>
      <p:sp>
        <p:nvSpPr>
          <p:cNvPr id="15" name="Line 12">
            <a:extLst>
              <a:ext uri="{FF2B5EF4-FFF2-40B4-BE49-F238E27FC236}">
                <a16:creationId xmlns:a16="http://schemas.microsoft.com/office/drawing/2014/main" id="{0F4E3826-1B88-C771-C1EE-8A8294CB296A}"/>
              </a:ext>
            </a:extLst>
          </p:cNvPr>
          <p:cNvSpPr>
            <a:spLocks noChangeShapeType="1"/>
          </p:cNvSpPr>
          <p:nvPr/>
        </p:nvSpPr>
        <p:spPr bwMode="auto">
          <a:xfrm flipH="1">
            <a:off x="8060781" y="4237636"/>
            <a:ext cx="38100" cy="22860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zh-CN" altLang="en-US"/>
          </a:p>
        </p:txBody>
      </p:sp>
      <p:sp>
        <p:nvSpPr>
          <p:cNvPr id="16" name="Line 13">
            <a:extLst>
              <a:ext uri="{FF2B5EF4-FFF2-40B4-BE49-F238E27FC236}">
                <a16:creationId xmlns:a16="http://schemas.microsoft.com/office/drawing/2014/main" id="{2BF22C61-BDF6-9284-160B-A4EEC4556064}"/>
              </a:ext>
            </a:extLst>
          </p:cNvPr>
          <p:cNvSpPr>
            <a:spLocks noChangeShapeType="1"/>
          </p:cNvSpPr>
          <p:nvPr/>
        </p:nvSpPr>
        <p:spPr bwMode="auto">
          <a:xfrm>
            <a:off x="7727406" y="2385024"/>
            <a:ext cx="0" cy="3306762"/>
          </a:xfrm>
          <a:prstGeom prst="line">
            <a:avLst/>
          </a:prstGeom>
          <a:noFill/>
          <a:ln w="19050">
            <a:solidFill>
              <a:srgbClr val="0033CC"/>
            </a:solidFill>
            <a:prstDash val="dash"/>
            <a:round/>
            <a:headEnd type="none" w="sm" len="sm"/>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7" name="Text Box 14">
            <a:extLst>
              <a:ext uri="{FF2B5EF4-FFF2-40B4-BE49-F238E27FC236}">
                <a16:creationId xmlns:a16="http://schemas.microsoft.com/office/drawing/2014/main" id="{39375025-650C-C057-C240-CBCABCF71A1C}"/>
              </a:ext>
            </a:extLst>
          </p:cNvPr>
          <p:cNvSpPr txBox="1">
            <a:spLocks noChangeArrowheads="1"/>
          </p:cNvSpPr>
          <p:nvPr/>
        </p:nvSpPr>
        <p:spPr bwMode="auto">
          <a:xfrm>
            <a:off x="5998618" y="3207349"/>
            <a:ext cx="1044575"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kumimoji="1" lang="zh-CN" altLang="en-US" sz="2000">
                <a:latin typeface="宋体" panose="02010600030101010101" pitchFamily="2" charset="-122"/>
              </a:rPr>
              <a:t>截止区</a:t>
            </a:r>
            <a:endParaRPr kumimoji="1" lang="en-US" altLang="zh-CN" sz="2000">
              <a:latin typeface="宋体" panose="02010600030101010101" pitchFamily="2" charset="-122"/>
            </a:endParaRPr>
          </a:p>
        </p:txBody>
      </p:sp>
      <p:sp>
        <p:nvSpPr>
          <p:cNvPr id="18" name="Text Box 15">
            <a:extLst>
              <a:ext uri="{FF2B5EF4-FFF2-40B4-BE49-F238E27FC236}">
                <a16:creationId xmlns:a16="http://schemas.microsoft.com/office/drawing/2014/main" id="{75DC96CC-0C12-79AC-4516-97755743D711}"/>
              </a:ext>
            </a:extLst>
          </p:cNvPr>
          <p:cNvSpPr txBox="1">
            <a:spLocks noChangeArrowheads="1"/>
          </p:cNvSpPr>
          <p:nvPr/>
        </p:nvSpPr>
        <p:spPr bwMode="auto">
          <a:xfrm>
            <a:off x="7882981" y="3194649"/>
            <a:ext cx="1189037"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kumimoji="1" lang="zh-CN" altLang="en-US" sz="2000">
                <a:latin typeface="宋体" panose="02010600030101010101" pitchFamily="2" charset="-122"/>
              </a:rPr>
              <a:t>导通区</a:t>
            </a:r>
            <a:endParaRPr kumimoji="1" lang="zh-CN" altLang="en-US" sz="2000">
              <a:ea typeface="楷体_GB2312" pitchFamily="49" charset="-122"/>
            </a:endParaRPr>
          </a:p>
        </p:txBody>
      </p:sp>
      <p:sp>
        <p:nvSpPr>
          <p:cNvPr id="19" name="Text Box 16">
            <a:extLst>
              <a:ext uri="{FF2B5EF4-FFF2-40B4-BE49-F238E27FC236}">
                <a16:creationId xmlns:a16="http://schemas.microsoft.com/office/drawing/2014/main" id="{5E0034DC-EF8E-FD5C-2150-5AC3D605DF50}"/>
              </a:ext>
            </a:extLst>
          </p:cNvPr>
          <p:cNvSpPr txBox="1">
            <a:spLocks noChangeArrowheads="1"/>
          </p:cNvSpPr>
          <p:nvPr/>
        </p:nvSpPr>
        <p:spPr bwMode="auto">
          <a:xfrm>
            <a:off x="5242968" y="2904136"/>
            <a:ext cx="539750" cy="915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kumimoji="1" lang="zh-CN" altLang="en-US" sz="2000">
                <a:latin typeface="宋体" panose="02010600030101010101" pitchFamily="2" charset="-122"/>
              </a:rPr>
              <a:t>击穿区</a:t>
            </a:r>
            <a:endParaRPr kumimoji="1" lang="zh-CN" altLang="en-US" sz="2000">
              <a:ea typeface="楷体_GB2312" pitchFamily="49" charset="-122"/>
            </a:endParaRPr>
          </a:p>
        </p:txBody>
      </p:sp>
      <p:sp>
        <p:nvSpPr>
          <p:cNvPr id="20" name="AutoShape 17">
            <a:extLst>
              <a:ext uri="{FF2B5EF4-FFF2-40B4-BE49-F238E27FC236}">
                <a16:creationId xmlns:a16="http://schemas.microsoft.com/office/drawing/2014/main" id="{7F3D06B7-BFA9-8D22-B1D7-308EA5B351E0}"/>
              </a:ext>
            </a:extLst>
          </p:cNvPr>
          <p:cNvSpPr>
            <a:spLocks noChangeArrowheads="1"/>
          </p:cNvSpPr>
          <p:nvPr/>
        </p:nvSpPr>
        <p:spPr bwMode="auto">
          <a:xfrm>
            <a:off x="7841706" y="1503961"/>
            <a:ext cx="1468437" cy="649288"/>
          </a:xfrm>
          <a:prstGeom prst="wedgeEllipseCallout">
            <a:avLst>
              <a:gd name="adj1" fmla="val -36056"/>
              <a:gd name="adj2" fmla="val 86431"/>
            </a:avLst>
          </a:prstGeom>
          <a:solidFill>
            <a:srgbClr val="FFFF99"/>
          </a:solidFill>
          <a:ln w="9525">
            <a:solidFill>
              <a:schemeClr val="tx1"/>
            </a:solidFill>
            <a:miter lim="800000"/>
            <a:headEnd/>
            <a:tailEnd/>
          </a:ln>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a:latin typeface="Arial" panose="020B0604020202020204" pitchFamily="34" charset="0"/>
              </a:rPr>
              <a:t>正向特性</a:t>
            </a:r>
          </a:p>
        </p:txBody>
      </p:sp>
      <p:sp>
        <p:nvSpPr>
          <p:cNvPr id="21" name="AutoShape 18">
            <a:extLst>
              <a:ext uri="{FF2B5EF4-FFF2-40B4-BE49-F238E27FC236}">
                <a16:creationId xmlns:a16="http://schemas.microsoft.com/office/drawing/2014/main" id="{501E7B7A-EC53-C9AF-8369-EA763A396B95}"/>
              </a:ext>
            </a:extLst>
          </p:cNvPr>
          <p:cNvSpPr>
            <a:spLocks noChangeArrowheads="1"/>
          </p:cNvSpPr>
          <p:nvPr/>
        </p:nvSpPr>
        <p:spPr bwMode="auto">
          <a:xfrm>
            <a:off x="5997031" y="5120286"/>
            <a:ext cx="1476375" cy="649288"/>
          </a:xfrm>
          <a:prstGeom prst="wedgeEllipseCallout">
            <a:avLst>
              <a:gd name="adj1" fmla="val -64194"/>
              <a:gd name="adj2" fmla="val -30440"/>
            </a:avLst>
          </a:prstGeom>
          <a:solidFill>
            <a:srgbClr val="FFFF99"/>
          </a:solidFill>
          <a:ln w="9525">
            <a:solidFill>
              <a:schemeClr val="tx1"/>
            </a:solidFill>
            <a:miter lim="800000"/>
            <a:headEnd/>
            <a:tailEnd/>
          </a:ln>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a:latin typeface="Arial" panose="020B0604020202020204" pitchFamily="34" charset="0"/>
              </a:rPr>
              <a:t>反向特性</a:t>
            </a:r>
          </a:p>
        </p:txBody>
      </p:sp>
      <p:sp>
        <p:nvSpPr>
          <p:cNvPr id="22" name="Text Box 19">
            <a:extLst>
              <a:ext uri="{FF2B5EF4-FFF2-40B4-BE49-F238E27FC236}">
                <a16:creationId xmlns:a16="http://schemas.microsoft.com/office/drawing/2014/main" id="{D2059702-0F76-1706-771E-D6144E54D771}"/>
              </a:ext>
            </a:extLst>
          </p:cNvPr>
          <p:cNvSpPr txBox="1">
            <a:spLocks noChangeArrowheads="1"/>
          </p:cNvSpPr>
          <p:nvPr/>
        </p:nvSpPr>
        <p:spPr bwMode="auto">
          <a:xfrm>
            <a:off x="7719468" y="4212236"/>
            <a:ext cx="538163" cy="452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buFontTx/>
              <a:buNone/>
            </a:pPr>
            <a:r>
              <a:rPr lang="en-US" altLang="zh-CN" sz="2000" i="1"/>
              <a:t>V</a:t>
            </a:r>
            <a:r>
              <a:rPr lang="en-US" altLang="zh-CN" sz="2400" baseline="-25000"/>
              <a:t>th</a:t>
            </a:r>
          </a:p>
        </p:txBody>
      </p:sp>
      <p:sp>
        <p:nvSpPr>
          <p:cNvPr id="23" name="Text Box 20">
            <a:extLst>
              <a:ext uri="{FF2B5EF4-FFF2-40B4-BE49-F238E27FC236}">
                <a16:creationId xmlns:a16="http://schemas.microsoft.com/office/drawing/2014/main" id="{198E7D93-3E08-A37E-621E-E95711BD1900}"/>
              </a:ext>
            </a:extLst>
          </p:cNvPr>
          <p:cNvSpPr txBox="1">
            <a:spLocks noChangeArrowheads="1"/>
          </p:cNvSpPr>
          <p:nvPr/>
        </p:nvSpPr>
        <p:spPr bwMode="auto">
          <a:xfrm>
            <a:off x="5096918" y="4226524"/>
            <a:ext cx="725488"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Aft>
                <a:spcPct val="0"/>
              </a:spcAft>
              <a:buFontTx/>
              <a:buNone/>
            </a:pPr>
            <a:r>
              <a:rPr lang="en-US" altLang="zh-CN" sz="2000"/>
              <a:t>-</a:t>
            </a:r>
            <a:r>
              <a:rPr lang="en-US" altLang="zh-CN" sz="2000" i="1"/>
              <a:t>V</a:t>
            </a:r>
            <a:r>
              <a:rPr lang="en-US" altLang="zh-CN" sz="2400" baseline="-25000"/>
              <a:t>BR</a:t>
            </a:r>
          </a:p>
        </p:txBody>
      </p:sp>
      <p:grpSp>
        <p:nvGrpSpPr>
          <p:cNvPr id="24" name="Group 21">
            <a:extLst>
              <a:ext uri="{FF2B5EF4-FFF2-40B4-BE49-F238E27FC236}">
                <a16:creationId xmlns:a16="http://schemas.microsoft.com/office/drawing/2014/main" id="{9326B092-7E20-5FE5-F799-1B56D2F8A885}"/>
              </a:ext>
            </a:extLst>
          </p:cNvPr>
          <p:cNvGrpSpPr>
            <a:grpSpLocks/>
          </p:cNvGrpSpPr>
          <p:nvPr/>
        </p:nvGrpSpPr>
        <p:grpSpPr bwMode="auto">
          <a:xfrm>
            <a:off x="5423943" y="908649"/>
            <a:ext cx="1468438" cy="1179512"/>
            <a:chOff x="3089" y="714"/>
            <a:chExt cx="925" cy="743"/>
          </a:xfrm>
        </p:grpSpPr>
        <p:sp>
          <p:nvSpPr>
            <p:cNvPr id="25" name="Rectangle 22">
              <a:extLst>
                <a:ext uri="{FF2B5EF4-FFF2-40B4-BE49-F238E27FC236}">
                  <a16:creationId xmlns:a16="http://schemas.microsoft.com/office/drawing/2014/main" id="{13D52847-FD00-176E-891F-F2B9D899DDBC}"/>
                </a:ext>
              </a:extLst>
            </p:cNvPr>
            <p:cNvSpPr>
              <a:spLocks noChangeArrowheads="1"/>
            </p:cNvSpPr>
            <p:nvPr/>
          </p:nvSpPr>
          <p:spPr bwMode="auto">
            <a:xfrm>
              <a:off x="3089" y="1161"/>
              <a:ext cx="109" cy="2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t>+</a:t>
              </a:r>
            </a:p>
          </p:txBody>
        </p:sp>
        <p:sp>
          <p:nvSpPr>
            <p:cNvPr id="26" name="Line 23">
              <a:extLst>
                <a:ext uri="{FF2B5EF4-FFF2-40B4-BE49-F238E27FC236}">
                  <a16:creationId xmlns:a16="http://schemas.microsoft.com/office/drawing/2014/main" id="{E9F64009-55AA-6E1E-1855-2F8669A00E38}"/>
                </a:ext>
              </a:extLst>
            </p:cNvPr>
            <p:cNvSpPr>
              <a:spLocks noChangeShapeType="1"/>
            </p:cNvSpPr>
            <p:nvPr/>
          </p:nvSpPr>
          <p:spPr bwMode="auto">
            <a:xfrm rot="-5400000">
              <a:off x="3511" y="1071"/>
              <a:ext cx="246" cy="1"/>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7" name="AutoShape 24">
              <a:extLst>
                <a:ext uri="{FF2B5EF4-FFF2-40B4-BE49-F238E27FC236}">
                  <a16:creationId xmlns:a16="http://schemas.microsoft.com/office/drawing/2014/main" id="{09BF9D84-EB95-86B5-C268-6902C25095C8}"/>
                </a:ext>
              </a:extLst>
            </p:cNvPr>
            <p:cNvSpPr>
              <a:spLocks noChangeArrowheads="1"/>
            </p:cNvSpPr>
            <p:nvPr/>
          </p:nvSpPr>
          <p:spPr bwMode="auto">
            <a:xfrm rot="16200000" flipV="1">
              <a:off x="3438" y="988"/>
              <a:ext cx="210" cy="167"/>
            </a:xfrm>
            <a:prstGeom prst="triangle">
              <a:avLst>
                <a:gd name="adj" fmla="val 50000"/>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8" name="Line 25">
              <a:extLst>
                <a:ext uri="{FF2B5EF4-FFF2-40B4-BE49-F238E27FC236}">
                  <a16:creationId xmlns:a16="http://schemas.microsoft.com/office/drawing/2014/main" id="{2D8CEE09-A0DE-D747-D34B-3F3C794B0028}"/>
                </a:ext>
              </a:extLst>
            </p:cNvPr>
            <p:cNvSpPr>
              <a:spLocks noChangeShapeType="1"/>
            </p:cNvSpPr>
            <p:nvPr/>
          </p:nvSpPr>
          <p:spPr bwMode="auto">
            <a:xfrm>
              <a:off x="3175" y="1072"/>
              <a:ext cx="748"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9" name="Rectangle 26">
              <a:extLst>
                <a:ext uri="{FF2B5EF4-FFF2-40B4-BE49-F238E27FC236}">
                  <a16:creationId xmlns:a16="http://schemas.microsoft.com/office/drawing/2014/main" id="{050B27ED-BB01-5756-3D19-30551E4D3B67}"/>
                </a:ext>
              </a:extLst>
            </p:cNvPr>
            <p:cNvSpPr>
              <a:spLocks noChangeArrowheads="1"/>
            </p:cNvSpPr>
            <p:nvPr/>
          </p:nvSpPr>
          <p:spPr bwMode="auto">
            <a:xfrm>
              <a:off x="3918" y="1139"/>
              <a:ext cx="96" cy="2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a:cs typeface="Times New Roman" panose="02020603050405020304" pitchFamily="18" charset="0"/>
                </a:rPr>
                <a:t>–</a:t>
              </a:r>
            </a:p>
          </p:txBody>
        </p:sp>
        <p:sp>
          <p:nvSpPr>
            <p:cNvPr id="30" name="Text Box 27">
              <a:extLst>
                <a:ext uri="{FF2B5EF4-FFF2-40B4-BE49-F238E27FC236}">
                  <a16:creationId xmlns:a16="http://schemas.microsoft.com/office/drawing/2014/main" id="{375B982D-56FB-FC3A-C25E-2FE114DAC5B1}"/>
                </a:ext>
              </a:extLst>
            </p:cNvPr>
            <p:cNvSpPr txBox="1">
              <a:spLocks noChangeArrowheads="1"/>
            </p:cNvSpPr>
            <p:nvPr/>
          </p:nvSpPr>
          <p:spPr bwMode="auto">
            <a:xfrm>
              <a:off x="3424" y="1130"/>
              <a:ext cx="213"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0"/>
                </a:spcAft>
                <a:buFontTx/>
                <a:buNone/>
              </a:pPr>
              <a:r>
                <a:rPr kumimoji="1" lang="en-US" altLang="zh-CN" i="1">
                  <a:ea typeface="楷体_GB2312" pitchFamily="49" charset="-122"/>
                </a:rPr>
                <a:t>v</a:t>
              </a:r>
            </a:p>
          </p:txBody>
        </p:sp>
        <p:sp>
          <p:nvSpPr>
            <p:cNvPr id="31" name="Text Box 28">
              <a:extLst>
                <a:ext uri="{FF2B5EF4-FFF2-40B4-BE49-F238E27FC236}">
                  <a16:creationId xmlns:a16="http://schemas.microsoft.com/office/drawing/2014/main" id="{C10D3C26-AE2B-13CB-2EC5-0A21BBD25AC5}"/>
                </a:ext>
              </a:extLst>
            </p:cNvPr>
            <p:cNvSpPr txBox="1">
              <a:spLocks noChangeArrowheads="1"/>
            </p:cNvSpPr>
            <p:nvPr/>
          </p:nvSpPr>
          <p:spPr bwMode="auto">
            <a:xfrm>
              <a:off x="3210" y="714"/>
              <a:ext cx="16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i="1"/>
                <a:t>i</a:t>
              </a:r>
              <a:endParaRPr lang="en-US" altLang="zh-CN" sz="2400"/>
            </a:p>
          </p:txBody>
        </p:sp>
        <p:sp>
          <p:nvSpPr>
            <p:cNvPr id="32" name="Line 29">
              <a:extLst>
                <a:ext uri="{FF2B5EF4-FFF2-40B4-BE49-F238E27FC236}">
                  <a16:creationId xmlns:a16="http://schemas.microsoft.com/office/drawing/2014/main" id="{1CEC8378-2457-BD43-E7DC-EA9DF429C19F}"/>
                </a:ext>
              </a:extLst>
            </p:cNvPr>
            <p:cNvSpPr>
              <a:spLocks noChangeShapeType="1"/>
            </p:cNvSpPr>
            <p:nvPr/>
          </p:nvSpPr>
          <p:spPr bwMode="auto">
            <a:xfrm flipH="1">
              <a:off x="3197" y="994"/>
              <a:ext cx="205" cy="0"/>
            </a:xfrm>
            <a:prstGeom prst="line">
              <a:avLst/>
            </a:prstGeom>
            <a:noFill/>
            <a:ln w="19050">
              <a:solidFill>
                <a:schemeClr val="tx1"/>
              </a:solidFill>
              <a:round/>
              <a:headEnd type="triangle" w="med" len="lg"/>
              <a:tailEnd type="none" w="med" len="lg"/>
            </a:ln>
            <a:extLst>
              <a:ext uri="{909E8E84-426E-40dd-AFC4-6F175D3DCCD1}">
                <a14:hiddenFill xmlns="" xmlns:a14="http://schemas.microsoft.com/office/drawing/2010/main">
                  <a:noFill/>
                </a14:hiddenFill>
              </a:ext>
            </a:extLst>
          </p:spPr>
          <p:txBody>
            <a:bodyPr/>
            <a:lstStyle/>
            <a:p>
              <a:endParaRPr lang="zh-CN" altLang="en-US"/>
            </a:p>
          </p:txBody>
        </p:sp>
        <p:sp>
          <p:nvSpPr>
            <p:cNvPr id="33" name="Oval 30">
              <a:extLst>
                <a:ext uri="{FF2B5EF4-FFF2-40B4-BE49-F238E27FC236}">
                  <a16:creationId xmlns:a16="http://schemas.microsoft.com/office/drawing/2014/main" id="{6B38DCC0-6EB9-E499-DC65-E1AA992C0EB2}"/>
                </a:ext>
              </a:extLst>
            </p:cNvPr>
            <p:cNvSpPr>
              <a:spLocks noChangeArrowheads="1"/>
            </p:cNvSpPr>
            <p:nvPr/>
          </p:nvSpPr>
          <p:spPr bwMode="auto">
            <a:xfrm>
              <a:off x="3923" y="1040"/>
              <a:ext cx="68" cy="68"/>
            </a:xfrm>
            <a:prstGeom prst="ellipse">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4" name="Oval 31">
              <a:extLst>
                <a:ext uri="{FF2B5EF4-FFF2-40B4-BE49-F238E27FC236}">
                  <a16:creationId xmlns:a16="http://schemas.microsoft.com/office/drawing/2014/main" id="{405CD4CB-BE17-4B5D-3F4E-23F5D4B683AD}"/>
                </a:ext>
              </a:extLst>
            </p:cNvPr>
            <p:cNvSpPr>
              <a:spLocks noChangeArrowheads="1"/>
            </p:cNvSpPr>
            <p:nvPr/>
          </p:nvSpPr>
          <p:spPr bwMode="auto">
            <a:xfrm>
              <a:off x="3107" y="1040"/>
              <a:ext cx="68" cy="68"/>
            </a:xfrm>
            <a:prstGeom prst="ellipse">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35" name="Rectangle 8">
            <a:extLst>
              <a:ext uri="{FF2B5EF4-FFF2-40B4-BE49-F238E27FC236}">
                <a16:creationId xmlns:a16="http://schemas.microsoft.com/office/drawing/2014/main" id="{D44E1D1B-D6DC-4E3E-88CB-2BFCEF79481F}"/>
              </a:ext>
            </a:extLst>
          </p:cNvPr>
          <p:cNvSpPr>
            <a:spLocks noChangeArrowheads="1"/>
          </p:cNvSpPr>
          <p:nvPr/>
        </p:nvSpPr>
        <p:spPr bwMode="auto">
          <a:xfrm>
            <a:off x="6012112" y="5945934"/>
            <a:ext cx="2339102"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2400" dirty="0">
                <a:latin typeface="+mj-ea"/>
                <a:ea typeface="+mj-ea"/>
              </a:rPr>
              <a:t>二极管伏安曲线</a:t>
            </a:r>
          </a:p>
        </p:txBody>
      </p:sp>
    </p:spTree>
    <p:extLst>
      <p:ext uri="{BB962C8B-B14F-4D97-AF65-F5344CB8AC3E}">
        <p14:creationId xmlns:p14="http://schemas.microsoft.com/office/powerpoint/2010/main" val="489233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3" grpId="0"/>
      <p:bldP spid="14" grpId="0" animBg="1"/>
      <p:bldP spid="16" grpId="0" animBg="1"/>
      <p:bldP spid="17" grpId="0"/>
      <p:bldP spid="18" grpId="0"/>
      <p:bldP spid="19" grpId="0"/>
      <p:bldP spid="20" grpId="0" animBg="1"/>
      <p:bldP spid="21" grpId="0" animBg="1"/>
      <p:bldP spid="22" grpId="0"/>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209B16-B7B6-9DD4-D72D-34C5437D4B26}"/>
              </a:ext>
            </a:extLst>
          </p:cNvPr>
          <p:cNvSpPr>
            <a:spLocks noGrp="1"/>
          </p:cNvSpPr>
          <p:nvPr>
            <p:ph type="title"/>
          </p:nvPr>
        </p:nvSpPr>
        <p:spPr/>
        <p:txBody>
          <a:bodyPr>
            <a:normAutofit fontScale="90000"/>
          </a:bodyPr>
          <a:lstStyle/>
          <a:p>
            <a:r>
              <a:rPr lang="zh-CN" altLang="en-US" dirty="0"/>
              <a:t>二极管主要参数</a:t>
            </a:r>
            <a:endParaRPr kumimoji="1" lang="zh-CN" altLang="en-US" dirty="0"/>
          </a:p>
        </p:txBody>
      </p:sp>
      <p:sp>
        <p:nvSpPr>
          <p:cNvPr id="3" name="内容占位符 2">
            <a:extLst>
              <a:ext uri="{FF2B5EF4-FFF2-40B4-BE49-F238E27FC236}">
                <a16:creationId xmlns:a16="http://schemas.microsoft.com/office/drawing/2014/main" id="{FAA2867F-B936-EE47-3959-DEDE3ED8A123}"/>
              </a:ext>
            </a:extLst>
          </p:cNvPr>
          <p:cNvSpPr>
            <a:spLocks noGrp="1"/>
          </p:cNvSpPr>
          <p:nvPr>
            <p:ph idx="1"/>
          </p:nvPr>
        </p:nvSpPr>
        <p:spPr/>
        <p:txBody>
          <a:bodyPr/>
          <a:lstStyle/>
          <a:p>
            <a:r>
              <a:rPr kumimoji="1" lang="zh-CN" altLang="en-US" dirty="0">
                <a:solidFill>
                  <a:srgbClr val="000000"/>
                </a:solidFill>
              </a:rPr>
              <a:t>反映二极管的电性能，是正确选用二极管的依据</a:t>
            </a:r>
            <a:endParaRPr kumimoji="1" lang="zh-CN" altLang="en-US" dirty="0">
              <a:latin typeface="宋体" panose="02010600030101010101" pitchFamily="2" charset="-122"/>
            </a:endParaRPr>
          </a:p>
          <a:p>
            <a:pPr lvl="1">
              <a:lnSpc>
                <a:spcPct val="110000"/>
              </a:lnSpc>
            </a:pPr>
            <a:r>
              <a:rPr kumimoji="1" lang="zh-CN" altLang="en-US" dirty="0">
                <a:latin typeface="宋体" panose="02010600030101010101" pitchFamily="2" charset="-122"/>
              </a:rPr>
              <a:t>最大整流电流</a:t>
            </a:r>
            <a:r>
              <a:rPr kumimoji="1" lang="en-US" altLang="zh-CN" dirty="0">
                <a:latin typeface="宋体" panose="02010600030101010101" pitchFamily="2" charset="-122"/>
              </a:rPr>
              <a:t>I</a:t>
            </a:r>
            <a:r>
              <a:rPr kumimoji="1" lang="zh-CN" altLang="en-US" sz="1600" dirty="0">
                <a:latin typeface="宋体" panose="02010600030101010101" pitchFamily="2" charset="-122"/>
              </a:rPr>
              <a:t>F</a:t>
            </a:r>
            <a:endParaRPr kumimoji="1" lang="en-US" altLang="zh-CN" sz="1600" dirty="0">
              <a:latin typeface="宋体" panose="02010600030101010101" pitchFamily="2" charset="-122"/>
            </a:endParaRPr>
          </a:p>
          <a:p>
            <a:pPr lvl="2">
              <a:lnSpc>
                <a:spcPct val="110000"/>
              </a:lnSpc>
            </a:pPr>
            <a:r>
              <a:rPr lang="zh-CN" altLang="en-US" dirty="0"/>
              <a:t>长期运行所允许承受的最大正向平均电流</a:t>
            </a:r>
            <a:endParaRPr kumimoji="1" lang="zh-CN" altLang="ja-JP" dirty="0">
              <a:latin typeface="宋体" panose="02010600030101010101" pitchFamily="2" charset="-122"/>
            </a:endParaRPr>
          </a:p>
          <a:p>
            <a:pPr lvl="1">
              <a:lnSpc>
                <a:spcPct val="110000"/>
              </a:lnSpc>
            </a:pPr>
            <a:r>
              <a:rPr kumimoji="1" lang="zh-CN" altLang="en-US" dirty="0">
                <a:latin typeface="宋体" panose="02010600030101010101" pitchFamily="2" charset="-122"/>
              </a:rPr>
              <a:t>最大反向工作电压V</a:t>
            </a:r>
            <a:r>
              <a:rPr kumimoji="1" lang="en-US" altLang="zh-CN" sz="1600" dirty="0">
                <a:latin typeface="宋体" panose="02010600030101010101" pitchFamily="2" charset="-122"/>
              </a:rPr>
              <a:t>R</a:t>
            </a:r>
            <a:endParaRPr kumimoji="1" lang="en-US" altLang="zh-CN" dirty="0">
              <a:latin typeface="宋体" panose="02010600030101010101" pitchFamily="2" charset="-122"/>
            </a:endParaRPr>
          </a:p>
          <a:p>
            <a:pPr lvl="1">
              <a:lnSpc>
                <a:spcPct val="110000"/>
              </a:lnSpc>
            </a:pPr>
            <a:r>
              <a:rPr kumimoji="1" lang="zh-CN" altLang="en-US" dirty="0">
                <a:latin typeface="宋体" panose="02010600030101010101" pitchFamily="2" charset="-122"/>
              </a:rPr>
              <a:t>最高工作频率</a:t>
            </a:r>
            <a:r>
              <a:rPr kumimoji="1" lang="en-US" altLang="zh-CN" dirty="0" err="1">
                <a:latin typeface="宋体" panose="02010600030101010101" pitchFamily="2" charset="-122"/>
              </a:rPr>
              <a:t>f</a:t>
            </a:r>
            <a:r>
              <a:rPr kumimoji="1" lang="en-US" altLang="zh-CN" sz="1600" dirty="0" err="1">
                <a:latin typeface="宋体" panose="02010600030101010101" pitchFamily="2" charset="-122"/>
              </a:rPr>
              <a:t>M</a:t>
            </a:r>
            <a:endParaRPr kumimoji="1" lang="zh-CN" altLang="ja-JP" sz="2000" dirty="0">
              <a:latin typeface="宋体" panose="02010600030101010101" pitchFamily="2" charset="-122"/>
            </a:endParaRPr>
          </a:p>
          <a:p>
            <a:pPr lvl="1">
              <a:lnSpc>
                <a:spcPct val="110000"/>
              </a:lnSpc>
            </a:pPr>
            <a:r>
              <a:rPr kumimoji="1" lang="zh-CN" altLang="en-US" dirty="0">
                <a:latin typeface="宋体" panose="02010600030101010101" pitchFamily="2" charset="-122"/>
              </a:rPr>
              <a:t>反向电流</a:t>
            </a:r>
            <a:r>
              <a:rPr kumimoji="1" lang="en-US" altLang="zh-CN" dirty="0">
                <a:latin typeface="宋体" panose="02010600030101010101" pitchFamily="2" charset="-122"/>
              </a:rPr>
              <a:t>I</a:t>
            </a:r>
            <a:r>
              <a:rPr kumimoji="1" lang="en-US" altLang="zh-CN" sz="1600" dirty="0">
                <a:latin typeface="宋体" panose="02010600030101010101" pitchFamily="2" charset="-122"/>
              </a:rPr>
              <a:t>R</a:t>
            </a:r>
            <a:endParaRPr kumimoji="1" lang="en-US" altLang="zh-CN" dirty="0">
              <a:latin typeface="宋体" panose="02010600030101010101" pitchFamily="2" charset="-122"/>
            </a:endParaRPr>
          </a:p>
          <a:p>
            <a:pPr lvl="1">
              <a:lnSpc>
                <a:spcPct val="110000"/>
              </a:lnSpc>
            </a:pPr>
            <a:r>
              <a:rPr kumimoji="1" lang="zh-CN" altLang="en-US" dirty="0">
                <a:latin typeface="宋体" panose="02010600030101010101" pitchFamily="2" charset="-122"/>
              </a:rPr>
              <a:t>正向导通压降</a:t>
            </a:r>
            <a:r>
              <a:rPr kumimoji="1" lang="en-US" altLang="zh-CN" dirty="0">
                <a:latin typeface="宋体" panose="02010600030101010101" pitchFamily="2" charset="-122"/>
              </a:rPr>
              <a:t>V</a:t>
            </a:r>
            <a:r>
              <a:rPr kumimoji="1" lang="en-US" altLang="zh-CN" sz="1600" dirty="0">
                <a:latin typeface="宋体" panose="02010600030101010101" pitchFamily="2" charset="-122"/>
              </a:rPr>
              <a:t>F</a:t>
            </a:r>
            <a:endParaRPr kumimoji="1" lang="zh-CN" altLang="en-US" dirty="0">
              <a:latin typeface="宋体" panose="02010600030101010101" pitchFamily="2" charset="-122"/>
            </a:endParaRPr>
          </a:p>
          <a:p>
            <a:endParaRPr kumimoji="1" lang="zh-CN" altLang="en-US" dirty="0"/>
          </a:p>
        </p:txBody>
      </p:sp>
      <p:sp>
        <p:nvSpPr>
          <p:cNvPr id="4" name="页脚占位符 3">
            <a:extLst>
              <a:ext uri="{FF2B5EF4-FFF2-40B4-BE49-F238E27FC236}">
                <a16:creationId xmlns:a16="http://schemas.microsoft.com/office/drawing/2014/main" id="{2F2D5EB9-4B84-7B94-A59E-3150A6628701}"/>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5C3AAA48-DE44-83F0-362B-5F89B29106C4}"/>
              </a:ext>
            </a:extLst>
          </p:cNvPr>
          <p:cNvSpPr>
            <a:spLocks noGrp="1"/>
          </p:cNvSpPr>
          <p:nvPr>
            <p:ph type="sldNum" sz="quarter" idx="12"/>
          </p:nvPr>
        </p:nvSpPr>
        <p:spPr/>
        <p:txBody>
          <a:bodyPr/>
          <a:lstStyle/>
          <a:p>
            <a:fld id="{9E260BC5-5BF3-8746-862B-DC45E9CAA88B}" type="slidenum">
              <a:rPr lang="en-US" smtClean="0"/>
              <a:pPr/>
              <a:t>19</a:t>
            </a:fld>
            <a:r>
              <a:rPr lang="en-US" altLang="zh-CN" dirty="0"/>
              <a:t>/33</a:t>
            </a:r>
            <a:endParaRPr lang="en-US" dirty="0"/>
          </a:p>
        </p:txBody>
      </p:sp>
      <p:sp>
        <p:nvSpPr>
          <p:cNvPr id="6" name="Freeform 5">
            <a:extLst>
              <a:ext uri="{FF2B5EF4-FFF2-40B4-BE49-F238E27FC236}">
                <a16:creationId xmlns:a16="http://schemas.microsoft.com/office/drawing/2014/main" id="{E58C461C-D87E-2F10-C259-53E475DB9B3F}"/>
              </a:ext>
            </a:extLst>
          </p:cNvPr>
          <p:cNvSpPr>
            <a:spLocks/>
          </p:cNvSpPr>
          <p:nvPr/>
        </p:nvSpPr>
        <p:spPr bwMode="auto">
          <a:xfrm>
            <a:off x="7475220" y="2129123"/>
            <a:ext cx="860425" cy="2024063"/>
          </a:xfrm>
          <a:custGeom>
            <a:avLst/>
            <a:gdLst>
              <a:gd name="T0" fmla="*/ 0 w 542"/>
              <a:gd name="T1" fmla="*/ 2147483646 h 1151"/>
              <a:gd name="T2" fmla="*/ 2147483646 w 542"/>
              <a:gd name="T3" fmla="*/ 2147483646 h 1151"/>
              <a:gd name="T4" fmla="*/ 2147483646 w 542"/>
              <a:gd name="T5" fmla="*/ 2147483646 h 1151"/>
              <a:gd name="T6" fmla="*/ 2147483646 w 542"/>
              <a:gd name="T7" fmla="*/ 2147483646 h 1151"/>
              <a:gd name="T8" fmla="*/ 2147483646 w 542"/>
              <a:gd name="T9" fmla="*/ 2147483646 h 1151"/>
              <a:gd name="T10" fmla="*/ 2147483646 w 542"/>
              <a:gd name="T11" fmla="*/ 2147483646 h 1151"/>
              <a:gd name="T12" fmla="*/ 2147483646 w 542"/>
              <a:gd name="T13" fmla="*/ 0 h 1151"/>
              <a:gd name="T14" fmla="*/ 0 60000 65536"/>
              <a:gd name="T15" fmla="*/ 0 60000 65536"/>
              <a:gd name="T16" fmla="*/ 0 60000 65536"/>
              <a:gd name="T17" fmla="*/ 0 60000 65536"/>
              <a:gd name="T18" fmla="*/ 0 60000 65536"/>
              <a:gd name="T19" fmla="*/ 0 60000 65536"/>
              <a:gd name="T20" fmla="*/ 0 60000 65536"/>
              <a:gd name="T21" fmla="*/ 0 w 542"/>
              <a:gd name="T22" fmla="*/ 0 h 1151"/>
              <a:gd name="T23" fmla="*/ 542 w 542"/>
              <a:gd name="T24" fmla="*/ 1151 h 11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2" h="1151">
                <a:moveTo>
                  <a:pt x="0" y="1148"/>
                </a:moveTo>
                <a:cubicBezTo>
                  <a:pt x="46" y="1147"/>
                  <a:pt x="218" y="1151"/>
                  <a:pt x="278" y="1140"/>
                </a:cubicBezTo>
                <a:cubicBezTo>
                  <a:pt x="337" y="1129"/>
                  <a:pt x="340" y="1098"/>
                  <a:pt x="357" y="1081"/>
                </a:cubicBezTo>
                <a:cubicBezTo>
                  <a:pt x="374" y="1065"/>
                  <a:pt x="375" y="1057"/>
                  <a:pt x="382" y="1042"/>
                </a:cubicBezTo>
                <a:cubicBezTo>
                  <a:pt x="390" y="1027"/>
                  <a:pt x="394" y="1021"/>
                  <a:pt x="403" y="990"/>
                </a:cubicBezTo>
                <a:cubicBezTo>
                  <a:pt x="412" y="958"/>
                  <a:pt x="416" y="1017"/>
                  <a:pt x="439" y="852"/>
                </a:cubicBezTo>
                <a:cubicBezTo>
                  <a:pt x="462" y="687"/>
                  <a:pt x="521" y="177"/>
                  <a:pt x="542" y="0"/>
                </a:cubicBezTo>
              </a:path>
            </a:pathLst>
          </a:custGeom>
          <a:noFill/>
          <a:ln w="38100">
            <a:solidFill>
              <a:schemeClr val="tx1"/>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7" name="Line 6">
            <a:extLst>
              <a:ext uri="{FF2B5EF4-FFF2-40B4-BE49-F238E27FC236}">
                <a16:creationId xmlns:a16="http://schemas.microsoft.com/office/drawing/2014/main" id="{920A0EE0-C2D9-0108-7E0F-B9CF830FC6DE}"/>
              </a:ext>
            </a:extLst>
          </p:cNvPr>
          <p:cNvSpPr>
            <a:spLocks noChangeShapeType="1"/>
          </p:cNvSpPr>
          <p:nvPr/>
        </p:nvSpPr>
        <p:spPr bwMode="auto">
          <a:xfrm>
            <a:off x="7475220" y="4170648"/>
            <a:ext cx="0" cy="0"/>
          </a:xfrm>
          <a:prstGeom prst="line">
            <a:avLst/>
          </a:prstGeom>
          <a:noFill/>
          <a:ln w="38100">
            <a:solidFill>
              <a:schemeClr val="tx1"/>
            </a:solidFill>
            <a:round/>
            <a:headEnd type="none" w="sm" len="sm"/>
            <a:tailEnd type="none" w="sm" len="sm"/>
          </a:ln>
          <a:extLst>
            <a:ext uri="{909E8E84-426E-40dd-AFC4-6F175D3DCCD1}">
              <a14:hiddenFill xmlns="" xmlns:a14="http://schemas.microsoft.com/office/drawing/2010/main">
                <a:noFill/>
              </a14:hiddenFill>
            </a:ext>
          </a:extLst>
        </p:spPr>
        <p:txBody>
          <a:bodyPr wrap="none" lIns="90000" tIns="46800" rIns="90000" bIns="46800" anchor="ctr">
            <a:spAutoFit/>
          </a:bodyPr>
          <a:lstStyle/>
          <a:p>
            <a:endParaRPr lang="zh-CN" altLang="en-US"/>
          </a:p>
        </p:txBody>
      </p:sp>
      <p:sp>
        <p:nvSpPr>
          <p:cNvPr id="8" name="Freeform 7">
            <a:extLst>
              <a:ext uri="{FF2B5EF4-FFF2-40B4-BE49-F238E27FC236}">
                <a16:creationId xmlns:a16="http://schemas.microsoft.com/office/drawing/2014/main" id="{C1AE5EEC-C52F-27BE-6A55-03605A64AFD7}"/>
              </a:ext>
            </a:extLst>
          </p:cNvPr>
          <p:cNvSpPr>
            <a:spLocks/>
          </p:cNvSpPr>
          <p:nvPr/>
        </p:nvSpPr>
        <p:spPr bwMode="auto">
          <a:xfrm>
            <a:off x="5659120" y="4164298"/>
            <a:ext cx="1816100" cy="881063"/>
          </a:xfrm>
          <a:custGeom>
            <a:avLst/>
            <a:gdLst>
              <a:gd name="T0" fmla="*/ 2147483646 w 1144"/>
              <a:gd name="T1" fmla="*/ 0 h 501"/>
              <a:gd name="T2" fmla="*/ 2147483646 w 1144"/>
              <a:gd name="T3" fmla="*/ 2147483646 h 501"/>
              <a:gd name="T4" fmla="*/ 2147483646 w 1144"/>
              <a:gd name="T5" fmla="*/ 2147483646 h 501"/>
              <a:gd name="T6" fmla="*/ 2147483646 w 1144"/>
              <a:gd name="T7" fmla="*/ 2147483646 h 501"/>
              <a:gd name="T8" fmla="*/ 2147483646 w 1144"/>
              <a:gd name="T9" fmla="*/ 2147483646 h 501"/>
              <a:gd name="T10" fmla="*/ 0 w 1144"/>
              <a:gd name="T11" fmla="*/ 2147483646 h 501"/>
              <a:gd name="T12" fmla="*/ 0 60000 65536"/>
              <a:gd name="T13" fmla="*/ 0 60000 65536"/>
              <a:gd name="T14" fmla="*/ 0 60000 65536"/>
              <a:gd name="T15" fmla="*/ 0 60000 65536"/>
              <a:gd name="T16" fmla="*/ 0 60000 65536"/>
              <a:gd name="T17" fmla="*/ 0 60000 65536"/>
              <a:gd name="T18" fmla="*/ 0 w 1144"/>
              <a:gd name="T19" fmla="*/ 0 h 501"/>
              <a:gd name="T20" fmla="*/ 1144 w 1144"/>
              <a:gd name="T21" fmla="*/ 501 h 501"/>
            </a:gdLst>
            <a:ahLst/>
            <a:cxnLst>
              <a:cxn ang="T12">
                <a:pos x="T0" y="T1"/>
              </a:cxn>
              <a:cxn ang="T13">
                <a:pos x="T2" y="T3"/>
              </a:cxn>
              <a:cxn ang="T14">
                <a:pos x="T4" y="T5"/>
              </a:cxn>
              <a:cxn ang="T15">
                <a:pos x="T6" y="T7"/>
              </a:cxn>
              <a:cxn ang="T16">
                <a:pos x="T8" y="T9"/>
              </a:cxn>
              <a:cxn ang="T17">
                <a:pos x="T10" y="T11"/>
              </a:cxn>
            </a:cxnLst>
            <a:rect l="T18" t="T19" r="T20" b="T21"/>
            <a:pathLst>
              <a:path w="1144" h="501">
                <a:moveTo>
                  <a:pt x="1144" y="0"/>
                </a:moveTo>
                <a:cubicBezTo>
                  <a:pt x="1115" y="14"/>
                  <a:pt x="1096" y="66"/>
                  <a:pt x="968" y="85"/>
                </a:cubicBezTo>
                <a:cubicBezTo>
                  <a:pt x="840" y="104"/>
                  <a:pt x="519" y="101"/>
                  <a:pt x="376" y="117"/>
                </a:cubicBezTo>
                <a:cubicBezTo>
                  <a:pt x="233" y="133"/>
                  <a:pt x="170" y="137"/>
                  <a:pt x="112" y="181"/>
                </a:cubicBezTo>
                <a:cubicBezTo>
                  <a:pt x="54" y="225"/>
                  <a:pt x="45" y="328"/>
                  <a:pt x="26" y="381"/>
                </a:cubicBezTo>
                <a:cubicBezTo>
                  <a:pt x="7" y="434"/>
                  <a:pt x="5" y="476"/>
                  <a:pt x="0" y="501"/>
                </a:cubicBezTo>
              </a:path>
            </a:pathLst>
          </a:custGeom>
          <a:noFill/>
          <a:ln w="38100">
            <a:solidFill>
              <a:schemeClr val="tx1"/>
            </a:solidFill>
            <a:round/>
            <a:headEnd type="none" w="sm" len="sm"/>
            <a:tailEnd type="none" w="sm" len="sm"/>
          </a:ln>
          <a:extLst>
            <a:ext uri="{909E8E84-426E-40dd-AFC4-6F175D3DCCD1}">
              <a14:hiddenFill xmlns="" xmlns:a14="http://schemas.microsoft.com/office/drawing/2010/main">
                <a:solidFill>
                  <a:srgbClr val="FFFFFF"/>
                </a:solidFill>
              </a14:hiddenFill>
            </a:ext>
          </a:extLst>
        </p:spPr>
        <p:txBody>
          <a:bodyPr lIns="90000" tIns="46800" rIns="90000" bIns="46800" anchor="ctr">
            <a:spAutoFit/>
          </a:bodyPr>
          <a:lstStyle/>
          <a:p>
            <a:endParaRPr lang="zh-CN" altLang="en-US"/>
          </a:p>
        </p:txBody>
      </p:sp>
      <p:sp>
        <p:nvSpPr>
          <p:cNvPr id="9" name="Line 8">
            <a:extLst>
              <a:ext uri="{FF2B5EF4-FFF2-40B4-BE49-F238E27FC236}">
                <a16:creationId xmlns:a16="http://schemas.microsoft.com/office/drawing/2014/main" id="{12EFDCE9-1576-E8C7-8603-5137FA63EB8A}"/>
              </a:ext>
            </a:extLst>
          </p:cNvPr>
          <p:cNvSpPr>
            <a:spLocks noChangeShapeType="1"/>
          </p:cNvSpPr>
          <p:nvPr/>
        </p:nvSpPr>
        <p:spPr bwMode="auto">
          <a:xfrm>
            <a:off x="7475220" y="1789398"/>
            <a:ext cx="0" cy="3375025"/>
          </a:xfrm>
          <a:prstGeom prst="line">
            <a:avLst/>
          </a:prstGeom>
          <a:noFill/>
          <a:ln w="25400">
            <a:solidFill>
              <a:schemeClr val="tx1"/>
            </a:solidFill>
            <a:round/>
            <a:headEnd type="triangle" w="med" len="lg"/>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0" name="Line 9">
            <a:extLst>
              <a:ext uri="{FF2B5EF4-FFF2-40B4-BE49-F238E27FC236}">
                <a16:creationId xmlns:a16="http://schemas.microsoft.com/office/drawing/2014/main" id="{0E79F59C-BE48-5C95-C8C4-D1BE17CC1C95}"/>
              </a:ext>
            </a:extLst>
          </p:cNvPr>
          <p:cNvSpPr>
            <a:spLocks noChangeShapeType="1"/>
          </p:cNvSpPr>
          <p:nvPr/>
        </p:nvSpPr>
        <p:spPr bwMode="auto">
          <a:xfrm rot="5400000">
            <a:off x="7329964" y="2315654"/>
            <a:ext cx="0" cy="3671888"/>
          </a:xfrm>
          <a:prstGeom prst="line">
            <a:avLst/>
          </a:prstGeom>
          <a:noFill/>
          <a:ln w="25400">
            <a:solidFill>
              <a:schemeClr val="tx1"/>
            </a:solidFill>
            <a:round/>
            <a:headEnd type="triangle" w="med" len="lg"/>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1" name="Text Box 10">
            <a:extLst>
              <a:ext uri="{FF2B5EF4-FFF2-40B4-BE49-F238E27FC236}">
                <a16:creationId xmlns:a16="http://schemas.microsoft.com/office/drawing/2014/main" id="{F706D00D-255F-ECED-2BB1-6CFBD59AB82C}"/>
              </a:ext>
            </a:extLst>
          </p:cNvPr>
          <p:cNvSpPr txBox="1">
            <a:spLocks noChangeArrowheads="1"/>
          </p:cNvSpPr>
          <p:nvPr/>
        </p:nvSpPr>
        <p:spPr bwMode="auto">
          <a:xfrm>
            <a:off x="9124633" y="3881723"/>
            <a:ext cx="338137"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0"/>
              </a:spcAft>
              <a:buFontTx/>
              <a:buNone/>
            </a:pPr>
            <a:r>
              <a:rPr kumimoji="1" lang="en-US" altLang="zh-CN" i="1">
                <a:ea typeface="楷体_GB2312" pitchFamily="49" charset="-122"/>
              </a:rPr>
              <a:t>v</a:t>
            </a:r>
          </a:p>
        </p:txBody>
      </p:sp>
      <p:sp>
        <p:nvSpPr>
          <p:cNvPr id="12" name="Line 11">
            <a:extLst>
              <a:ext uri="{FF2B5EF4-FFF2-40B4-BE49-F238E27FC236}">
                <a16:creationId xmlns:a16="http://schemas.microsoft.com/office/drawing/2014/main" id="{F35B0741-F633-F8CB-4BCB-585AACC7F8D4}"/>
              </a:ext>
            </a:extLst>
          </p:cNvPr>
          <p:cNvSpPr>
            <a:spLocks noChangeShapeType="1"/>
          </p:cNvSpPr>
          <p:nvPr/>
        </p:nvSpPr>
        <p:spPr bwMode="auto">
          <a:xfrm flipH="1">
            <a:off x="8313420" y="4200811"/>
            <a:ext cx="38100" cy="252412"/>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zh-CN" altLang="en-US"/>
          </a:p>
        </p:txBody>
      </p:sp>
      <p:sp>
        <p:nvSpPr>
          <p:cNvPr id="13" name="Text Box 12">
            <a:extLst>
              <a:ext uri="{FF2B5EF4-FFF2-40B4-BE49-F238E27FC236}">
                <a16:creationId xmlns:a16="http://schemas.microsoft.com/office/drawing/2014/main" id="{941AF080-AD4F-71A8-FCD7-644DE7C59345}"/>
              </a:ext>
            </a:extLst>
          </p:cNvPr>
          <p:cNvSpPr txBox="1">
            <a:spLocks noChangeArrowheads="1"/>
          </p:cNvSpPr>
          <p:nvPr/>
        </p:nvSpPr>
        <p:spPr bwMode="auto">
          <a:xfrm>
            <a:off x="6214745" y="3480086"/>
            <a:ext cx="579438" cy="53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Aft>
                <a:spcPct val="0"/>
              </a:spcAft>
              <a:buFontTx/>
              <a:buNone/>
            </a:pPr>
            <a:r>
              <a:rPr lang="en-US" altLang="zh-CN" sz="2400"/>
              <a:t>V</a:t>
            </a:r>
            <a:r>
              <a:rPr lang="en-US" altLang="zh-CN" baseline="-25000"/>
              <a:t>R</a:t>
            </a:r>
          </a:p>
        </p:txBody>
      </p:sp>
      <p:sp>
        <p:nvSpPr>
          <p:cNvPr id="14" name="Line 13">
            <a:extLst>
              <a:ext uri="{FF2B5EF4-FFF2-40B4-BE49-F238E27FC236}">
                <a16:creationId xmlns:a16="http://schemas.microsoft.com/office/drawing/2014/main" id="{EF964656-6795-00EC-D52D-791A7DE9AB83}"/>
              </a:ext>
            </a:extLst>
          </p:cNvPr>
          <p:cNvSpPr>
            <a:spLocks noChangeShapeType="1"/>
          </p:cNvSpPr>
          <p:nvPr/>
        </p:nvSpPr>
        <p:spPr bwMode="auto">
          <a:xfrm>
            <a:off x="6516370" y="4183348"/>
            <a:ext cx="0" cy="198438"/>
          </a:xfrm>
          <a:prstGeom prst="line">
            <a:avLst/>
          </a:prstGeom>
          <a:noFill/>
          <a:ln w="28575">
            <a:solidFill>
              <a:srgbClr val="0033CC"/>
            </a:solidFill>
            <a:prstDash val="sysDot"/>
            <a:round/>
            <a:headEnd type="none" w="sm" len="sm"/>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5" name="Text Box 14">
            <a:extLst>
              <a:ext uri="{FF2B5EF4-FFF2-40B4-BE49-F238E27FC236}">
                <a16:creationId xmlns:a16="http://schemas.microsoft.com/office/drawing/2014/main" id="{5BF9405F-C902-1013-91ED-9BFB35D85206}"/>
              </a:ext>
            </a:extLst>
          </p:cNvPr>
          <p:cNvSpPr txBox="1">
            <a:spLocks noChangeArrowheads="1"/>
          </p:cNvSpPr>
          <p:nvPr/>
        </p:nvSpPr>
        <p:spPr bwMode="auto">
          <a:xfrm>
            <a:off x="8013383" y="4189698"/>
            <a:ext cx="552450" cy="531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Aft>
                <a:spcPct val="0"/>
              </a:spcAft>
              <a:buFontTx/>
              <a:buNone/>
            </a:pPr>
            <a:r>
              <a:rPr lang="en-US" altLang="zh-CN" sz="2400"/>
              <a:t>V</a:t>
            </a:r>
            <a:r>
              <a:rPr lang="en-US" altLang="zh-CN" baseline="-25000"/>
              <a:t>F</a:t>
            </a:r>
          </a:p>
        </p:txBody>
      </p:sp>
      <p:sp>
        <p:nvSpPr>
          <p:cNvPr id="16" name="Line 15">
            <a:extLst>
              <a:ext uri="{FF2B5EF4-FFF2-40B4-BE49-F238E27FC236}">
                <a16:creationId xmlns:a16="http://schemas.microsoft.com/office/drawing/2014/main" id="{CA4C0033-3A78-8F61-D280-F9EA1A87564B}"/>
              </a:ext>
            </a:extLst>
          </p:cNvPr>
          <p:cNvSpPr>
            <a:spLocks noChangeShapeType="1"/>
          </p:cNvSpPr>
          <p:nvPr/>
        </p:nvSpPr>
        <p:spPr bwMode="auto">
          <a:xfrm>
            <a:off x="7481570" y="2468848"/>
            <a:ext cx="827088" cy="0"/>
          </a:xfrm>
          <a:prstGeom prst="line">
            <a:avLst/>
          </a:prstGeom>
          <a:noFill/>
          <a:ln w="19050">
            <a:solidFill>
              <a:srgbClr val="0033CC"/>
            </a:solidFill>
            <a:prstDash val="dash"/>
            <a:round/>
            <a:headEnd type="none" w="sm" len="sm"/>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7" name="Text Box 16">
            <a:extLst>
              <a:ext uri="{FF2B5EF4-FFF2-40B4-BE49-F238E27FC236}">
                <a16:creationId xmlns:a16="http://schemas.microsoft.com/office/drawing/2014/main" id="{F09826DB-8CD1-0466-51F3-45A5D511A33D}"/>
              </a:ext>
            </a:extLst>
          </p:cNvPr>
          <p:cNvSpPr txBox="1">
            <a:spLocks noChangeArrowheads="1"/>
          </p:cNvSpPr>
          <p:nvPr/>
        </p:nvSpPr>
        <p:spPr bwMode="auto">
          <a:xfrm>
            <a:off x="6933883" y="2159286"/>
            <a:ext cx="450850" cy="531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Aft>
                <a:spcPct val="0"/>
              </a:spcAft>
              <a:buFontTx/>
              <a:buNone/>
            </a:pPr>
            <a:r>
              <a:rPr lang="en-US" altLang="zh-CN" sz="2400"/>
              <a:t>I</a:t>
            </a:r>
            <a:r>
              <a:rPr lang="en-US" altLang="zh-CN" baseline="-25000"/>
              <a:t>F</a:t>
            </a:r>
          </a:p>
        </p:txBody>
      </p:sp>
      <p:sp>
        <p:nvSpPr>
          <p:cNvPr id="18" name="Text Box 17">
            <a:extLst>
              <a:ext uri="{FF2B5EF4-FFF2-40B4-BE49-F238E27FC236}">
                <a16:creationId xmlns:a16="http://schemas.microsoft.com/office/drawing/2014/main" id="{85F128E1-3AE4-B02B-6290-EE5D32C3F8E1}"/>
              </a:ext>
            </a:extLst>
          </p:cNvPr>
          <p:cNvSpPr txBox="1">
            <a:spLocks noChangeArrowheads="1"/>
          </p:cNvSpPr>
          <p:nvPr/>
        </p:nvSpPr>
        <p:spPr bwMode="auto">
          <a:xfrm>
            <a:off x="7010083" y="4316698"/>
            <a:ext cx="477837" cy="528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Aft>
                <a:spcPct val="0"/>
              </a:spcAft>
              <a:buFontTx/>
              <a:buNone/>
            </a:pPr>
            <a:r>
              <a:rPr lang="en-US" altLang="zh-CN" sz="2400"/>
              <a:t>I</a:t>
            </a:r>
            <a:r>
              <a:rPr lang="en-US" altLang="zh-CN" baseline="-25000"/>
              <a:t>R</a:t>
            </a:r>
          </a:p>
        </p:txBody>
      </p:sp>
      <p:sp>
        <p:nvSpPr>
          <p:cNvPr id="19" name="Line 18">
            <a:extLst>
              <a:ext uri="{FF2B5EF4-FFF2-40B4-BE49-F238E27FC236}">
                <a16:creationId xmlns:a16="http://schemas.microsoft.com/office/drawing/2014/main" id="{8B72E4BD-F4B1-7F33-4535-3BE08F54DF55}"/>
              </a:ext>
            </a:extLst>
          </p:cNvPr>
          <p:cNvSpPr>
            <a:spLocks noChangeShapeType="1"/>
          </p:cNvSpPr>
          <p:nvPr/>
        </p:nvSpPr>
        <p:spPr bwMode="auto">
          <a:xfrm flipH="1">
            <a:off x="6479858" y="4319873"/>
            <a:ext cx="949325" cy="46038"/>
          </a:xfrm>
          <a:prstGeom prst="line">
            <a:avLst/>
          </a:prstGeom>
          <a:noFill/>
          <a:ln w="19050">
            <a:solidFill>
              <a:srgbClr val="0033CC"/>
            </a:solidFill>
            <a:prstDash val="dash"/>
            <a:round/>
            <a:headEnd type="none" w="sm" len="sm"/>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20" name="Line 19">
            <a:extLst>
              <a:ext uri="{FF2B5EF4-FFF2-40B4-BE49-F238E27FC236}">
                <a16:creationId xmlns:a16="http://schemas.microsoft.com/office/drawing/2014/main" id="{956031E2-2437-A559-9D53-05C5A88B9B26}"/>
              </a:ext>
            </a:extLst>
          </p:cNvPr>
          <p:cNvSpPr>
            <a:spLocks noChangeShapeType="1"/>
          </p:cNvSpPr>
          <p:nvPr/>
        </p:nvSpPr>
        <p:spPr bwMode="auto">
          <a:xfrm>
            <a:off x="8232458" y="3297523"/>
            <a:ext cx="0" cy="876300"/>
          </a:xfrm>
          <a:prstGeom prst="line">
            <a:avLst/>
          </a:prstGeom>
          <a:noFill/>
          <a:ln w="28575">
            <a:solidFill>
              <a:srgbClr val="0033CC"/>
            </a:solidFill>
            <a:prstDash val="sysDot"/>
            <a:round/>
            <a:headEnd type="none" w="sm" len="sm"/>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21" name="Text Box 20">
            <a:extLst>
              <a:ext uri="{FF2B5EF4-FFF2-40B4-BE49-F238E27FC236}">
                <a16:creationId xmlns:a16="http://schemas.microsoft.com/office/drawing/2014/main" id="{8F17E879-9C74-5963-4AFB-B245AE70B8F0}"/>
              </a:ext>
            </a:extLst>
          </p:cNvPr>
          <p:cNvSpPr txBox="1">
            <a:spLocks noChangeArrowheads="1"/>
          </p:cNvSpPr>
          <p:nvPr/>
        </p:nvSpPr>
        <p:spPr bwMode="auto">
          <a:xfrm>
            <a:off x="7508558" y="1635411"/>
            <a:ext cx="40005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0"/>
              </a:spcAft>
              <a:buFontTx/>
              <a:buNone/>
            </a:pPr>
            <a:r>
              <a:rPr kumimoji="1" lang="en-US" altLang="zh-CN" i="1">
                <a:ea typeface="楷体_GB2312" pitchFamily="49" charset="-122"/>
              </a:rPr>
              <a:t>i</a:t>
            </a:r>
          </a:p>
        </p:txBody>
      </p:sp>
    </p:spTree>
    <p:extLst>
      <p:ext uri="{BB962C8B-B14F-4D97-AF65-F5344CB8AC3E}">
        <p14:creationId xmlns:p14="http://schemas.microsoft.com/office/powerpoint/2010/main" val="2509910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36707B-C241-09E3-F25A-A53E51946F63}"/>
              </a:ext>
            </a:extLst>
          </p:cNvPr>
          <p:cNvSpPr>
            <a:spLocks noGrp="1"/>
          </p:cNvSpPr>
          <p:nvPr>
            <p:ph type="title"/>
          </p:nvPr>
        </p:nvSpPr>
        <p:spPr/>
        <p:txBody>
          <a:bodyPr>
            <a:normAutofit fontScale="90000"/>
          </a:bodyPr>
          <a:lstStyle/>
          <a:p>
            <a:r>
              <a:rPr lang="zh-CN" altLang="en-US" dirty="0"/>
              <a:t>二极管简化模型</a:t>
            </a:r>
            <a:endParaRPr kumimoji="1" lang="zh-CN" altLang="en-US" dirty="0"/>
          </a:p>
        </p:txBody>
      </p:sp>
      <p:sp>
        <p:nvSpPr>
          <p:cNvPr id="3" name="内容占位符 2">
            <a:extLst>
              <a:ext uri="{FF2B5EF4-FFF2-40B4-BE49-F238E27FC236}">
                <a16:creationId xmlns:a16="http://schemas.microsoft.com/office/drawing/2014/main" id="{304684BC-D275-9DE4-C87E-30DF4652BA49}"/>
              </a:ext>
            </a:extLst>
          </p:cNvPr>
          <p:cNvSpPr>
            <a:spLocks noGrp="1"/>
          </p:cNvSpPr>
          <p:nvPr>
            <p:ph idx="1"/>
          </p:nvPr>
        </p:nvSpPr>
        <p:spPr/>
        <p:txBody>
          <a:bodyPr/>
          <a:lstStyle/>
          <a:p>
            <a:r>
              <a:rPr lang="zh-CN" altLang="en-US" dirty="0"/>
              <a:t>理想模型</a:t>
            </a:r>
          </a:p>
          <a:p>
            <a:pPr lvl="1"/>
            <a:r>
              <a:rPr lang="zh-CN" altLang="en-US" dirty="0"/>
              <a:t>忽略死区和导通压降</a:t>
            </a:r>
          </a:p>
          <a:p>
            <a:pPr lvl="1"/>
            <a:r>
              <a:rPr lang="en-US" altLang="zh-CN" i="1" dirty="0" err="1"/>
              <a:t>i</a:t>
            </a:r>
            <a:r>
              <a:rPr lang="en-US" altLang="zh-CN" dirty="0"/>
              <a:t> &gt; 0</a:t>
            </a:r>
            <a:r>
              <a:rPr lang="zh-CN" altLang="en-US" dirty="0"/>
              <a:t>，</a:t>
            </a:r>
            <a:r>
              <a:rPr lang="en-US" altLang="zh-CN" i="1" dirty="0"/>
              <a:t>v</a:t>
            </a:r>
            <a:r>
              <a:rPr lang="en-US" altLang="zh-CN" dirty="0"/>
              <a:t> = 0</a:t>
            </a:r>
          </a:p>
          <a:p>
            <a:pPr lvl="1"/>
            <a:r>
              <a:rPr lang="en-US" altLang="zh-CN" i="1" dirty="0"/>
              <a:t>v</a:t>
            </a:r>
            <a:r>
              <a:rPr lang="en-US" altLang="zh-CN" dirty="0"/>
              <a:t> &lt; 0</a:t>
            </a:r>
            <a:r>
              <a:rPr lang="zh-CN" altLang="en-US" dirty="0"/>
              <a:t>，</a:t>
            </a:r>
            <a:r>
              <a:rPr lang="en-US" altLang="zh-CN" i="1" dirty="0" err="1"/>
              <a:t>i</a:t>
            </a:r>
            <a:r>
              <a:rPr lang="en-US" altLang="zh-CN" dirty="0"/>
              <a:t> = 0</a:t>
            </a:r>
          </a:p>
          <a:p>
            <a:pPr lvl="1"/>
            <a:endParaRPr lang="en-US" altLang="zh-CN" sz="1600" dirty="0"/>
          </a:p>
          <a:p>
            <a:r>
              <a:rPr lang="zh-CN" altLang="en-US" dirty="0"/>
              <a:t>恒压降模型</a:t>
            </a:r>
          </a:p>
          <a:p>
            <a:pPr lvl="1"/>
            <a:r>
              <a:rPr lang="zh-CN" altLang="en-US" dirty="0"/>
              <a:t>导通压降</a:t>
            </a:r>
            <a:r>
              <a:rPr lang="en-US" altLang="zh-CN" dirty="0"/>
              <a:t>=</a:t>
            </a:r>
            <a:r>
              <a:rPr kumimoji="1" lang="zh-CN" altLang="en-US" dirty="0"/>
              <a:t>死区电压</a:t>
            </a:r>
            <a:r>
              <a:rPr kumimoji="1" lang="zh-CN" altLang="en-US" dirty="0">
                <a:ea typeface="MS PGothic" panose="020B0600070205080204" pitchFamily="34" charset="-128"/>
              </a:rPr>
              <a:t>≠</a:t>
            </a:r>
            <a:r>
              <a:rPr kumimoji="1" lang="en-US" altLang="zh-CN" dirty="0">
                <a:ea typeface="MS PGothic" panose="020B0600070205080204" pitchFamily="34" charset="-128"/>
                <a:cs typeface="Arial" panose="020B0604020202020204" pitchFamily="34" charset="0"/>
              </a:rPr>
              <a:t>0</a:t>
            </a:r>
            <a:endParaRPr lang="zh-CN" altLang="ja-JP" dirty="0">
              <a:ea typeface="MS PGothic" panose="020B0600070205080204" pitchFamily="34" charset="-128"/>
            </a:endParaRPr>
          </a:p>
          <a:p>
            <a:pPr lvl="1"/>
            <a:r>
              <a:rPr lang="en-US" altLang="zh-CN" i="1" dirty="0" err="1"/>
              <a:t>i</a:t>
            </a:r>
            <a:r>
              <a:rPr lang="en-US" altLang="zh-CN" dirty="0"/>
              <a:t> &gt; 0</a:t>
            </a:r>
            <a:r>
              <a:rPr lang="zh-CN" altLang="en-US" dirty="0"/>
              <a:t>，</a:t>
            </a:r>
            <a:r>
              <a:rPr lang="en-US" altLang="zh-CN" i="1" dirty="0"/>
              <a:t>v</a:t>
            </a:r>
            <a:r>
              <a:rPr lang="en-US" altLang="zh-CN" dirty="0"/>
              <a:t> = V</a:t>
            </a:r>
            <a:r>
              <a:rPr lang="en-US" altLang="zh-CN" baseline="-20000" dirty="0"/>
              <a:t>F</a:t>
            </a:r>
          </a:p>
          <a:p>
            <a:pPr lvl="1"/>
            <a:r>
              <a:rPr lang="en-US" altLang="zh-CN" i="1" dirty="0"/>
              <a:t>v</a:t>
            </a:r>
            <a:r>
              <a:rPr lang="en-US" altLang="zh-CN" dirty="0"/>
              <a:t> &lt;V</a:t>
            </a:r>
            <a:r>
              <a:rPr lang="en-US" altLang="zh-CN" baseline="-20000" dirty="0"/>
              <a:t>F</a:t>
            </a:r>
            <a:r>
              <a:rPr lang="zh-CN" altLang="en-US" dirty="0"/>
              <a:t>，</a:t>
            </a:r>
            <a:r>
              <a:rPr lang="en-US" altLang="zh-CN" i="1" dirty="0" err="1"/>
              <a:t>i</a:t>
            </a:r>
            <a:r>
              <a:rPr lang="en-US" altLang="zh-CN" dirty="0"/>
              <a:t> = 0</a:t>
            </a:r>
          </a:p>
          <a:p>
            <a:endParaRPr kumimoji="1" lang="zh-CN" altLang="en-US" dirty="0"/>
          </a:p>
        </p:txBody>
      </p:sp>
      <p:sp>
        <p:nvSpPr>
          <p:cNvPr id="4" name="页脚占位符 3">
            <a:extLst>
              <a:ext uri="{FF2B5EF4-FFF2-40B4-BE49-F238E27FC236}">
                <a16:creationId xmlns:a16="http://schemas.microsoft.com/office/drawing/2014/main" id="{A156853F-DDB5-C65B-D89B-2C0184432D3E}"/>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BEDEE1CF-77D2-4970-7A42-EC95EA7C8E48}"/>
              </a:ext>
            </a:extLst>
          </p:cNvPr>
          <p:cNvSpPr>
            <a:spLocks noGrp="1"/>
          </p:cNvSpPr>
          <p:nvPr>
            <p:ph type="sldNum" sz="quarter" idx="12"/>
          </p:nvPr>
        </p:nvSpPr>
        <p:spPr/>
        <p:txBody>
          <a:bodyPr/>
          <a:lstStyle/>
          <a:p>
            <a:fld id="{9E260BC5-5BF3-8746-862B-DC45E9CAA88B}" type="slidenum">
              <a:rPr lang="en-US" smtClean="0"/>
              <a:pPr/>
              <a:t>20</a:t>
            </a:fld>
            <a:r>
              <a:rPr lang="en-US" altLang="zh-CN" dirty="0"/>
              <a:t>/33</a:t>
            </a:r>
            <a:endParaRPr lang="en-US" dirty="0"/>
          </a:p>
        </p:txBody>
      </p:sp>
      <p:sp>
        <p:nvSpPr>
          <p:cNvPr id="6" name="Rectangle 12">
            <a:extLst>
              <a:ext uri="{FF2B5EF4-FFF2-40B4-BE49-F238E27FC236}">
                <a16:creationId xmlns:a16="http://schemas.microsoft.com/office/drawing/2014/main" id="{5A7C9045-586E-C524-755D-DEC9FD04F5DC}"/>
              </a:ext>
            </a:extLst>
          </p:cNvPr>
          <p:cNvSpPr>
            <a:spLocks noChangeArrowheads="1"/>
          </p:cNvSpPr>
          <p:nvPr/>
        </p:nvSpPr>
        <p:spPr bwMode="auto">
          <a:xfrm>
            <a:off x="6749348" y="5063656"/>
            <a:ext cx="2771775"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硅二极管约为</a:t>
            </a:r>
            <a:r>
              <a:rPr kumimoji="1" lang="en-US" altLang="zh-CN" sz="2400" b="0" dirty="0">
                <a:latin typeface="Microsoft YaHei" panose="020B0503020204020204" pitchFamily="34" charset="-122"/>
                <a:ea typeface="Microsoft YaHei" panose="020B0503020204020204" pitchFamily="34" charset="-122"/>
              </a:rPr>
              <a:t>0.7V</a:t>
            </a:r>
          </a:p>
          <a:p>
            <a:pPr eaLnBrk="1" hangingPunct="1">
              <a:spcAft>
                <a:spcPct val="0"/>
              </a:spcAft>
              <a:buFontTx/>
              <a:buNone/>
            </a:pPr>
            <a:r>
              <a:rPr kumimoji="1" lang="zh-CN" altLang="en-US" sz="2400" b="0" dirty="0">
                <a:latin typeface="Microsoft YaHei" panose="020B0503020204020204" pitchFamily="34" charset="-122"/>
                <a:ea typeface="Microsoft YaHei" panose="020B0503020204020204" pitchFamily="34" charset="-122"/>
              </a:rPr>
              <a:t>锗二极管约为</a:t>
            </a:r>
            <a:r>
              <a:rPr kumimoji="1" lang="en-US" altLang="zh-CN" sz="2400" b="0" dirty="0">
                <a:latin typeface="Microsoft YaHei" panose="020B0503020204020204" pitchFamily="34" charset="-122"/>
                <a:ea typeface="Microsoft YaHei" panose="020B0503020204020204" pitchFamily="34" charset="-122"/>
              </a:rPr>
              <a:t>0.2V</a:t>
            </a:r>
            <a:endParaRPr kumimoji="1" lang="zh-CN" altLang="en-US" sz="2400" b="0" dirty="0">
              <a:latin typeface="Microsoft YaHei" panose="020B0503020204020204" pitchFamily="34" charset="-122"/>
              <a:ea typeface="Microsoft YaHei" panose="020B0503020204020204" pitchFamily="34" charset="-122"/>
            </a:endParaRPr>
          </a:p>
        </p:txBody>
      </p:sp>
      <p:pic>
        <p:nvPicPr>
          <p:cNvPr id="7" name="Picture 17">
            <a:extLst>
              <a:ext uri="{FF2B5EF4-FFF2-40B4-BE49-F238E27FC236}">
                <a16:creationId xmlns:a16="http://schemas.microsoft.com/office/drawing/2014/main" id="{D5D93C2A-16DB-F06F-F918-D3B5CA8231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3935" y="1361606"/>
            <a:ext cx="2017713" cy="2009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18">
            <a:extLst>
              <a:ext uri="{FF2B5EF4-FFF2-40B4-BE49-F238E27FC236}">
                <a16:creationId xmlns:a16="http://schemas.microsoft.com/office/drawing/2014/main" id="{B7FE89C6-250D-812D-9205-442F71C069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0985" y="999656"/>
            <a:ext cx="1638300" cy="1238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 name="Picture 20">
            <a:extLst>
              <a:ext uri="{FF2B5EF4-FFF2-40B4-BE49-F238E27FC236}">
                <a16:creationId xmlns:a16="http://schemas.microsoft.com/office/drawing/2014/main" id="{B1E9C28F-D3E0-FF85-5807-A497B1C32A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8173" y="2328394"/>
            <a:ext cx="1657350" cy="1323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 name="Picture 21">
            <a:extLst>
              <a:ext uri="{FF2B5EF4-FFF2-40B4-BE49-F238E27FC236}">
                <a16:creationId xmlns:a16="http://schemas.microsoft.com/office/drawing/2014/main" id="{EEB06EE0-9AA1-70D6-0CE1-708FE18535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0773" y="2337919"/>
            <a:ext cx="1647825" cy="1323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 name="Picture 22">
            <a:extLst>
              <a:ext uri="{FF2B5EF4-FFF2-40B4-BE49-F238E27FC236}">
                <a16:creationId xmlns:a16="http://schemas.microsoft.com/office/drawing/2014/main" id="{61705897-892A-C282-C5C3-C54812A47E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3460" y="3757144"/>
            <a:ext cx="2154238" cy="19986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2" name="Picture 23">
            <a:extLst>
              <a:ext uri="{FF2B5EF4-FFF2-40B4-BE49-F238E27FC236}">
                <a16:creationId xmlns:a16="http://schemas.microsoft.com/office/drawing/2014/main" id="{B1B5067B-6BCF-2102-DCA7-2264E442DD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5573" y="3990506"/>
            <a:ext cx="2133600" cy="981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0528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FC1430-36F8-117E-593F-34CB93651CAA}"/>
              </a:ext>
            </a:extLst>
          </p:cNvPr>
          <p:cNvSpPr>
            <a:spLocks noGrp="1"/>
          </p:cNvSpPr>
          <p:nvPr>
            <p:ph type="title"/>
          </p:nvPr>
        </p:nvSpPr>
        <p:spPr/>
        <p:txBody>
          <a:bodyPr>
            <a:normAutofit fontScale="90000"/>
          </a:bodyPr>
          <a:lstStyle/>
          <a:p>
            <a:r>
              <a:rPr lang="zh-CN" altLang="en-US" dirty="0">
                <a:latin typeface="宋体" panose="02010600030101010101" pitchFamily="2" charset="-122"/>
              </a:rPr>
              <a:t>示例：二极管电路计算</a:t>
            </a:r>
            <a:endParaRPr kumimoji="1" lang="zh-CN" altLang="en-US" dirty="0"/>
          </a:p>
        </p:txBody>
      </p:sp>
      <p:sp>
        <p:nvSpPr>
          <p:cNvPr id="3" name="内容占位符 2">
            <a:extLst>
              <a:ext uri="{FF2B5EF4-FFF2-40B4-BE49-F238E27FC236}">
                <a16:creationId xmlns:a16="http://schemas.microsoft.com/office/drawing/2014/main" id="{1FB8BCF4-AB4C-6C89-867F-82FE39D03B7F}"/>
              </a:ext>
            </a:extLst>
          </p:cNvPr>
          <p:cNvSpPr>
            <a:spLocks noGrp="1"/>
          </p:cNvSpPr>
          <p:nvPr>
            <p:ph idx="1"/>
          </p:nvPr>
        </p:nvSpPr>
        <p:spPr/>
        <p:txBody>
          <a:bodyPr/>
          <a:lstStyle/>
          <a:p>
            <a:r>
              <a:rPr kumimoji="1" lang="zh-CN" altLang="en-US" dirty="0"/>
              <a:t>设</a:t>
            </a:r>
            <a:r>
              <a:rPr kumimoji="1" lang="en-US" altLang="zh-CN" dirty="0"/>
              <a:t>V</a:t>
            </a:r>
            <a:r>
              <a:rPr kumimoji="1" lang="en-US" altLang="zh-CN" baseline="-25000" dirty="0"/>
              <a:t>DD</a:t>
            </a:r>
            <a:r>
              <a:rPr kumimoji="1" lang="en-US" altLang="zh-CN" dirty="0"/>
              <a:t>=10V</a:t>
            </a:r>
            <a:r>
              <a:rPr kumimoji="1" lang="zh-CN" altLang="en-US" dirty="0"/>
              <a:t>，</a:t>
            </a:r>
            <a:r>
              <a:rPr kumimoji="1" lang="en-US" altLang="zh-CN" i="1" dirty="0">
                <a:ea typeface="楷体_GB2312" pitchFamily="49" charset="-122"/>
              </a:rPr>
              <a:t> R</a:t>
            </a:r>
            <a:r>
              <a:rPr kumimoji="1" lang="en-US" altLang="zh-CN" dirty="0">
                <a:ea typeface="楷体_GB2312" pitchFamily="49" charset="-122"/>
              </a:rPr>
              <a:t>=10k</a:t>
            </a:r>
            <a:r>
              <a:rPr kumimoji="1" lang="en-US" altLang="zh-CN" dirty="0">
                <a:ea typeface="楷体_GB2312" pitchFamily="49" charset="-122"/>
                <a:sym typeface="Symbol" panose="05050102010706020507" pitchFamily="18" charset="2"/>
              </a:rPr>
              <a:t></a:t>
            </a:r>
            <a:r>
              <a:rPr kumimoji="1" lang="zh-CN" altLang="en-US" dirty="0">
                <a:ea typeface="楷体_GB2312" pitchFamily="49" charset="-122"/>
              </a:rPr>
              <a:t>，求</a:t>
            </a:r>
            <a:r>
              <a:rPr kumimoji="1" lang="en-US" altLang="zh-CN" dirty="0">
                <a:ea typeface="楷体_GB2312" pitchFamily="49" charset="-122"/>
              </a:rPr>
              <a:t>I</a:t>
            </a:r>
            <a:r>
              <a:rPr kumimoji="1" lang="en-US" altLang="zh-CN" baseline="-25000" dirty="0">
                <a:ea typeface="楷体_GB2312" pitchFamily="49" charset="-122"/>
              </a:rPr>
              <a:t>D</a:t>
            </a:r>
            <a:r>
              <a:rPr kumimoji="1" lang="zh-CN" altLang="en-US" dirty="0">
                <a:ea typeface="楷体_GB2312" pitchFamily="49" charset="-122"/>
              </a:rPr>
              <a:t>和</a:t>
            </a:r>
            <a:r>
              <a:rPr kumimoji="1" lang="en-US" altLang="zh-CN" dirty="0">
                <a:ea typeface="楷体_GB2312" pitchFamily="49" charset="-122"/>
              </a:rPr>
              <a:t>V</a:t>
            </a:r>
            <a:r>
              <a:rPr kumimoji="1" lang="en-US" altLang="zh-CN" baseline="-25000" dirty="0">
                <a:ea typeface="楷体_GB2312" pitchFamily="49" charset="-122"/>
              </a:rPr>
              <a:t>D</a:t>
            </a:r>
            <a:endParaRPr kumimoji="1" lang="zh-CN" altLang="en-US" dirty="0">
              <a:ea typeface="楷体_GB2312" pitchFamily="49" charset="-122"/>
            </a:endParaRPr>
          </a:p>
          <a:p>
            <a:endParaRPr kumimoji="1" lang="zh-CN" altLang="en-US" dirty="0"/>
          </a:p>
        </p:txBody>
      </p:sp>
      <p:sp>
        <p:nvSpPr>
          <p:cNvPr id="4" name="页脚占位符 3">
            <a:extLst>
              <a:ext uri="{FF2B5EF4-FFF2-40B4-BE49-F238E27FC236}">
                <a16:creationId xmlns:a16="http://schemas.microsoft.com/office/drawing/2014/main" id="{9C08F733-ACDB-46A2-C77F-9DFD297583C1}"/>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ECBD3505-E688-86D9-DB0C-CCF3DF1E830D}"/>
              </a:ext>
            </a:extLst>
          </p:cNvPr>
          <p:cNvSpPr>
            <a:spLocks noGrp="1"/>
          </p:cNvSpPr>
          <p:nvPr>
            <p:ph type="sldNum" sz="quarter" idx="12"/>
          </p:nvPr>
        </p:nvSpPr>
        <p:spPr/>
        <p:txBody>
          <a:bodyPr/>
          <a:lstStyle/>
          <a:p>
            <a:fld id="{9E260BC5-5BF3-8746-862B-DC45E9CAA88B}" type="slidenum">
              <a:rPr lang="en-US" smtClean="0"/>
              <a:pPr/>
              <a:t>21</a:t>
            </a:fld>
            <a:r>
              <a:rPr lang="en-US" altLang="zh-CN" dirty="0"/>
              <a:t>/33</a:t>
            </a:r>
            <a:endParaRPr lang="en-US" dirty="0"/>
          </a:p>
        </p:txBody>
      </p:sp>
      <p:sp>
        <p:nvSpPr>
          <p:cNvPr id="6" name="Text Box 8">
            <a:extLst>
              <a:ext uri="{FF2B5EF4-FFF2-40B4-BE49-F238E27FC236}">
                <a16:creationId xmlns:a16="http://schemas.microsoft.com/office/drawing/2014/main" id="{9EE240D2-1D5F-E1E5-6E6E-CBB9AF3472B8}"/>
              </a:ext>
            </a:extLst>
          </p:cNvPr>
          <p:cNvSpPr txBox="1">
            <a:spLocks noChangeArrowheads="1"/>
          </p:cNvSpPr>
          <p:nvPr/>
        </p:nvSpPr>
        <p:spPr bwMode="auto">
          <a:xfrm>
            <a:off x="292804" y="1342255"/>
            <a:ext cx="2480376"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dirty="0">
                <a:solidFill>
                  <a:srgbClr val="000000"/>
                </a:solidFill>
                <a:latin typeface="+mj-ea"/>
                <a:ea typeface="+mj-ea"/>
              </a:rPr>
              <a:t>(1) </a:t>
            </a:r>
            <a:r>
              <a:rPr kumimoji="1" lang="zh-CN" altLang="en-US" sz="2400" b="0" dirty="0">
                <a:solidFill>
                  <a:srgbClr val="000000"/>
                </a:solidFill>
                <a:latin typeface="+mj-ea"/>
                <a:ea typeface="+mj-ea"/>
              </a:rPr>
              <a:t>理想模型</a:t>
            </a:r>
          </a:p>
        </p:txBody>
      </p:sp>
      <p:sp>
        <p:nvSpPr>
          <p:cNvPr id="7" name="Text Box 9">
            <a:extLst>
              <a:ext uri="{FF2B5EF4-FFF2-40B4-BE49-F238E27FC236}">
                <a16:creationId xmlns:a16="http://schemas.microsoft.com/office/drawing/2014/main" id="{75A9D4CC-8152-0E0A-0198-447D84959D17}"/>
              </a:ext>
            </a:extLst>
          </p:cNvPr>
          <p:cNvSpPr txBox="1">
            <a:spLocks noChangeArrowheads="1"/>
          </p:cNvSpPr>
          <p:nvPr/>
        </p:nvSpPr>
        <p:spPr bwMode="auto">
          <a:xfrm>
            <a:off x="324662" y="3885776"/>
            <a:ext cx="25146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dirty="0">
                <a:solidFill>
                  <a:srgbClr val="000000"/>
                </a:solidFill>
                <a:latin typeface="Microsoft YaHei" panose="020B0503020204020204" pitchFamily="34" charset="-122"/>
                <a:ea typeface="Microsoft YaHei" panose="020B0503020204020204" pitchFamily="34" charset="-122"/>
              </a:rPr>
              <a:t>(2) </a:t>
            </a:r>
            <a:r>
              <a:rPr kumimoji="1" lang="zh-CN" altLang="en-US" sz="2400" b="0" dirty="0">
                <a:solidFill>
                  <a:srgbClr val="000000"/>
                </a:solidFill>
                <a:latin typeface="Microsoft YaHei" panose="020B0503020204020204" pitchFamily="34" charset="-122"/>
                <a:ea typeface="Microsoft YaHei" panose="020B0503020204020204" pitchFamily="34" charset="-122"/>
              </a:rPr>
              <a:t>恒压降模型</a:t>
            </a:r>
          </a:p>
        </p:txBody>
      </p:sp>
      <p:pic>
        <p:nvPicPr>
          <p:cNvPr id="12" name="Picture 14">
            <a:extLst>
              <a:ext uri="{FF2B5EF4-FFF2-40B4-BE49-F238E27FC236}">
                <a16:creationId xmlns:a16="http://schemas.microsoft.com/office/drawing/2014/main" id="{B95CF3BA-FC10-88AE-C94D-18E1D4B10D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5531" y="1625613"/>
            <a:ext cx="2182813" cy="15986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3" name="Picture 15">
            <a:extLst>
              <a:ext uri="{FF2B5EF4-FFF2-40B4-BE49-F238E27FC236}">
                <a16:creationId xmlns:a16="http://schemas.microsoft.com/office/drawing/2014/main" id="{A8102F5C-91C3-6045-991A-38B5B83158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2319" y="1090691"/>
            <a:ext cx="1277938" cy="2174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4" name="Group 24">
            <a:extLst>
              <a:ext uri="{FF2B5EF4-FFF2-40B4-BE49-F238E27FC236}">
                <a16:creationId xmlns:a16="http://schemas.microsoft.com/office/drawing/2014/main" id="{B5ADDDDF-A3F5-2E1C-13E6-16912504D04C}"/>
              </a:ext>
            </a:extLst>
          </p:cNvPr>
          <p:cNvGrpSpPr>
            <a:grpSpLocks/>
          </p:cNvGrpSpPr>
          <p:nvPr/>
        </p:nvGrpSpPr>
        <p:grpSpPr bwMode="auto">
          <a:xfrm>
            <a:off x="6055531" y="3714828"/>
            <a:ext cx="1981201" cy="2828212"/>
            <a:chOff x="2850" y="1872"/>
            <a:chExt cx="942" cy="1488"/>
          </a:xfrm>
        </p:grpSpPr>
        <p:sp>
          <p:nvSpPr>
            <p:cNvPr id="15" name="Rectangle 25">
              <a:extLst>
                <a:ext uri="{FF2B5EF4-FFF2-40B4-BE49-F238E27FC236}">
                  <a16:creationId xmlns:a16="http://schemas.microsoft.com/office/drawing/2014/main" id="{A4108572-3C46-33AB-5299-DD054A0831B8}"/>
                </a:ext>
              </a:extLst>
            </p:cNvPr>
            <p:cNvSpPr>
              <a:spLocks noChangeArrowheads="1"/>
            </p:cNvSpPr>
            <p:nvPr/>
          </p:nvSpPr>
          <p:spPr bwMode="auto">
            <a:xfrm>
              <a:off x="2976" y="1872"/>
              <a:ext cx="816" cy="1488"/>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lang="zh-CN" altLang="en-US" sz="1800">
                <a:solidFill>
                  <a:srgbClr val="000000"/>
                </a:solidFill>
                <a:latin typeface="Arial Narrow" panose="020B0606020202030204" pitchFamily="34" charset="0"/>
              </a:endParaRPr>
            </a:p>
          </p:txBody>
        </p:sp>
        <p:graphicFrame>
          <p:nvGraphicFramePr>
            <p:cNvPr id="16" name="Object 26">
              <a:extLst>
                <a:ext uri="{FF2B5EF4-FFF2-40B4-BE49-F238E27FC236}">
                  <a16:creationId xmlns:a16="http://schemas.microsoft.com/office/drawing/2014/main" id="{C6F9559B-0AC6-F23D-3224-CB0B657611E6}"/>
                </a:ext>
              </a:extLst>
            </p:cNvPr>
            <p:cNvGraphicFramePr>
              <a:graphicFrameLocks noChangeAspect="1"/>
            </p:cNvGraphicFramePr>
            <p:nvPr>
              <p:extLst>
                <p:ext uri="{D42A27DB-BD31-4B8C-83A1-F6EECF244321}">
                  <p14:modId xmlns:p14="http://schemas.microsoft.com/office/powerpoint/2010/main" val="2165912335"/>
                </p:ext>
              </p:extLst>
            </p:nvPr>
          </p:nvGraphicFramePr>
          <p:xfrm>
            <a:off x="2850" y="1911"/>
            <a:ext cx="780" cy="1356"/>
          </p:xfrm>
          <a:graphic>
            <a:graphicData uri="http://schemas.openxmlformats.org/presentationml/2006/ole">
              <mc:AlternateContent xmlns:mc="http://schemas.openxmlformats.org/markup-compatibility/2006">
                <mc:Choice xmlns:v="urn:schemas-microsoft-com:vml" Requires="v">
                  <p:oleObj name="图片" r:id="rId4" imgW="952500" imgH="1657350" progId="Word.Picture.8">
                    <p:embed/>
                  </p:oleObj>
                </mc:Choice>
                <mc:Fallback>
                  <p:oleObj name="图片" r:id="rId4" imgW="952500" imgH="1657350" progId="Word.Picture.8">
                    <p:embed/>
                    <p:pic>
                      <p:nvPicPr>
                        <p:cNvPr id="36884"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0" y="1911"/>
                          <a:ext cx="780" cy="1356"/>
                        </a:xfrm>
                        <a:prstGeom prst="rect">
                          <a:avLst/>
                        </a:prstGeom>
                        <a:noFill/>
                        <a:ln>
                          <a:noFill/>
                        </a:ln>
                        <a:effectLst/>
                        <a:extLst>
                          <a:ext uri="{909E8E84-426E-40dd-AFC4-6F175D3DCCD1}">
                            <a14:hiddenFill xmlns="" xmlns:a14="http://schemas.microsoft.com/office/drawing/2010/main">
                              <a:solidFill>
                                <a:srgbClr val="00FFFF"/>
                              </a:solidFill>
                            </a14:hiddenFill>
                          </a:ext>
                          <a:ext uri="{91240B29-F687-4f45-9708-019B960494DF}">
                            <a14:hiddenLine xmlns="" xmlns:a14="http://schemas.microsoft.com/office/drawing/2010/main" w="12700">
                              <a:solidFill>
                                <a:schemeClr val="accent2"/>
                              </a:solidFill>
                              <a:miter lim="800000"/>
                              <a:headEnd/>
                              <a:tailEnd/>
                            </a14:hiddenLine>
                          </a:ext>
                          <a:ext uri="{AF507438-7753-43e0-B8FC-AC1667EBCBE1}">
                            <a14:hiddenEffects xmln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17" name="Group 27">
            <a:extLst>
              <a:ext uri="{FF2B5EF4-FFF2-40B4-BE49-F238E27FC236}">
                <a16:creationId xmlns:a16="http://schemas.microsoft.com/office/drawing/2014/main" id="{E999DC0D-B381-4DB3-98B8-CA0F56649737}"/>
              </a:ext>
            </a:extLst>
          </p:cNvPr>
          <p:cNvGrpSpPr>
            <a:grpSpLocks/>
          </p:cNvGrpSpPr>
          <p:nvPr/>
        </p:nvGrpSpPr>
        <p:grpSpPr bwMode="auto">
          <a:xfrm>
            <a:off x="7854057" y="3682532"/>
            <a:ext cx="1716200" cy="2828212"/>
            <a:chOff x="3888" y="1872"/>
            <a:chExt cx="816" cy="1488"/>
          </a:xfrm>
        </p:grpSpPr>
        <p:sp>
          <p:nvSpPr>
            <p:cNvPr id="18" name="Rectangle 28">
              <a:extLst>
                <a:ext uri="{FF2B5EF4-FFF2-40B4-BE49-F238E27FC236}">
                  <a16:creationId xmlns:a16="http://schemas.microsoft.com/office/drawing/2014/main" id="{98054E95-232A-EB3C-F8BC-498B55C2C365}"/>
                </a:ext>
              </a:extLst>
            </p:cNvPr>
            <p:cNvSpPr>
              <a:spLocks noChangeArrowheads="1"/>
            </p:cNvSpPr>
            <p:nvPr/>
          </p:nvSpPr>
          <p:spPr bwMode="auto">
            <a:xfrm>
              <a:off x="3888" y="1872"/>
              <a:ext cx="816" cy="1488"/>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endParaRPr lang="zh-CN" altLang="en-US" sz="1800">
                <a:solidFill>
                  <a:srgbClr val="000000"/>
                </a:solidFill>
                <a:latin typeface="Arial Narrow" panose="020B0606020202030204" pitchFamily="34" charset="0"/>
              </a:endParaRPr>
            </a:p>
          </p:txBody>
        </p:sp>
        <p:graphicFrame>
          <p:nvGraphicFramePr>
            <p:cNvPr id="19" name="Object 29">
              <a:extLst>
                <a:ext uri="{FF2B5EF4-FFF2-40B4-BE49-F238E27FC236}">
                  <a16:creationId xmlns:a16="http://schemas.microsoft.com/office/drawing/2014/main" id="{43385DF6-682F-BBA5-7C48-19BA86D41D04}"/>
                </a:ext>
              </a:extLst>
            </p:cNvPr>
            <p:cNvGraphicFramePr>
              <a:graphicFrameLocks noChangeAspect="1"/>
            </p:cNvGraphicFramePr>
            <p:nvPr/>
          </p:nvGraphicFramePr>
          <p:xfrm>
            <a:off x="3888" y="1920"/>
            <a:ext cx="780" cy="1358"/>
          </p:xfrm>
          <a:graphic>
            <a:graphicData uri="http://schemas.openxmlformats.org/presentationml/2006/ole">
              <mc:AlternateContent xmlns:mc="http://schemas.openxmlformats.org/markup-compatibility/2006">
                <mc:Choice xmlns:v="urn:schemas-microsoft-com:vml" Requires="v">
                  <p:oleObj name="图片" r:id="rId6" imgW="952500" imgH="1657350" progId="Word.Picture.8">
                    <p:embed/>
                  </p:oleObj>
                </mc:Choice>
                <mc:Fallback>
                  <p:oleObj name="图片" r:id="rId6" imgW="952500" imgH="1657350" progId="Word.Picture.8">
                    <p:embed/>
                    <p:pic>
                      <p:nvPicPr>
                        <p:cNvPr id="36882"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8" y="1920"/>
                          <a:ext cx="780" cy="1358"/>
                        </a:xfrm>
                        <a:prstGeom prst="rect">
                          <a:avLst/>
                        </a:prstGeom>
                        <a:noFill/>
                        <a:ln>
                          <a:noFill/>
                        </a:ln>
                        <a:effectLst/>
                        <a:extLst>
                          <a:ext uri="{909E8E84-426E-40dd-AFC4-6F175D3DCCD1}">
                            <a14:hiddenFill xmlns="" xmlns:a14="http://schemas.microsoft.com/office/drawing/2010/main">
                              <a:solidFill>
                                <a:srgbClr val="00FFFF"/>
                              </a:solidFill>
                            </a14:hiddenFill>
                          </a:ext>
                          <a:ext uri="{91240B29-F687-4f45-9708-019B960494DF}">
                            <a14:hiddenLine xmlns="" xmlns:a14="http://schemas.microsoft.com/office/drawing/2010/main" w="12700">
                              <a:solidFill>
                                <a:schemeClr val="accent2"/>
                              </a:solidFill>
                              <a:miter lim="800000"/>
                              <a:headEnd/>
                              <a:tailEnd/>
                            </a14:hiddenLine>
                          </a:ext>
                          <a:ext uri="{AF507438-7753-43e0-B8FC-AC1667EBCBE1}">
                            <a14:hiddenEffects xmln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759D442-B630-83B5-D940-7DA30CAD14F6}"/>
                  </a:ext>
                </a:extLst>
              </p:cNvPr>
              <p:cNvSpPr txBox="1"/>
              <p:nvPr/>
            </p:nvSpPr>
            <p:spPr>
              <a:xfrm>
                <a:off x="452924" y="1866880"/>
                <a:ext cx="146533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800" i="1" smtClean="0">
                              <a:latin typeface="Cambria Math" panose="02040503050406030204" pitchFamily="18" charset="0"/>
                            </a:rPr>
                          </m:ctrlPr>
                        </m:sSubPr>
                        <m:e>
                          <m:r>
                            <a:rPr kumimoji="1" lang="en-US" altLang="zh-CN" sz="2800" b="0" i="1" smtClean="0">
                              <a:latin typeface="Cambria Math" panose="02040503050406030204" pitchFamily="18" charset="0"/>
                            </a:rPr>
                            <m:t>𝑉</m:t>
                          </m:r>
                        </m:e>
                        <m:sub>
                          <m:r>
                            <a:rPr kumimoji="1" lang="en-US" altLang="zh-CN" sz="2800" b="0" i="1" smtClean="0">
                              <a:latin typeface="Cambria Math" panose="02040503050406030204" pitchFamily="18" charset="0"/>
                            </a:rPr>
                            <m:t>𝐷</m:t>
                          </m:r>
                        </m:sub>
                      </m:sSub>
                      <m:r>
                        <a:rPr kumimoji="1" lang="en-US" altLang="zh-CN" sz="2800" b="0" i="1" smtClean="0">
                          <a:latin typeface="Cambria Math" panose="02040503050406030204" pitchFamily="18" charset="0"/>
                        </a:rPr>
                        <m:t>=0</m:t>
                      </m:r>
                      <m:r>
                        <a:rPr kumimoji="1" lang="en-US" altLang="zh-CN" sz="2800" b="0" i="1" smtClean="0">
                          <a:latin typeface="Cambria Math" panose="02040503050406030204" pitchFamily="18" charset="0"/>
                        </a:rPr>
                        <m:t>𝑉</m:t>
                      </m:r>
                      <m:r>
                        <a:rPr kumimoji="1" lang="en-US" altLang="zh-CN" sz="2800" b="0" i="1" smtClean="0">
                          <a:latin typeface="Cambria Math" panose="02040503050406030204" pitchFamily="18" charset="0"/>
                        </a:rPr>
                        <m:t> </m:t>
                      </m:r>
                    </m:oMath>
                  </m:oMathPara>
                </a14:m>
                <a:endParaRPr kumimoji="1" lang="zh-CN" altLang="en-US" sz="2800" dirty="0"/>
              </a:p>
            </p:txBody>
          </p:sp>
        </mc:Choice>
        <mc:Fallback xmlns="">
          <p:sp>
            <p:nvSpPr>
              <p:cNvPr id="21" name="文本框 20">
                <a:extLst>
                  <a:ext uri="{FF2B5EF4-FFF2-40B4-BE49-F238E27FC236}">
                    <a16:creationId xmlns:a16="http://schemas.microsoft.com/office/drawing/2014/main" id="{9759D442-B630-83B5-D940-7DA30CAD14F6}"/>
                  </a:ext>
                </a:extLst>
              </p:cNvPr>
              <p:cNvSpPr txBox="1">
                <a:spLocks noRot="1" noChangeAspect="1" noMove="1" noResize="1" noEditPoints="1" noAdjustHandles="1" noChangeArrowheads="1" noChangeShapeType="1" noTextEdit="1"/>
              </p:cNvSpPr>
              <p:nvPr/>
            </p:nvSpPr>
            <p:spPr>
              <a:xfrm>
                <a:off x="452924" y="1866880"/>
                <a:ext cx="1465337" cy="430887"/>
              </a:xfrm>
              <a:prstGeom prst="rect">
                <a:avLst/>
              </a:prstGeom>
              <a:blipFill>
                <a:blip r:embed="rId8"/>
                <a:stretch>
                  <a:fillRect l="-4274" t="-5714" r="-7692" b="-4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DD86DCB-68DF-AAD7-2B5B-9F6B461B4EC0}"/>
                  </a:ext>
                </a:extLst>
              </p:cNvPr>
              <p:cNvSpPr txBox="1"/>
              <p:nvPr/>
            </p:nvSpPr>
            <p:spPr>
              <a:xfrm>
                <a:off x="307296" y="5160394"/>
                <a:ext cx="6181371" cy="8094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𝐼</m:t>
                          </m:r>
                        </m:e>
                        <m:sub>
                          <m:r>
                            <a:rPr kumimoji="1" lang="en-US" altLang="zh-CN" sz="2800" b="0" i="1" smtClean="0">
                              <a:latin typeface="Cambria Math" panose="02040503050406030204" pitchFamily="18" charset="0"/>
                            </a:rPr>
                            <m:t>𝐷</m:t>
                          </m:r>
                        </m:sub>
                      </m:sSub>
                      <m:r>
                        <a:rPr kumimoji="1" lang="en-US" altLang="zh-CN" sz="2800" b="0" i="1" smtClean="0">
                          <a:latin typeface="Cambria Math" panose="02040503050406030204" pitchFamily="18" charset="0"/>
                        </a:rPr>
                        <m:t>=</m:t>
                      </m:r>
                      <m:f>
                        <m:fPr>
                          <m:ctrlPr>
                            <a:rPr kumimoji="1" lang="en-US" altLang="zh-CN" sz="2800" b="0" i="1" smtClean="0">
                              <a:latin typeface="Cambria Math" panose="02040503050406030204" pitchFamily="18" charset="0"/>
                            </a:rPr>
                          </m:ctrlPr>
                        </m:fPr>
                        <m:num>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𝑉</m:t>
                              </m:r>
                            </m:e>
                            <m:sub>
                              <m:r>
                                <a:rPr kumimoji="1" lang="en-US" altLang="zh-CN" sz="2800" b="0" i="1" smtClean="0">
                                  <a:latin typeface="Cambria Math" panose="02040503050406030204" pitchFamily="18" charset="0"/>
                                </a:rPr>
                                <m:t>𝐷𝐷</m:t>
                              </m:r>
                            </m:sub>
                          </m:sSub>
                          <m:r>
                            <a:rPr kumimoji="1" lang="en-US" altLang="zh-CN" sz="2800" b="0" i="1" smtClean="0">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𝑉</m:t>
                              </m:r>
                            </m:e>
                            <m:sub>
                              <m:r>
                                <a:rPr kumimoji="1" lang="en-US" altLang="zh-CN" sz="2800" i="1">
                                  <a:latin typeface="Cambria Math" panose="02040503050406030204" pitchFamily="18" charset="0"/>
                                </a:rPr>
                                <m:t>𝐷</m:t>
                              </m:r>
                            </m:sub>
                          </m:sSub>
                        </m:num>
                        <m:den>
                          <m:r>
                            <a:rPr kumimoji="1" lang="en-US" altLang="zh-CN" sz="2800" b="0" i="1" smtClean="0">
                              <a:latin typeface="Cambria Math" panose="02040503050406030204" pitchFamily="18" charset="0"/>
                            </a:rPr>
                            <m:t>𝑅</m:t>
                          </m:r>
                        </m:den>
                      </m:f>
                      <m:r>
                        <a:rPr kumimoji="1" lang="en-US" altLang="zh-CN" sz="2800" b="0" i="1" smtClean="0">
                          <a:latin typeface="Cambria Math" panose="02040503050406030204" pitchFamily="18" charset="0"/>
                        </a:rPr>
                        <m:t>=</m:t>
                      </m:r>
                      <m:f>
                        <m:fPr>
                          <m:ctrlPr>
                            <a:rPr kumimoji="1" lang="en-US" altLang="zh-CN" sz="2800" b="0" i="1" smtClean="0">
                              <a:latin typeface="Cambria Math" panose="02040503050406030204" pitchFamily="18" charset="0"/>
                            </a:rPr>
                          </m:ctrlPr>
                        </m:fPr>
                        <m:num>
                          <m:r>
                            <a:rPr kumimoji="1" lang="en-US" altLang="zh-CN" sz="2800" b="0" i="1" smtClean="0">
                              <a:latin typeface="Cambria Math" panose="02040503050406030204" pitchFamily="18" charset="0"/>
                            </a:rPr>
                            <m:t>10</m:t>
                          </m:r>
                          <m:r>
                            <a:rPr kumimoji="1" lang="en-US" altLang="zh-CN" sz="2800" b="0" i="1" smtClean="0">
                              <a:latin typeface="Cambria Math" panose="02040503050406030204" pitchFamily="18" charset="0"/>
                            </a:rPr>
                            <m:t>𝑉</m:t>
                          </m:r>
                          <m:r>
                            <a:rPr kumimoji="1" lang="en-US" altLang="zh-CN" sz="2800" b="0" i="1" smtClean="0">
                              <a:latin typeface="Cambria Math" panose="02040503050406030204" pitchFamily="18" charset="0"/>
                            </a:rPr>
                            <m:t>−0.7</m:t>
                          </m:r>
                          <m:r>
                            <a:rPr kumimoji="1" lang="en-US" altLang="zh-CN" sz="2800" b="0" i="1" smtClean="0">
                              <a:latin typeface="Cambria Math" panose="02040503050406030204" pitchFamily="18" charset="0"/>
                            </a:rPr>
                            <m:t>𝑉</m:t>
                          </m:r>
                        </m:num>
                        <m:den>
                          <m:r>
                            <a:rPr kumimoji="1" lang="en-US" altLang="zh-CN" sz="2800" b="0" i="1" smtClean="0">
                              <a:latin typeface="Cambria Math" panose="02040503050406030204" pitchFamily="18" charset="0"/>
                            </a:rPr>
                            <m:t>10</m:t>
                          </m:r>
                          <m:r>
                            <a:rPr kumimoji="1" lang="en-US" altLang="zh-CN" sz="2800" b="0" i="1" smtClean="0">
                              <a:latin typeface="Cambria Math" panose="02040503050406030204" pitchFamily="18" charset="0"/>
                            </a:rPr>
                            <m:t>𝑘</m:t>
                          </m:r>
                          <m:r>
                            <m:rPr>
                              <m:sty m:val="p"/>
                            </m:rPr>
                            <a:rPr kumimoji="1" lang="el-GR" altLang="zh-CN" sz="2800" b="0" i="1" smtClean="0">
                              <a:latin typeface="Cambria Math" panose="02040503050406030204" pitchFamily="18" charset="0"/>
                              <a:ea typeface="Cambria Math" panose="02040503050406030204" pitchFamily="18" charset="0"/>
                            </a:rPr>
                            <m:t>Ω</m:t>
                          </m:r>
                        </m:den>
                      </m:f>
                      <m:r>
                        <a:rPr kumimoji="1" lang="en-US" altLang="zh-CN" sz="2800" b="0" i="1" smtClean="0">
                          <a:latin typeface="Cambria Math" panose="02040503050406030204" pitchFamily="18" charset="0"/>
                        </a:rPr>
                        <m:t>=0.93</m:t>
                      </m:r>
                      <m:r>
                        <a:rPr kumimoji="1" lang="en-US" altLang="zh-CN" sz="2800" b="0" i="1" smtClean="0">
                          <a:latin typeface="Cambria Math" panose="02040503050406030204" pitchFamily="18" charset="0"/>
                        </a:rPr>
                        <m:t>𝑚𝐴</m:t>
                      </m:r>
                    </m:oMath>
                  </m:oMathPara>
                </a14:m>
                <a:endParaRPr kumimoji="1" lang="zh-CN" altLang="en-US" sz="2800" dirty="0"/>
              </a:p>
            </p:txBody>
          </p:sp>
        </mc:Choice>
        <mc:Fallback xmlns="">
          <p:sp>
            <p:nvSpPr>
              <p:cNvPr id="22" name="文本框 21">
                <a:extLst>
                  <a:ext uri="{FF2B5EF4-FFF2-40B4-BE49-F238E27FC236}">
                    <a16:creationId xmlns:a16="http://schemas.microsoft.com/office/drawing/2014/main" id="{5DD86DCB-68DF-AAD7-2B5B-9F6B461B4EC0}"/>
                  </a:ext>
                </a:extLst>
              </p:cNvPr>
              <p:cNvSpPr txBox="1">
                <a:spLocks noRot="1" noChangeAspect="1" noMove="1" noResize="1" noEditPoints="1" noAdjustHandles="1" noChangeArrowheads="1" noChangeShapeType="1" noTextEdit="1"/>
              </p:cNvSpPr>
              <p:nvPr/>
            </p:nvSpPr>
            <p:spPr>
              <a:xfrm>
                <a:off x="307296" y="5160394"/>
                <a:ext cx="6181371" cy="809452"/>
              </a:xfrm>
              <a:prstGeom prst="rect">
                <a:avLst/>
              </a:prstGeom>
              <a:blipFill>
                <a:blip r:embed="rId9"/>
                <a:stretch>
                  <a:fillRect l="-821" t="-1563" r="-821" b="-140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FEF7D5B-A672-B9A1-4AF4-54DF5C6A6751}"/>
                  </a:ext>
                </a:extLst>
              </p:cNvPr>
              <p:cNvSpPr txBox="1"/>
              <p:nvPr/>
            </p:nvSpPr>
            <p:spPr>
              <a:xfrm>
                <a:off x="66682" y="4503045"/>
                <a:ext cx="236172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800" i="1" smtClean="0">
                              <a:latin typeface="Cambria Math" panose="02040503050406030204" pitchFamily="18" charset="0"/>
                            </a:rPr>
                          </m:ctrlPr>
                        </m:sSubPr>
                        <m:e>
                          <m:r>
                            <a:rPr kumimoji="1" lang="en-US" altLang="zh-CN" sz="2800" b="0" i="1" smtClean="0">
                              <a:latin typeface="Cambria Math" panose="02040503050406030204" pitchFamily="18" charset="0"/>
                            </a:rPr>
                            <m:t>𝑉</m:t>
                          </m:r>
                        </m:e>
                        <m:sub>
                          <m:r>
                            <a:rPr kumimoji="1" lang="en-US" altLang="zh-CN" sz="2800" b="0" i="1" smtClean="0">
                              <a:latin typeface="Cambria Math" panose="02040503050406030204" pitchFamily="18" charset="0"/>
                            </a:rPr>
                            <m:t>𝐷</m:t>
                          </m:r>
                        </m:sub>
                      </m:sSub>
                      <m:r>
                        <a:rPr kumimoji="1" lang="en-US" altLang="zh-CN" sz="2800" b="0" i="1" smtClean="0">
                          <a:latin typeface="Cambria Math" panose="02040503050406030204" pitchFamily="18" charset="0"/>
                        </a:rPr>
                        <m:t>=0.7</m:t>
                      </m:r>
                      <m:r>
                        <a:rPr kumimoji="1" lang="en-US" altLang="zh-CN" sz="2800" b="0" i="1" smtClean="0">
                          <a:latin typeface="Cambria Math" panose="02040503050406030204" pitchFamily="18" charset="0"/>
                        </a:rPr>
                        <m:t>𝑉</m:t>
                      </m:r>
                      <m:r>
                        <a:rPr kumimoji="1" lang="en-US" altLang="zh-CN" sz="2800" b="0" i="1" smtClean="0">
                          <a:latin typeface="Cambria Math" panose="02040503050406030204" pitchFamily="18" charset="0"/>
                        </a:rPr>
                        <m:t>, </m:t>
                      </m:r>
                    </m:oMath>
                  </m:oMathPara>
                </a14:m>
                <a:endParaRPr lang="zh-CN" altLang="en-US" sz="2800" dirty="0"/>
              </a:p>
            </p:txBody>
          </p:sp>
        </mc:Choice>
        <mc:Fallback xmlns="">
          <p:sp>
            <p:nvSpPr>
              <p:cNvPr id="24" name="文本框 23">
                <a:extLst>
                  <a:ext uri="{FF2B5EF4-FFF2-40B4-BE49-F238E27FC236}">
                    <a16:creationId xmlns:a16="http://schemas.microsoft.com/office/drawing/2014/main" id="{BFEF7D5B-A672-B9A1-4AF4-54DF5C6A6751}"/>
                  </a:ext>
                </a:extLst>
              </p:cNvPr>
              <p:cNvSpPr txBox="1">
                <a:spLocks noRot="1" noChangeAspect="1" noMove="1" noResize="1" noEditPoints="1" noAdjustHandles="1" noChangeArrowheads="1" noChangeShapeType="1" noTextEdit="1"/>
              </p:cNvSpPr>
              <p:nvPr/>
            </p:nvSpPr>
            <p:spPr>
              <a:xfrm>
                <a:off x="66682" y="4503045"/>
                <a:ext cx="2361722" cy="523220"/>
              </a:xfrm>
              <a:prstGeom prst="rect">
                <a:avLst/>
              </a:prstGeom>
              <a:blipFill>
                <a:blip r:embed="rId10"/>
                <a:stretch>
                  <a:fillRect b="-23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9C16B7B4-80E9-E583-9012-4ABAC9FCF6EA}"/>
                  </a:ext>
                </a:extLst>
              </p:cNvPr>
              <p:cNvSpPr txBox="1"/>
              <p:nvPr/>
            </p:nvSpPr>
            <p:spPr>
              <a:xfrm>
                <a:off x="311230" y="2346009"/>
                <a:ext cx="4242217" cy="901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𝐼</m:t>
                          </m:r>
                        </m:e>
                        <m:sub>
                          <m:r>
                            <a:rPr kumimoji="1" lang="en-US" altLang="zh-CN" sz="2800" b="0" i="1" smtClean="0">
                              <a:latin typeface="Cambria Math" panose="02040503050406030204" pitchFamily="18" charset="0"/>
                            </a:rPr>
                            <m:t>𝐷</m:t>
                          </m:r>
                        </m:sub>
                      </m:sSub>
                      <m:r>
                        <a:rPr kumimoji="1" lang="en-US" altLang="zh-CN" sz="2800" b="0" i="1" smtClean="0">
                          <a:latin typeface="Cambria Math" panose="02040503050406030204" pitchFamily="18" charset="0"/>
                        </a:rPr>
                        <m:t>=</m:t>
                      </m:r>
                      <m:f>
                        <m:fPr>
                          <m:ctrlPr>
                            <a:rPr kumimoji="1" lang="en-US" altLang="zh-CN" sz="2800" b="0" i="1" smtClean="0">
                              <a:latin typeface="Cambria Math" panose="02040503050406030204" pitchFamily="18" charset="0"/>
                            </a:rPr>
                          </m:ctrlPr>
                        </m:fPr>
                        <m:num>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𝑉</m:t>
                              </m:r>
                            </m:e>
                            <m:sub>
                              <m:r>
                                <a:rPr kumimoji="1" lang="en-US" altLang="zh-CN" sz="2800" b="0" i="1" smtClean="0">
                                  <a:latin typeface="Cambria Math" panose="02040503050406030204" pitchFamily="18" charset="0"/>
                                </a:rPr>
                                <m:t>𝐷𝐷</m:t>
                              </m:r>
                            </m:sub>
                          </m:sSub>
                        </m:num>
                        <m:den>
                          <m:r>
                            <a:rPr kumimoji="1" lang="en-US" altLang="zh-CN" sz="2800" b="0" i="1" smtClean="0">
                              <a:latin typeface="Cambria Math" panose="02040503050406030204" pitchFamily="18" charset="0"/>
                            </a:rPr>
                            <m:t>𝑅</m:t>
                          </m:r>
                        </m:den>
                      </m:f>
                      <m:r>
                        <a:rPr kumimoji="1" lang="en-US" altLang="zh-CN" sz="2800" b="0" i="1" smtClean="0">
                          <a:latin typeface="Cambria Math" panose="02040503050406030204" pitchFamily="18" charset="0"/>
                        </a:rPr>
                        <m:t>=</m:t>
                      </m:r>
                      <m:f>
                        <m:fPr>
                          <m:ctrlPr>
                            <a:rPr kumimoji="1" lang="en-US" altLang="zh-CN" sz="2800" b="0" i="1" smtClean="0">
                              <a:latin typeface="Cambria Math" panose="02040503050406030204" pitchFamily="18" charset="0"/>
                            </a:rPr>
                          </m:ctrlPr>
                        </m:fPr>
                        <m:num>
                          <m:r>
                            <a:rPr kumimoji="1" lang="en-US" altLang="zh-CN" sz="2800" b="0" i="1" smtClean="0">
                              <a:latin typeface="Cambria Math" panose="02040503050406030204" pitchFamily="18" charset="0"/>
                            </a:rPr>
                            <m:t>10</m:t>
                          </m:r>
                          <m:r>
                            <a:rPr kumimoji="1" lang="en-US" altLang="zh-CN" sz="2800" b="0" i="1" smtClean="0">
                              <a:latin typeface="Cambria Math" panose="02040503050406030204" pitchFamily="18" charset="0"/>
                            </a:rPr>
                            <m:t>𝑉</m:t>
                          </m:r>
                        </m:num>
                        <m:den>
                          <m:r>
                            <a:rPr kumimoji="1" lang="en-US" altLang="zh-CN" sz="2800" b="0" i="1" smtClean="0">
                              <a:latin typeface="Cambria Math" panose="02040503050406030204" pitchFamily="18" charset="0"/>
                            </a:rPr>
                            <m:t>10</m:t>
                          </m:r>
                          <m:r>
                            <a:rPr kumimoji="1" lang="en-US" altLang="zh-CN" sz="2800" b="0" i="1" smtClean="0">
                              <a:latin typeface="Cambria Math" panose="02040503050406030204" pitchFamily="18" charset="0"/>
                            </a:rPr>
                            <m:t>𝑘</m:t>
                          </m:r>
                          <m:r>
                            <m:rPr>
                              <m:sty m:val="p"/>
                            </m:rPr>
                            <a:rPr kumimoji="1" lang="el-GR" altLang="zh-CN" sz="2800" b="0" i="1" smtClean="0">
                              <a:latin typeface="Cambria Math" panose="02040503050406030204" pitchFamily="18" charset="0"/>
                              <a:ea typeface="Cambria Math" panose="02040503050406030204" pitchFamily="18" charset="0"/>
                            </a:rPr>
                            <m:t>Ω</m:t>
                          </m:r>
                        </m:den>
                      </m:f>
                      <m:r>
                        <a:rPr kumimoji="1" lang="en-US" altLang="zh-CN" sz="2800" b="0" i="1" smtClean="0">
                          <a:latin typeface="Cambria Math" panose="02040503050406030204" pitchFamily="18" charset="0"/>
                        </a:rPr>
                        <m:t>=1</m:t>
                      </m:r>
                      <m:r>
                        <a:rPr kumimoji="1" lang="en-US" altLang="zh-CN" sz="2800" b="0" i="1" smtClean="0">
                          <a:latin typeface="Cambria Math" panose="02040503050406030204" pitchFamily="18" charset="0"/>
                        </a:rPr>
                        <m:t>𝑚𝐴</m:t>
                      </m:r>
                    </m:oMath>
                  </m:oMathPara>
                </a14:m>
                <a:endParaRPr lang="zh-CN" altLang="en-US" sz="2800" dirty="0"/>
              </a:p>
            </p:txBody>
          </p:sp>
        </mc:Choice>
        <mc:Fallback xmlns="">
          <p:sp>
            <p:nvSpPr>
              <p:cNvPr id="26" name="文本框 25">
                <a:extLst>
                  <a:ext uri="{FF2B5EF4-FFF2-40B4-BE49-F238E27FC236}">
                    <a16:creationId xmlns:a16="http://schemas.microsoft.com/office/drawing/2014/main" id="{9C16B7B4-80E9-E583-9012-4ABAC9FCF6EA}"/>
                  </a:ext>
                </a:extLst>
              </p:cNvPr>
              <p:cNvSpPr txBox="1">
                <a:spLocks noRot="1" noChangeAspect="1" noMove="1" noResize="1" noEditPoints="1" noAdjustHandles="1" noChangeArrowheads="1" noChangeShapeType="1" noTextEdit="1"/>
              </p:cNvSpPr>
              <p:nvPr/>
            </p:nvSpPr>
            <p:spPr>
              <a:xfrm>
                <a:off x="311230" y="2346009"/>
                <a:ext cx="4242217" cy="901785"/>
              </a:xfrm>
              <a:prstGeom prst="rect">
                <a:avLst/>
              </a:prstGeom>
              <a:blipFill>
                <a:blip r:embed="rId11"/>
                <a:stretch>
                  <a:fillRect b="-69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8683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1433A7-DFFF-06BB-0602-B5F29C289F46}"/>
              </a:ext>
            </a:extLst>
          </p:cNvPr>
          <p:cNvSpPr>
            <a:spLocks noGrp="1"/>
          </p:cNvSpPr>
          <p:nvPr>
            <p:ph type="title"/>
          </p:nvPr>
        </p:nvSpPr>
        <p:spPr/>
        <p:txBody>
          <a:bodyPr>
            <a:normAutofit fontScale="90000"/>
          </a:bodyPr>
          <a:lstStyle/>
          <a:p>
            <a:r>
              <a:rPr lang="zh-CN" altLang="en-US" dirty="0">
                <a:latin typeface="宋体" panose="02010600030101010101" pitchFamily="2" charset="-122"/>
              </a:rPr>
              <a:t>示例：二极管电路计算</a:t>
            </a:r>
            <a:endParaRPr kumimoji="1" lang="zh-CN" altLang="en-US" dirty="0"/>
          </a:p>
        </p:txBody>
      </p:sp>
      <p:sp>
        <p:nvSpPr>
          <p:cNvPr id="3" name="内容占位符 2">
            <a:extLst>
              <a:ext uri="{FF2B5EF4-FFF2-40B4-BE49-F238E27FC236}">
                <a16:creationId xmlns:a16="http://schemas.microsoft.com/office/drawing/2014/main" id="{811455BD-CEBB-7A7B-861B-3EF77F62992B}"/>
              </a:ext>
            </a:extLst>
          </p:cNvPr>
          <p:cNvSpPr>
            <a:spLocks noGrp="1"/>
          </p:cNvSpPr>
          <p:nvPr>
            <p:ph idx="1"/>
          </p:nvPr>
        </p:nvSpPr>
        <p:spPr/>
        <p:txBody>
          <a:bodyPr/>
          <a:lstStyle/>
          <a:p>
            <a:r>
              <a:rPr kumimoji="1" lang="zh-CN" altLang="en-US" dirty="0">
                <a:solidFill>
                  <a:srgbClr val="000000"/>
                </a:solidFill>
              </a:rPr>
              <a:t>设二极管是理想的，求</a:t>
            </a:r>
            <a:r>
              <a:rPr kumimoji="1" lang="en-US" altLang="zh-CN" i="1" dirty="0">
                <a:solidFill>
                  <a:srgbClr val="000000"/>
                </a:solidFill>
              </a:rPr>
              <a:t>V</a:t>
            </a:r>
            <a:r>
              <a:rPr kumimoji="1" lang="en-US" altLang="zh-CN" baseline="-25000" dirty="0">
                <a:solidFill>
                  <a:srgbClr val="000000"/>
                </a:solidFill>
              </a:rPr>
              <a:t>O</a:t>
            </a:r>
            <a:r>
              <a:rPr kumimoji="1" lang="en-US" altLang="zh-CN" dirty="0">
                <a:solidFill>
                  <a:srgbClr val="000000"/>
                </a:solidFill>
              </a:rPr>
              <a:t> </a:t>
            </a:r>
            <a:endParaRPr kumimoji="1" lang="zh-CN" altLang="en-US" dirty="0"/>
          </a:p>
          <a:p>
            <a:endParaRPr kumimoji="1" lang="zh-CN" altLang="en-US" dirty="0"/>
          </a:p>
        </p:txBody>
      </p:sp>
      <p:sp>
        <p:nvSpPr>
          <p:cNvPr id="4" name="页脚占位符 3">
            <a:extLst>
              <a:ext uri="{FF2B5EF4-FFF2-40B4-BE49-F238E27FC236}">
                <a16:creationId xmlns:a16="http://schemas.microsoft.com/office/drawing/2014/main" id="{DC8D9FF8-6BB1-CE64-E49C-EBE377DFEA9A}"/>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853CBC24-9766-ACFD-52DA-145ADD9DB5CD}"/>
              </a:ext>
            </a:extLst>
          </p:cNvPr>
          <p:cNvSpPr>
            <a:spLocks noGrp="1"/>
          </p:cNvSpPr>
          <p:nvPr>
            <p:ph type="sldNum" sz="quarter" idx="12"/>
          </p:nvPr>
        </p:nvSpPr>
        <p:spPr/>
        <p:txBody>
          <a:bodyPr/>
          <a:lstStyle/>
          <a:p>
            <a:fld id="{9E260BC5-5BF3-8746-862B-DC45E9CAA88B}" type="slidenum">
              <a:rPr lang="en-US" smtClean="0"/>
              <a:pPr/>
              <a:t>22</a:t>
            </a:fld>
            <a:r>
              <a:rPr lang="en-US" altLang="zh-CN" dirty="0"/>
              <a:t>/33</a:t>
            </a:r>
            <a:endParaRPr lang="en-US" dirty="0"/>
          </a:p>
        </p:txBody>
      </p:sp>
      <p:graphicFrame>
        <p:nvGraphicFramePr>
          <p:cNvPr id="6" name="Object 16">
            <a:extLst>
              <a:ext uri="{FF2B5EF4-FFF2-40B4-BE49-F238E27FC236}">
                <a16:creationId xmlns:a16="http://schemas.microsoft.com/office/drawing/2014/main" id="{2546D91B-0D82-306B-9821-4CC43EB78E8A}"/>
              </a:ext>
            </a:extLst>
          </p:cNvPr>
          <p:cNvGraphicFramePr>
            <a:graphicFrameLocks noChangeAspect="1"/>
          </p:cNvGraphicFramePr>
          <p:nvPr>
            <p:extLst>
              <p:ext uri="{D42A27DB-BD31-4B8C-83A1-F6EECF244321}">
                <p14:modId xmlns:p14="http://schemas.microsoft.com/office/powerpoint/2010/main" val="2872753470"/>
              </p:ext>
            </p:extLst>
          </p:nvPr>
        </p:nvGraphicFramePr>
        <p:xfrm>
          <a:off x="5904188" y="1620043"/>
          <a:ext cx="2957513" cy="2262187"/>
        </p:xfrm>
        <a:graphic>
          <a:graphicData uri="http://schemas.openxmlformats.org/presentationml/2006/ole">
            <mc:AlternateContent xmlns:mc="http://schemas.openxmlformats.org/markup-compatibility/2006">
              <mc:Choice xmlns:v="urn:schemas-microsoft-com:vml" Requires="v">
                <p:oleObj name="Picture" r:id="rId2" imgW="1981200" imgH="1511300" progId="Word.Picture.8">
                  <p:embed/>
                </p:oleObj>
              </mc:Choice>
              <mc:Fallback>
                <p:oleObj name="Picture" r:id="rId2" imgW="1981200" imgH="1511300" progId="Word.Picture.8">
                  <p:embed/>
                  <p:pic>
                    <p:nvPicPr>
                      <p:cNvPr id="37894"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4188" y="1620043"/>
                        <a:ext cx="2957513" cy="2262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7">
            <a:extLst>
              <a:ext uri="{FF2B5EF4-FFF2-40B4-BE49-F238E27FC236}">
                <a16:creationId xmlns:a16="http://schemas.microsoft.com/office/drawing/2014/main" id="{2702E14B-0C0F-8A1F-05A2-4A32E7C4FD1E}"/>
              </a:ext>
            </a:extLst>
          </p:cNvPr>
          <p:cNvSpPr txBox="1">
            <a:spLocks noChangeArrowheads="1"/>
          </p:cNvSpPr>
          <p:nvPr/>
        </p:nvSpPr>
        <p:spPr bwMode="auto">
          <a:xfrm>
            <a:off x="270811" y="1752860"/>
            <a:ext cx="4800600" cy="1127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Aft>
                <a:spcPct val="0"/>
              </a:spcAft>
              <a:buFontTx/>
              <a:buNone/>
            </a:pPr>
            <a:r>
              <a:rPr kumimoji="1" lang="en-US" altLang="zh-CN" sz="2400" b="0" dirty="0">
                <a:solidFill>
                  <a:srgbClr val="000000"/>
                </a:solidFill>
                <a:cs typeface="Times New Roman" panose="02020603050405020304" pitchFamily="18" charset="0"/>
              </a:rPr>
              <a:t>     </a:t>
            </a:r>
            <a:r>
              <a:rPr kumimoji="1" lang="zh-CN" altLang="en-US" sz="2400" b="0" dirty="0">
                <a:solidFill>
                  <a:srgbClr val="000000"/>
                </a:solidFill>
                <a:cs typeface="Times New Roman" panose="02020603050405020304" pitchFamily="18" charset="0"/>
              </a:rPr>
              <a:t>若断开</a:t>
            </a:r>
            <a:r>
              <a:rPr kumimoji="1" lang="en-US" altLang="zh-CN" sz="2400" b="0" dirty="0">
                <a:solidFill>
                  <a:srgbClr val="000000"/>
                </a:solidFill>
                <a:cs typeface="Times New Roman" panose="02020603050405020304" pitchFamily="18" charset="0"/>
              </a:rPr>
              <a:t>D</a:t>
            </a:r>
            <a:r>
              <a:rPr kumimoji="1" lang="zh-CN" altLang="en-US" sz="2400" b="0" dirty="0">
                <a:solidFill>
                  <a:srgbClr val="000000"/>
                </a:solidFill>
                <a:cs typeface="Times New Roman" panose="02020603050405020304" pitchFamily="18" charset="0"/>
              </a:rPr>
              <a:t>，以</a:t>
            </a:r>
            <a:r>
              <a:rPr kumimoji="1" lang="en-US" altLang="zh-CN" sz="2400" b="0" dirty="0">
                <a:solidFill>
                  <a:srgbClr val="000000"/>
                </a:solidFill>
                <a:cs typeface="Times New Roman" panose="02020603050405020304" pitchFamily="18" charset="0"/>
              </a:rPr>
              <a:t>O</a:t>
            </a:r>
            <a:r>
              <a:rPr kumimoji="1" lang="zh-CN" altLang="en-US" sz="2400" b="0" dirty="0">
                <a:solidFill>
                  <a:srgbClr val="000000"/>
                </a:solidFill>
                <a:cs typeface="Times New Roman" panose="02020603050405020304" pitchFamily="18" charset="0"/>
              </a:rPr>
              <a:t>为基准电位， </a:t>
            </a:r>
          </a:p>
          <a:p>
            <a:pPr eaLnBrk="1" hangingPunct="1">
              <a:lnSpc>
                <a:spcPct val="140000"/>
              </a:lnSpc>
              <a:spcAft>
                <a:spcPct val="0"/>
              </a:spcAft>
              <a:buFontTx/>
              <a:buNone/>
            </a:pPr>
            <a:r>
              <a:rPr kumimoji="1" lang="zh-CN" altLang="en-US" sz="2400" b="0" dirty="0">
                <a:solidFill>
                  <a:srgbClr val="000000"/>
                </a:solidFill>
                <a:cs typeface="Times New Roman" panose="02020603050405020304" pitchFamily="18" charset="0"/>
              </a:rPr>
              <a:t>     即</a:t>
            </a:r>
            <a:r>
              <a:rPr kumimoji="1" lang="en-US" altLang="zh-CN" sz="2400" b="0" dirty="0">
                <a:solidFill>
                  <a:srgbClr val="000000"/>
                </a:solidFill>
                <a:cs typeface="Times New Roman" panose="02020603050405020304" pitchFamily="18" charset="0"/>
              </a:rPr>
              <a:t>O</a:t>
            </a:r>
            <a:r>
              <a:rPr kumimoji="1" lang="zh-CN" altLang="en-US" sz="2400" b="0" dirty="0">
                <a:solidFill>
                  <a:srgbClr val="000000"/>
                </a:solidFill>
                <a:cs typeface="Times New Roman" panose="02020603050405020304" pitchFamily="18" charset="0"/>
              </a:rPr>
              <a:t>点为</a:t>
            </a:r>
            <a:r>
              <a:rPr kumimoji="1" lang="en-US" altLang="zh-CN" sz="2400" b="0" dirty="0">
                <a:solidFill>
                  <a:srgbClr val="000000"/>
                </a:solidFill>
                <a:cs typeface="Times New Roman" panose="02020603050405020304" pitchFamily="18" charset="0"/>
              </a:rPr>
              <a:t>0V</a:t>
            </a:r>
            <a:endParaRPr kumimoji="1" lang="zh-CN" altLang="en-US" sz="2400" b="0" dirty="0">
              <a:solidFill>
                <a:srgbClr val="000000"/>
              </a:solidFill>
              <a:cs typeface="Times New Roman" panose="02020603050405020304" pitchFamily="18" charset="0"/>
            </a:endParaRPr>
          </a:p>
        </p:txBody>
      </p:sp>
      <p:sp>
        <p:nvSpPr>
          <p:cNvPr id="8" name="Text Box 8">
            <a:extLst>
              <a:ext uri="{FF2B5EF4-FFF2-40B4-BE49-F238E27FC236}">
                <a16:creationId xmlns:a16="http://schemas.microsoft.com/office/drawing/2014/main" id="{594A8540-70AC-2308-7187-9ECBDBBB1975}"/>
              </a:ext>
            </a:extLst>
          </p:cNvPr>
          <p:cNvSpPr txBox="1">
            <a:spLocks noChangeArrowheads="1"/>
          </p:cNvSpPr>
          <p:nvPr/>
        </p:nvSpPr>
        <p:spPr bwMode="auto">
          <a:xfrm>
            <a:off x="635936" y="2921260"/>
            <a:ext cx="3833813" cy="1127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Aft>
                <a:spcPct val="0"/>
              </a:spcAft>
              <a:buFontTx/>
              <a:buNone/>
            </a:pPr>
            <a:r>
              <a:rPr kumimoji="1" lang="zh-CN" altLang="en-US" sz="2400" b="0" dirty="0">
                <a:solidFill>
                  <a:srgbClr val="000000"/>
                </a:solidFill>
                <a:cs typeface="Times New Roman" panose="02020603050405020304" pitchFamily="18" charset="0"/>
              </a:rPr>
              <a:t>则</a:t>
            </a:r>
            <a:r>
              <a:rPr kumimoji="1" lang="en-US" altLang="zh-CN" sz="2400" b="0" dirty="0">
                <a:solidFill>
                  <a:srgbClr val="000000"/>
                </a:solidFill>
                <a:cs typeface="Times New Roman" panose="02020603050405020304" pitchFamily="18" charset="0"/>
              </a:rPr>
              <a:t>D</a:t>
            </a:r>
            <a:r>
              <a:rPr kumimoji="1" lang="zh-CN" altLang="en-US" sz="2400" b="0" dirty="0">
                <a:solidFill>
                  <a:srgbClr val="000000"/>
                </a:solidFill>
                <a:cs typeface="Times New Roman" panose="02020603050405020304" pitchFamily="18" charset="0"/>
              </a:rPr>
              <a:t>阳极电位为</a:t>
            </a:r>
            <a:r>
              <a:rPr kumimoji="1" lang="en-US" altLang="zh-CN" sz="2400" b="0" dirty="0">
                <a:solidFill>
                  <a:srgbClr val="000000"/>
                </a:solidFill>
                <a:cs typeface="Times New Roman" panose="02020603050405020304" pitchFamily="18" charset="0"/>
              </a:rPr>
              <a:t>-6V</a:t>
            </a:r>
            <a:r>
              <a:rPr kumimoji="1" lang="zh-CN" altLang="en-US" sz="2400" b="0" dirty="0">
                <a:solidFill>
                  <a:srgbClr val="000000"/>
                </a:solidFill>
                <a:cs typeface="Times New Roman" panose="02020603050405020304" pitchFamily="18" charset="0"/>
              </a:rPr>
              <a:t>，阴极电位为</a:t>
            </a:r>
            <a:r>
              <a:rPr kumimoji="1" lang="en-US" altLang="zh-CN" sz="2400" b="0" dirty="0">
                <a:solidFill>
                  <a:srgbClr val="000000"/>
                </a:solidFill>
                <a:cs typeface="Times New Roman" panose="02020603050405020304" pitchFamily="18" charset="0"/>
              </a:rPr>
              <a:t>-12V</a:t>
            </a:r>
            <a:endParaRPr kumimoji="1" lang="zh-CN" altLang="en-US" sz="2400" b="0" dirty="0">
              <a:solidFill>
                <a:srgbClr val="000000"/>
              </a:solidFill>
              <a:cs typeface="Times New Roman" panose="02020603050405020304" pitchFamily="18" charset="0"/>
            </a:endParaRPr>
          </a:p>
        </p:txBody>
      </p:sp>
      <p:sp>
        <p:nvSpPr>
          <p:cNvPr id="9" name="Text Box 9">
            <a:extLst>
              <a:ext uri="{FF2B5EF4-FFF2-40B4-BE49-F238E27FC236}">
                <a16:creationId xmlns:a16="http://schemas.microsoft.com/office/drawing/2014/main" id="{2B22984A-C5E0-AEA5-4659-F7E82847CE4B}"/>
              </a:ext>
            </a:extLst>
          </p:cNvPr>
          <p:cNvSpPr txBox="1">
            <a:spLocks noChangeArrowheads="1"/>
          </p:cNvSpPr>
          <p:nvPr/>
        </p:nvSpPr>
        <p:spPr bwMode="auto">
          <a:xfrm>
            <a:off x="672449" y="4162685"/>
            <a:ext cx="7740650" cy="534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Aft>
                <a:spcPct val="0"/>
              </a:spcAft>
              <a:buFontTx/>
              <a:buNone/>
            </a:pPr>
            <a:r>
              <a:rPr kumimoji="1" lang="zh-CN" altLang="en-US" sz="2400" b="0" dirty="0">
                <a:solidFill>
                  <a:srgbClr val="000000"/>
                </a:solidFill>
                <a:cs typeface="Times New Roman" panose="02020603050405020304" pitchFamily="18" charset="0"/>
              </a:rPr>
              <a:t>阳极电位高于阴极电位，</a:t>
            </a:r>
            <a:r>
              <a:rPr kumimoji="1" lang="en-US" altLang="zh-CN" sz="2400" b="0" dirty="0">
                <a:solidFill>
                  <a:srgbClr val="000000"/>
                </a:solidFill>
                <a:cs typeface="Times New Roman" panose="02020603050405020304" pitchFamily="18" charset="0"/>
              </a:rPr>
              <a:t>D</a:t>
            </a:r>
            <a:r>
              <a:rPr kumimoji="1" lang="zh-CN" altLang="en-US" sz="2400" b="0" dirty="0">
                <a:solidFill>
                  <a:srgbClr val="000000"/>
                </a:solidFill>
                <a:cs typeface="Times New Roman" panose="02020603050405020304" pitchFamily="18" charset="0"/>
              </a:rPr>
              <a:t>接入时正向导通，压降等于零</a:t>
            </a:r>
          </a:p>
        </p:txBody>
      </p:sp>
      <p:sp>
        <p:nvSpPr>
          <p:cNvPr id="10" name="Text Box 11">
            <a:extLst>
              <a:ext uri="{FF2B5EF4-FFF2-40B4-BE49-F238E27FC236}">
                <a16:creationId xmlns:a16="http://schemas.microsoft.com/office/drawing/2014/main" id="{0B4E2C0B-B899-A6B8-D7EF-4448CB12765B}"/>
              </a:ext>
            </a:extLst>
          </p:cNvPr>
          <p:cNvSpPr txBox="1">
            <a:spLocks noChangeArrowheads="1"/>
          </p:cNvSpPr>
          <p:nvPr/>
        </p:nvSpPr>
        <p:spPr bwMode="auto">
          <a:xfrm>
            <a:off x="683561" y="5002473"/>
            <a:ext cx="2763838" cy="534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Aft>
                <a:spcPct val="0"/>
              </a:spcAft>
              <a:buFontTx/>
              <a:buNone/>
            </a:pPr>
            <a:r>
              <a:rPr kumimoji="1" lang="zh-CN" altLang="en-US" sz="2400" b="0">
                <a:solidFill>
                  <a:srgbClr val="000000"/>
                </a:solidFill>
                <a:cs typeface="Times New Roman" panose="02020603050405020304" pitchFamily="18" charset="0"/>
              </a:rPr>
              <a:t>所以，</a:t>
            </a:r>
            <a:r>
              <a:rPr kumimoji="1" lang="en-US" altLang="zh-CN" sz="2400" b="0" i="1">
                <a:solidFill>
                  <a:srgbClr val="000000"/>
                </a:solidFill>
                <a:cs typeface="Times New Roman" panose="02020603050405020304" pitchFamily="18" charset="0"/>
              </a:rPr>
              <a:t>V</a:t>
            </a:r>
            <a:r>
              <a:rPr kumimoji="1" lang="en-US" altLang="zh-CN" sz="2400" b="0" baseline="-25000">
                <a:solidFill>
                  <a:srgbClr val="000000"/>
                </a:solidFill>
                <a:cs typeface="Times New Roman" panose="02020603050405020304" pitchFamily="18" charset="0"/>
              </a:rPr>
              <a:t>O</a:t>
            </a:r>
            <a:r>
              <a:rPr kumimoji="1" lang="en-US" altLang="zh-CN" sz="2400" b="0">
                <a:solidFill>
                  <a:srgbClr val="000000"/>
                </a:solidFill>
                <a:cs typeface="Times New Roman" panose="02020603050405020304" pitchFamily="18" charset="0"/>
              </a:rPr>
              <a:t>= </a:t>
            </a:r>
            <a:r>
              <a:rPr kumimoji="1" lang="zh-CN" altLang="en-US" sz="2400" b="0">
                <a:solidFill>
                  <a:srgbClr val="000000"/>
                </a:solidFill>
                <a:cs typeface="Times New Roman" panose="02020603050405020304" pitchFamily="18" charset="0"/>
              </a:rPr>
              <a:t>－</a:t>
            </a:r>
            <a:r>
              <a:rPr kumimoji="1" lang="en-US" altLang="zh-CN" sz="2400" b="0">
                <a:solidFill>
                  <a:srgbClr val="000000"/>
                </a:solidFill>
                <a:cs typeface="Times New Roman" panose="02020603050405020304" pitchFamily="18" charset="0"/>
              </a:rPr>
              <a:t>6V</a:t>
            </a:r>
            <a:endParaRPr kumimoji="1" lang="zh-CN" altLang="en-US" sz="2400" b="0">
              <a:solidFill>
                <a:srgbClr val="000000"/>
              </a:solidFill>
              <a:cs typeface="Times New Roman" panose="02020603050405020304" pitchFamily="18" charset="0"/>
            </a:endParaRPr>
          </a:p>
        </p:txBody>
      </p:sp>
    </p:spTree>
    <p:extLst>
      <p:ext uri="{BB962C8B-B14F-4D97-AF65-F5344CB8AC3E}">
        <p14:creationId xmlns:p14="http://schemas.microsoft.com/office/powerpoint/2010/main" val="1516276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A84410-11F0-3153-01DB-0E764F911CB8}"/>
              </a:ext>
            </a:extLst>
          </p:cNvPr>
          <p:cNvSpPr>
            <a:spLocks noGrp="1"/>
          </p:cNvSpPr>
          <p:nvPr>
            <p:ph type="title"/>
          </p:nvPr>
        </p:nvSpPr>
        <p:spPr/>
        <p:txBody>
          <a:bodyPr>
            <a:normAutofit fontScale="90000"/>
          </a:bodyPr>
          <a:lstStyle/>
          <a:p>
            <a:r>
              <a:rPr kumimoji="1" lang="zh-CN" altLang="en-US" dirty="0"/>
              <a:t>小信号工作情况分析</a:t>
            </a:r>
          </a:p>
        </p:txBody>
      </p:sp>
      <p:sp>
        <p:nvSpPr>
          <p:cNvPr id="3" name="内容占位符 2">
            <a:extLst>
              <a:ext uri="{FF2B5EF4-FFF2-40B4-BE49-F238E27FC236}">
                <a16:creationId xmlns:a16="http://schemas.microsoft.com/office/drawing/2014/main" id="{7A12D1C0-C660-80B2-5111-C7B5D61E82FE}"/>
              </a:ext>
            </a:extLst>
          </p:cNvPr>
          <p:cNvSpPr>
            <a:spLocks noGrp="1"/>
          </p:cNvSpPr>
          <p:nvPr>
            <p:ph idx="1"/>
          </p:nvPr>
        </p:nvSpPr>
        <p:spPr/>
        <p:txBody>
          <a:bodyPr/>
          <a:lstStyle/>
          <a:p>
            <a:pPr>
              <a:lnSpc>
                <a:spcPct val="140000"/>
              </a:lnSpc>
              <a:spcAft>
                <a:spcPct val="0"/>
              </a:spcAft>
            </a:pPr>
            <a:r>
              <a:rPr kumimoji="1" lang="zh-CN" altLang="en-US" sz="2800" dirty="0">
                <a:ea typeface="楷体_GB2312" pitchFamily="49" charset="-122"/>
              </a:rPr>
              <a:t>恒压降模型的</a:t>
            </a:r>
            <a:r>
              <a:rPr kumimoji="1" lang="en-US" altLang="zh-CN" sz="2800" i="1" dirty="0">
                <a:ea typeface="楷体_GB2312" pitchFamily="49" charset="-122"/>
              </a:rPr>
              <a:t>V</a:t>
            </a:r>
            <a:r>
              <a:rPr kumimoji="1" lang="en-US" altLang="zh-CN" sz="2800" baseline="-30000" dirty="0">
                <a:ea typeface="楷体_GB2312" pitchFamily="49" charset="-122"/>
              </a:rPr>
              <a:t>D</a:t>
            </a:r>
            <a:r>
              <a:rPr kumimoji="1" lang="en-US" altLang="zh-CN" sz="2800" dirty="0">
                <a:ea typeface="楷体_GB2312" pitchFamily="49" charset="-122"/>
              </a:rPr>
              <a:t>=0.7V</a:t>
            </a:r>
            <a:r>
              <a:rPr kumimoji="1" lang="zh-CN" altLang="en-US" sz="2800" dirty="0">
                <a:ea typeface="楷体_GB2312" pitchFamily="49" charset="-122"/>
              </a:rPr>
              <a:t>，</a:t>
            </a:r>
            <a:r>
              <a:rPr kumimoji="1" lang="en-US" altLang="zh-CN" sz="2800" i="1" dirty="0">
                <a:latin typeface="Book Antiqua" panose="02040602050305030304" pitchFamily="18" charset="0"/>
                <a:ea typeface="楷体_GB2312" pitchFamily="49" charset="-122"/>
              </a:rPr>
              <a:t>v</a:t>
            </a:r>
            <a:r>
              <a:rPr kumimoji="1" lang="en-US" altLang="zh-CN" sz="2800" baseline="-30000" dirty="0">
                <a:ea typeface="楷体_GB2312" pitchFamily="49" charset="-122"/>
              </a:rPr>
              <a:t>s </a:t>
            </a:r>
            <a:r>
              <a:rPr kumimoji="1" lang="en-US" altLang="zh-CN" sz="2800" dirty="0">
                <a:ea typeface="楷体_GB2312" pitchFamily="49" charset="-122"/>
              </a:rPr>
              <a:t>= 0.1sin</a:t>
            </a:r>
            <a:r>
              <a:rPr kumimoji="1" lang="en-US" altLang="zh-CN" sz="2800" i="1" dirty="0">
                <a:latin typeface="Symbol" panose="05050102010706020507" pitchFamily="18" charset="2"/>
                <a:ea typeface="楷体_GB2312" pitchFamily="49" charset="-122"/>
              </a:rPr>
              <a:t>w</a:t>
            </a:r>
            <a:r>
              <a:rPr kumimoji="1" lang="en-US" altLang="zh-CN" sz="2800" i="1" dirty="0">
                <a:ea typeface="楷体_GB2312" pitchFamily="49" charset="-122"/>
              </a:rPr>
              <a:t>t </a:t>
            </a:r>
            <a:r>
              <a:rPr kumimoji="1" lang="en-US" altLang="zh-CN" sz="2800" dirty="0">
                <a:ea typeface="楷体_GB2312" pitchFamily="49" charset="-122"/>
              </a:rPr>
              <a:t>V</a:t>
            </a:r>
            <a:endParaRPr kumimoji="1" lang="zh-CN" altLang="en-US" sz="2800" dirty="0">
              <a:ea typeface="楷体_GB2312" pitchFamily="49" charset="-122"/>
            </a:endParaRPr>
          </a:p>
          <a:p>
            <a:pPr>
              <a:lnSpc>
                <a:spcPct val="140000"/>
              </a:lnSpc>
              <a:spcBef>
                <a:spcPts val="0"/>
              </a:spcBef>
              <a:spcAft>
                <a:spcPct val="0"/>
              </a:spcAft>
              <a:buFontTx/>
              <a:buNone/>
            </a:pPr>
            <a:r>
              <a:rPr kumimoji="1" lang="zh-CN" altLang="en-US" sz="2400" dirty="0">
                <a:ea typeface="楷体_GB2312" pitchFamily="49" charset="-122"/>
              </a:rPr>
              <a:t>（</a:t>
            </a:r>
            <a:r>
              <a:rPr kumimoji="1" lang="en-US" altLang="zh-CN" sz="2400" dirty="0">
                <a:ea typeface="楷体_GB2312" pitchFamily="49" charset="-122"/>
              </a:rPr>
              <a:t>1</a:t>
            </a:r>
            <a:r>
              <a:rPr kumimoji="1" lang="zh-CN" altLang="en-US" sz="2400" dirty="0">
                <a:ea typeface="楷体_GB2312" pitchFamily="49" charset="-122"/>
              </a:rPr>
              <a:t>）求输出电压</a:t>
            </a:r>
            <a:r>
              <a:rPr kumimoji="1" lang="en-US" altLang="zh-CN" sz="2400" i="1" dirty="0" err="1">
                <a:latin typeface="Book Antiqua" panose="02040602050305030304" pitchFamily="18" charset="0"/>
                <a:ea typeface="楷体_GB2312" pitchFamily="49" charset="-122"/>
              </a:rPr>
              <a:t>v</a:t>
            </a:r>
            <a:r>
              <a:rPr kumimoji="1" lang="en-US" altLang="zh-CN" sz="2400" baseline="-30000" dirty="0" err="1">
                <a:ea typeface="楷体_GB2312" pitchFamily="49" charset="-122"/>
              </a:rPr>
              <a:t>O</a:t>
            </a:r>
            <a:r>
              <a:rPr kumimoji="1" lang="zh-CN" altLang="en-US" sz="2400" dirty="0">
                <a:ea typeface="楷体_GB2312" pitchFamily="49" charset="-122"/>
              </a:rPr>
              <a:t>的交流量和总量；</a:t>
            </a:r>
          </a:p>
          <a:p>
            <a:pPr>
              <a:lnSpc>
                <a:spcPct val="140000"/>
              </a:lnSpc>
              <a:spcBef>
                <a:spcPts val="0"/>
              </a:spcBef>
              <a:spcAft>
                <a:spcPct val="0"/>
              </a:spcAft>
              <a:buFontTx/>
              <a:buNone/>
            </a:pPr>
            <a:r>
              <a:rPr kumimoji="1" lang="zh-CN" altLang="en-US" sz="2400" dirty="0">
                <a:ea typeface="楷体_GB2312" pitchFamily="49" charset="-122"/>
              </a:rPr>
              <a:t>（</a:t>
            </a:r>
            <a:r>
              <a:rPr kumimoji="1" lang="en-US" altLang="zh-CN" sz="2400" dirty="0">
                <a:ea typeface="楷体_GB2312" pitchFamily="49" charset="-122"/>
              </a:rPr>
              <a:t>2</a:t>
            </a:r>
            <a:r>
              <a:rPr kumimoji="1" lang="zh-CN" altLang="en-US" sz="2400" dirty="0">
                <a:ea typeface="楷体_GB2312" pitchFamily="49" charset="-122"/>
              </a:rPr>
              <a:t>）绘出</a:t>
            </a:r>
            <a:r>
              <a:rPr kumimoji="1" lang="en-US" altLang="zh-CN" sz="2400" i="1" dirty="0" err="1">
                <a:latin typeface="Book Antiqua" panose="02040602050305030304" pitchFamily="18" charset="0"/>
                <a:ea typeface="楷体_GB2312" pitchFamily="49" charset="-122"/>
              </a:rPr>
              <a:t>v</a:t>
            </a:r>
            <a:r>
              <a:rPr kumimoji="1" lang="en-US" altLang="zh-CN" sz="2400" baseline="-30000" dirty="0" err="1">
                <a:ea typeface="楷体_GB2312" pitchFamily="49" charset="-122"/>
              </a:rPr>
              <a:t>O</a:t>
            </a:r>
            <a:r>
              <a:rPr kumimoji="1" lang="zh-CN" altLang="en-US" sz="2400" dirty="0">
                <a:ea typeface="楷体_GB2312" pitchFamily="49" charset="-122"/>
              </a:rPr>
              <a:t>的波形。</a:t>
            </a:r>
          </a:p>
          <a:p>
            <a:endParaRPr kumimoji="1" lang="zh-CN" altLang="en-US" dirty="0"/>
          </a:p>
        </p:txBody>
      </p:sp>
      <p:sp>
        <p:nvSpPr>
          <p:cNvPr id="4" name="页脚占位符 3">
            <a:extLst>
              <a:ext uri="{FF2B5EF4-FFF2-40B4-BE49-F238E27FC236}">
                <a16:creationId xmlns:a16="http://schemas.microsoft.com/office/drawing/2014/main" id="{29614E29-E4E8-D17B-A214-4EAC08F03D88}"/>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02ADCCCA-B84C-DE9D-03A3-7D044BFA8DF9}"/>
              </a:ext>
            </a:extLst>
          </p:cNvPr>
          <p:cNvSpPr>
            <a:spLocks noGrp="1"/>
          </p:cNvSpPr>
          <p:nvPr>
            <p:ph type="sldNum" sz="quarter" idx="12"/>
          </p:nvPr>
        </p:nvSpPr>
        <p:spPr/>
        <p:txBody>
          <a:bodyPr/>
          <a:lstStyle/>
          <a:p>
            <a:fld id="{9E260BC5-5BF3-8746-862B-DC45E9CAA88B}" type="slidenum">
              <a:rPr lang="en-US" smtClean="0"/>
              <a:pPr/>
              <a:t>23</a:t>
            </a:fld>
            <a:r>
              <a:rPr lang="en-US" altLang="zh-CN" dirty="0"/>
              <a:t>/33</a:t>
            </a:r>
            <a:endParaRPr lang="en-US" dirty="0"/>
          </a:p>
        </p:txBody>
      </p:sp>
      <p:graphicFrame>
        <p:nvGraphicFramePr>
          <p:cNvPr id="6" name="Object 23">
            <a:extLst>
              <a:ext uri="{FF2B5EF4-FFF2-40B4-BE49-F238E27FC236}">
                <a16:creationId xmlns:a16="http://schemas.microsoft.com/office/drawing/2014/main" id="{25442A59-EC6E-BBDF-2251-9C815297BA31}"/>
              </a:ext>
            </a:extLst>
          </p:cNvPr>
          <p:cNvGraphicFramePr>
            <a:graphicFrameLocks noChangeAspect="1"/>
          </p:cNvGraphicFramePr>
          <p:nvPr/>
        </p:nvGraphicFramePr>
        <p:xfrm>
          <a:off x="251520" y="2708920"/>
          <a:ext cx="2806700" cy="1800225"/>
        </p:xfrm>
        <a:graphic>
          <a:graphicData uri="http://schemas.openxmlformats.org/presentationml/2006/ole">
            <mc:AlternateContent xmlns:mc="http://schemas.openxmlformats.org/markup-compatibility/2006">
              <mc:Choice xmlns:v="urn:schemas-microsoft-com:vml" Requires="v">
                <p:oleObj name="图片" r:id="rId3" imgW="1651000" imgH="1054100" progId="Word.Picture.8">
                  <p:embed/>
                </p:oleObj>
              </mc:Choice>
              <mc:Fallback>
                <p:oleObj name="图片" r:id="rId3" imgW="1651000" imgH="1054100" progId="Word.Picture.8">
                  <p:embed/>
                  <p:pic>
                    <p:nvPicPr>
                      <p:cNvPr id="38916"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2708920"/>
                        <a:ext cx="2806700" cy="180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57">
            <a:extLst>
              <a:ext uri="{FF2B5EF4-FFF2-40B4-BE49-F238E27FC236}">
                <a16:creationId xmlns:a16="http://schemas.microsoft.com/office/drawing/2014/main" id="{2C4A4AF2-948F-05F1-7362-3BCC5C581F89}"/>
              </a:ext>
            </a:extLst>
          </p:cNvPr>
          <p:cNvSpPr>
            <a:spLocks noChangeArrowheads="1"/>
          </p:cNvSpPr>
          <p:nvPr/>
        </p:nvSpPr>
        <p:spPr bwMode="auto">
          <a:xfrm>
            <a:off x="1844924" y="3838189"/>
            <a:ext cx="601662"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dirty="0">
                <a:solidFill>
                  <a:srgbClr val="000000"/>
                </a:solidFill>
                <a:ea typeface="楷体_GB2312" pitchFamily="49" charset="-122"/>
              </a:rPr>
              <a:t>5k</a:t>
            </a:r>
            <a:r>
              <a:rPr kumimoji="1" lang="en-US" altLang="zh-CN" sz="1800" dirty="0">
                <a:solidFill>
                  <a:srgbClr val="000000"/>
                </a:solidFill>
                <a:ea typeface="楷体_GB2312" pitchFamily="49" charset="-122"/>
                <a:sym typeface="Symbol" panose="05050102010706020507" pitchFamily="18" charset="2"/>
              </a:rPr>
              <a:t></a:t>
            </a:r>
            <a:endParaRPr kumimoji="1" lang="zh-CN" altLang="en-US" sz="1800" dirty="0">
              <a:solidFill>
                <a:srgbClr val="000000"/>
              </a:solidFill>
              <a:ea typeface="楷体_GB2312" pitchFamily="49" charset="-122"/>
              <a:sym typeface="Symbol" panose="05050102010706020507" pitchFamily="18" charset="2"/>
            </a:endParaRPr>
          </a:p>
        </p:txBody>
      </p:sp>
      <p:sp>
        <p:nvSpPr>
          <p:cNvPr id="8" name="Rectangle 58">
            <a:extLst>
              <a:ext uri="{FF2B5EF4-FFF2-40B4-BE49-F238E27FC236}">
                <a16:creationId xmlns:a16="http://schemas.microsoft.com/office/drawing/2014/main" id="{B2C7A713-FBF4-A8C4-5FD6-E424A73E83B6}"/>
              </a:ext>
            </a:extLst>
          </p:cNvPr>
          <p:cNvSpPr>
            <a:spLocks noChangeArrowheads="1"/>
          </p:cNvSpPr>
          <p:nvPr/>
        </p:nvSpPr>
        <p:spPr bwMode="auto">
          <a:xfrm>
            <a:off x="1001515" y="3887034"/>
            <a:ext cx="4635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dirty="0">
                <a:solidFill>
                  <a:srgbClr val="000000"/>
                </a:solidFill>
                <a:ea typeface="楷体_GB2312" pitchFamily="49" charset="-122"/>
              </a:rPr>
              <a:t>5V</a:t>
            </a:r>
            <a:endParaRPr kumimoji="1" lang="zh-CN" altLang="en-US" sz="1800" dirty="0">
              <a:solidFill>
                <a:srgbClr val="000000"/>
              </a:solidFill>
              <a:ea typeface="楷体_GB2312" pitchFamily="49" charset="-122"/>
            </a:endParaRPr>
          </a:p>
        </p:txBody>
      </p:sp>
      <p:grpSp>
        <p:nvGrpSpPr>
          <p:cNvPr id="9" name="Group 29">
            <a:extLst>
              <a:ext uri="{FF2B5EF4-FFF2-40B4-BE49-F238E27FC236}">
                <a16:creationId xmlns:a16="http://schemas.microsoft.com/office/drawing/2014/main" id="{E9B23B39-A0ED-7377-912A-567B55498C66}"/>
              </a:ext>
            </a:extLst>
          </p:cNvPr>
          <p:cNvGrpSpPr>
            <a:grpSpLocks/>
          </p:cNvGrpSpPr>
          <p:nvPr/>
        </p:nvGrpSpPr>
        <p:grpSpPr bwMode="auto">
          <a:xfrm>
            <a:off x="3578225" y="2188777"/>
            <a:ext cx="2749550" cy="2016125"/>
            <a:chOff x="1987" y="1275"/>
            <a:chExt cx="1732" cy="1270"/>
          </a:xfrm>
        </p:grpSpPr>
        <p:graphicFrame>
          <p:nvGraphicFramePr>
            <p:cNvPr id="10" name="Object 25">
              <a:extLst>
                <a:ext uri="{FF2B5EF4-FFF2-40B4-BE49-F238E27FC236}">
                  <a16:creationId xmlns:a16="http://schemas.microsoft.com/office/drawing/2014/main" id="{32568A19-3ED7-796C-1165-965662074147}"/>
                </a:ext>
              </a:extLst>
            </p:cNvPr>
            <p:cNvGraphicFramePr>
              <a:graphicFrameLocks noChangeAspect="1"/>
            </p:cNvGraphicFramePr>
            <p:nvPr/>
          </p:nvGraphicFramePr>
          <p:xfrm>
            <a:off x="1987" y="1275"/>
            <a:ext cx="1732" cy="1090"/>
          </p:xfrm>
          <a:graphic>
            <a:graphicData uri="http://schemas.openxmlformats.org/presentationml/2006/ole">
              <mc:AlternateContent xmlns:mc="http://schemas.openxmlformats.org/markup-compatibility/2006">
                <mc:Choice xmlns:v="urn:schemas-microsoft-com:vml" Requires="v">
                  <p:oleObj name="图片" r:id="rId5" imgW="1625600" imgH="1016000" progId="Word.Picture.8">
                    <p:embed/>
                  </p:oleObj>
                </mc:Choice>
                <mc:Fallback>
                  <p:oleObj name="图片" r:id="rId5" imgW="1625600" imgH="1016000" progId="Word.Picture.8">
                    <p:embed/>
                    <p:pic>
                      <p:nvPicPr>
                        <p:cNvPr id="8"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7" y="1275"/>
                          <a:ext cx="1732" cy="10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12">
              <a:extLst>
                <a:ext uri="{FF2B5EF4-FFF2-40B4-BE49-F238E27FC236}">
                  <a16:creationId xmlns:a16="http://schemas.microsoft.com/office/drawing/2014/main" id="{6914B709-ADC1-C355-E277-A4607539478F}"/>
                </a:ext>
              </a:extLst>
            </p:cNvPr>
            <p:cNvSpPr txBox="1">
              <a:spLocks noChangeArrowheads="1"/>
            </p:cNvSpPr>
            <p:nvPr/>
          </p:nvSpPr>
          <p:spPr bwMode="auto">
            <a:xfrm>
              <a:off x="2400" y="2287"/>
              <a:ext cx="1200" cy="258"/>
            </a:xfrm>
            <a:prstGeom prst="rect">
              <a:avLst/>
            </a:prstGeom>
            <a:noFill/>
            <a:ln>
              <a:noFill/>
            </a:ln>
            <a:effectLst/>
            <a:extLst>
              <a:ext uri="{909E8E84-426E-40dd-AFC4-6F175D3DCCD1}">
                <a14:hiddenFill xmlns="" xmlns:a14="http://schemas.microsoft.com/office/drawing/2010/main">
                  <a:gradFill rotWithShape="0">
                    <a:gsLst>
                      <a:gs pos="0">
                        <a:schemeClr val="accent1"/>
                      </a:gs>
                      <a:gs pos="100000">
                        <a:srgbClr val="66FFFF"/>
                      </a:gs>
                    </a:gsLst>
                    <a:lin ang="5400000" scaled="1"/>
                  </a:gra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Aft>
                  <a:spcPct val="0"/>
                </a:spcAft>
                <a:buFontTx/>
                <a:buNone/>
              </a:pPr>
              <a:r>
                <a:rPr kumimoji="1" lang="zh-CN" altLang="en-US" sz="1600">
                  <a:solidFill>
                    <a:srgbClr val="000000"/>
                  </a:solidFill>
                  <a:ea typeface="楷体_GB2312" pitchFamily="49" charset="-122"/>
                </a:rPr>
                <a:t>直流通路（静态）</a:t>
              </a:r>
            </a:p>
          </p:txBody>
        </p:sp>
      </p:gr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22D552F-67AF-BDE0-D3B6-0A562CD93174}"/>
                  </a:ext>
                </a:extLst>
              </p:cNvPr>
              <p:cNvSpPr txBox="1"/>
              <p:nvPr/>
            </p:nvSpPr>
            <p:spPr>
              <a:xfrm>
                <a:off x="6407348" y="3089182"/>
                <a:ext cx="1632626" cy="519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𝐷</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𝑂</m:t>
                              </m:r>
                            </m:sub>
                          </m:sSub>
                        </m:num>
                        <m:den>
                          <m:r>
                            <a:rPr lang="en-US" altLang="zh-CN" b="0" i="1" smtClean="0">
                              <a:latin typeface="Cambria Math" panose="02040503050406030204" pitchFamily="18" charset="0"/>
                            </a:rPr>
                            <m:t>𝑅</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4.3</m:t>
                          </m:r>
                        </m:num>
                        <m:den>
                          <m:r>
                            <a:rPr lang="en-US" altLang="zh-CN" b="0" i="1" smtClean="0">
                              <a:latin typeface="Cambria Math" panose="02040503050406030204" pitchFamily="18" charset="0"/>
                            </a:rPr>
                            <m:t>5000</m:t>
                          </m:r>
                        </m:den>
                      </m:f>
                    </m:oMath>
                  </m:oMathPara>
                </a14:m>
                <a:endParaRPr lang="en-US" altLang="zh-CN" dirty="0"/>
              </a:p>
            </p:txBody>
          </p:sp>
        </mc:Choice>
        <mc:Fallback xmlns="">
          <p:sp>
            <p:nvSpPr>
              <p:cNvPr id="12" name="文本框 11">
                <a:extLst>
                  <a:ext uri="{FF2B5EF4-FFF2-40B4-BE49-F238E27FC236}">
                    <a16:creationId xmlns:a16="http://schemas.microsoft.com/office/drawing/2014/main" id="{922D552F-67AF-BDE0-D3B6-0A562CD93174}"/>
                  </a:ext>
                </a:extLst>
              </p:cNvPr>
              <p:cNvSpPr txBox="1">
                <a:spLocks noRot="1" noChangeAspect="1" noMove="1" noResize="1" noEditPoints="1" noAdjustHandles="1" noChangeArrowheads="1" noChangeShapeType="1" noTextEdit="1"/>
              </p:cNvSpPr>
              <p:nvPr/>
            </p:nvSpPr>
            <p:spPr>
              <a:xfrm>
                <a:off x="6407348" y="3089182"/>
                <a:ext cx="1632626" cy="519438"/>
              </a:xfrm>
              <a:prstGeom prst="rect">
                <a:avLst/>
              </a:prstGeom>
              <a:blipFill>
                <a:blip r:embed="rId7"/>
                <a:stretch>
                  <a:fillRect l="-2308" t="-7143" r="-2308" b="-11905"/>
                </a:stretch>
              </a:blipFill>
            </p:spPr>
            <p:txBody>
              <a:bodyPr/>
              <a:lstStyle/>
              <a:p>
                <a:r>
                  <a:rPr lang="zh-CN" altLang="en-US">
                    <a:noFill/>
                  </a:rPr>
                  <a:t> </a:t>
                </a:r>
              </a:p>
            </p:txBody>
          </p:sp>
        </mc:Fallback>
      </mc:AlternateContent>
      <p:grpSp>
        <p:nvGrpSpPr>
          <p:cNvPr id="13" name="Group 30">
            <a:extLst>
              <a:ext uri="{FF2B5EF4-FFF2-40B4-BE49-F238E27FC236}">
                <a16:creationId xmlns:a16="http://schemas.microsoft.com/office/drawing/2014/main" id="{86B15E1A-D067-0663-1BA0-8A7EC9C34DA2}"/>
              </a:ext>
            </a:extLst>
          </p:cNvPr>
          <p:cNvGrpSpPr>
            <a:grpSpLocks/>
          </p:cNvGrpSpPr>
          <p:nvPr/>
        </p:nvGrpSpPr>
        <p:grpSpPr bwMode="auto">
          <a:xfrm>
            <a:off x="3520834" y="4196990"/>
            <a:ext cx="2800350" cy="2292350"/>
            <a:chOff x="3810" y="1275"/>
            <a:chExt cx="1764" cy="1444"/>
          </a:xfrm>
        </p:grpSpPr>
        <p:graphicFrame>
          <p:nvGraphicFramePr>
            <p:cNvPr id="14" name="Object 27">
              <a:extLst>
                <a:ext uri="{FF2B5EF4-FFF2-40B4-BE49-F238E27FC236}">
                  <a16:creationId xmlns:a16="http://schemas.microsoft.com/office/drawing/2014/main" id="{D6C796D0-B66E-1242-2836-E27E10380756}"/>
                </a:ext>
              </a:extLst>
            </p:cNvPr>
            <p:cNvGraphicFramePr>
              <a:graphicFrameLocks noChangeAspect="1"/>
            </p:cNvGraphicFramePr>
            <p:nvPr>
              <p:extLst>
                <p:ext uri="{D42A27DB-BD31-4B8C-83A1-F6EECF244321}">
                  <p14:modId xmlns:p14="http://schemas.microsoft.com/office/powerpoint/2010/main" val="1418519743"/>
                </p:ext>
              </p:extLst>
            </p:nvPr>
          </p:nvGraphicFramePr>
          <p:xfrm>
            <a:off x="3810" y="1275"/>
            <a:ext cx="1764" cy="1091"/>
          </p:xfrm>
          <a:graphic>
            <a:graphicData uri="http://schemas.openxmlformats.org/presentationml/2006/ole">
              <mc:AlternateContent xmlns:mc="http://schemas.openxmlformats.org/markup-compatibility/2006">
                <mc:Choice xmlns:v="urn:schemas-microsoft-com:vml" Requires="v">
                  <p:oleObj name="图片" r:id="rId8" imgW="1651000" imgH="1016000" progId="Word.Picture.8">
                    <p:embed/>
                  </p:oleObj>
                </mc:Choice>
                <mc:Fallback>
                  <p:oleObj name="图片" r:id="rId8" imgW="1651000" imgH="1016000" progId="Word.Picture.8">
                    <p:embed/>
                    <p:pic>
                      <p:nvPicPr>
                        <p:cNvPr id="13"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 y="1275"/>
                          <a:ext cx="1764" cy="10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 Box 15">
              <a:extLst>
                <a:ext uri="{FF2B5EF4-FFF2-40B4-BE49-F238E27FC236}">
                  <a16:creationId xmlns:a16="http://schemas.microsoft.com/office/drawing/2014/main" id="{3E20F02C-B542-044F-F8BD-F92178AF3025}"/>
                </a:ext>
              </a:extLst>
            </p:cNvPr>
            <p:cNvSpPr txBox="1">
              <a:spLocks noChangeArrowheads="1"/>
            </p:cNvSpPr>
            <p:nvPr/>
          </p:nvSpPr>
          <p:spPr bwMode="auto">
            <a:xfrm>
              <a:off x="4080" y="2353"/>
              <a:ext cx="1440" cy="366"/>
            </a:xfrm>
            <a:prstGeom prst="rect">
              <a:avLst/>
            </a:prstGeom>
            <a:noFill/>
            <a:ln>
              <a:noFill/>
            </a:ln>
            <a:effectLst/>
            <a:extLst>
              <a:ext uri="{909E8E84-426E-40dd-AFC4-6F175D3DCCD1}">
                <a14:hiddenFill xmlns="" xmlns:a14="http://schemas.microsoft.com/office/drawing/2010/main">
                  <a:gradFill rotWithShape="0">
                    <a:gsLst>
                      <a:gs pos="0">
                        <a:schemeClr val="accent1"/>
                      </a:gs>
                      <a:gs pos="100000">
                        <a:srgbClr val="66FFFF"/>
                      </a:gs>
                    </a:gsLst>
                    <a:lin ang="5400000" scaled="1"/>
                  </a:gra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kumimoji="1" lang="zh-CN" altLang="en-US" sz="1600">
                  <a:solidFill>
                    <a:srgbClr val="000000"/>
                  </a:solidFill>
                  <a:ea typeface="楷体_GB2312" pitchFamily="49" charset="-122"/>
                </a:rPr>
                <a:t>小信号模型的交流通路（动态）</a:t>
              </a:r>
            </a:p>
          </p:txBody>
        </p:sp>
      </p:gr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0ECFDC6-B3EF-01FE-11EB-B44242F30FF9}"/>
                  </a:ext>
                </a:extLst>
              </p:cNvPr>
              <p:cNvSpPr txBox="1"/>
              <p:nvPr/>
            </p:nvSpPr>
            <p:spPr>
              <a:xfrm>
                <a:off x="6364969" y="4207283"/>
                <a:ext cx="3028073" cy="6978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𝑑</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26(</m:t>
                          </m:r>
                          <m:r>
                            <a:rPr lang="en-US" altLang="zh-CN" b="0" i="1" smtClean="0">
                              <a:latin typeface="Cambria Math" panose="02040503050406030204" pitchFamily="18" charset="0"/>
                            </a:rPr>
                            <m:t>𝑚𝑉</m:t>
                          </m:r>
                          <m:r>
                            <a:rPr lang="en-US" altLang="zh-CN" b="0" i="1" smtClean="0">
                              <a:latin typeface="Cambria Math" panose="02040503050406030204" pitchFamily="18" charset="0"/>
                            </a:rPr>
                            <m:t>)</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𝐷</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𝑚𝐴</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26</m:t>
                          </m:r>
                        </m:num>
                        <m:den>
                          <m:r>
                            <a:rPr lang="en-US" altLang="zh-CN" b="0" i="1" smtClean="0">
                              <a:latin typeface="Cambria Math" panose="02040503050406030204" pitchFamily="18" charset="0"/>
                            </a:rPr>
                            <m:t>4.3/5</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1300</m:t>
                          </m:r>
                        </m:num>
                        <m:den>
                          <m:r>
                            <a:rPr lang="en-US" altLang="zh-CN" b="0" i="1" smtClean="0">
                              <a:latin typeface="Cambria Math" panose="02040503050406030204" pitchFamily="18" charset="0"/>
                            </a:rPr>
                            <m:t>43</m:t>
                          </m:r>
                        </m:den>
                      </m:f>
                    </m:oMath>
                  </m:oMathPara>
                </a14:m>
                <a:endParaRPr lang="zh-CN" altLang="en-US" dirty="0"/>
              </a:p>
            </p:txBody>
          </p:sp>
        </mc:Choice>
        <mc:Fallback xmlns="">
          <p:sp>
            <p:nvSpPr>
              <p:cNvPr id="16" name="文本框 15">
                <a:extLst>
                  <a:ext uri="{FF2B5EF4-FFF2-40B4-BE49-F238E27FC236}">
                    <a16:creationId xmlns:a16="http://schemas.microsoft.com/office/drawing/2014/main" id="{90ECFDC6-B3EF-01FE-11EB-B44242F30FF9}"/>
                  </a:ext>
                </a:extLst>
              </p:cNvPr>
              <p:cNvSpPr txBox="1">
                <a:spLocks noRot="1" noChangeAspect="1" noMove="1" noResize="1" noEditPoints="1" noAdjustHandles="1" noChangeArrowheads="1" noChangeShapeType="1" noTextEdit="1"/>
              </p:cNvSpPr>
              <p:nvPr/>
            </p:nvSpPr>
            <p:spPr>
              <a:xfrm>
                <a:off x="6364969" y="4207283"/>
                <a:ext cx="3028073" cy="697881"/>
              </a:xfrm>
              <a:prstGeom prst="rect">
                <a:avLst/>
              </a:prstGeom>
              <a:blipFill>
                <a:blip r:embed="rId10"/>
                <a:stretch>
                  <a:fillRect l="-418" t="-3571" r="-1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9EC0420D-4956-EEC3-88C8-D7D41F93DC19}"/>
                  </a:ext>
                </a:extLst>
              </p:cNvPr>
              <p:cNvSpPr txBox="1"/>
              <p:nvPr/>
            </p:nvSpPr>
            <p:spPr>
              <a:xfrm>
                <a:off x="6224418" y="5834798"/>
                <a:ext cx="3168624" cy="5653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𝑜</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𝑅</m:t>
                          </m:r>
                        </m:num>
                        <m:den>
                          <m:r>
                            <a:rPr lang="en-US" altLang="zh-CN" b="0" i="1" smtClean="0">
                              <a:latin typeface="Cambria Math" panose="02040503050406030204" pitchFamily="18" charset="0"/>
                            </a:rPr>
                            <m:t>𝑅</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𝑑</m:t>
                              </m:r>
                            </m:sub>
                          </m:sSub>
                        </m:den>
                      </m:f>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𝑣</m:t>
                          </m:r>
                        </m:e>
                        <m:sub>
                          <m:r>
                            <a:rPr lang="en-US" altLang="zh-CN" b="0" i="1" smtClean="0">
                              <a:latin typeface="Cambria Math" panose="02040503050406030204" pitchFamily="18" charset="0"/>
                              <a:ea typeface="Cambria Math" panose="02040503050406030204" pitchFamily="18" charset="0"/>
                            </a:rPr>
                            <m:t>𝑠</m:t>
                          </m:r>
                        </m:sub>
                      </m:sSub>
                      <m:r>
                        <a:rPr lang="en-US" altLang="zh-CN" b="0" i="1" smtClean="0">
                          <a:latin typeface="Cambria Math" panose="02040503050406030204" pitchFamily="18" charset="0"/>
                          <a:ea typeface="Cambria Math" panose="02040503050406030204" pitchFamily="18" charset="0"/>
                        </a:rPr>
                        <m:t>=0.0994</m:t>
                      </m:r>
                      <m:r>
                        <a:rPr lang="en-US" altLang="zh-CN" b="0" i="1" smtClean="0">
                          <a:latin typeface="Cambria Math" panose="02040503050406030204" pitchFamily="18" charset="0"/>
                          <a:ea typeface="Cambria Math" panose="02040503050406030204" pitchFamily="18" charset="0"/>
                        </a:rPr>
                        <m:t>𝑠𝑖𝑛</m:t>
                      </m:r>
                      <m:r>
                        <a:rPr lang="zh-CN" altLang="en-US" b="0" i="1" smtClean="0">
                          <a:latin typeface="Cambria Math" panose="02040503050406030204" pitchFamily="18" charset="0"/>
                          <a:ea typeface="Cambria Math" panose="02040503050406030204" pitchFamily="18" charset="0"/>
                        </a:rPr>
                        <m:t>𝜔</m:t>
                      </m:r>
                      <m:r>
                        <a:rPr lang="en-US" altLang="zh-CN" b="0" i="1" smtClean="0">
                          <a:latin typeface="Cambria Math" panose="02040503050406030204" pitchFamily="18" charset="0"/>
                          <a:ea typeface="Cambria Math" panose="02040503050406030204" pitchFamily="18" charset="0"/>
                        </a:rPr>
                        <m:t>𝑡</m:t>
                      </m:r>
                    </m:oMath>
                  </m:oMathPara>
                </a14:m>
                <a:endParaRPr lang="zh-CN" altLang="en-US" dirty="0"/>
              </a:p>
            </p:txBody>
          </p:sp>
        </mc:Choice>
        <mc:Fallback xmlns="">
          <p:sp>
            <p:nvSpPr>
              <p:cNvPr id="17" name="文本框 16">
                <a:extLst>
                  <a:ext uri="{FF2B5EF4-FFF2-40B4-BE49-F238E27FC236}">
                    <a16:creationId xmlns:a16="http://schemas.microsoft.com/office/drawing/2014/main" id="{9EC0420D-4956-EEC3-88C8-D7D41F93DC19}"/>
                  </a:ext>
                </a:extLst>
              </p:cNvPr>
              <p:cNvSpPr txBox="1">
                <a:spLocks noRot="1" noChangeAspect="1" noMove="1" noResize="1" noEditPoints="1" noAdjustHandles="1" noChangeArrowheads="1" noChangeShapeType="1" noTextEdit="1"/>
              </p:cNvSpPr>
              <p:nvPr/>
            </p:nvSpPr>
            <p:spPr>
              <a:xfrm>
                <a:off x="6224418" y="5834798"/>
                <a:ext cx="3168624" cy="565348"/>
              </a:xfrm>
              <a:prstGeom prst="rect">
                <a:avLst/>
              </a:prstGeom>
              <a:blipFill>
                <a:blip r:embed="rId11"/>
                <a:stretch>
                  <a:fillRect l="-400" t="-2174" r="-800" b="-6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89BBCF0B-C0EA-8E4F-3060-6646C965E252}"/>
                  </a:ext>
                </a:extLst>
              </p:cNvPr>
              <p:cNvSpPr txBox="1"/>
              <p:nvPr/>
            </p:nvSpPr>
            <p:spPr>
              <a:xfrm>
                <a:off x="6404710" y="2682849"/>
                <a:ext cx="31165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𝑂</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𝐷𝐷</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𝐷</m:t>
                          </m:r>
                        </m:sub>
                      </m:sSub>
                      <m:r>
                        <a:rPr lang="en-US" altLang="zh-CN" b="0" i="1" smtClean="0">
                          <a:latin typeface="Cambria Math" panose="02040503050406030204" pitchFamily="18" charset="0"/>
                        </a:rPr>
                        <m:t>=5−0.7=4.3</m:t>
                      </m:r>
                    </m:oMath>
                  </m:oMathPara>
                </a14:m>
                <a:endParaRPr lang="en-US" altLang="zh-CN" dirty="0"/>
              </a:p>
            </p:txBody>
          </p:sp>
        </mc:Choice>
        <mc:Fallback xmlns="">
          <p:sp>
            <p:nvSpPr>
              <p:cNvPr id="18" name="文本框 17">
                <a:extLst>
                  <a:ext uri="{FF2B5EF4-FFF2-40B4-BE49-F238E27FC236}">
                    <a16:creationId xmlns:a16="http://schemas.microsoft.com/office/drawing/2014/main" id="{89BBCF0B-C0EA-8E4F-3060-6646C965E252}"/>
                  </a:ext>
                </a:extLst>
              </p:cNvPr>
              <p:cNvSpPr txBox="1">
                <a:spLocks noRot="1" noChangeAspect="1" noMove="1" noResize="1" noEditPoints="1" noAdjustHandles="1" noChangeArrowheads="1" noChangeShapeType="1" noTextEdit="1"/>
              </p:cNvSpPr>
              <p:nvPr/>
            </p:nvSpPr>
            <p:spPr>
              <a:xfrm>
                <a:off x="6404710" y="2682849"/>
                <a:ext cx="3116559" cy="276999"/>
              </a:xfrm>
              <a:prstGeom prst="rect">
                <a:avLst/>
              </a:prstGeom>
              <a:blipFill>
                <a:blip r:embed="rId12"/>
                <a:stretch>
                  <a:fillRect l="-1220" r="-1220" b="-17391"/>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96D64011-7568-CB34-D1BD-9F6128085587}"/>
              </a:ext>
            </a:extLst>
          </p:cNvPr>
          <p:cNvSpPr txBox="1"/>
          <p:nvPr/>
        </p:nvSpPr>
        <p:spPr>
          <a:xfrm>
            <a:off x="6260694" y="2195572"/>
            <a:ext cx="3185487" cy="369332"/>
          </a:xfrm>
          <a:prstGeom prst="rect">
            <a:avLst/>
          </a:prstGeom>
          <a:noFill/>
          <a:ln w="19050">
            <a:solidFill>
              <a:srgbClr val="0000FF"/>
            </a:solidFill>
          </a:ln>
        </p:spPr>
        <p:txBody>
          <a:bodyPr wrap="none" rtlCol="0">
            <a:spAutoFit/>
          </a:bodyPr>
          <a:lstStyle/>
          <a:p>
            <a:r>
              <a:rPr lang="zh-CN" altLang="en-US" dirty="0">
                <a:latin typeface="Microsoft YaHei" panose="020B0503020204020204" pitchFamily="34" charset="-122"/>
                <a:ea typeface="Microsoft YaHei" panose="020B0503020204020204" pitchFamily="34" charset="-122"/>
              </a:rPr>
              <a:t>大写表示直流，小写表示交流</a:t>
            </a:r>
          </a:p>
        </p:txBody>
      </p:sp>
      <p:sp>
        <p:nvSpPr>
          <p:cNvPr id="20" name="文本框 19">
            <a:extLst>
              <a:ext uri="{FF2B5EF4-FFF2-40B4-BE49-F238E27FC236}">
                <a16:creationId xmlns:a16="http://schemas.microsoft.com/office/drawing/2014/main" id="{DE01FBEC-CEFB-7B20-3300-5F5942F80038}"/>
              </a:ext>
            </a:extLst>
          </p:cNvPr>
          <p:cNvSpPr txBox="1"/>
          <p:nvPr/>
        </p:nvSpPr>
        <p:spPr>
          <a:xfrm>
            <a:off x="6235459" y="4725144"/>
            <a:ext cx="3387006" cy="369332"/>
          </a:xfrm>
          <a:prstGeom prst="rect">
            <a:avLst/>
          </a:prstGeom>
          <a:noFill/>
        </p:spPr>
        <p:txBody>
          <a:bodyPr wrap="square" rtlCol="0">
            <a:spAutoFit/>
          </a:bodyPr>
          <a:lstStyle/>
          <a:p>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参见模电</a:t>
            </a:r>
            <a:r>
              <a:rPr lang="en-US" altLang="zh-CN" dirty="0">
                <a:latin typeface="Microsoft YaHei" panose="020B0503020204020204" pitchFamily="34" charset="-122"/>
                <a:ea typeface="Microsoft YaHei" panose="020B0503020204020204" pitchFamily="34" charset="-122"/>
              </a:rPr>
              <a:t>P66,</a:t>
            </a:r>
            <a:r>
              <a:rPr lang="zh-CN" altLang="en-US" dirty="0">
                <a:latin typeface="Microsoft YaHei" panose="020B0503020204020204" pitchFamily="34" charset="-122"/>
                <a:ea typeface="Microsoft YaHei" panose="020B0503020204020204" pitchFamily="34" charset="-122"/>
              </a:rPr>
              <a:t>二极管电阻模型</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A0BF300D-9BBD-7E97-383F-A3365AE7AECF}"/>
                  </a:ext>
                </a:extLst>
              </p:cNvPr>
              <p:cNvSpPr/>
              <p:nvPr/>
            </p:nvSpPr>
            <p:spPr>
              <a:xfrm>
                <a:off x="6296698" y="5094150"/>
                <a:ext cx="3157584" cy="646331"/>
              </a:xfrm>
              <a:prstGeom prst="rect">
                <a:avLst/>
              </a:prstGeom>
              <a:ln w="19050">
                <a:solidFill>
                  <a:srgbClr val="FF0000"/>
                </a:solidFill>
              </a:ln>
            </p:spPr>
            <p:txBody>
              <a:bodyPr wrap="square">
                <a:spAutoFit/>
              </a:bodyPr>
              <a:lstStyle/>
              <a:p>
                <a:pPr algn="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交流电阻</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𝑑</m:t>
                        </m:r>
                      </m:sub>
                    </m:sSub>
                  </m:oMath>
                </a14:m>
                <a:r>
                  <a:rPr lang="zh-CN" altLang="en-US" dirty="0">
                    <a:latin typeface="Microsoft YaHei" panose="020B0503020204020204" pitchFamily="34" charset="-122"/>
                    <a:ea typeface="Microsoft YaHei" panose="020B0503020204020204" pitchFamily="34" charset="-122"/>
                  </a:rPr>
                  <a:t>是二极管</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𝐷</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𝐷</m:t>
                        </m:r>
                      </m:sub>
                    </m:sSub>
                    <m:r>
                      <a:rPr lang="zh-CN" altLang="en-US" i="1">
                        <a:latin typeface="Cambria Math" panose="02040503050406030204" pitchFamily="18" charset="0"/>
                      </a:rPr>
                      <m:t>曲线</m:t>
                    </m:r>
                  </m:oMath>
                </a14:m>
                <a:r>
                  <a:rPr lang="zh-CN" altLang="en-US" dirty="0">
                    <a:latin typeface="Microsoft YaHei" panose="020B0503020204020204" pitchFamily="34" charset="-122"/>
                    <a:ea typeface="Microsoft YaHei" panose="020B0503020204020204" pitchFamily="34" charset="-122"/>
                  </a:rPr>
                  <a:t>的斜率，而非</a:t>
                </a:r>
                <a14:m>
                  <m:oMath xmlns:m="http://schemas.openxmlformats.org/officeDocument/2006/math">
                    <m:r>
                      <a:rPr lang="zh-CN" altLang="en-US" b="0" i="1" dirty="0">
                        <a:latin typeface="Cambria Math" panose="02040503050406030204" pitchFamily="18" charset="0"/>
                      </a:rPr>
                      <m:t>直接</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𝐷</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𝐷</m:t>
                        </m:r>
                      </m:sub>
                    </m:sSub>
                  </m:oMath>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21" name="矩形 20">
                <a:extLst>
                  <a:ext uri="{FF2B5EF4-FFF2-40B4-BE49-F238E27FC236}">
                    <a16:creationId xmlns:a16="http://schemas.microsoft.com/office/drawing/2014/main" id="{A0BF300D-9BBD-7E97-383F-A3365AE7AECF}"/>
                  </a:ext>
                </a:extLst>
              </p:cNvPr>
              <p:cNvSpPr>
                <a:spLocks noRot="1" noChangeAspect="1" noMove="1" noResize="1" noEditPoints="1" noAdjustHandles="1" noChangeArrowheads="1" noChangeShapeType="1" noTextEdit="1"/>
              </p:cNvSpPr>
              <p:nvPr/>
            </p:nvSpPr>
            <p:spPr>
              <a:xfrm>
                <a:off x="6296698" y="5094150"/>
                <a:ext cx="3157584" cy="646331"/>
              </a:xfrm>
              <a:prstGeom prst="rect">
                <a:avLst/>
              </a:prstGeom>
              <a:blipFill>
                <a:blip r:embed="rId13"/>
                <a:stretch>
                  <a:fillRect t="-3704" b="-9259"/>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96437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7" grpId="0"/>
      <p:bldP spid="18" grpId="0"/>
      <p:bldP spid="19" grpId="0" animBg="1"/>
      <p:bldP spid="20" grpId="0"/>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FA8A20-DE1B-03DE-45FB-3DD5085194A5}"/>
              </a:ext>
            </a:extLst>
          </p:cNvPr>
          <p:cNvSpPr>
            <a:spLocks noGrp="1"/>
          </p:cNvSpPr>
          <p:nvPr>
            <p:ph type="title"/>
          </p:nvPr>
        </p:nvSpPr>
        <p:spPr/>
        <p:txBody>
          <a:bodyPr>
            <a:normAutofit fontScale="90000"/>
          </a:bodyPr>
          <a:lstStyle/>
          <a:p>
            <a:r>
              <a:rPr kumimoji="1" lang="zh-CN" altLang="en-US" dirty="0"/>
              <a:t>小信号工作情况分析</a:t>
            </a:r>
          </a:p>
        </p:txBody>
      </p:sp>
      <p:sp>
        <p:nvSpPr>
          <p:cNvPr id="4" name="页脚占位符 3">
            <a:extLst>
              <a:ext uri="{FF2B5EF4-FFF2-40B4-BE49-F238E27FC236}">
                <a16:creationId xmlns:a16="http://schemas.microsoft.com/office/drawing/2014/main" id="{3DD8954E-D84A-DFA6-705E-C06E8B335E55}"/>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AF65EE8E-6A08-5258-D4B5-A2AA4C37E1C2}"/>
              </a:ext>
            </a:extLst>
          </p:cNvPr>
          <p:cNvSpPr>
            <a:spLocks noGrp="1"/>
          </p:cNvSpPr>
          <p:nvPr>
            <p:ph type="sldNum" sz="quarter" idx="12"/>
          </p:nvPr>
        </p:nvSpPr>
        <p:spPr/>
        <p:txBody>
          <a:bodyPr/>
          <a:lstStyle/>
          <a:p>
            <a:fld id="{9E260BC5-5BF3-8746-862B-DC45E9CAA88B}" type="slidenum">
              <a:rPr lang="en-US" smtClean="0"/>
              <a:pPr/>
              <a:t>24</a:t>
            </a:fld>
            <a:r>
              <a:rPr lang="en-US" altLang="zh-CN" dirty="0"/>
              <a:t>/33</a:t>
            </a:r>
            <a:endParaRPr lang="en-US" dirty="0"/>
          </a:p>
        </p:txBody>
      </p:sp>
      <p:sp>
        <p:nvSpPr>
          <p:cNvPr id="6" name="内容占位符 2">
            <a:extLst>
              <a:ext uri="{FF2B5EF4-FFF2-40B4-BE49-F238E27FC236}">
                <a16:creationId xmlns:a16="http://schemas.microsoft.com/office/drawing/2014/main" id="{779309C5-B8DA-6F5A-8BC4-02B67E4A82CC}"/>
              </a:ext>
            </a:extLst>
          </p:cNvPr>
          <p:cNvSpPr>
            <a:spLocks noGrp="1"/>
          </p:cNvSpPr>
          <p:nvPr>
            <p:ph idx="1"/>
          </p:nvPr>
        </p:nvSpPr>
        <p:spPr>
          <a:xfrm>
            <a:off x="17780" y="585760"/>
            <a:ext cx="9888220" cy="5947119"/>
          </a:xfrm>
        </p:spPr>
        <p:txBody>
          <a:bodyPr/>
          <a:lstStyle/>
          <a:p>
            <a:pPr>
              <a:lnSpc>
                <a:spcPct val="140000"/>
              </a:lnSpc>
              <a:spcAft>
                <a:spcPct val="0"/>
              </a:spcAft>
            </a:pPr>
            <a:r>
              <a:rPr kumimoji="1" lang="zh-CN" altLang="en-US" sz="2800" dirty="0">
                <a:ea typeface="楷体_GB2312" pitchFamily="49" charset="-122"/>
              </a:rPr>
              <a:t>恒压降模型的</a:t>
            </a:r>
            <a:r>
              <a:rPr kumimoji="1" lang="en-US" altLang="zh-CN" sz="2800" i="1" dirty="0">
                <a:ea typeface="楷体_GB2312" pitchFamily="49" charset="-122"/>
              </a:rPr>
              <a:t>V</a:t>
            </a:r>
            <a:r>
              <a:rPr kumimoji="1" lang="en-US" altLang="zh-CN" sz="2800" baseline="-30000" dirty="0">
                <a:ea typeface="楷体_GB2312" pitchFamily="49" charset="-122"/>
              </a:rPr>
              <a:t>D</a:t>
            </a:r>
            <a:r>
              <a:rPr kumimoji="1" lang="en-US" altLang="zh-CN" sz="2800" dirty="0">
                <a:ea typeface="楷体_GB2312" pitchFamily="49" charset="-122"/>
              </a:rPr>
              <a:t>=0.7V</a:t>
            </a:r>
            <a:r>
              <a:rPr kumimoji="1" lang="zh-CN" altLang="en-US" sz="2800" dirty="0">
                <a:ea typeface="楷体_GB2312" pitchFamily="49" charset="-122"/>
              </a:rPr>
              <a:t>，</a:t>
            </a:r>
            <a:r>
              <a:rPr kumimoji="1" lang="en-US" altLang="zh-CN" sz="2800" i="1" dirty="0">
                <a:latin typeface="Book Antiqua" panose="02040602050305030304" pitchFamily="18" charset="0"/>
                <a:ea typeface="楷体_GB2312" pitchFamily="49" charset="-122"/>
              </a:rPr>
              <a:t>v</a:t>
            </a:r>
            <a:r>
              <a:rPr kumimoji="1" lang="en-US" altLang="zh-CN" sz="2800" baseline="-30000" dirty="0">
                <a:ea typeface="楷体_GB2312" pitchFamily="49" charset="-122"/>
              </a:rPr>
              <a:t>s </a:t>
            </a:r>
            <a:r>
              <a:rPr kumimoji="1" lang="en-US" altLang="zh-CN" sz="2800" dirty="0">
                <a:ea typeface="楷体_GB2312" pitchFamily="49" charset="-122"/>
              </a:rPr>
              <a:t>= 0.1sin</a:t>
            </a:r>
            <a:r>
              <a:rPr kumimoji="1" lang="en-US" altLang="zh-CN" sz="2800" i="1" dirty="0">
                <a:latin typeface="Symbol" panose="05050102010706020507" pitchFamily="18" charset="2"/>
                <a:ea typeface="楷体_GB2312" pitchFamily="49" charset="-122"/>
              </a:rPr>
              <a:t>w</a:t>
            </a:r>
            <a:r>
              <a:rPr kumimoji="1" lang="en-US" altLang="zh-CN" sz="2800" i="1" dirty="0">
                <a:ea typeface="楷体_GB2312" pitchFamily="49" charset="-122"/>
              </a:rPr>
              <a:t>t </a:t>
            </a:r>
            <a:r>
              <a:rPr kumimoji="1" lang="en-US" altLang="zh-CN" sz="2800" dirty="0">
                <a:ea typeface="楷体_GB2312" pitchFamily="49" charset="-122"/>
              </a:rPr>
              <a:t>V</a:t>
            </a:r>
            <a:endParaRPr kumimoji="1" lang="zh-CN" altLang="en-US" sz="2800" dirty="0">
              <a:ea typeface="楷体_GB2312" pitchFamily="49" charset="-122"/>
            </a:endParaRPr>
          </a:p>
          <a:p>
            <a:pPr>
              <a:lnSpc>
                <a:spcPct val="140000"/>
              </a:lnSpc>
              <a:spcBef>
                <a:spcPts val="0"/>
              </a:spcBef>
              <a:spcAft>
                <a:spcPct val="0"/>
              </a:spcAft>
              <a:buFontTx/>
              <a:buNone/>
            </a:pPr>
            <a:r>
              <a:rPr kumimoji="1" lang="zh-CN" altLang="en-US" sz="2400" dirty="0">
                <a:ea typeface="楷体_GB2312" pitchFamily="49" charset="-122"/>
              </a:rPr>
              <a:t>（</a:t>
            </a:r>
            <a:r>
              <a:rPr kumimoji="1" lang="en-US" altLang="zh-CN" sz="2400" dirty="0">
                <a:ea typeface="楷体_GB2312" pitchFamily="49" charset="-122"/>
              </a:rPr>
              <a:t>1</a:t>
            </a:r>
            <a:r>
              <a:rPr kumimoji="1" lang="zh-CN" altLang="en-US" sz="2400" dirty="0">
                <a:ea typeface="楷体_GB2312" pitchFamily="49" charset="-122"/>
              </a:rPr>
              <a:t>）求输出电压</a:t>
            </a:r>
            <a:r>
              <a:rPr kumimoji="1" lang="en-US" altLang="zh-CN" sz="2400" i="1" dirty="0" err="1">
                <a:latin typeface="Book Antiqua" panose="02040602050305030304" pitchFamily="18" charset="0"/>
                <a:ea typeface="楷体_GB2312" pitchFamily="49" charset="-122"/>
              </a:rPr>
              <a:t>v</a:t>
            </a:r>
            <a:r>
              <a:rPr kumimoji="1" lang="en-US" altLang="zh-CN" sz="2400" baseline="-30000" dirty="0" err="1">
                <a:ea typeface="楷体_GB2312" pitchFamily="49" charset="-122"/>
              </a:rPr>
              <a:t>O</a:t>
            </a:r>
            <a:r>
              <a:rPr kumimoji="1" lang="zh-CN" altLang="en-US" sz="2400" dirty="0">
                <a:ea typeface="楷体_GB2312" pitchFamily="49" charset="-122"/>
              </a:rPr>
              <a:t>的交流量和总量；</a:t>
            </a:r>
          </a:p>
          <a:p>
            <a:pPr>
              <a:lnSpc>
                <a:spcPct val="140000"/>
              </a:lnSpc>
              <a:spcBef>
                <a:spcPts val="0"/>
              </a:spcBef>
              <a:spcAft>
                <a:spcPct val="0"/>
              </a:spcAft>
              <a:buFontTx/>
              <a:buNone/>
            </a:pPr>
            <a:r>
              <a:rPr kumimoji="1" lang="zh-CN" altLang="en-US" sz="2400" dirty="0">
                <a:ea typeface="楷体_GB2312" pitchFamily="49" charset="-122"/>
              </a:rPr>
              <a:t>（</a:t>
            </a:r>
            <a:r>
              <a:rPr kumimoji="1" lang="en-US" altLang="zh-CN" sz="2400" dirty="0">
                <a:ea typeface="楷体_GB2312" pitchFamily="49" charset="-122"/>
              </a:rPr>
              <a:t>2</a:t>
            </a:r>
            <a:r>
              <a:rPr kumimoji="1" lang="zh-CN" altLang="en-US" sz="2400" dirty="0">
                <a:ea typeface="楷体_GB2312" pitchFamily="49" charset="-122"/>
              </a:rPr>
              <a:t>）绘出</a:t>
            </a:r>
            <a:r>
              <a:rPr kumimoji="1" lang="en-US" altLang="zh-CN" sz="2400" i="1" dirty="0" err="1">
                <a:latin typeface="Book Antiqua" panose="02040602050305030304" pitchFamily="18" charset="0"/>
                <a:ea typeface="楷体_GB2312" pitchFamily="49" charset="-122"/>
              </a:rPr>
              <a:t>v</a:t>
            </a:r>
            <a:r>
              <a:rPr kumimoji="1" lang="en-US" altLang="zh-CN" sz="2400" baseline="-30000" dirty="0" err="1">
                <a:ea typeface="楷体_GB2312" pitchFamily="49" charset="-122"/>
              </a:rPr>
              <a:t>O</a:t>
            </a:r>
            <a:r>
              <a:rPr kumimoji="1" lang="zh-CN" altLang="en-US" sz="2400" dirty="0">
                <a:ea typeface="楷体_GB2312" pitchFamily="49" charset="-122"/>
              </a:rPr>
              <a:t>的波形。</a:t>
            </a:r>
          </a:p>
          <a:p>
            <a:endParaRPr kumimoji="1" lang="zh-CN" altLang="en-US" dirty="0"/>
          </a:p>
        </p:txBody>
      </p:sp>
      <p:graphicFrame>
        <p:nvGraphicFramePr>
          <p:cNvPr id="7" name="Object 23">
            <a:extLst>
              <a:ext uri="{FF2B5EF4-FFF2-40B4-BE49-F238E27FC236}">
                <a16:creationId xmlns:a16="http://schemas.microsoft.com/office/drawing/2014/main" id="{71386206-126B-1ECF-0E13-1FB80865A687}"/>
              </a:ext>
            </a:extLst>
          </p:cNvPr>
          <p:cNvGraphicFramePr>
            <a:graphicFrameLocks noChangeAspect="1"/>
          </p:cNvGraphicFramePr>
          <p:nvPr>
            <p:extLst>
              <p:ext uri="{D42A27DB-BD31-4B8C-83A1-F6EECF244321}">
                <p14:modId xmlns:p14="http://schemas.microsoft.com/office/powerpoint/2010/main" val="2001448738"/>
              </p:ext>
            </p:extLst>
          </p:nvPr>
        </p:nvGraphicFramePr>
        <p:xfrm>
          <a:off x="896698" y="2753890"/>
          <a:ext cx="2806700" cy="1800225"/>
        </p:xfrm>
        <a:graphic>
          <a:graphicData uri="http://schemas.openxmlformats.org/presentationml/2006/ole">
            <mc:AlternateContent xmlns:mc="http://schemas.openxmlformats.org/markup-compatibility/2006">
              <mc:Choice xmlns:v="urn:schemas-microsoft-com:vml" Requires="v">
                <p:oleObj name="图片" r:id="rId3" imgW="1651000" imgH="1054100" progId="Word.Picture.8">
                  <p:embed/>
                </p:oleObj>
              </mc:Choice>
              <mc:Fallback>
                <p:oleObj name="图片" r:id="rId3" imgW="1651000" imgH="1054100" progId="Word.Picture.8">
                  <p:embed/>
                  <p:pic>
                    <p:nvPicPr>
                      <p:cNvPr id="38916"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6698" y="2753890"/>
                        <a:ext cx="2806700" cy="180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57">
            <a:extLst>
              <a:ext uri="{FF2B5EF4-FFF2-40B4-BE49-F238E27FC236}">
                <a16:creationId xmlns:a16="http://schemas.microsoft.com/office/drawing/2014/main" id="{1AE03B44-E50E-2C1D-C1EB-CBA3E60F8EB4}"/>
              </a:ext>
            </a:extLst>
          </p:cNvPr>
          <p:cNvSpPr>
            <a:spLocks noChangeArrowheads="1"/>
          </p:cNvSpPr>
          <p:nvPr/>
        </p:nvSpPr>
        <p:spPr bwMode="auto">
          <a:xfrm>
            <a:off x="2490102" y="3883159"/>
            <a:ext cx="601662"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dirty="0">
                <a:solidFill>
                  <a:srgbClr val="000000"/>
                </a:solidFill>
                <a:ea typeface="楷体_GB2312" pitchFamily="49" charset="-122"/>
              </a:rPr>
              <a:t>5k</a:t>
            </a:r>
            <a:r>
              <a:rPr kumimoji="1" lang="en-US" altLang="zh-CN" sz="1800" dirty="0">
                <a:solidFill>
                  <a:srgbClr val="000000"/>
                </a:solidFill>
                <a:ea typeface="楷体_GB2312" pitchFamily="49" charset="-122"/>
                <a:sym typeface="Symbol" panose="05050102010706020507" pitchFamily="18" charset="2"/>
              </a:rPr>
              <a:t></a:t>
            </a:r>
            <a:endParaRPr kumimoji="1" lang="zh-CN" altLang="en-US" sz="1800" dirty="0">
              <a:solidFill>
                <a:srgbClr val="000000"/>
              </a:solidFill>
              <a:ea typeface="楷体_GB2312" pitchFamily="49" charset="-122"/>
              <a:sym typeface="Symbol" panose="05050102010706020507" pitchFamily="18" charset="2"/>
            </a:endParaRPr>
          </a:p>
        </p:txBody>
      </p:sp>
      <p:sp>
        <p:nvSpPr>
          <p:cNvPr id="9" name="Rectangle 58">
            <a:extLst>
              <a:ext uri="{FF2B5EF4-FFF2-40B4-BE49-F238E27FC236}">
                <a16:creationId xmlns:a16="http://schemas.microsoft.com/office/drawing/2014/main" id="{415A6F3A-54EE-1540-41EB-20C6A9DAD6DC}"/>
              </a:ext>
            </a:extLst>
          </p:cNvPr>
          <p:cNvSpPr>
            <a:spLocks noChangeArrowheads="1"/>
          </p:cNvSpPr>
          <p:nvPr/>
        </p:nvSpPr>
        <p:spPr bwMode="auto">
          <a:xfrm>
            <a:off x="1646693" y="3932004"/>
            <a:ext cx="4635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1800" dirty="0">
                <a:solidFill>
                  <a:srgbClr val="000000"/>
                </a:solidFill>
                <a:ea typeface="楷体_GB2312" pitchFamily="49" charset="-122"/>
              </a:rPr>
              <a:t>5V</a:t>
            </a:r>
            <a:endParaRPr kumimoji="1" lang="zh-CN" altLang="en-US" sz="1800" dirty="0">
              <a:solidFill>
                <a:srgbClr val="000000"/>
              </a:solidFill>
              <a:ea typeface="楷体_GB2312" pitchFamily="49"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B620EF2-D716-20A2-3A09-886F9BBE0843}"/>
                  </a:ext>
                </a:extLst>
              </p:cNvPr>
              <p:cNvSpPr txBox="1"/>
              <p:nvPr/>
            </p:nvSpPr>
            <p:spPr>
              <a:xfrm>
                <a:off x="5179576" y="4863636"/>
                <a:ext cx="35119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𝑂</m:t>
                          </m:r>
                        </m:sub>
                      </m:sSub>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𝑂</m:t>
                          </m:r>
                        </m:sub>
                      </m:sSub>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𝑜</m:t>
                          </m:r>
                        </m:sub>
                      </m:sSub>
                      <m:r>
                        <a:rPr lang="en-US" altLang="zh-CN" b="0" i="1" smtClean="0">
                          <a:latin typeface="Cambria Math" panose="02040503050406030204" pitchFamily="18" charset="0"/>
                        </a:rPr>
                        <m:t>=4.3+</m:t>
                      </m:r>
                      <m:r>
                        <a:rPr lang="en-US" altLang="zh-CN" b="0" i="1" smtClean="0">
                          <a:latin typeface="Cambria Math" panose="02040503050406030204" pitchFamily="18" charset="0"/>
                          <a:ea typeface="Cambria Math" panose="02040503050406030204" pitchFamily="18" charset="0"/>
                        </a:rPr>
                        <m:t>0.0994</m:t>
                      </m:r>
                      <m:r>
                        <a:rPr lang="en-US" altLang="zh-CN" b="0" i="1" smtClean="0">
                          <a:latin typeface="Cambria Math" panose="02040503050406030204" pitchFamily="18" charset="0"/>
                          <a:ea typeface="Cambria Math" panose="02040503050406030204" pitchFamily="18" charset="0"/>
                        </a:rPr>
                        <m:t>𝑠𝑖𝑛</m:t>
                      </m:r>
                      <m:r>
                        <a:rPr lang="zh-CN" altLang="en-US" b="0" i="1" smtClean="0">
                          <a:latin typeface="Cambria Math" panose="02040503050406030204" pitchFamily="18" charset="0"/>
                          <a:ea typeface="Cambria Math" panose="02040503050406030204" pitchFamily="18" charset="0"/>
                        </a:rPr>
                        <m:t>𝜔</m:t>
                      </m:r>
                      <m:r>
                        <a:rPr lang="en-US" altLang="zh-CN" b="0" i="1" smtClean="0">
                          <a:latin typeface="Cambria Math" panose="02040503050406030204" pitchFamily="18" charset="0"/>
                          <a:ea typeface="Cambria Math" panose="02040503050406030204" pitchFamily="18" charset="0"/>
                        </a:rPr>
                        <m:t>𝑡</m:t>
                      </m:r>
                    </m:oMath>
                  </m:oMathPara>
                </a14:m>
                <a:endParaRPr lang="zh-CN" altLang="en-US" dirty="0"/>
              </a:p>
            </p:txBody>
          </p:sp>
        </mc:Choice>
        <mc:Fallback xmlns="">
          <p:sp>
            <p:nvSpPr>
              <p:cNvPr id="10" name="文本框 9">
                <a:extLst>
                  <a:ext uri="{FF2B5EF4-FFF2-40B4-BE49-F238E27FC236}">
                    <a16:creationId xmlns:a16="http://schemas.microsoft.com/office/drawing/2014/main" id="{3B620EF2-D716-20A2-3A09-886F9BBE0843}"/>
                  </a:ext>
                </a:extLst>
              </p:cNvPr>
              <p:cNvSpPr txBox="1">
                <a:spLocks noRot="1" noChangeAspect="1" noMove="1" noResize="1" noEditPoints="1" noAdjustHandles="1" noChangeArrowheads="1" noChangeShapeType="1" noTextEdit="1"/>
              </p:cNvSpPr>
              <p:nvPr/>
            </p:nvSpPr>
            <p:spPr>
              <a:xfrm>
                <a:off x="5179576" y="4863636"/>
                <a:ext cx="3511987" cy="276999"/>
              </a:xfrm>
              <a:prstGeom prst="rect">
                <a:avLst/>
              </a:prstGeom>
              <a:blipFill>
                <a:blip r:embed="rId5"/>
                <a:stretch>
                  <a:fillRect l="-361" r="-361" b="-18182"/>
                </a:stretch>
              </a:blipFill>
            </p:spPr>
            <p:txBody>
              <a:bodyPr/>
              <a:lstStyle/>
              <a:p>
                <a:r>
                  <a:rPr lang="zh-CN" altLang="en-US">
                    <a:noFill/>
                  </a:rPr>
                  <a:t> </a:t>
                </a:r>
              </a:p>
            </p:txBody>
          </p:sp>
        </mc:Fallback>
      </mc:AlternateContent>
      <p:graphicFrame>
        <p:nvGraphicFramePr>
          <p:cNvPr id="11" name="对象 10">
            <a:extLst>
              <a:ext uri="{FF2B5EF4-FFF2-40B4-BE49-F238E27FC236}">
                <a16:creationId xmlns:a16="http://schemas.microsoft.com/office/drawing/2014/main" id="{07319547-5BA9-88E0-BF77-4E17A2719870}"/>
              </a:ext>
            </a:extLst>
          </p:cNvPr>
          <p:cNvGraphicFramePr>
            <a:graphicFrameLocks noChangeAspect="1"/>
          </p:cNvGraphicFramePr>
          <p:nvPr>
            <p:extLst>
              <p:ext uri="{D42A27DB-BD31-4B8C-83A1-F6EECF244321}">
                <p14:modId xmlns:p14="http://schemas.microsoft.com/office/powerpoint/2010/main" val="2692512894"/>
              </p:ext>
            </p:extLst>
          </p:nvPr>
        </p:nvGraphicFramePr>
        <p:xfrm>
          <a:off x="4953000" y="2599861"/>
          <a:ext cx="3738563" cy="2263775"/>
        </p:xfrm>
        <a:graphic>
          <a:graphicData uri="http://schemas.openxmlformats.org/presentationml/2006/ole">
            <mc:AlternateContent xmlns:mc="http://schemas.openxmlformats.org/markup-compatibility/2006">
              <mc:Choice xmlns:v="urn:schemas-microsoft-com:vml" Requires="v">
                <p:oleObj name="Picture" r:id="rId6" imgW="2077212" imgH="1257300" progId="Word.Picture.8">
                  <p:embed/>
                </p:oleObj>
              </mc:Choice>
              <mc:Fallback>
                <p:oleObj name="Picture" r:id="rId6" imgW="2077212" imgH="1257300" progId="Word.Picture.8">
                  <p:embed/>
                  <p:pic>
                    <p:nvPicPr>
                      <p:cNvPr id="20" name="对象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2599861"/>
                        <a:ext cx="3738563" cy="2263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48282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B4F409-19A3-A018-CC4C-BA8BD201171F}"/>
              </a:ext>
            </a:extLst>
          </p:cNvPr>
          <p:cNvSpPr>
            <a:spLocks noGrp="1"/>
          </p:cNvSpPr>
          <p:nvPr>
            <p:ph type="title"/>
          </p:nvPr>
        </p:nvSpPr>
        <p:spPr/>
        <p:txBody>
          <a:bodyPr>
            <a:normAutofit fontScale="90000"/>
          </a:bodyPr>
          <a:lstStyle/>
          <a:p>
            <a:r>
              <a:rPr lang="zh-CN" altLang="en-US" dirty="0"/>
              <a:t>二极管应用</a:t>
            </a:r>
            <a:endParaRPr kumimoji="1" lang="zh-CN" altLang="en-US" dirty="0"/>
          </a:p>
        </p:txBody>
      </p:sp>
      <p:sp>
        <p:nvSpPr>
          <p:cNvPr id="3" name="内容占位符 2">
            <a:extLst>
              <a:ext uri="{FF2B5EF4-FFF2-40B4-BE49-F238E27FC236}">
                <a16:creationId xmlns:a16="http://schemas.microsoft.com/office/drawing/2014/main" id="{795D12CF-92A8-EB2F-A984-C7D4000EEC27}"/>
              </a:ext>
            </a:extLst>
          </p:cNvPr>
          <p:cNvSpPr>
            <a:spLocks noGrp="1"/>
          </p:cNvSpPr>
          <p:nvPr>
            <p:ph idx="1"/>
          </p:nvPr>
        </p:nvSpPr>
        <p:spPr/>
        <p:txBody>
          <a:bodyPr/>
          <a:lstStyle/>
          <a:p>
            <a:r>
              <a:rPr lang="zh-CN" altLang="en-US" dirty="0"/>
              <a:t>主要应用：整流、限幅、开关</a:t>
            </a:r>
            <a:endParaRPr lang="zh-CN" altLang="en-US" sz="3200" dirty="0"/>
          </a:p>
          <a:p>
            <a:endParaRPr lang="zh-CN" altLang="en-US" dirty="0"/>
          </a:p>
          <a:p>
            <a:r>
              <a:rPr lang="zh-CN" altLang="en-US" dirty="0"/>
              <a:t>特殊二极管</a:t>
            </a:r>
            <a:endParaRPr lang="zh-CN" altLang="en-US" sz="2000" dirty="0"/>
          </a:p>
          <a:p>
            <a:endParaRPr kumimoji="1" lang="zh-CN" altLang="en-US" dirty="0"/>
          </a:p>
        </p:txBody>
      </p:sp>
      <p:sp>
        <p:nvSpPr>
          <p:cNvPr id="4" name="页脚占位符 3">
            <a:extLst>
              <a:ext uri="{FF2B5EF4-FFF2-40B4-BE49-F238E27FC236}">
                <a16:creationId xmlns:a16="http://schemas.microsoft.com/office/drawing/2014/main" id="{8D7979D7-DADF-8141-39D9-21934C0CC849}"/>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6C8FF8FA-8DA6-FB5E-1D90-12FEA621C92D}"/>
              </a:ext>
            </a:extLst>
          </p:cNvPr>
          <p:cNvSpPr>
            <a:spLocks noGrp="1"/>
          </p:cNvSpPr>
          <p:nvPr>
            <p:ph type="sldNum" sz="quarter" idx="12"/>
          </p:nvPr>
        </p:nvSpPr>
        <p:spPr/>
        <p:txBody>
          <a:bodyPr/>
          <a:lstStyle/>
          <a:p>
            <a:fld id="{9E260BC5-5BF3-8746-862B-DC45E9CAA88B}" type="slidenum">
              <a:rPr lang="en-US" smtClean="0"/>
              <a:pPr/>
              <a:t>25</a:t>
            </a:fld>
            <a:r>
              <a:rPr lang="en-US" altLang="zh-CN" dirty="0"/>
              <a:t>/33</a:t>
            </a:r>
            <a:endParaRPr lang="en-US" dirty="0"/>
          </a:p>
        </p:txBody>
      </p:sp>
      <p:sp>
        <p:nvSpPr>
          <p:cNvPr id="6" name="Rectangle 4">
            <a:extLst>
              <a:ext uri="{FF2B5EF4-FFF2-40B4-BE49-F238E27FC236}">
                <a16:creationId xmlns:a16="http://schemas.microsoft.com/office/drawing/2014/main" id="{A32403CB-C9A5-0689-6BB8-8482C792FC6E}"/>
              </a:ext>
            </a:extLst>
          </p:cNvPr>
          <p:cNvSpPr>
            <a:spLocks noChangeArrowheads="1"/>
          </p:cNvSpPr>
          <p:nvPr/>
        </p:nvSpPr>
        <p:spPr bwMode="auto">
          <a:xfrm>
            <a:off x="1649230" y="3853656"/>
            <a:ext cx="1716088"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稳压二极管</a:t>
            </a:r>
          </a:p>
        </p:txBody>
      </p:sp>
      <p:sp>
        <p:nvSpPr>
          <p:cNvPr id="7" name="Rectangle 5">
            <a:extLst>
              <a:ext uri="{FF2B5EF4-FFF2-40B4-BE49-F238E27FC236}">
                <a16:creationId xmlns:a16="http://schemas.microsoft.com/office/drawing/2014/main" id="{A5A29083-6F47-7FD4-FBE1-B7144A7D910A}"/>
              </a:ext>
            </a:extLst>
          </p:cNvPr>
          <p:cNvSpPr>
            <a:spLocks noChangeArrowheads="1"/>
          </p:cNvSpPr>
          <p:nvPr/>
        </p:nvSpPr>
        <p:spPr bwMode="auto">
          <a:xfrm>
            <a:off x="3949518" y="3853656"/>
            <a:ext cx="171608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发光二极管</a:t>
            </a:r>
          </a:p>
        </p:txBody>
      </p:sp>
      <p:sp>
        <p:nvSpPr>
          <p:cNvPr id="8" name="Rectangle 6">
            <a:extLst>
              <a:ext uri="{FF2B5EF4-FFF2-40B4-BE49-F238E27FC236}">
                <a16:creationId xmlns:a16="http://schemas.microsoft.com/office/drawing/2014/main" id="{71D12836-B184-9B3E-C3F5-8BDB084972EC}"/>
              </a:ext>
            </a:extLst>
          </p:cNvPr>
          <p:cNvSpPr>
            <a:spLocks noChangeArrowheads="1"/>
          </p:cNvSpPr>
          <p:nvPr/>
        </p:nvSpPr>
        <p:spPr bwMode="auto">
          <a:xfrm>
            <a:off x="6270443" y="3844131"/>
            <a:ext cx="171608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光电二极管</a:t>
            </a:r>
          </a:p>
        </p:txBody>
      </p:sp>
      <p:sp>
        <p:nvSpPr>
          <p:cNvPr id="9" name="AutoShape 7">
            <a:extLst>
              <a:ext uri="{FF2B5EF4-FFF2-40B4-BE49-F238E27FC236}">
                <a16:creationId xmlns:a16="http://schemas.microsoft.com/office/drawing/2014/main" id="{2D359E99-6739-4F61-A69F-76D94B1504BE}"/>
              </a:ext>
            </a:extLst>
          </p:cNvPr>
          <p:cNvSpPr>
            <a:spLocks noChangeArrowheads="1"/>
          </p:cNvSpPr>
          <p:nvPr/>
        </p:nvSpPr>
        <p:spPr bwMode="auto">
          <a:xfrm rot="16200000" flipV="1">
            <a:off x="2364398" y="3340100"/>
            <a:ext cx="360363" cy="342900"/>
          </a:xfrm>
          <a:prstGeom prst="triangle">
            <a:avLst>
              <a:gd name="adj" fmla="val 50000"/>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0" name="Line 8">
            <a:extLst>
              <a:ext uri="{FF2B5EF4-FFF2-40B4-BE49-F238E27FC236}">
                <a16:creationId xmlns:a16="http://schemas.microsoft.com/office/drawing/2014/main" id="{88DC330C-4128-833F-6671-57148FAEA5CB}"/>
              </a:ext>
            </a:extLst>
          </p:cNvPr>
          <p:cNvSpPr>
            <a:spLocks noChangeShapeType="1"/>
          </p:cNvSpPr>
          <p:nvPr/>
        </p:nvSpPr>
        <p:spPr bwMode="auto">
          <a:xfrm>
            <a:off x="2025468" y="3512343"/>
            <a:ext cx="1046162"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1" name="Line 9">
            <a:extLst>
              <a:ext uri="{FF2B5EF4-FFF2-40B4-BE49-F238E27FC236}">
                <a16:creationId xmlns:a16="http://schemas.microsoft.com/office/drawing/2014/main" id="{366417A1-7BBB-6E29-E1F6-249488B31664}"/>
              </a:ext>
            </a:extLst>
          </p:cNvPr>
          <p:cNvSpPr>
            <a:spLocks noChangeShapeType="1"/>
          </p:cNvSpPr>
          <p:nvPr/>
        </p:nvSpPr>
        <p:spPr bwMode="auto">
          <a:xfrm rot="-5400000">
            <a:off x="2458061" y="3509962"/>
            <a:ext cx="504825" cy="158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2" name="Line 10">
            <a:extLst>
              <a:ext uri="{FF2B5EF4-FFF2-40B4-BE49-F238E27FC236}">
                <a16:creationId xmlns:a16="http://schemas.microsoft.com/office/drawing/2014/main" id="{675ECFED-F614-D93B-0E8D-E01A7F5C497A}"/>
              </a:ext>
            </a:extLst>
          </p:cNvPr>
          <p:cNvSpPr>
            <a:spLocks noChangeShapeType="1"/>
          </p:cNvSpPr>
          <p:nvPr/>
        </p:nvSpPr>
        <p:spPr bwMode="auto">
          <a:xfrm flipH="1">
            <a:off x="2530293" y="3266281"/>
            <a:ext cx="180975"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nvGrpSpPr>
          <p:cNvPr id="13" name="Group 11">
            <a:extLst>
              <a:ext uri="{FF2B5EF4-FFF2-40B4-BE49-F238E27FC236}">
                <a16:creationId xmlns:a16="http://schemas.microsoft.com/office/drawing/2014/main" id="{4E862BD7-C97F-F39A-CC7D-979EAD8EFADD}"/>
              </a:ext>
            </a:extLst>
          </p:cNvPr>
          <p:cNvGrpSpPr>
            <a:grpSpLocks/>
          </p:cNvGrpSpPr>
          <p:nvPr/>
        </p:nvGrpSpPr>
        <p:grpSpPr bwMode="auto">
          <a:xfrm>
            <a:off x="4241618" y="3123406"/>
            <a:ext cx="1046162" cy="611187"/>
            <a:chOff x="3628" y="3068"/>
            <a:chExt cx="659" cy="385"/>
          </a:xfrm>
        </p:grpSpPr>
        <p:sp>
          <p:nvSpPr>
            <p:cNvPr id="14" name="AutoShape 12">
              <a:extLst>
                <a:ext uri="{FF2B5EF4-FFF2-40B4-BE49-F238E27FC236}">
                  <a16:creationId xmlns:a16="http://schemas.microsoft.com/office/drawing/2014/main" id="{E90CE857-CD91-9637-DBBC-17AD207F185A}"/>
                </a:ext>
              </a:extLst>
            </p:cNvPr>
            <p:cNvSpPr>
              <a:spLocks noChangeArrowheads="1"/>
            </p:cNvSpPr>
            <p:nvPr/>
          </p:nvSpPr>
          <p:spPr bwMode="auto">
            <a:xfrm rot="16200000" flipV="1">
              <a:off x="3841" y="3231"/>
              <a:ext cx="227" cy="216"/>
            </a:xfrm>
            <a:prstGeom prst="triangle">
              <a:avLst>
                <a:gd name="adj" fmla="val 50000"/>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5" name="Line 13">
              <a:extLst>
                <a:ext uri="{FF2B5EF4-FFF2-40B4-BE49-F238E27FC236}">
                  <a16:creationId xmlns:a16="http://schemas.microsoft.com/office/drawing/2014/main" id="{4925A56A-7234-00B6-B466-2AD0D12432FA}"/>
                </a:ext>
              </a:extLst>
            </p:cNvPr>
            <p:cNvSpPr>
              <a:spLocks noChangeShapeType="1"/>
            </p:cNvSpPr>
            <p:nvPr/>
          </p:nvSpPr>
          <p:spPr bwMode="auto">
            <a:xfrm>
              <a:off x="3628" y="3339"/>
              <a:ext cx="659"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6" name="Line 14">
              <a:extLst>
                <a:ext uri="{FF2B5EF4-FFF2-40B4-BE49-F238E27FC236}">
                  <a16:creationId xmlns:a16="http://schemas.microsoft.com/office/drawing/2014/main" id="{3E7CD18F-C424-21F5-1359-DE3C79CD379E}"/>
                </a:ext>
              </a:extLst>
            </p:cNvPr>
            <p:cNvSpPr>
              <a:spLocks noChangeShapeType="1"/>
            </p:cNvSpPr>
            <p:nvPr/>
          </p:nvSpPr>
          <p:spPr bwMode="auto">
            <a:xfrm rot="-5400000">
              <a:off x="3946" y="3338"/>
              <a:ext cx="228" cy="1"/>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7" name="Line 15">
              <a:extLst>
                <a:ext uri="{FF2B5EF4-FFF2-40B4-BE49-F238E27FC236}">
                  <a16:creationId xmlns:a16="http://schemas.microsoft.com/office/drawing/2014/main" id="{C3FAFA65-DDD3-FC78-113A-80DDFE0CBC2E}"/>
                </a:ext>
              </a:extLst>
            </p:cNvPr>
            <p:cNvSpPr>
              <a:spLocks noChangeShapeType="1"/>
            </p:cNvSpPr>
            <p:nvPr/>
          </p:nvSpPr>
          <p:spPr bwMode="auto">
            <a:xfrm flipV="1">
              <a:off x="3878" y="3068"/>
              <a:ext cx="204" cy="113"/>
            </a:xfrm>
            <a:prstGeom prst="line">
              <a:avLst/>
            </a:prstGeom>
            <a:noFill/>
            <a:ln w="28575">
              <a:solidFill>
                <a:schemeClr val="tx1"/>
              </a:solidFill>
              <a:round/>
              <a:headEnd/>
              <a:tailEnd type="triangle" w="lg" len="lg"/>
            </a:ln>
            <a:extLst>
              <a:ext uri="{909E8E84-426E-40dd-AFC4-6F175D3DCCD1}">
                <a14:hiddenFill xmlns="" xmlns:a14="http://schemas.microsoft.com/office/drawing/2010/main">
                  <a:noFill/>
                </a14:hiddenFill>
              </a:ext>
            </a:extLst>
          </p:spPr>
          <p:txBody>
            <a:bodyPr/>
            <a:lstStyle/>
            <a:p>
              <a:endParaRPr lang="zh-CN" altLang="en-US"/>
            </a:p>
          </p:txBody>
        </p:sp>
        <p:sp>
          <p:nvSpPr>
            <p:cNvPr id="18" name="Line 16">
              <a:extLst>
                <a:ext uri="{FF2B5EF4-FFF2-40B4-BE49-F238E27FC236}">
                  <a16:creationId xmlns:a16="http://schemas.microsoft.com/office/drawing/2014/main" id="{3B863608-AFEF-44B6-33B4-F346CEAE797E}"/>
                </a:ext>
              </a:extLst>
            </p:cNvPr>
            <p:cNvSpPr>
              <a:spLocks noChangeShapeType="1"/>
            </p:cNvSpPr>
            <p:nvPr/>
          </p:nvSpPr>
          <p:spPr bwMode="auto">
            <a:xfrm flipV="1">
              <a:off x="3991" y="3090"/>
              <a:ext cx="204" cy="113"/>
            </a:xfrm>
            <a:prstGeom prst="line">
              <a:avLst/>
            </a:prstGeom>
            <a:noFill/>
            <a:ln w="28575">
              <a:solidFill>
                <a:schemeClr val="tx1"/>
              </a:solidFill>
              <a:round/>
              <a:headEnd/>
              <a:tailEnd type="triangle" w="lg" len="lg"/>
            </a:ln>
            <a:extLst>
              <a:ext uri="{909E8E84-426E-40dd-AFC4-6F175D3DCCD1}">
                <a14:hiddenFill xmlns="" xmlns:a14="http://schemas.microsoft.com/office/drawing/2010/main">
                  <a:noFill/>
                </a14:hiddenFill>
              </a:ext>
            </a:extLst>
          </p:spPr>
          <p:txBody>
            <a:bodyPr/>
            <a:lstStyle/>
            <a:p>
              <a:endParaRPr lang="zh-CN" altLang="en-US"/>
            </a:p>
          </p:txBody>
        </p:sp>
      </p:grpSp>
      <p:grpSp>
        <p:nvGrpSpPr>
          <p:cNvPr id="19" name="Group 17">
            <a:extLst>
              <a:ext uri="{FF2B5EF4-FFF2-40B4-BE49-F238E27FC236}">
                <a16:creationId xmlns:a16="http://schemas.microsoft.com/office/drawing/2014/main" id="{6A07DFAE-028F-1516-4FDF-64DFB00892DD}"/>
              </a:ext>
            </a:extLst>
          </p:cNvPr>
          <p:cNvGrpSpPr>
            <a:grpSpLocks/>
          </p:cNvGrpSpPr>
          <p:nvPr/>
        </p:nvGrpSpPr>
        <p:grpSpPr bwMode="auto">
          <a:xfrm>
            <a:off x="6600643" y="3086893"/>
            <a:ext cx="1046162" cy="647700"/>
            <a:chOff x="5223" y="3204"/>
            <a:chExt cx="659" cy="408"/>
          </a:xfrm>
        </p:grpSpPr>
        <p:sp>
          <p:nvSpPr>
            <p:cNvPr id="20" name="AutoShape 18">
              <a:extLst>
                <a:ext uri="{FF2B5EF4-FFF2-40B4-BE49-F238E27FC236}">
                  <a16:creationId xmlns:a16="http://schemas.microsoft.com/office/drawing/2014/main" id="{535E1384-FED6-62C9-D565-AA61D76568FD}"/>
                </a:ext>
              </a:extLst>
            </p:cNvPr>
            <p:cNvSpPr>
              <a:spLocks noChangeArrowheads="1"/>
            </p:cNvSpPr>
            <p:nvPr/>
          </p:nvSpPr>
          <p:spPr bwMode="auto">
            <a:xfrm rot="16200000" flipV="1">
              <a:off x="5436" y="3391"/>
              <a:ext cx="227" cy="216"/>
            </a:xfrm>
            <a:prstGeom prst="triangle">
              <a:avLst>
                <a:gd name="adj" fmla="val 50000"/>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1" name="Line 19">
              <a:extLst>
                <a:ext uri="{FF2B5EF4-FFF2-40B4-BE49-F238E27FC236}">
                  <a16:creationId xmlns:a16="http://schemas.microsoft.com/office/drawing/2014/main" id="{2DB0DF69-F80D-C97A-B43F-5B6556225B1B}"/>
                </a:ext>
              </a:extLst>
            </p:cNvPr>
            <p:cNvSpPr>
              <a:spLocks noChangeShapeType="1"/>
            </p:cNvSpPr>
            <p:nvPr/>
          </p:nvSpPr>
          <p:spPr bwMode="auto">
            <a:xfrm>
              <a:off x="5223" y="3499"/>
              <a:ext cx="659"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2" name="Line 20">
              <a:extLst>
                <a:ext uri="{FF2B5EF4-FFF2-40B4-BE49-F238E27FC236}">
                  <a16:creationId xmlns:a16="http://schemas.microsoft.com/office/drawing/2014/main" id="{7BC4F8F6-09F2-F109-E160-6F4CD3E182CB}"/>
                </a:ext>
              </a:extLst>
            </p:cNvPr>
            <p:cNvSpPr>
              <a:spLocks noChangeShapeType="1"/>
            </p:cNvSpPr>
            <p:nvPr/>
          </p:nvSpPr>
          <p:spPr bwMode="auto">
            <a:xfrm flipV="1">
              <a:off x="5442" y="3204"/>
              <a:ext cx="204" cy="113"/>
            </a:xfrm>
            <a:prstGeom prst="line">
              <a:avLst/>
            </a:prstGeom>
            <a:noFill/>
            <a:ln w="28575">
              <a:solidFill>
                <a:schemeClr val="tx1"/>
              </a:solidFill>
              <a:round/>
              <a:headEnd type="triangle" w="lg" len="lg"/>
              <a:tailEnd type="none" w="lg" len="lg"/>
            </a:ln>
            <a:extLst>
              <a:ext uri="{909E8E84-426E-40dd-AFC4-6F175D3DCCD1}">
                <a14:hiddenFill xmlns="" xmlns:a14="http://schemas.microsoft.com/office/drawing/2010/main">
                  <a:noFill/>
                </a14:hiddenFill>
              </a:ext>
            </a:extLst>
          </p:spPr>
          <p:txBody>
            <a:bodyPr/>
            <a:lstStyle/>
            <a:p>
              <a:endParaRPr lang="zh-CN" altLang="en-US"/>
            </a:p>
          </p:txBody>
        </p:sp>
        <p:sp>
          <p:nvSpPr>
            <p:cNvPr id="23" name="Line 21">
              <a:extLst>
                <a:ext uri="{FF2B5EF4-FFF2-40B4-BE49-F238E27FC236}">
                  <a16:creationId xmlns:a16="http://schemas.microsoft.com/office/drawing/2014/main" id="{9BAF7D53-9E83-9941-6D69-1E619C6223EE}"/>
                </a:ext>
              </a:extLst>
            </p:cNvPr>
            <p:cNvSpPr>
              <a:spLocks noChangeShapeType="1"/>
            </p:cNvSpPr>
            <p:nvPr/>
          </p:nvSpPr>
          <p:spPr bwMode="auto">
            <a:xfrm flipV="1">
              <a:off x="5579" y="3226"/>
              <a:ext cx="204" cy="113"/>
            </a:xfrm>
            <a:prstGeom prst="line">
              <a:avLst/>
            </a:prstGeom>
            <a:noFill/>
            <a:ln w="28575">
              <a:solidFill>
                <a:schemeClr val="tx1"/>
              </a:solidFill>
              <a:round/>
              <a:headEnd type="triangle" w="lg" len="lg"/>
              <a:tailEnd type="none" w="lg" len="lg"/>
            </a:ln>
            <a:extLst>
              <a:ext uri="{909E8E84-426E-40dd-AFC4-6F175D3DCCD1}">
                <a14:hiddenFill xmlns="" xmlns:a14="http://schemas.microsoft.com/office/drawing/2010/main">
                  <a:noFill/>
                </a14:hiddenFill>
              </a:ext>
            </a:extLst>
          </p:spPr>
          <p:txBody>
            <a:bodyPr/>
            <a:lstStyle/>
            <a:p>
              <a:endParaRPr lang="zh-CN" altLang="en-US"/>
            </a:p>
          </p:txBody>
        </p:sp>
        <p:sp>
          <p:nvSpPr>
            <p:cNvPr id="24" name="Line 22">
              <a:extLst>
                <a:ext uri="{FF2B5EF4-FFF2-40B4-BE49-F238E27FC236}">
                  <a16:creationId xmlns:a16="http://schemas.microsoft.com/office/drawing/2014/main" id="{69C10E7C-24F1-C0A0-1524-0D8BF8FC108A}"/>
                </a:ext>
              </a:extLst>
            </p:cNvPr>
            <p:cNvSpPr>
              <a:spLocks noChangeShapeType="1"/>
            </p:cNvSpPr>
            <p:nvPr/>
          </p:nvSpPr>
          <p:spPr bwMode="auto">
            <a:xfrm rot="-5400000">
              <a:off x="5534" y="3497"/>
              <a:ext cx="228" cy="1"/>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948080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2E90F2-E40A-1458-8423-E5F382BE1CFB}"/>
              </a:ext>
            </a:extLst>
          </p:cNvPr>
          <p:cNvSpPr>
            <a:spLocks noGrp="1"/>
          </p:cNvSpPr>
          <p:nvPr>
            <p:ph type="title"/>
          </p:nvPr>
        </p:nvSpPr>
        <p:spPr/>
        <p:txBody>
          <a:bodyPr>
            <a:normAutofit fontScale="90000"/>
          </a:bodyPr>
          <a:lstStyle/>
          <a:p>
            <a:r>
              <a:rPr lang="zh-CN" altLang="en-US" dirty="0"/>
              <a:t>示例</a:t>
            </a:r>
            <a:r>
              <a:rPr lang="en-US" altLang="zh-CN" dirty="0">
                <a:latin typeface="宋体" panose="02010600030101010101" pitchFamily="2" charset="-122"/>
              </a:rPr>
              <a:t>: </a:t>
            </a:r>
            <a:r>
              <a:rPr lang="zh-CN" altLang="en-US" dirty="0"/>
              <a:t>桥式整流</a:t>
            </a:r>
            <a:endParaRPr kumimoji="1" lang="zh-CN" altLang="en-US" dirty="0"/>
          </a:p>
        </p:txBody>
      </p:sp>
      <p:sp>
        <p:nvSpPr>
          <p:cNvPr id="4" name="页脚占位符 3">
            <a:extLst>
              <a:ext uri="{FF2B5EF4-FFF2-40B4-BE49-F238E27FC236}">
                <a16:creationId xmlns:a16="http://schemas.microsoft.com/office/drawing/2014/main" id="{EC13EC3F-F017-FF95-2A44-1AF49B13EF24}"/>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0CFE043D-838C-91BC-84FF-2D6D800AE07D}"/>
              </a:ext>
            </a:extLst>
          </p:cNvPr>
          <p:cNvSpPr>
            <a:spLocks noGrp="1"/>
          </p:cNvSpPr>
          <p:nvPr>
            <p:ph type="sldNum" sz="quarter" idx="12"/>
          </p:nvPr>
        </p:nvSpPr>
        <p:spPr/>
        <p:txBody>
          <a:bodyPr/>
          <a:lstStyle/>
          <a:p>
            <a:fld id="{9E260BC5-5BF3-8746-862B-DC45E9CAA88B}" type="slidenum">
              <a:rPr lang="en-US" smtClean="0"/>
              <a:pPr/>
              <a:t>26</a:t>
            </a:fld>
            <a:r>
              <a:rPr lang="en-US" altLang="zh-CN" dirty="0"/>
              <a:t>/33</a:t>
            </a:r>
            <a:endParaRPr lang="en-US" dirty="0"/>
          </a:p>
        </p:txBody>
      </p:sp>
      <p:sp>
        <p:nvSpPr>
          <p:cNvPr id="6" name="Text Box 3">
            <a:extLst>
              <a:ext uri="{FF2B5EF4-FFF2-40B4-BE49-F238E27FC236}">
                <a16:creationId xmlns:a16="http://schemas.microsoft.com/office/drawing/2014/main" id="{EF8CF0D7-B989-5A2C-87BB-C0855C7C7857}"/>
              </a:ext>
            </a:extLst>
          </p:cNvPr>
          <p:cNvSpPr txBox="1">
            <a:spLocks noChangeArrowheads="1"/>
          </p:cNvSpPr>
          <p:nvPr/>
        </p:nvSpPr>
        <p:spPr bwMode="auto">
          <a:xfrm>
            <a:off x="1908175" y="5718175"/>
            <a:ext cx="1612900" cy="5191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a:latin typeface="Arial" panose="020B0604020202020204" pitchFamily="34" charset="0"/>
              </a:rPr>
              <a:t>简化电路</a:t>
            </a:r>
            <a:endParaRPr lang="en-US" altLang="zh-CN">
              <a:latin typeface="Arial" panose="020B0604020202020204" pitchFamily="34" charset="0"/>
            </a:endParaRPr>
          </a:p>
        </p:txBody>
      </p:sp>
      <p:sp>
        <p:nvSpPr>
          <p:cNvPr id="7" name="Text Box 4">
            <a:extLst>
              <a:ext uri="{FF2B5EF4-FFF2-40B4-BE49-F238E27FC236}">
                <a16:creationId xmlns:a16="http://schemas.microsoft.com/office/drawing/2014/main" id="{4EA69209-32D3-B0A4-8DA5-B1F865082373}"/>
              </a:ext>
            </a:extLst>
          </p:cNvPr>
          <p:cNvSpPr txBox="1">
            <a:spLocks noChangeArrowheads="1"/>
          </p:cNvSpPr>
          <p:nvPr/>
        </p:nvSpPr>
        <p:spPr bwMode="auto">
          <a:xfrm>
            <a:off x="1908175" y="3321050"/>
            <a:ext cx="1612900" cy="5191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a:latin typeface="Arial" panose="020B0604020202020204" pitchFamily="34" charset="0"/>
              </a:rPr>
              <a:t>完整电路</a:t>
            </a:r>
            <a:endParaRPr lang="en-US" altLang="zh-CN">
              <a:latin typeface="Arial" panose="020B0604020202020204" pitchFamily="34" charset="0"/>
            </a:endParaRPr>
          </a:p>
        </p:txBody>
      </p:sp>
      <p:pic>
        <p:nvPicPr>
          <p:cNvPr id="8" name="Picture 5">
            <a:extLst>
              <a:ext uri="{FF2B5EF4-FFF2-40B4-BE49-F238E27FC236}">
                <a16:creationId xmlns:a16="http://schemas.microsoft.com/office/drawing/2014/main" id="{3069D981-EFE5-EC8E-DBB4-556B4602A9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163" y="1592263"/>
            <a:ext cx="3862387" cy="1619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 name="Picture 6">
            <a:extLst>
              <a:ext uri="{FF2B5EF4-FFF2-40B4-BE49-F238E27FC236}">
                <a16:creationId xmlns:a16="http://schemas.microsoft.com/office/drawing/2014/main" id="{403B7B0A-DC33-C037-68A2-0E07C084CA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038" y="4076700"/>
            <a:ext cx="3459162" cy="1603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 name="Picture 7">
            <a:extLst>
              <a:ext uri="{FF2B5EF4-FFF2-40B4-BE49-F238E27FC236}">
                <a16:creationId xmlns:a16="http://schemas.microsoft.com/office/drawing/2014/main" id="{7934B8DA-B818-D4D7-B1D8-1D6CE954A6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263" y="1268413"/>
            <a:ext cx="3192462" cy="4995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9664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32483C-519E-9024-E905-F205FCA960AF}"/>
              </a:ext>
            </a:extLst>
          </p:cNvPr>
          <p:cNvSpPr>
            <a:spLocks noGrp="1"/>
          </p:cNvSpPr>
          <p:nvPr>
            <p:ph type="title"/>
          </p:nvPr>
        </p:nvSpPr>
        <p:spPr/>
        <p:txBody>
          <a:bodyPr>
            <a:normAutofit fontScale="90000"/>
          </a:bodyPr>
          <a:lstStyle/>
          <a:p>
            <a:r>
              <a:rPr lang="zh-CN" altLang="en-US" dirty="0"/>
              <a:t>示例</a:t>
            </a:r>
            <a:r>
              <a:rPr lang="en-US" altLang="zh-CN" dirty="0">
                <a:latin typeface="宋体" panose="02010600030101010101" pitchFamily="2" charset="-122"/>
              </a:rPr>
              <a:t>: </a:t>
            </a:r>
            <a:r>
              <a:rPr lang="zh-CN" altLang="en-US" dirty="0"/>
              <a:t>限幅</a:t>
            </a:r>
            <a:endParaRPr kumimoji="1" lang="zh-CN" altLang="en-US" dirty="0"/>
          </a:p>
        </p:txBody>
      </p:sp>
      <p:sp>
        <p:nvSpPr>
          <p:cNvPr id="4" name="页脚占位符 3">
            <a:extLst>
              <a:ext uri="{FF2B5EF4-FFF2-40B4-BE49-F238E27FC236}">
                <a16:creationId xmlns:a16="http://schemas.microsoft.com/office/drawing/2014/main" id="{EE7D15AB-B8F7-B89D-403D-6B472EAF3FDF}"/>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2711FD5E-E2A8-173D-C85A-8B1DFF7A9A62}"/>
              </a:ext>
            </a:extLst>
          </p:cNvPr>
          <p:cNvSpPr>
            <a:spLocks noGrp="1"/>
          </p:cNvSpPr>
          <p:nvPr>
            <p:ph type="sldNum" sz="quarter" idx="12"/>
          </p:nvPr>
        </p:nvSpPr>
        <p:spPr/>
        <p:txBody>
          <a:bodyPr/>
          <a:lstStyle/>
          <a:p>
            <a:fld id="{9E260BC5-5BF3-8746-862B-DC45E9CAA88B}" type="slidenum">
              <a:rPr lang="en-US" smtClean="0"/>
              <a:pPr/>
              <a:t>27</a:t>
            </a:fld>
            <a:r>
              <a:rPr lang="en-US" altLang="zh-CN" dirty="0"/>
              <a:t>/33</a:t>
            </a:r>
            <a:endParaRPr lang="en-US" dirty="0"/>
          </a:p>
        </p:txBody>
      </p:sp>
      <p:pic>
        <p:nvPicPr>
          <p:cNvPr id="6" name="Picture 3">
            <a:extLst>
              <a:ext uri="{FF2B5EF4-FFF2-40B4-BE49-F238E27FC236}">
                <a16:creationId xmlns:a16="http://schemas.microsoft.com/office/drawing/2014/main" id="{A8E06EF2-5F52-50D5-3CE2-B11D1DC36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038" y="2349500"/>
            <a:ext cx="3181350" cy="2590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4">
            <a:extLst>
              <a:ext uri="{FF2B5EF4-FFF2-40B4-BE49-F238E27FC236}">
                <a16:creationId xmlns:a16="http://schemas.microsoft.com/office/drawing/2014/main" id="{799FF895-6BDA-7F4C-D276-6C01F30FF1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5488" y="2060575"/>
            <a:ext cx="4152900" cy="3286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9132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8B5F7C-9E33-5E90-5161-243C99381644}"/>
              </a:ext>
            </a:extLst>
          </p:cNvPr>
          <p:cNvSpPr>
            <a:spLocks noGrp="1"/>
          </p:cNvSpPr>
          <p:nvPr>
            <p:ph type="title"/>
          </p:nvPr>
        </p:nvSpPr>
        <p:spPr/>
        <p:txBody>
          <a:bodyPr>
            <a:normAutofit fontScale="90000"/>
          </a:bodyPr>
          <a:lstStyle/>
          <a:p>
            <a:r>
              <a:rPr lang="zh-CN" altLang="en-US" dirty="0"/>
              <a:t>示例</a:t>
            </a:r>
            <a:r>
              <a:rPr lang="en-US" altLang="zh-CN" dirty="0">
                <a:latin typeface="宋体" panose="02010600030101010101" pitchFamily="2" charset="-122"/>
              </a:rPr>
              <a:t>: </a:t>
            </a:r>
            <a:r>
              <a:rPr lang="zh-CN" altLang="en-US" dirty="0"/>
              <a:t>开关</a:t>
            </a:r>
            <a:endParaRPr kumimoji="1" lang="zh-CN" altLang="en-US" dirty="0"/>
          </a:p>
        </p:txBody>
      </p:sp>
      <p:sp>
        <p:nvSpPr>
          <p:cNvPr id="4" name="页脚占位符 3">
            <a:extLst>
              <a:ext uri="{FF2B5EF4-FFF2-40B4-BE49-F238E27FC236}">
                <a16:creationId xmlns:a16="http://schemas.microsoft.com/office/drawing/2014/main" id="{0343EAB8-DEB9-3941-B11E-7ABC78490A87}"/>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9DC09945-FFF5-E07E-E044-5369304CBEAA}"/>
              </a:ext>
            </a:extLst>
          </p:cNvPr>
          <p:cNvSpPr>
            <a:spLocks noGrp="1"/>
          </p:cNvSpPr>
          <p:nvPr>
            <p:ph type="sldNum" sz="quarter" idx="12"/>
          </p:nvPr>
        </p:nvSpPr>
        <p:spPr/>
        <p:txBody>
          <a:bodyPr/>
          <a:lstStyle/>
          <a:p>
            <a:fld id="{9E260BC5-5BF3-8746-862B-DC45E9CAA88B}" type="slidenum">
              <a:rPr lang="en-US" smtClean="0"/>
              <a:pPr/>
              <a:t>28</a:t>
            </a:fld>
            <a:r>
              <a:rPr lang="en-US" altLang="zh-CN" dirty="0"/>
              <a:t>/33</a:t>
            </a:r>
            <a:endParaRPr lang="en-US" dirty="0"/>
          </a:p>
        </p:txBody>
      </p:sp>
      <p:pic>
        <p:nvPicPr>
          <p:cNvPr id="6" name="Picture 4">
            <a:extLst>
              <a:ext uri="{FF2B5EF4-FFF2-40B4-BE49-F238E27FC236}">
                <a16:creationId xmlns:a16="http://schemas.microsoft.com/office/drawing/2014/main" id="{41CA0FEF-42BA-AE33-234F-E14EC365E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4538" y="1002417"/>
            <a:ext cx="2774950" cy="2343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ADD6AD4A-15F3-371D-255F-EA72DA3738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7450" y="1126242"/>
            <a:ext cx="3671888" cy="2324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aphicFrame>
        <p:nvGraphicFramePr>
          <p:cNvPr id="8" name="表格 7">
            <a:extLst>
              <a:ext uri="{FF2B5EF4-FFF2-40B4-BE49-F238E27FC236}">
                <a16:creationId xmlns:a16="http://schemas.microsoft.com/office/drawing/2014/main" id="{36E045BF-2160-A835-D626-86269B61898F}"/>
              </a:ext>
            </a:extLst>
          </p:cNvPr>
          <p:cNvGraphicFramePr>
            <a:graphicFrameLocks noGrp="1"/>
          </p:cNvGraphicFramePr>
          <p:nvPr>
            <p:extLst>
              <p:ext uri="{D42A27DB-BD31-4B8C-83A1-F6EECF244321}">
                <p14:modId xmlns:p14="http://schemas.microsoft.com/office/powerpoint/2010/main" val="4160908212"/>
              </p:ext>
            </p:extLst>
          </p:nvPr>
        </p:nvGraphicFramePr>
        <p:xfrm>
          <a:off x="1826250" y="3673822"/>
          <a:ext cx="6096000" cy="23774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rowSpan="2">
                  <a:txBody>
                    <a:bodyPr/>
                    <a:lstStyle/>
                    <a:p>
                      <a:pPr algn="ctr"/>
                      <a:r>
                        <a:rPr lang="en-US" altLang="zh-CN" sz="2800" b="0" dirty="0">
                          <a:solidFill>
                            <a:schemeClr val="tx1"/>
                          </a:solidFill>
                          <a:latin typeface="Microsoft YaHei" panose="020B0503020204020204" pitchFamily="34" charset="-122"/>
                          <a:ea typeface="Microsoft YaHei" panose="020B0503020204020204" pitchFamily="34" charset="-122"/>
                        </a:rPr>
                        <a:t>v</a:t>
                      </a:r>
                      <a:r>
                        <a:rPr lang="en-US" altLang="zh-CN" sz="2800" b="0" baseline="-25000" dirty="0">
                          <a:solidFill>
                            <a:schemeClr val="tx1"/>
                          </a:solidFill>
                          <a:latin typeface="Microsoft YaHei" panose="020B0503020204020204" pitchFamily="34" charset="-122"/>
                          <a:ea typeface="Microsoft YaHei" panose="020B0503020204020204" pitchFamily="34" charset="-122"/>
                        </a:rPr>
                        <a:t>11</a:t>
                      </a:r>
                      <a:endParaRPr lang="zh-CN" altLang="en-US" sz="2800" b="0" baseline="-25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altLang="zh-CN" sz="2800" b="0" dirty="0">
                          <a:solidFill>
                            <a:schemeClr val="tx1"/>
                          </a:solidFill>
                          <a:latin typeface="Microsoft YaHei" panose="020B0503020204020204" pitchFamily="34" charset="-122"/>
                          <a:ea typeface="Microsoft YaHei" panose="020B0503020204020204" pitchFamily="34" charset="-122"/>
                        </a:rPr>
                        <a:t>v</a:t>
                      </a:r>
                      <a:r>
                        <a:rPr lang="en-US" altLang="zh-CN" sz="2800" b="0" baseline="-25000" dirty="0">
                          <a:solidFill>
                            <a:schemeClr val="tx1"/>
                          </a:solidFill>
                          <a:latin typeface="Microsoft YaHei" panose="020B0503020204020204" pitchFamily="34" charset="-122"/>
                          <a:ea typeface="Microsoft YaHei" panose="020B0503020204020204" pitchFamily="34" charset="-122"/>
                        </a:rPr>
                        <a:t>12</a:t>
                      </a:r>
                      <a:endParaRPr lang="zh-CN" altLang="en-US" sz="2800"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zh-CN" altLang="en-US" sz="2000" b="0" dirty="0">
                          <a:solidFill>
                            <a:schemeClr val="tx1"/>
                          </a:solidFill>
                          <a:latin typeface="Microsoft YaHei" panose="020B0503020204020204" pitchFamily="34" charset="-122"/>
                          <a:ea typeface="Microsoft YaHei" panose="020B0503020204020204" pitchFamily="34" charset="-122"/>
                        </a:rPr>
                        <a:t>二极管工作状态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altLang="zh-CN" sz="2800" b="0" dirty="0" err="1">
                          <a:solidFill>
                            <a:schemeClr val="tx1"/>
                          </a:solidFill>
                          <a:latin typeface="Microsoft YaHei" panose="020B0503020204020204" pitchFamily="34" charset="-122"/>
                          <a:ea typeface="Microsoft YaHei" panose="020B0503020204020204" pitchFamily="34" charset="-122"/>
                        </a:rPr>
                        <a:t>v</a:t>
                      </a:r>
                      <a:r>
                        <a:rPr lang="en-US" altLang="zh-CN" sz="2800" b="0" baseline="-25000" dirty="0" err="1">
                          <a:solidFill>
                            <a:schemeClr val="tx1"/>
                          </a:solidFill>
                          <a:latin typeface="Microsoft YaHei" panose="020B0503020204020204" pitchFamily="34" charset="-122"/>
                          <a:ea typeface="Microsoft YaHei" panose="020B0503020204020204" pitchFamily="34" charset="-122"/>
                        </a:rPr>
                        <a:t>o</a:t>
                      </a:r>
                      <a:endParaRPr lang="zh-CN" altLang="en-US" sz="2800" b="0" baseline="-25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Microsoft YaHei" panose="020B0503020204020204" pitchFamily="34" charset="-122"/>
                          <a:ea typeface="Microsoft YaHei" panose="020B0503020204020204" pitchFamily="34" charset="-122"/>
                        </a:rPr>
                        <a:t>D</a:t>
                      </a:r>
                      <a:r>
                        <a:rPr lang="en-US" altLang="zh-CN" sz="2000" baseline="-25000" dirty="0">
                          <a:solidFill>
                            <a:schemeClr val="tx1"/>
                          </a:solidFill>
                          <a:latin typeface="Microsoft YaHei" panose="020B0503020204020204" pitchFamily="34" charset="-122"/>
                          <a:ea typeface="Microsoft YaHei" panose="020B0503020204020204" pitchFamily="34" charset="-122"/>
                        </a:rPr>
                        <a:t>1</a:t>
                      </a:r>
                      <a:endParaRPr lang="zh-CN" altLang="en-US" sz="2000" baseline="-25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Microsoft YaHei" panose="020B0503020204020204" pitchFamily="34" charset="-122"/>
                          <a:ea typeface="Microsoft YaHei" panose="020B0503020204020204" pitchFamily="34" charset="-122"/>
                        </a:rPr>
                        <a:t>D</a:t>
                      </a:r>
                      <a:r>
                        <a:rPr lang="en-US" altLang="zh-CN" sz="2000" baseline="-25000" dirty="0">
                          <a:solidFill>
                            <a:schemeClr val="tx1"/>
                          </a:solidFill>
                          <a:latin typeface="Microsoft YaHei" panose="020B0503020204020204" pitchFamily="34" charset="-122"/>
                          <a:ea typeface="Microsoft YaHei" panose="020B0503020204020204" pitchFamily="34" charset="-122"/>
                        </a:rPr>
                        <a:t>2</a:t>
                      </a:r>
                      <a:endParaRPr lang="zh-CN" altLang="en-US" sz="2000" baseline="-25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CN" sz="2000" dirty="0">
                          <a:solidFill>
                            <a:schemeClr val="tx1"/>
                          </a:solidFill>
                          <a:latin typeface="Microsoft YaHei" panose="020B0503020204020204" pitchFamily="34" charset="-122"/>
                          <a:ea typeface="Microsoft YaHei" panose="020B0503020204020204" pitchFamily="34" charset="-122"/>
                        </a:rPr>
                        <a:t>0V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tx1"/>
                          </a:solidFill>
                          <a:latin typeface="Microsoft YaHei" panose="020B0503020204020204" pitchFamily="34" charset="-122"/>
                          <a:ea typeface="Microsoft YaHei" panose="020B0503020204020204" pitchFamily="34" charset="-122"/>
                        </a:rPr>
                        <a:t>0V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000" dirty="0">
                          <a:solidFill>
                            <a:schemeClr val="tx1"/>
                          </a:solidFill>
                          <a:latin typeface="Microsoft YaHei" panose="020B0503020204020204" pitchFamily="34" charset="-122"/>
                          <a:ea typeface="Microsoft YaHei" panose="020B0503020204020204" pitchFamily="34" charset="-122"/>
                        </a:rPr>
                        <a:t>导通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Microsoft YaHei" panose="020B0503020204020204" pitchFamily="34" charset="-122"/>
                          <a:ea typeface="Microsoft YaHei" panose="020B0503020204020204" pitchFamily="34" charset="-122"/>
                        </a:rPr>
                        <a:t>导通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Microsoft YaHei" panose="020B0503020204020204" pitchFamily="34" charset="-122"/>
                          <a:ea typeface="Microsoft YaHei" panose="020B0503020204020204" pitchFamily="34" charset="-122"/>
                        </a:rPr>
                        <a:t>0V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tx1"/>
                          </a:solidFill>
                          <a:latin typeface="Microsoft YaHei" panose="020B0503020204020204" pitchFamily="34" charset="-122"/>
                          <a:ea typeface="Microsoft YaHei" panose="020B0503020204020204" pitchFamily="34" charset="-122"/>
                        </a:rPr>
                        <a:t>0V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Microsoft YaHei" panose="020B0503020204020204" pitchFamily="34" charset="-122"/>
                          <a:ea typeface="Microsoft YaHei" panose="020B0503020204020204" pitchFamily="34" charset="-122"/>
                        </a:rPr>
                        <a:t>5V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Microsoft YaHei" panose="020B0503020204020204" pitchFamily="34" charset="-122"/>
                          <a:ea typeface="Microsoft YaHei" panose="020B0503020204020204" pitchFamily="34" charset="-122"/>
                        </a:rPr>
                        <a:t>导通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000" dirty="0">
                          <a:solidFill>
                            <a:schemeClr val="tx1"/>
                          </a:solidFill>
                          <a:latin typeface="Microsoft YaHei" panose="020B0503020204020204" pitchFamily="34" charset="-122"/>
                          <a:ea typeface="Microsoft YaHei" panose="020B0503020204020204" pitchFamily="34" charset="-122"/>
                        </a:rPr>
                        <a:t>截止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Microsoft YaHei" panose="020B0503020204020204" pitchFamily="34" charset="-122"/>
                          <a:ea typeface="Microsoft YaHei" panose="020B0503020204020204" pitchFamily="34" charset="-122"/>
                        </a:rPr>
                        <a:t>0V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sz="2000" dirty="0">
                          <a:solidFill>
                            <a:schemeClr val="tx1"/>
                          </a:solidFill>
                          <a:latin typeface="Microsoft YaHei" panose="020B0503020204020204" pitchFamily="34" charset="-122"/>
                          <a:ea typeface="Microsoft YaHei" panose="020B0503020204020204" pitchFamily="34" charset="-122"/>
                        </a:rPr>
                        <a:t>5V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tx1"/>
                          </a:solidFill>
                          <a:latin typeface="Microsoft YaHei" panose="020B0503020204020204" pitchFamily="34" charset="-122"/>
                          <a:ea typeface="Microsoft YaHei" panose="020B0503020204020204" pitchFamily="34" charset="-122"/>
                        </a:rPr>
                        <a:t>0V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000" dirty="0">
                          <a:solidFill>
                            <a:schemeClr val="tx1"/>
                          </a:solidFill>
                          <a:latin typeface="Microsoft YaHei" panose="020B0503020204020204" pitchFamily="34" charset="-122"/>
                          <a:ea typeface="Microsoft YaHei" panose="020B0503020204020204" pitchFamily="34" charset="-122"/>
                        </a:rPr>
                        <a:t>截止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Microsoft YaHei" panose="020B0503020204020204" pitchFamily="34" charset="-122"/>
                          <a:ea typeface="Microsoft YaHei" panose="020B0503020204020204" pitchFamily="34" charset="-122"/>
                        </a:rPr>
                        <a:t>导通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Microsoft YaHei" panose="020B0503020204020204" pitchFamily="34" charset="-122"/>
                          <a:ea typeface="Microsoft YaHei" panose="020B0503020204020204" pitchFamily="34" charset="-122"/>
                        </a:rPr>
                        <a:t>0V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en-US" altLang="zh-CN" sz="2000" dirty="0">
                          <a:solidFill>
                            <a:schemeClr val="tx1"/>
                          </a:solidFill>
                          <a:latin typeface="Microsoft YaHei" panose="020B0503020204020204" pitchFamily="34" charset="-122"/>
                          <a:ea typeface="Microsoft YaHei" panose="020B0503020204020204" pitchFamily="34" charset="-122"/>
                        </a:rPr>
                        <a:t>5V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Microsoft YaHei" panose="020B0503020204020204" pitchFamily="34" charset="-122"/>
                          <a:ea typeface="Microsoft YaHei" panose="020B0503020204020204" pitchFamily="34" charset="-122"/>
                        </a:rPr>
                        <a:t>5V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000" dirty="0">
                          <a:solidFill>
                            <a:schemeClr val="tx1"/>
                          </a:solidFill>
                          <a:latin typeface="Microsoft YaHei" panose="020B0503020204020204" pitchFamily="34" charset="-122"/>
                          <a:ea typeface="Microsoft YaHei" panose="020B0503020204020204" pitchFamily="34" charset="-122"/>
                        </a:rPr>
                        <a:t>截止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2000" dirty="0">
                          <a:solidFill>
                            <a:schemeClr val="tx1"/>
                          </a:solidFill>
                          <a:latin typeface="Microsoft YaHei" panose="020B0503020204020204" pitchFamily="34" charset="-122"/>
                          <a:ea typeface="Microsoft YaHei" panose="020B0503020204020204" pitchFamily="34" charset="-122"/>
                        </a:rPr>
                        <a:t>截止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tx1"/>
                          </a:solidFill>
                          <a:latin typeface="Microsoft YaHei" panose="020B0503020204020204" pitchFamily="34" charset="-122"/>
                          <a:ea typeface="Microsoft YaHei" panose="020B0503020204020204" pitchFamily="34" charset="-122"/>
                        </a:rPr>
                        <a:t>5V</a:t>
                      </a:r>
                      <a:endParaRPr lang="zh-CN" altLang="en-US" sz="200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81346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EFC3D4-6D63-4E77-F3D2-D4F949BEC72D}"/>
              </a:ext>
            </a:extLst>
          </p:cNvPr>
          <p:cNvSpPr>
            <a:spLocks noGrp="1"/>
          </p:cNvSpPr>
          <p:nvPr>
            <p:ph type="title"/>
          </p:nvPr>
        </p:nvSpPr>
        <p:spPr/>
        <p:txBody>
          <a:bodyPr>
            <a:normAutofit fontScale="90000"/>
          </a:bodyPr>
          <a:lstStyle/>
          <a:p>
            <a:r>
              <a:rPr lang="zh-CN" altLang="en-US" dirty="0"/>
              <a:t>稳压二极管</a:t>
            </a:r>
            <a:endParaRPr kumimoji="1" lang="zh-CN" altLang="en-US" dirty="0"/>
          </a:p>
        </p:txBody>
      </p:sp>
      <p:sp>
        <p:nvSpPr>
          <p:cNvPr id="3" name="内容占位符 2">
            <a:extLst>
              <a:ext uri="{FF2B5EF4-FFF2-40B4-BE49-F238E27FC236}">
                <a16:creationId xmlns:a16="http://schemas.microsoft.com/office/drawing/2014/main" id="{694F6E00-EC60-5ED7-655C-4605F3B4887F}"/>
              </a:ext>
            </a:extLst>
          </p:cNvPr>
          <p:cNvSpPr>
            <a:spLocks noGrp="1"/>
          </p:cNvSpPr>
          <p:nvPr>
            <p:ph idx="1"/>
          </p:nvPr>
        </p:nvSpPr>
        <p:spPr/>
        <p:txBody>
          <a:bodyPr/>
          <a:lstStyle/>
          <a:p>
            <a:r>
              <a:rPr lang="zh-CN" altLang="en-US" dirty="0"/>
              <a:t>正向特性与普通管类似</a:t>
            </a:r>
          </a:p>
          <a:p>
            <a:r>
              <a:rPr lang="zh-CN" altLang="en-US" dirty="0"/>
              <a:t>反向击穿特性很陡</a:t>
            </a:r>
          </a:p>
          <a:p>
            <a:pPr lvl="1"/>
            <a:r>
              <a:rPr lang="zh-CN" altLang="en-US" dirty="0"/>
              <a:t>稳压管通常工作于反向电击穿状态</a:t>
            </a:r>
          </a:p>
          <a:p>
            <a:r>
              <a:rPr lang="zh-CN" altLang="en-US" dirty="0"/>
              <a:t>主要参数</a:t>
            </a:r>
          </a:p>
          <a:p>
            <a:pPr lvl="1"/>
            <a:r>
              <a:rPr lang="zh-CN" altLang="en-US" dirty="0"/>
              <a:t>稳定电压</a:t>
            </a:r>
            <a:r>
              <a:rPr lang="en-US" altLang="zh-CN" dirty="0"/>
              <a:t>V</a:t>
            </a:r>
            <a:r>
              <a:rPr lang="en-US" altLang="zh-CN" sz="1800" dirty="0"/>
              <a:t>Z</a:t>
            </a:r>
          </a:p>
          <a:p>
            <a:pPr lvl="1"/>
            <a:r>
              <a:rPr lang="zh-CN" altLang="en-US" dirty="0"/>
              <a:t>动态电阻</a:t>
            </a:r>
            <a:r>
              <a:rPr lang="en-US" altLang="zh-CN" sz="3200" dirty="0" err="1"/>
              <a:t>r</a:t>
            </a:r>
            <a:r>
              <a:rPr lang="en-US" altLang="zh-CN" dirty="0" err="1"/>
              <a:t>z</a:t>
            </a:r>
            <a:endParaRPr lang="en-US" altLang="zh-CN" dirty="0"/>
          </a:p>
          <a:p>
            <a:pPr lvl="1"/>
            <a:r>
              <a:rPr lang="zh-CN" altLang="en-US" dirty="0"/>
              <a:t>最大允许工作电流</a:t>
            </a:r>
            <a:r>
              <a:rPr lang="en-US" altLang="zh-CN" dirty="0"/>
              <a:t>I</a:t>
            </a:r>
            <a:r>
              <a:rPr lang="en-US" altLang="zh-CN" sz="1800" dirty="0"/>
              <a:t>ZM</a:t>
            </a:r>
          </a:p>
          <a:p>
            <a:pPr lvl="1"/>
            <a:r>
              <a:rPr lang="zh-CN" altLang="en-US" dirty="0"/>
              <a:t>最大允许耗散功率</a:t>
            </a:r>
            <a:r>
              <a:rPr lang="en-US" altLang="zh-CN" dirty="0"/>
              <a:t>P</a:t>
            </a:r>
            <a:r>
              <a:rPr lang="en-US" altLang="zh-CN" sz="1800" dirty="0"/>
              <a:t>ZM</a:t>
            </a:r>
            <a:endParaRPr lang="zh-CN" altLang="en-US" sz="1800" dirty="0"/>
          </a:p>
          <a:p>
            <a:endParaRPr kumimoji="1" lang="zh-CN" altLang="en-US" dirty="0"/>
          </a:p>
        </p:txBody>
      </p:sp>
      <p:sp>
        <p:nvSpPr>
          <p:cNvPr id="4" name="页脚占位符 3">
            <a:extLst>
              <a:ext uri="{FF2B5EF4-FFF2-40B4-BE49-F238E27FC236}">
                <a16:creationId xmlns:a16="http://schemas.microsoft.com/office/drawing/2014/main" id="{A64FBFC7-8680-9840-A377-A926C66F59FD}"/>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34B10AA2-7585-0352-8984-F6D33D8C9DB7}"/>
              </a:ext>
            </a:extLst>
          </p:cNvPr>
          <p:cNvSpPr>
            <a:spLocks noGrp="1"/>
          </p:cNvSpPr>
          <p:nvPr>
            <p:ph type="sldNum" sz="quarter" idx="12"/>
          </p:nvPr>
        </p:nvSpPr>
        <p:spPr/>
        <p:txBody>
          <a:bodyPr/>
          <a:lstStyle/>
          <a:p>
            <a:fld id="{9E260BC5-5BF3-8746-862B-DC45E9CAA88B}" type="slidenum">
              <a:rPr lang="en-US" smtClean="0"/>
              <a:pPr/>
              <a:t>29</a:t>
            </a:fld>
            <a:r>
              <a:rPr lang="en-US" altLang="zh-CN" dirty="0"/>
              <a:t>/33</a:t>
            </a:r>
            <a:endParaRPr lang="en-US" dirty="0"/>
          </a:p>
        </p:txBody>
      </p:sp>
      <p:sp>
        <p:nvSpPr>
          <p:cNvPr id="6" name="Text Box 11">
            <a:extLst>
              <a:ext uri="{FF2B5EF4-FFF2-40B4-BE49-F238E27FC236}">
                <a16:creationId xmlns:a16="http://schemas.microsoft.com/office/drawing/2014/main" id="{E11B5B21-C963-B35F-B489-E123B45BA28C}"/>
              </a:ext>
            </a:extLst>
          </p:cNvPr>
          <p:cNvSpPr txBox="1">
            <a:spLocks noChangeArrowheads="1"/>
          </p:cNvSpPr>
          <p:nvPr/>
        </p:nvSpPr>
        <p:spPr bwMode="auto">
          <a:xfrm>
            <a:off x="450278" y="5382588"/>
            <a:ext cx="3176588" cy="528637"/>
          </a:xfrm>
          <a:prstGeom prst="rect">
            <a:avLst/>
          </a:prstGeom>
          <a:solidFill>
            <a:schemeClr val="accent1">
              <a:lumMod val="20000"/>
              <a:lumOff val="80000"/>
            </a:schemeClr>
          </a:solidFill>
          <a:ln w="9525">
            <a:solidFill>
              <a:schemeClr val="accent1">
                <a:lumMod val="50000"/>
              </a:schemeClr>
            </a:solidFill>
            <a:miter lim="800000"/>
            <a:headEnd/>
            <a:tailEnd/>
          </a:ln>
        </p:spPr>
        <p:txBody>
          <a:bodyPr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0"/>
              </a:spcAft>
              <a:buFontTx/>
              <a:buNone/>
            </a:pPr>
            <a:r>
              <a:rPr kumimoji="1" lang="en-US" altLang="zh-CN" b="0" i="1" dirty="0">
                <a:solidFill>
                  <a:srgbClr val="000000"/>
                </a:solidFill>
                <a:ea typeface="楷体_GB2312" pitchFamily="49" charset="-122"/>
              </a:rPr>
              <a:t>I</a:t>
            </a:r>
            <a:r>
              <a:rPr kumimoji="1" lang="en-US" altLang="zh-CN" b="0" baseline="-25000" dirty="0">
                <a:solidFill>
                  <a:srgbClr val="000000"/>
                </a:solidFill>
                <a:ea typeface="楷体_GB2312" pitchFamily="49" charset="-122"/>
              </a:rPr>
              <a:t>Z(min)</a:t>
            </a:r>
            <a:r>
              <a:rPr kumimoji="1" lang="en-US" altLang="zh-CN" b="0" dirty="0">
                <a:solidFill>
                  <a:srgbClr val="000000"/>
                </a:solidFill>
                <a:ea typeface="楷体_GB2312" pitchFamily="49" charset="-122"/>
              </a:rPr>
              <a:t> ≤ </a:t>
            </a:r>
            <a:r>
              <a:rPr kumimoji="1" lang="en-US" altLang="zh-CN" b="0" i="1" dirty="0">
                <a:solidFill>
                  <a:srgbClr val="000000"/>
                </a:solidFill>
                <a:ea typeface="楷体_GB2312" pitchFamily="49" charset="-122"/>
              </a:rPr>
              <a:t>I</a:t>
            </a:r>
            <a:r>
              <a:rPr kumimoji="1" lang="en-US" altLang="zh-CN" b="0" baseline="-25000" dirty="0">
                <a:solidFill>
                  <a:srgbClr val="000000"/>
                </a:solidFill>
                <a:ea typeface="楷体_GB2312" pitchFamily="49" charset="-122"/>
              </a:rPr>
              <a:t>Z</a:t>
            </a:r>
            <a:r>
              <a:rPr kumimoji="1" lang="en-US" altLang="zh-CN" b="0" dirty="0">
                <a:solidFill>
                  <a:srgbClr val="000000"/>
                </a:solidFill>
                <a:ea typeface="楷体_GB2312" pitchFamily="49" charset="-122"/>
              </a:rPr>
              <a:t> ≤ </a:t>
            </a:r>
            <a:r>
              <a:rPr kumimoji="1" lang="en-US" altLang="zh-CN" b="0" i="1" dirty="0">
                <a:solidFill>
                  <a:srgbClr val="000000"/>
                </a:solidFill>
                <a:ea typeface="楷体_GB2312" pitchFamily="49" charset="-122"/>
              </a:rPr>
              <a:t>I</a:t>
            </a:r>
            <a:r>
              <a:rPr kumimoji="1" lang="en-US" altLang="zh-CN" b="0" baseline="-25000" dirty="0">
                <a:solidFill>
                  <a:srgbClr val="000000"/>
                </a:solidFill>
                <a:ea typeface="楷体_GB2312" pitchFamily="49" charset="-122"/>
              </a:rPr>
              <a:t>Z(max)</a:t>
            </a:r>
            <a:endParaRPr kumimoji="1" lang="en-US" altLang="zh-CN" b="0" dirty="0">
              <a:solidFill>
                <a:srgbClr val="000000"/>
              </a:solidFill>
              <a:ea typeface="楷体_GB2312" pitchFamily="49" charset="-122"/>
            </a:endParaRPr>
          </a:p>
        </p:txBody>
      </p:sp>
      <p:pic>
        <p:nvPicPr>
          <p:cNvPr id="7" name="Picture 4">
            <a:extLst>
              <a:ext uri="{FF2B5EF4-FFF2-40B4-BE49-F238E27FC236}">
                <a16:creationId xmlns:a16="http://schemas.microsoft.com/office/drawing/2014/main" id="{84A84C88-ED72-8879-F266-2685D2DCBC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0695" y="1649556"/>
            <a:ext cx="3829050" cy="3819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Rectangle 5">
            <a:extLst>
              <a:ext uri="{FF2B5EF4-FFF2-40B4-BE49-F238E27FC236}">
                <a16:creationId xmlns:a16="http://schemas.microsoft.com/office/drawing/2014/main" id="{4C22606D-5F1B-68EE-02C8-C034F63BA2CF}"/>
              </a:ext>
            </a:extLst>
          </p:cNvPr>
          <p:cNvSpPr>
            <a:spLocks noChangeArrowheads="1"/>
          </p:cNvSpPr>
          <p:nvPr/>
        </p:nvSpPr>
        <p:spPr bwMode="auto">
          <a:xfrm>
            <a:off x="6789420" y="5707206"/>
            <a:ext cx="14097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2400">
                <a:latin typeface="Arial" panose="020B0604020202020204" pitchFamily="34" charset="0"/>
              </a:rPr>
              <a:t>伏安特性</a:t>
            </a:r>
          </a:p>
        </p:txBody>
      </p:sp>
    </p:spTree>
    <p:extLst>
      <p:ext uri="{BB962C8B-B14F-4D97-AF65-F5344CB8AC3E}">
        <p14:creationId xmlns:p14="http://schemas.microsoft.com/office/powerpoint/2010/main" val="362844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6D6320-AD6B-960C-74F4-4027B0F1FCEA}"/>
              </a:ext>
            </a:extLst>
          </p:cNvPr>
          <p:cNvSpPr>
            <a:spLocks noGrp="1"/>
          </p:cNvSpPr>
          <p:nvPr>
            <p:ph type="title"/>
          </p:nvPr>
        </p:nvSpPr>
        <p:spPr/>
        <p:txBody>
          <a:bodyPr>
            <a:normAutofit fontScale="90000"/>
          </a:bodyPr>
          <a:lstStyle/>
          <a:p>
            <a:r>
              <a:rPr lang="zh-CN" altLang="en-US" dirty="0"/>
              <a:t>稳压管电路及稳压原理 </a:t>
            </a:r>
            <a:endParaRPr kumimoji="1" lang="zh-CN" altLang="en-US" dirty="0"/>
          </a:p>
        </p:txBody>
      </p:sp>
      <p:sp>
        <p:nvSpPr>
          <p:cNvPr id="4" name="页脚占位符 3">
            <a:extLst>
              <a:ext uri="{FF2B5EF4-FFF2-40B4-BE49-F238E27FC236}">
                <a16:creationId xmlns:a16="http://schemas.microsoft.com/office/drawing/2014/main" id="{5E79249B-2F79-7E63-005A-11209F6AF6C8}"/>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E9026115-2957-3747-E851-FBDE753CAAE2}"/>
              </a:ext>
            </a:extLst>
          </p:cNvPr>
          <p:cNvSpPr>
            <a:spLocks noGrp="1"/>
          </p:cNvSpPr>
          <p:nvPr>
            <p:ph type="sldNum" sz="quarter" idx="12"/>
          </p:nvPr>
        </p:nvSpPr>
        <p:spPr/>
        <p:txBody>
          <a:bodyPr/>
          <a:lstStyle/>
          <a:p>
            <a:fld id="{9E260BC5-5BF3-8746-862B-DC45E9CAA88B}" type="slidenum">
              <a:rPr lang="en-US" smtClean="0"/>
              <a:pPr/>
              <a:t>30</a:t>
            </a:fld>
            <a:r>
              <a:rPr lang="en-US" altLang="zh-CN" dirty="0"/>
              <a:t>/33</a:t>
            </a:r>
            <a:endParaRPr lang="en-US" dirty="0"/>
          </a:p>
        </p:txBody>
      </p:sp>
      <p:sp>
        <p:nvSpPr>
          <p:cNvPr id="6" name="Text Box 3">
            <a:extLst>
              <a:ext uri="{FF2B5EF4-FFF2-40B4-BE49-F238E27FC236}">
                <a16:creationId xmlns:a16="http://schemas.microsoft.com/office/drawing/2014/main" id="{4766A660-32BF-0065-09F2-809C42ED7862}"/>
              </a:ext>
            </a:extLst>
          </p:cNvPr>
          <p:cNvSpPr txBox="1">
            <a:spLocks noChangeArrowheads="1"/>
          </p:cNvSpPr>
          <p:nvPr/>
        </p:nvSpPr>
        <p:spPr bwMode="auto">
          <a:xfrm>
            <a:off x="1813966" y="4055477"/>
            <a:ext cx="2519363"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b="0" i="1">
                <a:cs typeface="Times New Roman" panose="02020603050405020304" pitchFamily="18" charset="0"/>
              </a:rPr>
              <a:t>R </a:t>
            </a:r>
            <a:r>
              <a:rPr kumimoji="1" lang="en-US" altLang="zh-CN" b="0">
                <a:cs typeface="Times New Roman" panose="02020603050405020304" pitchFamily="18" charset="0"/>
              </a:rPr>
              <a:t>— </a:t>
            </a:r>
            <a:r>
              <a:rPr kumimoji="1" lang="zh-CN" altLang="en-US" b="0">
                <a:cs typeface="Times New Roman" panose="02020603050405020304" pitchFamily="18" charset="0"/>
              </a:rPr>
              <a:t>限流电阻</a:t>
            </a:r>
          </a:p>
        </p:txBody>
      </p:sp>
      <p:grpSp>
        <p:nvGrpSpPr>
          <p:cNvPr id="7" name="组合 47">
            <a:extLst>
              <a:ext uri="{FF2B5EF4-FFF2-40B4-BE49-F238E27FC236}">
                <a16:creationId xmlns:a16="http://schemas.microsoft.com/office/drawing/2014/main" id="{F6C803D2-F2DE-C23F-2725-16E684B6D2A8}"/>
              </a:ext>
            </a:extLst>
          </p:cNvPr>
          <p:cNvGrpSpPr>
            <a:grpSpLocks/>
          </p:cNvGrpSpPr>
          <p:nvPr/>
        </p:nvGrpSpPr>
        <p:grpSpPr bwMode="auto">
          <a:xfrm>
            <a:off x="1010691" y="1170989"/>
            <a:ext cx="3910013" cy="2555875"/>
            <a:chOff x="626140" y="1311246"/>
            <a:chExt cx="4785659" cy="2811492"/>
          </a:xfrm>
        </p:grpSpPr>
        <p:sp>
          <p:nvSpPr>
            <p:cNvPr id="8" name="Rectangle 4">
              <a:extLst>
                <a:ext uri="{FF2B5EF4-FFF2-40B4-BE49-F238E27FC236}">
                  <a16:creationId xmlns:a16="http://schemas.microsoft.com/office/drawing/2014/main" id="{648E9071-9506-CEF6-1D9D-4E63BA860584}"/>
                </a:ext>
              </a:extLst>
            </p:cNvPr>
            <p:cNvSpPr>
              <a:spLocks noChangeArrowheads="1"/>
            </p:cNvSpPr>
            <p:nvPr/>
          </p:nvSpPr>
          <p:spPr bwMode="auto">
            <a:xfrm>
              <a:off x="3990053" y="1438275"/>
              <a:ext cx="325437" cy="427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i="1">
                  <a:ea typeface="楷体_GB2312" pitchFamily="49" charset="-122"/>
                </a:rPr>
                <a:t>I</a:t>
              </a:r>
              <a:r>
                <a:rPr kumimoji="1" lang="en-US" altLang="zh-CN" baseline="-25000">
                  <a:ea typeface="楷体_GB2312" pitchFamily="49" charset="-122"/>
                </a:rPr>
                <a:t>O</a:t>
              </a:r>
            </a:p>
          </p:txBody>
        </p:sp>
        <p:sp>
          <p:nvSpPr>
            <p:cNvPr id="9" name="Line 5">
              <a:extLst>
                <a:ext uri="{FF2B5EF4-FFF2-40B4-BE49-F238E27FC236}">
                  <a16:creationId xmlns:a16="http://schemas.microsoft.com/office/drawing/2014/main" id="{BA941A4F-1F82-6ADC-2A1B-15B4171DA419}"/>
                </a:ext>
              </a:extLst>
            </p:cNvPr>
            <p:cNvSpPr>
              <a:spLocks noChangeShapeType="1"/>
            </p:cNvSpPr>
            <p:nvPr/>
          </p:nvSpPr>
          <p:spPr bwMode="auto">
            <a:xfrm flipV="1">
              <a:off x="4733003" y="3341688"/>
              <a:ext cx="0" cy="742950"/>
            </a:xfrm>
            <a:prstGeom prst="line">
              <a:avLst/>
            </a:prstGeom>
            <a:noFill/>
            <a:ln w="36513">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 name="Line 6">
              <a:extLst>
                <a:ext uri="{FF2B5EF4-FFF2-40B4-BE49-F238E27FC236}">
                  <a16:creationId xmlns:a16="http://schemas.microsoft.com/office/drawing/2014/main" id="{B0B28089-8228-1560-C7F8-B4FD44346F55}"/>
                </a:ext>
              </a:extLst>
            </p:cNvPr>
            <p:cNvSpPr>
              <a:spLocks noChangeShapeType="1"/>
            </p:cNvSpPr>
            <p:nvPr/>
          </p:nvSpPr>
          <p:spPr bwMode="auto">
            <a:xfrm>
              <a:off x="3459828" y="2087563"/>
              <a:ext cx="1587" cy="1984375"/>
            </a:xfrm>
            <a:prstGeom prst="line">
              <a:avLst/>
            </a:prstGeom>
            <a:noFill/>
            <a:ln w="38100">
              <a:solidFill>
                <a:schemeClr val="tx1"/>
              </a:solidFill>
              <a:round/>
              <a:headEnd type="oval" w="med" len="med"/>
              <a:tailEnd type="oval" w="med" len="med"/>
            </a:ln>
            <a:extLst>
              <a:ext uri="{909E8E84-426E-40dd-AFC4-6F175D3DCCD1}">
                <a14:hiddenFill xmlns="" xmlns:a14="http://schemas.microsoft.com/office/drawing/2010/main">
                  <a:noFill/>
                </a14:hiddenFill>
              </a:ext>
            </a:extLst>
          </p:spPr>
          <p:txBody>
            <a:bodyPr/>
            <a:lstStyle/>
            <a:p>
              <a:endParaRPr lang="zh-CN" altLang="en-US"/>
            </a:p>
          </p:txBody>
        </p:sp>
        <p:sp>
          <p:nvSpPr>
            <p:cNvPr id="11" name="Rectangle 7">
              <a:extLst>
                <a:ext uri="{FF2B5EF4-FFF2-40B4-BE49-F238E27FC236}">
                  <a16:creationId xmlns:a16="http://schemas.microsoft.com/office/drawing/2014/main" id="{ABD3D44C-57E6-5FBF-62A3-B18C88AA6F6B}"/>
                </a:ext>
              </a:extLst>
            </p:cNvPr>
            <p:cNvSpPr>
              <a:spLocks noChangeArrowheads="1"/>
            </p:cNvSpPr>
            <p:nvPr/>
          </p:nvSpPr>
          <p:spPr bwMode="auto">
            <a:xfrm>
              <a:off x="2481928" y="2925763"/>
              <a:ext cx="569912" cy="427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a:ea typeface="楷体_GB2312" pitchFamily="49" charset="-122"/>
                </a:rPr>
                <a:t>D</a:t>
              </a:r>
              <a:r>
                <a:rPr kumimoji="1" lang="en-US" altLang="zh-CN" baseline="-25000">
                  <a:ea typeface="楷体_GB2312" pitchFamily="49" charset="-122"/>
                </a:rPr>
                <a:t>Z</a:t>
              </a:r>
            </a:p>
          </p:txBody>
        </p:sp>
        <p:sp>
          <p:nvSpPr>
            <p:cNvPr id="12" name="Rectangle 8">
              <a:extLst>
                <a:ext uri="{FF2B5EF4-FFF2-40B4-BE49-F238E27FC236}">
                  <a16:creationId xmlns:a16="http://schemas.microsoft.com/office/drawing/2014/main" id="{B6AD2C5F-C079-D0B4-D5DE-3680533004C5}"/>
                </a:ext>
              </a:extLst>
            </p:cNvPr>
            <p:cNvSpPr>
              <a:spLocks noChangeArrowheads="1"/>
            </p:cNvSpPr>
            <p:nvPr/>
          </p:nvSpPr>
          <p:spPr bwMode="auto">
            <a:xfrm>
              <a:off x="2713703" y="2327275"/>
              <a:ext cx="420687" cy="427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i="1">
                  <a:ea typeface="楷体_GB2312" pitchFamily="49" charset="-122"/>
                </a:rPr>
                <a:t>I</a:t>
              </a:r>
              <a:r>
                <a:rPr kumimoji="1" lang="en-US" altLang="zh-CN" baseline="-25000">
                  <a:ea typeface="楷体_GB2312" pitchFamily="49" charset="-122"/>
                </a:rPr>
                <a:t>Z</a:t>
              </a:r>
            </a:p>
          </p:txBody>
        </p:sp>
        <p:sp>
          <p:nvSpPr>
            <p:cNvPr id="13" name="Rectangle 9">
              <a:extLst>
                <a:ext uri="{FF2B5EF4-FFF2-40B4-BE49-F238E27FC236}">
                  <a16:creationId xmlns:a16="http://schemas.microsoft.com/office/drawing/2014/main" id="{74D26D52-18D4-61AC-B194-7F03E406360E}"/>
                </a:ext>
              </a:extLst>
            </p:cNvPr>
            <p:cNvSpPr>
              <a:spLocks noChangeArrowheads="1"/>
            </p:cNvSpPr>
            <p:nvPr/>
          </p:nvSpPr>
          <p:spPr bwMode="auto">
            <a:xfrm>
              <a:off x="4077365" y="2827338"/>
              <a:ext cx="396875" cy="427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i="1">
                  <a:ea typeface="楷体_GB2312" pitchFamily="49" charset="-122"/>
                </a:rPr>
                <a:t>R</a:t>
              </a:r>
              <a:r>
                <a:rPr kumimoji="1" lang="en-US" altLang="zh-CN" baseline="-25000">
                  <a:ea typeface="楷体_GB2312" pitchFamily="49" charset="-122"/>
                </a:rPr>
                <a:t>L</a:t>
              </a:r>
            </a:p>
          </p:txBody>
        </p:sp>
        <p:sp>
          <p:nvSpPr>
            <p:cNvPr id="14" name="Rectangle 10">
              <a:extLst>
                <a:ext uri="{FF2B5EF4-FFF2-40B4-BE49-F238E27FC236}">
                  <a16:creationId xmlns:a16="http://schemas.microsoft.com/office/drawing/2014/main" id="{A350402B-3B17-BF7D-40C1-DC25AA82B148}"/>
                </a:ext>
              </a:extLst>
            </p:cNvPr>
            <p:cNvSpPr>
              <a:spLocks noChangeArrowheads="1"/>
            </p:cNvSpPr>
            <p:nvPr/>
          </p:nvSpPr>
          <p:spPr bwMode="auto">
            <a:xfrm>
              <a:off x="4987003" y="2830513"/>
              <a:ext cx="424796"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i="1">
                  <a:ea typeface="楷体_GB2312" pitchFamily="49" charset="-122"/>
                </a:rPr>
                <a:t>V</a:t>
              </a:r>
              <a:r>
                <a:rPr kumimoji="1" lang="en-US" altLang="zh-CN" baseline="-25000">
                  <a:ea typeface="楷体_GB2312" pitchFamily="49" charset="-122"/>
                </a:rPr>
                <a:t>O</a:t>
              </a:r>
            </a:p>
          </p:txBody>
        </p:sp>
        <p:sp>
          <p:nvSpPr>
            <p:cNvPr id="15" name="Rectangle 11">
              <a:extLst>
                <a:ext uri="{FF2B5EF4-FFF2-40B4-BE49-F238E27FC236}">
                  <a16:creationId xmlns:a16="http://schemas.microsoft.com/office/drawing/2014/main" id="{106DBC40-7D3A-7620-995F-06A610B47A3E}"/>
                </a:ext>
              </a:extLst>
            </p:cNvPr>
            <p:cNvSpPr>
              <a:spLocks noChangeArrowheads="1"/>
            </p:cNvSpPr>
            <p:nvPr/>
          </p:nvSpPr>
          <p:spPr bwMode="auto">
            <a:xfrm>
              <a:off x="626140" y="2957513"/>
              <a:ext cx="331822"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i="1">
                  <a:ea typeface="楷体_GB2312" pitchFamily="49" charset="-122"/>
                </a:rPr>
                <a:t>V</a:t>
              </a:r>
              <a:r>
                <a:rPr kumimoji="1" lang="en-US" altLang="zh-CN" baseline="-25000">
                  <a:ea typeface="楷体_GB2312" pitchFamily="49" charset="-122"/>
                </a:rPr>
                <a:t>I</a:t>
              </a:r>
            </a:p>
          </p:txBody>
        </p:sp>
        <p:sp>
          <p:nvSpPr>
            <p:cNvPr id="16" name="Rectangle 12">
              <a:extLst>
                <a:ext uri="{FF2B5EF4-FFF2-40B4-BE49-F238E27FC236}">
                  <a16:creationId xmlns:a16="http://schemas.microsoft.com/office/drawing/2014/main" id="{799E8FD2-BED8-E516-F605-61E707DC167B}"/>
                </a:ext>
              </a:extLst>
            </p:cNvPr>
            <p:cNvSpPr>
              <a:spLocks noChangeArrowheads="1"/>
            </p:cNvSpPr>
            <p:nvPr/>
          </p:nvSpPr>
          <p:spPr bwMode="auto">
            <a:xfrm>
              <a:off x="1977094" y="2224071"/>
              <a:ext cx="236537" cy="427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i="1">
                  <a:ea typeface="楷体_GB2312" pitchFamily="49" charset="-122"/>
                </a:rPr>
                <a:t>R</a:t>
              </a:r>
              <a:endParaRPr kumimoji="1" lang="en-US" altLang="zh-CN">
                <a:ea typeface="楷体_GB2312" pitchFamily="49" charset="-122"/>
              </a:endParaRPr>
            </a:p>
          </p:txBody>
        </p:sp>
        <p:sp>
          <p:nvSpPr>
            <p:cNvPr id="17" name="Rectangle 13">
              <a:extLst>
                <a:ext uri="{FF2B5EF4-FFF2-40B4-BE49-F238E27FC236}">
                  <a16:creationId xmlns:a16="http://schemas.microsoft.com/office/drawing/2014/main" id="{71DCAA53-946A-394C-AB2E-5C1200672FA9}"/>
                </a:ext>
              </a:extLst>
            </p:cNvPr>
            <p:cNvSpPr>
              <a:spLocks noChangeArrowheads="1"/>
            </p:cNvSpPr>
            <p:nvPr/>
          </p:nvSpPr>
          <p:spPr bwMode="auto">
            <a:xfrm>
              <a:off x="2013607" y="1311246"/>
              <a:ext cx="138112" cy="427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i="1">
                  <a:ea typeface="楷体_GB2312" pitchFamily="49" charset="-122"/>
                </a:rPr>
                <a:t>I</a:t>
              </a:r>
              <a:endParaRPr kumimoji="1" lang="en-US" altLang="zh-CN">
                <a:ea typeface="楷体_GB2312" pitchFamily="49" charset="-122"/>
              </a:endParaRPr>
            </a:p>
          </p:txBody>
        </p:sp>
        <p:sp>
          <p:nvSpPr>
            <p:cNvPr id="18" name="Line 14">
              <a:extLst>
                <a:ext uri="{FF2B5EF4-FFF2-40B4-BE49-F238E27FC236}">
                  <a16:creationId xmlns:a16="http://schemas.microsoft.com/office/drawing/2014/main" id="{BD4AF734-0CBD-369D-3A81-ADA89BFD6E05}"/>
                </a:ext>
              </a:extLst>
            </p:cNvPr>
            <p:cNvSpPr>
              <a:spLocks noChangeShapeType="1"/>
            </p:cNvSpPr>
            <p:nvPr/>
          </p:nvSpPr>
          <p:spPr bwMode="auto">
            <a:xfrm>
              <a:off x="4725065" y="2071688"/>
              <a:ext cx="0" cy="665162"/>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wrap="none"/>
            <a:lstStyle/>
            <a:p>
              <a:endParaRPr lang="zh-CN" altLang="en-US"/>
            </a:p>
          </p:txBody>
        </p:sp>
        <p:sp>
          <p:nvSpPr>
            <p:cNvPr id="19" name="Line 15">
              <a:extLst>
                <a:ext uri="{FF2B5EF4-FFF2-40B4-BE49-F238E27FC236}">
                  <a16:creationId xmlns:a16="http://schemas.microsoft.com/office/drawing/2014/main" id="{15FDCBF4-E4DF-1235-25D4-228757E50968}"/>
                </a:ext>
              </a:extLst>
            </p:cNvPr>
            <p:cNvSpPr>
              <a:spLocks noChangeShapeType="1"/>
            </p:cNvSpPr>
            <p:nvPr/>
          </p:nvSpPr>
          <p:spPr bwMode="auto">
            <a:xfrm flipH="1">
              <a:off x="2499390" y="2085975"/>
              <a:ext cx="2239963" cy="0"/>
            </a:xfrm>
            <a:prstGeom prst="line">
              <a:avLst/>
            </a:prstGeom>
            <a:noFill/>
            <a:ln w="36513">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0" name="Rectangle 16">
              <a:extLst>
                <a:ext uri="{FF2B5EF4-FFF2-40B4-BE49-F238E27FC236}">
                  <a16:creationId xmlns:a16="http://schemas.microsoft.com/office/drawing/2014/main" id="{CF4952E5-C540-3982-01A5-768DC0FAAA07}"/>
                </a:ext>
              </a:extLst>
            </p:cNvPr>
            <p:cNvSpPr>
              <a:spLocks noChangeArrowheads="1"/>
            </p:cNvSpPr>
            <p:nvPr/>
          </p:nvSpPr>
          <p:spPr bwMode="auto">
            <a:xfrm>
              <a:off x="4607590" y="2733675"/>
              <a:ext cx="241300" cy="608013"/>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21" name="Line 17">
              <a:extLst>
                <a:ext uri="{FF2B5EF4-FFF2-40B4-BE49-F238E27FC236}">
                  <a16:creationId xmlns:a16="http://schemas.microsoft.com/office/drawing/2014/main" id="{CD54D656-8952-18AD-79EA-9BF3DAFA977E}"/>
                </a:ext>
              </a:extLst>
            </p:cNvPr>
            <p:cNvSpPr>
              <a:spLocks noChangeShapeType="1"/>
            </p:cNvSpPr>
            <p:nvPr/>
          </p:nvSpPr>
          <p:spPr bwMode="auto">
            <a:xfrm>
              <a:off x="3182024" y="2917818"/>
              <a:ext cx="561966" cy="7"/>
            </a:xfrm>
            <a:prstGeom prst="line">
              <a:avLst/>
            </a:prstGeom>
            <a:noFill/>
            <a:ln w="36513">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2" name="Line 18">
              <a:extLst>
                <a:ext uri="{FF2B5EF4-FFF2-40B4-BE49-F238E27FC236}">
                  <a16:creationId xmlns:a16="http://schemas.microsoft.com/office/drawing/2014/main" id="{EE64882D-9F26-0F2E-4EBB-8119E6937396}"/>
                </a:ext>
              </a:extLst>
            </p:cNvPr>
            <p:cNvSpPr>
              <a:spLocks noChangeShapeType="1"/>
            </p:cNvSpPr>
            <p:nvPr/>
          </p:nvSpPr>
          <p:spPr bwMode="auto">
            <a:xfrm>
              <a:off x="3726528" y="2906713"/>
              <a:ext cx="0" cy="244475"/>
            </a:xfrm>
            <a:prstGeom prst="line">
              <a:avLst/>
            </a:prstGeom>
            <a:noFill/>
            <a:ln w="36576">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3" name="Line 19">
              <a:extLst>
                <a:ext uri="{FF2B5EF4-FFF2-40B4-BE49-F238E27FC236}">
                  <a16:creationId xmlns:a16="http://schemas.microsoft.com/office/drawing/2014/main" id="{68A9C3AF-5F2D-83C3-7B17-AECA5B0D8F31}"/>
                </a:ext>
              </a:extLst>
            </p:cNvPr>
            <p:cNvSpPr>
              <a:spLocks noChangeShapeType="1"/>
            </p:cNvSpPr>
            <p:nvPr/>
          </p:nvSpPr>
          <p:spPr bwMode="auto">
            <a:xfrm>
              <a:off x="3882103" y="1933575"/>
              <a:ext cx="690562" cy="0"/>
            </a:xfrm>
            <a:prstGeom prst="line">
              <a:avLst/>
            </a:prstGeom>
            <a:noFill/>
            <a:ln w="28575">
              <a:solidFill>
                <a:schemeClr val="tx1"/>
              </a:solidFill>
              <a:round/>
              <a:headEnd/>
              <a:tailEnd type="arrow" w="med" len="med"/>
            </a:ln>
            <a:extLst>
              <a:ext uri="{909E8E84-426E-40dd-AFC4-6F175D3DCCD1}">
                <a14:hiddenFill xmlns="" xmlns:a14="http://schemas.microsoft.com/office/drawing/2010/main">
                  <a:noFill/>
                </a14:hiddenFill>
              </a:ext>
            </a:extLst>
          </p:spPr>
          <p:txBody>
            <a:bodyPr/>
            <a:lstStyle/>
            <a:p>
              <a:endParaRPr lang="zh-CN" altLang="en-US"/>
            </a:p>
          </p:txBody>
        </p:sp>
        <p:sp>
          <p:nvSpPr>
            <p:cNvPr id="24" name="Rectangle 20">
              <a:extLst>
                <a:ext uri="{FF2B5EF4-FFF2-40B4-BE49-F238E27FC236}">
                  <a16:creationId xmlns:a16="http://schemas.microsoft.com/office/drawing/2014/main" id="{AF28DD26-7A6A-9597-F4D1-59E890C6359B}"/>
                </a:ext>
              </a:extLst>
            </p:cNvPr>
            <p:cNvSpPr>
              <a:spLocks noChangeArrowheads="1"/>
            </p:cNvSpPr>
            <p:nvPr/>
          </p:nvSpPr>
          <p:spPr bwMode="auto">
            <a:xfrm>
              <a:off x="4987003" y="2387600"/>
              <a:ext cx="231775" cy="487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3200" i="1">
                  <a:ea typeface="楷体_GB2312" pitchFamily="49" charset="-122"/>
                </a:rPr>
                <a:t>+</a:t>
              </a:r>
              <a:endParaRPr kumimoji="1" lang="en-US" altLang="zh-CN" sz="3200">
                <a:ea typeface="楷体_GB2312" pitchFamily="49" charset="-122"/>
              </a:endParaRPr>
            </a:p>
          </p:txBody>
        </p:sp>
        <p:sp>
          <p:nvSpPr>
            <p:cNvPr id="25" name="Rectangle 21">
              <a:extLst>
                <a:ext uri="{FF2B5EF4-FFF2-40B4-BE49-F238E27FC236}">
                  <a16:creationId xmlns:a16="http://schemas.microsoft.com/office/drawing/2014/main" id="{37DB56B9-8C85-D1BA-9308-BB5CF7720D86}"/>
                </a:ext>
              </a:extLst>
            </p:cNvPr>
            <p:cNvSpPr>
              <a:spLocks noChangeArrowheads="1"/>
            </p:cNvSpPr>
            <p:nvPr/>
          </p:nvSpPr>
          <p:spPr bwMode="auto">
            <a:xfrm>
              <a:off x="5010815" y="3105150"/>
              <a:ext cx="203200" cy="487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3200" i="1">
                  <a:ea typeface="楷体_GB2312" pitchFamily="49" charset="-122"/>
                </a:rPr>
                <a:t>_</a:t>
              </a:r>
              <a:endParaRPr kumimoji="1" lang="en-US" altLang="zh-CN" sz="3200">
                <a:ea typeface="楷体_GB2312" pitchFamily="49" charset="-122"/>
              </a:endParaRPr>
            </a:p>
          </p:txBody>
        </p:sp>
        <p:sp>
          <p:nvSpPr>
            <p:cNvPr id="26" name="Line 22">
              <a:extLst>
                <a:ext uri="{FF2B5EF4-FFF2-40B4-BE49-F238E27FC236}">
                  <a16:creationId xmlns:a16="http://schemas.microsoft.com/office/drawing/2014/main" id="{5CA148D4-8251-C772-C29C-3A90A2A81038}"/>
                </a:ext>
              </a:extLst>
            </p:cNvPr>
            <p:cNvSpPr>
              <a:spLocks noChangeShapeType="1"/>
            </p:cNvSpPr>
            <p:nvPr/>
          </p:nvSpPr>
          <p:spPr bwMode="auto">
            <a:xfrm flipH="1">
              <a:off x="848390" y="4071938"/>
              <a:ext cx="3902075" cy="0"/>
            </a:xfrm>
            <a:prstGeom prst="line">
              <a:avLst/>
            </a:prstGeom>
            <a:noFill/>
            <a:ln w="36513">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7" name="Line 23">
              <a:extLst>
                <a:ext uri="{FF2B5EF4-FFF2-40B4-BE49-F238E27FC236}">
                  <a16:creationId xmlns:a16="http://schemas.microsoft.com/office/drawing/2014/main" id="{6585E9E3-796D-C5B8-FA58-0E0F8E58D55A}"/>
                </a:ext>
              </a:extLst>
            </p:cNvPr>
            <p:cNvSpPr>
              <a:spLocks noChangeShapeType="1"/>
            </p:cNvSpPr>
            <p:nvPr/>
          </p:nvSpPr>
          <p:spPr bwMode="auto">
            <a:xfrm>
              <a:off x="1758016" y="1785915"/>
              <a:ext cx="692150" cy="0"/>
            </a:xfrm>
            <a:prstGeom prst="line">
              <a:avLst/>
            </a:prstGeom>
            <a:noFill/>
            <a:ln w="28575">
              <a:solidFill>
                <a:schemeClr val="tx1"/>
              </a:solidFill>
              <a:round/>
              <a:headEnd/>
              <a:tailEnd type="arrow" w="med" len="med"/>
            </a:ln>
            <a:extLst>
              <a:ext uri="{909E8E84-426E-40dd-AFC4-6F175D3DCCD1}">
                <a14:hiddenFill xmlns="" xmlns:a14="http://schemas.microsoft.com/office/drawing/2010/main">
                  <a:noFill/>
                </a14:hiddenFill>
              </a:ext>
            </a:extLst>
          </p:spPr>
          <p:txBody>
            <a:bodyPr/>
            <a:lstStyle/>
            <a:p>
              <a:endParaRPr lang="zh-CN" altLang="en-US"/>
            </a:p>
          </p:txBody>
        </p:sp>
        <p:sp>
          <p:nvSpPr>
            <p:cNvPr id="28" name="Line 24">
              <a:extLst>
                <a:ext uri="{FF2B5EF4-FFF2-40B4-BE49-F238E27FC236}">
                  <a16:creationId xmlns:a16="http://schemas.microsoft.com/office/drawing/2014/main" id="{B1322210-84E9-955D-30EB-DAF30D509931}"/>
                </a:ext>
              </a:extLst>
            </p:cNvPr>
            <p:cNvSpPr>
              <a:spLocks noChangeShapeType="1"/>
            </p:cNvSpPr>
            <p:nvPr/>
          </p:nvSpPr>
          <p:spPr bwMode="auto">
            <a:xfrm flipH="1">
              <a:off x="834103" y="2090738"/>
              <a:ext cx="909637" cy="0"/>
            </a:xfrm>
            <a:prstGeom prst="line">
              <a:avLst/>
            </a:prstGeom>
            <a:noFill/>
            <a:ln w="36513">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9" name="Rectangle 25">
              <a:extLst>
                <a:ext uri="{FF2B5EF4-FFF2-40B4-BE49-F238E27FC236}">
                  <a16:creationId xmlns:a16="http://schemas.microsoft.com/office/drawing/2014/main" id="{70151F08-813F-5093-A041-0A2B98D49B13}"/>
                </a:ext>
              </a:extLst>
            </p:cNvPr>
            <p:cNvSpPr>
              <a:spLocks noChangeArrowheads="1"/>
            </p:cNvSpPr>
            <p:nvPr/>
          </p:nvSpPr>
          <p:spPr bwMode="auto">
            <a:xfrm>
              <a:off x="634078" y="2241550"/>
              <a:ext cx="231775" cy="487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3200" i="1">
                  <a:ea typeface="楷体_GB2312" pitchFamily="49" charset="-122"/>
                </a:rPr>
                <a:t>+</a:t>
              </a:r>
              <a:endParaRPr kumimoji="1" lang="en-US" altLang="zh-CN" sz="3200">
                <a:ea typeface="楷体_GB2312" pitchFamily="49" charset="-122"/>
              </a:endParaRPr>
            </a:p>
          </p:txBody>
        </p:sp>
        <p:sp>
          <p:nvSpPr>
            <p:cNvPr id="30" name="Rectangle 26">
              <a:extLst>
                <a:ext uri="{FF2B5EF4-FFF2-40B4-BE49-F238E27FC236}">
                  <a16:creationId xmlns:a16="http://schemas.microsoft.com/office/drawing/2014/main" id="{E794D086-1BA7-D6F7-4937-2DCEAC5CE912}"/>
                </a:ext>
              </a:extLst>
            </p:cNvPr>
            <p:cNvSpPr>
              <a:spLocks noChangeArrowheads="1"/>
            </p:cNvSpPr>
            <p:nvPr/>
          </p:nvSpPr>
          <p:spPr bwMode="auto">
            <a:xfrm>
              <a:off x="711865" y="3429000"/>
              <a:ext cx="203200" cy="487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3200" i="1">
                  <a:ea typeface="楷体_GB2312" pitchFamily="49" charset="-122"/>
                </a:rPr>
                <a:t>_</a:t>
              </a:r>
              <a:endParaRPr kumimoji="1" lang="en-US" altLang="zh-CN" sz="3200">
                <a:ea typeface="楷体_GB2312" pitchFamily="49" charset="-122"/>
              </a:endParaRPr>
            </a:p>
          </p:txBody>
        </p:sp>
        <p:sp>
          <p:nvSpPr>
            <p:cNvPr id="31" name="Line 27">
              <a:extLst>
                <a:ext uri="{FF2B5EF4-FFF2-40B4-BE49-F238E27FC236}">
                  <a16:creationId xmlns:a16="http://schemas.microsoft.com/office/drawing/2014/main" id="{F9A26F76-6699-9032-5840-91E8DDAE1817}"/>
                </a:ext>
              </a:extLst>
            </p:cNvPr>
            <p:cNvSpPr>
              <a:spLocks noChangeShapeType="1"/>
            </p:cNvSpPr>
            <p:nvPr/>
          </p:nvSpPr>
          <p:spPr bwMode="auto">
            <a:xfrm>
              <a:off x="3259803" y="2301875"/>
              <a:ext cx="0" cy="371475"/>
            </a:xfrm>
            <a:prstGeom prst="line">
              <a:avLst/>
            </a:prstGeom>
            <a:noFill/>
            <a:ln w="28575">
              <a:solidFill>
                <a:schemeClr val="tx1"/>
              </a:solidFill>
              <a:round/>
              <a:headEnd/>
              <a:tailEnd type="arrow" w="med" len="med"/>
            </a:ln>
            <a:extLst>
              <a:ext uri="{909E8E84-426E-40dd-AFC4-6F175D3DCCD1}">
                <a14:hiddenFill xmlns="" xmlns:a14="http://schemas.microsoft.com/office/drawing/2010/main">
                  <a:noFill/>
                </a14:hiddenFill>
              </a:ext>
            </a:extLst>
          </p:spPr>
          <p:txBody>
            <a:bodyPr/>
            <a:lstStyle/>
            <a:p>
              <a:endParaRPr lang="zh-CN" altLang="en-US"/>
            </a:p>
          </p:txBody>
        </p:sp>
        <p:sp>
          <p:nvSpPr>
            <p:cNvPr id="32" name="Oval 28">
              <a:extLst>
                <a:ext uri="{FF2B5EF4-FFF2-40B4-BE49-F238E27FC236}">
                  <a16:creationId xmlns:a16="http://schemas.microsoft.com/office/drawing/2014/main" id="{A1B4D47B-D6C3-70E4-525B-2788FADA5F5F}"/>
                </a:ext>
              </a:extLst>
            </p:cNvPr>
            <p:cNvSpPr>
              <a:spLocks noChangeArrowheads="1"/>
            </p:cNvSpPr>
            <p:nvPr/>
          </p:nvSpPr>
          <p:spPr bwMode="auto">
            <a:xfrm>
              <a:off x="703928" y="2038350"/>
              <a:ext cx="114300" cy="100013"/>
            </a:xfrm>
            <a:prstGeom prst="ellipse">
              <a:avLst/>
            </a:prstGeom>
            <a:noFill/>
            <a:ln w="36576">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3" name="Oval 29">
              <a:extLst>
                <a:ext uri="{FF2B5EF4-FFF2-40B4-BE49-F238E27FC236}">
                  <a16:creationId xmlns:a16="http://schemas.microsoft.com/office/drawing/2014/main" id="{5A082971-F639-52ED-90E8-C6FFEDF62415}"/>
                </a:ext>
              </a:extLst>
            </p:cNvPr>
            <p:cNvSpPr>
              <a:spLocks noChangeArrowheads="1"/>
            </p:cNvSpPr>
            <p:nvPr/>
          </p:nvSpPr>
          <p:spPr bwMode="auto">
            <a:xfrm>
              <a:off x="726153" y="4021138"/>
              <a:ext cx="114300" cy="101600"/>
            </a:xfrm>
            <a:prstGeom prst="ellipse">
              <a:avLst/>
            </a:prstGeom>
            <a:noFill/>
            <a:ln w="36576">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4" name="AutoShape 30">
              <a:extLst>
                <a:ext uri="{FF2B5EF4-FFF2-40B4-BE49-F238E27FC236}">
                  <a16:creationId xmlns:a16="http://schemas.microsoft.com/office/drawing/2014/main" id="{432CD51A-6AA9-16EB-D028-F98ABC967378}"/>
                </a:ext>
              </a:extLst>
            </p:cNvPr>
            <p:cNvSpPr>
              <a:spLocks noChangeArrowheads="1"/>
            </p:cNvSpPr>
            <p:nvPr/>
          </p:nvSpPr>
          <p:spPr bwMode="auto">
            <a:xfrm>
              <a:off x="3231228" y="2927350"/>
              <a:ext cx="457200" cy="368300"/>
            </a:xfrm>
            <a:prstGeom prst="triangle">
              <a:avLst>
                <a:gd name="adj" fmla="val 50000"/>
              </a:avLst>
            </a:prstGeom>
            <a:noFill/>
            <a:ln w="36513">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35" name="Rectangle 31">
              <a:extLst>
                <a:ext uri="{FF2B5EF4-FFF2-40B4-BE49-F238E27FC236}">
                  <a16:creationId xmlns:a16="http://schemas.microsoft.com/office/drawing/2014/main" id="{A500328D-64E8-D8A1-E73A-F2E6666417BB}"/>
                </a:ext>
              </a:extLst>
            </p:cNvPr>
            <p:cNvSpPr>
              <a:spLocks noChangeArrowheads="1"/>
            </p:cNvSpPr>
            <p:nvPr/>
          </p:nvSpPr>
          <p:spPr bwMode="auto">
            <a:xfrm>
              <a:off x="1748503" y="1979613"/>
              <a:ext cx="750887" cy="214312"/>
            </a:xfrm>
            <a:prstGeom prst="rect">
              <a:avLst/>
            </a:prstGeom>
            <a:noFill/>
            <a:ln w="36513">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grpSp>
        <p:nvGrpSpPr>
          <p:cNvPr id="36" name="Group 41">
            <a:extLst>
              <a:ext uri="{FF2B5EF4-FFF2-40B4-BE49-F238E27FC236}">
                <a16:creationId xmlns:a16="http://schemas.microsoft.com/office/drawing/2014/main" id="{1386C575-9A69-B466-9427-CF9DFF0DF742}"/>
              </a:ext>
            </a:extLst>
          </p:cNvPr>
          <p:cNvGrpSpPr>
            <a:grpSpLocks/>
          </p:cNvGrpSpPr>
          <p:nvPr/>
        </p:nvGrpSpPr>
        <p:grpSpPr bwMode="auto">
          <a:xfrm>
            <a:off x="909091" y="4939714"/>
            <a:ext cx="7696200" cy="1052513"/>
            <a:chOff x="516" y="3246"/>
            <a:chExt cx="4848" cy="663"/>
          </a:xfrm>
        </p:grpSpPr>
        <p:sp>
          <p:nvSpPr>
            <p:cNvPr id="37" name="Rectangle 32">
              <a:extLst>
                <a:ext uri="{FF2B5EF4-FFF2-40B4-BE49-F238E27FC236}">
                  <a16:creationId xmlns:a16="http://schemas.microsoft.com/office/drawing/2014/main" id="{AF78D716-1D6B-FF20-1E83-EEDCE2BEBA09}"/>
                </a:ext>
              </a:extLst>
            </p:cNvPr>
            <p:cNvSpPr>
              <a:spLocks noChangeArrowheads="1"/>
            </p:cNvSpPr>
            <p:nvPr/>
          </p:nvSpPr>
          <p:spPr bwMode="auto">
            <a:xfrm>
              <a:off x="516" y="3246"/>
              <a:ext cx="624"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Aft>
                  <a:spcPct val="0"/>
                </a:spcAft>
                <a:buFontTx/>
                <a:buNone/>
              </a:pPr>
              <a:r>
                <a:rPr kumimoji="1" lang="en-US" altLang="zh-CN" i="1"/>
                <a:t>V</a:t>
              </a:r>
              <a:r>
                <a:rPr kumimoji="1" lang="en-US" altLang="zh-CN" baseline="-30000"/>
                <a:t>I</a:t>
              </a:r>
              <a:r>
                <a:rPr kumimoji="1" lang="en-US" altLang="zh-CN"/>
                <a:t>↑</a:t>
              </a:r>
            </a:p>
          </p:txBody>
        </p:sp>
        <p:sp>
          <p:nvSpPr>
            <p:cNvPr id="38" name="Rectangle 33">
              <a:extLst>
                <a:ext uri="{FF2B5EF4-FFF2-40B4-BE49-F238E27FC236}">
                  <a16:creationId xmlns:a16="http://schemas.microsoft.com/office/drawing/2014/main" id="{578DE6EC-7AD1-801D-FD0B-D45D4A8227D2}"/>
                </a:ext>
              </a:extLst>
            </p:cNvPr>
            <p:cNvSpPr>
              <a:spLocks noChangeArrowheads="1"/>
            </p:cNvSpPr>
            <p:nvPr/>
          </p:nvSpPr>
          <p:spPr bwMode="auto">
            <a:xfrm>
              <a:off x="1092" y="3246"/>
              <a:ext cx="912"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Aft>
                  <a:spcPct val="0"/>
                </a:spcAft>
                <a:buFontTx/>
                <a:buNone/>
              </a:pPr>
              <a:r>
                <a:rPr kumimoji="1" lang="zh-CN" altLang="en-US"/>
                <a:t>→</a:t>
              </a:r>
              <a:r>
                <a:rPr kumimoji="1" lang="zh-CN" altLang="en-US" i="1"/>
                <a:t> </a:t>
              </a:r>
              <a:r>
                <a:rPr kumimoji="1" lang="en-US" altLang="zh-CN" i="1"/>
                <a:t>V</a:t>
              </a:r>
              <a:r>
                <a:rPr kumimoji="1" lang="en-US" altLang="zh-CN" baseline="-30000"/>
                <a:t>O</a:t>
              </a:r>
              <a:r>
                <a:rPr kumimoji="1" lang="en-US" altLang="zh-CN"/>
                <a:t>↑</a:t>
              </a:r>
            </a:p>
          </p:txBody>
        </p:sp>
        <p:sp>
          <p:nvSpPr>
            <p:cNvPr id="39" name="Rectangle 34">
              <a:extLst>
                <a:ext uri="{FF2B5EF4-FFF2-40B4-BE49-F238E27FC236}">
                  <a16:creationId xmlns:a16="http://schemas.microsoft.com/office/drawing/2014/main" id="{D794C8F7-0335-38FD-B0CD-9AA78FA0A949}"/>
                </a:ext>
              </a:extLst>
            </p:cNvPr>
            <p:cNvSpPr>
              <a:spLocks noChangeArrowheads="1"/>
            </p:cNvSpPr>
            <p:nvPr/>
          </p:nvSpPr>
          <p:spPr bwMode="auto">
            <a:xfrm>
              <a:off x="1956" y="3246"/>
              <a:ext cx="1115"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Aft>
                  <a:spcPct val="0"/>
                </a:spcAft>
                <a:buFontTx/>
                <a:buNone/>
              </a:pPr>
              <a:r>
                <a:rPr kumimoji="1" lang="zh-CN" altLang="en-US"/>
                <a:t>→</a:t>
              </a:r>
              <a:r>
                <a:rPr kumimoji="1" lang="zh-CN" altLang="en-US" i="1"/>
                <a:t> </a:t>
              </a:r>
              <a:r>
                <a:rPr kumimoji="1" lang="en-US" altLang="zh-CN" i="1"/>
                <a:t>V</a:t>
              </a:r>
              <a:r>
                <a:rPr kumimoji="1" lang="en-US" altLang="zh-CN" baseline="-30000"/>
                <a:t>Z </a:t>
              </a:r>
              <a:r>
                <a:rPr kumimoji="1" lang="en-US" altLang="zh-CN"/>
                <a:t>↑</a:t>
              </a:r>
            </a:p>
          </p:txBody>
        </p:sp>
        <p:sp>
          <p:nvSpPr>
            <p:cNvPr id="40" name="Rectangle 35">
              <a:extLst>
                <a:ext uri="{FF2B5EF4-FFF2-40B4-BE49-F238E27FC236}">
                  <a16:creationId xmlns:a16="http://schemas.microsoft.com/office/drawing/2014/main" id="{F5A037AC-391C-9A0D-77DB-77AFA5523000}"/>
                </a:ext>
              </a:extLst>
            </p:cNvPr>
            <p:cNvSpPr>
              <a:spLocks noChangeArrowheads="1"/>
            </p:cNvSpPr>
            <p:nvPr/>
          </p:nvSpPr>
          <p:spPr bwMode="auto">
            <a:xfrm>
              <a:off x="2868" y="3246"/>
              <a:ext cx="912"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Aft>
                  <a:spcPct val="0"/>
                </a:spcAft>
                <a:buFontTx/>
                <a:buNone/>
              </a:pPr>
              <a:r>
                <a:rPr kumimoji="1" lang="zh-CN" altLang="en-US" i="1"/>
                <a:t> </a:t>
              </a:r>
              <a:r>
                <a:rPr kumimoji="1" lang="zh-CN" altLang="en-US"/>
                <a:t>→</a:t>
              </a:r>
              <a:r>
                <a:rPr kumimoji="1" lang="zh-CN" altLang="en-US" i="1"/>
                <a:t> </a:t>
              </a:r>
              <a:r>
                <a:rPr kumimoji="1" lang="en-US" altLang="zh-CN" i="1"/>
                <a:t>I</a:t>
              </a:r>
              <a:r>
                <a:rPr kumimoji="1" lang="en-US" altLang="zh-CN" baseline="-30000"/>
                <a:t>Z</a:t>
              </a:r>
              <a:r>
                <a:rPr kumimoji="1" lang="en-US" altLang="zh-CN"/>
                <a:t>↑</a:t>
              </a:r>
            </a:p>
          </p:txBody>
        </p:sp>
        <p:sp>
          <p:nvSpPr>
            <p:cNvPr id="41" name="Rectangle 36">
              <a:extLst>
                <a:ext uri="{FF2B5EF4-FFF2-40B4-BE49-F238E27FC236}">
                  <a16:creationId xmlns:a16="http://schemas.microsoft.com/office/drawing/2014/main" id="{429A23FB-FEED-721F-FDDC-71D3D84A9681}"/>
                </a:ext>
              </a:extLst>
            </p:cNvPr>
            <p:cNvSpPr>
              <a:spLocks noChangeArrowheads="1"/>
            </p:cNvSpPr>
            <p:nvPr/>
          </p:nvSpPr>
          <p:spPr bwMode="auto">
            <a:xfrm>
              <a:off x="3636" y="3246"/>
              <a:ext cx="76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Aft>
                  <a:spcPct val="0"/>
                </a:spcAft>
                <a:buFontTx/>
                <a:buNone/>
              </a:pPr>
              <a:r>
                <a:rPr kumimoji="1" lang="zh-CN" altLang="en-US"/>
                <a:t>→</a:t>
              </a:r>
              <a:r>
                <a:rPr kumimoji="1" lang="zh-CN" altLang="en-US" i="1"/>
                <a:t> </a:t>
              </a:r>
              <a:r>
                <a:rPr kumimoji="1" lang="en-US" altLang="zh-CN" i="1"/>
                <a:t>I</a:t>
              </a:r>
              <a:r>
                <a:rPr kumimoji="1" lang="en-US" altLang="zh-CN"/>
                <a:t>↑</a:t>
              </a:r>
            </a:p>
          </p:txBody>
        </p:sp>
        <p:sp>
          <p:nvSpPr>
            <p:cNvPr id="42" name="Rectangle 37">
              <a:extLst>
                <a:ext uri="{FF2B5EF4-FFF2-40B4-BE49-F238E27FC236}">
                  <a16:creationId xmlns:a16="http://schemas.microsoft.com/office/drawing/2014/main" id="{4C653591-FBA1-BE11-3B74-4756992BAF8F}"/>
                </a:ext>
              </a:extLst>
            </p:cNvPr>
            <p:cNvSpPr>
              <a:spLocks noChangeArrowheads="1"/>
            </p:cNvSpPr>
            <p:nvPr/>
          </p:nvSpPr>
          <p:spPr bwMode="auto">
            <a:xfrm>
              <a:off x="4356" y="3246"/>
              <a:ext cx="1008"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Aft>
                  <a:spcPct val="0"/>
                </a:spcAft>
                <a:buFontTx/>
                <a:buNone/>
              </a:pPr>
              <a:r>
                <a:rPr kumimoji="1" lang="zh-CN" altLang="en-US"/>
                <a:t>→</a:t>
              </a:r>
              <a:r>
                <a:rPr kumimoji="1" lang="zh-CN" altLang="en-US" i="1"/>
                <a:t> </a:t>
              </a:r>
              <a:r>
                <a:rPr kumimoji="1" lang="en-US" altLang="zh-CN" i="1"/>
                <a:t>I R</a:t>
              </a:r>
              <a:r>
                <a:rPr kumimoji="1" lang="en-US" altLang="zh-CN"/>
                <a:t>↑</a:t>
              </a:r>
            </a:p>
          </p:txBody>
        </p:sp>
        <p:sp>
          <p:nvSpPr>
            <p:cNvPr id="43" name="Rectangle 38">
              <a:extLst>
                <a:ext uri="{FF2B5EF4-FFF2-40B4-BE49-F238E27FC236}">
                  <a16:creationId xmlns:a16="http://schemas.microsoft.com/office/drawing/2014/main" id="{F57E37C1-2B02-8313-3479-0C1459987AFD}"/>
                </a:ext>
              </a:extLst>
            </p:cNvPr>
            <p:cNvSpPr>
              <a:spLocks noChangeArrowheads="1"/>
            </p:cNvSpPr>
            <p:nvPr/>
          </p:nvSpPr>
          <p:spPr bwMode="auto">
            <a:xfrm>
              <a:off x="1092" y="3582"/>
              <a:ext cx="960"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Aft>
                  <a:spcPct val="0"/>
                </a:spcAft>
                <a:buFontTx/>
                <a:buNone/>
              </a:pPr>
              <a:r>
                <a:rPr kumimoji="1" lang="zh-CN" altLang="en-US"/>
                <a:t>　 </a:t>
              </a:r>
              <a:r>
                <a:rPr kumimoji="1" lang="en-US" altLang="zh-CN" i="1"/>
                <a:t>V</a:t>
              </a:r>
              <a:r>
                <a:rPr kumimoji="1" lang="en-US" altLang="zh-CN" baseline="-30000"/>
                <a:t>O</a:t>
              </a:r>
              <a:r>
                <a:rPr kumimoji="1" lang="en-US" altLang="zh-CN"/>
                <a:t>↓</a:t>
              </a:r>
            </a:p>
          </p:txBody>
        </p:sp>
        <p:sp>
          <p:nvSpPr>
            <p:cNvPr id="44" name="Line 39">
              <a:extLst>
                <a:ext uri="{FF2B5EF4-FFF2-40B4-BE49-F238E27FC236}">
                  <a16:creationId xmlns:a16="http://schemas.microsoft.com/office/drawing/2014/main" id="{F624651A-BDD7-23A4-2D8D-1924EEE1C725}"/>
                </a:ext>
              </a:extLst>
            </p:cNvPr>
            <p:cNvSpPr>
              <a:spLocks noChangeShapeType="1"/>
            </p:cNvSpPr>
            <p:nvPr/>
          </p:nvSpPr>
          <p:spPr bwMode="auto">
            <a:xfrm flipH="1">
              <a:off x="1962" y="3774"/>
              <a:ext cx="2883" cy="0"/>
            </a:xfrm>
            <a:prstGeom prst="line">
              <a:avLst/>
            </a:prstGeom>
            <a:noFill/>
            <a:ln w="36513">
              <a:solidFill>
                <a:schemeClr val="tx1"/>
              </a:solidFill>
              <a:round/>
              <a:headEnd/>
              <a:tailEnd type="arrow" w="med" len="med"/>
            </a:ln>
            <a:extLst>
              <a:ext uri="{909E8E84-426E-40dd-AFC4-6F175D3DCCD1}">
                <a14:hiddenFill xmlns="" xmlns:a14="http://schemas.microsoft.com/office/drawing/2010/main">
                  <a:noFill/>
                </a14:hiddenFill>
              </a:ext>
            </a:extLst>
          </p:spPr>
          <p:txBody>
            <a:bodyPr/>
            <a:lstStyle/>
            <a:p>
              <a:endParaRPr lang="zh-CN" altLang="en-US"/>
            </a:p>
          </p:txBody>
        </p:sp>
        <p:sp>
          <p:nvSpPr>
            <p:cNvPr id="45" name="Line 40">
              <a:extLst>
                <a:ext uri="{FF2B5EF4-FFF2-40B4-BE49-F238E27FC236}">
                  <a16:creationId xmlns:a16="http://schemas.microsoft.com/office/drawing/2014/main" id="{263512AC-FCB9-0A54-3A22-224514AD7A47}"/>
                </a:ext>
              </a:extLst>
            </p:cNvPr>
            <p:cNvSpPr>
              <a:spLocks noChangeShapeType="1"/>
            </p:cNvSpPr>
            <p:nvPr/>
          </p:nvSpPr>
          <p:spPr bwMode="auto">
            <a:xfrm>
              <a:off x="4833" y="3554"/>
              <a:ext cx="0" cy="211"/>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graphicFrame>
        <p:nvGraphicFramePr>
          <p:cNvPr id="46" name="Object 14">
            <a:extLst>
              <a:ext uri="{FF2B5EF4-FFF2-40B4-BE49-F238E27FC236}">
                <a16:creationId xmlns:a16="http://schemas.microsoft.com/office/drawing/2014/main" id="{E36583E0-ACEC-5FBC-0E45-D437D9B125C8}"/>
              </a:ext>
            </a:extLst>
          </p:cNvPr>
          <p:cNvGraphicFramePr>
            <a:graphicFrameLocks noChangeAspect="1"/>
          </p:cNvGraphicFramePr>
          <p:nvPr>
            <p:extLst>
              <p:ext uri="{D42A27DB-BD31-4B8C-83A1-F6EECF244321}">
                <p14:modId xmlns:p14="http://schemas.microsoft.com/office/powerpoint/2010/main" val="1783350499"/>
              </p:ext>
            </p:extLst>
          </p:nvPr>
        </p:nvGraphicFramePr>
        <p:xfrm>
          <a:off x="5428704" y="1061452"/>
          <a:ext cx="3490912" cy="3162300"/>
        </p:xfrm>
        <a:graphic>
          <a:graphicData uri="http://schemas.openxmlformats.org/presentationml/2006/ole">
            <mc:AlternateContent xmlns:mc="http://schemas.openxmlformats.org/markup-compatibility/2006">
              <mc:Choice xmlns:v="urn:schemas-microsoft-com:vml" Requires="v">
                <p:oleObj name="图片" r:id="rId2" imgW="2336800" imgH="2120900" progId="Word.Picture.8">
                  <p:embed/>
                </p:oleObj>
              </mc:Choice>
              <mc:Fallback>
                <p:oleObj name="图片" r:id="rId2" imgW="2336800" imgH="2120900" progId="Word.Picture.8">
                  <p:embed/>
                  <p:pic>
                    <p:nvPicPr>
                      <p:cNvPr id="50185"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8704" y="1061452"/>
                        <a:ext cx="3490912" cy="3162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15281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731F69-CC1F-4A5E-950D-B6A825EF201F}"/>
              </a:ext>
            </a:extLst>
          </p:cNvPr>
          <p:cNvSpPr>
            <a:spLocks noGrp="1"/>
          </p:cNvSpPr>
          <p:nvPr>
            <p:ph type="title"/>
          </p:nvPr>
        </p:nvSpPr>
        <p:spPr/>
        <p:txBody>
          <a:bodyPr>
            <a:normAutofit fontScale="90000"/>
          </a:bodyPr>
          <a:lstStyle/>
          <a:p>
            <a:r>
              <a:rPr kumimoji="1" lang="zh-CN" altLang="en-US" dirty="0"/>
              <a:t>示例：整流电路</a:t>
            </a:r>
          </a:p>
        </p:txBody>
      </p:sp>
      <p:sp>
        <p:nvSpPr>
          <p:cNvPr id="3" name="内容占位符 2">
            <a:extLst>
              <a:ext uri="{FF2B5EF4-FFF2-40B4-BE49-F238E27FC236}">
                <a16:creationId xmlns:a16="http://schemas.microsoft.com/office/drawing/2014/main" id="{38E211F5-08B3-28C6-F071-735B05A7F7B1}"/>
              </a:ext>
            </a:extLst>
          </p:cNvPr>
          <p:cNvSpPr>
            <a:spLocks noGrp="1"/>
          </p:cNvSpPr>
          <p:nvPr>
            <p:ph idx="1"/>
          </p:nvPr>
        </p:nvSpPr>
        <p:spPr/>
        <p:txBody>
          <a:bodyPr/>
          <a:lstStyle/>
          <a:p>
            <a:r>
              <a:rPr lang="en-US" altLang="zh-CN" dirty="0"/>
              <a:t>AM/FM </a:t>
            </a:r>
            <a:r>
              <a:rPr lang="zh-CN" altLang="en-US" dirty="0"/>
              <a:t>调幅</a:t>
            </a:r>
            <a:r>
              <a:rPr lang="en-US" altLang="zh-CN" dirty="0"/>
              <a:t>/</a:t>
            </a:r>
            <a:r>
              <a:rPr lang="zh-CN" altLang="en-US" dirty="0"/>
              <a:t>调频广播</a:t>
            </a:r>
          </a:p>
          <a:p>
            <a:endParaRPr kumimoji="1" lang="zh-CN" altLang="en-US" dirty="0"/>
          </a:p>
        </p:txBody>
      </p:sp>
      <p:sp>
        <p:nvSpPr>
          <p:cNvPr id="4" name="页脚占位符 3">
            <a:extLst>
              <a:ext uri="{FF2B5EF4-FFF2-40B4-BE49-F238E27FC236}">
                <a16:creationId xmlns:a16="http://schemas.microsoft.com/office/drawing/2014/main" id="{1AFB3A0D-59C6-C658-77BA-48E856632DFD}"/>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FDA9D877-642A-B096-9342-D39C87B1E197}"/>
              </a:ext>
            </a:extLst>
          </p:cNvPr>
          <p:cNvSpPr>
            <a:spLocks noGrp="1"/>
          </p:cNvSpPr>
          <p:nvPr>
            <p:ph type="sldNum" sz="quarter" idx="12"/>
          </p:nvPr>
        </p:nvSpPr>
        <p:spPr/>
        <p:txBody>
          <a:bodyPr/>
          <a:lstStyle/>
          <a:p>
            <a:fld id="{9E260BC5-5BF3-8746-862B-DC45E9CAA88B}" type="slidenum">
              <a:rPr lang="en-US" smtClean="0"/>
              <a:pPr/>
              <a:t>31</a:t>
            </a:fld>
            <a:r>
              <a:rPr lang="en-US" altLang="zh-CN" dirty="0"/>
              <a:t>/33</a:t>
            </a:r>
            <a:endParaRPr lang="en-US" dirty="0"/>
          </a:p>
        </p:txBody>
      </p:sp>
      <p:pic>
        <p:nvPicPr>
          <p:cNvPr id="6" name="图片 5">
            <a:extLst>
              <a:ext uri="{FF2B5EF4-FFF2-40B4-BE49-F238E27FC236}">
                <a16:creationId xmlns:a16="http://schemas.microsoft.com/office/drawing/2014/main" id="{2591527B-CEE6-5571-C452-C41986B08C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84" y="2128604"/>
            <a:ext cx="9722536" cy="2848131"/>
          </a:xfrm>
          <a:prstGeom prst="rect">
            <a:avLst/>
          </a:prstGeom>
        </p:spPr>
      </p:pic>
    </p:spTree>
    <p:extLst>
      <p:ext uri="{BB962C8B-B14F-4D97-AF65-F5344CB8AC3E}">
        <p14:creationId xmlns:p14="http://schemas.microsoft.com/office/powerpoint/2010/main" val="28609724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作业</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lnSpc>
                <a:spcPct val="110000"/>
              </a:lnSpc>
              <a:spcAft>
                <a:spcPct val="30000"/>
              </a:spcAft>
              <a:defRPr/>
            </a:pPr>
            <a:r>
              <a:rPr lang="zh-CN" altLang="en-US" sz="2800" kern="0" dirty="0">
                <a:latin typeface="Microsoft YaHei" panose="020B0503020204020204" pitchFamily="34" charset="-122"/>
                <a:ea typeface="Microsoft YaHei" panose="020B0503020204020204" pitchFamily="34" charset="-122"/>
              </a:rPr>
              <a:t>电子技术基础</a:t>
            </a:r>
            <a:r>
              <a:rPr lang="en-US" altLang="zh-CN" sz="2800" kern="0" dirty="0">
                <a:latin typeface="Microsoft YaHei" panose="020B0503020204020204" pitchFamily="34" charset="-122"/>
                <a:ea typeface="Microsoft YaHei" panose="020B0503020204020204" pitchFamily="34" charset="-122"/>
              </a:rPr>
              <a:t>-</a:t>
            </a:r>
            <a:r>
              <a:rPr lang="zh-CN" altLang="en-US" b="1" kern="0" dirty="0">
                <a:solidFill>
                  <a:srgbClr val="FF0000"/>
                </a:solidFill>
                <a:latin typeface="Microsoft YaHei" panose="020B0503020204020204" pitchFamily="34" charset="-122"/>
                <a:ea typeface="Microsoft YaHei" panose="020B0503020204020204" pitchFamily="34" charset="-122"/>
              </a:rPr>
              <a:t>模拟</a:t>
            </a:r>
            <a:r>
              <a:rPr lang="zh-CN" altLang="en-US" sz="2800" kern="0" dirty="0">
                <a:latin typeface="Microsoft YaHei" panose="020B0503020204020204" pitchFamily="34" charset="-122"/>
                <a:ea typeface="Microsoft YaHei" panose="020B0503020204020204" pitchFamily="34" charset="-122"/>
              </a:rPr>
              <a:t>部分</a:t>
            </a:r>
            <a:endParaRPr lang="en-US" altLang="zh-CN" sz="2800" kern="0" dirty="0">
              <a:latin typeface="Microsoft YaHei" panose="020B0503020204020204" pitchFamily="34" charset="-122"/>
              <a:ea typeface="Microsoft YaHei" panose="020B0503020204020204" pitchFamily="34" charset="-122"/>
            </a:endParaRPr>
          </a:p>
          <a:p>
            <a:pPr>
              <a:lnSpc>
                <a:spcPct val="110000"/>
              </a:lnSpc>
              <a:spcAft>
                <a:spcPct val="30000"/>
              </a:spcAft>
              <a:defRPr/>
            </a:pPr>
            <a:r>
              <a:rPr lang="en-US" altLang="zh-CN" sz="2800" kern="0" dirty="0">
                <a:latin typeface="Microsoft YaHei" panose="020B0503020204020204" pitchFamily="34" charset="-122"/>
                <a:ea typeface="Microsoft YaHei" panose="020B0503020204020204" pitchFamily="34" charset="-122"/>
              </a:rPr>
              <a:t>P84-86</a:t>
            </a:r>
            <a:r>
              <a:rPr lang="zh-CN" altLang="en-US" sz="2800" kern="0" dirty="0">
                <a:latin typeface="Microsoft YaHei" panose="020B0503020204020204" pitchFamily="34" charset="-122"/>
                <a:ea typeface="Microsoft YaHei" panose="020B0503020204020204" pitchFamily="34" charset="-122"/>
              </a:rPr>
              <a:t>：</a:t>
            </a:r>
            <a:endParaRPr lang="en-US" altLang="zh-CN" sz="2800"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lang="en-US" altLang="zh-CN" sz="2400" kern="0" dirty="0">
                <a:latin typeface="Microsoft YaHei" panose="020B0503020204020204" pitchFamily="34" charset="-122"/>
                <a:ea typeface="Microsoft YaHei" panose="020B0503020204020204" pitchFamily="34" charset="-122"/>
              </a:rPr>
              <a:t>3.4.3</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3.4.7</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1</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3.4.12</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3.4.15</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3.5.3</a:t>
            </a:r>
          </a:p>
          <a:p>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32</a:t>
            </a:fld>
            <a:r>
              <a:rPr lang="en-US" altLang="zh-CN" dirty="0"/>
              <a:t>/33</a:t>
            </a:r>
            <a:endParaRPr lang="en-US" dirty="0"/>
          </a:p>
        </p:txBody>
      </p:sp>
    </p:spTree>
    <p:extLst>
      <p:ext uri="{BB962C8B-B14F-4D97-AF65-F5344CB8AC3E}">
        <p14:creationId xmlns:p14="http://schemas.microsoft.com/office/powerpoint/2010/main" val="7013915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054989-CB5A-22AB-D443-63F1B90F6AF1}"/>
              </a:ext>
            </a:extLst>
          </p:cNvPr>
          <p:cNvSpPr>
            <a:spLocks noGrp="1"/>
          </p:cNvSpPr>
          <p:nvPr>
            <p:ph type="title"/>
          </p:nvPr>
        </p:nvSpPr>
        <p:spPr/>
        <p:txBody>
          <a:bodyPr>
            <a:normAutofit fontScale="90000"/>
          </a:bodyPr>
          <a:lstStyle/>
          <a:p>
            <a:r>
              <a:rPr lang="zh-CN" altLang="en-US" dirty="0">
                <a:latin typeface="+mn-ea"/>
                <a:ea typeface="+mn-ea"/>
                <a:cs typeface="宋体" panose="02010600030101010101" pitchFamily="2" charset="-122"/>
              </a:rPr>
              <a:t>思考题（不用写到作业上）</a:t>
            </a:r>
            <a:endParaRPr kumimoji="1" lang="zh-CN" altLang="en-US" dirty="0"/>
          </a:p>
        </p:txBody>
      </p:sp>
      <p:sp>
        <p:nvSpPr>
          <p:cNvPr id="3" name="内容占位符 2">
            <a:extLst>
              <a:ext uri="{FF2B5EF4-FFF2-40B4-BE49-F238E27FC236}">
                <a16:creationId xmlns:a16="http://schemas.microsoft.com/office/drawing/2014/main" id="{3F40BC91-C378-E067-8979-314B17C1B252}"/>
              </a:ext>
            </a:extLst>
          </p:cNvPr>
          <p:cNvSpPr>
            <a:spLocks noGrp="1"/>
          </p:cNvSpPr>
          <p:nvPr>
            <p:ph idx="1"/>
          </p:nvPr>
        </p:nvSpPr>
        <p:spPr>
          <a:xfrm>
            <a:off x="17780" y="585760"/>
            <a:ext cx="9306102" cy="5947119"/>
          </a:xfrm>
        </p:spPr>
        <p:txBody>
          <a:bodyPr/>
          <a:lstStyle/>
          <a:p>
            <a:pPr algn="just"/>
            <a:r>
              <a:rPr lang="zh-CN" altLang="en-US" sz="2400" kern="0" dirty="0">
                <a:latin typeface="Times New Roman" panose="02020603050405020304" pitchFamily="18" charset="0"/>
              </a:rPr>
              <a:t>请分析下图中的电子三极管（相当于电子二极管插入了网格状栅极），当栅极加负电压并逐渐增大时，会对阳极和阴极之间的电子运动和总电流产生什么样的影响？</a:t>
            </a:r>
            <a:endParaRPr lang="en-US" altLang="zh-CN" sz="2400" kern="0" dirty="0">
              <a:latin typeface="Times New Roman" panose="02020603050405020304" pitchFamily="18" charset="0"/>
            </a:endParaRPr>
          </a:p>
          <a:p>
            <a:pPr algn="just"/>
            <a:endParaRPr kumimoji="1" lang="zh-CN" altLang="en-US" dirty="0"/>
          </a:p>
        </p:txBody>
      </p:sp>
      <p:sp>
        <p:nvSpPr>
          <p:cNvPr id="4" name="页脚占位符 3">
            <a:extLst>
              <a:ext uri="{FF2B5EF4-FFF2-40B4-BE49-F238E27FC236}">
                <a16:creationId xmlns:a16="http://schemas.microsoft.com/office/drawing/2014/main" id="{C7348684-AED1-23D2-F720-6DE6107AF912}"/>
              </a:ext>
            </a:extLst>
          </p:cNvPr>
          <p:cNvSpPr>
            <a:spLocks noGrp="1"/>
          </p:cNvSpPr>
          <p:nvPr>
            <p:ph type="ftr" sz="quarter" idx="11"/>
          </p:nvPr>
        </p:nvSpPr>
        <p:spPr/>
        <p:txBody>
          <a:bodyPr/>
          <a:lstStyle/>
          <a:p>
            <a:r>
              <a:rPr lang="zh-CN" altLang="en-US"/>
              <a:t>模拟与数字电路：</a:t>
            </a:r>
            <a:r>
              <a:rPr lang="en-US" altLang="zh-CN"/>
              <a:t>20. </a:t>
            </a:r>
            <a:r>
              <a:rPr lang="zh-CN" altLang="en-US"/>
              <a:t>二极管</a:t>
            </a:r>
            <a:endParaRPr lang="en-US" dirty="0"/>
          </a:p>
        </p:txBody>
      </p:sp>
      <p:sp>
        <p:nvSpPr>
          <p:cNvPr id="5" name="灯片编号占位符 4">
            <a:extLst>
              <a:ext uri="{FF2B5EF4-FFF2-40B4-BE49-F238E27FC236}">
                <a16:creationId xmlns:a16="http://schemas.microsoft.com/office/drawing/2014/main" id="{77B66CB2-226A-9B11-F7AC-4DEF4142A3C3}"/>
              </a:ext>
            </a:extLst>
          </p:cNvPr>
          <p:cNvSpPr>
            <a:spLocks noGrp="1"/>
          </p:cNvSpPr>
          <p:nvPr>
            <p:ph type="sldNum" sz="quarter" idx="12"/>
          </p:nvPr>
        </p:nvSpPr>
        <p:spPr/>
        <p:txBody>
          <a:bodyPr/>
          <a:lstStyle/>
          <a:p>
            <a:fld id="{9E260BC5-5BF3-8746-862B-DC45E9CAA88B}" type="slidenum">
              <a:rPr lang="en-US" smtClean="0"/>
              <a:pPr/>
              <a:t>33</a:t>
            </a:fld>
            <a:r>
              <a:rPr lang="en-US" altLang="zh-CN" dirty="0"/>
              <a:t>/33</a:t>
            </a:r>
            <a:endParaRPr lang="en-US" dirty="0"/>
          </a:p>
        </p:txBody>
      </p:sp>
      <p:pic>
        <p:nvPicPr>
          <p:cNvPr id="6" name="图片 5">
            <a:extLst>
              <a:ext uri="{FF2B5EF4-FFF2-40B4-BE49-F238E27FC236}">
                <a16:creationId xmlns:a16="http://schemas.microsoft.com/office/drawing/2014/main" id="{07897CBD-068D-3B31-B08D-99CF41E31F44}"/>
              </a:ext>
            </a:extLst>
          </p:cNvPr>
          <p:cNvPicPr>
            <a:picLocks noChangeAspect="1"/>
          </p:cNvPicPr>
          <p:nvPr/>
        </p:nvPicPr>
        <p:blipFill rotWithShape="1">
          <a:blip r:embed="rId2">
            <a:extLst>
              <a:ext uri="{28A0092B-C50C-407E-A947-70E740481C1C}">
                <a14:useLocalDpi xmlns:a14="http://schemas.microsoft.com/office/drawing/2010/main" val="0"/>
              </a:ext>
            </a:extLst>
          </a:blip>
          <a:srcRect t="15791" b="11775"/>
          <a:stretch/>
        </p:blipFill>
        <p:spPr>
          <a:xfrm>
            <a:off x="1953782" y="2979295"/>
            <a:ext cx="5195121" cy="2660368"/>
          </a:xfrm>
          <a:prstGeom prst="rect">
            <a:avLst/>
          </a:prstGeom>
        </p:spPr>
      </p:pic>
      <p:grpSp>
        <p:nvGrpSpPr>
          <p:cNvPr id="7" name="组合 6">
            <a:extLst>
              <a:ext uri="{FF2B5EF4-FFF2-40B4-BE49-F238E27FC236}">
                <a16:creationId xmlns:a16="http://schemas.microsoft.com/office/drawing/2014/main" id="{FD94C677-B7E4-D7BB-C573-BBCD2BAFB6F0}"/>
              </a:ext>
            </a:extLst>
          </p:cNvPr>
          <p:cNvGrpSpPr/>
          <p:nvPr/>
        </p:nvGrpSpPr>
        <p:grpSpPr>
          <a:xfrm>
            <a:off x="3861994" y="2606223"/>
            <a:ext cx="689348" cy="2327228"/>
            <a:chOff x="3743908" y="3356992"/>
            <a:chExt cx="689348" cy="2327228"/>
          </a:xfrm>
        </p:grpSpPr>
        <p:cxnSp>
          <p:nvCxnSpPr>
            <p:cNvPr id="8" name="直接连接符 2">
              <a:extLst>
                <a:ext uri="{FF2B5EF4-FFF2-40B4-BE49-F238E27FC236}">
                  <a16:creationId xmlns:a16="http://schemas.microsoft.com/office/drawing/2014/main" id="{0F71449D-B354-507B-3A26-2E20FB81DCBA}"/>
                </a:ext>
              </a:extLst>
            </p:cNvPr>
            <p:cNvCxnSpPr/>
            <p:nvPr/>
          </p:nvCxnSpPr>
          <p:spPr>
            <a:xfrm>
              <a:off x="4433256" y="4329100"/>
              <a:ext cx="0" cy="1355120"/>
            </a:xfrm>
            <a:prstGeom prst="line">
              <a:avLst/>
            </a:prstGeom>
            <a:ln w="3810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5">
              <a:extLst>
                <a:ext uri="{FF2B5EF4-FFF2-40B4-BE49-F238E27FC236}">
                  <a16:creationId xmlns:a16="http://schemas.microsoft.com/office/drawing/2014/main" id="{BC7595BA-F427-BAF7-004A-E3927372F20C}"/>
                </a:ext>
              </a:extLst>
            </p:cNvPr>
            <p:cNvCxnSpPr/>
            <p:nvPr/>
          </p:nvCxnSpPr>
          <p:spPr>
            <a:xfrm flipV="1">
              <a:off x="4433256" y="3537012"/>
              <a:ext cx="0" cy="792088"/>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 name="直接连接符 12">
              <a:extLst>
                <a:ext uri="{FF2B5EF4-FFF2-40B4-BE49-F238E27FC236}">
                  <a16:creationId xmlns:a16="http://schemas.microsoft.com/office/drawing/2014/main" id="{D6D98F11-81D3-7E2A-5C18-A6B004AB78CB}"/>
                </a:ext>
              </a:extLst>
            </p:cNvPr>
            <p:cNvCxnSpPr/>
            <p:nvPr/>
          </p:nvCxnSpPr>
          <p:spPr>
            <a:xfrm flipV="1">
              <a:off x="3743908" y="3537012"/>
              <a:ext cx="0" cy="1170645"/>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 name="直接连接符 14">
              <a:extLst>
                <a:ext uri="{FF2B5EF4-FFF2-40B4-BE49-F238E27FC236}">
                  <a16:creationId xmlns:a16="http://schemas.microsoft.com/office/drawing/2014/main" id="{0E803589-C6CA-B593-DBEC-1A14FAE634DE}"/>
                </a:ext>
              </a:extLst>
            </p:cNvPr>
            <p:cNvCxnSpPr/>
            <p:nvPr/>
          </p:nvCxnSpPr>
          <p:spPr>
            <a:xfrm flipH="1">
              <a:off x="3743908" y="3537012"/>
              <a:ext cx="288032"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 name="直接连接符 17">
              <a:extLst>
                <a:ext uri="{FF2B5EF4-FFF2-40B4-BE49-F238E27FC236}">
                  <a16:creationId xmlns:a16="http://schemas.microsoft.com/office/drawing/2014/main" id="{DC963C7A-39A0-49BE-A114-600353EC5147}"/>
                </a:ext>
              </a:extLst>
            </p:cNvPr>
            <p:cNvCxnSpPr/>
            <p:nvPr/>
          </p:nvCxnSpPr>
          <p:spPr>
            <a:xfrm flipH="1">
              <a:off x="4103948" y="3537012"/>
              <a:ext cx="329308"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 name="直接连接符 18">
              <a:extLst>
                <a:ext uri="{FF2B5EF4-FFF2-40B4-BE49-F238E27FC236}">
                  <a16:creationId xmlns:a16="http://schemas.microsoft.com/office/drawing/2014/main" id="{0BF41D9D-96DB-F52B-AE57-FB077E3E01A3}"/>
                </a:ext>
              </a:extLst>
            </p:cNvPr>
            <p:cNvCxnSpPr/>
            <p:nvPr/>
          </p:nvCxnSpPr>
          <p:spPr>
            <a:xfrm flipV="1">
              <a:off x="4103948" y="3422484"/>
              <a:ext cx="0" cy="193052"/>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 name="直接连接符 22">
              <a:extLst>
                <a:ext uri="{FF2B5EF4-FFF2-40B4-BE49-F238E27FC236}">
                  <a16:creationId xmlns:a16="http://schemas.microsoft.com/office/drawing/2014/main" id="{1847A6D1-0328-E6AC-9289-642B541180B3}"/>
                </a:ext>
              </a:extLst>
            </p:cNvPr>
            <p:cNvCxnSpPr/>
            <p:nvPr/>
          </p:nvCxnSpPr>
          <p:spPr>
            <a:xfrm flipV="1">
              <a:off x="4031940" y="3356992"/>
              <a:ext cx="0" cy="324036"/>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 name="直接箭头连接符 24">
              <a:extLst>
                <a:ext uri="{FF2B5EF4-FFF2-40B4-BE49-F238E27FC236}">
                  <a16:creationId xmlns:a16="http://schemas.microsoft.com/office/drawing/2014/main" id="{70A4ABE8-598B-898F-1FA1-14D534C527F3}"/>
                </a:ext>
              </a:extLst>
            </p:cNvPr>
            <p:cNvCxnSpPr/>
            <p:nvPr/>
          </p:nvCxnSpPr>
          <p:spPr>
            <a:xfrm flipV="1">
              <a:off x="3887924" y="3392996"/>
              <a:ext cx="380678" cy="258544"/>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22887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19109</TotalTime>
  <Words>4219</Words>
  <Application>Microsoft Macintosh PowerPoint</Application>
  <PresentationFormat>A4 纸张(210x297 毫米)</PresentationFormat>
  <Paragraphs>503</Paragraphs>
  <Slides>33</Slides>
  <Notes>14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33</vt:i4>
      </vt:variant>
    </vt:vector>
  </HeadingPairs>
  <TitlesOfParts>
    <vt:vector size="49" baseType="lpstr">
      <vt:lpstr>等线</vt:lpstr>
      <vt:lpstr>黑体</vt:lpstr>
      <vt:lpstr>宋体</vt:lpstr>
      <vt:lpstr>微软雅黑</vt:lpstr>
      <vt:lpstr>微软雅黑</vt:lpstr>
      <vt:lpstr>ＭＳ ゴシック</vt:lpstr>
      <vt:lpstr>Arial</vt:lpstr>
      <vt:lpstr>Arial Black</vt:lpstr>
      <vt:lpstr>Arial Narrow</vt:lpstr>
      <vt:lpstr>Book Antiqua</vt:lpstr>
      <vt:lpstr>Cambria Math</vt:lpstr>
      <vt:lpstr>Symbol</vt:lpstr>
      <vt:lpstr>Times New Roman</vt:lpstr>
      <vt:lpstr>Office-Design</vt:lpstr>
      <vt:lpstr>图片</vt:lpstr>
      <vt:lpstr>Picture</vt:lpstr>
      <vt:lpstr>  模拟与数字电路 Analog and Digital Circuits</vt:lpstr>
      <vt:lpstr>内容提纲</vt:lpstr>
      <vt:lpstr>你们看出来了点什么？</vt:lpstr>
      <vt:lpstr>最早的单向模拟</vt:lpstr>
      <vt:lpstr>从真空管到半导体管</vt:lpstr>
      <vt:lpstr>从真空管到半导体管</vt:lpstr>
      <vt:lpstr>本征半导体</vt:lpstr>
      <vt:lpstr>杂质半导体</vt:lpstr>
      <vt:lpstr>N型半导体</vt:lpstr>
      <vt:lpstr>示例：掺杂对导电性影响</vt:lpstr>
      <vt:lpstr>P型半导体</vt:lpstr>
      <vt:lpstr>PN结的形成</vt:lpstr>
      <vt:lpstr>PN结单向导电性</vt:lpstr>
      <vt:lpstr>二极管及其应用</vt:lpstr>
      <vt:lpstr>二极管</vt:lpstr>
      <vt:lpstr>示例：二极管外型</vt:lpstr>
      <vt:lpstr>二极管结构与符号</vt:lpstr>
      <vt:lpstr>二极管伏安特性</vt:lpstr>
      <vt:lpstr>二极管主要参数</vt:lpstr>
      <vt:lpstr>二极管简化模型</vt:lpstr>
      <vt:lpstr>示例：二极管电路计算</vt:lpstr>
      <vt:lpstr>示例：二极管电路计算</vt:lpstr>
      <vt:lpstr>小信号工作情况分析</vt:lpstr>
      <vt:lpstr>小信号工作情况分析</vt:lpstr>
      <vt:lpstr>二极管应用</vt:lpstr>
      <vt:lpstr>示例: 桥式整流</vt:lpstr>
      <vt:lpstr>示例: 限幅</vt:lpstr>
      <vt:lpstr>示例: 开关</vt:lpstr>
      <vt:lpstr>稳压二极管</vt:lpstr>
      <vt:lpstr>稳压管电路及稳压原理 </vt:lpstr>
      <vt:lpstr>示例：整流电路</vt:lpstr>
      <vt:lpstr>作业</vt:lpstr>
      <vt:lpstr>思考题（不用写到作业上）</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2547</cp:revision>
  <cp:lastPrinted>2020-05-26T13:24:01Z</cp:lastPrinted>
  <dcterms:created xsi:type="dcterms:W3CDTF">2020-04-07T12:23:01Z</dcterms:created>
  <dcterms:modified xsi:type="dcterms:W3CDTF">2024-11-12T01:44:16Z</dcterms:modified>
</cp:coreProperties>
</file>