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444" r:id="rId3"/>
    <p:sldId id="485" r:id="rId4"/>
    <p:sldId id="486" r:id="rId5"/>
    <p:sldId id="487" r:id="rId6"/>
    <p:sldId id="512" r:id="rId7"/>
    <p:sldId id="488" r:id="rId8"/>
    <p:sldId id="490" r:id="rId9"/>
    <p:sldId id="491" r:id="rId10"/>
    <p:sldId id="492" r:id="rId11"/>
    <p:sldId id="493" r:id="rId12"/>
    <p:sldId id="494" r:id="rId13"/>
    <p:sldId id="495" r:id="rId14"/>
    <p:sldId id="496" r:id="rId15"/>
    <p:sldId id="497" r:id="rId16"/>
    <p:sldId id="498" r:id="rId17"/>
    <p:sldId id="499" r:id="rId18"/>
    <p:sldId id="500" r:id="rId19"/>
    <p:sldId id="503" r:id="rId20"/>
    <p:sldId id="504" r:id="rId21"/>
    <p:sldId id="505" r:id="rId22"/>
    <p:sldId id="506" r:id="rId23"/>
    <p:sldId id="507" r:id="rId24"/>
    <p:sldId id="508" r:id="rId25"/>
    <p:sldId id="511" r:id="rId26"/>
    <p:sldId id="509" r:id="rId27"/>
    <p:sldId id="510" r:id="rId28"/>
  </p:sldIdLst>
  <p:sldSz cx="9906000" cy="6858000" type="A4"/>
  <p:notesSz cx="9144000" cy="6858000"/>
  <p:defaultTextStyle>
    <a:defPPr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71"/>
    <p:restoredTop sz="75150"/>
  </p:normalViewPr>
  <p:slideViewPr>
    <p:cSldViewPr snapToGrid="0" snapToObjects="1">
      <p:cViewPr varScale="1">
        <p:scale>
          <a:sx n="104" d="100"/>
          <a:sy n="104" d="100"/>
        </p:scale>
        <p:origin x="952" y="192"/>
      </p:cViewPr>
      <p:guideLst>
        <p:guide orient="horz" pos="2160"/>
        <p:guide pos="288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11" d="100"/>
          <a:sy n="111" d="100"/>
        </p:scale>
        <p:origin x="160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B8FAB7-9DA6-42E2-BB80-6EB4D83E2AE8}" type="datetimeFigureOut">
              <a:rPr lang="zh-CN" altLang="en-US" smtClean="0"/>
              <a:t>2023/9/11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2D08B7-D15B-4122-BED5-76961CE891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7159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26F516-474B-49E6-8B3A-4C2D69386E26}" type="datetimeFigureOut">
              <a:rPr lang="zh-CN" altLang="en-US" smtClean="0"/>
              <a:t>2023/9/11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7EB77-94AC-4128-8DFB-759E46F1AD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672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zh.wikipedia.org/wiki/Wikipedia:IPA_for_English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zh.wikipedia.org/wiki/Wikipedia:IPA_for_English#Key" TargetMode="Externa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9023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kumimoji="1" lang="zh-CN" altLang="en-US" dirty="0">
                <a:latin typeface="宋体" panose="02010600030101010101" pitchFamily="2" charset="-122"/>
              </a:rPr>
              <a:t>所谓“数制”就是计数的体制，也称进位计数制，指用一组固定的</a:t>
            </a:r>
            <a:r>
              <a:rPr kumimoji="1" lang="zh-CN" altLang="en-US" dirty="0">
                <a:solidFill>
                  <a:srgbClr val="0066FF"/>
                </a:solidFill>
                <a:latin typeface="宋体" panose="02010600030101010101" pitchFamily="2" charset="-122"/>
              </a:rPr>
              <a:t>计数符号</a:t>
            </a:r>
            <a:r>
              <a:rPr kumimoji="1" lang="en-US" altLang="zh-CN" dirty="0">
                <a:latin typeface="宋体" panose="02010600030101010101" pitchFamily="2" charset="-122"/>
              </a:rPr>
              <a:t>(</a:t>
            </a:r>
            <a:r>
              <a:rPr kumimoji="1" lang="zh-CN" altLang="en-US" dirty="0">
                <a:latin typeface="宋体" panose="02010600030101010101" pitchFamily="2" charset="-122"/>
              </a:rPr>
              <a:t>或称数码</a:t>
            </a:r>
            <a:r>
              <a:rPr kumimoji="1" lang="en-US" altLang="zh-CN" dirty="0">
                <a:latin typeface="宋体" panose="02010600030101010101" pitchFamily="2" charset="-122"/>
              </a:rPr>
              <a:t>)</a:t>
            </a:r>
            <a:r>
              <a:rPr kumimoji="1" lang="zh-CN" altLang="en-US" dirty="0">
                <a:latin typeface="宋体" panose="02010600030101010101" pitchFamily="2" charset="-122"/>
              </a:rPr>
              <a:t>和统一的</a:t>
            </a:r>
            <a:r>
              <a:rPr kumimoji="1" lang="zh-CN" altLang="en-US" dirty="0">
                <a:solidFill>
                  <a:srgbClr val="0066FF"/>
                </a:solidFill>
                <a:latin typeface="宋体" panose="02010600030101010101" pitchFamily="2" charset="-122"/>
              </a:rPr>
              <a:t>进位规则</a:t>
            </a:r>
            <a:r>
              <a:rPr kumimoji="1" lang="zh-CN" altLang="en-US" dirty="0">
                <a:latin typeface="宋体" panose="02010600030101010101" pitchFamily="2" charset="-122"/>
              </a:rPr>
              <a:t>来表示数值的方法</a:t>
            </a:r>
            <a:endParaRPr kumimoji="1" lang="zh-CN" altLang="en-US" dirty="0">
              <a:solidFill>
                <a:srgbClr val="000066"/>
              </a:solidFill>
            </a:endParaRP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</a:pPr>
            <a:r>
              <a:rPr kumimoji="1" lang="zh-CN" altLang="en-US" dirty="0">
                <a:solidFill>
                  <a:srgbClr val="000066"/>
                </a:solidFill>
              </a:rPr>
              <a:t>例如，十进制采用</a:t>
            </a:r>
            <a:r>
              <a:rPr kumimoji="1" lang="en-US" altLang="zh-CN" dirty="0">
                <a:solidFill>
                  <a:srgbClr val="000066"/>
                </a:solidFill>
              </a:rPr>
              <a:t>0, 1, 2, 3, 4, 5, 6, 7, 8, 9</a:t>
            </a:r>
            <a:r>
              <a:rPr kumimoji="1" lang="zh-CN" altLang="en-US" dirty="0">
                <a:solidFill>
                  <a:srgbClr val="000066"/>
                </a:solidFill>
              </a:rPr>
              <a:t>十个数码，其进位的规则是“逢十进一”。各位的权都是</a:t>
            </a:r>
            <a:r>
              <a:rPr kumimoji="1" lang="en-US" altLang="zh-CN" dirty="0">
                <a:solidFill>
                  <a:srgbClr val="000066"/>
                </a:solidFill>
              </a:rPr>
              <a:t>10</a:t>
            </a:r>
            <a:r>
              <a:rPr kumimoji="1" lang="zh-CN" altLang="en-US" dirty="0">
                <a:solidFill>
                  <a:srgbClr val="000066"/>
                </a:solidFill>
              </a:rPr>
              <a:t>的幂。</a:t>
            </a:r>
          </a:p>
          <a:p>
            <a:pPr eaLnBrk="1" hangingPunct="1">
              <a:spcBef>
                <a:spcPct val="0"/>
              </a:spcBef>
            </a:pPr>
            <a:r>
              <a:rPr kumimoji="1" lang="zh-CN" altLang="en-US" dirty="0"/>
              <a:t>进位计数制有数位、基数、位权三个要素。 </a:t>
            </a:r>
          </a:p>
          <a:p>
            <a:pPr lvl="2" eaLnBrk="1" hangingPunct="1"/>
            <a:r>
              <a:rPr kumimoji="1" lang="zh-CN" altLang="en-US" dirty="0"/>
              <a:t>数位：指数码在一个数中所处的位置 </a:t>
            </a:r>
          </a:p>
          <a:p>
            <a:pPr lvl="2" eaLnBrk="1" hangingPunct="1"/>
            <a:r>
              <a:rPr kumimoji="1" lang="zh-CN" altLang="en-US" dirty="0"/>
              <a:t>基数（</a:t>
            </a:r>
            <a:r>
              <a:rPr kumimoji="1" lang="en-US" altLang="zh-CN" dirty="0"/>
              <a:t>Base/Radix</a:t>
            </a:r>
            <a:r>
              <a:rPr kumimoji="1" lang="zh-CN" altLang="en-US" dirty="0"/>
              <a:t>）：数位上所能使用的数码的个数</a:t>
            </a:r>
          </a:p>
          <a:p>
            <a:pPr lvl="2" eaLnBrk="1" hangingPunct="1"/>
            <a:r>
              <a:rPr kumimoji="1" lang="zh-CN" altLang="en-US" dirty="0"/>
              <a:t>位权（</a:t>
            </a:r>
            <a:r>
              <a:rPr kumimoji="1" lang="en-US" altLang="zh-CN" dirty="0"/>
              <a:t>Weight</a:t>
            </a:r>
            <a:r>
              <a:rPr kumimoji="1" lang="zh-CN" altLang="en-US" dirty="0"/>
              <a:t>）：所处位置的价值，数位所代表的大小，对于一个</a:t>
            </a:r>
            <a:r>
              <a:rPr kumimoji="1" lang="en-US" altLang="zh-CN" dirty="0"/>
              <a:t>R</a:t>
            </a:r>
            <a:r>
              <a:rPr kumimoji="1" lang="zh-CN" altLang="en-US" dirty="0"/>
              <a:t>进制数（即基数为</a:t>
            </a:r>
            <a:r>
              <a:rPr kumimoji="1" lang="en-US" altLang="zh-CN" dirty="0"/>
              <a:t>R</a:t>
            </a:r>
            <a:r>
              <a:rPr kumimoji="1" lang="zh-CN" altLang="en-US" dirty="0"/>
              <a:t>），若数位记作</a:t>
            </a:r>
            <a:r>
              <a:rPr kumimoji="1" lang="en-US" altLang="zh-CN" dirty="0" err="1"/>
              <a:t>i</a:t>
            </a:r>
            <a:r>
              <a:rPr kumimoji="1" lang="zh-CN" altLang="en-US" dirty="0"/>
              <a:t>，则位权可记作</a:t>
            </a:r>
            <a:r>
              <a:rPr kumimoji="1" lang="en-US" altLang="zh-CN" dirty="0" err="1"/>
              <a:t>R^i</a:t>
            </a:r>
            <a:r>
              <a:rPr kumimoji="1" lang="en-US" altLang="zh-CN" dirty="0"/>
              <a:t> </a:t>
            </a:r>
            <a:r>
              <a:rPr kumimoji="1" lang="zh-CN" altLang="en-US" dirty="0"/>
              <a:t>。</a:t>
            </a:r>
          </a:p>
          <a:p>
            <a:pPr eaLnBrk="1" hangingPunct="1"/>
            <a:r>
              <a:rPr kumimoji="1" lang="en-US" altLang="zh-CN" dirty="0">
                <a:solidFill>
                  <a:srgbClr val="000066"/>
                </a:solidFill>
              </a:rPr>
              <a:t>MSD</a:t>
            </a:r>
            <a:r>
              <a:rPr kumimoji="1" lang="zh-CN" altLang="en-US" dirty="0">
                <a:solidFill>
                  <a:srgbClr val="000066"/>
                </a:solidFill>
              </a:rPr>
              <a:t>：</a:t>
            </a:r>
            <a:r>
              <a:rPr kumimoji="1" lang="en-US" altLang="zh-CN" dirty="0">
                <a:solidFill>
                  <a:srgbClr val="000066"/>
                </a:solidFill>
              </a:rPr>
              <a:t>Most Significant Digit</a:t>
            </a:r>
            <a:r>
              <a:rPr kumimoji="1" lang="zh-CN" altLang="en-US" dirty="0">
                <a:solidFill>
                  <a:srgbClr val="000066"/>
                </a:solidFill>
              </a:rPr>
              <a:t> </a:t>
            </a:r>
            <a:endParaRPr kumimoji="1" lang="en-US" altLang="zh-CN" dirty="0">
              <a:solidFill>
                <a:srgbClr val="000066"/>
              </a:solidFill>
            </a:endParaRPr>
          </a:p>
          <a:p>
            <a:pPr eaLnBrk="1" hangingPunct="1"/>
            <a:r>
              <a:rPr kumimoji="1" lang="en-US" altLang="zh-CN" dirty="0">
                <a:solidFill>
                  <a:srgbClr val="000066"/>
                </a:solidFill>
              </a:rPr>
              <a:t>LSD</a:t>
            </a:r>
            <a:r>
              <a:rPr kumimoji="1" lang="zh-CN" altLang="en-US" dirty="0">
                <a:solidFill>
                  <a:srgbClr val="000066"/>
                </a:solidFill>
              </a:rPr>
              <a:t>：</a:t>
            </a:r>
            <a:r>
              <a:rPr kumimoji="1" lang="en-US" altLang="zh-CN" dirty="0">
                <a:solidFill>
                  <a:srgbClr val="000066"/>
                </a:solidFill>
              </a:rPr>
              <a:t>Least Significant Digit</a:t>
            </a:r>
          </a:p>
          <a:p>
            <a:pPr eaLnBrk="1" hangingPunct="1"/>
            <a:r>
              <a:rPr kumimoji="1" lang="zh-CN" altLang="en-US" dirty="0">
                <a:solidFill>
                  <a:srgbClr val="000066"/>
                </a:solidFill>
              </a:rPr>
              <a:t>有时候也看见</a:t>
            </a:r>
            <a:r>
              <a:rPr kumimoji="1" lang="en-US" altLang="zh-CN" dirty="0">
                <a:solidFill>
                  <a:srgbClr val="000066"/>
                </a:solidFill>
              </a:rPr>
              <a:t>MSB/LSB</a:t>
            </a:r>
            <a:r>
              <a:rPr kumimoji="1" lang="zh-CN" altLang="en-US" dirty="0">
                <a:solidFill>
                  <a:srgbClr val="000066"/>
                </a:solidFill>
              </a:rPr>
              <a:t>，即最后</a:t>
            </a:r>
            <a:r>
              <a:rPr kumimoji="1" lang="en-US" altLang="zh-CN" dirty="0">
                <a:solidFill>
                  <a:srgbClr val="000066"/>
                </a:solidFill>
              </a:rPr>
              <a:t>Most/Least Significant Bit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9874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kumimoji="1" lang="zh-CN" altLang="en-US" dirty="0"/>
              <a:t>为什么引入其他进制？ </a:t>
            </a:r>
          </a:p>
          <a:p>
            <a:pPr lvl="2" eaLnBrk="1" hangingPunct="1">
              <a:spcBef>
                <a:spcPct val="0"/>
              </a:spcBef>
              <a:defRPr/>
            </a:pPr>
            <a:r>
              <a:rPr kumimoji="1" lang="zh-CN" altLang="en-US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二进制优点：数字</a:t>
            </a:r>
            <a:r>
              <a:rPr kumimoji="1" lang="zh-CN" altLang="en-US" dirty="0">
                <a:solidFill>
                  <a:srgbClr val="000066"/>
                </a:solidFill>
              </a:rPr>
              <a:t>电路实现（存储、处理、传输）简单、可靠。</a:t>
            </a:r>
            <a:endParaRPr kumimoji="1" lang="zh-CN" altLang="en-US" dirty="0"/>
          </a:p>
          <a:p>
            <a:pPr lvl="2" eaLnBrk="1" hangingPunct="1">
              <a:spcBef>
                <a:spcPct val="0"/>
              </a:spcBef>
              <a:defRPr/>
            </a:pPr>
            <a:r>
              <a:rPr kumimoji="1" lang="zh-CN" altLang="en-US" dirty="0">
                <a:solidFill>
                  <a:srgbClr val="000066"/>
                </a:solidFill>
              </a:rPr>
              <a:t>二进制缺点：使用不方便（位数长，二</a:t>
            </a:r>
            <a:r>
              <a:rPr kumimoji="1" lang="en-US" altLang="zh-CN" dirty="0">
                <a:solidFill>
                  <a:srgbClr val="000066"/>
                </a:solidFill>
              </a:rPr>
              <a:t>-</a:t>
            </a:r>
            <a:r>
              <a:rPr kumimoji="1" lang="zh-CN" altLang="en-US" dirty="0">
                <a:solidFill>
                  <a:srgbClr val="000066"/>
                </a:solidFill>
              </a:rPr>
              <a:t>十进制转换复杂）。</a:t>
            </a:r>
            <a:r>
              <a:rPr kumimoji="1" lang="zh-CN" altLang="en-US" dirty="0"/>
              <a:t>为克服二进制的缺点而引入十六进制和八进制。</a:t>
            </a:r>
          </a:p>
          <a:p>
            <a:pPr lvl="2" eaLnBrk="1" hangingPunct="1">
              <a:spcBef>
                <a:spcPct val="0"/>
              </a:spcBef>
              <a:defRPr/>
            </a:pPr>
            <a:r>
              <a:rPr kumimoji="1" lang="zh-CN" altLang="en-US" dirty="0"/>
              <a:t>十六进制优点：</a:t>
            </a:r>
            <a:r>
              <a:rPr kumimoji="1" lang="zh-CN" altLang="en-US" dirty="0">
                <a:solidFill>
                  <a:srgbClr val="000066"/>
                </a:solidFill>
              </a:rPr>
              <a:t>与二进制之间的转换容易，书写简洁（计数容量较其它进制都大） 。</a:t>
            </a:r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9134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进位和借位规则：逢</a:t>
            </a:r>
            <a:r>
              <a:rPr lang="en-US" altLang="zh-CN" dirty="0"/>
              <a:t>2</a:t>
            </a:r>
            <a:r>
              <a:rPr lang="zh-CN" altLang="en-US" dirty="0"/>
              <a:t>进</a:t>
            </a:r>
            <a:r>
              <a:rPr lang="en-US" altLang="zh-CN" dirty="0"/>
              <a:t>1</a:t>
            </a:r>
            <a:r>
              <a:rPr lang="zh-CN" altLang="en-US" dirty="0"/>
              <a:t>，借</a:t>
            </a:r>
            <a:r>
              <a:rPr lang="en-US" altLang="zh-CN" dirty="0"/>
              <a:t>1</a:t>
            </a:r>
            <a:r>
              <a:rPr lang="zh-CN" altLang="en-US" dirty="0"/>
              <a:t>当</a:t>
            </a:r>
            <a:r>
              <a:rPr lang="en-US" altLang="zh-CN" dirty="0"/>
              <a:t>2</a:t>
            </a:r>
            <a:r>
              <a:rPr lang="zh-CN" altLang="en-US" dirty="0"/>
              <a:t>。</a:t>
            </a:r>
          </a:p>
          <a:p>
            <a:pPr eaLnBrk="1" hangingPunct="1"/>
            <a:r>
              <a:rPr lang="zh-CN" altLang="en-US" dirty="0"/>
              <a:t>所以数字电路中普遍采用二进制算数运算</a:t>
            </a:r>
          </a:p>
          <a:p>
            <a:pPr eaLnBrk="1" hangingPunct="1"/>
            <a:r>
              <a:rPr lang="zh-CN" altLang="en-US" dirty="0"/>
              <a:t>无符号数运算与有符号数运算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33906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kumimoji="1" lang="zh-CN" altLang="en-US" dirty="0"/>
              <a:t>若用</a:t>
            </a:r>
            <a:r>
              <a:rPr kumimoji="1" lang="en-US" altLang="zh-CN" dirty="0"/>
              <a:t>n</a:t>
            </a:r>
            <a:r>
              <a:rPr kumimoji="1" lang="zh-CN" altLang="en-US" dirty="0"/>
              <a:t>位二进制数码来表示有符号数</a:t>
            </a:r>
            <a:r>
              <a:rPr kumimoji="1" lang="en-US" altLang="zh-CN" dirty="0"/>
              <a:t>N</a:t>
            </a:r>
            <a:endParaRPr kumimoji="1" lang="zh-CN" altLang="en-US" dirty="0"/>
          </a:p>
          <a:p>
            <a:pPr lvl="1" eaLnBrk="1" hangingPunct="1"/>
            <a:r>
              <a:rPr kumimoji="1" lang="zh-CN" altLang="en-US" dirty="0"/>
              <a:t>对于</a:t>
            </a:r>
            <a:r>
              <a:rPr kumimoji="1" lang="en-US" altLang="zh-CN" dirty="0"/>
              <a:t>N&gt;=0</a:t>
            </a:r>
            <a:r>
              <a:rPr kumimoji="1" lang="zh-CN" altLang="en-US" dirty="0"/>
              <a:t>， </a:t>
            </a:r>
            <a:r>
              <a:rPr kumimoji="1" lang="en-US" altLang="zh-CN" dirty="0"/>
              <a:t>[N]</a:t>
            </a:r>
            <a:r>
              <a:rPr kumimoji="1" lang="zh-CN" altLang="en-US" dirty="0"/>
              <a:t>原</a:t>
            </a:r>
            <a:r>
              <a:rPr kumimoji="1" lang="en-US" altLang="zh-CN" dirty="0"/>
              <a:t>= [N]</a:t>
            </a:r>
            <a:r>
              <a:rPr kumimoji="1" lang="zh-CN" altLang="en-US" dirty="0"/>
              <a:t>反 </a:t>
            </a:r>
            <a:r>
              <a:rPr kumimoji="1" lang="en-US" altLang="zh-CN" dirty="0"/>
              <a:t>= [N]</a:t>
            </a:r>
            <a:r>
              <a:rPr kumimoji="1" lang="zh-CN" altLang="en-US" dirty="0"/>
              <a:t>原 </a:t>
            </a:r>
            <a:r>
              <a:rPr kumimoji="1" lang="en-US" altLang="zh-CN" dirty="0"/>
              <a:t>= N</a:t>
            </a:r>
          </a:p>
          <a:p>
            <a:pPr lvl="1" eaLnBrk="1" hangingPunct="1"/>
            <a:r>
              <a:rPr kumimoji="1" lang="zh-CN" altLang="en-US" dirty="0"/>
              <a:t>对于</a:t>
            </a:r>
            <a:r>
              <a:rPr kumimoji="1" lang="en-US" altLang="zh-CN" dirty="0"/>
              <a:t>N&lt;0 </a:t>
            </a:r>
          </a:p>
          <a:p>
            <a:pPr lvl="2" eaLnBrk="1" hangingPunct="1"/>
            <a:r>
              <a:rPr kumimoji="1" lang="en-US" altLang="zh-CN" dirty="0"/>
              <a:t>[N]</a:t>
            </a:r>
            <a:r>
              <a:rPr kumimoji="1" lang="zh-CN" altLang="en-US" dirty="0"/>
              <a:t>原 </a:t>
            </a:r>
            <a:r>
              <a:rPr kumimoji="1" lang="en-US" altLang="zh-CN" dirty="0"/>
              <a:t>= 2^(n-1) + | N |</a:t>
            </a:r>
            <a:endParaRPr kumimoji="1" lang="zh-CN" altLang="en-US" dirty="0"/>
          </a:p>
          <a:p>
            <a:pPr lvl="2" eaLnBrk="1" hangingPunct="1"/>
            <a:r>
              <a:rPr kumimoji="1" lang="en-US" altLang="zh-CN" dirty="0"/>
              <a:t>[N]</a:t>
            </a:r>
            <a:r>
              <a:rPr kumimoji="1" lang="zh-CN" altLang="en-US" dirty="0"/>
              <a:t>反 </a:t>
            </a:r>
            <a:r>
              <a:rPr kumimoji="1" lang="en-US" altLang="zh-CN" dirty="0"/>
              <a:t>= 2^n -1+ N</a:t>
            </a:r>
            <a:endParaRPr kumimoji="1" lang="zh-CN" altLang="en-US" dirty="0"/>
          </a:p>
          <a:p>
            <a:pPr lvl="2" eaLnBrk="1" hangingPunct="1"/>
            <a:r>
              <a:rPr kumimoji="1" lang="en-US" altLang="zh-CN" dirty="0"/>
              <a:t>[N]</a:t>
            </a:r>
            <a:r>
              <a:rPr kumimoji="1" lang="zh-CN" altLang="en-US" dirty="0"/>
              <a:t>补 </a:t>
            </a:r>
            <a:r>
              <a:rPr kumimoji="1" lang="en-US" altLang="zh-CN" dirty="0"/>
              <a:t>= 2^n + N</a:t>
            </a:r>
          </a:p>
          <a:p>
            <a:pPr eaLnBrk="1" hangingPunct="1"/>
            <a:endParaRPr kumimoji="1" lang="zh-CN" altLang="en-US" dirty="0"/>
          </a:p>
          <a:p>
            <a:pPr eaLnBrk="1" hangingPunct="1"/>
            <a:r>
              <a:rPr kumimoji="1" lang="zh-CN" altLang="en-US" dirty="0"/>
              <a:t>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）原码表示法的优点是直观，但因为这种表示法表示的数据符号位和数值位是不等同的，所以实现加减运算的规则比较复杂。长度为</a:t>
            </a:r>
            <a:r>
              <a:rPr kumimoji="1" lang="en-US" altLang="zh-CN" dirty="0"/>
              <a:t>N</a:t>
            </a:r>
            <a:r>
              <a:rPr kumimoji="1" lang="zh-CN" altLang="en-US" dirty="0"/>
              <a:t>的原码表示的真值范围为 －</a:t>
            </a:r>
            <a:r>
              <a:rPr kumimoji="1" lang="en-US" altLang="zh-CN" dirty="0"/>
              <a:t>(2^(N</a:t>
            </a:r>
            <a:r>
              <a:rPr kumimoji="1" lang="zh-CN" altLang="en-US" dirty="0"/>
              <a:t>－</a:t>
            </a:r>
            <a:r>
              <a:rPr kumimoji="1" lang="en-US" altLang="zh-CN" dirty="0"/>
              <a:t>1)</a:t>
            </a:r>
            <a:r>
              <a:rPr kumimoji="1" lang="zh-CN" altLang="en-US" dirty="0"/>
              <a:t>－</a:t>
            </a:r>
            <a:r>
              <a:rPr kumimoji="1" lang="en-US" altLang="zh-CN" dirty="0"/>
              <a:t>1) </a:t>
            </a:r>
            <a:r>
              <a:rPr kumimoji="1" lang="zh-CN" altLang="en-US" dirty="0"/>
              <a:t>～ ＋</a:t>
            </a:r>
            <a:r>
              <a:rPr kumimoji="1" lang="en-US" altLang="zh-CN" dirty="0"/>
              <a:t>(2^(N</a:t>
            </a:r>
            <a:r>
              <a:rPr kumimoji="1" lang="zh-CN" altLang="en-US" dirty="0"/>
              <a:t>－</a:t>
            </a:r>
            <a:r>
              <a:rPr kumimoji="1" lang="en-US" altLang="zh-CN" dirty="0"/>
              <a:t>1)</a:t>
            </a:r>
            <a:r>
              <a:rPr kumimoji="1" lang="zh-CN" altLang="en-US" dirty="0"/>
              <a:t>－</a:t>
            </a:r>
            <a:r>
              <a:rPr kumimoji="1" lang="en-US" altLang="zh-CN" dirty="0"/>
              <a:t>1)</a:t>
            </a:r>
            <a:r>
              <a:rPr kumimoji="1" lang="zh-CN" altLang="en-US" dirty="0"/>
              <a:t>。</a:t>
            </a:r>
          </a:p>
          <a:p>
            <a:pPr eaLnBrk="1" hangingPunct="1"/>
            <a:r>
              <a:rPr kumimoji="1" lang="zh-CN" altLang="en-US" dirty="0"/>
              <a:t>（</a:t>
            </a:r>
            <a:r>
              <a:rPr kumimoji="1" lang="en-US" altLang="zh-CN" dirty="0"/>
              <a:t>2</a:t>
            </a:r>
            <a:r>
              <a:rPr kumimoji="1" lang="zh-CN" altLang="en-US" dirty="0"/>
              <a:t>）反码表示法将符号位和数值位等同看待，即符号位可以和数值位一起参加运算，因此比原码表示法的运算规则简单。但用反码表示法表示的＋</a:t>
            </a:r>
            <a:r>
              <a:rPr kumimoji="1" lang="en-US" altLang="zh-CN" dirty="0"/>
              <a:t>0</a:t>
            </a:r>
            <a:r>
              <a:rPr kumimoji="1" lang="zh-CN" altLang="en-US" dirty="0"/>
              <a:t>和－</a:t>
            </a:r>
            <a:r>
              <a:rPr kumimoji="1" lang="en-US" altLang="zh-CN" dirty="0"/>
              <a:t>0</a:t>
            </a:r>
            <a:r>
              <a:rPr kumimoji="1" lang="zh-CN" altLang="en-US" dirty="0"/>
              <a:t>仍然是不同的。字长为</a:t>
            </a:r>
            <a:r>
              <a:rPr kumimoji="1" lang="en-US" altLang="zh-CN" dirty="0"/>
              <a:t>N</a:t>
            </a:r>
            <a:r>
              <a:rPr kumimoji="1" lang="zh-CN" altLang="en-US" dirty="0"/>
              <a:t>的反码表示的真值范围同原码一样，为 －</a:t>
            </a:r>
            <a:r>
              <a:rPr kumimoji="1" lang="en-US" altLang="zh-CN" dirty="0"/>
              <a:t>(2^(N</a:t>
            </a:r>
            <a:r>
              <a:rPr kumimoji="1" lang="zh-CN" altLang="en-US" dirty="0"/>
              <a:t>－</a:t>
            </a:r>
            <a:r>
              <a:rPr kumimoji="1" lang="en-US" altLang="zh-CN" dirty="0"/>
              <a:t>1)</a:t>
            </a:r>
            <a:r>
              <a:rPr kumimoji="1" lang="zh-CN" altLang="en-US" dirty="0"/>
              <a:t>－</a:t>
            </a:r>
            <a:r>
              <a:rPr kumimoji="1" lang="en-US" altLang="zh-CN" dirty="0"/>
              <a:t>1) </a:t>
            </a:r>
            <a:r>
              <a:rPr kumimoji="1" lang="zh-CN" altLang="en-US" dirty="0"/>
              <a:t>～ ＋</a:t>
            </a:r>
            <a:r>
              <a:rPr kumimoji="1" lang="en-US" altLang="zh-CN" dirty="0"/>
              <a:t>(2^(N</a:t>
            </a:r>
            <a:r>
              <a:rPr kumimoji="1" lang="zh-CN" altLang="en-US" dirty="0"/>
              <a:t>－</a:t>
            </a:r>
            <a:r>
              <a:rPr kumimoji="1" lang="en-US" altLang="zh-CN" dirty="0"/>
              <a:t>1)</a:t>
            </a:r>
            <a:r>
              <a:rPr kumimoji="1" lang="zh-CN" altLang="en-US" dirty="0"/>
              <a:t>－</a:t>
            </a:r>
            <a:r>
              <a:rPr kumimoji="1" lang="en-US" altLang="zh-CN" dirty="0"/>
              <a:t>1) </a:t>
            </a:r>
            <a:r>
              <a:rPr kumimoji="1" lang="zh-CN" altLang="en-US" dirty="0"/>
              <a:t>。</a:t>
            </a:r>
          </a:p>
          <a:p>
            <a:pPr eaLnBrk="1" hangingPunct="1"/>
            <a:r>
              <a:rPr kumimoji="1" lang="zh-CN" altLang="en-US" dirty="0"/>
              <a:t>（</a:t>
            </a:r>
            <a:r>
              <a:rPr kumimoji="1" lang="en-US" altLang="zh-CN" dirty="0"/>
              <a:t>3</a:t>
            </a:r>
            <a:r>
              <a:rPr kumimoji="1" lang="zh-CN" altLang="en-US" dirty="0"/>
              <a:t>） 补码表示法是计算机中最普遍采用的数据表示方法。用补码表示的数据符号位可以参与运算，从而</a:t>
            </a:r>
            <a:r>
              <a:rPr kumimoji="1" lang="zh-CN" altLang="en-US" dirty="0">
                <a:solidFill>
                  <a:srgbClr val="FF99CC"/>
                </a:solidFill>
              </a:rPr>
              <a:t>可以使减法运算转换为加法</a:t>
            </a:r>
            <a:r>
              <a:rPr kumimoji="1" lang="zh-CN" altLang="en-US" dirty="0"/>
              <a:t>运算，简化了机器的运算器电路；同时，在补码表示法中，</a:t>
            </a:r>
            <a:r>
              <a:rPr kumimoji="1" lang="en-US" altLang="zh-CN" dirty="0">
                <a:solidFill>
                  <a:schemeClr val="hlink"/>
                </a:solidFill>
              </a:rPr>
              <a:t>0</a:t>
            </a:r>
            <a:r>
              <a:rPr kumimoji="1" lang="zh-CN" altLang="en-US" dirty="0">
                <a:solidFill>
                  <a:schemeClr val="hlink"/>
                </a:solidFill>
              </a:rPr>
              <a:t>的表示形式是唯一的</a:t>
            </a:r>
            <a:r>
              <a:rPr kumimoji="1" lang="zh-CN" altLang="en-US" dirty="0"/>
              <a:t>。不过在补码表示法中，负数的表示范围比正数的表示范围要宽（能多表示一个最负的数）。字长为</a:t>
            </a:r>
            <a:r>
              <a:rPr kumimoji="1" lang="en-US" altLang="zh-CN" dirty="0"/>
              <a:t>N</a:t>
            </a:r>
            <a:r>
              <a:rPr kumimoji="1" lang="zh-CN" altLang="en-US" dirty="0"/>
              <a:t>的补码表示的</a:t>
            </a:r>
            <a:r>
              <a:rPr kumimoji="1" lang="zh-CN" altLang="en-US" dirty="0">
                <a:solidFill>
                  <a:schemeClr val="accent2"/>
                </a:solidFill>
              </a:rPr>
              <a:t>真值范围为  －</a:t>
            </a:r>
            <a:r>
              <a:rPr kumimoji="1" lang="en-US" altLang="zh-CN" dirty="0">
                <a:solidFill>
                  <a:schemeClr val="accent2"/>
                </a:solidFill>
              </a:rPr>
              <a:t>2^(N</a:t>
            </a:r>
            <a:r>
              <a:rPr kumimoji="1" lang="zh-CN" altLang="en-US" dirty="0">
                <a:solidFill>
                  <a:schemeClr val="accent2"/>
                </a:solidFill>
              </a:rPr>
              <a:t>－</a:t>
            </a:r>
            <a:r>
              <a:rPr kumimoji="1" lang="en-US" altLang="zh-CN" dirty="0">
                <a:solidFill>
                  <a:schemeClr val="accent2"/>
                </a:solidFill>
              </a:rPr>
              <a:t>1)  </a:t>
            </a:r>
            <a:r>
              <a:rPr kumimoji="1" lang="zh-CN" altLang="en-US" dirty="0">
                <a:solidFill>
                  <a:schemeClr val="accent2"/>
                </a:solidFill>
              </a:rPr>
              <a:t>～ ＋</a:t>
            </a:r>
            <a:r>
              <a:rPr kumimoji="1" lang="en-US" altLang="zh-CN" dirty="0">
                <a:solidFill>
                  <a:schemeClr val="accent2"/>
                </a:solidFill>
              </a:rPr>
              <a:t>(2^(N</a:t>
            </a:r>
            <a:r>
              <a:rPr kumimoji="1" lang="zh-CN" altLang="en-US" dirty="0">
                <a:solidFill>
                  <a:schemeClr val="accent2"/>
                </a:solidFill>
              </a:rPr>
              <a:t>－</a:t>
            </a:r>
            <a:r>
              <a:rPr kumimoji="1" lang="en-US" altLang="zh-CN" dirty="0">
                <a:solidFill>
                  <a:schemeClr val="accent2"/>
                </a:solidFill>
              </a:rPr>
              <a:t>1)</a:t>
            </a:r>
            <a:r>
              <a:rPr kumimoji="1" lang="zh-CN" altLang="en-US" dirty="0">
                <a:solidFill>
                  <a:schemeClr val="accent2"/>
                </a:solidFill>
              </a:rPr>
              <a:t>－</a:t>
            </a:r>
            <a:r>
              <a:rPr kumimoji="1" lang="en-US" altLang="zh-CN" dirty="0">
                <a:solidFill>
                  <a:schemeClr val="accent2"/>
                </a:solidFill>
              </a:rPr>
              <a:t>1)</a:t>
            </a:r>
            <a:r>
              <a:rPr kumimoji="1" lang="zh-CN" altLang="en-US" dirty="0"/>
              <a:t>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58079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补码的最高位既是符号位，也是数值位，如</a:t>
            </a:r>
            <a:r>
              <a:rPr lang="en-US" altLang="zh-CN" dirty="0"/>
              <a:t>1000</a:t>
            </a:r>
            <a:r>
              <a:rPr lang="zh-CN" altLang="en-US" dirty="0"/>
              <a:t>（</a:t>
            </a:r>
            <a:r>
              <a:rPr lang="en-US" altLang="zh-CN" dirty="0"/>
              <a:t>-4</a:t>
            </a:r>
            <a:r>
              <a:rPr lang="zh-CN" altLang="en-US" dirty="0"/>
              <a:t>）。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50093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1000" dirty="0"/>
              <a:t>若用</a:t>
            </a:r>
            <a:r>
              <a:rPr lang="en-US" altLang="zh-CN" sz="1000" dirty="0"/>
              <a:t>n</a:t>
            </a:r>
            <a:r>
              <a:rPr lang="zh-CN" altLang="en-US" sz="1000" dirty="0"/>
              <a:t>位二进制补码来表示有符号数</a:t>
            </a:r>
            <a:r>
              <a:rPr lang="en-US" altLang="zh-CN" sz="1000" dirty="0"/>
              <a:t>N</a:t>
            </a:r>
            <a:r>
              <a:rPr lang="zh-CN" altLang="en-US" sz="1000" dirty="0"/>
              <a:t>，则</a:t>
            </a:r>
          </a:p>
          <a:p>
            <a:pPr lvl="2" eaLnBrk="1" hangingPunct="1"/>
            <a:r>
              <a:rPr lang="en-US" altLang="zh-CN" sz="1000" dirty="0"/>
              <a:t>(N)</a:t>
            </a:r>
            <a:r>
              <a:rPr lang="zh-CN" altLang="en-US" sz="1000" dirty="0"/>
              <a:t>补</a:t>
            </a:r>
            <a:r>
              <a:rPr lang="en-US" altLang="zh-CN" sz="1000" dirty="0"/>
              <a:t>=(2^n+N) mod 2^n</a:t>
            </a:r>
          </a:p>
          <a:p>
            <a:pPr lvl="2" eaLnBrk="1" hangingPunct="1"/>
            <a:r>
              <a:rPr lang="zh-CN" altLang="en-US" sz="1000" dirty="0"/>
              <a:t>可表示</a:t>
            </a:r>
            <a:r>
              <a:rPr lang="en-US" altLang="zh-CN" sz="1000" dirty="0"/>
              <a:t>N</a:t>
            </a:r>
            <a:r>
              <a:rPr lang="zh-CN" altLang="en-US" sz="1000" dirty="0"/>
              <a:t>的范围：</a:t>
            </a:r>
            <a:r>
              <a:rPr lang="en-US" altLang="zh-CN" sz="1000" dirty="0"/>
              <a:t>-2^(n-1)~+2^(n-1)-1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78063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规则：</a:t>
            </a:r>
            <a:endParaRPr lang="en-US" altLang="zh-CN" dirty="0"/>
          </a:p>
          <a:p>
            <a:r>
              <a:rPr lang="zh-CN" altLang="en-US" sz="1800" b="1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zh-CN" altLang="zh-CN" sz="1800" b="1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实际值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zh-CN" altLang="zh-CN" sz="1800" b="1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补码</a:t>
            </a:r>
            <a:endParaRPr lang="zh-CN" altLang="zh-CN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宋体" panose="02010600030101010101" pitchFamily="2" charset="-122"/>
                <a:ea typeface="MS Mincho" panose="02020609040205080304" pitchFamily="49" charset="-128"/>
                <a:cs typeface="Times New Roman" panose="02020603050405020304" pitchFamily="18" charset="0"/>
              </a:rPr>
              <a:t>	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正数：余下位</a:t>
            </a:r>
            <a:r>
              <a:rPr lang="zh-CN" altLang="en-US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数值位</a:t>
            </a:r>
            <a:endParaRPr lang="zh-CN" altLang="zh-CN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449580" indent="449580"/>
            <a:r>
              <a:rPr lang="zh-CN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负数：全部位 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取反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数值位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+ 1</a:t>
            </a:r>
            <a:endParaRPr lang="zh-CN" altLang="zh-CN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宋体" panose="02010600030101010101" pitchFamily="2" charset="-122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indent="449580"/>
            <a:r>
              <a:rPr lang="zh-CN" altLang="zh-CN" sz="1800" b="1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补码 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US" altLang="zh-CN" sz="1800" b="1" dirty="0">
                <a:effectLst/>
                <a:latin typeface="宋体" panose="02010600030101010101" pitchFamily="2" charset="-122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zh-CN" altLang="zh-CN" sz="1800" b="1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实际值</a:t>
            </a:r>
            <a:endParaRPr lang="zh-CN" altLang="zh-CN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914400"/>
            <a:r>
              <a:rPr lang="zh-CN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正数：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+(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补码 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914400"/>
            <a:r>
              <a:rPr lang="zh-CN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负数：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–(/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补码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+ 1)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en-US" altLang="zh-CN" dirty="0"/>
              <a:t>5</a:t>
            </a:r>
            <a:r>
              <a:rPr lang="zh-CN" altLang="en-US" dirty="0"/>
              <a:t>原</a:t>
            </a:r>
            <a:r>
              <a:rPr lang="en-US" altLang="zh-CN" dirty="0"/>
              <a:t>=101</a:t>
            </a:r>
            <a:r>
              <a:rPr lang="zh-CN" altLang="en-US" dirty="0"/>
              <a:t>；</a:t>
            </a:r>
            <a:endParaRPr lang="en-US" altLang="zh-CN" dirty="0"/>
          </a:p>
          <a:p>
            <a:pPr eaLnBrk="1" hangingPunct="1"/>
            <a:r>
              <a:rPr lang="en-US" altLang="zh-CN" dirty="0"/>
              <a:t>X</a:t>
            </a:r>
            <a:r>
              <a:rPr lang="zh-CN" altLang="en-US" dirty="0"/>
              <a:t>补</a:t>
            </a:r>
            <a:r>
              <a:rPr lang="en-US" altLang="zh-CN" dirty="0"/>
              <a:t>=【1】</a:t>
            </a:r>
            <a:r>
              <a:rPr lang="zh-CN" altLang="en-US" dirty="0"/>
              <a:t>（／</a:t>
            </a:r>
            <a:r>
              <a:rPr lang="en-US" altLang="zh-CN" dirty="0"/>
              <a:t>5</a:t>
            </a:r>
            <a:r>
              <a:rPr lang="zh-CN" altLang="en-US" dirty="0"/>
              <a:t>原</a:t>
            </a:r>
            <a:r>
              <a:rPr lang="en-US" altLang="zh-CN" dirty="0"/>
              <a:t>+1)=[1](010+1)=1011</a:t>
            </a:r>
          </a:p>
          <a:p>
            <a:pPr eaLnBrk="1" hangingPunct="1"/>
            <a:r>
              <a:rPr lang="zh-CN" altLang="en-US" dirty="0"/>
              <a:t>3原</a:t>
            </a:r>
            <a:r>
              <a:rPr lang="en-US" altLang="zh-CN" dirty="0"/>
              <a:t>=011</a:t>
            </a:r>
          </a:p>
          <a:p>
            <a:pPr eaLnBrk="1" hangingPunct="1"/>
            <a:r>
              <a:rPr lang="en-US" altLang="zh-CN" dirty="0"/>
              <a:t>Y</a:t>
            </a:r>
            <a:r>
              <a:rPr lang="zh-CN" altLang="en-US" dirty="0"/>
              <a:t>补</a:t>
            </a:r>
            <a:r>
              <a:rPr lang="en-US" altLang="zh-CN" dirty="0"/>
              <a:t>=【0】</a:t>
            </a: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原）</a:t>
            </a:r>
            <a:r>
              <a:rPr lang="en-US" altLang="zh-CN" dirty="0"/>
              <a:t>=0011</a:t>
            </a:r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en-US" altLang="zh-CN" dirty="0"/>
              <a:t>(X+Y)</a:t>
            </a:r>
            <a:r>
              <a:rPr lang="zh-CN" altLang="en-US" dirty="0"/>
              <a:t>补</a:t>
            </a:r>
            <a:r>
              <a:rPr lang="en-US" altLang="zh-CN" dirty="0"/>
              <a:t>=X</a:t>
            </a:r>
            <a:r>
              <a:rPr lang="zh-CN" altLang="en-US" dirty="0"/>
              <a:t>补</a:t>
            </a:r>
            <a:r>
              <a:rPr lang="en-US" altLang="zh-CN" dirty="0"/>
              <a:t>+Y</a:t>
            </a:r>
            <a:r>
              <a:rPr lang="zh-CN" altLang="en-US" dirty="0"/>
              <a:t>补</a:t>
            </a:r>
            <a:r>
              <a:rPr lang="en-US" altLang="zh-CN" dirty="0"/>
              <a:t>=</a:t>
            </a:r>
            <a:r>
              <a:rPr lang="zh-CN" altLang="en-US" dirty="0"/>
              <a:t>（</a:t>
            </a:r>
            <a:r>
              <a:rPr lang="en-US" altLang="zh-CN" dirty="0"/>
              <a:t>1011</a:t>
            </a:r>
            <a:r>
              <a:rPr lang="zh-CN" altLang="en-US" dirty="0"/>
              <a:t>）补</a:t>
            </a:r>
            <a:r>
              <a:rPr lang="en-US" altLang="zh-CN" dirty="0"/>
              <a:t>+</a:t>
            </a:r>
            <a:r>
              <a:rPr lang="zh-CN" altLang="en-US" dirty="0"/>
              <a:t>（</a:t>
            </a:r>
            <a:r>
              <a:rPr lang="en-US" altLang="zh-CN" dirty="0"/>
              <a:t>0011</a:t>
            </a:r>
            <a:r>
              <a:rPr lang="zh-CN" altLang="en-US" dirty="0"/>
              <a:t>）补</a:t>
            </a:r>
            <a:r>
              <a:rPr lang="en-US" altLang="zh-CN" dirty="0"/>
              <a:t>=</a:t>
            </a:r>
            <a:r>
              <a:rPr lang="zh-CN" altLang="en-US" dirty="0"/>
              <a:t>（</a:t>
            </a:r>
            <a:r>
              <a:rPr lang="en-US" altLang="zh-CN" dirty="0"/>
              <a:t>1110</a:t>
            </a:r>
            <a:r>
              <a:rPr lang="zh-CN" altLang="en-US" dirty="0"/>
              <a:t>）补</a:t>
            </a:r>
            <a:r>
              <a:rPr lang="en-US" altLang="zh-CN" dirty="0"/>
              <a:t> =</a:t>
            </a:r>
            <a:r>
              <a:rPr lang="zh-CN" altLang="en-US" dirty="0"/>
              <a:t>（</a:t>
            </a:r>
            <a:r>
              <a:rPr lang="en-US" altLang="zh-CN" dirty="0"/>
              <a:t>【1】</a:t>
            </a:r>
            <a:r>
              <a:rPr lang="zh-CN" altLang="en-US" dirty="0"/>
              <a:t>（</a:t>
            </a:r>
            <a:r>
              <a:rPr lang="en-US" altLang="zh-CN" dirty="0"/>
              <a:t>110</a:t>
            </a:r>
            <a:r>
              <a:rPr lang="zh-CN" altLang="en-US" dirty="0"/>
              <a:t>））补</a:t>
            </a:r>
            <a:endParaRPr lang="en-US" altLang="zh-CN" dirty="0"/>
          </a:p>
          <a:p>
            <a:pPr marL="0" lvl="1" eaLnBrk="1" hangingPunct="1"/>
            <a:endParaRPr lang="en-US" altLang="zh-CN" dirty="0"/>
          </a:p>
          <a:p>
            <a:pPr marL="0" lvl="1" eaLnBrk="1" hangingPunct="1"/>
            <a:r>
              <a:rPr lang="zh-CN" altLang="en-US" dirty="0"/>
              <a:t>因为补码</a:t>
            </a:r>
            <a:r>
              <a:rPr lang="en-US" altLang="zh-CN" dirty="0"/>
              <a:t> </a:t>
            </a:r>
            <a:r>
              <a:rPr lang="zh-CN" altLang="en-US" dirty="0"/>
              <a:t>负数</a:t>
            </a:r>
            <a:r>
              <a:rPr lang="en-US" altLang="zh-CN" dirty="0"/>
              <a:t>-&gt;</a:t>
            </a:r>
            <a:r>
              <a:rPr lang="zh-CN" altLang="en-US" dirty="0"/>
              <a:t>实际值：</a:t>
            </a:r>
            <a:r>
              <a:rPr lang="en-US" altLang="zh-CN" dirty="0">
                <a:cs typeface="Arial" panose="020B0604020202020204" pitchFamily="34" charset="0"/>
              </a:rPr>
              <a:t>–</a:t>
            </a:r>
            <a:r>
              <a:rPr lang="en-US" altLang="zh-CN" dirty="0"/>
              <a:t> (</a:t>
            </a:r>
            <a:r>
              <a:rPr lang="zh-CN" altLang="en-US" dirty="0"/>
              <a:t>／ 补码</a:t>
            </a:r>
            <a:r>
              <a:rPr lang="en-US" altLang="zh-CN" dirty="0"/>
              <a:t> + 1)</a:t>
            </a:r>
          </a:p>
          <a:p>
            <a:pPr marL="0" lvl="1" eaLnBrk="1" hangingPunct="1"/>
            <a:r>
              <a:rPr lang="zh-CN" altLang="en-US" dirty="0"/>
              <a:t>因此（</a:t>
            </a:r>
            <a:r>
              <a:rPr lang="en-US" altLang="zh-CN" dirty="0"/>
              <a:t>1110</a:t>
            </a:r>
            <a:r>
              <a:rPr lang="zh-CN" altLang="en-US" dirty="0"/>
              <a:t>）补</a:t>
            </a:r>
            <a:r>
              <a:rPr lang="en-US" altLang="zh-CN" dirty="0"/>
              <a:t>=</a:t>
            </a:r>
            <a:r>
              <a:rPr lang="zh-CN" altLang="en-US" dirty="0"/>
              <a:t>-（／</a:t>
            </a:r>
            <a:r>
              <a:rPr lang="en-US" altLang="zh-CN" dirty="0"/>
              <a:t>1110+1</a:t>
            </a:r>
            <a:r>
              <a:rPr lang="zh-CN" altLang="en-US" dirty="0"/>
              <a:t>）原</a:t>
            </a:r>
            <a:r>
              <a:rPr lang="en-US" altLang="zh-CN" dirty="0"/>
              <a:t>= </a:t>
            </a:r>
            <a:r>
              <a:rPr lang="zh-CN" altLang="en-US" dirty="0"/>
              <a:t>-（</a:t>
            </a:r>
            <a:r>
              <a:rPr lang="en-US" altLang="zh-CN" dirty="0"/>
              <a:t>0001+1</a:t>
            </a:r>
            <a:r>
              <a:rPr lang="zh-CN" altLang="en-US" dirty="0"/>
              <a:t>）原</a:t>
            </a:r>
            <a:r>
              <a:rPr lang="en-US" altLang="zh-CN" dirty="0"/>
              <a:t>=-</a:t>
            </a:r>
            <a:r>
              <a:rPr lang="zh-CN" altLang="en-US" dirty="0"/>
              <a:t>（</a:t>
            </a:r>
            <a:r>
              <a:rPr lang="en-US" altLang="zh-CN" dirty="0"/>
              <a:t>0001+1)=-2</a:t>
            </a:r>
          </a:p>
          <a:p>
            <a:pPr marL="0" lvl="1" eaLnBrk="1" hangingPunct="1"/>
            <a:endParaRPr lang="en-US" altLang="zh-CN" dirty="0"/>
          </a:p>
          <a:p>
            <a:pPr marL="0" lvl="1" eaLnBrk="1" hangingPunct="1"/>
            <a:r>
              <a:rPr lang="zh-CN" altLang="en-US" dirty="0"/>
              <a:t>异号相加，因此不会溢出。</a:t>
            </a:r>
            <a:endParaRPr lang="en-US" altLang="zh-CN" dirty="0"/>
          </a:p>
          <a:p>
            <a:pPr marL="0" lvl="1" eaLnBrk="1" hangingPunct="1"/>
            <a:endParaRPr lang="en-US" altLang="zh-CN" dirty="0"/>
          </a:p>
          <a:p>
            <a:pPr marL="0" lvl="1" eaLnBrk="1" hangingPunct="1"/>
            <a:r>
              <a:rPr lang="en-US" altLang="zh-CN" dirty="0"/>
              <a:t>(X-Y) </a:t>
            </a:r>
            <a:r>
              <a:rPr lang="zh-CN" altLang="en-US" dirty="0"/>
              <a:t>补</a:t>
            </a:r>
            <a:r>
              <a:rPr lang="en-US" altLang="zh-CN" dirty="0"/>
              <a:t> = X</a:t>
            </a:r>
            <a:r>
              <a:rPr lang="zh-CN" altLang="en-US" dirty="0"/>
              <a:t>补</a:t>
            </a:r>
            <a:r>
              <a:rPr lang="en-US" altLang="zh-CN" dirty="0">
                <a:latin typeface="Times New Roman" panose="02020603050405020304" pitchFamily="18" charset="0"/>
              </a:rPr>
              <a:t>+ </a:t>
            </a:r>
            <a:r>
              <a:rPr lang="zh-CN" altLang="en-US" dirty="0">
                <a:latin typeface="Times New Roman" panose="02020603050405020304" pitchFamily="18" charset="0"/>
              </a:rPr>
              <a:t>／</a:t>
            </a:r>
            <a:r>
              <a:rPr lang="en-US" altLang="zh-CN" sz="1400" dirty="0">
                <a:latin typeface="Times New Roman" panose="02020603050405020304" pitchFamily="18" charset="0"/>
              </a:rPr>
              <a:t>(</a:t>
            </a:r>
            <a:r>
              <a:rPr lang="en-US" altLang="zh-CN" dirty="0">
                <a:latin typeface="Times New Roman" panose="02020603050405020304" pitchFamily="18" charset="0"/>
              </a:rPr>
              <a:t>Y</a:t>
            </a:r>
            <a:r>
              <a:rPr lang="en-US" altLang="zh-CN" sz="1400" dirty="0">
                <a:latin typeface="Times New Roman" panose="02020603050405020304" pitchFamily="18" charset="0"/>
              </a:rPr>
              <a:t>)</a:t>
            </a:r>
            <a:r>
              <a:rPr lang="zh-CN" altLang="en-US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dirty="0">
                <a:latin typeface="Times New Roman" panose="02020603050405020304" pitchFamily="18" charset="0"/>
              </a:rPr>
              <a:t>+ 1 =1011+</a:t>
            </a:r>
            <a:r>
              <a:rPr lang="zh-CN" altLang="en-US" dirty="0">
                <a:latin typeface="Times New Roman" panose="02020603050405020304" pitchFamily="18" charset="0"/>
              </a:rPr>
              <a:t>／</a:t>
            </a:r>
            <a:r>
              <a:rPr lang="en-US" altLang="zh-CN" dirty="0">
                <a:latin typeface="Times New Roman" panose="02020603050405020304" pitchFamily="18" charset="0"/>
              </a:rPr>
              <a:t>0011+1 = 【1】1000</a:t>
            </a:r>
          </a:p>
          <a:p>
            <a:pPr marL="0" lvl="1" eaLnBrk="1" hangingPunct="1"/>
            <a:r>
              <a:rPr lang="zh-CN" altLang="en-US" dirty="0"/>
              <a:t>异号相减，可能溢出，判断</a:t>
            </a:r>
            <a:endParaRPr lang="en-US" altLang="zh-CN" dirty="0"/>
          </a:p>
          <a:p>
            <a:r>
              <a:rPr lang="zh-CN" altLang="en-US" dirty="0"/>
              <a:t>进位情况：进进进无</a:t>
            </a:r>
            <a:endParaRPr lang="en-US" altLang="ja-JP" dirty="0"/>
          </a:p>
          <a:p>
            <a:r>
              <a:rPr lang="zh-CN" altLang="en-US" dirty="0"/>
              <a:t>最高位进位（从</a:t>
            </a:r>
            <a:r>
              <a:rPr lang="en-US" altLang="ja-JP" dirty="0"/>
              <a:t>4-&gt;5</a:t>
            </a:r>
            <a:r>
              <a:rPr lang="zh-CN" altLang="en-US" dirty="0"/>
              <a:t>）进</a:t>
            </a:r>
            <a:r>
              <a:rPr lang="en-US" altLang="ja-JP" dirty="0"/>
              <a:t>; </a:t>
            </a:r>
            <a:r>
              <a:rPr lang="zh-CN" altLang="en-US" dirty="0"/>
              <a:t>次高位进位（从</a:t>
            </a:r>
            <a:r>
              <a:rPr lang="en-US" altLang="ja-JP" dirty="0"/>
              <a:t>3-&gt;4</a:t>
            </a:r>
            <a:r>
              <a:rPr lang="zh-CN" altLang="en-US" dirty="0"/>
              <a:t>）进；相同，不溢出</a:t>
            </a:r>
            <a:endParaRPr lang="en-US" altLang="ja-JP" dirty="0"/>
          </a:p>
          <a:p>
            <a:pPr marL="0" lvl="1" eaLnBrk="1" hangingPunct="1"/>
            <a:r>
              <a:rPr lang="zh-CN" altLang="en-US" dirty="0"/>
              <a:t>因此丢弃最高位；</a:t>
            </a:r>
            <a:endParaRPr lang="en-US" altLang="zh-CN" dirty="0"/>
          </a:p>
          <a:p>
            <a:pPr marL="0" lvl="1" eaLnBrk="1" hangingPunct="1"/>
            <a:r>
              <a:rPr lang="en-US" altLang="zh-CN" dirty="0"/>
              <a:t>(X-Y) </a:t>
            </a:r>
            <a:r>
              <a:rPr lang="zh-CN" altLang="en-US" dirty="0"/>
              <a:t>补</a:t>
            </a:r>
            <a:r>
              <a:rPr lang="en-US" altLang="zh-CN" dirty="0"/>
              <a:t> = </a:t>
            </a:r>
            <a:r>
              <a:rPr lang="zh-CN" altLang="en-US" dirty="0"/>
              <a:t>（</a:t>
            </a:r>
            <a:r>
              <a:rPr lang="en-US" altLang="zh-CN" dirty="0"/>
              <a:t>1000</a:t>
            </a:r>
            <a:r>
              <a:rPr lang="zh-CN" altLang="en-US" dirty="0"/>
              <a:t>）补</a:t>
            </a:r>
            <a:endParaRPr lang="en-US" altLang="zh-CN" dirty="0"/>
          </a:p>
          <a:p>
            <a:pPr marL="0" lvl="1" eaLnBrk="1" hangingPunct="1"/>
            <a:r>
              <a:rPr lang="zh-CN" altLang="en-US" dirty="0"/>
              <a:t>由于高位为</a:t>
            </a:r>
            <a:r>
              <a:rPr lang="en-US" altLang="zh-CN" dirty="0"/>
              <a:t>1</a:t>
            </a:r>
            <a:r>
              <a:rPr lang="zh-CN" altLang="en-US" dirty="0"/>
              <a:t>，因此是负数，根据负数</a:t>
            </a:r>
            <a:r>
              <a:rPr lang="en-US" altLang="zh-CN" dirty="0"/>
              <a:t>-&gt;</a:t>
            </a:r>
            <a:r>
              <a:rPr lang="zh-CN" altLang="en-US" dirty="0"/>
              <a:t>实际值：</a:t>
            </a:r>
            <a:r>
              <a:rPr lang="en-US" altLang="zh-CN" dirty="0">
                <a:ea typeface="MS PGothic" panose="020B0600070205080204" pitchFamily="34" charset="-128"/>
                <a:cs typeface="Arial" panose="020B0604020202020204" pitchFamily="34" charset="0"/>
              </a:rPr>
              <a:t>–</a:t>
            </a:r>
            <a:r>
              <a:rPr lang="en-US" altLang="zh-CN" dirty="0"/>
              <a:t> (</a:t>
            </a:r>
            <a:r>
              <a:rPr lang="zh-CN" altLang="en-US" dirty="0"/>
              <a:t>／ 补码</a:t>
            </a:r>
            <a:r>
              <a:rPr lang="en-US" altLang="zh-CN" dirty="0"/>
              <a:t> + 1)</a:t>
            </a:r>
          </a:p>
          <a:p>
            <a:pPr marL="0" lvl="1" eaLnBrk="1" hangingPunct="1"/>
            <a:r>
              <a:rPr lang="en-US" altLang="zh-CN" dirty="0"/>
              <a:t>(X-Y) </a:t>
            </a:r>
            <a:r>
              <a:rPr lang="zh-CN" altLang="en-US" dirty="0"/>
              <a:t>补</a:t>
            </a:r>
            <a:r>
              <a:rPr lang="en-US" altLang="zh-CN" dirty="0"/>
              <a:t> = -</a:t>
            </a:r>
            <a:r>
              <a:rPr lang="zh-CN" altLang="en-US" dirty="0"/>
              <a:t>（／补码</a:t>
            </a:r>
            <a:r>
              <a:rPr lang="en-US" altLang="zh-CN" dirty="0"/>
              <a:t>+1</a:t>
            </a:r>
            <a:r>
              <a:rPr lang="zh-CN" altLang="en-US" dirty="0"/>
              <a:t>）</a:t>
            </a:r>
            <a:r>
              <a:rPr lang="en-US" altLang="zh-CN" dirty="0"/>
              <a:t>=-</a:t>
            </a:r>
            <a:r>
              <a:rPr lang="zh-CN" altLang="en-US" dirty="0"/>
              <a:t>（</a:t>
            </a:r>
            <a:r>
              <a:rPr lang="en-US" altLang="zh-CN" dirty="0"/>
              <a:t>0111+1</a:t>
            </a:r>
            <a:r>
              <a:rPr lang="zh-CN" altLang="en-US" dirty="0"/>
              <a:t>）原</a:t>
            </a:r>
            <a:r>
              <a:rPr lang="en-US" altLang="zh-CN" dirty="0"/>
              <a:t>=-</a:t>
            </a:r>
            <a:r>
              <a:rPr lang="zh-CN" altLang="en-US" dirty="0"/>
              <a:t>（</a:t>
            </a:r>
            <a:r>
              <a:rPr lang="en-US" altLang="zh-CN" dirty="0"/>
              <a:t>1000</a:t>
            </a:r>
            <a:r>
              <a:rPr lang="zh-CN" altLang="en-US" dirty="0"/>
              <a:t>）原</a:t>
            </a:r>
            <a:r>
              <a:rPr lang="en-US" altLang="zh-CN" dirty="0"/>
              <a:t>=-8</a:t>
            </a:r>
          </a:p>
          <a:p>
            <a:pPr marL="0" lvl="1" eaLnBrk="1" hangingPunct="1"/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35243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FF3300"/>
                </a:solidFill>
              </a:rPr>
              <a:t>异号相加，绝对值小于或等于两个值的绝对值中大的一个，一定不会过界</a:t>
            </a:r>
            <a:endParaRPr lang="en-US" altLang="zh-CN" dirty="0">
              <a:solidFill>
                <a:srgbClr val="FF3300"/>
              </a:solidFill>
            </a:endParaRPr>
          </a:p>
          <a:p>
            <a:pPr eaLnBrk="1" hangingPunct="1"/>
            <a:r>
              <a:rPr lang="zh-CN" altLang="en-US" dirty="0">
                <a:solidFill>
                  <a:srgbClr val="FF3300"/>
                </a:solidFill>
              </a:rPr>
              <a:t>同号相减，绝对值小于或等于两个值的绝对值中大的一个，一定不会过界</a:t>
            </a:r>
            <a:endParaRPr lang="en-US" altLang="zh-CN" dirty="0">
              <a:solidFill>
                <a:srgbClr val="FF3300"/>
              </a:solidFill>
            </a:endParaRPr>
          </a:p>
          <a:p>
            <a:pPr eaLnBrk="1" hangingPunct="1"/>
            <a:endParaRPr lang="en-US" altLang="zh-CN" dirty="0">
              <a:solidFill>
                <a:srgbClr val="FF3300"/>
              </a:solidFill>
            </a:endParaRPr>
          </a:p>
          <a:p>
            <a:pPr eaLnBrk="1" hangingPunct="1"/>
            <a:endParaRPr lang="en-US" altLang="zh-CN" dirty="0">
              <a:solidFill>
                <a:srgbClr val="FF3300"/>
              </a:solidFill>
            </a:endParaRPr>
          </a:p>
          <a:p>
            <a:pPr eaLnBrk="1" hangingPunct="1"/>
            <a:r>
              <a:rPr lang="zh-CN" altLang="en-US" dirty="0">
                <a:solidFill>
                  <a:srgbClr val="FF3300"/>
                </a:solidFill>
              </a:rPr>
              <a:t>同号相加，且最高位进位和次高位进位不相同；或异号相减，且最高位进位和次高位进位不相同：才会出现溢出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57436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X=5, X</a:t>
            </a:r>
            <a:r>
              <a:rPr lang="zh-CN" altLang="en-US" dirty="0"/>
              <a:t>补</a:t>
            </a:r>
            <a:r>
              <a:rPr lang="en-US" altLang="ja-JP" dirty="0"/>
              <a:t>=0101</a:t>
            </a:r>
          </a:p>
          <a:p>
            <a:r>
              <a:rPr lang="en-US" altLang="zh-CN" dirty="0"/>
              <a:t>Y=-7, Y</a:t>
            </a:r>
            <a:r>
              <a:rPr lang="zh-CN" altLang="en-US" dirty="0"/>
              <a:t>补</a:t>
            </a:r>
            <a:r>
              <a:rPr lang="en-US" altLang="ja-JP" dirty="0"/>
              <a:t>=([1](/111+1))</a:t>
            </a:r>
            <a:r>
              <a:rPr lang="zh-CN" altLang="en-US" dirty="0"/>
              <a:t>补</a:t>
            </a:r>
            <a:r>
              <a:rPr lang="en-US" altLang="ja-JP" dirty="0"/>
              <a:t>=([1](000+1))</a:t>
            </a:r>
            <a:r>
              <a:rPr lang="zh-CN" altLang="en-US" dirty="0"/>
              <a:t>补</a:t>
            </a:r>
            <a:r>
              <a:rPr lang="en-US" altLang="ja-JP" dirty="0"/>
              <a:t>=(1001)</a:t>
            </a:r>
            <a:r>
              <a:rPr lang="zh-CN" altLang="en-US" dirty="0"/>
              <a:t>补</a:t>
            </a:r>
            <a:endParaRPr lang="en-US" altLang="ja-JP" dirty="0"/>
          </a:p>
          <a:p>
            <a:r>
              <a:rPr lang="en-US" altLang="zh-CN" dirty="0"/>
              <a:t> </a:t>
            </a:r>
          </a:p>
          <a:p>
            <a:r>
              <a:rPr lang="en-US" altLang="zh-CN" dirty="0"/>
              <a:t> (X+Y)</a:t>
            </a:r>
            <a:r>
              <a:rPr lang="zh-CN" altLang="en-US" dirty="0"/>
              <a:t>补</a:t>
            </a:r>
            <a:r>
              <a:rPr lang="en-US" altLang="ja-JP" dirty="0"/>
              <a:t>=X</a:t>
            </a:r>
            <a:r>
              <a:rPr lang="zh-CN" altLang="en-US" dirty="0"/>
              <a:t>补</a:t>
            </a:r>
            <a:r>
              <a:rPr lang="en-US" altLang="ja-JP" dirty="0"/>
              <a:t>+Y</a:t>
            </a:r>
            <a:r>
              <a:rPr lang="zh-CN" altLang="en-US" dirty="0"/>
              <a:t>补</a:t>
            </a:r>
            <a:r>
              <a:rPr lang="en-US" altLang="ja-JP" dirty="0"/>
              <a:t>=(0101+1001) </a:t>
            </a:r>
            <a:r>
              <a:rPr lang="zh-CN" altLang="en-US" dirty="0"/>
              <a:t>补</a:t>
            </a:r>
            <a:r>
              <a:rPr lang="en-US" altLang="ja-JP" dirty="0"/>
              <a:t>=(1110)</a:t>
            </a:r>
            <a:r>
              <a:rPr lang="zh-CN" altLang="en-US" dirty="0"/>
              <a:t>补</a:t>
            </a:r>
            <a:r>
              <a:rPr lang="en-US" altLang="ja-JP" dirty="0"/>
              <a:t>=-(/1110+1)</a:t>
            </a:r>
            <a:r>
              <a:rPr lang="zh-CN" altLang="en-US" dirty="0"/>
              <a:t>原</a:t>
            </a:r>
            <a:r>
              <a:rPr lang="en-US" altLang="ja-JP" dirty="0"/>
              <a:t>=-(0001+1)</a:t>
            </a:r>
            <a:r>
              <a:rPr lang="zh-CN" altLang="en-US" dirty="0"/>
              <a:t>原</a:t>
            </a:r>
            <a:r>
              <a:rPr lang="en-US" altLang="ja-JP" dirty="0"/>
              <a:t>=-2</a:t>
            </a:r>
          </a:p>
          <a:p>
            <a:r>
              <a:rPr lang="zh-CN" altLang="en-US" dirty="0"/>
              <a:t>进位情况：无无无进</a:t>
            </a:r>
            <a:endParaRPr lang="en-US" altLang="ja-JP" dirty="0"/>
          </a:p>
          <a:p>
            <a:r>
              <a:rPr lang="zh-CN" altLang="en-US" dirty="0"/>
              <a:t>最高位进位（从</a:t>
            </a:r>
            <a:r>
              <a:rPr lang="en-US" altLang="ja-JP" dirty="0"/>
              <a:t>4-&gt;5</a:t>
            </a:r>
            <a:r>
              <a:rPr lang="zh-CN" altLang="en-US" dirty="0"/>
              <a:t>）无</a:t>
            </a:r>
            <a:r>
              <a:rPr lang="en-US" altLang="ja-JP" dirty="0"/>
              <a:t>; </a:t>
            </a:r>
            <a:r>
              <a:rPr lang="zh-CN" altLang="en-US" dirty="0"/>
              <a:t>次高位进位（从</a:t>
            </a:r>
            <a:r>
              <a:rPr lang="en-US" altLang="ja-JP" dirty="0"/>
              <a:t>3-&gt;4</a:t>
            </a:r>
            <a:r>
              <a:rPr lang="zh-CN" altLang="en-US" dirty="0"/>
              <a:t>）无；相同，不溢出</a:t>
            </a:r>
            <a:endParaRPr lang="en-US" altLang="ja-JP" dirty="0"/>
          </a:p>
          <a:p>
            <a:r>
              <a:rPr lang="en-US" altLang="zh-CN" dirty="0"/>
              <a:t> </a:t>
            </a:r>
          </a:p>
          <a:p>
            <a:r>
              <a:rPr lang="zh-CN" altLang="en-US" dirty="0"/>
              <a:t>（</a:t>
            </a:r>
            <a:r>
              <a:rPr lang="en-US" altLang="ja-JP" dirty="0"/>
              <a:t>X-Y</a:t>
            </a:r>
            <a:r>
              <a:rPr lang="zh-CN" altLang="en-US" dirty="0"/>
              <a:t>）补 </a:t>
            </a:r>
            <a:r>
              <a:rPr lang="en-US" altLang="ja-JP" dirty="0"/>
              <a:t>= X</a:t>
            </a:r>
            <a:r>
              <a:rPr lang="zh-CN" altLang="en-US" dirty="0"/>
              <a:t>补</a:t>
            </a:r>
            <a:r>
              <a:rPr lang="en-US" altLang="ja-JP" dirty="0"/>
              <a:t>+</a:t>
            </a:r>
            <a:r>
              <a:rPr lang="zh-CN" altLang="en-US" dirty="0"/>
              <a:t>／</a:t>
            </a:r>
            <a:r>
              <a:rPr lang="en-US" altLang="ja-JP" dirty="0"/>
              <a:t>Y</a:t>
            </a:r>
            <a:r>
              <a:rPr lang="zh-CN" altLang="en-US" dirty="0"/>
              <a:t>补</a:t>
            </a:r>
            <a:r>
              <a:rPr lang="en-US" altLang="ja-JP" dirty="0"/>
              <a:t>+1 =</a:t>
            </a:r>
            <a:r>
              <a:rPr lang="zh-CN" altLang="en-US" dirty="0"/>
              <a:t>（</a:t>
            </a:r>
            <a:r>
              <a:rPr lang="en-US" altLang="ja-JP" dirty="0"/>
              <a:t>0101+</a:t>
            </a:r>
            <a:r>
              <a:rPr lang="zh-CN" altLang="en-US" dirty="0"/>
              <a:t>／</a:t>
            </a:r>
            <a:r>
              <a:rPr lang="en-US" altLang="ja-JP" dirty="0"/>
              <a:t>1001+1</a:t>
            </a:r>
            <a:r>
              <a:rPr lang="zh-CN" altLang="en-US" dirty="0"/>
              <a:t>）补 </a:t>
            </a:r>
            <a:r>
              <a:rPr lang="en-US" altLang="ja-JP" dirty="0"/>
              <a:t>= </a:t>
            </a:r>
            <a:r>
              <a:rPr lang="zh-CN" altLang="en-US" dirty="0"/>
              <a:t>（</a:t>
            </a:r>
            <a:r>
              <a:rPr lang="en-US" altLang="ja-JP" dirty="0"/>
              <a:t>0101+0110+1</a:t>
            </a:r>
            <a:r>
              <a:rPr lang="zh-CN" altLang="en-US" dirty="0"/>
              <a:t>）补</a:t>
            </a:r>
            <a:r>
              <a:rPr lang="en-US" altLang="ja-JP" dirty="0"/>
              <a:t>=</a:t>
            </a:r>
            <a:r>
              <a:rPr lang="zh-CN" altLang="en-US" dirty="0"/>
              <a:t>（</a:t>
            </a:r>
            <a:r>
              <a:rPr lang="en-US" altLang="ja-JP" dirty="0"/>
              <a:t>1100</a:t>
            </a:r>
            <a:r>
              <a:rPr lang="zh-CN" altLang="en-US" dirty="0"/>
              <a:t>）补</a:t>
            </a:r>
            <a:r>
              <a:rPr lang="en-US" altLang="ja-JP" dirty="0"/>
              <a:t>=-</a:t>
            </a:r>
            <a:r>
              <a:rPr lang="zh-CN" altLang="en-US" dirty="0"/>
              <a:t>（／</a:t>
            </a:r>
            <a:r>
              <a:rPr lang="en-US" altLang="ja-JP" dirty="0"/>
              <a:t>1100+1</a:t>
            </a:r>
            <a:r>
              <a:rPr lang="zh-CN" altLang="en-US" dirty="0"/>
              <a:t>）原</a:t>
            </a:r>
            <a:r>
              <a:rPr lang="en-US" altLang="ja-JP" dirty="0"/>
              <a:t>=-</a:t>
            </a:r>
            <a:r>
              <a:rPr lang="zh-CN" altLang="en-US" dirty="0"/>
              <a:t>（</a:t>
            </a:r>
            <a:r>
              <a:rPr lang="en-US" altLang="ja-JP" dirty="0"/>
              <a:t>0011+1</a:t>
            </a:r>
            <a:r>
              <a:rPr lang="zh-CN" altLang="en-US" dirty="0"/>
              <a:t>）原</a:t>
            </a:r>
            <a:r>
              <a:rPr lang="en-US" altLang="ja-JP" dirty="0"/>
              <a:t>=-4</a:t>
            </a:r>
          </a:p>
          <a:p>
            <a:r>
              <a:rPr lang="zh-CN" altLang="en-US" dirty="0"/>
              <a:t>进位情况：无进进进</a:t>
            </a:r>
            <a:endParaRPr lang="en-US" altLang="ja-JP" dirty="0"/>
          </a:p>
          <a:p>
            <a:r>
              <a:rPr lang="zh-CN" altLang="en-US" dirty="0"/>
              <a:t>最高位进位（从</a:t>
            </a:r>
            <a:r>
              <a:rPr lang="en-US" altLang="ja-JP" dirty="0"/>
              <a:t>4-&gt;5</a:t>
            </a:r>
            <a:r>
              <a:rPr lang="zh-CN" altLang="en-US" dirty="0"/>
              <a:t>）无</a:t>
            </a:r>
            <a:r>
              <a:rPr lang="en-US" altLang="ja-JP" dirty="0"/>
              <a:t>; </a:t>
            </a:r>
            <a:r>
              <a:rPr lang="zh-CN" altLang="en-US" dirty="0"/>
              <a:t>次高位进位（从</a:t>
            </a:r>
            <a:r>
              <a:rPr lang="en-US" altLang="ja-JP" dirty="0"/>
              <a:t>3-&gt;4</a:t>
            </a:r>
            <a:r>
              <a:rPr lang="zh-CN" altLang="en-US" dirty="0"/>
              <a:t>）进；不同，溢出</a:t>
            </a:r>
            <a:endParaRPr lang="en-US" altLang="ja-JP" dirty="0"/>
          </a:p>
          <a:p>
            <a:r>
              <a:rPr lang="en-US" altLang="zh-CN" dirty="0"/>
              <a:t> </a:t>
            </a:r>
          </a:p>
          <a:p>
            <a:r>
              <a:rPr lang="en-US" altLang="zh-CN" dirty="0"/>
              <a:t>X=-8</a:t>
            </a:r>
            <a:r>
              <a:rPr lang="zh-CN" altLang="en-US" dirty="0"/>
              <a:t>，</a:t>
            </a:r>
            <a:r>
              <a:rPr lang="en-US" altLang="ja-JP" dirty="0"/>
              <a:t>X</a:t>
            </a:r>
            <a:r>
              <a:rPr lang="zh-CN" altLang="en-US" dirty="0"/>
              <a:t>补</a:t>
            </a:r>
            <a:r>
              <a:rPr lang="en-US" altLang="ja-JP" dirty="0"/>
              <a:t>=[1](/1000+1)=[1](0111+1)=1000</a:t>
            </a:r>
          </a:p>
          <a:p>
            <a:r>
              <a:rPr lang="en-US" altLang="zh-CN" dirty="0"/>
              <a:t>Y=-3, Y</a:t>
            </a:r>
            <a:r>
              <a:rPr lang="zh-CN" altLang="en-US" dirty="0"/>
              <a:t>补</a:t>
            </a:r>
            <a:r>
              <a:rPr lang="en-US" altLang="ja-JP" dirty="0"/>
              <a:t>=[1](/0011+1)=[1](1100+1)=1101</a:t>
            </a:r>
          </a:p>
          <a:p>
            <a:r>
              <a:rPr lang="en-US" altLang="zh-CN" dirty="0"/>
              <a:t> </a:t>
            </a:r>
          </a:p>
          <a:p>
            <a:r>
              <a:rPr lang="en-US" altLang="zh-CN" dirty="0"/>
              <a:t>(X+Y)</a:t>
            </a:r>
            <a:r>
              <a:rPr lang="zh-CN" altLang="en-US" dirty="0"/>
              <a:t>补</a:t>
            </a:r>
            <a:r>
              <a:rPr lang="en-US" altLang="ja-JP" dirty="0"/>
              <a:t>=X</a:t>
            </a:r>
            <a:r>
              <a:rPr lang="zh-CN" altLang="en-US" dirty="0"/>
              <a:t>补</a:t>
            </a:r>
            <a:r>
              <a:rPr lang="en-US" altLang="ja-JP" dirty="0"/>
              <a:t>+Y</a:t>
            </a:r>
            <a:r>
              <a:rPr lang="zh-CN" altLang="en-US" dirty="0"/>
              <a:t>补</a:t>
            </a:r>
            <a:r>
              <a:rPr lang="en-US" altLang="ja-JP" dirty="0"/>
              <a:t>=1000+1101=[10]101</a:t>
            </a:r>
          </a:p>
          <a:p>
            <a:r>
              <a:rPr lang="zh-CN" altLang="en-US" dirty="0"/>
              <a:t>进位情况：进无无无</a:t>
            </a:r>
            <a:endParaRPr lang="en-US" altLang="ja-JP" dirty="0"/>
          </a:p>
          <a:p>
            <a:r>
              <a:rPr lang="zh-CN" altLang="en-US" dirty="0"/>
              <a:t>最高位进位（从</a:t>
            </a:r>
            <a:r>
              <a:rPr lang="en-US" altLang="ja-JP" dirty="0"/>
              <a:t>4-&gt;5</a:t>
            </a:r>
            <a:r>
              <a:rPr lang="zh-CN" altLang="en-US" dirty="0"/>
              <a:t>）进</a:t>
            </a:r>
            <a:r>
              <a:rPr lang="en-US" altLang="ja-JP" dirty="0"/>
              <a:t>; </a:t>
            </a:r>
            <a:r>
              <a:rPr lang="zh-CN" altLang="en-US" dirty="0"/>
              <a:t>次高位进位（从</a:t>
            </a:r>
            <a:r>
              <a:rPr lang="en-US" altLang="ja-JP" dirty="0"/>
              <a:t>3-&gt;4</a:t>
            </a:r>
            <a:r>
              <a:rPr lang="zh-CN" altLang="en-US" dirty="0"/>
              <a:t>）无；不同，溢出</a:t>
            </a:r>
            <a:endParaRPr lang="en-US" altLang="ja-JP" dirty="0"/>
          </a:p>
          <a:p>
            <a:r>
              <a:rPr lang="en-US" altLang="zh-CN" dirty="0"/>
              <a:t> </a:t>
            </a:r>
          </a:p>
          <a:p>
            <a:r>
              <a:rPr lang="en-US" altLang="zh-CN" dirty="0"/>
              <a:t>(X-Y)</a:t>
            </a:r>
            <a:r>
              <a:rPr lang="zh-CN" altLang="en-US" dirty="0"/>
              <a:t>补</a:t>
            </a:r>
            <a:r>
              <a:rPr lang="en-US" altLang="ja-JP" dirty="0"/>
              <a:t>=X+/Y</a:t>
            </a:r>
            <a:r>
              <a:rPr lang="zh-CN" altLang="en-US" dirty="0"/>
              <a:t>补</a:t>
            </a:r>
            <a:r>
              <a:rPr lang="en-US" altLang="ja-JP" dirty="0"/>
              <a:t>+1=1000+/1101+1=1000+0010+1=1011</a:t>
            </a:r>
          </a:p>
          <a:p>
            <a:r>
              <a:rPr lang="zh-CN" altLang="en-US" dirty="0"/>
              <a:t>进位情况：无无无无</a:t>
            </a:r>
            <a:endParaRPr lang="en-US" altLang="ja-JP" dirty="0"/>
          </a:p>
          <a:p>
            <a:r>
              <a:rPr lang="zh-CN" altLang="en-US" dirty="0"/>
              <a:t>最高位进位（从</a:t>
            </a:r>
            <a:r>
              <a:rPr lang="en-US" altLang="ja-JP" dirty="0"/>
              <a:t>4-&gt;5</a:t>
            </a:r>
            <a:r>
              <a:rPr lang="zh-CN" altLang="en-US" dirty="0"/>
              <a:t>）无</a:t>
            </a:r>
            <a:r>
              <a:rPr lang="en-US" altLang="ja-JP" dirty="0"/>
              <a:t>; </a:t>
            </a:r>
            <a:r>
              <a:rPr lang="zh-CN" altLang="en-US" dirty="0"/>
              <a:t>次高位进位（从</a:t>
            </a:r>
            <a:r>
              <a:rPr lang="en-US" altLang="ja-JP" dirty="0"/>
              <a:t>3-&gt;4</a:t>
            </a:r>
            <a:r>
              <a:rPr lang="zh-CN" altLang="en-US" dirty="0"/>
              <a:t>）无；相同，不溢出</a:t>
            </a:r>
            <a:endParaRPr lang="en-US" altLang="ja-JP" dirty="0"/>
          </a:p>
          <a:p>
            <a:r>
              <a:rPr lang="en-US" altLang="zh-CN" dirty="0"/>
              <a:t>(X-Y)</a:t>
            </a:r>
            <a:r>
              <a:rPr lang="zh-CN" altLang="en-US" dirty="0"/>
              <a:t>原</a:t>
            </a:r>
            <a:r>
              <a:rPr lang="en-US" altLang="ja-JP" dirty="0"/>
              <a:t>=-(/(X-Y)</a:t>
            </a:r>
            <a:r>
              <a:rPr lang="zh-CN" altLang="en-US" dirty="0"/>
              <a:t>补</a:t>
            </a:r>
            <a:r>
              <a:rPr lang="en-US" altLang="ja-JP" dirty="0"/>
              <a:t>+1)=-(/1011+1)=-(0100+1)=-0101=-5</a:t>
            </a:r>
          </a:p>
          <a:p>
            <a:pPr eaLnBrk="1" hangingPunct="1"/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29881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kumimoji="1" lang="zh-CN" altLang="en-US" dirty="0"/>
              <a:t>二进制数码不仅可以表示数量的大小，还可以表示不同的事物或状态。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编码：以一定的规则，编制代码的过程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译码：将代码还原成所表示事物或状态的过程</a:t>
            </a:r>
          </a:p>
          <a:p>
            <a:pPr lvl="1" eaLnBrk="1" hangingPunct="1">
              <a:lnSpc>
                <a:spcPct val="110000"/>
              </a:lnSpc>
            </a:pPr>
            <a:r>
              <a:rPr kumimoji="1" lang="zh-CN" altLang="en-US" dirty="0">
                <a:latin typeface="Times New Roman" panose="02020603050405020304" pitchFamily="18" charset="0"/>
              </a:rPr>
              <a:t>码制：编制代码所要遵循的规则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40621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zh-CN" dirty="0"/>
              <a:t>ASCII</a:t>
            </a:r>
            <a:r>
              <a:rPr lang="zh-CN" altLang="en-US" dirty="0"/>
              <a:t>（</a:t>
            </a:r>
            <a:r>
              <a:rPr lang="en-US" altLang="zh-CN" dirty="0"/>
              <a:t>pronunciation: </a:t>
            </a:r>
            <a:r>
              <a:rPr lang="en-US" altLang="zh-CN" dirty="0">
                <a:hlinkClick r:id="rId3" tooltip="Wikipedia:IPA for English"/>
              </a:rPr>
              <a:t>/</a:t>
            </a:r>
            <a:r>
              <a:rPr lang="en-US" altLang="zh-CN" dirty="0">
                <a:hlinkClick r:id="rId4" tooltip="Wikipedia:IPA for English"/>
              </a:rPr>
              <a:t>æski</a:t>
            </a:r>
            <a:r>
              <a:rPr lang="en-US" altLang="zh-CN" dirty="0">
                <a:hlinkClick r:id="rId3" tooltip="Wikipedia:IPA for English"/>
              </a:rPr>
              <a:t>/</a:t>
            </a:r>
            <a:r>
              <a:rPr lang="en-US" altLang="zh-CN" dirty="0"/>
              <a:t> </a:t>
            </a:r>
            <a:r>
              <a:rPr lang="en-US" altLang="zh-CN" i="1" dirty="0"/>
              <a:t>ASS-</a:t>
            </a:r>
            <a:r>
              <a:rPr lang="en-US" altLang="zh-CN" i="1" dirty="0" err="1"/>
              <a:t>kee</a:t>
            </a:r>
            <a:r>
              <a:rPr lang="zh-CN" altLang="en-US" dirty="0"/>
              <a:t>，</a:t>
            </a:r>
            <a:r>
              <a:rPr lang="en-US" altLang="zh-CN" dirty="0"/>
              <a:t>American Standard Code for Information Interchange</a:t>
            </a:r>
            <a:r>
              <a:rPr lang="zh-CN" altLang="en-US" dirty="0"/>
              <a:t>，美国信息交换标准代码）是基于拉丁字母的一套电脑编码系统。它主要用于显示现代英语，而其扩展版本</a:t>
            </a:r>
            <a:r>
              <a:rPr lang="en-US" altLang="zh-CN" dirty="0"/>
              <a:t>EASCII</a:t>
            </a:r>
            <a:r>
              <a:rPr lang="zh-CN" altLang="en-US" dirty="0"/>
              <a:t>则可以部分支持其他西欧语言，并等同于国际标准</a:t>
            </a:r>
            <a:r>
              <a:rPr lang="en-US" altLang="zh-CN" dirty="0"/>
              <a:t>ISO/IEC 646</a:t>
            </a:r>
            <a:r>
              <a:rPr lang="zh-CN" altLang="en-US" dirty="0"/>
              <a:t>。由于万维网使得</a:t>
            </a:r>
            <a:r>
              <a:rPr lang="en-US" altLang="zh-CN" dirty="0"/>
              <a:t>ASCII</a:t>
            </a:r>
            <a:r>
              <a:rPr lang="zh-CN" altLang="en-US" dirty="0"/>
              <a:t>广为通用，直到</a:t>
            </a:r>
            <a:r>
              <a:rPr lang="en-US" altLang="zh-CN" dirty="0"/>
              <a:t>2007</a:t>
            </a:r>
            <a:r>
              <a:rPr lang="zh-CN" altLang="en-US" dirty="0"/>
              <a:t>年</a:t>
            </a:r>
            <a:r>
              <a:rPr lang="en-US" altLang="zh-CN" dirty="0"/>
              <a:t>12</a:t>
            </a:r>
            <a:r>
              <a:rPr lang="zh-CN" altLang="en-US" dirty="0"/>
              <a:t>月，逐渐被</a:t>
            </a:r>
            <a:r>
              <a:rPr lang="en-US" altLang="zh-CN" dirty="0"/>
              <a:t>Unicode</a:t>
            </a:r>
            <a:r>
              <a:rPr lang="zh-CN" altLang="en-US" dirty="0"/>
              <a:t>取代。</a:t>
            </a:r>
            <a:endParaRPr lang="en-US" altLang="zh-CN" sz="900" dirty="0"/>
          </a:p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1000" dirty="0"/>
              <a:t>用</a:t>
            </a:r>
            <a:r>
              <a:rPr lang="en-US" altLang="zh-CN" sz="1000" dirty="0"/>
              <a:t>7</a:t>
            </a:r>
            <a:r>
              <a:rPr lang="zh-CN" altLang="en-US" sz="1000" dirty="0"/>
              <a:t>位二进制编码表示一个字符，共可表示</a:t>
            </a:r>
            <a:r>
              <a:rPr lang="en-US" altLang="zh-CN" sz="1000" dirty="0"/>
              <a:t>128</a:t>
            </a:r>
            <a:r>
              <a:rPr lang="zh-CN" altLang="en-US" sz="1000" dirty="0"/>
              <a:t>个不同的字符（</a:t>
            </a:r>
            <a:r>
              <a:rPr lang="zh-CN" altLang="en-US" sz="900" dirty="0">
                <a:solidFill>
                  <a:srgbClr val="000066"/>
                </a:solidFill>
              </a:rPr>
              <a:t>大、小写英文字母、十进制数、标点符号、运算符号、控制符号等</a:t>
            </a:r>
            <a:r>
              <a:rPr lang="zh-CN" altLang="en-US" sz="1000" dirty="0"/>
              <a:t>）。通常使用时在最高位添 </a:t>
            </a:r>
            <a:r>
              <a:rPr lang="en-US" altLang="zh-CN" sz="1000" dirty="0"/>
              <a:t>0 </a:t>
            </a:r>
            <a:r>
              <a:rPr lang="zh-CN" altLang="en-US" sz="1000" dirty="0"/>
              <a:t>凑成 </a:t>
            </a:r>
            <a:r>
              <a:rPr lang="en-US" altLang="zh-CN" sz="1000" dirty="0"/>
              <a:t>8 </a:t>
            </a:r>
            <a:r>
              <a:rPr lang="zh-CN" altLang="en-US" sz="1000" dirty="0"/>
              <a:t>位二进制编码，或根据实际情况将最高位用作校验位。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endParaRPr lang="zh-CN" altLang="en-US" sz="1000" dirty="0"/>
          </a:p>
          <a:p>
            <a:pPr eaLnBrk="1" hangingPunct="1">
              <a:lnSpc>
                <a:spcPct val="80000"/>
              </a:lnSpc>
            </a:pPr>
            <a:r>
              <a:rPr lang="zh-CN" altLang="en-US" sz="900" dirty="0"/>
              <a:t>控制字符缩写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900" dirty="0"/>
              <a:t>NUL	Null				SI	Shift In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900" dirty="0"/>
              <a:t>SOH	Start of Header		DLE	Data Link Escape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900" dirty="0"/>
              <a:t>STX	Start of Text			DC1-DC4	Device Control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900" dirty="0"/>
              <a:t>ETX	End of Text			NAK	Negative Acknowledgement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900" dirty="0"/>
              <a:t>EOT	End of Transmission	SYN	Synchronous idle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900" dirty="0"/>
              <a:t>ENQ	Enquiry			ETB	End of Transmitted Block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900" dirty="0"/>
              <a:t>ACK	Acknowledgement		CAN	Cancel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900" dirty="0"/>
              <a:t>BEL	Bell				EM	End of Medium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900" dirty="0"/>
              <a:t>BS	Backspace			SUB	Substitute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900" dirty="0"/>
              <a:t>HT	Horizontal Tab		ESC	Escape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900" dirty="0"/>
              <a:t>LF	Line Feed (New Line)	FS	File Separator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900" dirty="0"/>
              <a:t>VT	Vertical Tab			GS	Group Separator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900" dirty="0"/>
              <a:t>FF	Form Feed (New Page)	RS	Record Separator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900" dirty="0"/>
              <a:t>CR	Carriage Return		US	Unit Separator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900" dirty="0"/>
              <a:t>SO	Shift Out			DEL	Delete</a:t>
            </a:r>
          </a:p>
          <a:p>
            <a:pPr eaLnBrk="1" hangingPunct="1">
              <a:lnSpc>
                <a:spcPct val="80000"/>
              </a:lnSpc>
            </a:pPr>
            <a:endParaRPr lang="en-US" altLang="zh-CN" sz="9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900" dirty="0"/>
              <a:t>SP    Space</a:t>
            </a:r>
          </a:p>
          <a:p>
            <a:pPr eaLnBrk="1" hangingPunct="1">
              <a:lnSpc>
                <a:spcPct val="80000"/>
              </a:lnSpc>
            </a:pPr>
            <a:endParaRPr lang="zh-CN" altLang="en-US" sz="900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6219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Gray Code</a:t>
            </a:r>
          </a:p>
          <a:p>
            <a:pPr eaLnBrk="1" hangingPunct="1"/>
            <a:r>
              <a:rPr kumimoji="1" lang="zh-CN" altLang="en-US" dirty="0"/>
              <a:t>格雷码有许多形式，如余</a:t>
            </a:r>
            <a:r>
              <a:rPr kumimoji="1" lang="en-US" altLang="zh-CN" dirty="0"/>
              <a:t>3</a:t>
            </a:r>
            <a:r>
              <a:rPr kumimoji="1" lang="zh-CN" altLang="en-US" dirty="0"/>
              <a:t>循环码等。</a:t>
            </a:r>
            <a:endParaRPr lang="en-US" altLang="zh-CN" dirty="0"/>
          </a:p>
          <a:p>
            <a:pPr eaLnBrk="1" hangingPunct="1"/>
            <a:r>
              <a:rPr lang="zh-CN" altLang="en-US" dirty="0"/>
              <a:t>应用：减少过渡噪声。</a:t>
            </a:r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10936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8118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4 </a:t>
            </a:r>
            <a:r>
              <a:rPr lang="zh-CN" altLang="en-US" dirty="0">
                <a:latin typeface="Times New Roman" panose="02020603050405020304" pitchFamily="18" charset="0"/>
              </a:rPr>
              <a:t>位二进制数码有</a:t>
            </a:r>
            <a:r>
              <a:rPr lang="en-US" altLang="zh-CN" dirty="0">
                <a:latin typeface="Times New Roman" panose="02020603050405020304" pitchFamily="18" charset="0"/>
              </a:rPr>
              <a:t>16</a:t>
            </a:r>
            <a:r>
              <a:rPr lang="zh-CN" altLang="en-US" dirty="0">
                <a:latin typeface="Times New Roman" panose="02020603050405020304" pitchFamily="18" charset="0"/>
              </a:rPr>
              <a:t>种代码，从中选择</a:t>
            </a:r>
            <a:r>
              <a:rPr lang="en-US" altLang="zh-CN" dirty="0">
                <a:latin typeface="Times New Roman" panose="02020603050405020304" pitchFamily="18" charset="0"/>
              </a:rPr>
              <a:t>10</a:t>
            </a:r>
            <a:r>
              <a:rPr lang="zh-CN" altLang="en-US" dirty="0">
                <a:latin typeface="Times New Roman" panose="02020603050405020304" pitchFamily="18" charset="0"/>
              </a:rPr>
              <a:t>种来表示</a:t>
            </a:r>
            <a:r>
              <a:rPr lang="en-US" altLang="zh-CN" dirty="0">
                <a:latin typeface="Times New Roman" panose="02020603050405020304" pitchFamily="18" charset="0"/>
              </a:rPr>
              <a:t>0~9</a:t>
            </a:r>
            <a:r>
              <a:rPr lang="zh-CN" altLang="en-US" dirty="0">
                <a:latin typeface="Times New Roman" panose="02020603050405020304" pitchFamily="18" charset="0"/>
              </a:rPr>
              <a:t>十个数码。</a:t>
            </a:r>
          </a:p>
          <a:p>
            <a:pPr eaLnBrk="1" hangingPunct="1"/>
            <a:r>
              <a:rPr kumimoji="1" lang="zh-CN" altLang="en-US" dirty="0">
                <a:solidFill>
                  <a:srgbClr val="3333FF"/>
                </a:solidFill>
              </a:rPr>
              <a:t>有权</a:t>
            </a:r>
            <a:r>
              <a:rPr kumimoji="1" lang="en-US" altLang="zh-CN" dirty="0">
                <a:solidFill>
                  <a:srgbClr val="3333FF"/>
                </a:solidFill>
              </a:rPr>
              <a:t>BCD</a:t>
            </a:r>
            <a:r>
              <a:rPr kumimoji="1" lang="zh-CN" altLang="en-US" dirty="0">
                <a:solidFill>
                  <a:srgbClr val="3333FF"/>
                </a:solidFill>
              </a:rPr>
              <a:t>码</a:t>
            </a:r>
            <a:r>
              <a:rPr kumimoji="1" lang="zh-CN" altLang="en-US" dirty="0"/>
              <a:t>：每位数码都有确定的权的码。</a:t>
            </a:r>
          </a:p>
          <a:p>
            <a:pPr eaLnBrk="1" hangingPunct="1"/>
            <a:r>
              <a:rPr kumimoji="1" lang="zh-CN" altLang="en-US" dirty="0">
                <a:solidFill>
                  <a:srgbClr val="3333FF"/>
                </a:solidFill>
              </a:rPr>
              <a:t>无权</a:t>
            </a:r>
            <a:r>
              <a:rPr kumimoji="1" lang="en-US" altLang="zh-CN" dirty="0">
                <a:solidFill>
                  <a:srgbClr val="3333FF"/>
                </a:solidFill>
              </a:rPr>
              <a:t>BCD</a:t>
            </a:r>
            <a:r>
              <a:rPr kumimoji="1" lang="zh-CN" altLang="en-US" dirty="0">
                <a:solidFill>
                  <a:srgbClr val="3333FF"/>
                </a:solidFill>
              </a:rPr>
              <a:t>码</a:t>
            </a:r>
            <a:r>
              <a:rPr kumimoji="1" lang="zh-CN" altLang="en-US" dirty="0"/>
              <a:t>：每位数码无确定的权。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2340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2102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n-US" altLang="zh-CN" dirty="0" err="1"/>
              <a:t>Mastertitelformat</a:t>
            </a:r>
            <a:r>
              <a:rPr lang="en-US" altLang="zh-CN" dirty="0"/>
              <a:t> </a:t>
            </a:r>
            <a:r>
              <a:rPr lang="en-US" altLang="zh-CN" dirty="0" err="1"/>
              <a:t>bearbeiten</a:t>
            </a:r>
            <a:endParaRPr lang="en-US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Master-Untertitelformat bearbeiten</a:t>
            </a:r>
            <a:endParaRPr lang="en-US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EAD0EE8D-9D56-A393-A0B6-B1D464FF8959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9906000" cy="5106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/>
              <a:t>计算机科学与技术学院本科课程</a:t>
            </a:r>
            <a:endParaRPr lang="en-US" altLang="zh-CN" sz="2800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32A6DDD0-4B5B-3901-545E-2EAC257EF171}"/>
              </a:ext>
            </a:extLst>
          </p:cNvPr>
          <p:cNvSpPr txBox="1">
            <a:spLocks/>
          </p:cNvSpPr>
          <p:nvPr userDrawn="1"/>
        </p:nvSpPr>
        <p:spPr>
          <a:xfrm>
            <a:off x="0" y="6741796"/>
            <a:ext cx="9906000" cy="116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216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9906000" cy="510639"/>
          </a:xfrm>
          <a:solidFill>
            <a:schemeClr val="accent1"/>
          </a:solidFill>
          <a:ln>
            <a:noFill/>
          </a:ln>
        </p:spPr>
        <p:txBody>
          <a:bodyPr>
            <a:normAutofit/>
          </a:bodyPr>
          <a:lstStyle>
            <a:lvl1pPr algn="ctr">
              <a:defRPr sz="3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 err="1"/>
              <a:t>Mastertitelformat</a:t>
            </a:r>
            <a:r>
              <a:rPr lang="en-US" altLang="zh-CN" dirty="0"/>
              <a:t> </a:t>
            </a:r>
            <a:r>
              <a:rPr lang="en-US" altLang="zh-CN" dirty="0" err="1"/>
              <a:t>bearbeiten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7780" y="585760"/>
            <a:ext cx="9888220" cy="5947119"/>
          </a:xfrm>
        </p:spPr>
        <p:txBody>
          <a:bodyPr/>
          <a:lstStyle>
            <a:lvl1pPr>
              <a:defRPr sz="28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1pPr>
            <a:lvl2pPr>
              <a:defRPr sz="24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defRPr>
            </a:lvl2pPr>
            <a:lvl3pPr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en-US" altLang="zh-CN" dirty="0" err="1"/>
              <a:t>Mastertextformat</a:t>
            </a:r>
            <a:r>
              <a:rPr lang="en-US" altLang="zh-CN" dirty="0"/>
              <a:t> </a:t>
            </a:r>
            <a:r>
              <a:rPr lang="en-US" altLang="zh-CN" dirty="0" err="1"/>
              <a:t>bearbeiten</a:t>
            </a:r>
            <a:endParaRPr lang="en-US" altLang="zh-CN" dirty="0"/>
          </a:p>
          <a:p>
            <a:pPr lvl="1"/>
            <a:r>
              <a:rPr lang="en-US" altLang="zh-CN" dirty="0" err="1"/>
              <a:t>Zweite</a:t>
            </a:r>
            <a:r>
              <a:rPr lang="en-US" altLang="zh-CN" dirty="0"/>
              <a:t> Ebene</a:t>
            </a:r>
          </a:p>
          <a:p>
            <a:pPr lvl="2"/>
            <a:r>
              <a:rPr lang="en-US" altLang="zh-CN" dirty="0" err="1"/>
              <a:t>Dritte</a:t>
            </a:r>
            <a:r>
              <a:rPr lang="en-US" altLang="zh-CN" dirty="0"/>
              <a:t> Ebene</a:t>
            </a:r>
          </a:p>
          <a:p>
            <a:pPr lvl="3"/>
            <a:r>
              <a:rPr lang="en-US" altLang="zh-CN" dirty="0" err="1"/>
              <a:t>Vierte</a:t>
            </a:r>
            <a:r>
              <a:rPr lang="en-US" altLang="zh-CN" dirty="0"/>
              <a:t> Ebene</a:t>
            </a:r>
          </a:p>
          <a:p>
            <a:pPr lvl="4"/>
            <a:r>
              <a:rPr lang="en-US" altLang="zh-CN" dirty="0" err="1"/>
              <a:t>Fünfte</a:t>
            </a:r>
            <a:r>
              <a:rPr lang="en-US" altLang="zh-CN" dirty="0"/>
              <a:t> Ebene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384550" y="6532880"/>
            <a:ext cx="3136900" cy="188596"/>
          </a:xfrm>
        </p:spPr>
        <p:txBody>
          <a:bodyPr/>
          <a:lstStyle>
            <a:lvl1pPr>
              <a:defRPr sz="10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模拟与数字电路：</a:t>
            </a:r>
            <a:r>
              <a:rPr lang="en-US" altLang="zh-CN"/>
              <a:t>2. </a:t>
            </a:r>
            <a:r>
              <a:rPr lang="zh-CN" altLang="en-US"/>
              <a:t>数制与编码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7475220" y="6543040"/>
            <a:ext cx="2311400" cy="188596"/>
          </a:xfrm>
        </p:spPr>
        <p:txBody>
          <a:bodyPr/>
          <a:lstStyle>
            <a:lvl1pPr>
              <a:defRPr sz="1000">
                <a:solidFill>
                  <a:srgbClr val="0070C0"/>
                </a:solidFill>
              </a:defRPr>
            </a:lvl1pPr>
          </a:lstStyle>
          <a:p>
            <a:fld id="{9E260BC5-5BF3-8746-862B-DC45E9CAA88B}" type="slidenum">
              <a:rPr lang="en-US" smtClean="0"/>
              <a:pPr/>
              <a:t>‹#›</a:t>
            </a:fld>
            <a:r>
              <a:rPr lang="en-US" altLang="zh-CN" dirty="0"/>
              <a:t>/30</a:t>
            </a:r>
            <a:endParaRPr lang="en-US" dirty="0"/>
          </a:p>
        </p:txBody>
      </p:sp>
      <p:pic>
        <p:nvPicPr>
          <p:cNvPr id="7" name="Bild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58354" y="575599"/>
            <a:ext cx="629866" cy="574907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8A49508E-0CBC-36CF-BE0A-9CFE928D5051}"/>
              </a:ext>
            </a:extLst>
          </p:cNvPr>
          <p:cNvSpPr txBox="1">
            <a:spLocks/>
          </p:cNvSpPr>
          <p:nvPr userDrawn="1"/>
        </p:nvSpPr>
        <p:spPr>
          <a:xfrm>
            <a:off x="0" y="6741796"/>
            <a:ext cx="9906000" cy="116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6482FF6C-9411-92E7-7DED-EBDB23C92E35}"/>
              </a:ext>
            </a:extLst>
          </p:cNvPr>
          <p:cNvSpPr txBox="1">
            <a:spLocks/>
          </p:cNvSpPr>
          <p:nvPr userDrawn="1"/>
        </p:nvSpPr>
        <p:spPr>
          <a:xfrm>
            <a:off x="17780" y="6522719"/>
            <a:ext cx="1684560" cy="208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457200" rtl="0" eaLnBrk="1" latinLnBrk="0" hangingPunct="1">
              <a:defRPr sz="10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2023</a:t>
            </a:r>
            <a:r>
              <a:rPr lang="zh-CN" altLang="en-US" dirty="0"/>
              <a:t>年秋季学期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37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2. </a:t>
            </a:r>
            <a:r>
              <a:rPr lang="zh-CN" altLang="en-US"/>
              <a:t>数制与编码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770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2. </a:t>
            </a:r>
            <a:r>
              <a:rPr lang="zh-CN" altLang="en-US"/>
              <a:t>数制与编码</a:t>
            </a:r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307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2. </a:t>
            </a:r>
            <a:r>
              <a:rPr lang="zh-CN" altLang="en-US"/>
              <a:t>数制与编码</a:t>
            </a:r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05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2. </a:t>
            </a:r>
            <a:r>
              <a:rPr lang="zh-CN" altLang="en-US"/>
              <a:t>数制与编码</a:t>
            </a:r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821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2. </a:t>
            </a:r>
            <a:r>
              <a:rPr lang="zh-CN" altLang="en-US"/>
              <a:t>数制与编码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565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2. </a:t>
            </a:r>
            <a:r>
              <a:rPr lang="zh-CN" altLang="en-US"/>
              <a:t>数制与编码</a:t>
            </a:r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735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2. </a:t>
            </a:r>
            <a:r>
              <a:rPr lang="zh-CN" altLang="en-US"/>
              <a:t>数制与编码</a:t>
            </a:r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037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2. </a:t>
            </a:r>
            <a:r>
              <a:rPr lang="zh-CN" altLang="en-US"/>
              <a:t>数制与编码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457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2. </a:t>
            </a:r>
            <a:r>
              <a:rPr lang="zh-CN" altLang="en-US"/>
              <a:t>数制与编码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033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模拟与数字电路：</a:t>
            </a:r>
            <a:r>
              <a:rPr lang="en-US" altLang="zh-CN"/>
              <a:t>2. </a:t>
            </a:r>
            <a:r>
              <a:rPr lang="zh-CN" altLang="en-US"/>
              <a:t>数制与编码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204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image" Target="../media/image7.wmf"/><Relationship Id="rId7" Type="http://schemas.openxmlformats.org/officeDocument/2006/relationships/image" Target="../media/image9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10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wmf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42950" y="1077976"/>
            <a:ext cx="8420100" cy="1470025"/>
          </a:xfrm>
        </p:spPr>
        <p:txBody>
          <a:bodyPr>
            <a:normAutofit fontScale="90000"/>
          </a:bodyPr>
          <a:lstStyle/>
          <a:p>
            <a:br>
              <a:rPr lang="en-US" altLang="zh-CN" sz="2400" b="1" dirty="0">
                <a:latin typeface="黑体"/>
                <a:ea typeface="黑体"/>
                <a:cs typeface="黑体"/>
              </a:rPr>
            </a:br>
            <a:br>
              <a:rPr lang="en-US" altLang="zh-CN" b="1" dirty="0">
                <a:latin typeface="黑体"/>
                <a:ea typeface="黑体"/>
                <a:cs typeface="黑体"/>
              </a:rPr>
            </a:br>
            <a:r>
              <a:rPr lang="zh-CN" altLang="en-US" sz="2200" dirty="0">
                <a:solidFill>
                  <a:schemeClr val="accent1">
                    <a:lumMod val="50000"/>
                  </a:schemeClr>
                </a:solidFill>
              </a:rPr>
              <a:t>模拟与数字电路</a:t>
            </a:r>
            <a:br>
              <a:rPr lang="zh-CN" altLang="en-US" sz="22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altLang="zh-CN" sz="2200" dirty="0">
                <a:solidFill>
                  <a:schemeClr val="accent1">
                    <a:lumMod val="50000"/>
                  </a:schemeClr>
                </a:solidFill>
                <a:latin typeface="+mj-ea"/>
              </a:rPr>
              <a:t>Analog and Digital Circuits</a:t>
            </a:r>
            <a:endParaRPr lang="en-US" sz="2200" dirty="0">
              <a:solidFill>
                <a:schemeClr val="accent1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85900" y="2546991"/>
            <a:ext cx="6934200" cy="1752600"/>
          </a:xfrm>
        </p:spPr>
        <p:txBody>
          <a:bodyPr>
            <a:noAutofit/>
          </a:bodyPr>
          <a:lstStyle/>
          <a:p>
            <a:endParaRPr lang="en-US" altLang="zh-CN" sz="1600" b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spcAft>
                <a:spcPct val="0"/>
              </a:spcAft>
              <a:buFontTx/>
              <a:buNone/>
            </a:pPr>
            <a:br>
              <a:rPr lang="en-US" altLang="zh-CN" sz="16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6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02_</a:t>
            </a:r>
            <a:r>
              <a:rPr lang="zh-CN" altLang="en-US" sz="36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数制与编码</a:t>
            </a:r>
            <a:endParaRPr lang="en-US" altLang="zh-CN" sz="36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eaLnBrk="1" hangingPunct="1">
              <a:spcAft>
                <a:spcPct val="0"/>
              </a:spcAft>
              <a:buFontTx/>
              <a:buNone/>
            </a:pPr>
            <a:endParaRPr lang="en-US" altLang="zh-CN" sz="2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（数电</a:t>
            </a:r>
            <a:r>
              <a:rPr lang="en-US" altLang="zh-CN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P1-28</a:t>
            </a:r>
            <a:r>
              <a:rPr lang="zh-CN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sz="2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br>
              <a:rPr lang="en-US" sz="2000" dirty="0">
                <a:solidFill>
                  <a:srgbClr val="0070C0"/>
                </a:solidFill>
              </a:rPr>
            </a:br>
            <a:endParaRPr lang="en-US" sz="2000" dirty="0">
              <a:solidFill>
                <a:srgbClr val="0070C0"/>
              </a:solidFill>
            </a:endParaRPr>
          </a:p>
        </p:txBody>
      </p:sp>
      <p:pic>
        <p:nvPicPr>
          <p:cNvPr id="4" name="Bil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004" y="5093353"/>
            <a:ext cx="1727992" cy="157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877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7DBC4C-9640-AD61-0F3B-5CF873979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内容提纲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06375B-3C17-2170-48EE-3E1111080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 err="1"/>
              <a:t>数制及其</a:t>
            </a:r>
            <a:r>
              <a:rPr lang="zh-CN" altLang="en-US" dirty="0"/>
              <a:t>转换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有符号数的编码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补码加减运算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二进制代</a:t>
            </a:r>
            <a:r>
              <a:rPr lang="en-US" altLang="zh-CN" dirty="0" err="1"/>
              <a:t>码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4B087B8-46F4-E8D4-8B30-EF3E7278E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2. </a:t>
            </a:r>
            <a:r>
              <a:rPr lang="zh-CN" altLang="en-US"/>
              <a:t>数制与编码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7B7386-9DB7-80F6-203E-055AF1012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</a:t>
            </a:fld>
            <a:r>
              <a:rPr lang="en-US" altLang="zh-CN" dirty="0"/>
              <a:t>/27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300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8E6990-DCEA-08DC-AF20-4C63DE2FE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数制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59D928-103E-E013-3DA5-0DD0CD041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9198139" cy="5947119"/>
          </a:xfrm>
        </p:spPr>
        <p:txBody>
          <a:bodyPr/>
          <a:lstStyle/>
          <a:p>
            <a:pPr>
              <a:spcAft>
                <a:spcPct val="10000"/>
              </a:spcAft>
            </a:pPr>
            <a:r>
              <a:rPr kumimoji="1" lang="zh-CN" altLang="en-US" sz="2800" dirty="0"/>
              <a:t>所谓“数制”，指进位计数制，即用进位的方法来计数，包括</a:t>
            </a:r>
            <a:r>
              <a:rPr kumimoji="1" lang="zh-CN" altLang="en-US" sz="2800" dirty="0">
                <a:solidFill>
                  <a:srgbClr val="0000FF"/>
                </a:solidFill>
              </a:rPr>
              <a:t>计数符号</a:t>
            </a:r>
            <a:r>
              <a:rPr kumimoji="1" lang="zh-CN" altLang="en-US" sz="2800" dirty="0"/>
              <a:t>（或称数码）和</a:t>
            </a:r>
            <a:r>
              <a:rPr kumimoji="1" lang="zh-CN" altLang="en-US" sz="2800" dirty="0">
                <a:solidFill>
                  <a:srgbClr val="0000FF"/>
                </a:solidFill>
              </a:rPr>
              <a:t>进位规则</a:t>
            </a:r>
            <a:r>
              <a:rPr kumimoji="1" lang="zh-CN" altLang="en-US" sz="2800" dirty="0"/>
              <a:t>两个方面</a:t>
            </a:r>
          </a:p>
          <a:p>
            <a:pPr>
              <a:spcAft>
                <a:spcPct val="10000"/>
              </a:spcAft>
            </a:pPr>
            <a:endParaRPr kumimoji="1" lang="en-US" altLang="zh-CN" sz="2800" dirty="0"/>
          </a:p>
          <a:p>
            <a:pPr>
              <a:spcAft>
                <a:spcPct val="10000"/>
              </a:spcAft>
            </a:pPr>
            <a:r>
              <a:rPr kumimoji="1" lang="zh-CN" altLang="en-US" sz="2800" dirty="0"/>
              <a:t>十进制（</a:t>
            </a:r>
            <a:r>
              <a:rPr kumimoji="1" lang="en-US" altLang="zh-CN" sz="2800" dirty="0"/>
              <a:t>Decimal</a:t>
            </a:r>
            <a:r>
              <a:rPr kumimoji="1" lang="zh-CN" altLang="en-US" sz="2800" dirty="0"/>
              <a:t>）</a:t>
            </a:r>
          </a:p>
          <a:p>
            <a:pPr lvl="1">
              <a:spcAft>
                <a:spcPct val="10000"/>
              </a:spcAft>
            </a:pPr>
            <a:r>
              <a:rPr lang="zh-CN" altLang="en-US" sz="2400" dirty="0"/>
              <a:t>十个计数符号：</a:t>
            </a:r>
            <a:r>
              <a:rPr lang="en-US" altLang="zh-CN" sz="2400" dirty="0"/>
              <a:t>0, 1, 2, 3, 4, 5, 6, 7, 8, 9</a:t>
            </a:r>
          </a:p>
          <a:p>
            <a:pPr lvl="1">
              <a:spcAft>
                <a:spcPct val="10000"/>
              </a:spcAft>
            </a:pPr>
            <a:r>
              <a:rPr lang="zh-CN" altLang="en-US" sz="2400" dirty="0"/>
              <a:t>进位规则：逢十进一</a:t>
            </a:r>
          </a:p>
          <a:p>
            <a:pPr lvl="1">
              <a:spcAft>
                <a:spcPct val="10000"/>
              </a:spcAft>
            </a:pPr>
            <a:endParaRPr lang="zh-CN" altLang="en-US" sz="3600" dirty="0"/>
          </a:p>
          <a:p>
            <a:pPr>
              <a:spcAft>
                <a:spcPct val="10000"/>
              </a:spcAft>
            </a:pPr>
            <a:r>
              <a:rPr lang="zh-CN" altLang="en-US" sz="2800" dirty="0"/>
              <a:t>任意进制</a:t>
            </a:r>
          </a:p>
          <a:p>
            <a:pPr lvl="1">
              <a:spcAft>
                <a:spcPct val="10000"/>
              </a:spcAft>
            </a:pPr>
            <a:r>
              <a:rPr lang="en-US" altLang="zh-CN" sz="2400" dirty="0"/>
              <a:t>R</a:t>
            </a:r>
            <a:r>
              <a:rPr lang="zh-CN" altLang="en-US" sz="2400" dirty="0"/>
              <a:t>个计数符号，逢</a:t>
            </a:r>
            <a:r>
              <a:rPr lang="en-US" altLang="zh-CN" sz="2400" dirty="0"/>
              <a:t>R</a:t>
            </a:r>
            <a:r>
              <a:rPr lang="zh-CN" altLang="en-US" sz="2400" dirty="0"/>
              <a:t>进一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250587D-69B4-50F6-B3FB-76D6C326B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2. </a:t>
            </a:r>
            <a:r>
              <a:rPr lang="zh-CN" altLang="en-US"/>
              <a:t>数制与编码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A081A5D-8410-7A4B-A142-11DCB618C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3</a:t>
            </a:fld>
            <a:r>
              <a:rPr lang="en-US" altLang="zh-CN" dirty="0"/>
              <a:t>/27</a:t>
            </a:r>
            <a:endParaRPr lang="en-US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E6CCD4C1-DC30-A6BD-8485-C6384581B3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8710342"/>
              </p:ext>
            </p:extLst>
          </p:nvPr>
        </p:nvGraphicFramePr>
        <p:xfrm>
          <a:off x="5600612" y="5183215"/>
          <a:ext cx="1908175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761669" imgH="431613" progId="Equation.3">
                  <p:embed/>
                </p:oleObj>
              </mc:Choice>
              <mc:Fallback>
                <p:oleObj name="公式" r:id="rId3" imgW="761669" imgH="431613" progId="Equation.3">
                  <p:embed/>
                  <p:pic>
                    <p:nvPicPr>
                      <p:cNvPr id="83763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0612" y="5183215"/>
                        <a:ext cx="1908175" cy="1089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255B61C6-087E-9DB3-9A4B-9236847FDAAE}"/>
              </a:ext>
            </a:extLst>
          </p:cNvPr>
          <p:cNvGrpSpPr>
            <a:grpSpLocks/>
          </p:cNvGrpSpPr>
          <p:nvPr/>
        </p:nvGrpSpPr>
        <p:grpSpPr bwMode="auto">
          <a:xfrm>
            <a:off x="847637" y="5407053"/>
            <a:ext cx="4681537" cy="657225"/>
            <a:chOff x="657" y="3470"/>
            <a:chExt cx="2949" cy="414"/>
          </a:xfrm>
        </p:grpSpPr>
        <p:graphicFrame>
          <p:nvGraphicFramePr>
            <p:cNvPr id="8" name="Object 7">
              <a:extLst>
                <a:ext uri="{FF2B5EF4-FFF2-40B4-BE49-F238E27FC236}">
                  <a16:creationId xmlns:a16="http://schemas.microsoft.com/office/drawing/2014/main" id="{FD6E7D6A-9184-A772-C093-5564A843CBE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04" y="3470"/>
            <a:ext cx="1502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888614" imgH="215806" progId="Equation.3">
                    <p:embed/>
                  </p:oleObj>
                </mc:Choice>
                <mc:Fallback>
                  <p:oleObj name="公式" r:id="rId5" imgW="888614" imgH="215806" progId="Equation.3">
                    <p:embed/>
                    <p:pic>
                      <p:nvPicPr>
                        <p:cNvPr id="8209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4" y="3470"/>
                          <a:ext cx="1502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8">
              <a:extLst>
                <a:ext uri="{FF2B5EF4-FFF2-40B4-BE49-F238E27FC236}">
                  <a16:creationId xmlns:a16="http://schemas.microsoft.com/office/drawing/2014/main" id="{29322588-087C-5F03-9CCC-62B96A740F1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57" y="3475"/>
            <a:ext cx="1287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761669" imgH="228501" progId="Equation.3">
                    <p:embed/>
                  </p:oleObj>
                </mc:Choice>
                <mc:Fallback>
                  <p:oleObj name="公式" r:id="rId7" imgW="761669" imgH="228501" progId="Equation.3">
                    <p:embed/>
                    <p:pic>
                      <p:nvPicPr>
                        <p:cNvPr id="821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3475"/>
                          <a:ext cx="1287" cy="3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4D71B072-18F7-DD76-2911-87D5B9C033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5" y="3557"/>
              <a:ext cx="19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800">
                  <a:solidFill>
                    <a:srgbClr val="0066FF"/>
                  </a:solidFill>
                  <a:cs typeface="Arial" panose="020B0604020202020204" pitchFamily="34" charset="0"/>
                </a:rPr>
                <a:t>•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524B1D-8E94-E361-DFC2-82BEAC953D8A}"/>
              </a:ext>
            </a:extLst>
          </p:cNvPr>
          <p:cNvGrpSpPr>
            <a:grpSpLocks/>
          </p:cNvGrpSpPr>
          <p:nvPr/>
        </p:nvGrpSpPr>
        <p:grpSpPr bwMode="auto">
          <a:xfrm>
            <a:off x="5275174" y="4868890"/>
            <a:ext cx="796925" cy="827088"/>
            <a:chOff x="3310" y="2976"/>
            <a:chExt cx="502" cy="52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70C8464-1515-E757-43CC-800E6CC4A4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0" y="2976"/>
              <a:ext cx="50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 b="0" dirty="0">
                  <a:solidFill>
                    <a:srgbClr val="0066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基数</a:t>
              </a:r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984DF762-ADDF-5D51-E395-81EE2000C1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80" y="3270"/>
              <a:ext cx="90" cy="227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D184644-C818-FACA-5576-9001314E611B}"/>
              </a:ext>
            </a:extLst>
          </p:cNvPr>
          <p:cNvGrpSpPr>
            <a:grpSpLocks/>
          </p:cNvGrpSpPr>
          <p:nvPr/>
        </p:nvGrpSpPr>
        <p:grpSpPr bwMode="auto">
          <a:xfrm>
            <a:off x="7011899" y="4868890"/>
            <a:ext cx="1477963" cy="1042988"/>
            <a:chOff x="4404" y="2976"/>
            <a:chExt cx="931" cy="657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D61058A-A680-3A99-6DCF-53F0E37EBC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3" y="2976"/>
              <a:ext cx="50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 b="0">
                  <a:solidFill>
                    <a:srgbClr val="0066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位权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E30B66B-5BA6-43EF-AC28-01EDED4AB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4" y="3315"/>
              <a:ext cx="272" cy="318"/>
            </a:xfrm>
            <a:prstGeom prst="rect">
              <a:avLst/>
            </a:prstGeom>
            <a:noFill/>
            <a:ln w="28575">
              <a:solidFill>
                <a:srgbClr val="0066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C47CFDC3-A09F-AF04-C7FC-E2D710B1E7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62" y="3190"/>
              <a:ext cx="181" cy="136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18" name="Rectangle 4">
            <a:extLst>
              <a:ext uri="{FF2B5EF4-FFF2-40B4-BE49-F238E27FC236}">
                <a16:creationId xmlns:a16="http://schemas.microsoft.com/office/drawing/2014/main" id="{FC534EAF-DECB-9C8C-AE53-ADDB8C22D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263" y="3634577"/>
            <a:ext cx="71128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 dirty="0">
                <a:latin typeface="+mj-ea"/>
                <a:ea typeface="+mj-ea"/>
              </a:rPr>
              <a:t>151.75 = </a:t>
            </a:r>
            <a:r>
              <a:rPr kumimoji="1" lang="en-US" altLang="zh-CN" sz="2400" b="0" dirty="0">
                <a:latin typeface="+mj-ea"/>
                <a:ea typeface="+mj-ea"/>
                <a:sym typeface="Symbol" panose="05050102010706020507" pitchFamily="18" charset="2"/>
              </a:rPr>
              <a:t>1</a:t>
            </a:r>
            <a:r>
              <a:rPr kumimoji="1" lang="en-US" altLang="zh-CN" sz="2400" b="0" dirty="0">
                <a:latin typeface="+mj-ea"/>
                <a:ea typeface="+mj-ea"/>
              </a:rPr>
              <a:t>10</a:t>
            </a:r>
            <a:r>
              <a:rPr kumimoji="1" lang="en-US" altLang="zh-CN" sz="2400" b="0" baseline="30000" dirty="0">
                <a:latin typeface="+mj-ea"/>
                <a:ea typeface="+mj-ea"/>
                <a:sym typeface="Symbol" panose="05050102010706020507" pitchFamily="18" charset="2"/>
              </a:rPr>
              <a:t>2 </a:t>
            </a:r>
            <a:r>
              <a:rPr kumimoji="1" lang="en-US" altLang="zh-CN" sz="2400" b="0" dirty="0">
                <a:latin typeface="+mj-ea"/>
                <a:ea typeface="+mj-ea"/>
                <a:sym typeface="Symbol" panose="05050102010706020507" pitchFamily="18" charset="2"/>
              </a:rPr>
              <a:t>+5</a:t>
            </a:r>
            <a:r>
              <a:rPr kumimoji="1" lang="en-US" altLang="zh-CN" sz="2400" b="0" dirty="0">
                <a:latin typeface="+mj-ea"/>
                <a:ea typeface="+mj-ea"/>
              </a:rPr>
              <a:t>10</a:t>
            </a:r>
            <a:r>
              <a:rPr kumimoji="1" lang="en-US" altLang="zh-CN" sz="2400" b="0" baseline="30000" dirty="0">
                <a:latin typeface="+mj-ea"/>
                <a:ea typeface="+mj-ea"/>
                <a:sym typeface="Symbol" panose="05050102010706020507" pitchFamily="18" charset="2"/>
              </a:rPr>
              <a:t>1 </a:t>
            </a:r>
            <a:r>
              <a:rPr kumimoji="1" lang="en-US" altLang="zh-CN" sz="2400" b="0" dirty="0">
                <a:latin typeface="+mj-ea"/>
                <a:ea typeface="+mj-ea"/>
                <a:sym typeface="Symbol" panose="05050102010706020507" pitchFamily="18" charset="2"/>
              </a:rPr>
              <a:t>+1</a:t>
            </a:r>
            <a:r>
              <a:rPr kumimoji="1" lang="en-US" altLang="zh-CN" sz="2400" b="0" dirty="0">
                <a:latin typeface="+mj-ea"/>
                <a:ea typeface="+mj-ea"/>
              </a:rPr>
              <a:t>10</a:t>
            </a:r>
            <a:r>
              <a:rPr kumimoji="1" lang="en-US" altLang="zh-CN" sz="2400" b="0" baseline="30000" dirty="0">
                <a:latin typeface="+mj-ea"/>
                <a:ea typeface="+mj-ea"/>
                <a:sym typeface="Symbol" panose="05050102010706020507" pitchFamily="18" charset="2"/>
              </a:rPr>
              <a:t>0 </a:t>
            </a:r>
            <a:r>
              <a:rPr kumimoji="1" lang="en-US" altLang="zh-CN" sz="2400" b="0" dirty="0">
                <a:latin typeface="+mj-ea"/>
                <a:ea typeface="+mj-ea"/>
                <a:sym typeface="Symbol" panose="05050102010706020507" pitchFamily="18" charset="2"/>
              </a:rPr>
              <a:t>+7</a:t>
            </a:r>
            <a:r>
              <a:rPr kumimoji="1" lang="en-US" altLang="zh-CN" sz="2400" b="0" dirty="0">
                <a:latin typeface="+mj-ea"/>
                <a:ea typeface="+mj-ea"/>
              </a:rPr>
              <a:t>10</a:t>
            </a:r>
            <a:r>
              <a:rPr kumimoji="1" lang="en-US" altLang="zh-CN" sz="2400" b="0" baseline="30000" dirty="0">
                <a:latin typeface="+mj-ea"/>
                <a:ea typeface="+mj-ea"/>
                <a:sym typeface="Symbol" panose="05050102010706020507" pitchFamily="18" charset="2"/>
              </a:rPr>
              <a:t></a:t>
            </a:r>
            <a:r>
              <a:rPr kumimoji="1" lang="en-US" altLang="zh-CN" sz="2400" b="0" baseline="30000" dirty="0">
                <a:latin typeface="+mj-ea"/>
                <a:ea typeface="+mj-ea"/>
              </a:rPr>
              <a:t>1 </a:t>
            </a:r>
            <a:r>
              <a:rPr kumimoji="1" lang="en-US" altLang="zh-CN" sz="2400" b="0" dirty="0">
                <a:latin typeface="+mj-ea"/>
                <a:ea typeface="+mj-ea"/>
                <a:sym typeface="Symbol" panose="05050102010706020507" pitchFamily="18" charset="2"/>
              </a:rPr>
              <a:t>+5</a:t>
            </a:r>
            <a:r>
              <a:rPr kumimoji="1" lang="en-US" altLang="zh-CN" sz="2400" b="0" dirty="0">
                <a:latin typeface="+mj-ea"/>
                <a:ea typeface="+mj-ea"/>
              </a:rPr>
              <a:t>10</a:t>
            </a:r>
            <a:r>
              <a:rPr kumimoji="1" lang="en-US" altLang="zh-CN" sz="2400" b="0" baseline="30000" dirty="0">
                <a:latin typeface="+mj-ea"/>
                <a:ea typeface="+mj-ea"/>
                <a:sym typeface="Symbol" panose="05050102010706020507" pitchFamily="18" charset="2"/>
              </a:rPr>
              <a:t></a:t>
            </a:r>
            <a:r>
              <a:rPr kumimoji="1" lang="en-US" altLang="zh-CN" sz="2400" b="0" baseline="30000" dirty="0">
                <a:latin typeface="+mj-ea"/>
                <a:ea typeface="+mj-ea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07184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EA1B94-4175-CD70-2F6B-D03E5533C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二、八、十六进制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AADB90-7D4A-8934-C102-274C4BA34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5119299" cy="5947119"/>
          </a:xfrm>
        </p:spPr>
        <p:txBody>
          <a:bodyPr/>
          <a:lstStyle/>
          <a:p>
            <a:r>
              <a:rPr lang="zh-CN" altLang="en-US" sz="2800" dirty="0"/>
              <a:t>二进制 </a:t>
            </a:r>
            <a:r>
              <a:rPr lang="en-US" altLang="zh-CN" sz="2800" dirty="0"/>
              <a:t>(Binary)</a:t>
            </a:r>
          </a:p>
          <a:p>
            <a:pPr lvl="1"/>
            <a:r>
              <a:rPr lang="en-US" altLang="zh-CN" sz="2400" dirty="0"/>
              <a:t>R=2</a:t>
            </a:r>
          </a:p>
          <a:p>
            <a:pPr lvl="1"/>
            <a:r>
              <a:rPr lang="en-US" altLang="zh-CN" sz="2400" dirty="0"/>
              <a:t>k</a:t>
            </a:r>
            <a:r>
              <a:rPr lang="en-US" altLang="zh-CN" sz="2400" baseline="-25000" dirty="0"/>
              <a:t>i </a:t>
            </a:r>
            <a:r>
              <a:rPr lang="en-US" altLang="zh-CN" sz="2400" dirty="0"/>
              <a:t>= 0, 1</a:t>
            </a:r>
          </a:p>
          <a:p>
            <a:pPr lvl="1"/>
            <a:endParaRPr lang="en-US" altLang="zh-CN" sz="1800" dirty="0"/>
          </a:p>
          <a:p>
            <a:r>
              <a:rPr lang="zh-CN" altLang="en-US" sz="2800" dirty="0"/>
              <a:t>八进制 </a:t>
            </a:r>
            <a:r>
              <a:rPr lang="en-US" altLang="zh-CN" sz="2800" dirty="0"/>
              <a:t>(Octal)</a:t>
            </a:r>
          </a:p>
          <a:p>
            <a:pPr lvl="1"/>
            <a:r>
              <a:rPr lang="en-US" altLang="zh-CN" sz="2400" dirty="0"/>
              <a:t>R=8</a:t>
            </a:r>
          </a:p>
          <a:p>
            <a:pPr lvl="1"/>
            <a:r>
              <a:rPr lang="en-US" altLang="zh-CN" sz="2400" dirty="0"/>
              <a:t>k</a:t>
            </a:r>
            <a:r>
              <a:rPr lang="en-US" altLang="zh-CN" sz="2400" baseline="-25000" dirty="0"/>
              <a:t>i </a:t>
            </a:r>
            <a:r>
              <a:rPr lang="en-US" altLang="zh-CN" sz="2400" dirty="0"/>
              <a:t>= 0, 1, 2, 3, 4, 5, 6, 7</a:t>
            </a:r>
          </a:p>
          <a:p>
            <a:r>
              <a:rPr lang="zh-CN" altLang="en-US" sz="2800" dirty="0"/>
              <a:t>十六进制 </a:t>
            </a:r>
            <a:r>
              <a:rPr lang="en-US" altLang="zh-CN" sz="2800" dirty="0"/>
              <a:t>(Hexadecimal)</a:t>
            </a:r>
          </a:p>
          <a:p>
            <a:pPr lvl="1"/>
            <a:r>
              <a:rPr lang="en-US" altLang="zh-CN" sz="2400" dirty="0"/>
              <a:t>R=16</a:t>
            </a:r>
          </a:p>
          <a:p>
            <a:pPr lvl="1"/>
            <a:r>
              <a:rPr lang="en-US" altLang="zh-CN" sz="2400" dirty="0"/>
              <a:t>k</a:t>
            </a:r>
            <a:r>
              <a:rPr lang="en-US" altLang="zh-CN" sz="2400" baseline="-25000" dirty="0"/>
              <a:t>i </a:t>
            </a:r>
            <a:r>
              <a:rPr lang="en-US" altLang="zh-CN" sz="2400" dirty="0"/>
              <a:t>= 0, 1, 2, 3, 4, 5, 6, 7, 8, 9, A, B, C, D, E, F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1E7D7F4-F04E-5BBC-48ED-38992133A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2. </a:t>
            </a:r>
            <a:r>
              <a:rPr lang="zh-CN" altLang="en-US"/>
              <a:t>数制与编码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C87BBBB-616D-9159-8514-0D0A6204E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4</a:t>
            </a:fld>
            <a:r>
              <a:rPr lang="en-US" altLang="zh-CN" dirty="0"/>
              <a:t>/27</a:t>
            </a:r>
            <a:endParaRPr lang="en-US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AA6009DA-37BE-92EF-4672-B534A65E3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7825" y="695835"/>
            <a:ext cx="3105150" cy="1657350"/>
          </a:xfrm>
          <a:prstGeom prst="wedgeRectCallout">
            <a:avLst>
              <a:gd name="adj1" fmla="val -90926"/>
              <a:gd name="adj2" fmla="val -29500"/>
            </a:avLst>
          </a:prstGeom>
          <a:solidFill>
            <a:srgbClr val="FFFF99"/>
          </a:solidFill>
          <a:ln w="28575">
            <a:solidFill>
              <a:srgbClr val="0066FF"/>
            </a:solidFill>
            <a:miter lim="800000"/>
            <a:headEnd/>
            <a:tailEnd/>
          </a:ln>
        </p:spPr>
        <p:txBody>
          <a:bodyPr lIns="216000" tIns="0" rIns="72000" bIns="0" anchor="ctr"/>
          <a:lstStyle>
            <a:lvl1pPr marL="1077913" indent="-1077913"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优点：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电路实现简单、可靠</a:t>
            </a:r>
          </a:p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缺点：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使用不方便</a:t>
            </a:r>
          </a:p>
        </p:txBody>
      </p:sp>
      <p:grpSp>
        <p:nvGrpSpPr>
          <p:cNvPr id="7" name="Group 9">
            <a:extLst>
              <a:ext uri="{FF2B5EF4-FFF2-40B4-BE49-F238E27FC236}">
                <a16:creationId xmlns:a16="http://schemas.microsoft.com/office/drawing/2014/main" id="{BC719BA0-88D3-DE6A-5002-CB1DF28CF1A9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2538382"/>
            <a:ext cx="3602038" cy="2952750"/>
            <a:chOff x="3220" y="2069"/>
            <a:chExt cx="2269" cy="1860"/>
          </a:xfrm>
        </p:grpSpPr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017F428A-0F92-772F-ECA0-567B9DC1AA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" y="2653"/>
              <a:ext cx="1951" cy="732"/>
            </a:xfrm>
            <a:prstGeom prst="rect">
              <a:avLst/>
            </a:prstGeom>
            <a:solidFill>
              <a:srgbClr val="FFFF99"/>
            </a:solidFill>
            <a:ln w="28575">
              <a:solidFill>
                <a:srgbClr val="0066FF"/>
              </a:solidFill>
              <a:miter lim="800000"/>
              <a:headEnd/>
              <a:tailEnd/>
            </a:ln>
          </p:spPr>
          <p:txBody>
            <a:bodyPr wrap="none" anchor="ctr" anchorCtr="1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spcAft>
                  <a:spcPct val="0"/>
                </a:spcAft>
                <a:buFontTx/>
                <a:buNone/>
              </a:pPr>
              <a:r>
                <a:rPr kumimoji="1" lang="zh-CN" altLang="en-US" sz="2400"/>
                <a:t>为克服二进制</a:t>
              </a:r>
            </a:p>
            <a:p>
              <a:pPr eaLnBrk="1" hangingPunct="1">
                <a:spcBef>
                  <a:spcPct val="20000"/>
                </a:spcBef>
                <a:spcAft>
                  <a:spcPct val="0"/>
                </a:spcAft>
                <a:buFontTx/>
                <a:buNone/>
              </a:pPr>
              <a:r>
                <a:rPr kumimoji="1" lang="zh-CN" altLang="en-US" sz="2400"/>
                <a:t>的缺点而引入</a:t>
              </a:r>
            </a:p>
          </p:txBody>
        </p:sp>
        <p:sp>
          <p:nvSpPr>
            <p:cNvPr id="9" name="AutoShape 7">
              <a:extLst>
                <a:ext uri="{FF2B5EF4-FFF2-40B4-BE49-F238E27FC236}">
                  <a16:creationId xmlns:a16="http://schemas.microsoft.com/office/drawing/2014/main" id="{217A2BF0-766F-6B15-D96F-544CED68F8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0" y="2069"/>
              <a:ext cx="272" cy="1860"/>
            </a:xfrm>
            <a:prstGeom prst="rightBrace">
              <a:avLst>
                <a:gd name="adj1" fmla="val 56985"/>
                <a:gd name="adj2" fmla="val 50000"/>
              </a:avLst>
            </a:prstGeom>
            <a:noFill/>
            <a:ln w="28575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</p:grpSp>
    </p:spTree>
    <p:extLst>
      <p:ext uri="{BB962C8B-B14F-4D97-AF65-F5344CB8AC3E}">
        <p14:creationId xmlns:p14="http://schemas.microsoft.com/office/powerpoint/2010/main" val="1900170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50E7FF-A982-3B7E-A7A5-F0F638F0F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不同进制之间相互转换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0311E5-162D-996A-4E9D-48B5951C2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任意进制 </a:t>
            </a:r>
            <a:r>
              <a:rPr lang="zh-CN" altLang="en-US" sz="2800" dirty="0">
                <a:latin typeface="宋体" panose="02010600030101010101" pitchFamily="2" charset="-122"/>
              </a:rPr>
              <a:t>→</a:t>
            </a:r>
            <a:r>
              <a:rPr lang="zh-CN" altLang="en-US" sz="2800" dirty="0"/>
              <a:t> </a:t>
            </a:r>
            <a:r>
              <a:rPr lang="zh-CN" altLang="en-US" sz="2800" dirty="0">
                <a:latin typeface="宋体" panose="02010600030101010101" pitchFamily="2" charset="-122"/>
              </a:rPr>
              <a:t>十进制</a:t>
            </a:r>
          </a:p>
          <a:p>
            <a:pPr lvl="1">
              <a:spcAft>
                <a:spcPts val="600"/>
              </a:spcAft>
            </a:pPr>
            <a:r>
              <a:rPr lang="zh-CN" altLang="en-US" sz="2400" dirty="0"/>
              <a:t>按位权展开求和</a:t>
            </a:r>
            <a:endParaRPr lang="en-US" altLang="zh-CN" sz="2400" dirty="0"/>
          </a:p>
          <a:p>
            <a:pPr lvl="1">
              <a:spcAft>
                <a:spcPts val="600"/>
              </a:spcAft>
            </a:pPr>
            <a:endParaRPr lang="zh-CN" altLang="en-US" sz="2400" dirty="0"/>
          </a:p>
          <a:p>
            <a:pPr>
              <a:spcBef>
                <a:spcPct val="10000"/>
              </a:spcBef>
            </a:pPr>
            <a:r>
              <a:rPr lang="zh-CN" altLang="en-US" sz="2800" dirty="0">
                <a:latin typeface="宋体" panose="02010600030101010101" pitchFamily="2" charset="-122"/>
              </a:rPr>
              <a:t>十进制 → </a:t>
            </a:r>
            <a:r>
              <a:rPr lang="zh-CN" altLang="en-US" sz="2800" dirty="0"/>
              <a:t>任意进制</a:t>
            </a:r>
          </a:p>
          <a:p>
            <a:pPr lvl="1"/>
            <a:r>
              <a:rPr lang="zh-CN" altLang="en-US" sz="2400" dirty="0"/>
              <a:t>整数部分：辗转除基取余，先得较低有效位</a:t>
            </a:r>
          </a:p>
          <a:p>
            <a:pPr lvl="1">
              <a:spcAft>
                <a:spcPts val="600"/>
              </a:spcAft>
            </a:pPr>
            <a:r>
              <a:rPr lang="zh-CN" altLang="en-US" dirty="0"/>
              <a:t>小数</a:t>
            </a:r>
            <a:r>
              <a:rPr lang="zh-CN" altLang="en-US" sz="2400" dirty="0"/>
              <a:t>部分：辗转乘基取整，先得较高有效位</a:t>
            </a:r>
            <a:endParaRPr lang="en-US" altLang="zh-CN" sz="2400" dirty="0"/>
          </a:p>
          <a:p>
            <a:pPr lvl="1">
              <a:spcAft>
                <a:spcPts val="600"/>
              </a:spcAft>
            </a:pPr>
            <a:endParaRPr lang="zh-CN" altLang="en-US" sz="2400" dirty="0"/>
          </a:p>
          <a:p>
            <a:pPr>
              <a:spcBef>
                <a:spcPct val="10000"/>
              </a:spcBef>
            </a:pPr>
            <a:r>
              <a:rPr lang="zh-CN" altLang="en-US" sz="2800" dirty="0"/>
              <a:t>二、八、十六进制之间</a:t>
            </a:r>
          </a:p>
          <a:p>
            <a:pPr lvl="1"/>
            <a:r>
              <a:rPr lang="zh-CN" altLang="en-US" sz="2400" dirty="0"/>
              <a:t>二进制 </a:t>
            </a:r>
            <a:r>
              <a:rPr lang="zh-CN" altLang="en-US" b="1" dirty="0">
                <a:latin typeface="宋体" panose="02010600030101010101" pitchFamily="2" charset="-122"/>
              </a:rPr>
              <a:t>→</a:t>
            </a:r>
            <a:r>
              <a:rPr lang="zh-CN" altLang="en-US" sz="2400" dirty="0">
                <a:latin typeface="宋体" panose="02010600030101010101" pitchFamily="2" charset="-122"/>
              </a:rPr>
              <a:t> </a:t>
            </a:r>
            <a:r>
              <a:rPr lang="zh-CN" altLang="en-US" sz="2400" dirty="0"/>
              <a:t>十六</a:t>
            </a:r>
            <a:r>
              <a:rPr lang="en-US" altLang="zh-CN" sz="2400" dirty="0"/>
              <a:t>(</a:t>
            </a:r>
            <a:r>
              <a:rPr lang="zh-CN" altLang="en-US" sz="2400" dirty="0"/>
              <a:t>八</a:t>
            </a:r>
            <a:r>
              <a:rPr lang="en-US" altLang="zh-CN" sz="2400" dirty="0"/>
              <a:t>)</a:t>
            </a:r>
            <a:r>
              <a:rPr lang="zh-CN" altLang="en-US" sz="2400" dirty="0"/>
              <a:t>进制：以小数点为起点，按</a:t>
            </a:r>
            <a:r>
              <a:rPr lang="en-US" altLang="zh-CN" sz="2400" dirty="0"/>
              <a:t>4(3)</a:t>
            </a:r>
            <a:r>
              <a:rPr lang="zh-CN" altLang="en-US" sz="2400" dirty="0"/>
              <a:t>位分组，不足部分补</a:t>
            </a:r>
            <a:r>
              <a:rPr lang="en-US" altLang="zh-CN" sz="2400" dirty="0"/>
              <a:t>0</a:t>
            </a:r>
            <a:r>
              <a:rPr lang="zh-CN" altLang="en-US" sz="2400" dirty="0"/>
              <a:t>，每组转换为</a:t>
            </a:r>
            <a:r>
              <a:rPr lang="en-US" altLang="zh-CN" sz="2400" dirty="0"/>
              <a:t>1</a:t>
            </a:r>
            <a:r>
              <a:rPr lang="zh-CN" altLang="en-US" sz="2400" dirty="0"/>
              <a:t>位十六</a:t>
            </a:r>
            <a:r>
              <a:rPr lang="en-US" altLang="zh-CN" sz="2400" dirty="0"/>
              <a:t>(</a:t>
            </a:r>
            <a:r>
              <a:rPr lang="zh-CN" altLang="en-US" sz="2400" dirty="0"/>
              <a:t>八</a:t>
            </a:r>
            <a:r>
              <a:rPr lang="en-US" altLang="zh-CN" sz="2400" dirty="0"/>
              <a:t>)</a:t>
            </a:r>
            <a:r>
              <a:rPr lang="zh-CN" altLang="en-US" sz="2400" dirty="0"/>
              <a:t>进制数码</a:t>
            </a:r>
          </a:p>
          <a:p>
            <a:pPr lvl="1"/>
            <a:r>
              <a:rPr lang="zh-CN" altLang="en-US" sz="2400" dirty="0"/>
              <a:t>十六</a:t>
            </a:r>
            <a:r>
              <a:rPr lang="en-US" altLang="zh-CN" sz="2400" dirty="0"/>
              <a:t>(</a:t>
            </a:r>
            <a:r>
              <a:rPr lang="zh-CN" altLang="en-US" sz="2400" dirty="0"/>
              <a:t>八</a:t>
            </a:r>
            <a:r>
              <a:rPr lang="en-US" altLang="zh-CN" sz="2400" dirty="0"/>
              <a:t>)</a:t>
            </a:r>
            <a:r>
              <a:rPr lang="zh-CN" altLang="en-US" sz="2400" dirty="0"/>
              <a:t>进制 </a:t>
            </a:r>
            <a:r>
              <a:rPr lang="zh-CN" altLang="en-US" b="1" dirty="0">
                <a:latin typeface="宋体" panose="02010600030101010101" pitchFamily="2" charset="-122"/>
              </a:rPr>
              <a:t>→</a:t>
            </a:r>
            <a:r>
              <a:rPr lang="zh-CN" altLang="en-US" sz="2400" dirty="0">
                <a:latin typeface="宋体" panose="02010600030101010101" pitchFamily="2" charset="-122"/>
              </a:rPr>
              <a:t> </a:t>
            </a:r>
            <a:r>
              <a:rPr lang="zh-CN" altLang="en-US" sz="2400" dirty="0"/>
              <a:t>二进制：每位十六 </a:t>
            </a:r>
            <a:r>
              <a:rPr lang="en-US" altLang="zh-CN" sz="2400" dirty="0"/>
              <a:t>(</a:t>
            </a:r>
            <a:r>
              <a:rPr lang="zh-CN" altLang="en-US" sz="2400" dirty="0"/>
              <a:t>八</a:t>
            </a:r>
            <a:r>
              <a:rPr lang="en-US" altLang="zh-CN" sz="2400" dirty="0"/>
              <a:t>)</a:t>
            </a:r>
            <a:r>
              <a:rPr lang="zh-CN" altLang="en-US" sz="2400" dirty="0"/>
              <a:t>进制数码转换为</a:t>
            </a:r>
            <a:r>
              <a:rPr lang="en-US" altLang="zh-CN" sz="2400" dirty="0"/>
              <a:t>4(3)</a:t>
            </a:r>
            <a:r>
              <a:rPr lang="zh-CN" altLang="en-US" sz="2400" dirty="0"/>
              <a:t>位二进制数码</a:t>
            </a:r>
            <a:endParaRPr lang="en-US" altLang="zh-CN" sz="2400" dirty="0"/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77DCFEC-76C9-4FF2-07AF-35711C990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2. </a:t>
            </a:r>
            <a:r>
              <a:rPr lang="zh-CN" altLang="en-US"/>
              <a:t>数制与编码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649305E-4653-AC3B-E04B-03B2991C4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5</a:t>
            </a:fld>
            <a:r>
              <a:rPr lang="en-US" altLang="zh-CN" dirty="0"/>
              <a:t>/27</a:t>
            </a:r>
            <a:endParaRPr lang="en-US" dirty="0"/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B62E2035-466B-2022-8B03-6AA89A6485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440052"/>
              </p:ext>
            </p:extLst>
          </p:nvPr>
        </p:nvGraphicFramePr>
        <p:xfrm>
          <a:off x="5608441" y="658421"/>
          <a:ext cx="2830513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29810" imgH="431613" progId="Equation.3">
                  <p:embed/>
                </p:oleObj>
              </mc:Choice>
              <mc:Fallback>
                <p:oleObj name="公式" r:id="rId2" imgW="1129810" imgH="431613" progId="Equation.3">
                  <p:embed/>
                  <p:pic>
                    <p:nvPicPr>
                      <p:cNvPr id="1229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8441" y="658421"/>
                        <a:ext cx="2830513" cy="1089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24059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BAB697-3082-2F4E-B39D-A49A718D6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宋体" panose="02010600030101010101" pitchFamily="2" charset="-122"/>
              </a:rPr>
              <a:t>示例─不同进制转换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F92220-6D6B-E155-B908-D62A24BC9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2. </a:t>
            </a:r>
            <a:r>
              <a:rPr lang="zh-CN" altLang="en-US"/>
              <a:t>数制与编码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BB7DA3-132A-A17A-80B3-3B6FFAC94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6</a:t>
            </a:fld>
            <a:r>
              <a:rPr lang="en-US" altLang="zh-CN" dirty="0"/>
              <a:t>/27</a:t>
            </a:r>
            <a:endParaRPr lang="en-US" dirty="0"/>
          </a:p>
        </p:txBody>
      </p:sp>
      <p:graphicFrame>
        <p:nvGraphicFramePr>
          <p:cNvPr id="6" name="Group 19">
            <a:extLst>
              <a:ext uri="{FF2B5EF4-FFF2-40B4-BE49-F238E27FC236}">
                <a16:creationId xmlns:a16="http://schemas.microsoft.com/office/drawing/2014/main" id="{6A8F870E-77FD-C22C-9AB1-7CBF62693C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4238397"/>
              </p:ext>
            </p:extLst>
          </p:nvPr>
        </p:nvGraphicFramePr>
        <p:xfrm>
          <a:off x="806397" y="4831482"/>
          <a:ext cx="8712196" cy="1439863"/>
        </p:xfrm>
        <a:graphic>
          <a:graphicData uri="http://schemas.openxmlformats.org/drawingml/2006/table">
            <a:tbl>
              <a:tblPr/>
              <a:tblGrid>
                <a:gridCol w="725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54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54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7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54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54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7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544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54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2716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2544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9862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46827" marB="46827" anchor="ctr" anchorCtr="1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</a:t>
                      </a: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3</a:t>
                      </a: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4</a:t>
                      </a: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5</a:t>
                      </a: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6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7</a:t>
                      </a: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8</a:t>
                      </a: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9</a:t>
                      </a: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10</a:t>
                      </a: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30</a:t>
                      </a: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60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</a:t>
                      </a:r>
                    </a:p>
                  </a:txBody>
                  <a:tcPr marL="0" marR="0" marT="46827" marB="46827" anchor="ctr" anchorCtr="1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4</a:t>
                      </a: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8</a:t>
                      </a: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16</a:t>
                      </a: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32</a:t>
                      </a: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64</a:t>
                      </a: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128</a:t>
                      </a: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256</a:t>
                      </a: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512</a:t>
                      </a: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1024</a:t>
                      </a:r>
                      <a:endParaRPr lang="zh-CN" altLang="en-US" sz="1800" dirty="0"/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1.049</a:t>
                      </a:r>
                    </a:p>
                    <a:p>
                      <a:r>
                        <a:rPr lang="en-US" altLang="zh-CN" sz="1800" dirty="0"/>
                        <a:t>*10</a:t>
                      </a:r>
                      <a:r>
                        <a:rPr lang="en-US" altLang="zh-CN" sz="1800" baseline="30000" dirty="0"/>
                        <a:t>6</a:t>
                      </a:r>
                      <a:endParaRPr lang="zh-CN" altLang="en-US" sz="1800" baseline="30000" dirty="0"/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1.0995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*10</a:t>
                      </a:r>
                      <a:r>
                        <a:rPr lang="en-US" altLang="zh-CN" sz="1800" baseline="30000" dirty="0"/>
                        <a:t>9</a:t>
                      </a:r>
                      <a:endParaRPr lang="zh-CN" altLang="en-US" sz="1800" baseline="30000" dirty="0"/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62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46827" marB="46827" anchor="ctr" anchorCtr="1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1K</a:t>
                      </a: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1M</a:t>
                      </a: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1G</a:t>
                      </a: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FE80C391-B0A4-5919-0B5F-1F70B9F6D6E0}"/>
              </a:ext>
            </a:extLst>
          </p:cNvPr>
          <p:cNvSpPr txBox="1"/>
          <p:nvPr/>
        </p:nvSpPr>
        <p:spPr>
          <a:xfrm>
            <a:off x="4413169" y="4387029"/>
            <a:ext cx="2062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二进制的位权表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42E99792-5E22-065A-D26A-2F9DF38F2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397" y="3417887"/>
            <a:ext cx="80645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40000"/>
              </a:spcBef>
              <a:spcAft>
                <a:spcPct val="40000"/>
              </a:spcAft>
            </a:pPr>
            <a:r>
              <a:rPr lang="zh-CN" altLang="en-US" b="0" dirty="0"/>
              <a:t>  </a:t>
            </a:r>
            <a:r>
              <a:rPr lang="en-US" altLang="zh-CN" b="0" dirty="0"/>
              <a:t>(45.6)</a:t>
            </a:r>
            <a:r>
              <a:rPr lang="en-US" altLang="zh-CN" b="0" baseline="-20000" dirty="0"/>
              <a:t>10  </a:t>
            </a:r>
            <a:r>
              <a:rPr lang="en-US" altLang="zh-CN" b="0" dirty="0"/>
              <a:t>=(                      )</a:t>
            </a:r>
            <a:r>
              <a:rPr lang="en-US" altLang="zh-CN" b="0" baseline="-20000" dirty="0"/>
              <a:t>2  </a:t>
            </a:r>
            <a:r>
              <a:rPr lang="en-US" altLang="zh-CN" b="0" dirty="0"/>
              <a:t>= (           )</a:t>
            </a:r>
            <a:r>
              <a:rPr lang="en-US" altLang="zh-CN" b="0" baseline="-20000" dirty="0"/>
              <a:t>16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C178E790-42E5-40E5-3560-DFF9DF9C3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397" y="1905000"/>
            <a:ext cx="80645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40000"/>
              </a:spcBef>
              <a:spcAft>
                <a:spcPct val="40000"/>
              </a:spcAft>
            </a:pPr>
            <a:r>
              <a:rPr lang="zh-CN" altLang="en-US" b="0"/>
              <a:t>  </a:t>
            </a:r>
            <a:r>
              <a:rPr lang="en-US" altLang="zh-CN" b="0"/>
              <a:t>(F15.6)</a:t>
            </a:r>
            <a:r>
              <a:rPr lang="en-US" altLang="zh-CN" b="0" baseline="-20000"/>
              <a:t>16  </a:t>
            </a:r>
            <a:r>
              <a:rPr lang="en-US" altLang="zh-CN" b="0"/>
              <a:t>=(               )</a:t>
            </a:r>
            <a:r>
              <a:rPr lang="en-US" altLang="zh-CN" b="0" baseline="-20000"/>
              <a:t>10  </a:t>
            </a:r>
            <a:r>
              <a:rPr lang="en-US" altLang="zh-CN" b="0"/>
              <a:t>= (            )</a:t>
            </a:r>
            <a:r>
              <a:rPr lang="en-US" altLang="zh-CN" b="0" baseline="-20000"/>
              <a:t>8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536B39A9-B441-E26A-16E6-90BBEE077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397" y="1198562"/>
            <a:ext cx="80645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40000"/>
              </a:spcBef>
              <a:spcAft>
                <a:spcPct val="40000"/>
              </a:spcAft>
            </a:pPr>
            <a:r>
              <a:rPr lang="zh-CN" altLang="en-US" b="0"/>
              <a:t>  </a:t>
            </a:r>
            <a:r>
              <a:rPr lang="en-US" altLang="zh-CN" b="0"/>
              <a:t>(100101.101)</a:t>
            </a:r>
            <a:r>
              <a:rPr lang="en-US" altLang="zh-CN" b="0" baseline="-20000"/>
              <a:t>2  </a:t>
            </a:r>
            <a:r>
              <a:rPr lang="en-US" altLang="zh-CN" b="0"/>
              <a:t>=(           )</a:t>
            </a:r>
            <a:r>
              <a:rPr lang="en-US" altLang="zh-CN" b="0" baseline="-20000"/>
              <a:t>10  </a:t>
            </a:r>
            <a:r>
              <a:rPr lang="en-US" altLang="zh-CN" b="0"/>
              <a:t>= (        )</a:t>
            </a:r>
            <a:r>
              <a:rPr lang="en-US" altLang="zh-CN" b="0" baseline="-20000"/>
              <a:t>16</a:t>
            </a: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B5771518-C7E7-722A-0E04-38BB8E235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397" y="2652712"/>
            <a:ext cx="80645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40000"/>
              </a:spcBef>
              <a:spcAft>
                <a:spcPct val="40000"/>
              </a:spcAft>
            </a:pPr>
            <a:r>
              <a:rPr lang="zh-CN" altLang="en-US" b="0"/>
              <a:t>  </a:t>
            </a:r>
            <a:r>
              <a:rPr lang="en-US" altLang="zh-CN" b="0"/>
              <a:t>(205)</a:t>
            </a:r>
            <a:r>
              <a:rPr lang="en-US" altLang="zh-CN" b="0" baseline="-20000"/>
              <a:t>8  </a:t>
            </a:r>
            <a:r>
              <a:rPr lang="en-US" altLang="zh-CN" b="0"/>
              <a:t>=(       )</a:t>
            </a:r>
            <a:r>
              <a:rPr lang="en-US" altLang="zh-CN" b="0" baseline="-20000"/>
              <a:t>10  </a:t>
            </a:r>
            <a:r>
              <a:rPr lang="en-US" altLang="zh-CN" b="0"/>
              <a:t>= (                )</a:t>
            </a:r>
            <a:r>
              <a:rPr lang="en-US" altLang="zh-CN" b="0" baseline="-2000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64348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BAB697-3082-2F4E-B39D-A49A718D6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宋体" panose="02010600030101010101" pitchFamily="2" charset="-122"/>
              </a:rPr>
              <a:t>示例─不同进制转换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F92220-6D6B-E155-B908-D62A24BC9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2. </a:t>
            </a:r>
            <a:r>
              <a:rPr lang="zh-CN" altLang="en-US"/>
              <a:t>数制与编码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BB7DA3-132A-A17A-80B3-3B6FFAC94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7</a:t>
            </a:fld>
            <a:r>
              <a:rPr lang="en-US" altLang="zh-CN" dirty="0"/>
              <a:t>/27</a:t>
            </a:r>
            <a:endParaRPr lang="en-US" dirty="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42E99792-5E22-065A-D26A-2F9DF38F2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397" y="3417887"/>
            <a:ext cx="80645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40000"/>
              </a:spcBef>
              <a:spcAft>
                <a:spcPct val="40000"/>
              </a:spcAft>
            </a:pPr>
            <a:r>
              <a:rPr lang="zh-CN" altLang="en-US" b="0"/>
              <a:t>  </a:t>
            </a:r>
            <a:r>
              <a:rPr lang="en-US" altLang="zh-CN" b="0"/>
              <a:t>(45.6)</a:t>
            </a:r>
            <a:r>
              <a:rPr lang="en-US" altLang="zh-CN" b="0" baseline="-20000"/>
              <a:t>10  </a:t>
            </a:r>
            <a:r>
              <a:rPr lang="en-US" altLang="zh-CN" b="0"/>
              <a:t>=(                      )</a:t>
            </a:r>
            <a:r>
              <a:rPr lang="en-US" altLang="zh-CN" b="0" baseline="-20000"/>
              <a:t>2  </a:t>
            </a:r>
            <a:r>
              <a:rPr lang="en-US" altLang="zh-CN" b="0"/>
              <a:t>= (           )</a:t>
            </a:r>
            <a:r>
              <a:rPr lang="en-US" altLang="zh-CN" b="0" baseline="-20000"/>
              <a:t>16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C178E790-42E5-40E5-3560-DFF9DF9C3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397" y="1905000"/>
            <a:ext cx="80645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40000"/>
              </a:spcBef>
              <a:spcAft>
                <a:spcPct val="40000"/>
              </a:spcAft>
            </a:pPr>
            <a:r>
              <a:rPr lang="zh-CN" altLang="en-US" b="0" dirty="0"/>
              <a:t>  </a:t>
            </a:r>
            <a:r>
              <a:rPr lang="en-US" altLang="zh-CN" b="0" dirty="0"/>
              <a:t>(F15.6)</a:t>
            </a:r>
            <a:r>
              <a:rPr lang="en-US" altLang="zh-CN" b="0" baseline="-20000" dirty="0"/>
              <a:t>16  </a:t>
            </a:r>
            <a:r>
              <a:rPr lang="en-US" altLang="zh-CN" b="0" dirty="0"/>
              <a:t>=(               )</a:t>
            </a:r>
            <a:r>
              <a:rPr lang="en-US" altLang="zh-CN" b="0" baseline="-20000" dirty="0"/>
              <a:t>10  </a:t>
            </a:r>
            <a:r>
              <a:rPr lang="en-US" altLang="zh-CN" b="0" dirty="0"/>
              <a:t>= (            )</a:t>
            </a:r>
            <a:r>
              <a:rPr lang="en-US" altLang="zh-CN" b="0" baseline="-20000" dirty="0"/>
              <a:t>8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536B39A9-B441-E26A-16E6-90BBEE077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397" y="1198562"/>
            <a:ext cx="80645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40000"/>
              </a:spcBef>
              <a:spcAft>
                <a:spcPct val="40000"/>
              </a:spcAft>
            </a:pPr>
            <a:r>
              <a:rPr lang="zh-CN" altLang="en-US" b="0"/>
              <a:t>  </a:t>
            </a:r>
            <a:r>
              <a:rPr lang="en-US" altLang="zh-CN" b="0"/>
              <a:t>(100101.101)</a:t>
            </a:r>
            <a:r>
              <a:rPr lang="en-US" altLang="zh-CN" b="0" baseline="-20000"/>
              <a:t>2  </a:t>
            </a:r>
            <a:r>
              <a:rPr lang="en-US" altLang="zh-CN" b="0"/>
              <a:t>=(           )</a:t>
            </a:r>
            <a:r>
              <a:rPr lang="en-US" altLang="zh-CN" b="0" baseline="-20000"/>
              <a:t>10  </a:t>
            </a:r>
            <a:r>
              <a:rPr lang="en-US" altLang="zh-CN" b="0"/>
              <a:t>= (        )</a:t>
            </a:r>
            <a:r>
              <a:rPr lang="en-US" altLang="zh-CN" b="0" baseline="-20000"/>
              <a:t>16</a:t>
            </a: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B5771518-C7E7-722A-0E04-38BB8E235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397" y="2652712"/>
            <a:ext cx="80645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40000"/>
              </a:spcBef>
              <a:spcAft>
                <a:spcPct val="40000"/>
              </a:spcAft>
            </a:pPr>
            <a:r>
              <a:rPr lang="zh-CN" altLang="en-US" b="0"/>
              <a:t>  </a:t>
            </a:r>
            <a:r>
              <a:rPr lang="en-US" altLang="zh-CN" b="0"/>
              <a:t>(205)</a:t>
            </a:r>
            <a:r>
              <a:rPr lang="en-US" altLang="zh-CN" b="0" baseline="-20000"/>
              <a:t>8  </a:t>
            </a:r>
            <a:r>
              <a:rPr lang="en-US" altLang="zh-CN" b="0"/>
              <a:t>=(       )</a:t>
            </a:r>
            <a:r>
              <a:rPr lang="en-US" altLang="zh-CN" b="0" baseline="-20000"/>
              <a:t>10  </a:t>
            </a:r>
            <a:r>
              <a:rPr lang="en-US" altLang="zh-CN" b="0"/>
              <a:t>= (                )</a:t>
            </a:r>
            <a:r>
              <a:rPr lang="en-US" altLang="zh-CN" b="0" baseline="-20000"/>
              <a:t>2</a:t>
            </a:r>
          </a:p>
        </p:txBody>
      </p:sp>
      <p:grpSp>
        <p:nvGrpSpPr>
          <p:cNvPr id="15" name="Group 7">
            <a:extLst>
              <a:ext uri="{FF2B5EF4-FFF2-40B4-BE49-F238E27FC236}">
                <a16:creationId xmlns:a16="http://schemas.microsoft.com/office/drawing/2014/main" id="{6675C476-9A22-D746-CD60-EA76E5A09DBD}"/>
              </a:ext>
            </a:extLst>
          </p:cNvPr>
          <p:cNvGrpSpPr>
            <a:grpSpLocks/>
          </p:cNvGrpSpPr>
          <p:nvPr/>
        </p:nvGrpSpPr>
        <p:grpSpPr bwMode="auto">
          <a:xfrm>
            <a:off x="3081284" y="3502025"/>
            <a:ext cx="2547938" cy="592137"/>
            <a:chOff x="1804" y="2232"/>
            <a:chExt cx="1605" cy="373"/>
          </a:xfrm>
        </p:grpSpPr>
        <p:sp>
          <p:nvSpPr>
            <p:cNvPr id="16" name="Rectangle 8">
              <a:extLst>
                <a:ext uri="{FF2B5EF4-FFF2-40B4-BE49-F238E27FC236}">
                  <a16:creationId xmlns:a16="http://schemas.microsoft.com/office/drawing/2014/main" id="{FC3F74D2-2CDA-4CD0-28D8-EC8AD24199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7" y="2232"/>
              <a:ext cx="30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800" b="0">
                  <a:solidFill>
                    <a:srgbClr val="0066FF"/>
                  </a:solidFill>
                </a:rPr>
                <a:t>...</a:t>
              </a:r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A37C5BF7-F53B-ED35-88EF-AAB0067ED6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4" y="2278"/>
              <a:ext cx="14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800" b="0">
                  <a:solidFill>
                    <a:srgbClr val="0066FF"/>
                  </a:solidFill>
                </a:rPr>
                <a:t>101101.1001</a:t>
              </a:r>
            </a:p>
          </p:txBody>
        </p:sp>
      </p:grpSp>
      <p:sp>
        <p:nvSpPr>
          <p:cNvPr id="18" name="Rectangle 10">
            <a:extLst>
              <a:ext uri="{FF2B5EF4-FFF2-40B4-BE49-F238E27FC236}">
                <a16:creationId xmlns:a16="http://schemas.microsoft.com/office/drawing/2014/main" id="{392001A9-F78C-0C1D-AEB3-0A4B55099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4022" y="2043112"/>
            <a:ext cx="167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800" b="0" dirty="0">
                <a:solidFill>
                  <a:srgbClr val="0066FF"/>
                </a:solidFill>
              </a:rPr>
              <a:t>3861.375</a:t>
            </a:r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id="{40226FAB-31F3-E67C-64A5-E4FB3B064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8972" y="2043112"/>
            <a:ext cx="12747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800" b="0">
                <a:solidFill>
                  <a:srgbClr val="0066FF"/>
                </a:solidFill>
              </a:rPr>
              <a:t>7425.3</a:t>
            </a:r>
          </a:p>
        </p:txBody>
      </p:sp>
      <p:sp>
        <p:nvSpPr>
          <p:cNvPr id="20" name="Rectangle 12">
            <a:extLst>
              <a:ext uri="{FF2B5EF4-FFF2-40B4-BE49-F238E27FC236}">
                <a16:creationId xmlns:a16="http://schemas.microsoft.com/office/drawing/2014/main" id="{D6CF2476-9FE6-84E4-C849-253BF3FF3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7947" y="1333500"/>
            <a:ext cx="12747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800" b="0" dirty="0">
                <a:solidFill>
                  <a:srgbClr val="0066FF"/>
                </a:solidFill>
              </a:rPr>
              <a:t>37.625</a:t>
            </a:r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2FC78720-6AB9-3E8C-D618-093EA1075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1097" y="1322387"/>
            <a:ext cx="9159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800" b="0">
                <a:solidFill>
                  <a:srgbClr val="0066FF"/>
                </a:solidFill>
              </a:rPr>
              <a:t>25.A</a:t>
            </a:r>
          </a:p>
        </p:txBody>
      </p:sp>
      <p:sp>
        <p:nvSpPr>
          <p:cNvPr id="22" name="Rectangle 14">
            <a:extLst>
              <a:ext uri="{FF2B5EF4-FFF2-40B4-BE49-F238E27FC236}">
                <a16:creationId xmlns:a16="http://schemas.microsoft.com/office/drawing/2014/main" id="{655FC2C3-E6DF-8E84-075D-D6CC3C3AC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5859" y="2784475"/>
            <a:ext cx="7794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800" b="0">
                <a:solidFill>
                  <a:srgbClr val="0066FF"/>
                </a:solidFill>
              </a:rPr>
              <a:t>133</a:t>
            </a:r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0ED35E75-2227-D913-2B42-FD4FE08F2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572" y="2784475"/>
            <a:ext cx="1771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800" b="0">
                <a:solidFill>
                  <a:srgbClr val="0066FF"/>
                </a:solidFill>
              </a:rPr>
              <a:t>10000101</a:t>
            </a:r>
          </a:p>
        </p:txBody>
      </p:sp>
      <p:grpSp>
        <p:nvGrpSpPr>
          <p:cNvPr id="24" name="Group 16">
            <a:extLst>
              <a:ext uri="{FF2B5EF4-FFF2-40B4-BE49-F238E27FC236}">
                <a16:creationId xmlns:a16="http://schemas.microsoft.com/office/drawing/2014/main" id="{14F9CC81-B11F-C518-563C-5FA979C9274F}"/>
              </a:ext>
            </a:extLst>
          </p:cNvPr>
          <p:cNvGrpSpPr>
            <a:grpSpLocks/>
          </p:cNvGrpSpPr>
          <p:nvPr/>
        </p:nvGrpSpPr>
        <p:grpSpPr bwMode="auto">
          <a:xfrm>
            <a:off x="6542034" y="3506787"/>
            <a:ext cx="1271588" cy="590550"/>
            <a:chOff x="3984" y="2242"/>
            <a:chExt cx="801" cy="372"/>
          </a:xfrm>
        </p:grpSpPr>
        <p:sp>
          <p:nvSpPr>
            <p:cNvPr id="25" name="Rectangle 17">
              <a:extLst>
                <a:ext uri="{FF2B5EF4-FFF2-40B4-BE49-F238E27FC236}">
                  <a16:creationId xmlns:a16="http://schemas.microsoft.com/office/drawing/2014/main" id="{D4620644-2005-4CD7-E644-173CC9FA10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2287"/>
              <a:ext cx="5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800" b="0">
                  <a:solidFill>
                    <a:srgbClr val="0066FF"/>
                  </a:solidFill>
                </a:rPr>
                <a:t>2D.9</a:t>
              </a:r>
            </a:p>
          </p:txBody>
        </p:sp>
        <p:sp>
          <p:nvSpPr>
            <p:cNvPr id="26" name="Rectangle 18">
              <a:extLst>
                <a:ext uri="{FF2B5EF4-FFF2-40B4-BE49-F238E27FC236}">
                  <a16:creationId xmlns:a16="http://schemas.microsoft.com/office/drawing/2014/main" id="{F6CF2E12-8FC9-8DD7-991F-CCCC121D77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" y="2242"/>
              <a:ext cx="30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800" b="0">
                  <a:solidFill>
                    <a:srgbClr val="0066FF"/>
                  </a:solidFill>
                </a:rPr>
                <a:t>...</a:t>
              </a:r>
            </a:p>
          </p:txBody>
        </p:sp>
      </p:grpSp>
      <p:graphicFrame>
        <p:nvGraphicFramePr>
          <p:cNvPr id="27" name="Group 19">
            <a:extLst>
              <a:ext uri="{FF2B5EF4-FFF2-40B4-BE49-F238E27FC236}">
                <a16:creationId xmlns:a16="http://schemas.microsoft.com/office/drawing/2014/main" id="{F61C68DD-EA0E-95CD-F3D7-282CFD7F7C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452499"/>
              </p:ext>
            </p:extLst>
          </p:nvPr>
        </p:nvGraphicFramePr>
        <p:xfrm>
          <a:off x="806397" y="4831482"/>
          <a:ext cx="8712196" cy="1439863"/>
        </p:xfrm>
        <a:graphic>
          <a:graphicData uri="http://schemas.openxmlformats.org/drawingml/2006/table">
            <a:tbl>
              <a:tblPr/>
              <a:tblGrid>
                <a:gridCol w="725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54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54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7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54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54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7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544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54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2716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2544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9862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46827" marB="46827" anchor="ctr" anchorCtr="1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</a:t>
                      </a: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3</a:t>
                      </a: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4</a:t>
                      </a: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5</a:t>
                      </a: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6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7</a:t>
                      </a: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8</a:t>
                      </a: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9</a:t>
                      </a: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10</a:t>
                      </a: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30</a:t>
                      </a: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60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</a:t>
                      </a:r>
                    </a:p>
                  </a:txBody>
                  <a:tcPr marL="0" marR="0" marT="46827" marB="46827" anchor="ctr" anchorCtr="1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4</a:t>
                      </a: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8</a:t>
                      </a: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16</a:t>
                      </a: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32</a:t>
                      </a: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64</a:t>
                      </a: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128</a:t>
                      </a: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256</a:t>
                      </a: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512</a:t>
                      </a: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1024</a:t>
                      </a:r>
                      <a:endParaRPr lang="zh-CN" altLang="en-US" sz="1800" dirty="0"/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1.049</a:t>
                      </a:r>
                    </a:p>
                    <a:p>
                      <a:r>
                        <a:rPr lang="en-US" altLang="zh-CN" sz="1800" dirty="0"/>
                        <a:t>*10</a:t>
                      </a:r>
                      <a:r>
                        <a:rPr lang="en-US" altLang="zh-CN" sz="1800" baseline="30000" dirty="0"/>
                        <a:t>6</a:t>
                      </a:r>
                      <a:endParaRPr lang="zh-CN" altLang="en-US" sz="1800" baseline="30000" dirty="0"/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1.0995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*10</a:t>
                      </a:r>
                      <a:r>
                        <a:rPr lang="en-US" altLang="zh-CN" sz="1800" baseline="30000" dirty="0"/>
                        <a:t>9</a:t>
                      </a:r>
                      <a:endParaRPr lang="zh-CN" altLang="en-US" sz="1800" baseline="30000" dirty="0"/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62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46827" marB="46827" anchor="ctr" anchorCtr="1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1K</a:t>
                      </a: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1M</a:t>
                      </a: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1G</a:t>
                      </a:r>
                    </a:p>
                  </a:txBody>
                  <a:tcPr marL="0" marR="0" marT="46827" marB="46827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" name="文本框 27">
            <a:extLst>
              <a:ext uri="{FF2B5EF4-FFF2-40B4-BE49-F238E27FC236}">
                <a16:creationId xmlns:a16="http://schemas.microsoft.com/office/drawing/2014/main" id="{4FA233B9-AE29-CF60-B93D-CB85A81D4310}"/>
              </a:ext>
            </a:extLst>
          </p:cNvPr>
          <p:cNvSpPr txBox="1"/>
          <p:nvPr/>
        </p:nvSpPr>
        <p:spPr>
          <a:xfrm>
            <a:off x="4413169" y="4387029"/>
            <a:ext cx="2062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二进制的位权表</a:t>
            </a:r>
          </a:p>
        </p:txBody>
      </p:sp>
    </p:spTree>
    <p:extLst>
      <p:ext uri="{BB962C8B-B14F-4D97-AF65-F5344CB8AC3E}">
        <p14:creationId xmlns:p14="http://schemas.microsoft.com/office/powerpoint/2010/main" val="709255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00767B-C72A-AE20-E7EF-6CC07F091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题目解析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FB8791A-2A70-083E-B643-D474D68D4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2. </a:t>
            </a:r>
            <a:r>
              <a:rPr lang="zh-CN" altLang="en-US"/>
              <a:t>数制与编码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4FF168E-839A-8BAB-9B32-59752BE4C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8</a:t>
            </a:fld>
            <a:r>
              <a:rPr lang="en-US" altLang="zh-CN" dirty="0"/>
              <a:t>/27</a:t>
            </a:r>
            <a:endParaRPr 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8D36BAA-1048-C870-2327-F4AF4F87D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430" y="543962"/>
            <a:ext cx="8879440" cy="298287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B93BF06-7173-A06F-8080-2B0B8FF7CF6B}"/>
              </a:ext>
            </a:extLst>
          </p:cNvPr>
          <p:cNvSpPr txBox="1"/>
          <p:nvPr/>
        </p:nvSpPr>
        <p:spPr>
          <a:xfrm>
            <a:off x="907180" y="4005420"/>
            <a:ext cx="88794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00101100/01011001 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（输入信号看时钟边沿前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输出信号看时钟边沿后，实际波形中会含延迟；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MSB/LSB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Most/Least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Significant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Bit 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2) 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下降沿传输：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1/4kHz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*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=2ms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（比特率：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4kb/s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3) 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并行：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1/4kHz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0.25ms</a:t>
            </a:r>
          </a:p>
          <a:p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00442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17F605-F5E0-9ED9-3EC4-598BC9138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二进制算术运算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00F06F-32AA-89F3-D9C3-6B08D71A2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9186181" cy="5947119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800" dirty="0"/>
              <a:t>加、减运算与十进制数运算规则类似，不同在于进位或借位规则</a:t>
            </a:r>
          </a:p>
          <a:p>
            <a:pPr>
              <a:lnSpc>
                <a:spcPct val="110000"/>
              </a:lnSpc>
            </a:pPr>
            <a:r>
              <a:rPr lang="zh-CN" altLang="en-US" sz="2800" dirty="0"/>
              <a:t>乘、除运算可以用加、减和移位运算实现</a:t>
            </a:r>
          </a:p>
          <a:p>
            <a:pPr>
              <a:lnSpc>
                <a:spcPct val="110000"/>
              </a:lnSpc>
            </a:pPr>
            <a:r>
              <a:rPr lang="zh-CN" altLang="en-US" sz="2800" dirty="0"/>
              <a:t>数据用</a:t>
            </a:r>
            <a:r>
              <a:rPr lang="zh-CN" altLang="en-US" sz="2800" dirty="0">
                <a:solidFill>
                  <a:srgbClr val="0066FF"/>
                </a:solidFill>
              </a:rPr>
              <a:t>补码</a:t>
            </a:r>
            <a:r>
              <a:rPr lang="zh-CN" altLang="en-US" sz="2800" dirty="0"/>
              <a:t>表示，减法可转化为加法运算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3727124-F926-D442-838E-2A35F792C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2. </a:t>
            </a:r>
            <a:r>
              <a:rPr lang="zh-CN" altLang="en-US"/>
              <a:t>数制与编码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74DA420-4C82-F94D-6B91-EF9051BA0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9</a:t>
            </a:fld>
            <a:r>
              <a:rPr lang="en-US" altLang="zh-CN" dirty="0"/>
              <a:t>/27</a:t>
            </a:r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4F65F131-0326-F79F-38ED-97B7AF9D8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200" y="3897313"/>
            <a:ext cx="6507163" cy="1439862"/>
          </a:xfrm>
          <a:prstGeom prst="rect">
            <a:avLst/>
          </a:prstGeom>
          <a:solidFill>
            <a:srgbClr val="FFFF99"/>
          </a:solidFill>
          <a:ln w="28575">
            <a:solidFill>
              <a:srgbClr val="0066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zh-CN" altLang="en-US" sz="2800" b="0" dirty="0">
                <a:solidFill>
                  <a:srgbClr val="006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加、减、乘、除算术运算</a:t>
            </a:r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zh-CN" altLang="en-US" sz="2800" b="0" dirty="0">
                <a:solidFill>
                  <a:srgbClr val="006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全部可以用</a:t>
            </a:r>
            <a:r>
              <a:rPr lang="zh-CN" altLang="en-US" sz="2800" b="0" dirty="0">
                <a:solidFill>
                  <a:srgbClr val="FF33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加法</a:t>
            </a:r>
            <a:r>
              <a:rPr lang="zh-CN" altLang="en-US" sz="2800" b="0" dirty="0">
                <a:solidFill>
                  <a:srgbClr val="006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zh-CN" altLang="en-US" sz="2800" b="0" dirty="0">
                <a:solidFill>
                  <a:srgbClr val="FF33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移位</a:t>
            </a:r>
            <a:r>
              <a:rPr lang="zh-CN" altLang="en-US" sz="2800" b="0" dirty="0">
                <a:solidFill>
                  <a:srgbClr val="006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运算来实现</a:t>
            </a:r>
          </a:p>
        </p:txBody>
      </p:sp>
    </p:spTree>
    <p:extLst>
      <p:ext uri="{BB962C8B-B14F-4D97-AF65-F5344CB8AC3E}">
        <p14:creationId xmlns:p14="http://schemas.microsoft.com/office/powerpoint/2010/main" val="2404486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3837B9-EB94-D535-FD54-2F492D6A2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宋体" panose="02010600030101010101" pitchFamily="2" charset="-122"/>
              </a:rPr>
              <a:t>示例─</a:t>
            </a:r>
            <a:r>
              <a:rPr lang="zh-CN" altLang="en-US" dirty="0"/>
              <a:t>无符号数算术运算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45EF693-9583-5471-7072-A80E20F3A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2. </a:t>
            </a:r>
            <a:r>
              <a:rPr lang="zh-CN" altLang="en-US"/>
              <a:t>数制与编码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3012EDF-00D2-3168-D247-1B0C40B9D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10</a:t>
            </a:fld>
            <a:r>
              <a:rPr lang="en-US" altLang="zh-CN" dirty="0"/>
              <a:t>/27</a:t>
            </a:r>
            <a:endParaRPr lang="en-US" dirty="0"/>
          </a:p>
        </p:txBody>
      </p:sp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DE945FC8-69FF-8976-9FD2-C26981DC3C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5793245"/>
              </p:ext>
            </p:extLst>
          </p:nvPr>
        </p:nvGraphicFramePr>
        <p:xfrm>
          <a:off x="1587183" y="1087645"/>
          <a:ext cx="2000250" cy="1395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939392" imgH="660113" progId="Equation.3">
                  <p:embed/>
                </p:oleObj>
              </mc:Choice>
              <mc:Fallback>
                <p:oleObj name="公式" r:id="rId2" imgW="939392" imgH="660113" progId="Equation.3">
                  <p:embed/>
                  <p:pic>
                    <p:nvPicPr>
                      <p:cNvPr id="2253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183" y="1087645"/>
                        <a:ext cx="2000250" cy="1395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id="{35DAFF97-2C0D-7A41-D51F-28CA7A0545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6343878"/>
              </p:ext>
            </p:extLst>
          </p:nvPr>
        </p:nvGraphicFramePr>
        <p:xfrm>
          <a:off x="5546408" y="1057483"/>
          <a:ext cx="1928812" cy="1350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939392" imgH="660113" progId="Equation.3">
                  <p:embed/>
                </p:oleObj>
              </mc:Choice>
              <mc:Fallback>
                <p:oleObj name="公式" r:id="rId4" imgW="939392" imgH="660113" progId="Equation.3">
                  <p:embed/>
                  <p:pic>
                    <p:nvPicPr>
                      <p:cNvPr id="2253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6408" y="1057483"/>
                        <a:ext cx="1928812" cy="1350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>
            <a:extLst>
              <a:ext uri="{FF2B5EF4-FFF2-40B4-BE49-F238E27FC236}">
                <a16:creationId xmlns:a16="http://schemas.microsoft.com/office/drawing/2014/main" id="{8E2A8835-78AE-9DB3-2884-37B2A7021B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532886"/>
              </p:ext>
            </p:extLst>
          </p:nvPr>
        </p:nvGraphicFramePr>
        <p:xfrm>
          <a:off x="815658" y="2829133"/>
          <a:ext cx="2801937" cy="309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841500" imgH="1625600" progId="Equation.3">
                  <p:embed/>
                </p:oleObj>
              </mc:Choice>
              <mc:Fallback>
                <p:oleObj name="公式" r:id="rId6" imgW="1841500" imgH="1625600" progId="Equation.3">
                  <p:embed/>
                  <p:pic>
                    <p:nvPicPr>
                      <p:cNvPr id="2253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658" y="2829133"/>
                        <a:ext cx="2801937" cy="309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6">
            <a:extLst>
              <a:ext uri="{FF2B5EF4-FFF2-40B4-BE49-F238E27FC236}">
                <a16:creationId xmlns:a16="http://schemas.microsoft.com/office/drawing/2014/main" id="{9B098CF0-E5EB-F705-6E23-42F7E36670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2589370"/>
              </p:ext>
            </p:extLst>
          </p:nvPr>
        </p:nvGraphicFramePr>
        <p:xfrm>
          <a:off x="4243070" y="2622758"/>
          <a:ext cx="4394200" cy="337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565400" imgH="1917700" progId="Equation.3">
                  <p:embed/>
                </p:oleObj>
              </mc:Choice>
              <mc:Fallback>
                <p:oleObj name="公式" r:id="rId8" imgW="2565400" imgH="1917700" progId="Equation.3">
                  <p:embed/>
                  <p:pic>
                    <p:nvPicPr>
                      <p:cNvPr id="2253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3070" y="2622758"/>
                        <a:ext cx="4394200" cy="337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17676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16D471-E157-29BB-4F6E-DA0464462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有符号数的编码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542841-45ED-8846-E45F-023B71E9E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800" dirty="0"/>
              <a:t>常用编码：原码、反码和补码</a:t>
            </a:r>
          </a:p>
          <a:p>
            <a:pPr lvl="1">
              <a:lnSpc>
                <a:spcPct val="110000"/>
              </a:lnSpc>
            </a:pPr>
            <a:r>
              <a:rPr lang="zh-CN" altLang="en-US" sz="2600" dirty="0"/>
              <a:t>最高</a:t>
            </a:r>
            <a:r>
              <a:rPr lang="en-US" altLang="zh-CN" sz="2600" dirty="0"/>
              <a:t>1</a:t>
            </a:r>
            <a:r>
              <a:rPr lang="zh-CN" altLang="en-US" sz="2600" dirty="0"/>
              <a:t>位表示符号：</a:t>
            </a:r>
            <a:r>
              <a:rPr lang="en-US" altLang="zh-CN" sz="2600" dirty="0"/>
              <a:t>0-</a:t>
            </a:r>
            <a:r>
              <a:rPr lang="zh-CN" altLang="en-US" sz="2600" dirty="0"/>
              <a:t>正数，</a:t>
            </a:r>
            <a:r>
              <a:rPr lang="en-US" altLang="zh-CN" sz="2600" dirty="0"/>
              <a:t>1-</a:t>
            </a:r>
            <a:r>
              <a:rPr lang="zh-CN" altLang="en-US" sz="2600" dirty="0"/>
              <a:t>负数</a:t>
            </a:r>
          </a:p>
          <a:p>
            <a:pPr lvl="1">
              <a:lnSpc>
                <a:spcPct val="110000"/>
              </a:lnSpc>
            </a:pPr>
            <a:r>
              <a:rPr lang="zh-CN" altLang="en-US" sz="2600" dirty="0"/>
              <a:t>余下位表示数值</a:t>
            </a:r>
          </a:p>
          <a:p>
            <a:pPr>
              <a:lnSpc>
                <a:spcPct val="110000"/>
              </a:lnSpc>
            </a:pPr>
            <a:r>
              <a:rPr lang="zh-CN" altLang="en-US" sz="2800" dirty="0"/>
              <a:t>对于正数，三种码相同，余下位</a:t>
            </a:r>
            <a:r>
              <a:rPr lang="en-US" altLang="zh-CN" sz="2800" dirty="0"/>
              <a:t>=</a:t>
            </a:r>
            <a:r>
              <a:rPr lang="zh-CN" altLang="en-US" sz="2800" dirty="0"/>
              <a:t>数值位</a:t>
            </a:r>
            <a:endParaRPr lang="en-US" altLang="zh-CN" sz="2800" dirty="0"/>
          </a:p>
          <a:p>
            <a:pPr>
              <a:lnSpc>
                <a:spcPct val="110000"/>
              </a:lnSpc>
            </a:pPr>
            <a:r>
              <a:rPr lang="zh-CN" altLang="en-US" sz="2800" dirty="0"/>
              <a:t>对于负数，三种码不同</a:t>
            </a:r>
          </a:p>
          <a:p>
            <a:pPr lvl="1">
              <a:lnSpc>
                <a:spcPct val="110000"/>
              </a:lnSpc>
            </a:pPr>
            <a:r>
              <a:rPr lang="zh-CN" altLang="en-US" sz="2600" dirty="0"/>
              <a:t>原码：余下位 </a:t>
            </a:r>
            <a:r>
              <a:rPr lang="en-US" altLang="zh-CN" sz="2600" dirty="0"/>
              <a:t>= </a:t>
            </a:r>
            <a:r>
              <a:rPr lang="zh-CN" altLang="en-US" sz="2600" dirty="0"/>
              <a:t>数值位</a:t>
            </a:r>
            <a:endParaRPr lang="en-US" altLang="zh-CN" sz="2600" dirty="0"/>
          </a:p>
          <a:p>
            <a:pPr lvl="1">
              <a:lnSpc>
                <a:spcPct val="110000"/>
              </a:lnSpc>
            </a:pPr>
            <a:r>
              <a:rPr lang="zh-CN" altLang="en-US" sz="2600" dirty="0"/>
              <a:t>反码：余下位 </a:t>
            </a:r>
            <a:r>
              <a:rPr lang="en-US" altLang="zh-CN" sz="2600" dirty="0"/>
              <a:t>= </a:t>
            </a:r>
            <a:r>
              <a:rPr lang="zh-CN" altLang="en-US" sz="2600" dirty="0"/>
              <a:t>取反</a:t>
            </a:r>
            <a:r>
              <a:rPr lang="en-US" altLang="zh-CN" sz="2600" dirty="0"/>
              <a:t>(</a:t>
            </a:r>
            <a:r>
              <a:rPr lang="zh-CN" altLang="en-US" sz="2600" dirty="0"/>
              <a:t>数值位</a:t>
            </a:r>
            <a:r>
              <a:rPr lang="en-US" altLang="zh-CN" sz="2600" dirty="0"/>
              <a:t>)</a:t>
            </a:r>
            <a:endParaRPr lang="zh-CN" altLang="en-US" sz="2600" dirty="0"/>
          </a:p>
          <a:p>
            <a:pPr lvl="1">
              <a:lnSpc>
                <a:spcPct val="110000"/>
              </a:lnSpc>
            </a:pPr>
            <a:r>
              <a:rPr lang="zh-CN" altLang="en-US" sz="2600" dirty="0"/>
              <a:t>补码：全部位 </a:t>
            </a:r>
            <a:r>
              <a:rPr lang="en-US" altLang="zh-CN" sz="2600" dirty="0"/>
              <a:t>= </a:t>
            </a:r>
            <a:r>
              <a:rPr lang="zh-CN" altLang="en-US" sz="2600" dirty="0"/>
              <a:t>取反</a:t>
            </a:r>
            <a:r>
              <a:rPr lang="en-US" altLang="zh-CN" sz="2600" dirty="0"/>
              <a:t>(</a:t>
            </a:r>
            <a:r>
              <a:rPr lang="zh-CN" altLang="en-US" sz="2600" dirty="0"/>
              <a:t>数值位</a:t>
            </a:r>
            <a:r>
              <a:rPr lang="en-US" altLang="zh-CN" sz="2600" dirty="0"/>
              <a:t>)</a:t>
            </a:r>
            <a:r>
              <a:rPr lang="zh-CN" altLang="en-US" sz="2600" dirty="0"/>
              <a:t> </a:t>
            </a:r>
            <a:r>
              <a:rPr lang="en-US" altLang="zh-CN" sz="2600" dirty="0"/>
              <a:t>+ 1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849CAF9-4470-E236-4024-0BFECE86C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2. </a:t>
            </a:r>
            <a:r>
              <a:rPr lang="zh-CN" altLang="en-US"/>
              <a:t>数制与编码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F1F5A8B-DB52-A27F-9361-114472D06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11</a:t>
            </a:fld>
            <a:r>
              <a:rPr lang="en-US" altLang="zh-CN" dirty="0"/>
              <a:t>/27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865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09443D-412D-8B17-E486-BFC68AE2F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宋体" panose="02010600030101010101" pitchFamily="2" charset="-122"/>
              </a:rPr>
              <a:t>示例─</a:t>
            </a:r>
            <a:r>
              <a:rPr lang="zh-CN" altLang="en-US" dirty="0"/>
              <a:t>原码、反码、补码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9D667D-527C-939E-4043-3D3AD130C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用</a:t>
            </a:r>
            <a:r>
              <a:rPr lang="en-US" altLang="zh-CN" sz="2800" dirty="0"/>
              <a:t>4</a:t>
            </a:r>
            <a:r>
              <a:rPr lang="zh-CN" altLang="en-US" sz="2800" dirty="0"/>
              <a:t>位二进制数码表示有符号数</a:t>
            </a:r>
            <a:r>
              <a:rPr lang="en-US" altLang="zh-CN" sz="2800" dirty="0"/>
              <a:t>N</a:t>
            </a:r>
            <a:endParaRPr lang="zh-CN" altLang="en-US" sz="2800" dirty="0"/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D49723E-3F09-0CA3-71F4-F7497B2DC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2. </a:t>
            </a:r>
            <a:r>
              <a:rPr lang="zh-CN" altLang="en-US"/>
              <a:t>数制与编码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725EA47-15AA-E80D-E4BD-8D36E4F45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12</a:t>
            </a:fld>
            <a:r>
              <a:rPr lang="en-US" altLang="zh-CN" dirty="0"/>
              <a:t>/27</a:t>
            </a:r>
            <a:endParaRPr lang="en-US" dirty="0"/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04715F24-D1AD-7920-63C0-8CFD8CF7BF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094" y="2256501"/>
            <a:ext cx="1296987" cy="32766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800"/>
              <a:t>N</a:t>
            </a:r>
            <a:r>
              <a:rPr lang="en-US" altLang="zh-CN" sz="2800" baseline="-25000"/>
              <a:t>B</a:t>
            </a:r>
          </a:p>
          <a:p>
            <a:pPr algn="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400"/>
              <a:t>+ 10</a:t>
            </a:r>
          </a:p>
          <a:p>
            <a:pPr algn="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400"/>
              <a:t>+ 0</a:t>
            </a:r>
          </a:p>
          <a:p>
            <a:pPr algn="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400"/>
              <a:t>- 0</a:t>
            </a:r>
          </a:p>
          <a:p>
            <a:pPr algn="r" eaLnBrk="1" hangingPunct="1">
              <a:spcBef>
                <a:spcPct val="50000"/>
              </a:spcBef>
              <a:spcAft>
                <a:spcPct val="0"/>
              </a:spcAft>
              <a:buFontTx/>
              <a:buChar char="-"/>
            </a:pPr>
            <a:r>
              <a:rPr lang="en-US" altLang="zh-CN" sz="2400"/>
              <a:t>101</a:t>
            </a:r>
          </a:p>
          <a:p>
            <a:pPr algn="r" eaLnBrk="1" hangingPunct="1">
              <a:spcBef>
                <a:spcPct val="50000"/>
              </a:spcBef>
              <a:spcAft>
                <a:spcPct val="0"/>
              </a:spcAft>
              <a:buFontTx/>
              <a:buChar char="-"/>
            </a:pPr>
            <a:r>
              <a:rPr lang="en-US" altLang="zh-CN" sz="2400"/>
              <a:t>1000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C14C6BFF-1EF1-9356-9810-157D0ED69B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8119" y="2256501"/>
            <a:ext cx="1117600" cy="32766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800"/>
              <a:t>(N)</a:t>
            </a:r>
            <a:r>
              <a:rPr lang="zh-CN" altLang="en-US" sz="2400" baseline="-25000"/>
              <a:t>原</a:t>
            </a:r>
            <a:endParaRPr lang="zh-CN" altLang="en-US" sz="2400"/>
          </a:p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endParaRPr lang="zh-CN" altLang="en-US" sz="2400"/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30933AE6-CF10-94E1-45E0-C5B4119C0284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6056" y="2835939"/>
            <a:ext cx="1109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3FC430CC-F280-68A2-6736-E1401B278936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681" y="2835939"/>
            <a:ext cx="1296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AutoShape 7">
            <a:extLst>
              <a:ext uri="{FF2B5EF4-FFF2-40B4-BE49-F238E27FC236}">
                <a16:creationId xmlns:a16="http://schemas.microsoft.com/office/drawing/2014/main" id="{B007D7DE-EF7F-30AA-0C6A-2FFAA7F60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6594" y="3985289"/>
            <a:ext cx="612775" cy="395287"/>
          </a:xfrm>
          <a:prstGeom prst="rightArrow">
            <a:avLst>
              <a:gd name="adj1" fmla="val 50000"/>
              <a:gd name="adj2" fmla="val 38755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/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26985B59-EB34-167A-EAAA-FEA9BBEF8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7969" y="2878801"/>
            <a:ext cx="938212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FF3300"/>
                </a:solidFill>
              </a:rPr>
              <a:t>0</a:t>
            </a:r>
            <a:r>
              <a:rPr lang="en-US" altLang="zh-CN" sz="2400">
                <a:solidFill>
                  <a:srgbClr val="0066FF"/>
                </a:solidFill>
              </a:rPr>
              <a:t>010</a:t>
            </a:r>
          </a:p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FF3300"/>
                </a:solidFill>
              </a:rPr>
              <a:t>0</a:t>
            </a:r>
            <a:r>
              <a:rPr lang="en-US" altLang="zh-CN" sz="2400">
                <a:solidFill>
                  <a:srgbClr val="0066FF"/>
                </a:solidFill>
              </a:rPr>
              <a:t>000</a:t>
            </a:r>
          </a:p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FF3300"/>
                </a:solidFill>
              </a:rPr>
              <a:t>1</a:t>
            </a:r>
            <a:r>
              <a:rPr lang="en-US" altLang="zh-CN" sz="2400">
                <a:solidFill>
                  <a:srgbClr val="0066FF"/>
                </a:solidFill>
              </a:rPr>
              <a:t>000</a:t>
            </a:r>
          </a:p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FF3300"/>
                </a:solidFill>
              </a:rPr>
              <a:t>1</a:t>
            </a:r>
            <a:r>
              <a:rPr lang="en-US" altLang="zh-CN" sz="2400">
                <a:solidFill>
                  <a:srgbClr val="0066FF"/>
                </a:solidFill>
              </a:rPr>
              <a:t>101</a:t>
            </a:r>
          </a:p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66FF"/>
                </a:solidFill>
              </a:rPr>
              <a:t>X</a:t>
            </a: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ED618BAD-6805-EDEA-F4A8-E7A1421E35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9319" y="2256501"/>
            <a:ext cx="1044575" cy="32766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800"/>
              <a:t>(N)</a:t>
            </a:r>
            <a:r>
              <a:rPr lang="zh-CN" altLang="en-US" sz="2400" baseline="-25000"/>
              <a:t>反</a:t>
            </a:r>
            <a:endParaRPr lang="zh-CN" altLang="en-US" sz="2400"/>
          </a:p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endParaRPr lang="zh-CN" altLang="en-US" sz="2400"/>
          </a:p>
        </p:txBody>
      </p:sp>
      <p:sp>
        <p:nvSpPr>
          <p:cNvPr id="13" name="Line 10">
            <a:extLst>
              <a:ext uri="{FF2B5EF4-FFF2-40B4-BE49-F238E27FC236}">
                <a16:creationId xmlns:a16="http://schemas.microsoft.com/office/drawing/2014/main" id="{5A361BB7-8D03-2480-88AE-D5B7CA68670D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7256" y="2835939"/>
            <a:ext cx="10366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087E3771-7D5E-C7D9-85F9-6AE659489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9169" y="2878801"/>
            <a:ext cx="866775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FF3300"/>
                </a:solidFill>
              </a:rPr>
              <a:t>0</a:t>
            </a:r>
            <a:r>
              <a:rPr lang="en-US" altLang="zh-CN" sz="2400">
                <a:solidFill>
                  <a:srgbClr val="0066FF"/>
                </a:solidFill>
              </a:rPr>
              <a:t>010</a:t>
            </a:r>
          </a:p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FF3300"/>
                </a:solidFill>
              </a:rPr>
              <a:t>0</a:t>
            </a:r>
            <a:r>
              <a:rPr lang="en-US" altLang="zh-CN" sz="2400">
                <a:solidFill>
                  <a:srgbClr val="0066FF"/>
                </a:solidFill>
              </a:rPr>
              <a:t>000</a:t>
            </a:r>
          </a:p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FF3300"/>
                </a:solidFill>
              </a:rPr>
              <a:t>1</a:t>
            </a:r>
            <a:r>
              <a:rPr lang="en-US" altLang="zh-CN" sz="2400">
                <a:solidFill>
                  <a:srgbClr val="0066FF"/>
                </a:solidFill>
              </a:rPr>
              <a:t>111</a:t>
            </a:r>
          </a:p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FF3300"/>
                </a:solidFill>
              </a:rPr>
              <a:t>1</a:t>
            </a:r>
            <a:r>
              <a:rPr lang="en-US" altLang="zh-CN" sz="2400">
                <a:solidFill>
                  <a:srgbClr val="0066FF"/>
                </a:solidFill>
              </a:rPr>
              <a:t>010</a:t>
            </a:r>
          </a:p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66FF"/>
                </a:solidFill>
              </a:rPr>
              <a:t>X</a:t>
            </a:r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53E1DD17-5B79-9CDB-8575-B6161B0C3E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8931" y="2256501"/>
            <a:ext cx="936625" cy="32766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800"/>
              <a:t>(N)</a:t>
            </a:r>
            <a:r>
              <a:rPr lang="zh-CN" altLang="en-US" sz="2400" baseline="-25000"/>
              <a:t>补</a:t>
            </a:r>
            <a:endParaRPr lang="zh-CN" altLang="en-US" sz="2400"/>
          </a:p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endParaRPr lang="zh-CN" altLang="en-US" sz="2400"/>
          </a:p>
        </p:txBody>
      </p:sp>
      <p:sp>
        <p:nvSpPr>
          <p:cNvPr id="16" name="Line 13">
            <a:extLst>
              <a:ext uri="{FF2B5EF4-FFF2-40B4-BE49-F238E27FC236}">
                <a16:creationId xmlns:a16="http://schemas.microsoft.com/office/drawing/2014/main" id="{8917B300-907D-E724-0409-82C5E0A3BA8A}"/>
              </a:ext>
            </a:extLst>
          </p:cNvPr>
          <p:cNvSpPr>
            <a:spLocks noChangeShapeType="1"/>
          </p:cNvSpPr>
          <p:nvPr/>
        </p:nvSpPr>
        <p:spPr bwMode="auto">
          <a:xfrm>
            <a:off x="6696869" y="2835939"/>
            <a:ext cx="9286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id="{893DD17C-F6A4-7B13-DA34-4CD2EE88B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8781" y="2878801"/>
            <a:ext cx="866775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FF3300"/>
                </a:solidFill>
              </a:rPr>
              <a:t>0</a:t>
            </a:r>
            <a:r>
              <a:rPr lang="en-US" altLang="zh-CN" sz="2400">
                <a:solidFill>
                  <a:srgbClr val="0066FF"/>
                </a:solidFill>
              </a:rPr>
              <a:t>010</a:t>
            </a:r>
          </a:p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FF3300"/>
                </a:solidFill>
              </a:rPr>
              <a:t>0</a:t>
            </a:r>
            <a:r>
              <a:rPr lang="en-US" altLang="zh-CN" sz="2400">
                <a:solidFill>
                  <a:srgbClr val="0066FF"/>
                </a:solidFill>
              </a:rPr>
              <a:t>000</a:t>
            </a:r>
          </a:p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FF3300"/>
                </a:solidFill>
              </a:rPr>
              <a:t>0</a:t>
            </a:r>
            <a:r>
              <a:rPr lang="en-US" altLang="zh-CN" sz="2400">
                <a:solidFill>
                  <a:srgbClr val="0066FF"/>
                </a:solidFill>
              </a:rPr>
              <a:t>000</a:t>
            </a:r>
          </a:p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FF3300"/>
                </a:solidFill>
              </a:rPr>
              <a:t>1</a:t>
            </a:r>
            <a:r>
              <a:rPr lang="en-US" altLang="zh-CN" sz="2400">
                <a:solidFill>
                  <a:srgbClr val="0066FF"/>
                </a:solidFill>
              </a:rPr>
              <a:t>011</a:t>
            </a:r>
          </a:p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FF3300"/>
                </a:solidFill>
              </a:rPr>
              <a:t>1</a:t>
            </a:r>
            <a:r>
              <a:rPr lang="en-US" altLang="zh-CN" sz="2400">
                <a:solidFill>
                  <a:srgbClr val="0066FF"/>
                </a:solidFill>
              </a:rPr>
              <a:t>000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229EEA83-D306-443E-9E65-4E5BB4A82E33}"/>
              </a:ext>
            </a:extLst>
          </p:cNvPr>
          <p:cNvGrpSpPr>
            <a:grpSpLocks/>
          </p:cNvGrpSpPr>
          <p:nvPr/>
        </p:nvGrpSpPr>
        <p:grpSpPr bwMode="auto">
          <a:xfrm>
            <a:off x="3359944" y="3158201"/>
            <a:ext cx="4813300" cy="2693988"/>
            <a:chOff x="3690938" y="2962275"/>
            <a:chExt cx="4813300" cy="2693988"/>
          </a:xfrm>
        </p:grpSpPr>
        <p:sp>
          <p:nvSpPr>
            <p:cNvPr id="20" name="Rectangle 8">
              <a:extLst>
                <a:ext uri="{FF2B5EF4-FFF2-40B4-BE49-F238E27FC236}">
                  <a16:creationId xmlns:a16="http://schemas.microsoft.com/office/drawing/2014/main" id="{37CE7053-746F-81DD-BAB2-542E439E81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0938" y="2962275"/>
              <a:ext cx="1096962" cy="26781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solidFill>
                    <a:srgbClr val="FF3300"/>
                  </a:solidFill>
                </a:rPr>
                <a:t>0</a:t>
              </a:r>
              <a:r>
                <a:rPr lang="en-US" altLang="zh-CN" sz="2400">
                  <a:solidFill>
                    <a:srgbClr val="0066FF"/>
                  </a:solidFill>
                </a:rPr>
                <a:t>0010</a:t>
              </a:r>
            </a:p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solidFill>
                    <a:srgbClr val="FF3300"/>
                  </a:solidFill>
                </a:rPr>
                <a:t>0</a:t>
              </a:r>
              <a:r>
                <a:rPr lang="en-US" altLang="zh-CN" sz="2400">
                  <a:solidFill>
                    <a:srgbClr val="0066FF"/>
                  </a:solidFill>
                </a:rPr>
                <a:t>0000</a:t>
              </a:r>
            </a:p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solidFill>
                    <a:srgbClr val="FF3300"/>
                  </a:solidFill>
                </a:rPr>
                <a:t>1</a:t>
              </a:r>
              <a:r>
                <a:rPr lang="en-US" altLang="zh-CN" sz="2400">
                  <a:solidFill>
                    <a:srgbClr val="0066FF"/>
                  </a:solidFill>
                </a:rPr>
                <a:t>0000</a:t>
              </a:r>
            </a:p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solidFill>
                    <a:srgbClr val="FF3300"/>
                  </a:solidFill>
                </a:rPr>
                <a:t>1</a:t>
              </a:r>
              <a:r>
                <a:rPr lang="en-US" altLang="zh-CN" sz="2400">
                  <a:solidFill>
                    <a:srgbClr val="0066FF"/>
                  </a:solidFill>
                </a:rPr>
                <a:t>0101</a:t>
              </a:r>
            </a:p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solidFill>
                    <a:srgbClr val="FF3300"/>
                  </a:solidFill>
                </a:rPr>
                <a:t>1</a:t>
              </a:r>
              <a:r>
                <a:rPr lang="en-US" altLang="zh-CN" sz="2400">
                  <a:solidFill>
                    <a:srgbClr val="0066FF"/>
                  </a:solidFill>
                </a:rPr>
                <a:t>1000</a:t>
              </a:r>
            </a:p>
          </p:txBody>
        </p:sp>
        <p:sp>
          <p:nvSpPr>
            <p:cNvPr id="21" name="Rectangle 8">
              <a:extLst>
                <a:ext uri="{FF2B5EF4-FFF2-40B4-BE49-F238E27FC236}">
                  <a16:creationId xmlns:a16="http://schemas.microsoft.com/office/drawing/2014/main" id="{4A9DE26C-2E90-8DA3-8B5A-9AC5F709AD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9113" y="2978150"/>
              <a:ext cx="1096962" cy="26781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solidFill>
                    <a:srgbClr val="FF3300"/>
                  </a:solidFill>
                </a:rPr>
                <a:t>0</a:t>
              </a:r>
              <a:r>
                <a:rPr lang="en-US" altLang="zh-CN" sz="2400">
                  <a:solidFill>
                    <a:srgbClr val="0066FF"/>
                  </a:solidFill>
                </a:rPr>
                <a:t>0010</a:t>
              </a:r>
            </a:p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solidFill>
                    <a:srgbClr val="FF3300"/>
                  </a:solidFill>
                </a:rPr>
                <a:t>0</a:t>
              </a:r>
              <a:r>
                <a:rPr lang="en-US" altLang="zh-CN" sz="2400">
                  <a:solidFill>
                    <a:srgbClr val="0066FF"/>
                  </a:solidFill>
                </a:rPr>
                <a:t>0000</a:t>
              </a:r>
            </a:p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solidFill>
                    <a:srgbClr val="FF3300"/>
                  </a:solidFill>
                </a:rPr>
                <a:t>1</a:t>
              </a:r>
              <a:r>
                <a:rPr lang="en-US" altLang="zh-CN" sz="2400">
                  <a:solidFill>
                    <a:srgbClr val="0066FF"/>
                  </a:solidFill>
                </a:rPr>
                <a:t>1111</a:t>
              </a:r>
            </a:p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solidFill>
                    <a:srgbClr val="FF3300"/>
                  </a:solidFill>
                </a:rPr>
                <a:t>1</a:t>
              </a:r>
              <a:r>
                <a:rPr lang="en-US" altLang="zh-CN" sz="2400">
                  <a:solidFill>
                    <a:srgbClr val="0066FF"/>
                  </a:solidFill>
                </a:rPr>
                <a:t>1010</a:t>
              </a:r>
            </a:p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solidFill>
                    <a:srgbClr val="FF3300"/>
                  </a:solidFill>
                </a:rPr>
                <a:t>1</a:t>
              </a:r>
              <a:r>
                <a:rPr lang="en-US" altLang="zh-CN" sz="2400">
                  <a:solidFill>
                    <a:srgbClr val="0066FF"/>
                  </a:solidFill>
                </a:rPr>
                <a:t>0111</a:t>
              </a:r>
            </a:p>
          </p:txBody>
        </p:sp>
        <p:sp>
          <p:nvSpPr>
            <p:cNvPr id="22" name="Rectangle 8">
              <a:extLst>
                <a:ext uri="{FF2B5EF4-FFF2-40B4-BE49-F238E27FC236}">
                  <a16:creationId xmlns:a16="http://schemas.microsoft.com/office/drawing/2014/main" id="{368ED00C-2D9C-F219-7C70-AB7BF34875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07275" y="2978150"/>
              <a:ext cx="1096963" cy="26781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solidFill>
                    <a:srgbClr val="FF3300"/>
                  </a:solidFill>
                </a:rPr>
                <a:t>0</a:t>
              </a:r>
              <a:r>
                <a:rPr lang="en-US" altLang="zh-CN" sz="2400">
                  <a:solidFill>
                    <a:srgbClr val="0066FF"/>
                  </a:solidFill>
                </a:rPr>
                <a:t>0010</a:t>
              </a:r>
            </a:p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solidFill>
                    <a:srgbClr val="FF3300"/>
                  </a:solidFill>
                </a:rPr>
                <a:t>0</a:t>
              </a:r>
              <a:r>
                <a:rPr lang="en-US" altLang="zh-CN" sz="2400">
                  <a:solidFill>
                    <a:srgbClr val="0066FF"/>
                  </a:solidFill>
                </a:rPr>
                <a:t>0000</a:t>
              </a:r>
            </a:p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solidFill>
                    <a:srgbClr val="FF3300"/>
                  </a:solidFill>
                </a:rPr>
                <a:t>0</a:t>
              </a:r>
              <a:r>
                <a:rPr lang="en-US" altLang="zh-CN" sz="2400">
                  <a:solidFill>
                    <a:srgbClr val="0066FF"/>
                  </a:solidFill>
                </a:rPr>
                <a:t>0000</a:t>
              </a:r>
            </a:p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solidFill>
                    <a:srgbClr val="FF3300"/>
                  </a:solidFill>
                </a:rPr>
                <a:t>1</a:t>
              </a:r>
              <a:r>
                <a:rPr lang="en-US" altLang="zh-CN" sz="2400">
                  <a:solidFill>
                    <a:srgbClr val="0066FF"/>
                  </a:solidFill>
                </a:rPr>
                <a:t>1011</a:t>
              </a:r>
            </a:p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solidFill>
                    <a:srgbClr val="FF3300"/>
                  </a:solidFill>
                </a:rPr>
                <a:t>1</a:t>
              </a:r>
              <a:r>
                <a:rPr lang="en-US" altLang="zh-CN" sz="2400">
                  <a:solidFill>
                    <a:srgbClr val="0066FF"/>
                  </a:solidFill>
                </a:rPr>
                <a:t>1000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497173A7-87C3-390E-1B84-1A3C57B81934}"/>
              </a:ext>
            </a:extLst>
          </p:cNvPr>
          <p:cNvGrpSpPr>
            <a:grpSpLocks/>
          </p:cNvGrpSpPr>
          <p:nvPr/>
        </p:nvGrpSpPr>
        <p:grpSpPr bwMode="auto">
          <a:xfrm>
            <a:off x="2420144" y="4272626"/>
            <a:ext cx="6284912" cy="2009775"/>
            <a:chOff x="2750351" y="4076700"/>
            <a:chExt cx="6285699" cy="2009882"/>
          </a:xfrm>
        </p:grpSpPr>
        <p:sp>
          <p:nvSpPr>
            <p:cNvPr id="24" name="圆角矩形 23">
              <a:extLst>
                <a:ext uri="{FF2B5EF4-FFF2-40B4-BE49-F238E27FC236}">
                  <a16:creationId xmlns:a16="http://schemas.microsoft.com/office/drawing/2014/main" id="{0CCD39BD-292F-A83C-EF61-1590EC152602}"/>
                </a:ext>
              </a:extLst>
            </p:cNvPr>
            <p:cNvSpPr/>
            <p:nvPr/>
          </p:nvSpPr>
          <p:spPr>
            <a:xfrm>
              <a:off x="2899595" y="4076700"/>
              <a:ext cx="6136455" cy="1622511"/>
            </a:xfrm>
            <a:prstGeom prst="round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0F3DBC59-AF0E-FAD4-6222-11B7BFC4126C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2750351" y="5724849"/>
              <a:ext cx="2037673" cy="345094"/>
            </a:xfrm>
            <a:prstGeom prst="rect">
              <a:avLst/>
            </a:prstGeom>
            <a:blipFill rotWithShape="0">
              <a:blip r:embed="rId3"/>
              <a:stretch>
                <a:fillRect t="-1754" b="-29825"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AB8A8ED4-6ED4-FCFB-C08D-637E3B33BB05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4974736" y="5746424"/>
              <a:ext cx="1890197" cy="340158"/>
            </a:xfrm>
            <a:prstGeom prst="rect">
              <a:avLst/>
            </a:prstGeom>
            <a:blipFill rotWithShape="0">
              <a:blip r:embed="rId4"/>
              <a:stretch>
                <a:fillRect b="-32727"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FBC3ED03-D27D-68D6-7AF8-8D4494375BE1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7090469" y="5731978"/>
              <a:ext cx="1685013" cy="343812"/>
            </a:xfrm>
            <a:prstGeom prst="rect">
              <a:avLst/>
            </a:prstGeom>
            <a:blipFill rotWithShape="0">
              <a:blip r:embed="rId5"/>
              <a:stretch>
                <a:fillRect b="-29825"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02035C77-16C2-AA6C-6F1B-CDE050ACF767}"/>
              </a:ext>
            </a:extLst>
          </p:cNvPr>
          <p:cNvSpPr txBox="1"/>
          <p:nvPr/>
        </p:nvSpPr>
        <p:spPr>
          <a:xfrm>
            <a:off x="5753894" y="645329"/>
            <a:ext cx="3948546" cy="14175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000" dirty="0"/>
              <a:t>对于负数，</a:t>
            </a:r>
            <a:endParaRPr lang="en-US" altLang="zh-CN" sz="2000" dirty="0"/>
          </a:p>
          <a:p>
            <a:pPr>
              <a:lnSpc>
                <a:spcPct val="110000"/>
              </a:lnSpc>
            </a:pPr>
            <a:r>
              <a:rPr lang="zh-CN" altLang="en-US" sz="2000" dirty="0"/>
              <a:t>原码：余下位 </a:t>
            </a:r>
            <a:r>
              <a:rPr lang="en-US" altLang="zh-CN" sz="2000" dirty="0"/>
              <a:t>= </a:t>
            </a:r>
            <a:r>
              <a:rPr lang="zh-CN" altLang="en-US" sz="2000" dirty="0"/>
              <a:t>数值位</a:t>
            </a:r>
            <a:endParaRPr lang="en-US" altLang="zh-CN" sz="2000" dirty="0"/>
          </a:p>
          <a:p>
            <a:pPr>
              <a:lnSpc>
                <a:spcPct val="110000"/>
              </a:lnSpc>
            </a:pPr>
            <a:r>
              <a:rPr lang="zh-CN" altLang="en-US" sz="2000" dirty="0"/>
              <a:t>反码：余下位 </a:t>
            </a:r>
            <a:r>
              <a:rPr lang="en-US" altLang="zh-CN" sz="2000" dirty="0"/>
              <a:t>= </a:t>
            </a:r>
            <a:r>
              <a:rPr lang="zh-CN" altLang="en-US" sz="2000" dirty="0"/>
              <a:t>取反</a:t>
            </a:r>
            <a:r>
              <a:rPr lang="en-US" altLang="zh-CN" sz="2000" dirty="0"/>
              <a:t>(</a:t>
            </a:r>
            <a:r>
              <a:rPr lang="zh-CN" altLang="en-US" sz="2000" dirty="0"/>
              <a:t>数值位</a:t>
            </a:r>
            <a:r>
              <a:rPr lang="en-US" altLang="zh-CN" sz="2000" dirty="0"/>
              <a:t>)</a:t>
            </a:r>
          </a:p>
          <a:p>
            <a:pPr>
              <a:lnSpc>
                <a:spcPct val="110000"/>
              </a:lnSpc>
            </a:pPr>
            <a:r>
              <a:rPr lang="zh-CN" altLang="en-US" sz="2000" dirty="0"/>
              <a:t>补码：全部位 </a:t>
            </a:r>
            <a:r>
              <a:rPr lang="en-US" altLang="zh-CN" sz="2000" dirty="0"/>
              <a:t>= </a:t>
            </a:r>
            <a:r>
              <a:rPr lang="zh-CN" altLang="en-US" sz="2000" dirty="0"/>
              <a:t>取反</a:t>
            </a:r>
            <a:r>
              <a:rPr lang="en-US" altLang="zh-CN" sz="2000" dirty="0"/>
              <a:t>(</a:t>
            </a:r>
            <a:r>
              <a:rPr lang="zh-CN" altLang="en-US" sz="2000" dirty="0"/>
              <a:t>数值位</a:t>
            </a:r>
            <a:r>
              <a:rPr lang="en-US" altLang="zh-CN" sz="2000" dirty="0"/>
              <a:t>)</a:t>
            </a:r>
            <a:r>
              <a:rPr lang="zh-CN" altLang="en-US" sz="2000" dirty="0"/>
              <a:t> </a:t>
            </a:r>
            <a:r>
              <a:rPr lang="en-US" altLang="zh-CN" sz="2000" dirty="0"/>
              <a:t>+ 1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493906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444305-2869-7481-3A2D-E6360E0DE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宋体" panose="02010600030101010101" pitchFamily="2" charset="-122"/>
              </a:rPr>
              <a:t>由补码求实际值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A37F92-296F-6AF2-76F4-B383B8A48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补码 </a:t>
            </a:r>
            <a:r>
              <a:rPr lang="zh-CN" altLang="en-US" dirty="0">
                <a:sym typeface="Wingdings" panose="05000000000000000000" pitchFamily="2" charset="2"/>
              </a:rPr>
              <a:t> 实际值</a:t>
            </a:r>
          </a:p>
          <a:p>
            <a:pPr lvl="1"/>
            <a:r>
              <a:rPr lang="zh-CN" altLang="en-US" dirty="0"/>
              <a:t>正数：</a:t>
            </a:r>
            <a:r>
              <a:rPr lang="en-US" altLang="zh-CN" dirty="0"/>
              <a:t>+ ( </a:t>
            </a:r>
            <a:r>
              <a:rPr lang="zh-CN" altLang="en-US" dirty="0"/>
              <a:t>补码 </a:t>
            </a:r>
            <a:r>
              <a:rPr lang="en-US" altLang="zh-CN" dirty="0"/>
              <a:t>)</a:t>
            </a:r>
          </a:p>
          <a:p>
            <a:pPr lvl="1">
              <a:spcBef>
                <a:spcPct val="20000"/>
              </a:spcBef>
            </a:pPr>
            <a:r>
              <a:rPr lang="zh-CN" altLang="en-US" dirty="0"/>
              <a:t>负数：</a:t>
            </a:r>
            <a:r>
              <a:rPr lang="en-US" altLang="zh-CN" dirty="0">
                <a:cs typeface="Arial" panose="020B0604020202020204" pitchFamily="34" charset="0"/>
              </a:rPr>
              <a:t>–</a:t>
            </a:r>
            <a:r>
              <a:rPr lang="en-US" altLang="zh-CN" dirty="0"/>
              <a:t> (</a:t>
            </a:r>
            <a:r>
              <a:rPr lang="zh-CN" altLang="en-US" dirty="0"/>
              <a:t> 补码</a:t>
            </a:r>
            <a:r>
              <a:rPr lang="en-US" altLang="zh-CN" dirty="0"/>
              <a:t> + 1)</a:t>
            </a:r>
          </a:p>
          <a:p>
            <a:endParaRPr lang="en-US" altLang="zh-CN" dirty="0"/>
          </a:p>
          <a:p>
            <a:r>
              <a:rPr lang="zh-CN" altLang="en-US" dirty="0"/>
              <a:t>例如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23253A9-881B-70A2-DB1D-60D0DF067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2. </a:t>
            </a:r>
            <a:r>
              <a:rPr lang="zh-CN" altLang="en-US"/>
              <a:t>数制与编码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67BDB14-F91D-459D-0312-2C3DEB21C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13</a:t>
            </a:fld>
            <a:r>
              <a:rPr lang="en-US" altLang="zh-CN" dirty="0"/>
              <a:t>/27</a:t>
            </a:r>
            <a:endParaRPr lang="en-US" dirty="0"/>
          </a:p>
        </p:txBody>
      </p:sp>
      <p:sp>
        <p:nvSpPr>
          <p:cNvPr id="6" name="Line 9">
            <a:extLst>
              <a:ext uri="{FF2B5EF4-FFF2-40B4-BE49-F238E27FC236}">
                <a16:creationId xmlns:a16="http://schemas.microsoft.com/office/drawing/2014/main" id="{C2F60A5D-A83A-9CDB-2623-298ACA935E8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7432" y="1557546"/>
            <a:ext cx="684213" cy="0"/>
          </a:xfrm>
          <a:prstGeom prst="line">
            <a:avLst/>
          </a:prstGeom>
          <a:noFill/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987056-ABE1-A249-356D-C7415A52B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388" y="3132552"/>
            <a:ext cx="4354513" cy="253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buFontTx/>
              <a:buNone/>
            </a:pPr>
            <a:r>
              <a:rPr lang="en-US" altLang="zh-CN" sz="2800" b="0" dirty="0"/>
              <a:t>(X)</a:t>
            </a:r>
            <a:r>
              <a:rPr lang="zh-CN" altLang="en-US" sz="2800" b="0" baseline="-25000" dirty="0"/>
              <a:t>补</a:t>
            </a:r>
            <a:r>
              <a:rPr lang="en-US" altLang="zh-CN" sz="2800" b="0" dirty="0"/>
              <a:t>=00100111B → X=?</a:t>
            </a:r>
          </a:p>
          <a:p>
            <a:pPr>
              <a:lnSpc>
                <a:spcPct val="120000"/>
              </a:lnSpc>
              <a:buFontTx/>
              <a:buNone/>
            </a:pPr>
            <a:r>
              <a:rPr lang="en-US" altLang="zh-CN" sz="2800" b="0" dirty="0"/>
              <a:t>(X)</a:t>
            </a:r>
            <a:r>
              <a:rPr lang="zh-CN" altLang="en-US" sz="2800" b="0" baseline="-25000" dirty="0"/>
              <a:t>补</a:t>
            </a:r>
            <a:r>
              <a:rPr lang="en-US" altLang="zh-CN" sz="2800" b="0" dirty="0"/>
              <a:t>=10100101B → X=?</a:t>
            </a:r>
          </a:p>
          <a:p>
            <a:pPr>
              <a:lnSpc>
                <a:spcPct val="120000"/>
              </a:lnSpc>
              <a:buFontTx/>
              <a:buNone/>
            </a:pPr>
            <a:r>
              <a:rPr lang="en-US" altLang="zh-CN" sz="2800" b="0" dirty="0"/>
              <a:t>(X)</a:t>
            </a:r>
            <a:r>
              <a:rPr lang="zh-CN" altLang="en-US" sz="2800" b="0" baseline="-25000" dirty="0"/>
              <a:t>补</a:t>
            </a:r>
            <a:r>
              <a:rPr lang="en-US" altLang="zh-CN" sz="2800" b="0" dirty="0"/>
              <a:t>=11100100B → X=?</a:t>
            </a:r>
          </a:p>
          <a:p>
            <a:pPr>
              <a:lnSpc>
                <a:spcPct val="120000"/>
              </a:lnSpc>
              <a:buFontTx/>
              <a:buNone/>
            </a:pPr>
            <a:r>
              <a:rPr lang="en-US" altLang="zh-CN" sz="2800" b="0" dirty="0"/>
              <a:t>(X)</a:t>
            </a:r>
            <a:r>
              <a:rPr lang="zh-CN" altLang="en-US" sz="2800" b="0" baseline="-25000" dirty="0"/>
              <a:t>补</a:t>
            </a:r>
            <a:r>
              <a:rPr lang="en-US" altLang="zh-CN" sz="2800" b="0" dirty="0"/>
              <a:t>=10000000B → X=?</a:t>
            </a:r>
            <a:endParaRPr lang="en-US" altLang="zh-CN" sz="2800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897E4F6A-8A01-D51E-94A5-AC0E34101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0" y="3132551"/>
            <a:ext cx="2844800" cy="253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buFontTx/>
              <a:buNone/>
            </a:pPr>
            <a:r>
              <a:rPr lang="en-US" altLang="zh-CN" sz="2800" b="0" dirty="0">
                <a:solidFill>
                  <a:srgbClr val="0066FF"/>
                </a:solidFill>
              </a:rPr>
              <a:t>+100111B</a:t>
            </a:r>
          </a:p>
          <a:p>
            <a:pPr>
              <a:lnSpc>
                <a:spcPct val="120000"/>
              </a:lnSpc>
              <a:buFontTx/>
              <a:buNone/>
            </a:pPr>
            <a:r>
              <a:rPr lang="en-US" altLang="zh-CN" sz="2800" b="0" dirty="0">
                <a:solidFill>
                  <a:srgbClr val="0066FF"/>
                </a:solidFill>
              </a:rPr>
              <a:t>-1011011B </a:t>
            </a:r>
          </a:p>
          <a:p>
            <a:pPr>
              <a:lnSpc>
                <a:spcPct val="120000"/>
              </a:lnSpc>
              <a:buFontTx/>
              <a:buNone/>
            </a:pPr>
            <a:r>
              <a:rPr lang="en-US" altLang="zh-CN" sz="2800" b="0" dirty="0">
                <a:solidFill>
                  <a:srgbClr val="0066FF"/>
                </a:solidFill>
              </a:rPr>
              <a:t>-11100B</a:t>
            </a:r>
          </a:p>
          <a:p>
            <a:pPr>
              <a:lnSpc>
                <a:spcPct val="120000"/>
              </a:lnSpc>
              <a:buFontTx/>
              <a:buNone/>
            </a:pPr>
            <a:r>
              <a:rPr lang="en-US" altLang="zh-CN" sz="2800" b="0" dirty="0">
                <a:solidFill>
                  <a:srgbClr val="0066FF"/>
                </a:solidFill>
              </a:rPr>
              <a:t>-10000000B</a:t>
            </a:r>
          </a:p>
        </p:txBody>
      </p:sp>
    </p:spTree>
    <p:extLst>
      <p:ext uri="{BB962C8B-B14F-4D97-AF65-F5344CB8AC3E}">
        <p14:creationId xmlns:p14="http://schemas.microsoft.com/office/powerpoint/2010/main" val="527881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B7F935-DFD3-5623-1E89-F83F59352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3200" dirty="0"/>
              <a:t>不同编码对比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9385CAE-805E-39DC-F607-5A756619B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2. </a:t>
            </a:r>
            <a:r>
              <a:rPr lang="zh-CN" altLang="en-US"/>
              <a:t>数制与编码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AB73467-0F75-C2D8-F30E-D7D4D3A73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14</a:t>
            </a:fld>
            <a:r>
              <a:rPr lang="en-US" altLang="zh-CN" dirty="0"/>
              <a:t>/27</a:t>
            </a:r>
            <a:endParaRPr lang="en-US" dirty="0"/>
          </a:p>
        </p:txBody>
      </p:sp>
      <p:graphicFrame>
        <p:nvGraphicFramePr>
          <p:cNvPr id="6" name="Group 132">
            <a:extLst>
              <a:ext uri="{FF2B5EF4-FFF2-40B4-BE49-F238E27FC236}">
                <a16:creationId xmlns:a16="http://schemas.microsoft.com/office/drawing/2014/main" id="{60170B47-C3B9-9DBF-A703-2E11ED2D2A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536350"/>
              </p:ext>
            </p:extLst>
          </p:nvPr>
        </p:nvGraphicFramePr>
        <p:xfrm>
          <a:off x="1010203" y="883651"/>
          <a:ext cx="7212013" cy="5286377"/>
        </p:xfrm>
        <a:graphic>
          <a:graphicData uri="http://schemas.openxmlformats.org/drawingml/2006/table">
            <a:tbl>
              <a:tblPr/>
              <a:tblGrid>
                <a:gridCol w="1450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3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3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1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30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2738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编码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 无符号数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原码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补码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反码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150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0000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563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0001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150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0010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150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0011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150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0100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150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0101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150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0110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563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0111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150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1000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-0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-8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-7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150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1001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-1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-7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-6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1150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1010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-2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-6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-5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1150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1011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-3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-5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-4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1150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1100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12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-4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-4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-3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9563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1101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13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-5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-3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-2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1150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1110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14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-6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-2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-1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1150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1111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15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-7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-1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-0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7" name="Rectangle 130">
            <a:extLst>
              <a:ext uri="{FF2B5EF4-FFF2-40B4-BE49-F238E27FC236}">
                <a16:creationId xmlns:a16="http://schemas.microsoft.com/office/drawing/2014/main" id="{1953C233-59DE-F13F-F01E-3704F4DA7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1178" y="3664951"/>
            <a:ext cx="5761038" cy="2474912"/>
          </a:xfrm>
          <a:prstGeom prst="rect">
            <a:avLst/>
          </a:prstGeom>
          <a:noFill/>
          <a:ln w="2857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/>
          </a:p>
        </p:txBody>
      </p:sp>
    </p:spTree>
    <p:extLst>
      <p:ext uri="{BB962C8B-B14F-4D97-AF65-F5344CB8AC3E}">
        <p14:creationId xmlns:p14="http://schemas.microsoft.com/office/powerpoint/2010/main" val="4220046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E8E904-590B-EAE5-F19D-B8667DE09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补码加减运算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A0C79E-ED74-6788-3DEB-27DACF0D5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  <a:spcAft>
                <a:spcPct val="10000"/>
              </a:spcAft>
            </a:pPr>
            <a:r>
              <a:rPr lang="zh-CN" altLang="en-US" sz="2800" dirty="0">
                <a:latin typeface="Times New Roman" panose="02020603050405020304" pitchFamily="18" charset="0"/>
              </a:rPr>
              <a:t>采用补码，可以用加法来实现减法运算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ct val="10000"/>
              </a:spcAft>
            </a:pPr>
            <a:r>
              <a:rPr lang="zh-CN" altLang="en-US" sz="3200" dirty="0">
                <a:latin typeface="Times New Roman" panose="02020603050405020304" pitchFamily="18" charset="0"/>
              </a:rPr>
              <a:t>加法</a:t>
            </a:r>
            <a:r>
              <a:rPr lang="en-US" altLang="zh-CN" sz="3200" dirty="0">
                <a:latin typeface="Times New Roman" panose="02020603050405020304" pitchFamily="18" charset="0"/>
              </a:rPr>
              <a:t>:   (</a:t>
            </a:r>
            <a:r>
              <a:rPr lang="en-US" altLang="zh-CN" sz="2800" dirty="0">
                <a:latin typeface="Times New Roman" panose="02020603050405020304" pitchFamily="18" charset="0"/>
              </a:rPr>
              <a:t>X + Y</a:t>
            </a:r>
            <a:r>
              <a:rPr lang="en-US" altLang="zh-CN" sz="3200" dirty="0">
                <a:latin typeface="Times New Roman" panose="02020603050405020304" pitchFamily="18" charset="0"/>
              </a:rPr>
              <a:t>)</a:t>
            </a:r>
            <a:r>
              <a:rPr lang="zh-CN" altLang="en-US" sz="2800" baseline="-25000" dirty="0">
                <a:latin typeface="Times New Roman" panose="02020603050405020304" pitchFamily="18" charset="0"/>
              </a:rPr>
              <a:t>补 </a:t>
            </a:r>
            <a:r>
              <a:rPr lang="en-US" altLang="zh-CN" sz="2800" dirty="0">
                <a:latin typeface="Times New Roman" panose="02020603050405020304" pitchFamily="18" charset="0"/>
              </a:rPr>
              <a:t>= 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)</a:t>
            </a:r>
            <a:r>
              <a:rPr lang="zh-CN" altLang="en-US" sz="2800" baseline="-25000" dirty="0">
                <a:latin typeface="Times New Roman" panose="02020603050405020304" pitchFamily="18" charset="0"/>
              </a:rPr>
              <a:t>补 </a:t>
            </a:r>
            <a:r>
              <a:rPr lang="en-US" altLang="zh-CN" sz="2800" dirty="0">
                <a:latin typeface="Times New Roman" panose="02020603050405020304" pitchFamily="18" charset="0"/>
              </a:rPr>
              <a:t>+ 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</a:rPr>
              <a:t>Y</a:t>
            </a:r>
            <a:r>
              <a:rPr lang="en-US" altLang="zh-CN" sz="3200" dirty="0">
                <a:latin typeface="Times New Roman" panose="02020603050405020304" pitchFamily="18" charset="0"/>
              </a:rPr>
              <a:t>)</a:t>
            </a:r>
            <a:r>
              <a:rPr lang="zh-CN" altLang="en-US" sz="2800" baseline="-25000" dirty="0">
                <a:latin typeface="Times New Roman" panose="02020603050405020304" pitchFamily="18" charset="0"/>
              </a:rPr>
              <a:t>补</a:t>
            </a:r>
          </a:p>
          <a:p>
            <a:pPr>
              <a:lnSpc>
                <a:spcPct val="120000"/>
              </a:lnSpc>
              <a:spcAft>
                <a:spcPct val="10000"/>
              </a:spcAft>
            </a:pPr>
            <a:r>
              <a:rPr lang="zh-CN" altLang="en-US" sz="3200" dirty="0">
                <a:latin typeface="Times New Roman" panose="02020603050405020304" pitchFamily="18" charset="0"/>
              </a:rPr>
              <a:t>减法</a:t>
            </a:r>
            <a:r>
              <a:rPr lang="en-US" altLang="zh-CN" sz="3200" dirty="0">
                <a:latin typeface="Times New Roman" panose="02020603050405020304" pitchFamily="18" charset="0"/>
              </a:rPr>
              <a:t>:   (</a:t>
            </a:r>
            <a:r>
              <a:rPr lang="en-US" altLang="zh-CN" sz="2800" dirty="0">
                <a:latin typeface="Times New Roman" panose="02020603050405020304" pitchFamily="18" charset="0"/>
              </a:rPr>
              <a:t>X – Y</a:t>
            </a:r>
            <a:r>
              <a:rPr lang="en-US" altLang="zh-CN" sz="3200" dirty="0">
                <a:latin typeface="Times New Roman" panose="02020603050405020304" pitchFamily="18" charset="0"/>
              </a:rPr>
              <a:t>)</a:t>
            </a:r>
            <a:r>
              <a:rPr lang="zh-CN" altLang="en-US" sz="2800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</a:rPr>
              <a:t>= 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)</a:t>
            </a:r>
            <a:r>
              <a:rPr lang="zh-CN" altLang="en-US" sz="2800" baseline="-25000" dirty="0">
                <a:latin typeface="Times New Roman" panose="02020603050405020304" pitchFamily="18" charset="0"/>
              </a:rPr>
              <a:t>补 </a:t>
            </a:r>
            <a:r>
              <a:rPr lang="en-US" altLang="zh-CN" sz="2800" dirty="0">
                <a:latin typeface="Times New Roman" panose="02020603050405020304" pitchFamily="18" charset="0"/>
              </a:rPr>
              <a:t>+ 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</a:rPr>
              <a:t>-Y</a:t>
            </a:r>
            <a:r>
              <a:rPr lang="en-US" altLang="zh-CN" sz="3200" dirty="0">
                <a:latin typeface="Times New Roman" panose="02020603050405020304" pitchFamily="18" charset="0"/>
              </a:rPr>
              <a:t>)</a:t>
            </a:r>
            <a:r>
              <a:rPr lang="zh-CN" altLang="en-US" sz="2800" baseline="-25000" dirty="0">
                <a:latin typeface="Times New Roman" panose="02020603050405020304" pitchFamily="18" charset="0"/>
              </a:rPr>
              <a:t>补 </a:t>
            </a:r>
            <a:r>
              <a:rPr lang="en-US" altLang="zh-CN" sz="2800" dirty="0">
                <a:latin typeface="Times New Roman" panose="02020603050405020304" pitchFamily="18" charset="0"/>
              </a:rPr>
              <a:t>= 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)</a:t>
            </a:r>
            <a:r>
              <a:rPr lang="zh-CN" altLang="en-US" sz="2800" baseline="-25000" dirty="0">
                <a:latin typeface="Times New Roman" panose="02020603050405020304" pitchFamily="18" charset="0"/>
              </a:rPr>
              <a:t>补 </a:t>
            </a:r>
            <a:r>
              <a:rPr lang="en-US" altLang="zh-CN" sz="2800" dirty="0">
                <a:latin typeface="Times New Roman" panose="02020603050405020304" pitchFamily="18" charset="0"/>
              </a:rPr>
              <a:t>+  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</a:rPr>
              <a:t>Y</a:t>
            </a:r>
            <a:r>
              <a:rPr lang="en-US" altLang="zh-CN" sz="3200" dirty="0">
                <a:latin typeface="Times New Roman" panose="02020603050405020304" pitchFamily="18" charset="0"/>
              </a:rPr>
              <a:t>)</a:t>
            </a:r>
            <a:r>
              <a:rPr lang="zh-CN" altLang="en-US" sz="2800" baseline="-25000" dirty="0">
                <a:latin typeface="Times New Roman" panose="02020603050405020304" pitchFamily="18" charset="0"/>
              </a:rPr>
              <a:t>补</a:t>
            </a:r>
            <a:r>
              <a:rPr lang="en-US" altLang="zh-CN" sz="2800" dirty="0">
                <a:latin typeface="Times New Roman" panose="02020603050405020304" pitchFamily="18" charset="0"/>
              </a:rPr>
              <a:t>+ 1</a:t>
            </a:r>
          </a:p>
          <a:p>
            <a:pPr>
              <a:lnSpc>
                <a:spcPct val="120000"/>
              </a:lnSpc>
              <a:spcAft>
                <a:spcPct val="10000"/>
              </a:spcAft>
            </a:pPr>
            <a:endParaRPr lang="zh-CN" altLang="en-US" sz="2800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ct val="10000"/>
              </a:spcAft>
            </a:pPr>
            <a:endParaRPr lang="zh-CN" altLang="en-US" sz="2800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ct val="10000"/>
              </a:spcAft>
            </a:pPr>
            <a:endParaRPr lang="zh-CN" altLang="en-US" sz="2800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ct val="10000"/>
              </a:spcAft>
            </a:pPr>
            <a:endParaRPr lang="zh-CN" altLang="en-US" sz="2800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ct val="10000"/>
              </a:spcAft>
            </a:pPr>
            <a:endParaRPr lang="zh-CN" altLang="en-US" sz="2800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ct val="10000"/>
              </a:spcAft>
            </a:pPr>
            <a:endParaRPr lang="zh-CN" altLang="en-US" sz="2800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ct val="10000"/>
              </a:spcAft>
            </a:pPr>
            <a:endParaRPr lang="zh-CN" altLang="en-US" sz="2800" dirty="0">
              <a:latin typeface="Times New Roman" panose="02020603050405020304" pitchFamily="18" charset="0"/>
            </a:endParaRP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0895DE8-C017-B1BA-17B0-446DB0F77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2. </a:t>
            </a:r>
            <a:r>
              <a:rPr lang="zh-CN" altLang="en-US"/>
              <a:t>数制与编码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C6864E3-E4BE-B123-FD57-8FD71C71B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15</a:t>
            </a:fld>
            <a:r>
              <a:rPr lang="en-US" altLang="zh-CN" dirty="0"/>
              <a:t>/27</a:t>
            </a:r>
            <a:endParaRPr lang="en-US" dirty="0"/>
          </a:p>
        </p:txBody>
      </p:sp>
      <p:sp>
        <p:nvSpPr>
          <p:cNvPr id="6" name="Line 27">
            <a:extLst>
              <a:ext uri="{FF2B5EF4-FFF2-40B4-BE49-F238E27FC236}">
                <a16:creationId xmlns:a16="http://schemas.microsoft.com/office/drawing/2014/main" id="{B2C2196B-A76F-DE35-D435-ABC8C61DF846}"/>
              </a:ext>
            </a:extLst>
          </p:cNvPr>
          <p:cNvSpPr>
            <a:spLocks noChangeShapeType="1"/>
          </p:cNvSpPr>
          <p:nvPr/>
        </p:nvSpPr>
        <p:spPr bwMode="auto">
          <a:xfrm>
            <a:off x="7008495" y="2079404"/>
            <a:ext cx="466725" cy="0"/>
          </a:xfrm>
          <a:prstGeom prst="line">
            <a:avLst/>
          </a:prstGeom>
          <a:noFill/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1AB6EA62-5BA4-1FBE-652B-0B3408E3CCA2}"/>
              </a:ext>
            </a:extLst>
          </p:cNvPr>
          <p:cNvGrpSpPr>
            <a:grpSpLocks/>
          </p:cNvGrpSpPr>
          <p:nvPr/>
        </p:nvGrpSpPr>
        <p:grpSpPr bwMode="auto">
          <a:xfrm>
            <a:off x="811696" y="3003329"/>
            <a:ext cx="4595813" cy="3038475"/>
            <a:chOff x="280" y="1207"/>
            <a:chExt cx="2895" cy="1914"/>
          </a:xfrm>
        </p:grpSpPr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E42F3595-2E7C-4C00-7908-50433DE744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0" y="2160"/>
              <a:ext cx="136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159E01A7-E198-5ADA-C4DB-676EB089D2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01" y="1480"/>
              <a:ext cx="0" cy="13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D545216A-1469-47B6-850A-3B0BA1B763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24" y="1684"/>
              <a:ext cx="953" cy="9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6CB379B4-585C-AF23-30D0-33233C8651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4" y="1683"/>
              <a:ext cx="953" cy="9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Oval 9">
              <a:extLst>
                <a:ext uri="{FF2B5EF4-FFF2-40B4-BE49-F238E27FC236}">
                  <a16:creationId xmlns:a16="http://schemas.microsoft.com/office/drawing/2014/main" id="{F08511EC-1978-44B7-37D2-F633CB3D40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" y="1593"/>
              <a:ext cx="1134" cy="1134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A840F2A1-AC7C-46C4-0167-7E5CAC306A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157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4" name="Text Box 11">
              <a:extLst>
                <a:ext uri="{FF2B5EF4-FFF2-40B4-BE49-F238E27FC236}">
                  <a16:creationId xmlns:a16="http://schemas.microsoft.com/office/drawing/2014/main" id="{DC803F86-C7FA-D50E-6262-202F492FF9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2409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5" name="Text Box 12">
              <a:extLst>
                <a:ext uri="{FF2B5EF4-FFF2-40B4-BE49-F238E27FC236}">
                  <a16:creationId xmlns:a16="http://schemas.microsoft.com/office/drawing/2014/main" id="{1D0C1AAB-1D05-E079-87A1-8E89D2A9EA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202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6" name="Text Box 13">
              <a:extLst>
                <a:ext uri="{FF2B5EF4-FFF2-40B4-BE49-F238E27FC236}">
                  <a16:creationId xmlns:a16="http://schemas.microsoft.com/office/drawing/2014/main" id="{FBC8CCCF-7F4C-F1C8-95FC-4430D8A85A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0" y="202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7" name="Text Box 14">
              <a:extLst>
                <a:ext uri="{FF2B5EF4-FFF2-40B4-BE49-F238E27FC236}">
                  <a16:creationId xmlns:a16="http://schemas.microsoft.com/office/drawing/2014/main" id="{F1CA222C-BA7F-A202-9AD5-8A2F071BA8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7" y="170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8" name="Text Box 15">
              <a:extLst>
                <a:ext uri="{FF2B5EF4-FFF2-40B4-BE49-F238E27FC236}">
                  <a16:creationId xmlns:a16="http://schemas.microsoft.com/office/drawing/2014/main" id="{BA98080D-C29E-EE6D-8225-34EBFC9867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2" y="1713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9" name="Text Box 16">
              <a:extLst>
                <a:ext uri="{FF2B5EF4-FFF2-40B4-BE49-F238E27FC236}">
                  <a16:creationId xmlns:a16="http://schemas.microsoft.com/office/drawing/2014/main" id="{26230430-1B77-7DCC-AAB5-8FFB6C865C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2" y="229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0" name="Text Box 17">
              <a:extLst>
                <a:ext uri="{FF2B5EF4-FFF2-40B4-BE49-F238E27FC236}">
                  <a16:creationId xmlns:a16="http://schemas.microsoft.com/office/drawing/2014/main" id="{0CBAC0A1-902A-7B57-87D9-F378E8A4E6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2" y="229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21" name="Text Box 18">
              <a:extLst>
                <a:ext uri="{FF2B5EF4-FFF2-40B4-BE49-F238E27FC236}">
                  <a16:creationId xmlns:a16="http://schemas.microsoft.com/office/drawing/2014/main" id="{CB9DBCC6-FB13-2EBA-77ED-FAAEEAD82E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0" y="1207"/>
              <a:ext cx="6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000 (0)</a:t>
              </a:r>
            </a:p>
          </p:txBody>
        </p:sp>
        <p:sp>
          <p:nvSpPr>
            <p:cNvPr id="22" name="Text Box 19">
              <a:extLst>
                <a:ext uri="{FF2B5EF4-FFF2-40B4-BE49-F238E27FC236}">
                  <a16:creationId xmlns:a16="http://schemas.microsoft.com/office/drawing/2014/main" id="{7B6408D4-7D5D-5866-B373-5A0B5175DB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7" y="1473"/>
              <a:ext cx="7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001 (+1)</a:t>
              </a:r>
            </a:p>
          </p:txBody>
        </p:sp>
        <p:sp>
          <p:nvSpPr>
            <p:cNvPr id="23" name="Text Box 20">
              <a:extLst>
                <a:ext uri="{FF2B5EF4-FFF2-40B4-BE49-F238E27FC236}">
                  <a16:creationId xmlns:a16="http://schemas.microsoft.com/office/drawing/2014/main" id="{27994743-6B69-78E4-ECD7-52FC9319F1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1" y="2001"/>
              <a:ext cx="7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010 (+2)</a:t>
              </a:r>
            </a:p>
          </p:txBody>
        </p:sp>
        <p:sp>
          <p:nvSpPr>
            <p:cNvPr id="24" name="Text Box 21">
              <a:extLst>
                <a:ext uri="{FF2B5EF4-FFF2-40B4-BE49-F238E27FC236}">
                  <a16:creationId xmlns:a16="http://schemas.microsoft.com/office/drawing/2014/main" id="{07F036B9-C9D5-4478-7B17-13E397A99A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" y="2001"/>
              <a:ext cx="7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110 (-2)</a:t>
              </a:r>
            </a:p>
          </p:txBody>
        </p:sp>
        <p:sp>
          <p:nvSpPr>
            <p:cNvPr id="25" name="Text Box 22">
              <a:extLst>
                <a:ext uri="{FF2B5EF4-FFF2-40B4-BE49-F238E27FC236}">
                  <a16:creationId xmlns:a16="http://schemas.microsoft.com/office/drawing/2014/main" id="{28629B99-87DB-3EA6-8D9A-5C62D3968B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0" y="2523"/>
              <a:ext cx="7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011 (+3)</a:t>
              </a:r>
            </a:p>
          </p:txBody>
        </p:sp>
        <p:sp>
          <p:nvSpPr>
            <p:cNvPr id="26" name="Text Box 23">
              <a:extLst>
                <a:ext uri="{FF2B5EF4-FFF2-40B4-BE49-F238E27FC236}">
                  <a16:creationId xmlns:a16="http://schemas.microsoft.com/office/drawing/2014/main" id="{E7CBE2C2-4F21-20E0-BEA2-72A70F4FEE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1" y="2833"/>
              <a:ext cx="7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100 (-4)</a:t>
              </a:r>
            </a:p>
          </p:txBody>
        </p:sp>
        <p:sp>
          <p:nvSpPr>
            <p:cNvPr id="27" name="Text Box 24">
              <a:extLst>
                <a:ext uri="{FF2B5EF4-FFF2-40B4-BE49-F238E27FC236}">
                  <a16:creationId xmlns:a16="http://schemas.microsoft.com/office/drawing/2014/main" id="{B35BDCAF-8935-CE48-5455-AEBCA8D31B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" y="2523"/>
              <a:ext cx="7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101 (-3)</a:t>
              </a:r>
            </a:p>
          </p:txBody>
        </p:sp>
        <p:sp>
          <p:nvSpPr>
            <p:cNvPr id="28" name="Text Box 25">
              <a:extLst>
                <a:ext uri="{FF2B5EF4-FFF2-40B4-BE49-F238E27FC236}">
                  <a16:creationId xmlns:a16="http://schemas.microsoft.com/office/drawing/2014/main" id="{B51D3F3B-1CD5-E52F-C8FA-7DA201094F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" y="1473"/>
              <a:ext cx="7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111 (-1)</a:t>
              </a:r>
            </a:p>
          </p:txBody>
        </p:sp>
      </p:grpSp>
      <p:pic>
        <p:nvPicPr>
          <p:cNvPr id="29" name="Picture 26">
            <a:extLst>
              <a:ext uri="{FF2B5EF4-FFF2-40B4-BE49-F238E27FC236}">
                <a16:creationId xmlns:a16="http://schemas.microsoft.com/office/drawing/2014/main" id="{FABC148F-57F0-5B52-5FF1-92B107EB17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1359" y="3128742"/>
            <a:ext cx="2987675" cy="298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9559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FDB07B-D648-CF92-7211-1DF7AE8CF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宋体" panose="02010600030101010101" pitchFamily="2" charset="-122"/>
              </a:rPr>
              <a:t>示例</a:t>
            </a:r>
            <a:r>
              <a:rPr lang="en-US" altLang="zh-CN" dirty="0">
                <a:latin typeface="宋体" panose="02010600030101010101" pitchFamily="2" charset="-122"/>
              </a:rPr>
              <a:t>: </a:t>
            </a:r>
            <a:r>
              <a:rPr lang="zh-CN" altLang="en-US" dirty="0">
                <a:latin typeface="宋体" panose="02010600030101010101" pitchFamily="2" charset="-122"/>
              </a:rPr>
              <a:t>补码运算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8DAEB4-55F6-8558-0457-9AF3E66B8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b="0" dirty="0"/>
              <a:t>( X )</a:t>
            </a:r>
            <a:r>
              <a:rPr lang="zh-CN" altLang="en-US" b="0" baseline="-25000" dirty="0"/>
              <a:t>补</a:t>
            </a:r>
            <a:r>
              <a:rPr lang="zh-CN" altLang="en-US" b="0" dirty="0"/>
              <a:t> </a:t>
            </a:r>
            <a:r>
              <a:rPr lang="en-US" altLang="zh-CN" b="0" dirty="0"/>
              <a:t>= 1010 → ( -X )</a:t>
            </a:r>
            <a:r>
              <a:rPr lang="zh-CN" altLang="en-US" b="0" baseline="-25000" dirty="0"/>
              <a:t>补</a:t>
            </a:r>
            <a:r>
              <a:rPr lang="zh-CN" altLang="en-US" b="0" dirty="0"/>
              <a:t> </a:t>
            </a:r>
            <a:r>
              <a:rPr lang="en-US" altLang="zh-CN" b="0" dirty="0"/>
              <a:t>= ? </a:t>
            </a:r>
          </a:p>
          <a:p>
            <a:pPr>
              <a:lnSpc>
                <a:spcPct val="150000"/>
              </a:lnSpc>
            </a:pPr>
            <a:r>
              <a:rPr lang="en-US" altLang="zh-CN" b="0" dirty="0"/>
              <a:t>X = -5</a:t>
            </a:r>
            <a:r>
              <a:rPr lang="zh-CN" altLang="en-US" b="0" dirty="0"/>
              <a:t> </a:t>
            </a:r>
            <a:r>
              <a:rPr lang="en-US" altLang="zh-CN" b="0" dirty="0"/>
              <a:t>, Y = 3 </a:t>
            </a:r>
          </a:p>
          <a:p>
            <a:pPr lvl="1">
              <a:lnSpc>
                <a:spcPct val="150000"/>
              </a:lnSpc>
            </a:pPr>
            <a:r>
              <a:rPr lang="en-US" altLang="zh-CN" b="0" dirty="0"/>
              <a:t>5-&gt; 0101, -5 -&gt; 1010+1 = 1011</a:t>
            </a:r>
          </a:p>
          <a:p>
            <a:pPr lvl="1">
              <a:lnSpc>
                <a:spcPct val="150000"/>
              </a:lnSpc>
            </a:pPr>
            <a:r>
              <a:rPr lang="en-US" altLang="zh-CN" b="0" dirty="0"/>
              <a:t>3-&gt;0011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zh-CN" sz="3200" dirty="0"/>
              <a:t>→ </a:t>
            </a:r>
            <a:r>
              <a:rPr lang="en-US" altLang="zh-CN" dirty="0"/>
              <a:t>(X + Y)</a:t>
            </a:r>
            <a:r>
              <a:rPr lang="zh-CN" altLang="en-US" baseline="-25000" dirty="0"/>
              <a:t>补</a:t>
            </a:r>
            <a:r>
              <a:rPr lang="zh-CN" altLang="en-US" dirty="0"/>
              <a:t> </a:t>
            </a:r>
            <a:r>
              <a:rPr lang="en-US" altLang="zh-CN" dirty="0"/>
              <a:t>= ?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zh-CN" sz="3200" dirty="0"/>
              <a:t>→ </a:t>
            </a:r>
            <a:r>
              <a:rPr lang="en-US" altLang="zh-CN" dirty="0"/>
              <a:t>(X – Y)</a:t>
            </a:r>
            <a:r>
              <a:rPr lang="zh-CN" altLang="en-US" baseline="-25000" dirty="0"/>
              <a:t>补</a:t>
            </a:r>
            <a:r>
              <a:rPr lang="zh-CN" altLang="en-US" dirty="0"/>
              <a:t> </a:t>
            </a:r>
            <a:r>
              <a:rPr lang="en-US" altLang="zh-CN" dirty="0"/>
              <a:t>= ?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C23E933-5872-15F5-935C-5C0512548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2. </a:t>
            </a:r>
            <a:r>
              <a:rPr lang="zh-CN" altLang="en-US"/>
              <a:t>数制与编码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FC7B868-1FD1-C588-62D5-C95E461E9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16</a:t>
            </a:fld>
            <a:r>
              <a:rPr lang="en-US" altLang="zh-CN" dirty="0"/>
              <a:t>/27</a:t>
            </a:r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50B57208-85DB-ABCE-C1F8-5E47E52ABF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1338" y="4367780"/>
            <a:ext cx="572958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800" b="0" dirty="0">
                <a:solidFill>
                  <a:srgbClr val="0066FF"/>
                </a:solidFill>
              </a:rPr>
              <a:t>1011+1100 +1= </a:t>
            </a:r>
            <a:r>
              <a:rPr lang="en-US" altLang="zh-CN" sz="2800" b="0" dirty="0">
                <a:solidFill>
                  <a:srgbClr val="FF0000"/>
                </a:solidFill>
              </a:rPr>
              <a:t>1</a:t>
            </a:r>
            <a:r>
              <a:rPr lang="en-US" altLang="zh-CN" sz="2800" b="0" dirty="0">
                <a:solidFill>
                  <a:srgbClr val="0066FF"/>
                </a:solidFill>
              </a:rPr>
              <a:t>1000 -&gt;1000  (-8)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9C460D3-2F0C-83A3-FFEE-ABC9D1F06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5233" y="684628"/>
            <a:ext cx="20447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b="0" dirty="0">
                <a:solidFill>
                  <a:srgbClr val="0066FF"/>
                </a:solidFill>
              </a:rPr>
              <a:t>0110  (+6)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885A6D9-47C4-DACF-1B34-782E6FF14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1643" y="3559319"/>
            <a:ext cx="540314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800" b="0" dirty="0">
                <a:solidFill>
                  <a:srgbClr val="0066FF"/>
                </a:solidFill>
              </a:rPr>
              <a:t>1011+0011 = 1110 -&gt;0001+1 (-2)</a:t>
            </a:r>
          </a:p>
        </p:txBody>
      </p:sp>
    </p:spTree>
    <p:extLst>
      <p:ext uri="{BB962C8B-B14F-4D97-AF65-F5344CB8AC3E}">
        <p14:creationId xmlns:p14="http://schemas.microsoft.com/office/powerpoint/2010/main" val="21855886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8DFB25-2D98-AF01-2E1B-05E41477B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溢出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4F4C8E-0F11-8D38-65B4-F8305CF41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</a:rPr>
              <a:t>位二进制补码表示范围：</a:t>
            </a:r>
            <a:r>
              <a:rPr lang="en-US" altLang="zh-CN" sz="2800" dirty="0">
                <a:latin typeface="Times New Roman" panose="02020603050405020304" pitchFamily="18" charset="0"/>
              </a:rPr>
              <a:t>-2</a:t>
            </a:r>
            <a:r>
              <a:rPr lang="en-US" altLang="zh-CN" sz="2800" baseline="40000" dirty="0">
                <a:latin typeface="Times New Roman" panose="02020603050405020304" pitchFamily="18" charset="0"/>
              </a:rPr>
              <a:t>n-1 </a:t>
            </a:r>
            <a:r>
              <a:rPr lang="zh-CN" altLang="en-US" sz="2800" dirty="0">
                <a:latin typeface="Times New Roman" panose="02020603050405020304" pitchFamily="18" charset="0"/>
              </a:rPr>
              <a:t>～ </a:t>
            </a:r>
            <a:r>
              <a:rPr lang="en-US" altLang="zh-CN" sz="2800" dirty="0">
                <a:latin typeface="Times New Roman" panose="02020603050405020304" pitchFamily="18" charset="0"/>
              </a:rPr>
              <a:t>+2</a:t>
            </a:r>
            <a:r>
              <a:rPr lang="en-US" altLang="zh-CN" sz="2800" baseline="40000" dirty="0">
                <a:latin typeface="Times New Roman" panose="02020603050405020304" pitchFamily="18" charset="0"/>
              </a:rPr>
              <a:t>n-1</a:t>
            </a:r>
            <a:r>
              <a:rPr lang="en-US" altLang="zh-CN" sz="2800" dirty="0">
                <a:latin typeface="Times New Roman" panose="02020603050405020304" pitchFamily="18" charset="0"/>
              </a:rPr>
              <a:t>-1</a:t>
            </a:r>
          </a:p>
          <a:p>
            <a:pPr>
              <a:lnSpc>
                <a:spcPct val="110000"/>
              </a:lnSpc>
            </a:pPr>
            <a:r>
              <a:rPr lang="zh-CN" altLang="en-US" sz="2800" dirty="0">
                <a:latin typeface="Times New Roman" panose="02020603050405020304" pitchFamily="18" charset="0"/>
              </a:rPr>
              <a:t>溢出：运算的结果超出了补码的表示范围</a:t>
            </a:r>
          </a:p>
          <a:p>
            <a:pPr>
              <a:lnSpc>
                <a:spcPct val="110000"/>
              </a:lnSpc>
            </a:pPr>
            <a:r>
              <a:rPr lang="zh-CN" altLang="en-US" sz="2800" dirty="0">
                <a:latin typeface="Times New Roman" panose="02020603050405020304" pitchFamily="18" charset="0"/>
              </a:rPr>
              <a:t>出现场合</a:t>
            </a:r>
          </a:p>
          <a:p>
            <a:pPr lvl="1">
              <a:lnSpc>
                <a:spcPct val="110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同号相加，和的符号与被加数的符号相反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457200" lvl="1" indent="0">
              <a:lnSpc>
                <a:spcPct val="110000"/>
              </a:lnSpc>
              <a:buNone/>
            </a:pPr>
            <a:r>
              <a:rPr lang="zh-CN" altLang="en-US" sz="2000" dirty="0">
                <a:latin typeface="Times New Roman" panose="02020603050405020304" pitchFamily="18" charset="0"/>
              </a:rPr>
              <a:t>（例如四位补码：</a:t>
            </a:r>
            <a:r>
              <a:rPr lang="en-US" altLang="zh-CN" sz="2000" dirty="0">
                <a:latin typeface="Times New Roman" panose="02020603050405020304" pitchFamily="18" charset="0"/>
              </a:rPr>
              <a:t>7+6</a:t>
            </a:r>
            <a:r>
              <a:rPr lang="zh-CN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</a:rPr>
              <a:t>		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000" dirty="0">
                <a:latin typeface="Times New Roman" panose="02020603050405020304" pitchFamily="18" charset="0"/>
              </a:rPr>
              <a:t>111+0110=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</a:rPr>
              <a:t>001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		</a:t>
            </a:r>
            <a:r>
              <a:rPr lang="zh-CN" altLang="en-US" sz="2000" dirty="0">
                <a:latin typeface="Times New Roman" panose="02020603050405020304" pitchFamily="18" charset="0"/>
              </a:rPr>
              <a:t>        </a:t>
            </a:r>
            <a:r>
              <a:rPr lang="en-US" altLang="zh-CN" sz="2000" dirty="0">
                <a:latin typeface="Times New Roman" panose="02020603050405020304" pitchFamily="18" charset="0"/>
              </a:rPr>
              <a:t>	</a:t>
            </a:r>
            <a:r>
              <a:rPr lang="zh-CN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</a:rPr>
              <a:t>(-7)+(-6)</a:t>
            </a:r>
            <a:r>
              <a:rPr lang="zh-CN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</a:rPr>
              <a:t>	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</a:rPr>
              <a:t>001+1010=1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000" dirty="0">
                <a:latin typeface="Times New Roman" panose="02020603050405020304" pitchFamily="18" charset="0"/>
              </a:rPr>
              <a:t>011 </a:t>
            </a:r>
            <a:endParaRPr lang="zh-CN" altLang="en-US" sz="2000" dirty="0">
              <a:latin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异号相减，差的符号与被减数的符号相反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457200" lvl="1" indent="0">
              <a:lnSpc>
                <a:spcPct val="110000"/>
              </a:lnSpc>
              <a:buNone/>
            </a:pPr>
            <a:r>
              <a:rPr lang="zh-CN" altLang="en-US" sz="2000" dirty="0">
                <a:latin typeface="Times New Roman" panose="02020603050405020304" pitchFamily="18" charset="0"/>
              </a:rPr>
              <a:t>（例如四位补码：</a:t>
            </a:r>
            <a:r>
              <a:rPr lang="en-US" altLang="zh-CN" sz="2000" dirty="0">
                <a:latin typeface="Times New Roman" panose="02020603050405020304" pitchFamily="18" charset="0"/>
              </a:rPr>
              <a:t>7- (-6)</a:t>
            </a:r>
            <a:r>
              <a:rPr lang="zh-CN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</a:rPr>
              <a:t>	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000" dirty="0">
                <a:latin typeface="Times New Roman" panose="02020603050405020304" pitchFamily="18" charset="0"/>
              </a:rPr>
              <a:t>111+1010</a:t>
            </a:r>
            <a:r>
              <a:rPr lang="zh-CN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</a:rPr>
              <a:t>+1=</a:t>
            </a:r>
            <a:r>
              <a:rPr lang="zh-CN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</a:rPr>
              <a:t>101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		</a:t>
            </a:r>
            <a:r>
              <a:rPr lang="zh-CN" altLang="en-US" sz="2000" dirty="0">
                <a:latin typeface="Times New Roman" panose="02020603050405020304" pitchFamily="18" charset="0"/>
              </a:rPr>
              <a:t>       </a:t>
            </a:r>
            <a:r>
              <a:rPr lang="en-US" altLang="zh-CN" sz="2000" dirty="0">
                <a:latin typeface="Times New Roman" panose="02020603050405020304" pitchFamily="18" charset="0"/>
              </a:rPr>
              <a:t>		</a:t>
            </a:r>
            <a:r>
              <a:rPr lang="zh-CN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</a:rPr>
              <a:t>(-6)-7</a:t>
            </a:r>
            <a:r>
              <a:rPr lang="zh-CN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</a:rPr>
              <a:t>		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</a:rPr>
              <a:t>010+0111 +1=1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000" dirty="0">
                <a:latin typeface="Times New Roman" panose="02020603050405020304" pitchFamily="18" charset="0"/>
              </a:rPr>
              <a:t>011</a:t>
            </a:r>
            <a:endParaRPr lang="zh-CN" altLang="en-US" sz="2000" dirty="0">
              <a:latin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判别：最高位进位和次高位进位</a:t>
            </a:r>
          </a:p>
          <a:p>
            <a:pPr lvl="1">
              <a:lnSpc>
                <a:spcPct val="110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相同，则未溢出；不相同，则溢出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8DECE2E-5569-0CBA-FAE3-60E070465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2. </a:t>
            </a:r>
            <a:r>
              <a:rPr lang="zh-CN" altLang="en-US"/>
              <a:t>数制与编码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6E6085B-1C38-7095-088F-63CB88DF3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17</a:t>
            </a:fld>
            <a:r>
              <a:rPr lang="en-US" altLang="zh-CN" dirty="0"/>
              <a:t>/27</a:t>
            </a:r>
            <a:endParaRPr lang="en-US" dirty="0"/>
          </a:p>
        </p:txBody>
      </p:sp>
      <p:sp>
        <p:nvSpPr>
          <p:cNvPr id="6" name="Line 27">
            <a:extLst>
              <a:ext uri="{FF2B5EF4-FFF2-40B4-BE49-F238E27FC236}">
                <a16:creationId xmlns:a16="http://schemas.microsoft.com/office/drawing/2014/main" id="{90AD43F1-2DCE-842F-1F1D-33CFA1683BC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92453" y="4021021"/>
            <a:ext cx="4667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Line 27">
            <a:extLst>
              <a:ext uri="{FF2B5EF4-FFF2-40B4-BE49-F238E27FC236}">
                <a16:creationId xmlns:a16="http://schemas.microsoft.com/office/drawing/2014/main" id="{F88BCA63-D65A-E048-61B3-8828EC78083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93780" y="4417065"/>
            <a:ext cx="466725" cy="0"/>
          </a:xfrm>
          <a:prstGeom prst="line">
            <a:avLst/>
          </a:prstGeom>
          <a:noFill/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8365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14DDB3-E557-AD3A-C53A-C63567470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宋体" panose="02010600030101010101" pitchFamily="2" charset="-122"/>
              </a:rPr>
              <a:t>示例─</a:t>
            </a:r>
            <a:r>
              <a:rPr lang="zh-CN" altLang="en-US" dirty="0"/>
              <a:t>溢出判别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CA615E-DC55-7498-ABC2-0571E3500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800" dirty="0">
                <a:latin typeface="Times New Roman" panose="02020603050405020304" pitchFamily="18" charset="0"/>
              </a:rPr>
              <a:t>判别：最高位进位和次高位进位</a:t>
            </a:r>
          </a:p>
          <a:p>
            <a:pPr lvl="1">
              <a:lnSpc>
                <a:spcPct val="110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相同，则未溢出；不相同，则溢出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457200" lvl="1" indent="0">
              <a:lnSpc>
                <a:spcPct val="110000"/>
              </a:lnSpc>
              <a:buNone/>
            </a:pPr>
            <a:endParaRPr lang="en-US" altLang="zh-CN" sz="2400" dirty="0">
              <a:latin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2800" dirty="0"/>
              <a:t>采用</a:t>
            </a:r>
            <a:r>
              <a:rPr lang="en-US" altLang="zh-CN" sz="2800" dirty="0"/>
              <a:t>4</a:t>
            </a:r>
            <a:r>
              <a:rPr lang="zh-CN" altLang="en-US" sz="2800" dirty="0"/>
              <a:t>位补码运算</a:t>
            </a:r>
          </a:p>
          <a:p>
            <a:pPr lvl="1">
              <a:spcBef>
                <a:spcPct val="30000"/>
              </a:spcBef>
            </a:pPr>
            <a:r>
              <a:rPr lang="en-US" altLang="zh-CN" sz="2400" b="0" dirty="0"/>
              <a:t>X = +5, Y = -7</a:t>
            </a:r>
          </a:p>
          <a:p>
            <a:pPr lvl="2">
              <a:spcBef>
                <a:spcPct val="30000"/>
              </a:spcBef>
              <a:buNone/>
            </a:pPr>
            <a:r>
              <a:rPr lang="en-US" altLang="zh-CN" dirty="0"/>
              <a:t>→ (X + Y)</a:t>
            </a:r>
            <a:r>
              <a:rPr lang="zh-CN" altLang="en-US" baseline="-25000" dirty="0"/>
              <a:t>补</a:t>
            </a:r>
            <a:r>
              <a:rPr lang="zh-CN" altLang="en-US" dirty="0"/>
              <a:t> </a:t>
            </a:r>
            <a:r>
              <a:rPr lang="en-US" altLang="zh-CN" dirty="0"/>
              <a:t>= ?</a:t>
            </a:r>
          </a:p>
          <a:p>
            <a:pPr lvl="2">
              <a:spcBef>
                <a:spcPct val="30000"/>
              </a:spcBef>
              <a:buNone/>
            </a:pPr>
            <a:r>
              <a:rPr lang="en-US" altLang="zh-CN" dirty="0"/>
              <a:t>→ (X – Y)</a:t>
            </a:r>
            <a:r>
              <a:rPr lang="zh-CN" altLang="en-US" baseline="-25000" dirty="0"/>
              <a:t>补</a:t>
            </a:r>
            <a:r>
              <a:rPr lang="zh-CN" altLang="en-US" dirty="0"/>
              <a:t> </a:t>
            </a:r>
            <a:r>
              <a:rPr lang="en-US" altLang="zh-CN" dirty="0"/>
              <a:t>= ?</a:t>
            </a:r>
          </a:p>
          <a:p>
            <a:pPr lvl="1">
              <a:spcBef>
                <a:spcPct val="30000"/>
              </a:spcBef>
            </a:pPr>
            <a:endParaRPr lang="en-US" altLang="zh-CN" sz="2400" b="0" dirty="0"/>
          </a:p>
          <a:p>
            <a:pPr lvl="1">
              <a:spcBef>
                <a:spcPct val="30000"/>
              </a:spcBef>
            </a:pPr>
            <a:r>
              <a:rPr lang="en-US" altLang="zh-CN" sz="2400" b="0" dirty="0"/>
              <a:t>X = -8, Y = -3</a:t>
            </a:r>
          </a:p>
          <a:p>
            <a:pPr lvl="2">
              <a:spcBef>
                <a:spcPct val="30000"/>
              </a:spcBef>
              <a:buNone/>
            </a:pPr>
            <a:r>
              <a:rPr lang="en-US" altLang="zh-CN" dirty="0"/>
              <a:t>→ (X + Y)</a:t>
            </a:r>
            <a:r>
              <a:rPr lang="zh-CN" altLang="en-US" baseline="-25000" dirty="0"/>
              <a:t>补</a:t>
            </a:r>
            <a:r>
              <a:rPr lang="zh-CN" altLang="en-US" dirty="0"/>
              <a:t> </a:t>
            </a:r>
            <a:r>
              <a:rPr lang="en-US" altLang="zh-CN" dirty="0"/>
              <a:t>= ?</a:t>
            </a:r>
          </a:p>
          <a:p>
            <a:pPr lvl="2">
              <a:spcBef>
                <a:spcPct val="30000"/>
              </a:spcBef>
              <a:buNone/>
            </a:pPr>
            <a:r>
              <a:rPr lang="en-US" altLang="zh-CN" dirty="0"/>
              <a:t>→ (X – Y)</a:t>
            </a:r>
            <a:r>
              <a:rPr lang="zh-CN" altLang="en-US" baseline="-25000" dirty="0"/>
              <a:t>补</a:t>
            </a:r>
            <a:r>
              <a:rPr lang="zh-CN" altLang="en-US" dirty="0"/>
              <a:t> </a:t>
            </a:r>
            <a:r>
              <a:rPr lang="en-US" altLang="zh-CN" dirty="0"/>
              <a:t>= ?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4CFCBEA-4BDA-9FB3-24BE-E5C974773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2. </a:t>
            </a:r>
            <a:r>
              <a:rPr lang="zh-CN" altLang="en-US"/>
              <a:t>数制与编码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D67DB2E-3DE2-F5DB-1D39-4DB0E632E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18</a:t>
            </a:fld>
            <a:r>
              <a:rPr lang="en-US" altLang="zh-CN" dirty="0"/>
              <a:t>/27</a:t>
            </a:r>
            <a:endParaRPr lang="en-US" dirty="0"/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D7285CDB-01CA-C85E-421B-F75DB67B65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6003" y="5314926"/>
            <a:ext cx="237276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 b="0" dirty="0">
                <a:solidFill>
                  <a:srgbClr val="0066FF"/>
                </a:solidFill>
                <a:latin typeface="+mj-ea"/>
                <a:ea typeface="+mj-ea"/>
              </a:rPr>
              <a:t>1011</a:t>
            </a:r>
            <a:r>
              <a:rPr lang="zh-CN" altLang="en-US" sz="2000" b="0" dirty="0">
                <a:solidFill>
                  <a:srgbClr val="0066FF"/>
                </a:solidFill>
                <a:latin typeface="+mj-ea"/>
                <a:ea typeface="+mj-ea"/>
              </a:rPr>
              <a:t>（</a:t>
            </a:r>
            <a:r>
              <a:rPr lang="en-US" altLang="zh-CN" sz="2000" b="0" dirty="0">
                <a:solidFill>
                  <a:srgbClr val="0066FF"/>
                </a:solidFill>
                <a:latin typeface="+mj-ea"/>
                <a:ea typeface="+mj-ea"/>
              </a:rPr>
              <a:t>-5</a:t>
            </a:r>
            <a:r>
              <a:rPr lang="zh-CN" altLang="en-US" sz="2000" b="0" dirty="0">
                <a:solidFill>
                  <a:srgbClr val="0066FF"/>
                </a:solidFill>
                <a:latin typeface="+mj-ea"/>
                <a:ea typeface="+mj-ea"/>
              </a:rPr>
              <a:t>，正确）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D9BC64B6-39B1-D98D-8A84-9D9FBC12DD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2212" y="4891262"/>
            <a:ext cx="245612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 b="0" dirty="0">
                <a:solidFill>
                  <a:srgbClr val="FF3300"/>
                </a:solidFill>
                <a:latin typeface="+mj-ea"/>
                <a:ea typeface="+mj-ea"/>
              </a:rPr>
              <a:t>0101</a:t>
            </a:r>
            <a:r>
              <a:rPr lang="zh-CN" altLang="en-US" sz="2000" b="0" dirty="0">
                <a:solidFill>
                  <a:srgbClr val="FF3300"/>
                </a:solidFill>
                <a:latin typeface="+mj-ea"/>
                <a:ea typeface="+mj-ea"/>
              </a:rPr>
              <a:t>（</a:t>
            </a:r>
            <a:r>
              <a:rPr lang="en-US" altLang="zh-CN" sz="2000" b="0" dirty="0">
                <a:solidFill>
                  <a:srgbClr val="FF3300"/>
                </a:solidFill>
                <a:latin typeface="+mj-ea"/>
                <a:ea typeface="+mj-ea"/>
              </a:rPr>
              <a:t>+5</a:t>
            </a:r>
            <a:r>
              <a:rPr lang="zh-CN" altLang="en-US" sz="2000" b="0" dirty="0">
                <a:solidFill>
                  <a:srgbClr val="FF3300"/>
                </a:solidFill>
                <a:latin typeface="+mj-ea"/>
                <a:ea typeface="+mj-ea"/>
              </a:rPr>
              <a:t>，溢出）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1BC325B2-0595-B6C0-4FBD-5B2CF94F04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6001" y="3164616"/>
            <a:ext cx="237276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 b="0" dirty="0">
                <a:solidFill>
                  <a:srgbClr val="0066FF"/>
                </a:solidFill>
                <a:latin typeface="+mj-ea"/>
                <a:ea typeface="+mj-ea"/>
              </a:rPr>
              <a:t>1110</a:t>
            </a:r>
            <a:r>
              <a:rPr lang="zh-CN" altLang="en-US" sz="2000" b="0" dirty="0">
                <a:solidFill>
                  <a:srgbClr val="0066FF"/>
                </a:solidFill>
                <a:latin typeface="+mj-ea"/>
                <a:ea typeface="+mj-ea"/>
              </a:rPr>
              <a:t>（</a:t>
            </a:r>
            <a:r>
              <a:rPr lang="en-US" altLang="zh-CN" sz="2000" b="0" dirty="0">
                <a:solidFill>
                  <a:srgbClr val="0066FF"/>
                </a:solidFill>
                <a:latin typeface="+mj-ea"/>
                <a:ea typeface="+mj-ea"/>
              </a:rPr>
              <a:t>-2</a:t>
            </a:r>
            <a:r>
              <a:rPr lang="zh-CN" altLang="en-US" sz="2000" b="0" dirty="0">
                <a:solidFill>
                  <a:srgbClr val="0066FF"/>
                </a:solidFill>
                <a:latin typeface="+mj-ea"/>
                <a:ea typeface="+mj-ea"/>
              </a:rPr>
              <a:t>，正确）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8DFE3F20-1806-CB67-37A6-ECFFAE73B9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6002" y="3564726"/>
            <a:ext cx="237276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 b="0" dirty="0">
                <a:solidFill>
                  <a:srgbClr val="FF3300"/>
                </a:solidFill>
                <a:latin typeface="+mj-ea"/>
                <a:ea typeface="+mj-ea"/>
              </a:rPr>
              <a:t>1100</a:t>
            </a:r>
            <a:r>
              <a:rPr lang="zh-CN" altLang="en-US" sz="2000" b="0" dirty="0">
                <a:solidFill>
                  <a:srgbClr val="FF3300"/>
                </a:solidFill>
                <a:latin typeface="+mj-ea"/>
                <a:ea typeface="+mj-ea"/>
              </a:rPr>
              <a:t>（</a:t>
            </a:r>
            <a:r>
              <a:rPr lang="en-US" altLang="zh-CN" sz="2000" b="0" dirty="0">
                <a:solidFill>
                  <a:srgbClr val="FF3300"/>
                </a:solidFill>
                <a:latin typeface="+mj-ea"/>
                <a:ea typeface="+mj-ea"/>
              </a:rPr>
              <a:t>-4</a:t>
            </a:r>
            <a:r>
              <a:rPr lang="zh-CN" altLang="en-US" sz="2000" b="0" dirty="0">
                <a:solidFill>
                  <a:srgbClr val="FF3300"/>
                </a:solidFill>
                <a:latin typeface="+mj-ea"/>
                <a:ea typeface="+mj-ea"/>
              </a:rPr>
              <a:t>，溢出）</a:t>
            </a:r>
          </a:p>
        </p:txBody>
      </p:sp>
    </p:spTree>
    <p:extLst>
      <p:ext uri="{BB962C8B-B14F-4D97-AF65-F5344CB8AC3E}">
        <p14:creationId xmlns:p14="http://schemas.microsoft.com/office/powerpoint/2010/main" val="454567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3B8220-1DF3-6F73-BEBC-8BE81162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二进制代码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DB4BA6-3E87-9215-1007-15D733FDE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ct val="30000"/>
              </a:spcAft>
            </a:pPr>
            <a:r>
              <a:rPr lang="zh-CN" altLang="en-US" sz="2800" dirty="0">
                <a:latin typeface="Times New Roman" panose="02020603050405020304" pitchFamily="18" charset="0"/>
              </a:rPr>
              <a:t>表示不同事物或状态的二进制数码</a:t>
            </a:r>
          </a:p>
          <a:p>
            <a:pPr>
              <a:lnSpc>
                <a:spcPct val="110000"/>
              </a:lnSpc>
              <a:spcAft>
                <a:spcPct val="30000"/>
              </a:spcAft>
            </a:pPr>
            <a:r>
              <a:rPr lang="zh-CN" altLang="en-US" sz="2800" dirty="0">
                <a:latin typeface="Times New Roman" panose="02020603050405020304" pitchFamily="18" charset="0"/>
              </a:rPr>
              <a:t>待编码的事物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或状态的个数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，与编码后二进制代码的位数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之间应满足：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kumimoji="1" lang="en-US" altLang="zh-CN" baseline="4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≥</a:t>
            </a: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endParaRPr lang="zh-CN" altLang="en-US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</a:pP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常用代码：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ASCII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码、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BCD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码、格雷码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64F0552-0868-7647-FB9B-B9AA11F60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2. </a:t>
            </a:r>
            <a:r>
              <a:rPr lang="zh-CN" altLang="en-US"/>
              <a:t>数制与编码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685D60-6DB3-652B-6908-AE2F974BC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19</a:t>
            </a:fld>
            <a:r>
              <a:rPr lang="en-US" altLang="zh-CN" dirty="0"/>
              <a:t>/27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4962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528C1F-7541-5804-721B-DB1EE8363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ASCII</a:t>
            </a:r>
            <a:r>
              <a:rPr lang="zh-CN" altLang="en-US" dirty="0"/>
              <a:t>码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CAD7A6-32B2-0ABB-39FE-5BB5CF09F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4143403" cy="5947119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800" dirty="0"/>
              <a:t>美国信息交换标准代码</a:t>
            </a:r>
            <a:endParaRPr lang="en-US" altLang="zh-CN" sz="2800" dirty="0"/>
          </a:p>
          <a:p>
            <a:pPr lvl="1">
              <a:lnSpc>
                <a:spcPct val="110000"/>
              </a:lnSpc>
            </a:pPr>
            <a:r>
              <a:rPr lang="en-US" altLang="zh-CN" sz="2400" dirty="0"/>
              <a:t>7</a:t>
            </a:r>
            <a:r>
              <a:rPr lang="zh-CN" altLang="en-US" sz="2400" dirty="0"/>
              <a:t>位二进制代码</a:t>
            </a:r>
            <a:r>
              <a:rPr lang="en-US" altLang="zh-CN" sz="2400" dirty="0"/>
              <a:t>, </a:t>
            </a:r>
            <a:r>
              <a:rPr lang="zh-CN" altLang="en-US" sz="2400" dirty="0"/>
              <a:t>共可表示</a:t>
            </a:r>
            <a:r>
              <a:rPr lang="en-US" altLang="zh-CN" sz="2400" dirty="0"/>
              <a:t>128</a:t>
            </a:r>
            <a:r>
              <a:rPr lang="zh-CN" altLang="en-US" sz="2400" dirty="0"/>
              <a:t>个字符</a:t>
            </a:r>
            <a:r>
              <a:rPr lang="en-US" altLang="zh-CN" sz="2400" dirty="0"/>
              <a:t>, </a:t>
            </a:r>
            <a:r>
              <a:rPr lang="zh-CN" altLang="en-US" sz="2400" dirty="0"/>
              <a:t>其中</a:t>
            </a:r>
          </a:p>
          <a:p>
            <a:pPr lvl="1">
              <a:lnSpc>
                <a:spcPct val="110000"/>
              </a:lnSpc>
            </a:pPr>
            <a:r>
              <a:rPr lang="en-US" altLang="zh-CN" sz="2400" dirty="0"/>
              <a:t>95</a:t>
            </a:r>
            <a:r>
              <a:rPr lang="zh-CN" altLang="en-US" sz="2400" dirty="0"/>
              <a:t>个可显示和打印字符</a:t>
            </a:r>
            <a:endParaRPr lang="en-US" altLang="zh-CN" sz="2400" dirty="0"/>
          </a:p>
          <a:p>
            <a:pPr lvl="1">
              <a:lnSpc>
                <a:spcPct val="110000"/>
              </a:lnSpc>
            </a:pPr>
            <a:r>
              <a:rPr lang="en-US" altLang="zh-CN" sz="2400" dirty="0"/>
              <a:t>33</a:t>
            </a:r>
            <a:r>
              <a:rPr lang="zh-CN" altLang="en-US" sz="2400" dirty="0"/>
              <a:t>个控制字符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AA70191-9F2B-9ACD-B037-42A22DFBF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2. </a:t>
            </a:r>
            <a:r>
              <a:rPr lang="zh-CN" altLang="en-US"/>
              <a:t>数制与编码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9E581FD-39CB-2507-4541-FC8919CEC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20</a:t>
            </a:fld>
            <a:r>
              <a:rPr lang="en-US" altLang="zh-CN" dirty="0"/>
              <a:t>/27</a:t>
            </a:r>
            <a:endParaRPr lang="en-US" dirty="0"/>
          </a:p>
        </p:txBody>
      </p:sp>
      <p:pic>
        <p:nvPicPr>
          <p:cNvPr id="6" name="Picture 4" descr="ASCII码表">
            <a:extLst>
              <a:ext uri="{FF2B5EF4-FFF2-40B4-BE49-F238E27FC236}">
                <a16:creationId xmlns:a16="http://schemas.microsoft.com/office/drawing/2014/main" id="{0A5E32F5-2DAA-5691-27DA-E94A9AC67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6417" y="1261580"/>
            <a:ext cx="5303837" cy="516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BC5B29D-80C9-0F34-2BDD-5E6BEE3F9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4942" y="1845780"/>
            <a:ext cx="1071562" cy="4535488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5410C9B-3E0A-D8BE-7BDE-82167D9990C0}"/>
              </a:ext>
            </a:extLst>
          </p:cNvPr>
          <p:cNvSpPr txBox="1"/>
          <p:nvPr/>
        </p:nvSpPr>
        <p:spPr>
          <a:xfrm>
            <a:off x="792906" y="5365605"/>
            <a:ext cx="3032274" cy="1015663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solidFill>
                  <a:schemeClr val="accent1">
                    <a:lumMod val="50000"/>
                  </a:schemeClr>
                </a:solidFill>
              </a:rPr>
              <a:t>char</a:t>
            </a:r>
            <a:r>
              <a:rPr kumimoji="1" lang="zh-CN" altLang="en-US" sz="20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kumimoji="1" lang="en-US" altLang="zh-CN" sz="2000" dirty="0">
                <a:solidFill>
                  <a:schemeClr val="accent1">
                    <a:lumMod val="50000"/>
                  </a:schemeClr>
                </a:solidFill>
              </a:rPr>
              <a:t>x=‘a’;</a:t>
            </a:r>
          </a:p>
          <a:p>
            <a:r>
              <a:rPr kumimoji="1" lang="en-US" altLang="zh-CN" sz="2000" dirty="0" err="1">
                <a:solidFill>
                  <a:schemeClr val="accent1">
                    <a:lumMod val="50000"/>
                  </a:schemeClr>
                </a:solidFill>
              </a:rPr>
              <a:t>fprintf</a:t>
            </a:r>
            <a:r>
              <a:rPr kumimoji="1" lang="en-US" altLang="zh-CN" sz="2000" dirty="0">
                <a:solidFill>
                  <a:schemeClr val="accent1">
                    <a:lumMod val="50000"/>
                  </a:schemeClr>
                </a:solidFill>
              </a:rPr>
              <a:t>(‘0x%x,%d\n’,</a:t>
            </a:r>
            <a:r>
              <a:rPr kumimoji="1" lang="en-US" altLang="zh-CN" sz="2000" dirty="0" err="1">
                <a:solidFill>
                  <a:schemeClr val="accent1">
                    <a:lumMod val="50000"/>
                  </a:schemeClr>
                </a:solidFill>
              </a:rPr>
              <a:t>x,x</a:t>
            </a:r>
            <a:r>
              <a:rPr kumimoji="1" lang="en-US" altLang="zh-CN" sz="2000" dirty="0">
                <a:solidFill>
                  <a:schemeClr val="accent1">
                    <a:lumMod val="50000"/>
                  </a:schemeClr>
                </a:solidFill>
              </a:rPr>
              <a:t>);</a:t>
            </a:r>
            <a:r>
              <a:rPr kumimoji="1" lang="zh-CN" altLang="en-US" sz="20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endParaRPr kumimoji="1" lang="en-US" altLang="zh-CN" sz="20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kumimoji="1" lang="en-US" altLang="zh-CN" sz="2000" dirty="0" err="1">
                <a:solidFill>
                  <a:schemeClr val="accent1">
                    <a:lumMod val="50000"/>
                  </a:schemeClr>
                </a:solidFill>
              </a:rPr>
              <a:t>fprintf</a:t>
            </a:r>
            <a:r>
              <a:rPr kumimoji="1" lang="en-US" altLang="zh-CN" sz="2000" dirty="0">
                <a:solidFill>
                  <a:schemeClr val="accent1">
                    <a:lumMod val="50000"/>
                  </a:schemeClr>
                </a:solidFill>
              </a:rPr>
              <a:t>(‘%c\n’,x-32);</a:t>
            </a:r>
            <a:r>
              <a:rPr kumimoji="1" lang="zh-CN" altLang="en-US" sz="2000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404262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5258F1-8A7A-C8DA-7B88-901D9099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格雷码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70991A-13C6-FE7D-BA2C-B6CD70D84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编码顺序依次变化时，相邻代码仅有一位不同</a:t>
            </a:r>
          </a:p>
          <a:p>
            <a:r>
              <a:rPr kumimoji="1" lang="zh-CN" altLang="en-US" sz="2800" dirty="0"/>
              <a:t>最小和最大之间也只有一位不同，也称循环码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E7101E-1A43-1723-42D8-A1C1D73DF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2. </a:t>
            </a:r>
            <a:r>
              <a:rPr lang="zh-CN" altLang="en-US"/>
              <a:t>数制与编码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01359B9-CABB-A558-656C-9741A9506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21</a:t>
            </a:fld>
            <a:r>
              <a:rPr lang="en-US" altLang="zh-CN" dirty="0"/>
              <a:t>/27</a:t>
            </a:r>
            <a:endParaRPr lang="en-US" dirty="0"/>
          </a:p>
        </p:txBody>
      </p:sp>
      <p:graphicFrame>
        <p:nvGraphicFramePr>
          <p:cNvPr id="7" name="Group 4">
            <a:extLst>
              <a:ext uri="{FF2B5EF4-FFF2-40B4-BE49-F238E27FC236}">
                <a16:creationId xmlns:a16="http://schemas.microsoft.com/office/drawing/2014/main" id="{D9438818-5CA6-1E62-E373-BE2A978EFA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9306320"/>
              </p:ext>
            </p:extLst>
          </p:nvPr>
        </p:nvGraphicFramePr>
        <p:xfrm>
          <a:off x="853758" y="2000112"/>
          <a:ext cx="7777162" cy="3990976"/>
        </p:xfrm>
        <a:graphic>
          <a:graphicData uri="http://schemas.openxmlformats.org/drawingml/2006/table">
            <a:tbl>
              <a:tblPr/>
              <a:tblGrid>
                <a:gridCol w="125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3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0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17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0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2775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编码顺序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二进制码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格雷码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编码顺序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二进制码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格雷码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313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0000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0000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1100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925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0001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0001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9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1101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338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0010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0011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1010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1111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925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0011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0010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1011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1110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925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0100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0110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12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1100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1010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925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0101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0111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13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1101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1011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925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0110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0101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14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1110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925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0111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0100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15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1111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09390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4CCFC0-8A4C-53AC-6BF8-F93F9F324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格雷码的用途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95BE474-C46B-5B48-68F0-687B9AAEE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2. </a:t>
            </a:r>
            <a:r>
              <a:rPr lang="zh-CN" altLang="en-US"/>
              <a:t>数制与编码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C928EBA-1C21-EE40-E76D-570994F22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22</a:t>
            </a:fld>
            <a:r>
              <a:rPr lang="en-US" altLang="zh-CN" dirty="0"/>
              <a:t>/27</a:t>
            </a:r>
            <a:endParaRPr lang="en-US" dirty="0"/>
          </a:p>
        </p:txBody>
      </p:sp>
      <p:sp>
        <p:nvSpPr>
          <p:cNvPr id="6" name="矩形 6">
            <a:extLst>
              <a:ext uri="{FF2B5EF4-FFF2-40B4-BE49-F238E27FC236}">
                <a16:creationId xmlns:a16="http://schemas.microsoft.com/office/drawing/2014/main" id="{FF7AC2F8-4F8B-AFF1-5067-B1E6FFE2A1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877" y="3903077"/>
            <a:ext cx="24669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000" b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编码测角度</a:t>
            </a:r>
            <a:endParaRPr lang="zh-CN" altLang="en-US" sz="4400" b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9BA191D9-C94D-72C4-924A-B6198EAAB0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8140" y="1232902"/>
            <a:ext cx="2206625" cy="228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>
            <a:extLst>
              <a:ext uri="{FF2B5EF4-FFF2-40B4-BE49-F238E27FC236}">
                <a16:creationId xmlns:a16="http://schemas.microsoft.com/office/drawing/2014/main" id="{615EA3BF-7C11-2EE1-8784-348DB20DD5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02" y="1237665"/>
            <a:ext cx="2389188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8FED44E2-7DAC-F892-C974-0B547E62AE2F}"/>
              </a:ext>
            </a:extLst>
          </p:cNvPr>
          <p:cNvGrpSpPr>
            <a:grpSpLocks/>
          </p:cNvGrpSpPr>
          <p:nvPr/>
        </p:nvGrpSpPr>
        <p:grpSpPr bwMode="auto">
          <a:xfrm>
            <a:off x="3608940" y="2566401"/>
            <a:ext cx="5655159" cy="3704643"/>
            <a:chOff x="3291076" y="2920964"/>
            <a:chExt cx="5654963" cy="3704100"/>
          </a:xfrm>
        </p:grpSpPr>
        <p:pic>
          <p:nvPicPr>
            <p:cNvPr id="10" name="Picture 5">
              <a:extLst>
                <a:ext uri="{FF2B5EF4-FFF2-40B4-BE49-F238E27FC236}">
                  <a16:creationId xmlns:a16="http://schemas.microsoft.com/office/drawing/2014/main" id="{4CE6D39C-3BFA-2FBF-3652-71C6E1319A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30085" y="2920964"/>
              <a:ext cx="3015954" cy="3704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4">
              <a:extLst>
                <a:ext uri="{FF2B5EF4-FFF2-40B4-BE49-F238E27FC236}">
                  <a16:creationId xmlns:a16="http://schemas.microsoft.com/office/drawing/2014/main" id="{17A8E340-797B-62AC-789D-77D5280A7E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6703035" flipH="1" flipV="1">
              <a:off x="3262022" y="4328210"/>
              <a:ext cx="2206411" cy="2148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文本框 2">
              <a:extLst>
                <a:ext uri="{FF2B5EF4-FFF2-40B4-BE49-F238E27FC236}">
                  <a16:creationId xmlns:a16="http://schemas.microsoft.com/office/drawing/2014/main" id="{35CBBCDC-BBEE-605A-6B3F-0C0768AC17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3274" y="3969060"/>
              <a:ext cx="121079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1800" b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格雷码</a:t>
              </a:r>
            </a:p>
          </p:txBody>
        </p:sp>
      </p:grpSp>
      <p:sp>
        <p:nvSpPr>
          <p:cNvPr id="13" name="文本框 13">
            <a:extLst>
              <a:ext uri="{FF2B5EF4-FFF2-40B4-BE49-F238E27FC236}">
                <a16:creationId xmlns:a16="http://schemas.microsoft.com/office/drawing/2014/main" id="{EA4A500B-B67F-4317-7374-52AD74DBA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5052" y="915402"/>
            <a:ext cx="1211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1800" b="0">
                <a:latin typeface="Microsoft YaHei" panose="020B0503020204020204" pitchFamily="34" charset="-122"/>
                <a:ea typeface="Microsoft YaHei" panose="020B0503020204020204" pitchFamily="34" charset="-122"/>
              </a:rPr>
              <a:t>8421</a:t>
            </a:r>
            <a:r>
              <a:rPr lang="zh-CN" altLang="en-US" sz="1800" b="0">
                <a:latin typeface="Microsoft YaHei" panose="020B0503020204020204" pitchFamily="34" charset="-122"/>
                <a:ea typeface="Microsoft YaHei" panose="020B0503020204020204" pitchFamily="34" charset="-122"/>
              </a:rPr>
              <a:t>码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FCCF901-961B-CF4E-5760-C0D52AC499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0577" y="1267827"/>
            <a:ext cx="1266825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B74C856D-5346-E709-712A-F8373E2FC7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1652" y="1167815"/>
            <a:ext cx="1558925" cy="646112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1800" b="0" dirty="0">
                <a:latin typeface="+mj-ea"/>
                <a:ea typeface="+mj-ea"/>
              </a:rPr>
              <a:t>不用格雷码，</a:t>
            </a:r>
            <a:endParaRPr lang="en-US" altLang="zh-CN" sz="1800" b="0" dirty="0">
              <a:latin typeface="+mj-ea"/>
              <a:ea typeface="+mj-ea"/>
            </a:endParaRPr>
          </a:p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1800" b="0" dirty="0">
                <a:latin typeface="+mj-ea"/>
                <a:ea typeface="+mj-ea"/>
              </a:rPr>
              <a:t>毛刺扎死你！</a:t>
            </a:r>
          </a:p>
        </p:txBody>
      </p:sp>
    </p:spTree>
    <p:extLst>
      <p:ext uri="{BB962C8B-B14F-4D97-AF65-F5344CB8AC3E}">
        <p14:creationId xmlns:p14="http://schemas.microsoft.com/office/powerpoint/2010/main" val="77531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46F6ED-9CE0-62A1-FE70-7C10B516E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BCD</a:t>
            </a:r>
            <a:r>
              <a:rPr lang="zh-CN" altLang="en-US" dirty="0">
                <a:latin typeface="宋体" panose="02010600030101010101" pitchFamily="2" charset="-122"/>
              </a:rPr>
              <a:t>码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0D9364-0196-80B2-04EB-9B688BE29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二 </a:t>
            </a:r>
            <a:r>
              <a:rPr lang="en-US" altLang="zh-CN" sz="2800" dirty="0"/>
              <a:t>-</a:t>
            </a:r>
            <a:r>
              <a:rPr lang="zh-CN" altLang="en-US" sz="2800" dirty="0"/>
              <a:t> 十进制码</a:t>
            </a:r>
            <a:r>
              <a:rPr lang="en-US" altLang="zh-CN" sz="2800" dirty="0"/>
              <a:t>(Binary-Coded Decimal)</a:t>
            </a:r>
          </a:p>
          <a:p>
            <a:pPr lvl="1"/>
            <a:r>
              <a:rPr lang="zh-CN" altLang="en-US" sz="2600" dirty="0"/>
              <a:t>用</a:t>
            </a:r>
            <a:r>
              <a:rPr lang="en-US" altLang="zh-CN" sz="2600" dirty="0"/>
              <a:t>4</a:t>
            </a:r>
            <a:r>
              <a:rPr lang="zh-CN" altLang="en-US" sz="2600" dirty="0"/>
              <a:t>位二进制数码，来表示一位十进制数码</a:t>
            </a:r>
          </a:p>
          <a:p>
            <a:pPr lvl="1"/>
            <a:r>
              <a:rPr lang="zh-CN" altLang="en-US" sz="2600" dirty="0"/>
              <a:t>有多种方案，不同方案得到不同的</a:t>
            </a:r>
            <a:r>
              <a:rPr lang="en-US" altLang="zh-CN" sz="2600" dirty="0"/>
              <a:t>BCD</a:t>
            </a:r>
            <a:r>
              <a:rPr lang="zh-CN" altLang="en-US" sz="2600" dirty="0"/>
              <a:t>码</a:t>
            </a:r>
          </a:p>
          <a:p>
            <a:r>
              <a:rPr lang="zh-CN" altLang="en-US" sz="2800" dirty="0"/>
              <a:t>常用</a:t>
            </a:r>
            <a:r>
              <a:rPr lang="en-US" altLang="zh-CN" sz="2800" dirty="0"/>
              <a:t>BCD</a:t>
            </a:r>
            <a:r>
              <a:rPr lang="zh-CN" altLang="en-US" sz="2800" dirty="0"/>
              <a:t>码</a:t>
            </a:r>
          </a:p>
          <a:p>
            <a:pPr lvl="1"/>
            <a:r>
              <a:rPr lang="zh-CN" altLang="en-US" sz="2600" dirty="0"/>
              <a:t>有权码：</a:t>
            </a:r>
            <a:r>
              <a:rPr lang="en-US" altLang="zh-CN" sz="2600" dirty="0"/>
              <a:t>8421</a:t>
            </a:r>
            <a:r>
              <a:rPr lang="zh-CN" altLang="en-US" sz="2600" dirty="0"/>
              <a:t>码、</a:t>
            </a:r>
            <a:r>
              <a:rPr lang="en-US" altLang="zh-CN" sz="2600" dirty="0"/>
              <a:t>5421</a:t>
            </a:r>
            <a:r>
              <a:rPr lang="zh-CN" altLang="en-US" sz="2600" dirty="0"/>
              <a:t>码、</a:t>
            </a:r>
            <a:r>
              <a:rPr lang="en-US" altLang="zh-CN" sz="2600" dirty="0"/>
              <a:t>2421</a:t>
            </a:r>
            <a:r>
              <a:rPr lang="zh-CN" altLang="en-US" sz="2600" dirty="0"/>
              <a:t>码</a:t>
            </a:r>
            <a:endParaRPr lang="en-US" altLang="zh-CN" sz="2600" dirty="0"/>
          </a:p>
          <a:p>
            <a:pPr lvl="2"/>
            <a:r>
              <a:rPr lang="zh-CN" altLang="en-US" sz="2200" dirty="0"/>
              <a:t>例：</a:t>
            </a:r>
            <a:r>
              <a:rPr lang="en-US" altLang="zh-CN" sz="2200" dirty="0"/>
              <a:t>1001</a:t>
            </a:r>
            <a:r>
              <a:rPr lang="zh-CN" altLang="en-US" sz="2200" dirty="0"/>
              <a:t> 在上述三种编码中对应到二进制数分别为</a:t>
            </a:r>
            <a:endParaRPr lang="en-US" altLang="zh-CN" sz="2200" dirty="0"/>
          </a:p>
          <a:p>
            <a:pPr lvl="3"/>
            <a:r>
              <a:rPr lang="en-US" altLang="zh-CN" sz="2200" dirty="0"/>
              <a:t>8+0+0+1=9</a:t>
            </a:r>
            <a:r>
              <a:rPr lang="zh-CN" altLang="en-US" sz="2200" dirty="0"/>
              <a:t>，</a:t>
            </a:r>
            <a:r>
              <a:rPr lang="en-US" altLang="zh-CN" sz="2200" dirty="0"/>
              <a:t>5+0+0+1=6</a:t>
            </a:r>
            <a:r>
              <a:rPr lang="zh-CN" altLang="en-US" sz="2200" dirty="0"/>
              <a:t>，</a:t>
            </a:r>
            <a:r>
              <a:rPr lang="en-US" altLang="zh-CN" sz="2200" dirty="0"/>
              <a:t>2+0+0+1=3</a:t>
            </a:r>
            <a:endParaRPr lang="zh-CN" altLang="en-US" sz="2200" dirty="0"/>
          </a:p>
          <a:p>
            <a:pPr lvl="1"/>
            <a:r>
              <a:rPr lang="zh-CN" altLang="en-US" sz="2600" dirty="0"/>
              <a:t>无权码：余</a:t>
            </a:r>
            <a:r>
              <a:rPr lang="en-US" altLang="zh-CN" sz="2600" dirty="0"/>
              <a:t>3</a:t>
            </a:r>
            <a:r>
              <a:rPr lang="zh-CN" altLang="en-US" sz="2600" dirty="0"/>
              <a:t>码、余</a:t>
            </a:r>
            <a:r>
              <a:rPr lang="zh-CN" altLang="ja-JP" sz="2600" dirty="0"/>
              <a:t>3</a:t>
            </a:r>
            <a:r>
              <a:rPr lang="zh-CN" altLang="en-US" sz="2600" dirty="0"/>
              <a:t>循环码</a:t>
            </a:r>
          </a:p>
          <a:p>
            <a:pPr lvl="1"/>
            <a:r>
              <a:rPr lang="zh-CN" altLang="en-US" sz="2600" dirty="0"/>
              <a:t>如无特别说明，</a:t>
            </a:r>
            <a:r>
              <a:rPr lang="en-US" altLang="zh-CN" sz="2600" dirty="0"/>
              <a:t>BCD</a:t>
            </a:r>
            <a:r>
              <a:rPr lang="zh-CN" altLang="en-US" sz="2600" dirty="0"/>
              <a:t>码一般指</a:t>
            </a:r>
            <a:r>
              <a:rPr lang="en-US" altLang="zh-CN" sz="2600" dirty="0"/>
              <a:t>8421 BCD</a:t>
            </a:r>
            <a:r>
              <a:rPr lang="zh-CN" altLang="en-US" sz="2600" dirty="0"/>
              <a:t>码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C5AB45B-35D2-0249-9FAD-6C100E2F8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2. </a:t>
            </a:r>
            <a:r>
              <a:rPr lang="zh-CN" altLang="en-US"/>
              <a:t>数制与编码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88E07E-D689-8937-AF10-FCB7610D4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23</a:t>
            </a:fld>
            <a:r>
              <a:rPr lang="en-US" altLang="zh-CN" dirty="0"/>
              <a:t>/27</a:t>
            </a:r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B5327CA-56C9-63B7-87B6-91D168494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4823" y="4754113"/>
            <a:ext cx="6330397" cy="565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40000"/>
              </a:spcBef>
              <a:spcAft>
                <a:spcPct val="40000"/>
              </a:spcAft>
              <a:buFontTx/>
              <a:buNone/>
            </a:pPr>
            <a:r>
              <a:rPr lang="zh-CN" altLang="en-US" sz="2800" b="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  例如，</a:t>
            </a:r>
            <a:r>
              <a:rPr lang="en-US" altLang="zh-CN" sz="2800" b="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456</a:t>
            </a:r>
            <a:r>
              <a:rPr lang="en-US" altLang="zh-CN" sz="2800" b="0" baseline="-2000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  </a:t>
            </a:r>
            <a:r>
              <a:rPr lang="en-US" altLang="zh-CN" sz="2800" b="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= (                         )</a:t>
            </a:r>
            <a:r>
              <a:rPr lang="en-US" altLang="zh-CN" sz="2800" b="0" baseline="-2000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BCD</a:t>
            </a:r>
            <a:r>
              <a:rPr lang="zh-CN" altLang="en-US" sz="2800" b="0" baseline="-2000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码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6D1D1D5-511E-098E-9157-AD512CCCE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3556" y="4859489"/>
            <a:ext cx="2390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 dirty="0">
                <a:solidFill>
                  <a:srgbClr val="0070C0"/>
                </a:solidFill>
              </a:rPr>
              <a:t>0100 0101 0110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6D9462E-1370-1B14-200B-7F199F79F2B0}"/>
              </a:ext>
            </a:extLst>
          </p:cNvPr>
          <p:cNvSpPr txBox="1"/>
          <p:nvPr/>
        </p:nvSpPr>
        <p:spPr>
          <a:xfrm>
            <a:off x="2209800" y="5437593"/>
            <a:ext cx="7576820" cy="7457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000" dirty="0">
                <a:latin typeface="+mj-ea"/>
                <a:ea typeface="+mj-ea"/>
              </a:rPr>
              <a:t>注意</a:t>
            </a:r>
            <a:r>
              <a:rPr lang="en-US" altLang="zh-CN" sz="2000" dirty="0">
                <a:latin typeface="+mj-ea"/>
                <a:ea typeface="+mj-ea"/>
              </a:rPr>
              <a:t>BCD</a:t>
            </a:r>
            <a:r>
              <a:rPr lang="zh-CN" altLang="en-US" sz="2000" dirty="0">
                <a:latin typeface="+mj-ea"/>
                <a:ea typeface="+mj-ea"/>
              </a:rPr>
              <a:t>与二进制原码的计算差别，</a:t>
            </a:r>
            <a:endParaRPr lang="en-US" altLang="zh-CN" sz="2000" dirty="0">
              <a:latin typeface="+mj-ea"/>
              <a:ea typeface="+mj-ea"/>
            </a:endParaRPr>
          </a:p>
          <a:p>
            <a:pPr>
              <a:lnSpc>
                <a:spcPct val="110000"/>
              </a:lnSpc>
            </a:pPr>
            <a:r>
              <a:rPr lang="en-US" altLang="zh-CN" sz="2000" b="0" dirty="0">
                <a:solidFill>
                  <a:srgbClr val="0070C0"/>
                </a:solidFill>
                <a:latin typeface="+mj-ea"/>
                <a:ea typeface="+mj-ea"/>
              </a:rPr>
              <a:t>0100 0101 0110</a:t>
            </a:r>
            <a:r>
              <a:rPr lang="zh-CN" altLang="en-US" sz="2000" b="0" dirty="0">
                <a:solidFill>
                  <a:srgbClr val="0070C0"/>
                </a:solidFill>
                <a:latin typeface="+mj-ea"/>
                <a:ea typeface="+mj-ea"/>
              </a:rPr>
              <a:t> 如果按照二进制原码，算出来的十进制是多少？</a:t>
            </a:r>
            <a:endParaRPr lang="en-US" altLang="zh-CN" sz="2000" b="0" dirty="0">
              <a:solidFill>
                <a:srgbClr val="0070C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701115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944225-8EBE-95C8-8FB7-25A4C7FBE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3200" dirty="0"/>
              <a:t>常用</a:t>
            </a:r>
            <a:r>
              <a:rPr lang="en-US" altLang="zh-CN" sz="3200" dirty="0"/>
              <a:t>BCD</a:t>
            </a:r>
            <a:r>
              <a:rPr lang="zh-CN" altLang="en-US" sz="3200" dirty="0">
                <a:latin typeface="宋体" panose="02010600030101010101" pitchFamily="2" charset="-122"/>
              </a:rPr>
              <a:t>码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125E1B6-02A8-7C15-1E99-302891B7F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2. </a:t>
            </a:r>
            <a:r>
              <a:rPr lang="zh-CN" altLang="en-US"/>
              <a:t>数制与编码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30597C4-1F38-C758-AA4A-3C0FDAD81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24</a:t>
            </a:fld>
            <a:r>
              <a:rPr lang="en-US" altLang="zh-CN" dirty="0"/>
              <a:t>/27</a:t>
            </a:r>
            <a:endParaRPr lang="en-US" dirty="0"/>
          </a:p>
        </p:txBody>
      </p:sp>
      <p:graphicFrame>
        <p:nvGraphicFramePr>
          <p:cNvPr id="6" name="Group 2">
            <a:extLst>
              <a:ext uri="{FF2B5EF4-FFF2-40B4-BE49-F238E27FC236}">
                <a16:creationId xmlns:a16="http://schemas.microsoft.com/office/drawing/2014/main" id="{A81E290C-2D23-4988-B799-29525894C5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7054398"/>
              </p:ext>
            </p:extLst>
          </p:nvPr>
        </p:nvGraphicFramePr>
        <p:xfrm>
          <a:off x="974725" y="992394"/>
          <a:ext cx="7956550" cy="5068890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9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88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0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2625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十进制数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8421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码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2421 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码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5421 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码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余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码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余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循环码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313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0011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0010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975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0010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0010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0010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3388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0011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0011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0011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3388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625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563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1800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3388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8625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9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34139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A92BC4-F3C4-3AEF-EC86-F47B0BED0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作业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2D1469-A401-31ED-3543-D565F3B08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zh-CN" altLang="en-US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电子技术基础</a:t>
            </a:r>
            <a:r>
              <a:rPr lang="en-US" altLang="zh-CN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数字部分</a:t>
            </a:r>
            <a:endParaRPr lang="en-US" altLang="zh-CN" sz="2800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P38-40</a:t>
            </a:r>
            <a:r>
              <a:rPr lang="zh-CN" altLang="en-US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lang="en-US" altLang="zh-CN" sz="2800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0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1.2.2</a:t>
            </a:r>
            <a:r>
              <a:rPr lang="zh-CN" altLang="en-US" sz="20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(1),(4)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0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1.2.3</a:t>
            </a:r>
            <a:r>
              <a:rPr lang="zh-CN" altLang="en-US" sz="20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(1),(4)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0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1.2.5 (3)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0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1.2.6 (3)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0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1.2.8 (3)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0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1.2.9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000" b="1" kern="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1.3.4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000" b="1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1.4.4(2),(4)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000" b="1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1.4.5</a:t>
            </a:r>
          </a:p>
          <a:p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1EBEAF-E105-3D6B-A44A-1A805B927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2. </a:t>
            </a:r>
            <a:r>
              <a:rPr lang="zh-CN" altLang="en-US"/>
              <a:t>数制与编码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440A33-A646-F11A-EF20-5480EA527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25</a:t>
            </a:fld>
            <a:r>
              <a:rPr lang="en-US" altLang="zh-CN" dirty="0"/>
              <a:t>/27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3915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2B4D53-B402-B90D-43CD-D4AF8F12A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3200" dirty="0"/>
              <a:t>补充实例：二进制调</a:t>
            </a:r>
            <a:r>
              <a:rPr lang="en-US" altLang="zh-CN" sz="3200" dirty="0"/>
              <a:t>bug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2A2EDA2-F2B4-4C76-4004-EAD785632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2. </a:t>
            </a:r>
            <a:r>
              <a:rPr lang="zh-CN" altLang="en-US"/>
              <a:t>数制与编码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C61F548-42B0-7168-A689-6216F6231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26</a:t>
            </a:fld>
            <a:r>
              <a:rPr lang="en-US" altLang="zh-CN" dirty="0"/>
              <a:t>/27</a:t>
            </a:r>
            <a:endParaRPr 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C737B67-23EA-AE4C-39CA-6CD84F883B4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56" b="48406"/>
          <a:stretch/>
        </p:blipFill>
        <p:spPr>
          <a:xfrm>
            <a:off x="215516" y="1550215"/>
            <a:ext cx="9381856" cy="388317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B75F63B-62BE-C1E4-E179-59FE2F38FD32}"/>
              </a:ext>
            </a:extLst>
          </p:cNvPr>
          <p:cNvSpPr txBox="1"/>
          <p:nvPr/>
        </p:nvSpPr>
        <p:spPr>
          <a:xfrm>
            <a:off x="5417876" y="1620289"/>
            <a:ext cx="3695285" cy="707886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对电子学系统来说：</a:t>
            </a:r>
            <a:endParaRPr kumimoji="1" lang="en-US" altLang="zh-CN" sz="2000" dirty="0">
              <a:solidFill>
                <a:schemeClr val="accent1">
                  <a:lumMod val="50000"/>
                </a:schemeClr>
              </a:solidFill>
              <a:latin typeface="+mj-ea"/>
              <a:ea typeface="+mj-ea"/>
            </a:endParaRPr>
          </a:p>
          <a:p>
            <a:r>
              <a:rPr kumimoji="1" lang="en-US" altLang="zh-CN" sz="2000" dirty="0" err="1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x,y,z</a:t>
            </a:r>
            <a:r>
              <a:rPr kumimoji="1" lang="en-US" altLang="zh-CN" sz="200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kumimoji="1" lang="zh-CN" altLang="en-US" sz="200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的通讯格式为 </a:t>
            </a:r>
            <a:r>
              <a:rPr kumimoji="1" lang="en-US" altLang="zh-CN" sz="20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24</a:t>
            </a:r>
            <a:r>
              <a:rPr kumimoji="1" lang="zh-CN" altLang="en-US" sz="20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位 </a:t>
            </a:r>
            <a:r>
              <a:rPr kumimoji="1" lang="en-US" altLang="zh-CN" sz="200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2</a:t>
            </a:r>
            <a:r>
              <a:rPr kumimoji="1" lang="zh-CN" altLang="en-US" sz="200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进制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6CFBBF8-12DD-F92E-DD17-49DCF265C99A}"/>
              </a:ext>
            </a:extLst>
          </p:cNvPr>
          <p:cNvSpPr/>
          <p:nvPr/>
        </p:nvSpPr>
        <p:spPr>
          <a:xfrm>
            <a:off x="1727684" y="4220983"/>
            <a:ext cx="773436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5318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720F14-DAD3-3897-FDF4-4CD25BA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3200" dirty="0"/>
              <a:t>补充实例：二进制调</a:t>
            </a:r>
            <a:r>
              <a:rPr lang="en-US" altLang="zh-CN" sz="3200" dirty="0"/>
              <a:t>bug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CC5F152-CBB2-F82A-D834-006935FF1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2. </a:t>
            </a:r>
            <a:r>
              <a:rPr lang="zh-CN" altLang="en-US"/>
              <a:t>数制与编码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7CBEE4C-8D3A-D214-0B65-DEAA3766F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27</a:t>
            </a:fld>
            <a:r>
              <a:rPr lang="en-US" altLang="zh-CN" dirty="0"/>
              <a:t>/27</a:t>
            </a:r>
            <a:endParaRPr 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C354030-0C0D-03C4-7685-5E604F970DD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34" t="34913" r="1138" b="53692"/>
          <a:stretch/>
        </p:blipFill>
        <p:spPr>
          <a:xfrm>
            <a:off x="385799" y="570570"/>
            <a:ext cx="6408712" cy="900100"/>
          </a:xfrm>
          <a:prstGeom prst="rect">
            <a:avLst/>
          </a:prstGeom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425F8236-72E7-D4FE-B337-D9B1EF18A2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413315"/>
              </p:ext>
            </p:extLst>
          </p:nvPr>
        </p:nvGraphicFramePr>
        <p:xfrm>
          <a:off x="373343" y="3785086"/>
          <a:ext cx="8954919" cy="164592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940088">
                  <a:extLst>
                    <a:ext uri="{9D8B030D-6E8A-4147-A177-3AD203B41FA5}">
                      <a16:colId xmlns:a16="http://schemas.microsoft.com/office/drawing/2014/main" val="4149999296"/>
                    </a:ext>
                  </a:extLst>
                </a:gridCol>
                <a:gridCol w="2459126">
                  <a:extLst>
                    <a:ext uri="{9D8B030D-6E8A-4147-A177-3AD203B41FA5}">
                      <a16:colId xmlns:a16="http://schemas.microsoft.com/office/drawing/2014/main" val="3611616934"/>
                    </a:ext>
                  </a:extLst>
                </a:gridCol>
                <a:gridCol w="2412345">
                  <a:extLst>
                    <a:ext uri="{9D8B030D-6E8A-4147-A177-3AD203B41FA5}">
                      <a16:colId xmlns:a16="http://schemas.microsoft.com/office/drawing/2014/main" val="1216466452"/>
                    </a:ext>
                  </a:extLst>
                </a:gridCol>
                <a:gridCol w="3143360">
                  <a:extLst>
                    <a:ext uri="{9D8B030D-6E8A-4147-A177-3AD203B41FA5}">
                      <a16:colId xmlns:a16="http://schemas.microsoft.com/office/drawing/2014/main" val="1432205484"/>
                    </a:ext>
                  </a:extLst>
                </a:gridCol>
              </a:tblGrid>
              <a:tr h="117481"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CN" sz="12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>
                          <a:effectLst/>
                        </a:rPr>
                        <a:t>x</a:t>
                      </a:r>
                      <a:endParaRPr lang="zh-CN" sz="12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 dirty="0">
                          <a:effectLst/>
                        </a:rPr>
                        <a:t>y</a:t>
                      </a:r>
                      <a:endParaRPr lang="zh-CN" sz="12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>
                          <a:effectLst/>
                        </a:rPr>
                        <a:t>time</a:t>
                      </a:r>
                      <a:endParaRPr lang="zh-CN" sz="12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extLst>
                  <a:ext uri="{0D108BD9-81ED-4DB2-BD59-A6C34878D82A}">
                    <a16:rowId xmlns:a16="http://schemas.microsoft.com/office/drawing/2014/main" val="2787040722"/>
                  </a:ext>
                </a:extLst>
              </a:tr>
              <a:tr h="149274">
                <a:tc>
                  <a:txBody>
                    <a:bodyPr/>
                    <a:lstStyle/>
                    <a:p>
                      <a:pPr algn="just"/>
                      <a:r>
                        <a:rPr lang="zh-CN" sz="1200" kern="100">
                          <a:effectLst/>
                        </a:rPr>
                        <a:t>第一行</a:t>
                      </a:r>
                      <a:endParaRPr lang="zh-CN" sz="12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>
                          <a:effectLst/>
                        </a:rPr>
                        <a:t>20565</a:t>
                      </a:r>
                      <a:endParaRPr lang="zh-CN" sz="12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 dirty="0">
                          <a:effectLst/>
                        </a:rPr>
                        <a:t>193645</a:t>
                      </a:r>
                      <a:endParaRPr lang="zh-CN" sz="12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>
                          <a:effectLst/>
                        </a:rPr>
                        <a:t>1030704513</a:t>
                      </a:r>
                      <a:endParaRPr lang="zh-CN" sz="12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extLst>
                  <a:ext uri="{0D108BD9-81ED-4DB2-BD59-A6C34878D82A}">
                    <a16:rowId xmlns:a16="http://schemas.microsoft.com/office/drawing/2014/main" val="3108569281"/>
                  </a:ext>
                </a:extLst>
              </a:tr>
              <a:tr h="149274">
                <a:tc>
                  <a:txBody>
                    <a:bodyPr/>
                    <a:lstStyle/>
                    <a:p>
                      <a:pPr algn="just"/>
                      <a:r>
                        <a:rPr lang="zh-CN" sz="1200" kern="100" dirty="0">
                          <a:effectLst/>
                        </a:rPr>
                        <a:t>第一行</a:t>
                      </a:r>
                      <a:endParaRPr lang="zh-CN" sz="12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 dirty="0">
                          <a:effectLst/>
                        </a:rPr>
                        <a:t>0000 0000 </a:t>
                      </a:r>
                      <a:r>
                        <a:rPr lang="en-US" sz="1200" kern="100" dirty="0">
                          <a:solidFill>
                            <a:srgbClr val="FF0000"/>
                          </a:solidFill>
                          <a:effectLst/>
                        </a:rPr>
                        <a:t>0101 0000 0101 0101</a:t>
                      </a:r>
                      <a:endParaRPr lang="zh-CN" sz="1200" kern="100" dirty="0">
                        <a:solidFill>
                          <a:srgbClr val="FF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 dirty="0">
                          <a:solidFill>
                            <a:srgbClr val="0000FF"/>
                          </a:solidFill>
                          <a:effectLst/>
                        </a:rPr>
                        <a:t>0000 0010 1111 0100 0110 1101</a:t>
                      </a:r>
                      <a:endParaRPr lang="zh-CN" sz="1200" kern="100" dirty="0">
                        <a:solidFill>
                          <a:srgbClr val="0000FF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 dirty="0">
                          <a:solidFill>
                            <a:srgbClr val="00B050"/>
                          </a:solidFill>
                          <a:effectLst/>
                        </a:rPr>
                        <a:t>0011 1101 0110 1111 0100 1101 1000 0001</a:t>
                      </a:r>
                      <a:endParaRPr lang="zh-CN" sz="1200" kern="100" dirty="0">
                        <a:solidFill>
                          <a:srgbClr val="00B05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extLst>
                  <a:ext uri="{0D108BD9-81ED-4DB2-BD59-A6C34878D82A}">
                    <a16:rowId xmlns:a16="http://schemas.microsoft.com/office/drawing/2014/main" val="3372352198"/>
                  </a:ext>
                </a:extLst>
              </a:tr>
              <a:tr h="149274">
                <a:tc>
                  <a:txBody>
                    <a:bodyPr/>
                    <a:lstStyle/>
                    <a:p>
                      <a:pPr algn="just"/>
                      <a:r>
                        <a:rPr lang="zh-CN" sz="1200" kern="100">
                          <a:effectLst/>
                        </a:rPr>
                        <a:t>第二行</a:t>
                      </a:r>
                      <a:endParaRPr lang="zh-CN" sz="12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>
                          <a:effectLst/>
                        </a:rPr>
                        <a:t>5261570</a:t>
                      </a:r>
                      <a:endParaRPr lang="zh-CN" sz="12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>
                          <a:effectLst/>
                        </a:rPr>
                        <a:t>-731843</a:t>
                      </a:r>
                      <a:endParaRPr lang="zh-CN" sz="12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>
                          <a:effectLst/>
                        </a:rPr>
                        <a:t>1868378504</a:t>
                      </a:r>
                      <a:endParaRPr lang="zh-CN" sz="12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extLst>
                  <a:ext uri="{0D108BD9-81ED-4DB2-BD59-A6C34878D82A}">
                    <a16:rowId xmlns:a16="http://schemas.microsoft.com/office/drawing/2014/main" val="1482370239"/>
                  </a:ext>
                </a:extLst>
              </a:tr>
              <a:tr h="149274">
                <a:tc>
                  <a:txBody>
                    <a:bodyPr/>
                    <a:lstStyle/>
                    <a:p>
                      <a:pPr algn="just"/>
                      <a:r>
                        <a:rPr lang="zh-CN" sz="1200" kern="100">
                          <a:effectLst/>
                        </a:rPr>
                        <a:t>第二行</a:t>
                      </a:r>
                      <a:endParaRPr lang="zh-CN" sz="12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 dirty="0">
                          <a:solidFill>
                            <a:srgbClr val="FF0000"/>
                          </a:solidFill>
                          <a:effectLst/>
                        </a:rPr>
                        <a:t>0101 0000 0100 1001 </a:t>
                      </a:r>
                      <a:r>
                        <a:rPr lang="en-US" sz="1200" kern="100" dirty="0">
                          <a:solidFill>
                            <a:srgbClr val="0000FF"/>
                          </a:solidFill>
                          <a:effectLst/>
                        </a:rPr>
                        <a:t>0000 0010</a:t>
                      </a:r>
                      <a:endParaRPr lang="zh-CN" sz="1200" kern="100" dirty="0">
                        <a:solidFill>
                          <a:srgbClr val="0000FF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 dirty="0">
                          <a:solidFill>
                            <a:srgbClr val="0000FF"/>
                          </a:solidFill>
                          <a:effectLst/>
                        </a:rPr>
                        <a:t>1111 0100 1101 0101 </a:t>
                      </a:r>
                      <a:r>
                        <a:rPr lang="en-US" sz="1200" kern="100" dirty="0">
                          <a:solidFill>
                            <a:srgbClr val="00B050"/>
                          </a:solidFill>
                          <a:effectLst/>
                        </a:rPr>
                        <a:t>0011 1101</a:t>
                      </a:r>
                      <a:endParaRPr lang="zh-CN" sz="1200" kern="100" dirty="0">
                        <a:solidFill>
                          <a:srgbClr val="00B05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 dirty="0">
                          <a:solidFill>
                            <a:srgbClr val="00B050"/>
                          </a:solidFill>
                          <a:effectLst/>
                        </a:rPr>
                        <a:t>0110 1111 0101 1101 0011 0001 </a:t>
                      </a:r>
                      <a:r>
                        <a:rPr lang="en-US" sz="1200" kern="100" dirty="0">
                          <a:effectLst/>
                        </a:rPr>
                        <a:t>1000 1000</a:t>
                      </a:r>
                      <a:endParaRPr lang="zh-CN" sz="12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extLst>
                  <a:ext uri="{0D108BD9-81ED-4DB2-BD59-A6C34878D82A}">
                    <a16:rowId xmlns:a16="http://schemas.microsoft.com/office/drawing/2014/main" val="2190856498"/>
                  </a:ext>
                </a:extLst>
              </a:tr>
              <a:tr h="149274">
                <a:tc>
                  <a:txBody>
                    <a:bodyPr/>
                    <a:lstStyle/>
                    <a:p>
                      <a:pPr algn="just"/>
                      <a:r>
                        <a:rPr lang="zh-CN" sz="1200" kern="100">
                          <a:effectLst/>
                        </a:rPr>
                        <a:t>纠正第二行</a:t>
                      </a:r>
                      <a:endParaRPr lang="zh-CN" sz="12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 dirty="0">
                          <a:effectLst/>
                        </a:rPr>
                        <a:t>0000 0000 </a:t>
                      </a:r>
                      <a:r>
                        <a:rPr lang="en-US" sz="1200" kern="100" dirty="0">
                          <a:solidFill>
                            <a:srgbClr val="FF0000"/>
                          </a:solidFill>
                          <a:effectLst/>
                        </a:rPr>
                        <a:t>0101 0000 0100 1001 </a:t>
                      </a:r>
                      <a:endParaRPr lang="zh-CN" sz="1200" kern="100" dirty="0">
                        <a:solidFill>
                          <a:srgbClr val="FF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 dirty="0">
                          <a:solidFill>
                            <a:srgbClr val="0000FF"/>
                          </a:solidFill>
                          <a:effectLst/>
                        </a:rPr>
                        <a:t>0000 0010 1111 0100 1101 0101</a:t>
                      </a:r>
                      <a:endParaRPr lang="zh-CN" sz="1200" kern="100" dirty="0">
                        <a:solidFill>
                          <a:srgbClr val="0000FF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 dirty="0">
                          <a:solidFill>
                            <a:srgbClr val="00B050"/>
                          </a:solidFill>
                          <a:effectLst/>
                        </a:rPr>
                        <a:t>0011 1101 0110 1111 0101 1101 0011 0001</a:t>
                      </a:r>
                      <a:endParaRPr lang="zh-CN" sz="1200" kern="100" dirty="0">
                        <a:solidFill>
                          <a:srgbClr val="00B05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extLst>
                  <a:ext uri="{0D108BD9-81ED-4DB2-BD59-A6C34878D82A}">
                    <a16:rowId xmlns:a16="http://schemas.microsoft.com/office/drawing/2014/main" val="3324482289"/>
                  </a:ext>
                </a:extLst>
              </a:tr>
              <a:tr h="149274">
                <a:tc>
                  <a:txBody>
                    <a:bodyPr/>
                    <a:lstStyle/>
                    <a:p>
                      <a:pPr algn="just"/>
                      <a:r>
                        <a:rPr lang="zh-CN" sz="1200" kern="100">
                          <a:effectLst/>
                        </a:rPr>
                        <a:t>纠正第二行</a:t>
                      </a:r>
                      <a:endParaRPr lang="zh-CN" sz="12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>
                          <a:effectLst/>
                        </a:rPr>
                        <a:t>20553</a:t>
                      </a:r>
                      <a:endParaRPr lang="zh-CN" sz="12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>
                          <a:effectLst/>
                        </a:rPr>
                        <a:t>193749</a:t>
                      </a:r>
                      <a:endParaRPr lang="zh-CN" sz="12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>
                          <a:effectLst/>
                        </a:rPr>
                        <a:t>1030708529</a:t>
                      </a:r>
                      <a:endParaRPr lang="zh-CN" sz="12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extLst>
                  <a:ext uri="{0D108BD9-81ED-4DB2-BD59-A6C34878D82A}">
                    <a16:rowId xmlns:a16="http://schemas.microsoft.com/office/drawing/2014/main" val="3862283784"/>
                  </a:ext>
                </a:extLst>
              </a:tr>
              <a:tr h="298547">
                <a:tc>
                  <a:txBody>
                    <a:bodyPr/>
                    <a:lstStyle/>
                    <a:p>
                      <a:pPr algn="just"/>
                      <a:r>
                        <a:rPr lang="zh-CN" sz="1200" kern="100">
                          <a:effectLst/>
                        </a:rPr>
                        <a:t>作为参考的第三行</a:t>
                      </a:r>
                      <a:endParaRPr lang="zh-CN" sz="12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>
                          <a:effectLst/>
                        </a:rPr>
                        <a:t>20553</a:t>
                      </a:r>
                      <a:endParaRPr lang="zh-CN" sz="12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>
                          <a:effectLst/>
                        </a:rPr>
                        <a:t>193749</a:t>
                      </a:r>
                      <a:endParaRPr lang="zh-CN" sz="12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 dirty="0">
                          <a:effectLst/>
                        </a:rPr>
                        <a:t>1030712545</a:t>
                      </a:r>
                      <a:endParaRPr lang="zh-CN" sz="12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extLst>
                  <a:ext uri="{0D108BD9-81ED-4DB2-BD59-A6C34878D82A}">
                    <a16:rowId xmlns:a16="http://schemas.microsoft.com/office/drawing/2014/main" val="1516292794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44FCC43D-BF2C-F13B-36BC-4FD47E58C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363" y="5513278"/>
            <a:ext cx="772358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结论：可能是某个指针/计数器出问题，导致少传/忽略了8位数（1个Byte）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F9D023F0-A6C5-B244-9FB8-E9F69B44FE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9599322"/>
              </p:ext>
            </p:extLst>
          </p:nvPr>
        </p:nvGraphicFramePr>
        <p:xfrm>
          <a:off x="359872" y="1696215"/>
          <a:ext cx="8954919" cy="164592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940088">
                  <a:extLst>
                    <a:ext uri="{9D8B030D-6E8A-4147-A177-3AD203B41FA5}">
                      <a16:colId xmlns:a16="http://schemas.microsoft.com/office/drawing/2014/main" val="4149999296"/>
                    </a:ext>
                  </a:extLst>
                </a:gridCol>
                <a:gridCol w="2459126">
                  <a:extLst>
                    <a:ext uri="{9D8B030D-6E8A-4147-A177-3AD203B41FA5}">
                      <a16:colId xmlns:a16="http://schemas.microsoft.com/office/drawing/2014/main" val="3611616934"/>
                    </a:ext>
                  </a:extLst>
                </a:gridCol>
                <a:gridCol w="2412345">
                  <a:extLst>
                    <a:ext uri="{9D8B030D-6E8A-4147-A177-3AD203B41FA5}">
                      <a16:colId xmlns:a16="http://schemas.microsoft.com/office/drawing/2014/main" val="1216466452"/>
                    </a:ext>
                  </a:extLst>
                </a:gridCol>
                <a:gridCol w="3143360">
                  <a:extLst>
                    <a:ext uri="{9D8B030D-6E8A-4147-A177-3AD203B41FA5}">
                      <a16:colId xmlns:a16="http://schemas.microsoft.com/office/drawing/2014/main" val="1432205484"/>
                    </a:ext>
                  </a:extLst>
                </a:gridCol>
              </a:tblGrid>
              <a:tr h="149274"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CN" sz="12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 dirty="0">
                          <a:effectLst/>
                        </a:rPr>
                        <a:t>y</a:t>
                      </a:r>
                      <a:endParaRPr lang="zh-CN" sz="12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 dirty="0">
                          <a:effectLst/>
                        </a:rPr>
                        <a:t>z</a:t>
                      </a:r>
                      <a:endParaRPr lang="zh-CN" sz="12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>
                          <a:effectLst/>
                        </a:rPr>
                        <a:t>time</a:t>
                      </a:r>
                      <a:endParaRPr lang="zh-CN" sz="12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extLst>
                  <a:ext uri="{0D108BD9-81ED-4DB2-BD59-A6C34878D82A}">
                    <a16:rowId xmlns:a16="http://schemas.microsoft.com/office/drawing/2014/main" val="2787040722"/>
                  </a:ext>
                </a:extLst>
              </a:tr>
              <a:tr h="149274">
                <a:tc>
                  <a:txBody>
                    <a:bodyPr/>
                    <a:lstStyle/>
                    <a:p>
                      <a:pPr algn="just"/>
                      <a:r>
                        <a:rPr lang="zh-CN" sz="1200" kern="100">
                          <a:effectLst/>
                        </a:rPr>
                        <a:t>第一行</a:t>
                      </a:r>
                      <a:endParaRPr lang="zh-CN" sz="12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>
                          <a:effectLst/>
                        </a:rPr>
                        <a:t>20565</a:t>
                      </a:r>
                      <a:endParaRPr lang="zh-CN" sz="12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 dirty="0">
                          <a:effectLst/>
                        </a:rPr>
                        <a:t>193645</a:t>
                      </a:r>
                      <a:endParaRPr lang="zh-CN" sz="12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>
                          <a:effectLst/>
                        </a:rPr>
                        <a:t>1030704513</a:t>
                      </a:r>
                      <a:endParaRPr lang="zh-CN" sz="12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extLst>
                  <a:ext uri="{0D108BD9-81ED-4DB2-BD59-A6C34878D82A}">
                    <a16:rowId xmlns:a16="http://schemas.microsoft.com/office/drawing/2014/main" val="3108569281"/>
                  </a:ext>
                </a:extLst>
              </a:tr>
              <a:tr h="149274">
                <a:tc>
                  <a:txBody>
                    <a:bodyPr/>
                    <a:lstStyle/>
                    <a:p>
                      <a:pPr algn="just"/>
                      <a:r>
                        <a:rPr lang="zh-CN" sz="1200" kern="100" dirty="0">
                          <a:effectLst/>
                        </a:rPr>
                        <a:t>第一行</a:t>
                      </a:r>
                      <a:endParaRPr lang="zh-CN" sz="12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endParaRPr lang="zh-CN" sz="12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endParaRPr lang="zh-CN" sz="12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endParaRPr lang="zh-CN" sz="12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extLst>
                  <a:ext uri="{0D108BD9-81ED-4DB2-BD59-A6C34878D82A}">
                    <a16:rowId xmlns:a16="http://schemas.microsoft.com/office/drawing/2014/main" val="3372352198"/>
                  </a:ext>
                </a:extLst>
              </a:tr>
              <a:tr h="149274">
                <a:tc>
                  <a:txBody>
                    <a:bodyPr/>
                    <a:lstStyle/>
                    <a:p>
                      <a:pPr algn="just"/>
                      <a:r>
                        <a:rPr lang="zh-CN" sz="1200" kern="100">
                          <a:effectLst/>
                        </a:rPr>
                        <a:t>第二行</a:t>
                      </a:r>
                      <a:endParaRPr lang="zh-CN" sz="12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>
                          <a:effectLst/>
                        </a:rPr>
                        <a:t>5261570</a:t>
                      </a:r>
                      <a:endParaRPr lang="zh-CN" sz="12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>
                          <a:effectLst/>
                        </a:rPr>
                        <a:t>-731843</a:t>
                      </a:r>
                      <a:endParaRPr lang="zh-CN" sz="12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>
                          <a:effectLst/>
                        </a:rPr>
                        <a:t>1868378504</a:t>
                      </a:r>
                      <a:endParaRPr lang="zh-CN" sz="12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extLst>
                  <a:ext uri="{0D108BD9-81ED-4DB2-BD59-A6C34878D82A}">
                    <a16:rowId xmlns:a16="http://schemas.microsoft.com/office/drawing/2014/main" val="1482370239"/>
                  </a:ext>
                </a:extLst>
              </a:tr>
              <a:tr h="149274">
                <a:tc>
                  <a:txBody>
                    <a:bodyPr/>
                    <a:lstStyle/>
                    <a:p>
                      <a:pPr algn="just"/>
                      <a:r>
                        <a:rPr lang="zh-CN" sz="1200" kern="100">
                          <a:effectLst/>
                        </a:rPr>
                        <a:t>第二行</a:t>
                      </a:r>
                      <a:endParaRPr lang="zh-CN" sz="12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endParaRPr lang="zh-CN" sz="12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endParaRPr lang="zh-CN" sz="12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endParaRPr lang="zh-CN" sz="12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extLst>
                  <a:ext uri="{0D108BD9-81ED-4DB2-BD59-A6C34878D82A}">
                    <a16:rowId xmlns:a16="http://schemas.microsoft.com/office/drawing/2014/main" val="2190856498"/>
                  </a:ext>
                </a:extLst>
              </a:tr>
              <a:tr h="149274">
                <a:tc>
                  <a:txBody>
                    <a:bodyPr/>
                    <a:lstStyle/>
                    <a:p>
                      <a:pPr algn="just"/>
                      <a:r>
                        <a:rPr lang="zh-CN" sz="1200" kern="100">
                          <a:effectLst/>
                        </a:rPr>
                        <a:t>纠正第二行</a:t>
                      </a:r>
                      <a:endParaRPr lang="zh-CN" sz="12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endParaRPr lang="zh-CN" sz="12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endParaRPr lang="zh-CN" sz="12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endParaRPr lang="zh-CN" sz="12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extLst>
                  <a:ext uri="{0D108BD9-81ED-4DB2-BD59-A6C34878D82A}">
                    <a16:rowId xmlns:a16="http://schemas.microsoft.com/office/drawing/2014/main" val="3324482289"/>
                  </a:ext>
                </a:extLst>
              </a:tr>
              <a:tr h="149274">
                <a:tc>
                  <a:txBody>
                    <a:bodyPr/>
                    <a:lstStyle/>
                    <a:p>
                      <a:pPr algn="just"/>
                      <a:r>
                        <a:rPr lang="zh-CN" sz="1200" kern="100">
                          <a:effectLst/>
                        </a:rPr>
                        <a:t>纠正第二行</a:t>
                      </a:r>
                      <a:endParaRPr lang="zh-CN" sz="12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endParaRPr lang="zh-CN" sz="12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endParaRPr lang="zh-CN" sz="12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endParaRPr lang="zh-CN" sz="12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extLst>
                  <a:ext uri="{0D108BD9-81ED-4DB2-BD59-A6C34878D82A}">
                    <a16:rowId xmlns:a16="http://schemas.microsoft.com/office/drawing/2014/main" val="3862283784"/>
                  </a:ext>
                </a:extLst>
              </a:tr>
              <a:tr h="298547">
                <a:tc>
                  <a:txBody>
                    <a:bodyPr/>
                    <a:lstStyle/>
                    <a:p>
                      <a:pPr algn="just"/>
                      <a:r>
                        <a:rPr lang="zh-CN" sz="1200" kern="100">
                          <a:effectLst/>
                        </a:rPr>
                        <a:t>作为参考的第三行</a:t>
                      </a:r>
                      <a:endParaRPr lang="zh-CN" sz="12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>
                          <a:effectLst/>
                        </a:rPr>
                        <a:t>20553</a:t>
                      </a:r>
                      <a:endParaRPr lang="zh-CN" sz="12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>
                          <a:effectLst/>
                        </a:rPr>
                        <a:t>193749</a:t>
                      </a:r>
                      <a:endParaRPr lang="zh-CN" sz="12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 dirty="0">
                          <a:effectLst/>
                        </a:rPr>
                        <a:t>1030712545</a:t>
                      </a:r>
                      <a:endParaRPr lang="zh-CN" sz="12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974" marR="63974" marT="0" marB="0"/>
                </a:tc>
                <a:extLst>
                  <a:ext uri="{0D108BD9-81ED-4DB2-BD59-A6C34878D82A}">
                    <a16:rowId xmlns:a16="http://schemas.microsoft.com/office/drawing/2014/main" val="1516292794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EAC8C777-A9DC-60DB-B3E5-45C5CBE0F59D}"/>
              </a:ext>
            </a:extLst>
          </p:cNvPr>
          <p:cNvSpPr/>
          <p:nvPr/>
        </p:nvSpPr>
        <p:spPr>
          <a:xfrm>
            <a:off x="265331" y="3701384"/>
            <a:ext cx="9144000" cy="24482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DD1644D-E84B-717F-84B2-00EFA5A7B46F}"/>
              </a:ext>
            </a:extLst>
          </p:cNvPr>
          <p:cNvSpPr txBox="1"/>
          <p:nvPr/>
        </p:nvSpPr>
        <p:spPr>
          <a:xfrm>
            <a:off x="3213210" y="4056523"/>
            <a:ext cx="6089125" cy="17338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y: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(20565)</a:t>
            </a:r>
            <a:r>
              <a:rPr kumimoji="1" lang="en-US" altLang="zh-CN" sz="1600" baseline="-25000" dirty="0"/>
              <a:t>10       </a:t>
            </a:r>
            <a:r>
              <a:rPr kumimoji="1" lang="en-US" altLang="zh-CN" sz="1600" dirty="0"/>
              <a:t>= (101000001010101)</a:t>
            </a:r>
            <a:r>
              <a:rPr kumimoji="1" lang="en-US" altLang="zh-CN" sz="1600" baseline="-25000" dirty="0"/>
              <a:t>2</a:t>
            </a:r>
          </a:p>
          <a:p>
            <a:r>
              <a:rPr kumimoji="1" lang="en-US" altLang="zh-CN" sz="1600" dirty="0"/>
              <a:t>z: (193645)</a:t>
            </a:r>
            <a:r>
              <a:rPr kumimoji="1" lang="en-US" altLang="zh-CN" sz="1600" baseline="-25000" dirty="0"/>
              <a:t>10    </a:t>
            </a:r>
            <a:r>
              <a:rPr kumimoji="1" lang="en-US" altLang="zh-CN" sz="1600" dirty="0"/>
              <a:t>= (101111010001101101)</a:t>
            </a:r>
            <a:r>
              <a:rPr kumimoji="1" lang="en-US" altLang="zh-CN" sz="1600" baseline="-25000" dirty="0"/>
              <a:t>2</a:t>
            </a:r>
          </a:p>
          <a:p>
            <a:r>
              <a:rPr kumimoji="1" lang="en-US" altLang="zh-CN" sz="1600" dirty="0"/>
              <a:t>time: (1030704513)</a:t>
            </a:r>
            <a:r>
              <a:rPr kumimoji="1" lang="en-US" altLang="zh-CN" sz="1600" baseline="-25000" dirty="0"/>
              <a:t>10 </a:t>
            </a:r>
            <a:r>
              <a:rPr kumimoji="1" lang="en-US" altLang="zh-CN" sz="1600" dirty="0"/>
              <a:t>= (111101011011110100110110000001)</a:t>
            </a:r>
            <a:r>
              <a:rPr kumimoji="1" lang="en-US" altLang="zh-CN" sz="1600" baseline="-25000" dirty="0"/>
              <a:t>2</a:t>
            </a:r>
          </a:p>
          <a:p>
            <a:endParaRPr kumimoji="1" lang="en-US" altLang="zh-CN" sz="1600" baseline="-25000" dirty="0"/>
          </a:p>
          <a:p>
            <a:r>
              <a:rPr kumimoji="1" lang="en-US" altLang="zh-CN" sz="1600" dirty="0"/>
              <a:t>y: (5261570)</a:t>
            </a:r>
            <a:r>
              <a:rPr kumimoji="1" lang="en-US" altLang="zh-CN" sz="1600" baseline="-25000" dirty="0"/>
              <a:t>10 </a:t>
            </a:r>
            <a:r>
              <a:rPr kumimoji="1" lang="en-US" altLang="zh-CN" sz="1600" dirty="0"/>
              <a:t>= (10100000100100100000010)</a:t>
            </a:r>
            <a:r>
              <a:rPr kumimoji="1" lang="en-US" altLang="zh-CN" sz="1600" baseline="-25000" dirty="0"/>
              <a:t>2</a:t>
            </a:r>
          </a:p>
          <a:p>
            <a:r>
              <a:rPr kumimoji="1" lang="en-US" altLang="zh-CN" sz="1600" dirty="0"/>
              <a:t>z: (731843)</a:t>
            </a:r>
            <a:r>
              <a:rPr kumimoji="1" lang="en-US" altLang="zh-CN" sz="1600" baseline="-25000" dirty="0"/>
              <a:t>10    </a:t>
            </a:r>
            <a:r>
              <a:rPr kumimoji="1" lang="en-US" altLang="zh-CN" sz="1600" dirty="0"/>
              <a:t>= (10110010101011000011)</a:t>
            </a:r>
            <a:r>
              <a:rPr kumimoji="1" lang="en-US" altLang="zh-CN" sz="1600" baseline="-25000" dirty="0"/>
              <a:t>2</a:t>
            </a:r>
          </a:p>
          <a:p>
            <a:r>
              <a:rPr kumimoji="1" lang="en-US" altLang="zh-CN" sz="1600" dirty="0"/>
              <a:t>time: (1868378504)</a:t>
            </a:r>
            <a:r>
              <a:rPr kumimoji="1" lang="en-US" altLang="zh-CN" sz="1600" baseline="-25000" dirty="0"/>
              <a:t>10</a:t>
            </a:r>
            <a:r>
              <a:rPr kumimoji="1" lang="en-US" altLang="zh-CN" sz="1600" dirty="0"/>
              <a:t> = (1101111010111010011000110001000)</a:t>
            </a:r>
            <a:r>
              <a:rPr kumimoji="1" lang="en-US" altLang="zh-CN" sz="1600" baseline="-25000" dirty="0"/>
              <a:t>2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6033707-682D-119B-2E42-70B821FE888F}"/>
              </a:ext>
            </a:extLst>
          </p:cNvPr>
          <p:cNvSpPr txBox="1"/>
          <p:nvPr/>
        </p:nvSpPr>
        <p:spPr>
          <a:xfrm>
            <a:off x="552826" y="3987752"/>
            <a:ext cx="16201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 err="1"/>
              <a:t>Matlab</a:t>
            </a:r>
            <a:r>
              <a:rPr lang="zh-CN" altLang="en-US" b="1" dirty="0"/>
              <a:t>函数</a:t>
            </a:r>
            <a:endParaRPr lang="en-US" altLang="zh-CN" b="1" dirty="0"/>
          </a:p>
          <a:p>
            <a:r>
              <a:rPr lang="en-US" altLang="zh-CN" dirty="0"/>
              <a:t>dec2bin()</a:t>
            </a:r>
          </a:p>
          <a:p>
            <a:r>
              <a:rPr lang="en-US" altLang="zh-CN" dirty="0"/>
              <a:t>b</a:t>
            </a:r>
            <a:r>
              <a:rPr lang="zh-CN" altLang="en-US" dirty="0"/>
              <a:t>in2dec</a:t>
            </a:r>
            <a:r>
              <a:rPr lang="en-US" altLang="zh-CN" dirty="0"/>
              <a:t>()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B33B7B7-D0F5-DD63-2067-11CEC4A77544}"/>
              </a:ext>
            </a:extLst>
          </p:cNvPr>
          <p:cNvSpPr txBox="1"/>
          <p:nvPr/>
        </p:nvSpPr>
        <p:spPr>
          <a:xfrm>
            <a:off x="6938527" y="867059"/>
            <a:ext cx="22322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x,y,z</a:t>
            </a:r>
            <a:r>
              <a:rPr kumimoji="1" lang="en-US" altLang="zh-CN" dirty="0"/>
              <a:t> </a:t>
            </a:r>
            <a:r>
              <a:rPr kumimoji="1" lang="zh-CN" altLang="en-US" dirty="0"/>
              <a:t>：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24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位 </a:t>
            </a:r>
            <a:r>
              <a:rPr kumimoji="1" lang="en-US" altLang="zh-CN" dirty="0"/>
              <a:t>2</a:t>
            </a:r>
            <a:r>
              <a:rPr kumimoji="1" lang="zh-CN" altLang="en-US" dirty="0"/>
              <a:t>进制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BC52EA8-6663-F9F4-1590-D02A636EFAA7}"/>
              </a:ext>
            </a:extLst>
          </p:cNvPr>
          <p:cNvSpPr txBox="1"/>
          <p:nvPr/>
        </p:nvSpPr>
        <p:spPr>
          <a:xfrm>
            <a:off x="354030" y="5472259"/>
            <a:ext cx="45865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https://tool.lu/hexconvert/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6691570-1314-6E26-F0A3-FA111A373C83}"/>
              </a:ext>
            </a:extLst>
          </p:cNvPr>
          <p:cNvSpPr txBox="1"/>
          <p:nvPr/>
        </p:nvSpPr>
        <p:spPr>
          <a:xfrm>
            <a:off x="337195" y="5205501"/>
            <a:ext cx="33212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百度：十进制 转化为二进制</a:t>
            </a:r>
          </a:p>
        </p:txBody>
      </p:sp>
    </p:spTree>
    <p:extLst>
      <p:ext uri="{BB962C8B-B14F-4D97-AF65-F5344CB8AC3E}">
        <p14:creationId xmlns:p14="http://schemas.microsoft.com/office/powerpoint/2010/main" val="4200273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  <p:bldP spid="14" grpId="0"/>
      <p:bldP spid="15" grpId="0"/>
    </p:bldLst>
  </p:timing>
</p:sld>
</file>

<file path=ppt/theme/theme1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19189</TotalTime>
  <Words>4427</Words>
  <Application>Microsoft Macintosh PowerPoint</Application>
  <PresentationFormat>A4 纸张(210x297 毫米)</PresentationFormat>
  <Paragraphs>789</Paragraphs>
  <Slides>27</Slides>
  <Notes>16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0" baseType="lpstr">
      <vt:lpstr>DengXian</vt:lpstr>
      <vt:lpstr>DengXian</vt:lpstr>
      <vt:lpstr>黑体</vt:lpstr>
      <vt:lpstr>宋体</vt:lpstr>
      <vt:lpstr>Microsoft YaHei</vt:lpstr>
      <vt:lpstr>Microsoft YaHei</vt:lpstr>
      <vt:lpstr>Arial</vt:lpstr>
      <vt:lpstr>Arial Black</vt:lpstr>
      <vt:lpstr>Cambria</vt:lpstr>
      <vt:lpstr>Helvetica</vt:lpstr>
      <vt:lpstr>Times New Roman</vt:lpstr>
      <vt:lpstr>Office-Design</vt:lpstr>
      <vt:lpstr>公式</vt:lpstr>
      <vt:lpstr>  模拟与数字电路 Analog and Digital Circuits</vt:lpstr>
      <vt:lpstr>内容提纲</vt:lpstr>
      <vt:lpstr>数制</vt:lpstr>
      <vt:lpstr>二、八、十六进制</vt:lpstr>
      <vt:lpstr>不同进制之间相互转换</vt:lpstr>
      <vt:lpstr>示例─不同进制转换</vt:lpstr>
      <vt:lpstr>示例─不同进制转换</vt:lpstr>
      <vt:lpstr>题目解析</vt:lpstr>
      <vt:lpstr>二进制算术运算</vt:lpstr>
      <vt:lpstr>示例─无符号数算术运算</vt:lpstr>
      <vt:lpstr>有符号数的编码</vt:lpstr>
      <vt:lpstr>示例─原码、反码、补码</vt:lpstr>
      <vt:lpstr>由补码求实际值</vt:lpstr>
      <vt:lpstr>不同编码对比</vt:lpstr>
      <vt:lpstr>补码加减运算</vt:lpstr>
      <vt:lpstr>示例: 补码运算</vt:lpstr>
      <vt:lpstr>溢出</vt:lpstr>
      <vt:lpstr>示例─溢出判别</vt:lpstr>
      <vt:lpstr>二进制代码</vt:lpstr>
      <vt:lpstr>ASCII码</vt:lpstr>
      <vt:lpstr>格雷码</vt:lpstr>
      <vt:lpstr>格雷码的用途</vt:lpstr>
      <vt:lpstr>BCD码</vt:lpstr>
      <vt:lpstr>常用BCD码</vt:lpstr>
      <vt:lpstr>作业</vt:lpstr>
      <vt:lpstr>补充实例：二进制调bug</vt:lpstr>
      <vt:lpstr>补充实例：二进制调bug</vt:lpstr>
    </vt:vector>
  </TitlesOfParts>
  <Company>DFKI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从本科到硕士到博士</dc:title>
  <dc:creator>jingyuan cheng</dc:creator>
  <cp:lastModifiedBy>Microsoft Office User</cp:lastModifiedBy>
  <cp:revision>2512</cp:revision>
  <cp:lastPrinted>2020-05-26T13:24:01Z</cp:lastPrinted>
  <dcterms:created xsi:type="dcterms:W3CDTF">2020-04-07T12:23:01Z</dcterms:created>
  <dcterms:modified xsi:type="dcterms:W3CDTF">2023-09-11T04:00:19Z</dcterms:modified>
</cp:coreProperties>
</file>