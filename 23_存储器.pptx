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444" r:id="rId3"/>
    <p:sldId id="512" r:id="rId4"/>
    <p:sldId id="513" r:id="rId5"/>
    <p:sldId id="514" r:id="rId6"/>
    <p:sldId id="515" r:id="rId7"/>
    <p:sldId id="516" r:id="rId8"/>
    <p:sldId id="517" r:id="rId9"/>
    <p:sldId id="518" r:id="rId10"/>
    <p:sldId id="519" r:id="rId11"/>
    <p:sldId id="520" r:id="rId12"/>
    <p:sldId id="521" r:id="rId13"/>
    <p:sldId id="522" r:id="rId14"/>
    <p:sldId id="523" r:id="rId15"/>
    <p:sldId id="524" r:id="rId16"/>
    <p:sldId id="525" r:id="rId17"/>
    <p:sldId id="526" r:id="rId18"/>
    <p:sldId id="527" r:id="rId19"/>
    <p:sldId id="528" r:id="rId20"/>
    <p:sldId id="529" r:id="rId21"/>
    <p:sldId id="531" r:id="rId22"/>
    <p:sldId id="532" r:id="rId23"/>
    <p:sldId id="533" r:id="rId24"/>
    <p:sldId id="535" r:id="rId25"/>
    <p:sldId id="511" r:id="rId26"/>
  </p:sldIdLst>
  <p:sldSz cx="9906000" cy="6858000" type="A4"/>
  <p:notesSz cx="9144000" cy="6858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18"/>
    <p:restoredTop sz="80301"/>
  </p:normalViewPr>
  <p:slideViewPr>
    <p:cSldViewPr snapToGrid="0" snapToObjects="1">
      <p:cViewPr varScale="1">
        <p:scale>
          <a:sx n="82" d="100"/>
          <a:sy n="82" d="100"/>
        </p:scale>
        <p:origin x="1520" y="192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1" d="100"/>
          <a:sy n="111" d="100"/>
        </p:scale>
        <p:origin x="16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8FAB7-9DA6-42E2-BB80-6EB4D83E2AE8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D08B7-D15B-4122-BED5-76961CE89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715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6F516-474B-49E6-8B3A-4C2D69386E26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7EB77-94AC-4128-8DFB-759E46F1AD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7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02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cs typeface="宋体" panose="02010600030101010101" pitchFamily="2" charset="-122"/>
              </a:rPr>
              <a:t>掩模</a:t>
            </a:r>
            <a:r>
              <a:rPr lang="en-US" altLang="zh-CN" dirty="0">
                <a:cs typeface="宋体" panose="02010600030101010101" pitchFamily="2" charset="-122"/>
              </a:rPr>
              <a:t>ROM</a:t>
            </a:r>
            <a:r>
              <a:rPr lang="zh-CN" altLang="en-US" dirty="0">
                <a:cs typeface="宋体" panose="02010600030101010101" pitchFamily="2" charset="-122"/>
              </a:rPr>
              <a:t>的特点：</a:t>
            </a:r>
          </a:p>
          <a:p>
            <a:pPr eaLnBrk="1" hangingPunct="1"/>
            <a:r>
              <a:rPr lang="zh-CN" altLang="en-US" dirty="0">
                <a:cs typeface="宋体" panose="02010600030101010101" pitchFamily="2" charset="-122"/>
              </a:rPr>
              <a:t>出厂时已经固定，不能更改，适合大量生产；</a:t>
            </a:r>
            <a:endParaRPr lang="en-US" altLang="zh-CN" dirty="0">
              <a:cs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cs typeface="宋体" panose="02010600030101010101" pitchFamily="2" charset="-122"/>
              </a:rPr>
              <a:t>简单，便宜，非易失性。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sz="800" dirty="0">
                <a:cs typeface="宋体" panose="02010600030101010101" pitchFamily="2" charset="-122"/>
              </a:rPr>
              <a:t>存储矩列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CN" sz="800" dirty="0">
                <a:cs typeface="宋体" panose="02010600030101010101" pitchFamily="2" charset="-122"/>
              </a:rPr>
              <a:t>4</a:t>
            </a:r>
            <a:r>
              <a:rPr lang="zh-CN" altLang="en-US" sz="800" dirty="0">
                <a:cs typeface="宋体" panose="02010600030101010101" pitchFamily="2" charset="-122"/>
              </a:rPr>
              <a:t>行</a:t>
            </a:r>
            <a:r>
              <a:rPr lang="en-US" altLang="zh-CN" sz="800" dirty="0">
                <a:cs typeface="宋体" panose="02010600030101010101" pitchFamily="2" charset="-122"/>
              </a:rPr>
              <a:t>x4</a:t>
            </a:r>
            <a:r>
              <a:rPr lang="zh-CN" altLang="en-US" sz="800" dirty="0">
                <a:cs typeface="宋体" panose="02010600030101010101" pitchFamily="2" charset="-122"/>
              </a:rPr>
              <a:t>列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800" dirty="0">
                <a:cs typeface="宋体" panose="02010600030101010101" pitchFamily="2" charset="-122"/>
              </a:rPr>
              <a:t>行和列的每个交叉点是一个存储单元</a:t>
            </a:r>
            <a:r>
              <a:rPr lang="en-US" altLang="zh-CN" sz="800" dirty="0">
                <a:cs typeface="宋体" panose="02010600030101010101" pitchFamily="2" charset="-122"/>
              </a:rPr>
              <a:t> 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sz="800" dirty="0">
                <a:cs typeface="宋体" panose="02010600030101010101" pitchFamily="2" charset="-122"/>
              </a:rPr>
              <a:t>存储单元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800" dirty="0">
                <a:cs typeface="宋体" panose="02010600030101010101" pitchFamily="2" charset="-122"/>
              </a:rPr>
              <a:t>存储一位信息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800" dirty="0">
                <a:cs typeface="宋体" panose="02010600030101010101" pitchFamily="2" charset="-122"/>
              </a:rPr>
              <a:t>有二极管相当存</a:t>
            </a:r>
            <a:r>
              <a:rPr lang="en-US" altLang="zh-CN" sz="800" dirty="0">
                <a:cs typeface="宋体" panose="02010600030101010101" pitchFamily="2" charset="-122"/>
              </a:rPr>
              <a:t>1</a:t>
            </a:r>
            <a:r>
              <a:rPr lang="zh-CN" altLang="en-US" sz="800" dirty="0">
                <a:cs typeface="宋体" panose="02010600030101010101" pitchFamily="2" charset="-122"/>
              </a:rPr>
              <a:t>，无二极管相当存</a:t>
            </a:r>
            <a:r>
              <a:rPr lang="en-US" altLang="zh-CN" sz="800" dirty="0">
                <a:cs typeface="宋体" panose="02010600030101010101" pitchFamily="2" charset="-122"/>
              </a:rPr>
              <a:t>0</a:t>
            </a:r>
            <a:endParaRPr lang="zh-CN" altLang="en-US" sz="800" dirty="0">
              <a:cs typeface="宋体" panose="02010600030101010101" pitchFamily="2" charset="-122"/>
            </a:endParaRPr>
          </a:p>
          <a:p>
            <a:pPr eaLnBrk="1" hangingPunct="1">
              <a:spcBef>
                <a:spcPct val="10000"/>
              </a:spcBef>
            </a:pPr>
            <a:r>
              <a:rPr lang="zh-CN" altLang="en-US" sz="800" dirty="0">
                <a:cs typeface="宋体" panose="02010600030101010101" pitchFamily="2" charset="-122"/>
              </a:rPr>
              <a:t>地址译码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800" dirty="0">
                <a:cs typeface="宋体" panose="02010600030101010101" pitchFamily="2" charset="-122"/>
              </a:rPr>
              <a:t>选择存储阵列中的一行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sz="800" dirty="0">
                <a:cs typeface="宋体" panose="02010600030101010101" pitchFamily="2" charset="-122"/>
              </a:rPr>
              <a:t>输出缓冲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800" dirty="0">
                <a:cs typeface="宋体" panose="02010600030101010101" pitchFamily="2" charset="-122"/>
              </a:rPr>
              <a:t>当</a:t>
            </a:r>
            <a:r>
              <a:rPr lang="en-US" altLang="zh-CN" sz="800" dirty="0">
                <a:cs typeface="宋体" panose="02010600030101010101" pitchFamily="2" charset="-122"/>
              </a:rPr>
              <a:t>OE=0</a:t>
            </a:r>
            <a:r>
              <a:rPr lang="zh-CN" altLang="en-US" sz="800" dirty="0">
                <a:cs typeface="宋体" panose="02010600030101010101" pitchFamily="2" charset="-122"/>
              </a:rPr>
              <a:t>时输出选中行，否则呈高阻状态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55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cs typeface="宋体" panose="02010600030101010101" pitchFamily="2" charset="-122"/>
              </a:rPr>
              <a:t>MOS</a:t>
            </a:r>
            <a:r>
              <a:rPr lang="zh-CN" altLang="en-US" dirty="0">
                <a:cs typeface="宋体" panose="02010600030101010101" pitchFamily="2" charset="-122"/>
              </a:rPr>
              <a:t>管为增强型</a:t>
            </a:r>
            <a:r>
              <a:rPr lang="en-US" altLang="zh-CN" dirty="0">
                <a:cs typeface="宋体" panose="02010600030101010101" pitchFamily="2" charset="-122"/>
              </a:rPr>
              <a:t>N</a:t>
            </a:r>
            <a:r>
              <a:rPr lang="zh-CN" altLang="en-US" dirty="0">
                <a:cs typeface="宋体" panose="02010600030101010101" pitchFamily="2" charset="-122"/>
              </a:rPr>
              <a:t>沟道管，如果</a:t>
            </a:r>
            <a:r>
              <a:rPr lang="en-US" altLang="zh-CN" dirty="0">
                <a:cs typeface="宋体" panose="02010600030101010101" pitchFamily="2" charset="-122"/>
              </a:rPr>
              <a:t>A【7-4】</a:t>
            </a:r>
            <a:r>
              <a:rPr lang="zh-CN" altLang="en-US" dirty="0">
                <a:cs typeface="宋体" panose="02010600030101010101" pitchFamily="2" charset="-122"/>
              </a:rPr>
              <a:t>选中，则对应</a:t>
            </a:r>
            <a:r>
              <a:rPr lang="en-US" altLang="zh-CN" dirty="0">
                <a:cs typeface="宋体" panose="02010600030101010101" pitchFamily="2" charset="-122"/>
              </a:rPr>
              <a:t>Y[</a:t>
            </a:r>
            <a:r>
              <a:rPr lang="en-US" altLang="zh-CN" dirty="0" err="1">
                <a:cs typeface="宋体" panose="02010600030101010101" pitchFamily="2" charset="-122"/>
              </a:rPr>
              <a:t>i</a:t>
            </a:r>
            <a:r>
              <a:rPr lang="en-US" altLang="zh-CN" dirty="0">
                <a:cs typeface="宋体" panose="02010600030101010101" pitchFamily="2" charset="-122"/>
              </a:rPr>
              <a:t>]</a:t>
            </a:r>
            <a:r>
              <a:rPr lang="zh-CN" altLang="en-US" dirty="0">
                <a:cs typeface="宋体" panose="02010600030101010101" pitchFamily="2" charset="-122"/>
              </a:rPr>
              <a:t>输出为高，横着一排被选中，其输出达到位线，同一位线上的其他路</a:t>
            </a:r>
            <a:r>
              <a:rPr lang="en-US" altLang="zh-CN" dirty="0">
                <a:cs typeface="宋体" panose="02010600030101010101" pitchFamily="2" charset="-122"/>
              </a:rPr>
              <a:t>Y[0-15]</a:t>
            </a:r>
            <a:r>
              <a:rPr lang="zh-CN" altLang="en-US" dirty="0">
                <a:cs typeface="宋体" panose="02010600030101010101" pitchFamily="2" charset="-122"/>
              </a:rPr>
              <a:t>，由于</a:t>
            </a:r>
            <a:r>
              <a:rPr lang="en-US" altLang="zh-CN" dirty="0">
                <a:cs typeface="宋体" panose="02010600030101010101" pitchFamily="2" charset="-122"/>
              </a:rPr>
              <a:t>MOS</a:t>
            </a:r>
            <a:r>
              <a:rPr lang="zh-CN" altLang="en-US" dirty="0">
                <a:cs typeface="宋体" panose="02010600030101010101" pitchFamily="2" charset="-122"/>
              </a:rPr>
              <a:t>管不导通，因此不影响位线电压。然后由</a:t>
            </a:r>
            <a:r>
              <a:rPr lang="en-US" altLang="zh-CN" dirty="0">
                <a:cs typeface="宋体" panose="02010600030101010101" pitchFamily="2" charset="-122"/>
              </a:rPr>
              <a:t>A[3-0]</a:t>
            </a:r>
            <a:r>
              <a:rPr lang="zh-CN" altLang="en-US" dirty="0">
                <a:cs typeface="宋体" panose="02010600030101010101" pitchFamily="2" charset="-122"/>
              </a:rPr>
              <a:t>决定输出哪根位线</a:t>
            </a:r>
            <a:r>
              <a:rPr lang="en-US" altLang="zh-CN" dirty="0">
                <a:cs typeface="宋体" panose="02010600030101010101" pitchFamily="2" charset="-122"/>
              </a:rPr>
              <a:t>I[0-15]</a:t>
            </a:r>
            <a:r>
              <a:rPr lang="zh-CN" altLang="en-US" dirty="0">
                <a:cs typeface="宋体" panose="02010600030101010101" pitchFamily="2" charset="-122"/>
              </a:rPr>
              <a:t>。被选中的节点，如存在</a:t>
            </a:r>
            <a:r>
              <a:rPr lang="en-US" altLang="zh-CN" dirty="0">
                <a:cs typeface="宋体" panose="02010600030101010101" pitchFamily="2" charset="-122"/>
              </a:rPr>
              <a:t>MOS</a:t>
            </a:r>
            <a:r>
              <a:rPr lang="zh-CN" altLang="en-US" dirty="0">
                <a:cs typeface="宋体" panose="02010600030101010101" pitchFamily="2" charset="-122"/>
              </a:rPr>
              <a:t>管，则由于</a:t>
            </a:r>
            <a:r>
              <a:rPr lang="en-US" altLang="zh-CN" dirty="0">
                <a:cs typeface="宋体" panose="02010600030101010101" pitchFamily="2" charset="-122"/>
              </a:rPr>
              <a:t>MOS</a:t>
            </a:r>
            <a:r>
              <a:rPr lang="zh-CN" altLang="en-US" dirty="0">
                <a:cs typeface="宋体" panose="02010600030101010101" pitchFamily="2" charset="-122"/>
              </a:rPr>
              <a:t>管导通，电流经过</a:t>
            </a:r>
            <a:r>
              <a:rPr lang="en-US" altLang="zh-CN" dirty="0">
                <a:cs typeface="宋体" panose="02010600030101010101" pitchFamily="2" charset="-122"/>
              </a:rPr>
              <a:t>R</a:t>
            </a:r>
            <a:r>
              <a:rPr lang="zh-CN" altLang="en-US" dirty="0">
                <a:cs typeface="宋体" panose="02010600030101010101" pitchFamily="2" charset="-122"/>
              </a:rPr>
              <a:t>，因此位线电压底（</a:t>
            </a:r>
            <a:r>
              <a:rPr lang="en-US" altLang="zh-CN" dirty="0" err="1">
                <a:cs typeface="宋体" panose="02010600030101010101" pitchFamily="2" charset="-122"/>
              </a:rPr>
              <a:t>Vd</a:t>
            </a:r>
            <a:r>
              <a:rPr lang="en-US" altLang="zh-CN" dirty="0">
                <a:cs typeface="宋体" panose="02010600030101010101" pitchFamily="2" charset="-122"/>
              </a:rPr>
              <a:t>-I*R</a:t>
            </a:r>
            <a:r>
              <a:rPr lang="zh-CN" altLang="en-US" dirty="0">
                <a:cs typeface="宋体" panose="02010600030101010101" pitchFamily="2" charset="-122"/>
              </a:rPr>
              <a:t>），相当于位线接地，读出</a:t>
            </a:r>
            <a:r>
              <a:rPr lang="en-US" altLang="zh-CN" dirty="0">
                <a:cs typeface="宋体" panose="02010600030101010101" pitchFamily="2" charset="-122"/>
              </a:rPr>
              <a:t>0</a:t>
            </a:r>
            <a:r>
              <a:rPr lang="zh-CN" altLang="en-US" dirty="0">
                <a:cs typeface="宋体" panose="02010600030101010101" pitchFamily="2" charset="-122"/>
              </a:rPr>
              <a:t>，如果没有</a:t>
            </a:r>
            <a:r>
              <a:rPr lang="en-US" altLang="zh-CN" dirty="0">
                <a:cs typeface="宋体" panose="02010600030101010101" pitchFamily="2" charset="-122"/>
              </a:rPr>
              <a:t>MOS</a:t>
            </a:r>
            <a:r>
              <a:rPr lang="zh-CN" altLang="en-US" dirty="0">
                <a:cs typeface="宋体" panose="02010600030101010101" pitchFamily="2" charset="-122"/>
              </a:rPr>
              <a:t>管，则仅有微量电流经过</a:t>
            </a:r>
            <a:r>
              <a:rPr lang="en-US" altLang="zh-CN" dirty="0">
                <a:cs typeface="宋体" panose="02010600030101010101" pitchFamily="2" charset="-122"/>
              </a:rPr>
              <a:t>R</a:t>
            </a:r>
            <a:r>
              <a:rPr lang="zh-CN" altLang="en-US" dirty="0">
                <a:cs typeface="宋体" panose="02010600030101010101" pitchFamily="2" charset="-122"/>
              </a:rPr>
              <a:t>，相当于位线接</a:t>
            </a:r>
            <a:r>
              <a:rPr lang="en-US" altLang="zh-CN" dirty="0" err="1">
                <a:cs typeface="宋体" panose="02010600030101010101" pitchFamily="2" charset="-122"/>
              </a:rPr>
              <a:t>Vd</a:t>
            </a:r>
            <a:r>
              <a:rPr lang="en-US" altLang="zh-CN" dirty="0">
                <a:cs typeface="宋体" panose="02010600030101010101" pitchFamily="2" charset="-122"/>
              </a:rPr>
              <a:t>, </a:t>
            </a:r>
            <a:r>
              <a:rPr lang="zh-CN" altLang="en-US" dirty="0">
                <a:cs typeface="宋体" panose="02010600030101010101" pitchFamily="2" charset="-122"/>
              </a:rPr>
              <a:t>读出</a:t>
            </a:r>
            <a:r>
              <a:rPr lang="en-US" altLang="zh-CN" dirty="0">
                <a:cs typeface="宋体" panose="02010600030101010101" pitchFamily="2" charset="-122"/>
              </a:rPr>
              <a:t>1</a:t>
            </a:r>
            <a:r>
              <a:rPr lang="zh-CN" altLang="en-US" dirty="0">
                <a:cs typeface="宋体" panose="02010600030101010101" pitchFamily="2" charset="-122"/>
              </a:rPr>
              <a:t>。</a:t>
            </a:r>
            <a:endParaRPr lang="en-US" altLang="zh-CN" dirty="0">
              <a:cs typeface="宋体" panose="02010600030101010101" pitchFamily="2" charset="-122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330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627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cs typeface="宋体" panose="02010600030101010101" pitchFamily="2" charset="-122"/>
              </a:rPr>
              <a:t>DIP (Dual in-line) Package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197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cs typeface="宋体" panose="02010600030101010101" pitchFamily="2" charset="-122"/>
              </a:rPr>
              <a:t>由于</a:t>
            </a:r>
            <a:r>
              <a:rPr lang="en-US" altLang="zh-CN" dirty="0">
                <a:cs typeface="宋体" panose="02010600030101010101" pitchFamily="2" charset="-122"/>
              </a:rPr>
              <a:t>MOS</a:t>
            </a:r>
            <a:r>
              <a:rPr lang="zh-CN" altLang="en-US" dirty="0">
                <a:cs typeface="宋体" panose="02010600030101010101" pitchFamily="2" charset="-122"/>
              </a:rPr>
              <a:t>管的输入阻抗很高，因此功耗较低，选用</a:t>
            </a:r>
            <a:r>
              <a:rPr lang="en-US" altLang="zh-CN" dirty="0">
                <a:cs typeface="宋体" panose="02010600030101010101" pitchFamily="2" charset="-122"/>
              </a:rPr>
              <a:t>MOS</a:t>
            </a:r>
            <a:r>
              <a:rPr lang="zh-CN" altLang="en-US" dirty="0">
                <a:cs typeface="宋体" panose="02010600030101010101" pitchFamily="2" charset="-122"/>
              </a:rPr>
              <a:t>管</a:t>
            </a:r>
            <a:endParaRPr lang="en-US" altLang="zh-CN" dirty="0">
              <a:cs typeface="宋体" panose="02010600030101010101" pitchFamily="2" charset="-122"/>
            </a:endParaRPr>
          </a:p>
          <a:p>
            <a:endParaRPr lang="en-US" altLang="zh-CN" dirty="0">
              <a:cs typeface="宋体" panose="02010600030101010101" pitchFamily="2" charset="-122"/>
            </a:endParaRPr>
          </a:p>
          <a:p>
            <a:r>
              <a:rPr lang="zh-CN" altLang="en-US" dirty="0">
                <a:cs typeface="宋体" panose="02010600030101010101" pitchFamily="2" charset="-122"/>
              </a:rPr>
              <a:t>使用增强型</a:t>
            </a:r>
            <a:r>
              <a:rPr lang="en-US" altLang="zh-CN" dirty="0">
                <a:cs typeface="宋体" panose="02010600030101010101" pitchFamily="2" charset="-122"/>
              </a:rPr>
              <a:t>NMOS</a:t>
            </a:r>
            <a:r>
              <a:rPr lang="zh-CN" altLang="en-US" dirty="0">
                <a:cs typeface="宋体" panose="02010600030101010101" pitchFamily="2" charset="-122"/>
              </a:rPr>
              <a:t>管（！图中是实线，但是这里是增强管，保证在</a:t>
            </a:r>
            <a:r>
              <a:rPr lang="en-US" altLang="zh-CN" dirty="0">
                <a:cs typeface="宋体" panose="02010600030101010101" pitchFamily="2" charset="-122"/>
              </a:rPr>
              <a:t>T1,T2</a:t>
            </a:r>
            <a:r>
              <a:rPr lang="zh-CN" altLang="en-US" dirty="0">
                <a:cs typeface="宋体" panose="02010600030101010101" pitchFamily="2" charset="-122"/>
              </a:rPr>
              <a:t>栅极电压低时不导通，否则分析不通），各管导通时的等效电阻为：</a:t>
            </a:r>
            <a:r>
              <a:rPr lang="en-US" altLang="zh-CN" dirty="0">
                <a:cs typeface="宋体" panose="02010600030101010101" pitchFamily="2" charset="-122"/>
              </a:rPr>
              <a:t>T3T4&gt;T1T2&gt;T5T6T7T8</a:t>
            </a:r>
            <a:r>
              <a:rPr lang="zh-CN" altLang="en-US" dirty="0">
                <a:cs typeface="宋体" panose="02010600030101010101" pitchFamily="2" charset="-122"/>
              </a:rPr>
              <a:t>；在读写操作时电流会忽然增大，特别是当待写入的值与原来存储的值不同时</a:t>
            </a:r>
            <a:endParaRPr lang="en-US" altLang="zh-CN" dirty="0">
              <a:cs typeface="宋体" panose="02010600030101010101" pitchFamily="2" charset="-122"/>
            </a:endParaRPr>
          </a:p>
          <a:p>
            <a:endParaRPr lang="en-US" altLang="zh-CN" dirty="0">
              <a:cs typeface="宋体" panose="02010600030101010101" pitchFamily="2" charset="-122"/>
            </a:endParaRPr>
          </a:p>
          <a:p>
            <a:r>
              <a:rPr lang="zh-CN" altLang="en-US" dirty="0">
                <a:cs typeface="宋体" panose="02010600030101010101" pitchFamily="2" charset="-122"/>
              </a:rPr>
              <a:t>增强型</a:t>
            </a:r>
            <a:r>
              <a:rPr lang="en-US" altLang="zh-CN" dirty="0">
                <a:cs typeface="宋体" panose="02010600030101010101" pitchFamily="2" charset="-122"/>
              </a:rPr>
              <a:t>NMOS </a:t>
            </a:r>
            <a:r>
              <a:rPr lang="zh-CN" altLang="en-US" dirty="0">
                <a:cs typeface="宋体" panose="02010600030101010101" pitchFamily="2" charset="-122"/>
              </a:rPr>
              <a:t>管</a:t>
            </a:r>
            <a:r>
              <a:rPr lang="en-US" altLang="ja-JP" dirty="0">
                <a:cs typeface="宋体" panose="02010600030101010101" pitchFamily="2" charset="-122"/>
              </a:rPr>
              <a:t>; T1-8</a:t>
            </a:r>
            <a:r>
              <a:rPr lang="zh-CN" altLang="en-US" dirty="0">
                <a:cs typeface="宋体" panose="02010600030101010101" pitchFamily="2" charset="-122"/>
              </a:rPr>
              <a:t>在栅极为高电平时导通；中间</a:t>
            </a:r>
            <a:r>
              <a:rPr lang="en-US" altLang="ja-JP" dirty="0">
                <a:cs typeface="宋体" panose="02010600030101010101" pitchFamily="2" charset="-122"/>
              </a:rPr>
              <a:t>T1-T4</a:t>
            </a:r>
            <a:r>
              <a:rPr lang="zh-CN" altLang="en-US" dirty="0">
                <a:cs typeface="宋体" panose="02010600030101010101" pitchFamily="2" charset="-122"/>
              </a:rPr>
              <a:t>管部分为核心存储电路。</a:t>
            </a:r>
            <a:endParaRPr lang="en-US" altLang="zh-CN" dirty="0">
              <a:cs typeface="宋体" panose="02010600030101010101" pitchFamily="2" charset="-122"/>
            </a:endParaRPr>
          </a:p>
          <a:p>
            <a:endParaRPr lang="en-US" altLang="zh-CN" dirty="0">
              <a:cs typeface="宋体" panose="02010600030101010101" pitchFamily="2" charset="-122"/>
            </a:endParaRPr>
          </a:p>
          <a:p>
            <a:r>
              <a:rPr lang="zh-CN" altLang="en-US" u="sng" dirty="0">
                <a:cs typeface="宋体" panose="02010600030101010101" pitchFamily="2" charset="-122"/>
              </a:rPr>
              <a:t>写过程： </a:t>
            </a:r>
            <a:endParaRPr lang="en-US" altLang="zh-CN" dirty="0">
              <a:cs typeface="宋体" panose="02010600030101010101" pitchFamily="2" charset="-122"/>
            </a:endParaRPr>
          </a:p>
          <a:p>
            <a:r>
              <a:rPr lang="en-US" altLang="zh-CN" dirty="0" err="1">
                <a:cs typeface="宋体" panose="02010600030101010101" pitchFamily="2" charset="-122"/>
              </a:rPr>
              <a:t>Yj</a:t>
            </a:r>
            <a:r>
              <a:rPr lang="zh-CN" altLang="en-US" dirty="0">
                <a:cs typeface="宋体" panose="02010600030101010101" pitchFamily="2" charset="-122"/>
              </a:rPr>
              <a:t>选中，数据线</a:t>
            </a:r>
            <a:r>
              <a:rPr lang="en-US" altLang="ja-JP" dirty="0">
                <a:cs typeface="宋体" panose="02010600030101010101" pitchFamily="2" charset="-122"/>
              </a:rPr>
              <a:t>D,/D</a:t>
            </a:r>
            <a:r>
              <a:rPr lang="zh-CN" altLang="en-US" dirty="0">
                <a:cs typeface="宋体" panose="02010600030101010101" pitchFamily="2" charset="-122"/>
              </a:rPr>
              <a:t>信号到达位线</a:t>
            </a:r>
            <a:r>
              <a:rPr lang="en-US" altLang="ja-JP" dirty="0">
                <a:cs typeface="宋体" panose="02010600030101010101" pitchFamily="2" charset="-122"/>
              </a:rPr>
              <a:t>B,/B; </a:t>
            </a:r>
          </a:p>
          <a:p>
            <a:r>
              <a:rPr lang="en-US" altLang="zh-CN" dirty="0">
                <a:cs typeface="宋体" panose="02010600030101010101" pitchFamily="2" charset="-122"/>
              </a:rPr>
              <a:t>Xi</a:t>
            </a:r>
            <a:r>
              <a:rPr lang="zh-CN" altLang="en-US" dirty="0">
                <a:cs typeface="宋体" panose="02010600030101010101" pitchFamily="2" charset="-122"/>
              </a:rPr>
              <a:t>选中， </a:t>
            </a:r>
            <a:r>
              <a:rPr lang="en-US" altLang="zh-CN" dirty="0">
                <a:cs typeface="宋体" panose="02010600030101010101" pitchFamily="2" charset="-122"/>
              </a:rPr>
              <a:t>T5, T6</a:t>
            </a:r>
            <a:r>
              <a:rPr lang="zh-CN" altLang="en-US" dirty="0">
                <a:cs typeface="宋体" panose="02010600030101010101" pitchFamily="2" charset="-122"/>
              </a:rPr>
              <a:t>导通，位线信号到达</a:t>
            </a:r>
            <a:r>
              <a:rPr lang="en-US" altLang="ja-JP" dirty="0">
                <a:cs typeface="宋体" panose="02010600030101010101" pitchFamily="2" charset="-122"/>
              </a:rPr>
              <a:t>T5</a:t>
            </a:r>
            <a:r>
              <a:rPr lang="zh-CN" altLang="en-US" dirty="0">
                <a:cs typeface="宋体" panose="02010600030101010101" pitchFamily="2" charset="-122"/>
              </a:rPr>
              <a:t>右边，</a:t>
            </a:r>
            <a:r>
              <a:rPr lang="en-US" altLang="ja-JP" dirty="0">
                <a:cs typeface="宋体" panose="02010600030101010101" pitchFamily="2" charset="-122"/>
              </a:rPr>
              <a:t>T6</a:t>
            </a:r>
            <a:r>
              <a:rPr lang="zh-CN" altLang="en-US" dirty="0">
                <a:cs typeface="宋体" panose="02010600030101010101" pitchFamily="2" charset="-122"/>
              </a:rPr>
              <a:t>左边，开始控制</a:t>
            </a:r>
            <a:r>
              <a:rPr lang="en-US" altLang="ja-JP" dirty="0">
                <a:cs typeface="宋体" panose="02010600030101010101" pitchFamily="2" charset="-122"/>
              </a:rPr>
              <a:t>T1, T2</a:t>
            </a:r>
          </a:p>
          <a:p>
            <a:r>
              <a:rPr lang="zh-CN" altLang="en-US" dirty="0">
                <a:cs typeface="宋体" panose="02010600030101010101" pitchFamily="2" charset="-122"/>
              </a:rPr>
              <a:t>因为电路完全对称，分析其中一种情况，即</a:t>
            </a:r>
            <a:r>
              <a:rPr lang="en-US" altLang="ja-JP" dirty="0">
                <a:cs typeface="宋体" panose="02010600030101010101" pitchFamily="2" charset="-122"/>
              </a:rPr>
              <a:t>D=1, /D=0</a:t>
            </a:r>
            <a:r>
              <a:rPr lang="zh-CN" altLang="en-US" dirty="0">
                <a:cs typeface="宋体" panose="02010600030101010101" pitchFamily="2" charset="-122"/>
              </a:rPr>
              <a:t>，此时</a:t>
            </a:r>
            <a:r>
              <a:rPr lang="en-US" altLang="ja-JP" dirty="0">
                <a:cs typeface="宋体" panose="02010600030101010101" pitchFamily="2" charset="-122"/>
              </a:rPr>
              <a:t>T1</a:t>
            </a:r>
            <a:r>
              <a:rPr lang="zh-CN" altLang="en-US" dirty="0">
                <a:cs typeface="宋体" panose="02010600030101010101" pitchFamily="2" charset="-122"/>
              </a:rPr>
              <a:t>导通，</a:t>
            </a:r>
            <a:r>
              <a:rPr lang="en-US" altLang="ja-JP" dirty="0">
                <a:cs typeface="宋体" panose="02010600030101010101" pitchFamily="2" charset="-122"/>
              </a:rPr>
              <a:t>T2</a:t>
            </a:r>
            <a:r>
              <a:rPr lang="zh-CN" altLang="en-US" dirty="0">
                <a:cs typeface="宋体" panose="02010600030101010101" pitchFamily="2" charset="-122"/>
              </a:rPr>
              <a:t>截止，核心区域左侧两管通过大电流，右侧电路无大电流。</a:t>
            </a:r>
            <a:endParaRPr lang="en-US" altLang="ja-JP" dirty="0">
              <a:cs typeface="宋体" panose="02010600030101010101" pitchFamily="2" charset="-122"/>
            </a:endParaRPr>
          </a:p>
          <a:p>
            <a:r>
              <a:rPr lang="zh-CN" altLang="en-US" dirty="0">
                <a:cs typeface="宋体" panose="02010600030101010101" pitchFamily="2" charset="-122"/>
              </a:rPr>
              <a:t>写结束后，</a:t>
            </a:r>
            <a:r>
              <a:rPr lang="en-US" altLang="ja-JP" dirty="0" err="1">
                <a:cs typeface="宋体" panose="02010600030101010101" pitchFamily="2" charset="-122"/>
              </a:rPr>
              <a:t>Xi,Yj</a:t>
            </a:r>
            <a:r>
              <a:rPr lang="zh-CN" altLang="en-US" dirty="0">
                <a:cs typeface="宋体" panose="02010600030101010101" pitchFamily="2" charset="-122"/>
              </a:rPr>
              <a:t>不再选通，位线</a:t>
            </a:r>
            <a:r>
              <a:rPr lang="en-US" altLang="ja-JP" dirty="0">
                <a:cs typeface="宋体" panose="02010600030101010101" pitchFamily="2" charset="-122"/>
              </a:rPr>
              <a:t>B,/B</a:t>
            </a:r>
            <a:r>
              <a:rPr lang="zh-CN" altLang="en-US" dirty="0">
                <a:cs typeface="宋体" panose="02010600030101010101" pitchFamily="2" charset="-122"/>
              </a:rPr>
              <a:t>与核心存储电路隔离，此时由于</a:t>
            </a:r>
            <a:r>
              <a:rPr lang="en-US" altLang="ja-JP" dirty="0">
                <a:cs typeface="宋体" panose="02010600030101010101" pitchFamily="2" charset="-122"/>
              </a:rPr>
              <a:t>T2</a:t>
            </a:r>
            <a:r>
              <a:rPr lang="zh-CN" altLang="en-US" dirty="0">
                <a:cs typeface="宋体" panose="02010600030101010101" pitchFamily="2" charset="-122"/>
              </a:rPr>
              <a:t>截止，而</a:t>
            </a:r>
            <a:r>
              <a:rPr lang="en-US" altLang="ja-JP" dirty="0">
                <a:cs typeface="宋体" panose="02010600030101010101" pitchFamily="2" charset="-122"/>
              </a:rPr>
              <a:t>T4</a:t>
            </a:r>
            <a:r>
              <a:rPr lang="zh-CN" altLang="en-US" dirty="0">
                <a:cs typeface="宋体" panose="02010600030101010101" pitchFamily="2" charset="-122"/>
              </a:rPr>
              <a:t>的控制电压为高，因此</a:t>
            </a:r>
            <a:r>
              <a:rPr lang="en-US" altLang="ja-JP" dirty="0">
                <a:cs typeface="宋体" panose="02010600030101010101" pitchFamily="2" charset="-122"/>
              </a:rPr>
              <a:t>T4</a:t>
            </a:r>
            <a:r>
              <a:rPr lang="zh-CN" altLang="en-US" dirty="0">
                <a:cs typeface="宋体" panose="02010600030101010101" pitchFamily="2" charset="-122"/>
              </a:rPr>
              <a:t>弱导通，相当于</a:t>
            </a:r>
            <a:r>
              <a:rPr lang="en-US" altLang="ja-JP" dirty="0">
                <a:cs typeface="宋体" panose="02010600030101010101" pitchFamily="2" charset="-122"/>
              </a:rPr>
              <a:t>T6</a:t>
            </a:r>
            <a:r>
              <a:rPr lang="zh-CN" altLang="en-US" dirty="0">
                <a:cs typeface="宋体" panose="02010600030101010101" pitchFamily="2" charset="-122"/>
              </a:rPr>
              <a:t>左边与</a:t>
            </a:r>
            <a:r>
              <a:rPr lang="en-US" altLang="ja-JP" dirty="0" err="1">
                <a:cs typeface="宋体" panose="02010600030101010101" pitchFamily="2" charset="-122"/>
              </a:rPr>
              <a:t>Vdd</a:t>
            </a:r>
            <a:r>
              <a:rPr lang="zh-CN" altLang="en-US" dirty="0">
                <a:cs typeface="宋体" panose="02010600030101010101" pitchFamily="2" charset="-122"/>
              </a:rPr>
              <a:t>连通，电压为高；此电压维持</a:t>
            </a:r>
            <a:r>
              <a:rPr lang="en-US" altLang="ja-JP" dirty="0">
                <a:cs typeface="宋体" panose="02010600030101010101" pitchFamily="2" charset="-122"/>
              </a:rPr>
              <a:t>T1</a:t>
            </a:r>
            <a:r>
              <a:rPr lang="zh-CN" altLang="en-US" dirty="0">
                <a:cs typeface="宋体" panose="02010600030101010101" pitchFamily="2" charset="-122"/>
              </a:rPr>
              <a:t>导通，相当于</a:t>
            </a:r>
            <a:r>
              <a:rPr lang="en-US" altLang="ja-JP" dirty="0">
                <a:cs typeface="宋体" panose="02010600030101010101" pitchFamily="2" charset="-122"/>
              </a:rPr>
              <a:t>T5</a:t>
            </a:r>
            <a:r>
              <a:rPr lang="zh-CN" altLang="en-US" dirty="0">
                <a:cs typeface="宋体" panose="02010600030101010101" pitchFamily="2" charset="-122"/>
              </a:rPr>
              <a:t>右边与地连通，电压为低。电路状态维持写入的数据。</a:t>
            </a:r>
            <a:endParaRPr lang="en-US" altLang="zh-CN" dirty="0">
              <a:cs typeface="宋体" panose="02010600030101010101" pitchFamily="2" charset="-122"/>
            </a:endParaRPr>
          </a:p>
          <a:p>
            <a:endParaRPr lang="en-US" altLang="zh-CN" dirty="0">
              <a:cs typeface="宋体" panose="02010600030101010101" pitchFamily="2" charset="-122"/>
            </a:endParaRPr>
          </a:p>
          <a:p>
            <a:r>
              <a:rPr lang="zh-CN" altLang="en-US" u="sng" dirty="0">
                <a:cs typeface="宋体" panose="02010600030101010101" pitchFamily="2" charset="-122"/>
              </a:rPr>
              <a:t>读过程： </a:t>
            </a:r>
            <a:endParaRPr lang="en-US" altLang="zh-CN" dirty="0">
              <a:cs typeface="宋体" panose="02010600030101010101" pitchFamily="2" charset="-122"/>
            </a:endParaRPr>
          </a:p>
          <a:p>
            <a:r>
              <a:rPr lang="en-US" altLang="zh-CN" dirty="0">
                <a:cs typeface="宋体" panose="02010600030101010101" pitchFamily="2" charset="-122"/>
              </a:rPr>
              <a:t>Xi</a:t>
            </a:r>
            <a:r>
              <a:rPr lang="zh-CN" altLang="en-US" dirty="0">
                <a:cs typeface="宋体" panose="02010600030101010101" pitchFamily="2" charset="-122"/>
              </a:rPr>
              <a:t>选中，</a:t>
            </a:r>
            <a:r>
              <a:rPr lang="en-US" altLang="ja-JP" dirty="0">
                <a:cs typeface="宋体" panose="02010600030101010101" pitchFamily="2" charset="-122"/>
              </a:rPr>
              <a:t>T5, T6</a:t>
            </a:r>
            <a:r>
              <a:rPr lang="zh-CN" altLang="en-US" dirty="0">
                <a:cs typeface="宋体" panose="02010600030101010101" pitchFamily="2" charset="-122"/>
              </a:rPr>
              <a:t>导通，核心存储电路信号到达位线</a:t>
            </a:r>
            <a:r>
              <a:rPr lang="en-US" altLang="ja-JP" dirty="0">
                <a:cs typeface="宋体" panose="02010600030101010101" pitchFamily="2" charset="-122"/>
              </a:rPr>
              <a:t>B,/B; </a:t>
            </a:r>
            <a:r>
              <a:rPr lang="en-US" altLang="ja-JP" dirty="0" err="1">
                <a:cs typeface="宋体" panose="02010600030101010101" pitchFamily="2" charset="-122"/>
              </a:rPr>
              <a:t>Yj</a:t>
            </a:r>
            <a:r>
              <a:rPr lang="zh-CN" altLang="en-US" dirty="0">
                <a:cs typeface="宋体" panose="02010600030101010101" pitchFamily="2" charset="-122"/>
              </a:rPr>
              <a:t>选中，位线信号到达</a:t>
            </a:r>
            <a:r>
              <a:rPr lang="en-US" altLang="ja-JP" dirty="0">
                <a:cs typeface="宋体" panose="02010600030101010101" pitchFamily="2" charset="-122"/>
              </a:rPr>
              <a:t>D,/D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190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415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Helvetica" panose="020B0604020202020204" pitchFamily="34" charset="0"/>
                <a:cs typeface="宋体" panose="02010600030101010101" pitchFamily="2" charset="-122"/>
              </a:rPr>
              <a:t>由多个</a:t>
            </a:r>
            <a:r>
              <a:rPr lang="en-US" altLang="zh-CN" dirty="0">
                <a:latin typeface="Helvetica" panose="020B0604020202020204" pitchFamily="34" charset="0"/>
                <a:cs typeface="宋体" panose="02010600030101010101" pitchFamily="2" charset="-122"/>
              </a:rPr>
              <a:t>DRAM</a:t>
            </a:r>
            <a:r>
              <a:rPr lang="zh-CN" altLang="en-US" dirty="0">
                <a:latin typeface="Helvetica" panose="020B0604020202020204" pitchFamily="34" charset="0"/>
                <a:cs typeface="宋体" panose="02010600030101010101" pitchFamily="2" charset="-122"/>
              </a:rPr>
              <a:t>芯片按容量扩展连接，构成的主存组件</a:t>
            </a:r>
            <a:r>
              <a:rPr lang="en-US" altLang="zh-CN" dirty="0">
                <a:latin typeface="Helvetica" panose="020B0604020202020204" pitchFamily="34" charset="0"/>
                <a:cs typeface="宋体" panose="02010600030101010101" pitchFamily="2" charset="-122"/>
              </a:rPr>
              <a:t>/</a:t>
            </a:r>
            <a:r>
              <a:rPr lang="zh-CN" altLang="en-US" dirty="0">
                <a:latin typeface="Helvetica" panose="020B0604020202020204" pitchFamily="34" charset="0"/>
                <a:cs typeface="宋体" panose="02010600030101010101" pitchFamily="2" charset="-122"/>
              </a:rPr>
              <a:t>模块</a:t>
            </a:r>
            <a:r>
              <a:rPr lang="en-US" altLang="zh-CN" dirty="0">
                <a:latin typeface="Helvetica" panose="020B0604020202020204" pitchFamily="34" charset="0"/>
                <a:cs typeface="宋体" panose="02010600030101010101" pitchFamily="2" charset="-122"/>
              </a:rPr>
              <a:t>(Memory Module)</a:t>
            </a:r>
          </a:p>
          <a:p>
            <a:pPr eaLnBrk="1" hangingPunct="1"/>
            <a:r>
              <a:rPr lang="zh-CN" altLang="en-US" dirty="0">
                <a:latin typeface="Helvetica" panose="020B0604020202020204" pitchFamily="34" charset="0"/>
                <a:cs typeface="宋体" panose="02010600030101010101" pitchFamily="2" charset="-122"/>
              </a:rPr>
              <a:t>典型的标准组件类型</a:t>
            </a:r>
          </a:p>
          <a:p>
            <a:pPr lvl="1" eaLnBrk="1" hangingPunct="1"/>
            <a:r>
              <a:rPr lang="en-US" altLang="zh-CN" dirty="0">
                <a:cs typeface="宋体" panose="02010600030101010101" pitchFamily="2" charset="-122"/>
              </a:rPr>
              <a:t>SIMM (Single in-line memory module) </a:t>
            </a:r>
          </a:p>
          <a:p>
            <a:pPr lvl="1" eaLnBrk="1" hangingPunct="1"/>
            <a:r>
              <a:rPr lang="en-US" altLang="zh-CN" dirty="0">
                <a:cs typeface="宋体" panose="02010600030101010101" pitchFamily="2" charset="-122"/>
              </a:rPr>
              <a:t>DIMM (Dual in-line memory module)</a:t>
            </a:r>
          </a:p>
          <a:p>
            <a:pPr lvl="1" eaLnBrk="1" hangingPunct="1"/>
            <a:r>
              <a:rPr lang="en-US" altLang="zh-CN" dirty="0">
                <a:cs typeface="宋体" panose="02010600030101010101" pitchFamily="2" charset="-122"/>
              </a:rPr>
              <a:t>RIMM (Rambus DIMM)</a:t>
            </a:r>
          </a:p>
          <a:p>
            <a:pPr lvl="1" eaLnBrk="1" hangingPunct="1"/>
            <a:r>
              <a:rPr lang="en-US" altLang="zh-CN" dirty="0">
                <a:cs typeface="宋体" panose="02010600030101010101" pitchFamily="2" charset="-122"/>
              </a:rPr>
              <a:t>SO-DIMM (Small outline DIMM) </a:t>
            </a:r>
          </a:p>
          <a:p>
            <a:pPr lvl="1" eaLnBrk="1" hangingPunct="1"/>
            <a:r>
              <a:rPr lang="en-US" altLang="zh-CN" dirty="0">
                <a:cs typeface="宋体" panose="02010600030101010101" pitchFamily="2" charset="-122"/>
              </a:rPr>
              <a:t>SO-RIMM (Small outline RIMM)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485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562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Master-Untertitelformat bearbeiten</a:t>
            </a:r>
            <a:endParaRPr lang="en-US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AD0EE8D-9D56-A393-A0B6-B1D464FF8959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906000" cy="510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/>
              <a:t>计算机科学与技术学院本科课程</a:t>
            </a:r>
            <a:endParaRPr lang="en-US" altLang="zh-CN" sz="28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2A6DDD0-4B5B-3901-545E-2EAC257EF17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1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906000" cy="510639"/>
          </a:xfrm>
          <a:solidFill>
            <a:schemeClr val="accent1"/>
          </a:solidFill>
          <a:ln>
            <a:noFill/>
          </a:ln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7780" y="585760"/>
            <a:ext cx="9888220" cy="5947119"/>
          </a:xfrm>
        </p:spPr>
        <p:txBody>
          <a:bodyPr/>
          <a:lstStyle>
            <a:lvl1pPr>
              <a:defRPr sz="28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2pPr>
            <a:lvl3pPr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 err="1"/>
              <a:t>Mastertextformat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altLang="zh-CN" dirty="0"/>
          </a:p>
          <a:p>
            <a:pPr lvl="1"/>
            <a:r>
              <a:rPr lang="en-US" altLang="zh-CN" dirty="0" err="1"/>
              <a:t>Zweite</a:t>
            </a:r>
            <a:r>
              <a:rPr lang="en-US" altLang="zh-CN" dirty="0"/>
              <a:t> Ebene</a:t>
            </a:r>
          </a:p>
          <a:p>
            <a:pPr lvl="2"/>
            <a:r>
              <a:rPr lang="en-US" altLang="zh-CN" dirty="0" err="1"/>
              <a:t>Dritte</a:t>
            </a:r>
            <a:r>
              <a:rPr lang="en-US" altLang="zh-CN" dirty="0"/>
              <a:t> Ebene</a:t>
            </a:r>
          </a:p>
          <a:p>
            <a:pPr lvl="3"/>
            <a:r>
              <a:rPr lang="en-US" altLang="zh-CN" dirty="0" err="1"/>
              <a:t>Vierte</a:t>
            </a:r>
            <a:r>
              <a:rPr lang="en-US" altLang="zh-CN" dirty="0"/>
              <a:t> Ebene</a:t>
            </a:r>
          </a:p>
          <a:p>
            <a:pPr lvl="4"/>
            <a:r>
              <a:rPr lang="en-US" altLang="zh-CN" dirty="0" err="1"/>
              <a:t>Fünfte</a:t>
            </a:r>
            <a:r>
              <a:rPr lang="en-US" altLang="zh-CN" dirty="0"/>
              <a:t> Ebene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532880"/>
            <a:ext cx="31369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475220" y="6543040"/>
            <a:ext cx="23114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fld id="{9E260BC5-5BF3-8746-862B-DC45E9CAA88B}" type="slidenum">
              <a:rPr lang="en-US" smtClean="0"/>
              <a:pPr/>
              <a:t>‹#›</a:t>
            </a:fld>
            <a:r>
              <a:rPr lang="en-US" altLang="zh-CN" dirty="0"/>
              <a:t>/</a:t>
            </a:r>
            <a:endParaRPr lang="en-US" dirty="0"/>
          </a:p>
        </p:txBody>
      </p:sp>
      <p:pic>
        <p:nvPicPr>
          <p:cNvPr id="7" name="Bild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58354" y="575599"/>
            <a:ext cx="629866" cy="574907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8A49508E-0CBC-36CF-BE0A-9CFE928D505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482FF6C-9411-92E7-7DED-EBDB23C92E35}"/>
              </a:ext>
            </a:extLst>
          </p:cNvPr>
          <p:cNvSpPr txBox="1">
            <a:spLocks/>
          </p:cNvSpPr>
          <p:nvPr userDrawn="1"/>
        </p:nvSpPr>
        <p:spPr>
          <a:xfrm>
            <a:off x="17780" y="6522719"/>
            <a:ext cx="1684560" cy="208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457200" rtl="0" eaLnBrk="1" latinLnBrk="0" hangingPunct="1">
              <a:defRPr sz="10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2024</a:t>
            </a:r>
            <a:r>
              <a:rPr lang="zh-CN" altLang="en-US" dirty="0"/>
              <a:t>年秋季学期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3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7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0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0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2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3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3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5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3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9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1077976"/>
            <a:ext cx="8420100" cy="1470025"/>
          </a:xfrm>
        </p:spPr>
        <p:txBody>
          <a:bodyPr>
            <a:normAutofit fontScale="90000"/>
          </a:bodyPr>
          <a:lstStyle/>
          <a:p>
            <a:br>
              <a:rPr lang="en-US" altLang="zh-CN" sz="2400" b="1" dirty="0">
                <a:latin typeface="黑体"/>
                <a:ea typeface="黑体"/>
                <a:cs typeface="黑体"/>
              </a:rPr>
            </a:br>
            <a:br>
              <a:rPr lang="en-US" altLang="zh-CN" b="1" dirty="0">
                <a:latin typeface="黑体"/>
                <a:ea typeface="黑体"/>
                <a:cs typeface="黑体"/>
              </a:rPr>
            </a:br>
            <a: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  <a:t>模拟与数字电路</a:t>
            </a:r>
            <a:b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sz="2200" dirty="0">
                <a:solidFill>
                  <a:schemeClr val="accent1">
                    <a:lumMod val="50000"/>
                  </a:schemeClr>
                </a:solidFill>
                <a:latin typeface="+mj-ea"/>
              </a:rPr>
              <a:t>Analog and Digital Circuits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2546991"/>
            <a:ext cx="6934200" cy="2269558"/>
          </a:xfrm>
        </p:spPr>
        <p:txBody>
          <a:bodyPr>
            <a:noAutofit/>
          </a:bodyPr>
          <a:lstStyle/>
          <a:p>
            <a:endParaRPr lang="en-US" altLang="zh-CN" sz="16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br>
              <a:rPr lang="en-US" altLang="zh-CN" sz="16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23_</a:t>
            </a:r>
            <a:r>
              <a:rPr lang="zh-CN" altLang="en-US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存储器</a:t>
            </a:r>
            <a:endParaRPr lang="en-US" altLang="zh-CN" sz="36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zh-CN" altLang="en-US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数电</a:t>
            </a:r>
            <a:r>
              <a:rPr lang="en-US" altLang="zh-CN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P333-387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br>
              <a:rPr lang="en-US" sz="2000" dirty="0">
                <a:solidFill>
                  <a:srgbClr val="0070C0"/>
                </a:solidFill>
              </a:rPr>
            </a:b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4" name="Bil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04" y="5093353"/>
            <a:ext cx="1727992" cy="157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7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DBC4C-9640-AD61-0F3B-5CF87397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6375B-3C17-2170-48EE-3E111108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只读存储器</a:t>
            </a:r>
          </a:p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随机存取存储器</a:t>
            </a:r>
          </a:p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存储器容量扩展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B087B8-46F4-E8D4-8B30-EF3E7278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B7386-9DB7-80F6-203E-055AF101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</a:t>
            </a:fld>
            <a:r>
              <a:rPr lang="en-US" altLang="zh-CN" dirty="0"/>
              <a:t>/25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0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65866-6B60-2954-8C88-E232AE05E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+mj-ea"/>
                <a:ea typeface="+mj-ea"/>
              </a:rPr>
              <a:t>半导体存储器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82020F-BC32-03A1-B7D3-CB8B88666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能够保存大量二值信息的半导体器件</a:t>
            </a:r>
          </a:p>
          <a:p>
            <a:pPr>
              <a:spcAft>
                <a:spcPts val="1200"/>
              </a:spcAft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存储容量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字数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×(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每字对应的位数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lvl="1">
              <a:spcAft>
                <a:spcPts val="1200"/>
              </a:spcAft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举例：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8G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存储卡，实际容量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8GByte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8bits/Byte=64Gbits</a:t>
            </a:r>
          </a:p>
          <a:p>
            <a:pPr lvl="1">
              <a:spcAft>
                <a:spcPts val="1200"/>
              </a:spcAft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每个字具有唯一的编号，称为地址</a:t>
            </a:r>
          </a:p>
          <a:p>
            <a:pPr>
              <a:spcAft>
                <a:spcPts val="1200"/>
              </a:spcAft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一般结构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38F498-3EB0-AE3E-FB0C-08FB0CE9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1EE67B-2857-A7DE-960A-23BB5EE10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</a:t>
            </a:fld>
            <a:r>
              <a:rPr lang="en-US" altLang="zh-CN" dirty="0"/>
              <a:t>/25</a:t>
            </a:r>
            <a:endParaRPr lang="en-US" dirty="0"/>
          </a:p>
        </p:txBody>
      </p:sp>
      <p:grpSp>
        <p:nvGrpSpPr>
          <p:cNvPr id="6" name="Group 21">
            <a:extLst>
              <a:ext uri="{FF2B5EF4-FFF2-40B4-BE49-F238E27FC236}">
                <a16:creationId xmlns:a16="http://schemas.microsoft.com/office/drawing/2014/main" id="{0CED4693-6CAA-66F2-BBBC-ABD367607FA9}"/>
              </a:ext>
            </a:extLst>
          </p:cNvPr>
          <p:cNvGrpSpPr>
            <a:grpSpLocks/>
          </p:cNvGrpSpPr>
          <p:nvPr/>
        </p:nvGrpSpPr>
        <p:grpSpPr bwMode="auto">
          <a:xfrm>
            <a:off x="1628682" y="4114707"/>
            <a:ext cx="7213600" cy="1312862"/>
            <a:chOff x="721" y="2319"/>
            <a:chExt cx="4544" cy="827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1E0F8B53-7116-6F95-1136-B1F0851F7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2319"/>
              <a:ext cx="739" cy="49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 b="0" dirty="0">
                  <a:solidFill>
                    <a:srgbClr val="001E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地址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 b="0" dirty="0">
                  <a:solidFill>
                    <a:srgbClr val="001E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译码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5754FD8E-31ED-885F-5724-74F75789B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" y="2954"/>
              <a:ext cx="32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 b="0">
                  <a:solidFill>
                    <a:srgbClr val="001E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控制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6203B862-87F4-E9DE-22FB-B6DE74651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1" y="2319"/>
              <a:ext cx="739" cy="49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 b="0">
                  <a:solidFill>
                    <a:srgbClr val="001E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存储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 b="0">
                  <a:solidFill>
                    <a:srgbClr val="001E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阵列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6C0A9739-0497-75F6-63C1-3257421B4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0" y="2319"/>
              <a:ext cx="738" cy="49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 b="0">
                  <a:solidFill>
                    <a:srgbClr val="001E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读</a:t>
              </a:r>
              <a:r>
                <a:rPr kumimoji="1" lang="en-US" altLang="zh-CN" sz="2000" b="0">
                  <a:solidFill>
                    <a:srgbClr val="001E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/</a:t>
              </a:r>
              <a:r>
                <a:rPr kumimoji="1" lang="zh-CN" altLang="en-US" sz="2000" b="0">
                  <a:solidFill>
                    <a:srgbClr val="001E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写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 b="0">
                  <a:solidFill>
                    <a:srgbClr val="001E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控制</a:t>
              </a: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411FE1B6-626E-CA38-0FF6-DEF8B1F76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6" y="2588"/>
              <a:ext cx="345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D324602D-0DE6-6F5F-71F3-054E27BD68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0" y="2588"/>
              <a:ext cx="341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5E6CB067-0BD7-42A4-81E0-317BF9C0F8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2" y="2591"/>
              <a:ext cx="39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F925592-5750-155B-7111-01E418537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3" y="2491"/>
              <a:ext cx="32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 b="0">
                  <a:solidFill>
                    <a:srgbClr val="001E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8BC2CC-6F99-8D1E-0816-472EF3F50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" y="2478"/>
              <a:ext cx="32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 b="0">
                  <a:solidFill>
                    <a:srgbClr val="001E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地址</a:t>
              </a: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52FC67AC-B2FE-0FF6-0F98-985CD9FC94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2" y="2591"/>
              <a:ext cx="39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45531024-B550-1294-B02B-450AE223F1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0" y="2818"/>
              <a:ext cx="0" cy="2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8" name="Line 19">
              <a:extLst>
                <a:ext uri="{FF2B5EF4-FFF2-40B4-BE49-F238E27FC236}">
                  <a16:creationId xmlns:a16="http://schemas.microsoft.com/office/drawing/2014/main" id="{9EF3F824-2988-CEE8-DDCF-25EAC1E9C4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6" y="3061"/>
              <a:ext cx="293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0889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22F180-6D35-5814-CAC2-B66C27121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+mj-ea"/>
                <a:ea typeface="+mj-ea"/>
              </a:rPr>
              <a:t>半导体存储器分类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BDE426-C6DE-9721-BAA8-EA7704BF5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只读存储器</a:t>
            </a:r>
          </a:p>
          <a:p>
            <a:pPr lvl="1">
              <a:spcAft>
                <a:spcPts val="1200"/>
              </a:spcAft>
              <a:defRPr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Read Only Memory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，简称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ROM</a:t>
            </a:r>
          </a:p>
          <a:p>
            <a:pPr lvl="1">
              <a:spcAft>
                <a:spcPts val="1200"/>
              </a:spcAft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正常工作状态只是读出信息，断电后信息不会丢失，常用于存放固定信息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如程序、常数等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>
              <a:spcAft>
                <a:spcPts val="1200"/>
              </a:spcAft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随机存储器</a:t>
            </a:r>
          </a:p>
          <a:p>
            <a:pPr lvl="1">
              <a:spcAft>
                <a:spcPts val="1200"/>
              </a:spcAft>
              <a:defRPr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Random Access Memory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，简称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RAM</a:t>
            </a:r>
          </a:p>
          <a:p>
            <a:pPr lvl="1">
              <a:spcAft>
                <a:spcPts val="1200"/>
              </a:spcAft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在运行状态可以随时进行读出或写入操作，存储信息必须有电源供应才能保存，一旦掉电，信息全部丢失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B63E244-8F57-8FC0-CC7A-1D8B199B0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6FCEA6-F80F-D08A-017C-BDCBF491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4</a:t>
            </a:fld>
            <a:r>
              <a:rPr lang="en-US" altLang="zh-CN" dirty="0"/>
              <a:t>/25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51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4F92D-5B9A-4017-AD71-4FB40459A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cs typeface="宋体" panose="02010600030101010101" pitchFamily="2" charset="-122"/>
              </a:rPr>
              <a:t>只读存储器</a:t>
            </a:r>
            <a:r>
              <a:rPr lang="en-US" altLang="zh-CN" dirty="0">
                <a:cs typeface="宋体" panose="02010600030101010101" pitchFamily="2" charset="-122"/>
              </a:rPr>
              <a:t>ROM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F5AE6A-8F1A-8149-998E-B8F304292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cs typeface="宋体" panose="02010600030101010101" pitchFamily="2" charset="-122"/>
              </a:rPr>
              <a:t>MROM (Masked ROM)</a:t>
            </a:r>
          </a:p>
          <a:p>
            <a:pPr lvl="1"/>
            <a:r>
              <a:rPr lang="zh-CN" altLang="en-US" dirty="0">
                <a:cs typeface="宋体" panose="02010600030101010101" pitchFamily="2" charset="-122"/>
              </a:rPr>
              <a:t>掩模</a:t>
            </a:r>
            <a:r>
              <a:rPr lang="en-US" altLang="zh-CN" dirty="0">
                <a:cs typeface="宋体" panose="02010600030101010101" pitchFamily="2" charset="-122"/>
              </a:rPr>
              <a:t>ROM</a:t>
            </a:r>
            <a:r>
              <a:rPr lang="zh-CN" altLang="en-US" dirty="0">
                <a:cs typeface="宋体" panose="02010600030101010101" pitchFamily="2" charset="-122"/>
              </a:rPr>
              <a:t>，不可改写</a:t>
            </a:r>
          </a:p>
          <a:p>
            <a:r>
              <a:rPr lang="en-US" altLang="zh-CN" dirty="0">
                <a:cs typeface="宋体" panose="02010600030101010101" pitchFamily="2" charset="-122"/>
              </a:rPr>
              <a:t>PROM (Programmable ROM)</a:t>
            </a:r>
          </a:p>
          <a:p>
            <a:pPr lvl="1"/>
            <a:r>
              <a:rPr lang="zh-CN" altLang="en-US" dirty="0">
                <a:cs typeface="宋体" panose="02010600030101010101" pitchFamily="2" charset="-122"/>
              </a:rPr>
              <a:t>可编程一次</a:t>
            </a:r>
          </a:p>
          <a:p>
            <a:r>
              <a:rPr lang="en-US" altLang="zh-CN" dirty="0">
                <a:cs typeface="宋体" panose="02010600030101010101" pitchFamily="2" charset="-122"/>
              </a:rPr>
              <a:t>EPROM (Erasable PROM)</a:t>
            </a:r>
          </a:p>
          <a:p>
            <a:pPr lvl="1"/>
            <a:r>
              <a:rPr lang="zh-CN" altLang="en-US" dirty="0">
                <a:cs typeface="宋体" panose="02010600030101010101" pitchFamily="2" charset="-122"/>
              </a:rPr>
              <a:t>紫外线可擦除可编程</a:t>
            </a:r>
            <a:r>
              <a:rPr lang="en-US" altLang="zh-CN" dirty="0">
                <a:cs typeface="宋体" panose="02010600030101010101" pitchFamily="2" charset="-122"/>
              </a:rPr>
              <a:t>ROM</a:t>
            </a:r>
          </a:p>
          <a:p>
            <a:r>
              <a:rPr lang="en-US" altLang="zh-CN" dirty="0">
                <a:cs typeface="宋体" panose="02010600030101010101" pitchFamily="2" charset="-122"/>
              </a:rPr>
              <a:t>EEPROM (Electrically EPROM)</a:t>
            </a:r>
          </a:p>
          <a:p>
            <a:pPr lvl="1"/>
            <a:r>
              <a:rPr lang="zh-CN" altLang="en-US" dirty="0">
                <a:cs typeface="宋体" panose="02010600030101010101" pitchFamily="2" charset="-122"/>
              </a:rPr>
              <a:t>电可擦除可编程</a:t>
            </a:r>
            <a:r>
              <a:rPr lang="en-US" altLang="zh-CN" dirty="0">
                <a:cs typeface="宋体" panose="02010600030101010101" pitchFamily="2" charset="-122"/>
              </a:rPr>
              <a:t>ROM</a:t>
            </a:r>
          </a:p>
          <a:p>
            <a:r>
              <a:rPr lang="en-US" altLang="zh-CN" dirty="0">
                <a:cs typeface="宋体" panose="02010600030101010101" pitchFamily="2" charset="-122"/>
              </a:rPr>
              <a:t>Flash memory</a:t>
            </a:r>
          </a:p>
          <a:p>
            <a:pPr lvl="1"/>
            <a:r>
              <a:rPr lang="zh-CN" altLang="en-US" dirty="0">
                <a:cs typeface="宋体" panose="02010600030101010101" pitchFamily="2" charset="-122"/>
              </a:rPr>
              <a:t>闪存，一种特殊的</a:t>
            </a:r>
            <a:r>
              <a:rPr lang="en-US" altLang="zh-CN" dirty="0">
                <a:cs typeface="宋体" panose="02010600030101010101" pitchFamily="2" charset="-122"/>
              </a:rPr>
              <a:t>EEPROM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6D0917-763E-6066-BB96-317ED6E59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11F910-F9EA-F1BA-F835-72AA0706B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5</a:t>
            </a:fld>
            <a:r>
              <a:rPr lang="en-US" altLang="zh-CN" dirty="0"/>
              <a:t>/25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447FBA88-0903-6039-7120-653D8C902EC9}"/>
              </a:ext>
            </a:extLst>
          </p:cNvPr>
          <p:cNvGrpSpPr>
            <a:grpSpLocks/>
          </p:cNvGrpSpPr>
          <p:nvPr/>
        </p:nvGrpSpPr>
        <p:grpSpPr bwMode="auto">
          <a:xfrm>
            <a:off x="5784850" y="1733830"/>
            <a:ext cx="1473200" cy="1584325"/>
            <a:chOff x="4475" y="1435"/>
            <a:chExt cx="928" cy="1134"/>
          </a:xfrm>
        </p:grpSpPr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49AA1381-C3F1-2A58-7FB0-8A8BAEDFB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1435"/>
              <a:ext cx="272" cy="1134"/>
            </a:xfrm>
            <a:prstGeom prst="rightBrace">
              <a:avLst>
                <a:gd name="adj1" fmla="val 34743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+mj-ea"/>
                <a:ea typeface="+mj-ea"/>
              </a:endParaRP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D90D6304-8277-BA11-0B0A-AF69B39DDF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7" y="1694"/>
              <a:ext cx="566" cy="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b="0">
                  <a:latin typeface="+mj-ea"/>
                  <a:ea typeface="+mj-ea"/>
                </a:rPr>
                <a:t>离线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b="0">
                  <a:latin typeface="+mj-ea"/>
                  <a:ea typeface="+mj-ea"/>
                </a:rPr>
                <a:t>编程</a:t>
              </a:r>
            </a:p>
          </p:txBody>
        </p:sp>
      </p:grpSp>
      <p:grpSp>
        <p:nvGrpSpPr>
          <p:cNvPr id="9" name="Group 7">
            <a:extLst>
              <a:ext uri="{FF2B5EF4-FFF2-40B4-BE49-F238E27FC236}">
                <a16:creationId xmlns:a16="http://schemas.microsoft.com/office/drawing/2014/main" id="{86092A60-F98B-B898-5367-887394B13203}"/>
              </a:ext>
            </a:extLst>
          </p:cNvPr>
          <p:cNvGrpSpPr>
            <a:grpSpLocks/>
          </p:cNvGrpSpPr>
          <p:nvPr/>
        </p:nvGrpSpPr>
        <p:grpSpPr bwMode="auto">
          <a:xfrm>
            <a:off x="5748338" y="3607080"/>
            <a:ext cx="1466850" cy="1692275"/>
            <a:chOff x="4479" y="2751"/>
            <a:chExt cx="924" cy="1088"/>
          </a:xfrm>
        </p:grpSpPr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A381DA14-94CA-6A50-DC6F-F0E52398B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" y="2751"/>
              <a:ext cx="272" cy="1088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+mj-ea"/>
                <a:ea typeface="+mj-ea"/>
              </a:endParaRP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B1A284DF-D46E-69DB-E594-96F59AAF4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7" y="2964"/>
              <a:ext cx="566" cy="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b="0">
                  <a:latin typeface="+mj-ea"/>
                  <a:ea typeface="+mj-ea"/>
                </a:rPr>
                <a:t>在线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b="0">
                  <a:latin typeface="+mj-ea"/>
                  <a:ea typeface="+mj-ea"/>
                </a:rPr>
                <a:t>编程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386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827F1-BC5F-A68E-5967-F67372544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+mj-ea"/>
                <a:ea typeface="+mj-ea"/>
              </a:rPr>
              <a:t>掩模</a:t>
            </a:r>
            <a:r>
              <a:rPr lang="en-US" altLang="zh-CN" dirty="0">
                <a:latin typeface="+mj-ea"/>
                <a:ea typeface="+mj-ea"/>
              </a:rPr>
              <a:t>ROM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571790-E1DF-D8DF-7586-F753846E3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3693608" cy="5947119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latin typeface="+mn-ea"/>
                <a:ea typeface="+mn-ea"/>
              </a:rPr>
              <a:t>存储容量</a:t>
            </a:r>
          </a:p>
          <a:p>
            <a:pPr lvl="1">
              <a:buFontTx/>
              <a:buNone/>
              <a:defRPr/>
            </a:pPr>
            <a:r>
              <a:rPr lang="en-US" altLang="zh-CN" sz="2000" dirty="0">
                <a:latin typeface="+mn-ea"/>
              </a:rPr>
              <a:t>= 4 x 4 (</a:t>
            </a:r>
            <a:r>
              <a:rPr lang="zh-CN" altLang="en-US" sz="2000" dirty="0">
                <a:latin typeface="+mn-ea"/>
              </a:rPr>
              <a:t>位</a:t>
            </a:r>
            <a:r>
              <a:rPr lang="en-US" altLang="zh-CN" sz="2000" dirty="0">
                <a:latin typeface="+mn-ea"/>
              </a:rPr>
              <a:t>)</a:t>
            </a:r>
          </a:p>
          <a:p>
            <a:pPr lvl="1">
              <a:defRPr/>
            </a:pPr>
            <a:r>
              <a:rPr lang="en-US" altLang="zh-CN" sz="2000" dirty="0">
                <a:latin typeface="+mn-ea"/>
              </a:rPr>
              <a:t>4</a:t>
            </a:r>
            <a:r>
              <a:rPr lang="zh-CN" altLang="en-US" sz="2000" dirty="0">
                <a:latin typeface="+mn-ea"/>
              </a:rPr>
              <a:t>个字</a:t>
            </a:r>
            <a:r>
              <a:rPr lang="en-US" altLang="zh-CN" sz="2000" dirty="0">
                <a:latin typeface="+mn-ea"/>
                <a:sym typeface="Wingdings" panose="05000000000000000000" pitchFamily="2" charset="2"/>
              </a:rPr>
              <a:t></a:t>
            </a:r>
            <a:r>
              <a:rPr lang="en-US" altLang="zh-CN" sz="2000" dirty="0">
                <a:latin typeface="+mn-ea"/>
              </a:rPr>
              <a:t>2</a:t>
            </a:r>
            <a:r>
              <a:rPr lang="zh-CN" altLang="en-US" sz="2000" dirty="0">
                <a:latin typeface="+mn-ea"/>
              </a:rPr>
              <a:t>位地址</a:t>
            </a:r>
          </a:p>
          <a:p>
            <a:pPr lvl="1">
              <a:defRPr/>
            </a:pPr>
            <a:r>
              <a:rPr lang="zh-CN" altLang="en-US" sz="2000" dirty="0">
                <a:latin typeface="+mn-ea"/>
              </a:rPr>
              <a:t>每字</a:t>
            </a:r>
            <a:r>
              <a:rPr lang="en-US" altLang="zh-CN" sz="2000" dirty="0">
                <a:latin typeface="+mn-ea"/>
              </a:rPr>
              <a:t>4</a:t>
            </a:r>
            <a:r>
              <a:rPr lang="zh-CN" altLang="en-US" sz="2000" dirty="0">
                <a:latin typeface="+mn-ea"/>
              </a:rPr>
              <a:t>位</a:t>
            </a:r>
            <a:r>
              <a:rPr lang="en-US" altLang="zh-CN" sz="2000" dirty="0">
                <a:latin typeface="+mn-ea"/>
                <a:sym typeface="Wingdings" panose="05000000000000000000" pitchFamily="2" charset="2"/>
              </a:rPr>
              <a:t></a:t>
            </a:r>
            <a:r>
              <a:rPr lang="en-US" altLang="zh-CN" sz="2000" dirty="0">
                <a:latin typeface="+mn-ea"/>
              </a:rPr>
              <a:t>4</a:t>
            </a:r>
            <a:r>
              <a:rPr lang="zh-CN" altLang="en-US" sz="2000" dirty="0">
                <a:latin typeface="+mn-ea"/>
              </a:rPr>
              <a:t>位数据</a:t>
            </a:r>
          </a:p>
          <a:p>
            <a:pPr>
              <a:defRPr/>
            </a:pPr>
            <a:r>
              <a:rPr lang="zh-CN" altLang="en-US" sz="2400" dirty="0">
                <a:latin typeface="+mn-ea"/>
                <a:ea typeface="+mn-ea"/>
              </a:rPr>
              <a:t>字线与位线的交点都是一个存储单元</a:t>
            </a:r>
          </a:p>
          <a:p>
            <a:pPr lvl="1">
              <a:defRPr/>
            </a:pPr>
            <a:r>
              <a:rPr lang="zh-CN" altLang="en-US" sz="2000" dirty="0">
                <a:latin typeface="+mn-ea"/>
              </a:rPr>
              <a:t>有二极管相当存</a:t>
            </a:r>
            <a:r>
              <a:rPr lang="en-US" altLang="zh-CN" sz="2000" dirty="0">
                <a:latin typeface="+mn-ea"/>
              </a:rPr>
              <a:t>1</a:t>
            </a:r>
          </a:p>
          <a:p>
            <a:pPr lvl="1">
              <a:defRPr/>
            </a:pPr>
            <a:r>
              <a:rPr lang="zh-CN" altLang="en-US" sz="2000" dirty="0">
                <a:latin typeface="+mn-ea"/>
              </a:rPr>
              <a:t>无二极管相当存</a:t>
            </a:r>
            <a:r>
              <a:rPr lang="en-US" altLang="zh-CN" sz="2000" dirty="0">
                <a:latin typeface="+mn-ea"/>
              </a:rPr>
              <a:t>0</a:t>
            </a:r>
            <a:endParaRPr lang="zh-CN" altLang="en-US" sz="2000" dirty="0">
              <a:latin typeface="+mn-ea"/>
            </a:endParaRP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8B0AED-A378-2D49-3D8F-42CE04531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EF11E1F-29D0-2232-98B7-CCA0D905B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6</a:t>
            </a:fld>
            <a:r>
              <a:rPr lang="en-US" altLang="zh-CN" dirty="0"/>
              <a:t>/25</a:t>
            </a:r>
            <a:endParaRPr lang="en-US" dirty="0"/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805727A1-9777-ED56-46B5-F8FA456EE7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321587"/>
              </p:ext>
            </p:extLst>
          </p:nvPr>
        </p:nvGraphicFramePr>
        <p:xfrm>
          <a:off x="3711388" y="884445"/>
          <a:ext cx="5278438" cy="528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3" imgW="3374608" imgH="3391344" progId="Word.Picture.8">
                  <p:embed/>
                </p:oleObj>
              </mc:Choice>
              <mc:Fallback>
                <p:oleObj name="图片" r:id="rId3" imgW="3374608" imgH="3391344" progId="Word.Picture.8">
                  <p:embed/>
                  <p:pic>
                    <p:nvPicPr>
                      <p:cNvPr id="1331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1388" y="884445"/>
                        <a:ext cx="5278438" cy="52847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70B8D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">
            <a:extLst>
              <a:ext uri="{FF2B5EF4-FFF2-40B4-BE49-F238E27FC236}">
                <a16:creationId xmlns:a16="http://schemas.microsoft.com/office/drawing/2014/main" id="{89CF980D-7F35-4186-C739-DC51BEBB4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8601" y="1279733"/>
            <a:ext cx="6953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latin typeface="Arial" panose="020B0604020202020204" pitchFamily="34" charset="0"/>
              </a:rPr>
              <a:t>存储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latin typeface="Arial" panose="020B0604020202020204" pitchFamily="34" charset="0"/>
              </a:rPr>
              <a:t>阵列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B64CAA0-FE4E-D4BF-C37D-364C9BA47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6788" y="2108408"/>
            <a:ext cx="5111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sz="2000">
                <a:solidFill>
                  <a:srgbClr val="001E00"/>
                </a:solidFill>
                <a:latin typeface="Arial" panose="020B0604020202020204" pitchFamily="34" charset="0"/>
              </a:rPr>
              <a:t>字线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BD23D350-1A46-B0A6-69CA-A5FA82188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6788" y="4540458"/>
            <a:ext cx="5111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sz="2000">
                <a:solidFill>
                  <a:srgbClr val="001E00"/>
                </a:solidFill>
                <a:latin typeface="Arial" panose="020B0604020202020204" pitchFamily="34" charset="0"/>
              </a:rPr>
              <a:t>位线</a:t>
            </a: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E15C211E-5DA8-73DF-99CC-045CB3C1C2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27851" y="4700795"/>
            <a:ext cx="323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41BF2C52-FB08-0880-47AA-2BF754A6B2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24726" y="2468770"/>
            <a:ext cx="2159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39AF5262-A40F-F23B-C96F-1F410DACD1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21213" y="2000458"/>
            <a:ext cx="146050" cy="252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04B8F125-6CAF-5612-A4ED-7D5367D4F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7038" y="4808745"/>
            <a:ext cx="1268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latin typeface="Arial" panose="020B0604020202020204" pitchFamily="34" charset="0"/>
              </a:rPr>
              <a:t>输出缓冲</a:t>
            </a:r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DF4EE546-7A71-3151-FD56-38E839F841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2588" y="5024645"/>
            <a:ext cx="323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7CA0C491-BFC1-01BE-D88A-11A782F5E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601" y="2108408"/>
            <a:ext cx="12684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latin typeface="Arial" panose="020B0604020202020204" pitchFamily="34" charset="0"/>
              </a:rPr>
              <a:t>地址译码</a:t>
            </a:r>
          </a:p>
        </p:txBody>
      </p:sp>
    </p:spTree>
    <p:extLst>
      <p:ext uri="{BB962C8B-B14F-4D97-AF65-F5344CB8AC3E}">
        <p14:creationId xmlns:p14="http://schemas.microsoft.com/office/powerpoint/2010/main" val="30739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3571E-44F7-206F-01F5-5D921A52F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+mj-ea"/>
                <a:ea typeface="+mj-ea"/>
              </a:rPr>
              <a:t>地址二维译码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762283-9EAA-BDC5-1269-34840DA15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3962549" cy="5947119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高位地址译码</a:t>
            </a:r>
          </a:p>
          <a:p>
            <a:pPr lvl="1">
              <a:defRPr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选择一行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>
              <a:defRPr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低位地址译码</a:t>
            </a:r>
          </a:p>
          <a:p>
            <a:pPr lvl="1">
              <a:defRPr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从选中的行选择一列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>
              <a:defRPr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字线与位线的交点都是一个存储单元</a:t>
            </a:r>
          </a:p>
          <a:p>
            <a:pPr lvl="1">
              <a:defRPr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有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MOS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管相当于存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，无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MOS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管相当于存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143174-877C-0429-1FF5-125E32378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9CBA2B-8A1B-E9EE-E690-2988053EB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7</a:t>
            </a:fld>
            <a:r>
              <a:rPr lang="en-US" altLang="zh-CN" dirty="0"/>
              <a:t>/25</a:t>
            </a:r>
            <a:endParaRPr lang="en-US" dirty="0"/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7E391B29-AB27-8E07-CFE2-6DFC564670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180963"/>
              </p:ext>
            </p:extLst>
          </p:nvPr>
        </p:nvGraphicFramePr>
        <p:xfrm>
          <a:off x="4323136" y="1034400"/>
          <a:ext cx="5310187" cy="504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3" imgW="3641558" imgH="3946358" progId="Word.Picture.8">
                  <p:embed/>
                </p:oleObj>
              </mc:Choice>
              <mc:Fallback>
                <p:oleObj name="图片" r:id="rId3" imgW="3641558" imgH="3946358" progId="Word.Picture.8">
                  <p:embed/>
                  <p:pic>
                    <p:nvPicPr>
                      <p:cNvPr id="1536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3136" y="1034400"/>
                        <a:ext cx="5310187" cy="50498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8697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047D20-2AA0-D2AC-20AC-2E92F3D87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+mj-ea"/>
                <a:ea typeface="+mj-ea"/>
              </a:rPr>
              <a:t>示例：</a:t>
            </a:r>
            <a:r>
              <a:rPr lang="en-US" altLang="zh-CN" dirty="0">
                <a:latin typeface="+mj-ea"/>
                <a:ea typeface="+mj-ea"/>
              </a:rPr>
              <a:t>ROM</a:t>
            </a:r>
            <a:r>
              <a:rPr lang="zh-CN" altLang="en-US" dirty="0">
                <a:latin typeface="+mj-ea"/>
                <a:ea typeface="+mj-ea"/>
              </a:rPr>
              <a:t>应用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18A58B-3093-0C8D-EACC-D7F0C508A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利用</a:t>
            </a:r>
            <a:r>
              <a:rPr kumimoji="1" lang="en-US" altLang="zh-CN" dirty="0"/>
              <a:t>ROM</a:t>
            </a:r>
            <a:r>
              <a:rPr kumimoji="1" lang="zh-CN" altLang="en-US" dirty="0"/>
              <a:t>实现二进制码与格雷码相互转换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089896-E5BA-BD86-D88C-9F4A4418D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675540-E41F-0248-6BFE-D45195F0F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8</a:t>
            </a:fld>
            <a:r>
              <a:rPr lang="en-US" altLang="zh-CN" dirty="0"/>
              <a:t>/25</a:t>
            </a:r>
            <a:endParaRPr lang="en-US" dirty="0"/>
          </a:p>
        </p:txBody>
      </p:sp>
      <p:graphicFrame>
        <p:nvGraphicFramePr>
          <p:cNvPr id="6" name="Group 4">
            <a:extLst>
              <a:ext uri="{FF2B5EF4-FFF2-40B4-BE49-F238E27FC236}">
                <a16:creationId xmlns:a16="http://schemas.microsoft.com/office/drawing/2014/main" id="{BDC12AB6-4C88-4365-462C-5B9C45484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574498"/>
              </p:ext>
            </p:extLst>
          </p:nvPr>
        </p:nvGraphicFramePr>
        <p:xfrm>
          <a:off x="1066520" y="1794062"/>
          <a:ext cx="7559675" cy="3992564"/>
        </p:xfrm>
        <a:graphic>
          <a:graphicData uri="http://schemas.openxmlformats.org/drawingml/2006/table">
            <a:tbl>
              <a:tblPr/>
              <a:tblGrid>
                <a:gridCol w="111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19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43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编码顺序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二进制码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格雷码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编码顺序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二进制码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格雷码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31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33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9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9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9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9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9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Line 92">
            <a:extLst>
              <a:ext uri="{FF2B5EF4-FFF2-40B4-BE49-F238E27FC236}">
                <a16:creationId xmlns:a16="http://schemas.microsoft.com/office/drawing/2014/main" id="{AB33A8BE-01E8-573A-5742-9DFDF14320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6820" y="1794062"/>
            <a:ext cx="0" cy="4006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162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52B9B-B21B-6AF1-9EA8-1D89F1F6B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+mj-ea"/>
                <a:ea typeface="+mj-ea"/>
              </a:rPr>
              <a:t>示例：</a:t>
            </a:r>
            <a:r>
              <a:rPr lang="en-US" altLang="zh-CN" dirty="0">
                <a:latin typeface="+mj-ea"/>
                <a:ea typeface="+mj-ea"/>
              </a:rPr>
              <a:t>ROM</a:t>
            </a:r>
            <a:r>
              <a:rPr lang="zh-CN" altLang="en-US" dirty="0">
                <a:latin typeface="+mj-ea"/>
                <a:ea typeface="+mj-ea"/>
              </a:rPr>
              <a:t>应用</a:t>
            </a:r>
            <a:r>
              <a:rPr lang="en-US" altLang="zh-CN" dirty="0">
                <a:latin typeface="+mj-ea"/>
                <a:ea typeface="+mj-ea"/>
              </a:rPr>
              <a:t>(</a:t>
            </a:r>
            <a:r>
              <a:rPr lang="zh-CN" altLang="en-US" dirty="0">
                <a:latin typeface="+mj-ea"/>
                <a:ea typeface="+mj-ea"/>
              </a:rPr>
              <a:t>续</a:t>
            </a:r>
            <a:r>
              <a:rPr lang="en-US" altLang="zh-CN" dirty="0">
                <a:latin typeface="+mj-ea"/>
                <a:ea typeface="+mj-ea"/>
              </a:rPr>
              <a:t>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86A939-F408-2A64-3305-15C987B1E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ct val="20000"/>
              </a:spcAft>
              <a:buFontTx/>
              <a:buChar char="•"/>
              <a:defRPr/>
            </a:pP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 = 0</a:t>
            </a:r>
          </a:p>
          <a:p>
            <a:pPr lvl="1">
              <a:spcAft>
                <a:spcPct val="20000"/>
              </a:spcAft>
              <a:buFontTx/>
              <a:buChar char="–"/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二进制码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格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雷码</a:t>
            </a:r>
          </a:p>
          <a:p>
            <a:pPr>
              <a:spcAft>
                <a:spcPct val="20000"/>
              </a:spcAft>
              <a:buFontTx/>
              <a:buChar char="•"/>
              <a:defRPr/>
            </a:pP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 = 1</a:t>
            </a:r>
          </a:p>
          <a:p>
            <a:pPr lvl="1">
              <a:spcAft>
                <a:spcPct val="20000"/>
              </a:spcAft>
              <a:buFontTx/>
              <a:buChar char="–"/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格雷码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二进制码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F22FFA-1582-33F0-9A9C-8A2B57D86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52D3D2-FB0D-7686-9F83-C9D956299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9</a:t>
            </a:fld>
            <a:r>
              <a:rPr lang="en-US" altLang="zh-CN" dirty="0"/>
              <a:t>/25</a:t>
            </a:r>
            <a:endParaRPr lang="en-US" dirty="0"/>
          </a:p>
        </p:txBody>
      </p:sp>
      <p:graphicFrame>
        <p:nvGraphicFramePr>
          <p:cNvPr id="6" name="Object 152">
            <a:extLst>
              <a:ext uri="{FF2B5EF4-FFF2-40B4-BE49-F238E27FC236}">
                <a16:creationId xmlns:a16="http://schemas.microsoft.com/office/drawing/2014/main" id="{D018B249-4F39-42B4-BE95-6E5B52ACA3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6263" y="3679825"/>
          <a:ext cx="3286125" cy="251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2316480" imgH="1600200" progId="Word.Picture.8">
                  <p:embed/>
                </p:oleObj>
              </mc:Choice>
              <mc:Fallback>
                <p:oleObj name="图片" r:id="rId2" imgW="2316480" imgH="1600200" progId="Word.Picture.8">
                  <p:embed/>
                  <p:pic>
                    <p:nvPicPr>
                      <p:cNvPr id="18549" name="Object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3" y="3679825"/>
                        <a:ext cx="3286125" cy="2516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659E266A-A7D0-56EE-6F25-FC985EAB47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5809934"/>
              </p:ext>
            </p:extLst>
          </p:nvPr>
        </p:nvGraphicFramePr>
        <p:xfrm>
          <a:off x="4420871" y="761156"/>
          <a:ext cx="5365749" cy="5511082"/>
        </p:xfrm>
        <a:graphic>
          <a:graphicData uri="http://schemas.openxmlformats.org/drawingml/2006/table">
            <a:tbl>
              <a:tblPr/>
              <a:tblGrid>
                <a:gridCol w="511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2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56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53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7751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C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3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 I</a:t>
                      </a:r>
                      <a:r>
                        <a:rPr kumimoji="0" lang="en-US" altLang="zh-CN" sz="13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 I</a:t>
                      </a:r>
                      <a:r>
                        <a:rPr kumimoji="0" lang="en-US" altLang="zh-CN" sz="13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 I</a:t>
                      </a:r>
                      <a:r>
                        <a:rPr kumimoji="0" lang="en-US" altLang="zh-CN" sz="13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二进制码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en-US" altLang="zh-CN" sz="13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en-US" altLang="zh-CN" sz="13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en-US" altLang="zh-CN" sz="13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en-US" altLang="zh-CN" sz="13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格雷码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C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3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 I</a:t>
                      </a:r>
                      <a:r>
                        <a:rPr kumimoji="0" lang="en-US" altLang="zh-CN" sz="13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 I</a:t>
                      </a:r>
                      <a:r>
                        <a:rPr kumimoji="0" lang="en-US" altLang="zh-CN" sz="13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 I</a:t>
                      </a:r>
                      <a:r>
                        <a:rPr kumimoji="0" lang="en-US" altLang="zh-CN" sz="13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格雷码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en-US" altLang="zh-CN" sz="13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en-US" altLang="zh-CN" sz="13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en-US" altLang="zh-CN" sz="13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en-US" altLang="zh-CN" sz="13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二进制码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24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0 0 0 0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0 0 0 0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0 0 0 0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0 0 0 0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75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0 0 0 1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0 0 0 1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0 0 0 1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0 0 0 1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924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0 0 1 0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0 0 1 1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0 0 1 0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0 0 1 1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75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0 0 1 1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0 0 1 0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0 0 1 1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0 0 1 0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75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0 1 0 0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0 1 1 0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0 1 0 0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0 1 1 1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924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0 1 0 1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0 1 1 1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0 1 0 1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0 1 1 0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584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0 1 1 0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0 1 0 1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0 1 1 0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0 1 0 0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924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0 1 1 1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0 1 0 0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0 1 1 1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0 1 0 1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924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1 0 0 0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1 1 0 0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1 0 0 0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1 1 1 1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75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1 0 0 1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1 1 0 1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1 0 0 1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1 1 1 0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75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1 0 1 0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1 1 1 1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1 0 1 0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1 1 0 0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0924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1 0 1 1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1 1 1 0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1 0 1 1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1 1 0 1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75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1 1 0 0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1 0 1 0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1 1 0 0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1 0 0 0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0924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1 1 0 1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1 0 1 1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1 1 0 1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1 0 0 1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4584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1 1 1 0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1 0 0 1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1 1 1 0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1 0 1 1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1177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1 1 1 1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1 0 0 0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1 1 1 1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1 0 1 0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6875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20AA7-7BD1-BF6C-71FE-10AA334D6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cs typeface="宋体" panose="02010600030101010101" pitchFamily="2" charset="-122"/>
              </a:rPr>
              <a:t>随机存取存储器</a:t>
            </a:r>
            <a:r>
              <a:rPr lang="en-US" altLang="zh-CN" dirty="0">
                <a:cs typeface="宋体" panose="02010600030101010101" pitchFamily="2" charset="-122"/>
              </a:rPr>
              <a:t>RAM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9A9AB3-969D-4F26-93A0-1EF8BBA72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随机存取存储器（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Random Access Memory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RAM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defRPr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SRAM</a:t>
            </a:r>
          </a:p>
          <a:p>
            <a:pPr lvl="2">
              <a:defRPr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Static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RAM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静态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RAM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defRPr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DRAM</a:t>
            </a:r>
          </a:p>
          <a:p>
            <a:pPr lvl="2">
              <a:defRPr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Dynamic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RAM</a:t>
            </a:r>
          </a:p>
          <a:p>
            <a:pPr lvl="2"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动态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RAM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刷新</a:t>
            </a:r>
          </a:p>
          <a:p>
            <a:pPr lvl="2"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保证存储信息不丢失的措施</a:t>
            </a:r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4489F2-074C-0F53-5E18-F4F6C5260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66D1C3-E234-D3A2-AC99-0EFFC91E0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10</a:t>
            </a:fld>
            <a:r>
              <a:rPr lang="en-US" altLang="zh-CN" dirty="0"/>
              <a:t>/25</a:t>
            </a:r>
            <a:endParaRPr lang="en-US" dirty="0"/>
          </a:p>
        </p:txBody>
      </p:sp>
      <p:graphicFrame>
        <p:nvGraphicFramePr>
          <p:cNvPr id="6" name="Group 4">
            <a:extLst>
              <a:ext uri="{FF2B5EF4-FFF2-40B4-BE49-F238E27FC236}">
                <a16:creationId xmlns:a16="http://schemas.microsoft.com/office/drawing/2014/main" id="{E80E8158-01F4-A4A3-4068-7C073819B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04011"/>
              </p:ext>
            </p:extLst>
          </p:nvPr>
        </p:nvGraphicFramePr>
        <p:xfrm>
          <a:off x="4953000" y="2020421"/>
          <a:ext cx="4537075" cy="3870326"/>
        </p:xfrm>
        <a:graphic>
          <a:graphicData uri="http://schemas.openxmlformats.org/drawingml/2006/table">
            <a:tbl>
              <a:tblPr/>
              <a:tblGrid>
                <a:gridCol w="1541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1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SRAM</a:t>
                      </a:r>
                      <a:endParaRPr kumimoji="0" lang="en-US" altLang="zh-CN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DRAM</a:t>
                      </a:r>
                      <a:endParaRPr kumimoji="0" lang="en-US" altLang="zh-CN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刷新</a:t>
                      </a:r>
                      <a:endParaRPr kumimoji="0" lang="zh-CN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不需要</a:t>
                      </a:r>
                      <a:endParaRPr kumimoji="0" lang="zh-CN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需要</a:t>
                      </a:r>
                      <a:endParaRPr kumimoji="0" lang="zh-CN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速度</a:t>
                      </a:r>
                      <a:endParaRPr kumimoji="0" lang="zh-CN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快</a:t>
                      </a:r>
                      <a:endParaRPr kumimoji="0" lang="zh-CN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慢</a:t>
                      </a:r>
                      <a:endParaRPr kumimoji="0" lang="zh-CN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8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控制</a:t>
                      </a:r>
                      <a:endParaRPr kumimoji="0" lang="zh-CN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简单</a:t>
                      </a:r>
                      <a:endParaRPr kumimoji="0" lang="zh-CN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复杂</a:t>
                      </a:r>
                      <a:endParaRPr kumimoji="0" lang="zh-CN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10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集成度</a:t>
                      </a:r>
                      <a:endParaRPr kumimoji="0" lang="zh-CN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低</a:t>
                      </a:r>
                      <a:endParaRPr kumimoji="0" lang="zh-CN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高</a:t>
                      </a:r>
                      <a:endParaRPr kumimoji="0" lang="zh-CN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68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价格</a:t>
                      </a:r>
                      <a:endParaRPr kumimoji="0" lang="zh-CN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昂贵</a:t>
                      </a:r>
                      <a:endParaRPr kumimoji="0" lang="zh-CN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便宜</a:t>
                      </a:r>
                      <a:endParaRPr kumimoji="0" lang="zh-CN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10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功耗</a:t>
                      </a:r>
                      <a:endParaRPr kumimoji="0" lang="zh-CN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高</a:t>
                      </a:r>
                      <a:endParaRPr kumimoji="0" lang="zh-CN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低</a:t>
                      </a:r>
                      <a:endParaRPr kumimoji="0" lang="zh-CN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50">
            <a:extLst>
              <a:ext uri="{FF2B5EF4-FFF2-40B4-BE49-F238E27FC236}">
                <a16:creationId xmlns:a16="http://schemas.microsoft.com/office/drawing/2014/main" id="{CD5511CF-8750-4F91-F3B2-F47A13B60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0" y="1355259"/>
            <a:ext cx="352742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>
              <a:buFontTx/>
              <a:buNone/>
            </a:pPr>
            <a:r>
              <a:rPr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SRAM</a:t>
            </a: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DRAM</a:t>
            </a: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比较</a:t>
            </a:r>
          </a:p>
        </p:txBody>
      </p:sp>
    </p:spTree>
    <p:extLst>
      <p:ext uri="{BB962C8B-B14F-4D97-AF65-F5344CB8AC3E}">
        <p14:creationId xmlns:p14="http://schemas.microsoft.com/office/powerpoint/2010/main" val="684168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3D419C-1CE0-B43E-E564-F773BD473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+mj-ea"/>
                <a:ea typeface="+mj-ea"/>
              </a:rPr>
              <a:t>SRAM</a:t>
            </a:r>
            <a:r>
              <a:rPr lang="zh-CN" altLang="en-US" dirty="0">
                <a:latin typeface="+mj-ea"/>
                <a:ea typeface="+mj-ea"/>
              </a:rPr>
              <a:t>芯片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DB77B5-8288-F1A2-D507-9744FEB88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地址引脚数</a:t>
            </a:r>
          </a:p>
          <a:p>
            <a:pPr lvl="1">
              <a:defRPr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决定存储字数</a:t>
            </a:r>
          </a:p>
          <a:p>
            <a:pPr>
              <a:defRPr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数据引脚数</a:t>
            </a:r>
          </a:p>
          <a:p>
            <a:pPr lvl="1">
              <a:defRPr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决定存储字长</a:t>
            </a:r>
          </a:p>
          <a:p>
            <a:pPr>
              <a:defRPr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控制引脚</a:t>
            </a:r>
          </a:p>
          <a:p>
            <a:pPr lvl="1">
              <a:defRPr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WE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写允许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(Write Enable)</a:t>
            </a:r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defRPr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OE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输出允许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(Output Enable)</a:t>
            </a:r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defRPr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CS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片选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(Chip Select)</a:t>
            </a:r>
          </a:p>
          <a:p>
            <a:pPr lvl="1">
              <a:defRPr/>
            </a:pP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defRPr/>
            </a:pPr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存储容量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 2</a:t>
            </a:r>
            <a:r>
              <a:rPr lang="en-US" altLang="zh-CN" sz="20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 </a:t>
            </a:r>
            <a:r>
              <a:rPr lang="en-US" altLang="zh-CN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 n (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</a:t>
            </a:r>
            <a:r>
              <a:rPr lang="en-US" altLang="zh-CN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5EBD778-4DDD-C7C4-82A5-395FAD872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F17841-CD81-E454-CF85-4E4D25AFC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11</a:t>
            </a:fld>
            <a:r>
              <a:rPr lang="en-US" altLang="zh-CN" dirty="0"/>
              <a:t>/25</a:t>
            </a:r>
            <a:endParaRPr lang="en-US" dirty="0"/>
          </a:p>
        </p:txBody>
      </p:sp>
      <p:graphicFrame>
        <p:nvGraphicFramePr>
          <p:cNvPr id="7" name="Group 81">
            <a:extLst>
              <a:ext uri="{FF2B5EF4-FFF2-40B4-BE49-F238E27FC236}">
                <a16:creationId xmlns:a16="http://schemas.microsoft.com/office/drawing/2014/main" id="{9C9CE602-51FE-84E4-E683-8D315AC28C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1323705"/>
              </p:ext>
            </p:extLst>
          </p:nvPr>
        </p:nvGraphicFramePr>
        <p:xfrm>
          <a:off x="4650815" y="4054195"/>
          <a:ext cx="4641850" cy="1878013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7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313"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CS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WE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OE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2000" b="1" i="0" u="none" strike="noStrike" cap="none" normalizeH="0" baseline="-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~ D</a:t>
                      </a:r>
                      <a:r>
                        <a:rPr kumimoji="0" lang="en-US" altLang="zh-CN" sz="2000" b="1" i="0" u="none" strike="noStrike" cap="none" normalizeH="0" baseline="-2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n-1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操作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高阻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无操作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写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读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高阻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  <a:cs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无输出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Line 52">
            <a:extLst>
              <a:ext uri="{FF2B5EF4-FFF2-40B4-BE49-F238E27FC236}">
                <a16:creationId xmlns:a16="http://schemas.microsoft.com/office/drawing/2014/main" id="{E647A6D5-27CD-670F-54A6-2FDCA97488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2353" y="4133570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53">
            <a:extLst>
              <a:ext uri="{FF2B5EF4-FFF2-40B4-BE49-F238E27FC236}">
                <a16:creationId xmlns:a16="http://schemas.microsoft.com/office/drawing/2014/main" id="{E69F3443-51E7-957C-5FA1-BA11CADF9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9290" y="4131982"/>
            <a:ext cx="3937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54">
            <a:extLst>
              <a:ext uri="{FF2B5EF4-FFF2-40B4-BE49-F238E27FC236}">
                <a16:creationId xmlns:a16="http://schemas.microsoft.com/office/drawing/2014/main" id="{1AE86FBA-0F7A-C68F-7C79-7E27A3359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4890" y="2046007"/>
            <a:ext cx="115252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SRAM</a:t>
            </a: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芯片</a:t>
            </a:r>
          </a:p>
        </p:txBody>
      </p:sp>
      <p:sp>
        <p:nvSpPr>
          <p:cNvPr id="11" name="Rectangle 55">
            <a:extLst>
              <a:ext uri="{FF2B5EF4-FFF2-40B4-BE49-F238E27FC236}">
                <a16:creationId xmlns:a16="http://schemas.microsoft.com/office/drawing/2014/main" id="{90912093-C19D-3254-FDCD-458CBF865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3453" y="1201457"/>
            <a:ext cx="1296987" cy="24018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2" name="Line 56">
            <a:extLst>
              <a:ext uri="{FF2B5EF4-FFF2-40B4-BE49-F238E27FC236}">
                <a16:creationId xmlns:a16="http://schemas.microsoft.com/office/drawing/2014/main" id="{D1511436-97EA-8420-7EEB-ADA24397EC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7903" y="1568170"/>
            <a:ext cx="12239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57">
            <a:extLst>
              <a:ext uri="{FF2B5EF4-FFF2-40B4-BE49-F238E27FC236}">
                <a16:creationId xmlns:a16="http://schemas.microsoft.com/office/drawing/2014/main" id="{3E1143CA-BE4D-7CE9-F0B9-FE6A514CBF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8853" y="2433357"/>
            <a:ext cx="12239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58">
            <a:extLst>
              <a:ext uri="{FF2B5EF4-FFF2-40B4-BE49-F238E27FC236}">
                <a16:creationId xmlns:a16="http://schemas.microsoft.com/office/drawing/2014/main" id="{BB6F80F7-2BB5-BE63-DC46-F23E79FD1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5028" y="1095095"/>
            <a:ext cx="1346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A</a:t>
            </a:r>
            <a:r>
              <a:rPr lang="en-US" altLang="zh-CN" sz="2400" baseline="-2000">
                <a:latin typeface="Arial" panose="020B0604020202020204" pitchFamily="34" charset="0"/>
              </a:rPr>
              <a:t>0 </a:t>
            </a:r>
            <a:r>
              <a:rPr lang="en-US" altLang="zh-CN" sz="2400">
                <a:latin typeface="Arial" panose="020B0604020202020204" pitchFamily="34" charset="0"/>
              </a:rPr>
              <a:t>~A</a:t>
            </a:r>
            <a:r>
              <a:rPr lang="en-US" altLang="zh-CN" sz="2400" baseline="-2000">
                <a:latin typeface="Arial" panose="020B0604020202020204" pitchFamily="34" charset="0"/>
              </a:rPr>
              <a:t>m-1</a:t>
            </a:r>
          </a:p>
        </p:txBody>
      </p:sp>
      <p:sp>
        <p:nvSpPr>
          <p:cNvPr id="15" name="Line 59">
            <a:extLst>
              <a:ext uri="{FF2B5EF4-FFF2-40B4-BE49-F238E27FC236}">
                <a16:creationId xmlns:a16="http://schemas.microsoft.com/office/drawing/2014/main" id="{F752442F-F695-9264-82FF-A06396BDF8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1140" y="1503082"/>
            <a:ext cx="144463" cy="130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60">
            <a:extLst>
              <a:ext uri="{FF2B5EF4-FFF2-40B4-BE49-F238E27FC236}">
                <a16:creationId xmlns:a16="http://schemas.microsoft.com/office/drawing/2014/main" id="{5DE8584C-E5ED-376B-7030-E1CBAFB374FE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3678" y="2368270"/>
            <a:ext cx="144462" cy="128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61">
            <a:extLst>
              <a:ext uri="{FF2B5EF4-FFF2-40B4-BE49-F238E27FC236}">
                <a16:creationId xmlns:a16="http://schemas.microsoft.com/office/drawing/2014/main" id="{9EE9AD9F-358B-3207-31EC-2FE76873B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6678" y="1526895"/>
            <a:ext cx="455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18" name="Text Box 62">
            <a:extLst>
              <a:ext uri="{FF2B5EF4-FFF2-40B4-BE49-F238E27FC236}">
                <a16:creationId xmlns:a16="http://schemas.microsoft.com/office/drawing/2014/main" id="{8450E58B-714E-4D02-15FB-85B7A9494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0653" y="2476220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9" name="Line 63">
            <a:extLst>
              <a:ext uri="{FF2B5EF4-FFF2-40B4-BE49-F238E27FC236}">
                <a16:creationId xmlns:a16="http://schemas.microsoft.com/office/drawing/2014/main" id="{918EEDE5-CE4B-ADEC-E206-211D88A5CF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7903" y="3369982"/>
            <a:ext cx="12239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64">
            <a:extLst>
              <a:ext uri="{FF2B5EF4-FFF2-40B4-BE49-F238E27FC236}">
                <a16:creationId xmlns:a16="http://schemas.microsoft.com/office/drawing/2014/main" id="{E9BF235E-9C3F-0CD9-F472-C28424997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0953" y="3017557"/>
            <a:ext cx="538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CS</a:t>
            </a:r>
          </a:p>
        </p:txBody>
      </p:sp>
      <p:sp>
        <p:nvSpPr>
          <p:cNvPr id="21" name="Line 65">
            <a:extLst>
              <a:ext uri="{FF2B5EF4-FFF2-40B4-BE49-F238E27FC236}">
                <a16:creationId xmlns:a16="http://schemas.microsoft.com/office/drawing/2014/main" id="{773DEF13-BE84-F02E-05EC-140DDC87C6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9490" y="2326995"/>
            <a:ext cx="12239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Box 66">
            <a:extLst>
              <a:ext uri="{FF2B5EF4-FFF2-40B4-BE49-F238E27FC236}">
                <a16:creationId xmlns:a16="http://schemas.microsoft.com/office/drawing/2014/main" id="{CEDE8F1E-C7DF-895D-139E-CAFEF3EC3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440" y="1966632"/>
            <a:ext cx="59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WE</a:t>
            </a:r>
          </a:p>
        </p:txBody>
      </p:sp>
      <p:sp>
        <p:nvSpPr>
          <p:cNvPr id="23" name="Line 67">
            <a:extLst>
              <a:ext uri="{FF2B5EF4-FFF2-40B4-BE49-F238E27FC236}">
                <a16:creationId xmlns:a16="http://schemas.microsoft.com/office/drawing/2014/main" id="{E53A43A8-9B45-5D29-6D66-2F3903541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7465" y="2019020"/>
            <a:ext cx="40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68">
            <a:extLst>
              <a:ext uri="{FF2B5EF4-FFF2-40B4-BE49-F238E27FC236}">
                <a16:creationId xmlns:a16="http://schemas.microsoft.com/office/drawing/2014/main" id="{5DE84F3F-1F04-AFB5-871D-E25B180EA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3978" y="3069945"/>
            <a:ext cx="3667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Box 69">
            <a:extLst>
              <a:ext uri="{FF2B5EF4-FFF2-40B4-BE49-F238E27FC236}">
                <a16:creationId xmlns:a16="http://schemas.microsoft.com/office/drawing/2014/main" id="{A7B71D46-3A1E-DC8A-FF32-68E8F2320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5690" y="1895195"/>
            <a:ext cx="1374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D</a:t>
            </a:r>
            <a:r>
              <a:rPr lang="en-US" altLang="zh-CN" sz="2400" baseline="-2000">
                <a:latin typeface="Arial" panose="020B0604020202020204" pitchFamily="34" charset="0"/>
              </a:rPr>
              <a:t>0 </a:t>
            </a:r>
            <a:r>
              <a:rPr lang="en-US" altLang="zh-CN" sz="2400">
                <a:latin typeface="Arial" panose="020B0604020202020204" pitchFamily="34" charset="0"/>
              </a:rPr>
              <a:t>~ D</a:t>
            </a:r>
            <a:r>
              <a:rPr lang="en-US" altLang="zh-CN" sz="2400" baseline="-2000">
                <a:latin typeface="Arial" panose="020B0604020202020204" pitchFamily="34" charset="0"/>
              </a:rPr>
              <a:t>n-1</a:t>
            </a:r>
          </a:p>
        </p:txBody>
      </p:sp>
      <p:sp>
        <p:nvSpPr>
          <p:cNvPr id="26" name="Line 70">
            <a:extLst>
              <a:ext uri="{FF2B5EF4-FFF2-40B4-BE49-F238E27FC236}">
                <a16:creationId xmlns:a16="http://schemas.microsoft.com/office/drawing/2014/main" id="{9757FDBC-865F-B117-4078-FF1C852564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8853" y="2838170"/>
            <a:ext cx="12239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71">
            <a:extLst>
              <a:ext uri="{FF2B5EF4-FFF2-40B4-BE49-F238E27FC236}">
                <a16:creationId xmlns:a16="http://schemas.microsoft.com/office/drawing/2014/main" id="{A766FCC7-8DD7-EE26-B68C-D42D245E4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1428" y="2487332"/>
            <a:ext cx="550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OE</a:t>
            </a:r>
          </a:p>
        </p:txBody>
      </p:sp>
      <p:sp>
        <p:nvSpPr>
          <p:cNvPr id="28" name="Line 72">
            <a:extLst>
              <a:ext uri="{FF2B5EF4-FFF2-40B4-BE49-F238E27FC236}">
                <a16:creationId xmlns:a16="http://schemas.microsoft.com/office/drawing/2014/main" id="{5688B6CE-8056-D22E-B3DD-4D1702ACAC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3503" y="2547657"/>
            <a:ext cx="3571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Oval 73">
            <a:extLst>
              <a:ext uri="{FF2B5EF4-FFF2-40B4-BE49-F238E27FC236}">
                <a16:creationId xmlns:a16="http://schemas.microsoft.com/office/drawing/2014/main" id="{0D0F15DF-D708-FC72-07A7-6F2414E58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028" y="3316007"/>
            <a:ext cx="101600" cy="9683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0" name="Oval 74">
            <a:extLst>
              <a:ext uri="{FF2B5EF4-FFF2-40B4-BE49-F238E27FC236}">
                <a16:creationId xmlns:a16="http://schemas.microsoft.com/office/drawing/2014/main" id="{615C0CD4-14C9-8263-4AE2-28BCA8B3A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5503" y="2781020"/>
            <a:ext cx="101600" cy="9683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1" name="Oval 75">
            <a:extLst>
              <a:ext uri="{FF2B5EF4-FFF2-40B4-BE49-F238E27FC236}">
                <a16:creationId xmlns:a16="http://schemas.microsoft.com/office/drawing/2014/main" id="{3D8B2F58-C109-2824-8C78-65643D433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5503" y="2274607"/>
            <a:ext cx="101600" cy="9683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2" name="Line 76">
            <a:extLst>
              <a:ext uri="{FF2B5EF4-FFF2-40B4-BE49-F238E27FC236}">
                <a16:creationId xmlns:a16="http://schemas.microsoft.com/office/drawing/2014/main" id="{B67C33AF-48FC-4F51-B451-7BEEEB1444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5278" y="4131982"/>
            <a:ext cx="3635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Box 77">
            <a:extLst>
              <a:ext uri="{FF2B5EF4-FFF2-40B4-BE49-F238E27FC236}">
                <a16:creationId xmlns:a16="http://schemas.microsoft.com/office/drawing/2014/main" id="{B96BB7E6-CA8E-A0CE-841C-DD7232270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390" y="3682720"/>
            <a:ext cx="950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latin typeface="Arial" panose="020B0604020202020204" pitchFamily="34" charset="0"/>
              </a:rPr>
              <a:t>功能表</a:t>
            </a:r>
          </a:p>
        </p:txBody>
      </p: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A0D19E4E-8972-E182-BBCF-661707E3D92F}"/>
              </a:ext>
            </a:extLst>
          </p:cNvPr>
          <p:cNvCxnSpPr/>
          <p:nvPr/>
        </p:nvCxnSpPr>
        <p:spPr>
          <a:xfrm>
            <a:off x="820271" y="2668681"/>
            <a:ext cx="443753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8FE98E16-4C72-4F8D-5466-A9AD9E1E8504}"/>
              </a:ext>
            </a:extLst>
          </p:cNvPr>
          <p:cNvCxnSpPr/>
          <p:nvPr/>
        </p:nvCxnSpPr>
        <p:spPr>
          <a:xfrm>
            <a:off x="851648" y="3009339"/>
            <a:ext cx="443753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2670F2CF-C875-D565-2E8A-609660D11BA1}"/>
              </a:ext>
            </a:extLst>
          </p:cNvPr>
          <p:cNvCxnSpPr/>
          <p:nvPr/>
        </p:nvCxnSpPr>
        <p:spPr>
          <a:xfrm>
            <a:off x="838201" y="3372408"/>
            <a:ext cx="443753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616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9C79A4-F331-05F5-5361-138D07185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/CS: </a:t>
            </a:r>
            <a:r>
              <a:rPr lang="zh-CN" altLang="en-US" dirty="0"/>
              <a:t>片选</a:t>
            </a:r>
            <a:r>
              <a:rPr lang="en-US" altLang="zh-CN" dirty="0"/>
              <a:t>(Chip Select)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FFC133-F209-68A5-DD09-2AD4FF4D2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ABA784-8EF4-B6EE-731D-8BFF36684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12</a:t>
            </a:fld>
            <a:r>
              <a:rPr lang="en-US" altLang="zh-CN" dirty="0"/>
              <a:t>/25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D7C1B77-7B7B-4DE5-A3F1-E1A417EA2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54" y="1167419"/>
            <a:ext cx="6264696" cy="4698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1DA38A6-20B8-3245-CF3B-98587578079D}"/>
              </a:ext>
            </a:extLst>
          </p:cNvPr>
          <p:cNvSpPr txBox="1"/>
          <p:nvPr/>
        </p:nvSpPr>
        <p:spPr>
          <a:xfrm>
            <a:off x="4634259" y="4855413"/>
            <a:ext cx="4288353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用于多芯片扩展，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未选中时输出为高阻，避免总线冲突</a:t>
            </a:r>
          </a:p>
        </p:txBody>
      </p:sp>
    </p:spTree>
    <p:extLst>
      <p:ext uri="{BB962C8B-B14F-4D97-AF65-F5344CB8AC3E}">
        <p14:creationId xmlns:p14="http://schemas.microsoft.com/office/powerpoint/2010/main" val="1225319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C0479-4FC6-EB25-502F-E5DEC33D7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+mj-ea"/>
                <a:ea typeface="+mj-ea"/>
                <a:cs typeface="宋体" panose="02010600030101010101" pitchFamily="2" charset="-122"/>
              </a:rPr>
              <a:t>示例：</a:t>
            </a:r>
            <a:r>
              <a:rPr lang="en-US" altLang="zh-CN" dirty="0">
                <a:latin typeface="+mj-ea"/>
                <a:ea typeface="+mj-ea"/>
                <a:cs typeface="宋体" panose="02010600030101010101" pitchFamily="2" charset="-122"/>
              </a:rPr>
              <a:t>SRAM</a:t>
            </a:r>
            <a:r>
              <a:rPr lang="zh-CN" altLang="en-US" dirty="0">
                <a:latin typeface="+mj-ea"/>
                <a:ea typeface="+mj-ea"/>
                <a:cs typeface="宋体" panose="02010600030101010101" pitchFamily="2" charset="-122"/>
              </a:rPr>
              <a:t>芯片</a:t>
            </a:r>
            <a:r>
              <a:rPr lang="en-US" altLang="zh-CN" dirty="0">
                <a:latin typeface="+mj-ea"/>
                <a:ea typeface="+mj-ea"/>
                <a:cs typeface="宋体" panose="02010600030101010101" pitchFamily="2" charset="-122"/>
              </a:rPr>
              <a:t>2114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8561C-D09F-0304-17F0-2E3B134C1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zh-CN" altLang="en-US" sz="2800" dirty="0"/>
              <a:t>     </a:t>
            </a:r>
            <a:endParaRPr lang="en-US" altLang="zh-CN" sz="2800" dirty="0"/>
          </a:p>
          <a:p>
            <a:pPr>
              <a:buFontTx/>
              <a:buNone/>
              <a:defRPr/>
            </a:pPr>
            <a:r>
              <a:rPr lang="zh-CN" altLang="en-US" dirty="0"/>
              <a:t>       </a:t>
            </a:r>
            <a:r>
              <a:rPr lang="zh-CN" altLang="en-US" sz="2800" dirty="0"/>
              <a:t>容量 </a:t>
            </a:r>
            <a:r>
              <a:rPr lang="en-US" altLang="zh-CN" sz="2800" dirty="0"/>
              <a:t>= 1K x 4 = 4Kb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1BB0DF-D798-7B47-F20C-C4AAB39FF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ABFC1C-E8B1-E8BD-1B98-5B5F3E755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13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5F03975D-19C7-F0C9-A760-3E104DF54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968" y="2506332"/>
            <a:ext cx="1028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A</a:t>
            </a:r>
            <a:r>
              <a:rPr lang="en-US" altLang="zh-CN" sz="2400" baseline="-2000">
                <a:latin typeface="Arial" panose="020B0604020202020204" pitchFamily="34" charset="0"/>
              </a:rPr>
              <a:t>0</a:t>
            </a:r>
            <a:r>
              <a:rPr lang="en-US" altLang="zh-CN" sz="2400">
                <a:latin typeface="Arial" panose="020B0604020202020204" pitchFamily="34" charset="0"/>
              </a:rPr>
              <a:t>~A</a:t>
            </a:r>
            <a:r>
              <a:rPr lang="en-US" altLang="zh-CN" sz="2400" baseline="-2000">
                <a:latin typeface="Arial" panose="020B0604020202020204" pitchFamily="34" charset="0"/>
              </a:rPr>
              <a:t>9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C19AA3A0-A08B-A961-1D69-96209CA23663}"/>
              </a:ext>
            </a:extLst>
          </p:cNvPr>
          <p:cNvGrpSpPr>
            <a:grpSpLocks/>
          </p:cNvGrpSpPr>
          <p:nvPr/>
        </p:nvGrpSpPr>
        <p:grpSpPr bwMode="auto">
          <a:xfrm>
            <a:off x="5782945" y="2433306"/>
            <a:ext cx="3384550" cy="3559175"/>
            <a:chOff x="3016" y="1797"/>
            <a:chExt cx="2132" cy="2242"/>
          </a:xfrm>
        </p:grpSpPr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37AA1108-20FA-B8F0-630E-6078C3C419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6" y="1797"/>
              <a:ext cx="2132" cy="19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F93E9F32-BD9F-7522-1B13-AD7803903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3748"/>
              <a:ext cx="167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40000"/>
                </a:spcBef>
                <a:defRPr/>
              </a:pPr>
              <a:r>
                <a: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Intel 2114 </a:t>
              </a:r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引脚图</a:t>
              </a:r>
            </a:p>
          </p:txBody>
        </p:sp>
      </p:grpSp>
      <p:sp>
        <p:nvSpPr>
          <p:cNvPr id="10" name="Text Box 9">
            <a:extLst>
              <a:ext uri="{FF2B5EF4-FFF2-40B4-BE49-F238E27FC236}">
                <a16:creationId xmlns:a16="http://schemas.microsoft.com/office/drawing/2014/main" id="{CD6556DD-68BF-E055-783F-5D8A9F530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6493" y="3441369"/>
            <a:ext cx="10080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Intel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2114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1B3FDF-A3B5-77C7-5F21-E26352BC4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493" y="2576182"/>
            <a:ext cx="1008063" cy="28098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BE91D1A9-8CFA-662C-B7DF-F878C7FB28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2531" y="3009569"/>
            <a:ext cx="12239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E0496448-59DE-9555-93A4-1B04B4337A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4556" y="3944607"/>
            <a:ext cx="12239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EE9A939C-AF90-EF96-0681-1C8029E46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4556" y="3368344"/>
            <a:ext cx="139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I/O</a:t>
            </a:r>
            <a:r>
              <a:rPr lang="en-US" altLang="zh-CN" sz="2400" baseline="-2000">
                <a:latin typeface="Arial" panose="020B0604020202020204" pitchFamily="34" charset="0"/>
              </a:rPr>
              <a:t>1</a:t>
            </a:r>
            <a:r>
              <a:rPr lang="en-US" altLang="zh-CN" sz="2400">
                <a:latin typeface="Arial" panose="020B0604020202020204" pitchFamily="34" charset="0"/>
              </a:rPr>
              <a:t>~I/O</a:t>
            </a:r>
            <a:r>
              <a:rPr lang="en-US" altLang="zh-CN" sz="2400" baseline="-20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55589D58-61C5-A50B-F9CE-5496C1E09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5768" y="2936544"/>
            <a:ext cx="144463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FA235083-3A39-9B66-E899-3FDE671E95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7793" y="3873169"/>
            <a:ext cx="144463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B838A988-E72D-D604-C7D6-BFF1B0E36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1306" y="3009569"/>
            <a:ext cx="46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4DA89C28-F93B-79CC-5E9B-58300DF11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3331" y="3944607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96409A8A-B004-59EF-FDEB-D3DCE6AFFE6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2531" y="4952669"/>
            <a:ext cx="12239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FCCBC386-8AEA-B34E-CD3D-A767DC1C0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431" y="4592307"/>
            <a:ext cx="538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CS</a:t>
            </a:r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55E2FAC2-760A-9614-86C2-55EA9CEE4A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2531" y="4303382"/>
            <a:ext cx="12239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1C914724-7BD1-729C-65D0-5FFDA2004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431" y="3944607"/>
            <a:ext cx="59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WE</a:t>
            </a:r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A4480110-0527-AF40-2A4C-1949742877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9868" y="3981119"/>
            <a:ext cx="469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0DAA0C84-9251-3874-295D-348E75BB52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9868" y="4628819"/>
            <a:ext cx="360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Box 25">
            <a:extLst>
              <a:ext uri="{FF2B5EF4-FFF2-40B4-BE49-F238E27FC236}">
                <a16:creationId xmlns:a16="http://schemas.microsoft.com/office/drawing/2014/main" id="{AF9708B1-1387-A5B4-4D51-6A74A69D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2893" y="5530519"/>
            <a:ext cx="26635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40000"/>
              </a:spcBef>
              <a:defRPr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Intel 2114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逻辑图</a:t>
            </a:r>
          </a:p>
        </p:txBody>
      </p:sp>
      <p:sp>
        <p:nvSpPr>
          <p:cNvPr id="26" name="Oval 30">
            <a:extLst>
              <a:ext uri="{FF2B5EF4-FFF2-40B4-BE49-F238E27FC236}">
                <a16:creationId xmlns:a16="http://schemas.microsoft.com/office/drawing/2014/main" id="{D7FA46AA-0B63-B20B-8CEE-F478C60AE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543" y="4233532"/>
            <a:ext cx="101600" cy="9683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7" name="Oval 31">
            <a:extLst>
              <a:ext uri="{FF2B5EF4-FFF2-40B4-BE49-F238E27FC236}">
                <a16:creationId xmlns:a16="http://schemas.microsoft.com/office/drawing/2014/main" id="{9E86EA58-D04B-42C6-FB63-2960C5E0D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543" y="4892344"/>
            <a:ext cx="101600" cy="9683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847B580-E6B3-6F39-1BD9-278A5146CD8E}"/>
              </a:ext>
            </a:extLst>
          </p:cNvPr>
          <p:cNvSpPr txBox="1"/>
          <p:nvPr/>
        </p:nvSpPr>
        <p:spPr>
          <a:xfrm>
            <a:off x="6191389" y="637180"/>
            <a:ext cx="2939360" cy="12557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地址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A</a:t>
            </a:r>
            <a:r>
              <a:rPr lang="en-US" altLang="zh-CN" sz="1800" baseline="-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～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en-US" altLang="zh-CN" sz="1800" baseline="-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</a:p>
          <a:p>
            <a:pPr>
              <a:defRPr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I/O</a:t>
            </a:r>
            <a:r>
              <a:rPr lang="en-US" altLang="zh-CN" sz="1800" baseline="-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～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I/O</a:t>
            </a:r>
            <a:r>
              <a:rPr lang="en-US" altLang="zh-CN" sz="1800" baseline="-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</a:p>
          <a:p>
            <a:pPr>
              <a:spcAft>
                <a:spcPct val="20000"/>
              </a:spcAft>
              <a:defRPr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控制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片选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CS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和写允许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WE</a:t>
            </a:r>
          </a:p>
          <a:p>
            <a:pPr>
              <a:spcAft>
                <a:spcPct val="20000"/>
              </a:spcAft>
              <a:defRPr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电源和地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Vcc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GND</a:t>
            </a:r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8C835F4E-80EE-F122-D72F-10DA23B711DE}"/>
              </a:ext>
            </a:extLst>
          </p:cNvPr>
          <p:cNvCxnSpPr>
            <a:cxnSpLocks/>
          </p:cNvCxnSpPr>
          <p:nvPr/>
        </p:nvCxnSpPr>
        <p:spPr>
          <a:xfrm>
            <a:off x="7358063" y="1225643"/>
            <a:ext cx="2286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61EE9FBC-065C-33D4-6732-8BB286704F09}"/>
              </a:ext>
            </a:extLst>
          </p:cNvPr>
          <p:cNvCxnSpPr>
            <a:cxnSpLocks/>
          </p:cNvCxnSpPr>
          <p:nvPr/>
        </p:nvCxnSpPr>
        <p:spPr>
          <a:xfrm>
            <a:off x="8521147" y="1232270"/>
            <a:ext cx="33109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331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BC05AB-5C1F-E17E-CB70-DDBE9906E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+mj-ea"/>
                <a:ea typeface="+mj-ea"/>
              </a:rPr>
              <a:t>SRAM</a:t>
            </a:r>
            <a:r>
              <a:rPr lang="zh-CN" altLang="en-US" dirty="0">
                <a:latin typeface="+mj-ea"/>
                <a:ea typeface="+mj-ea"/>
              </a:rPr>
              <a:t>芯片内部结构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DBF512-B10A-9D37-6D1A-3E33FC86C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存储阵列</a:t>
            </a:r>
          </a:p>
          <a:p>
            <a:pPr>
              <a:defRPr/>
            </a:pPr>
            <a:r>
              <a:rPr lang="zh-CN" altLang="en-US" dirty="0"/>
              <a:t>地址译码</a:t>
            </a:r>
          </a:p>
          <a:p>
            <a:pPr>
              <a:defRPr/>
            </a:pP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输出控制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AD7976-BEED-0F70-8D6E-9E8889A32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9BCC25-FCC1-B204-A5D5-4A52AEE9F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14</a:t>
            </a:fld>
            <a:r>
              <a:rPr lang="en-US" altLang="zh-CN" dirty="0"/>
              <a:t>/25</a:t>
            </a:r>
            <a:endParaRPr lang="en-US" dirty="0"/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62473051-0128-FB19-0D3D-416071D99C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999827"/>
              </p:ext>
            </p:extLst>
          </p:nvPr>
        </p:nvGraphicFramePr>
        <p:xfrm>
          <a:off x="4218781" y="902494"/>
          <a:ext cx="4605338" cy="505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3101042" imgH="3431474" progId="Word.Picture.8">
                  <p:embed/>
                </p:oleObj>
              </mc:Choice>
              <mc:Fallback>
                <p:oleObj name="图片" r:id="rId2" imgW="3101042" imgH="3431474" progId="Word.Picture.8">
                  <p:embed/>
                  <p:pic>
                    <p:nvPicPr>
                      <p:cNvPr id="2458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8781" y="902494"/>
                        <a:ext cx="4605338" cy="5053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>
            <a:extLst>
              <a:ext uri="{FF2B5EF4-FFF2-40B4-BE49-F238E27FC236}">
                <a16:creationId xmlns:a16="http://schemas.microsoft.com/office/drawing/2014/main" id="{72CC436D-AA0F-E393-1B31-570945538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8419" y="2016919"/>
            <a:ext cx="2197100" cy="1477962"/>
          </a:xfrm>
          <a:prstGeom prst="rect">
            <a:avLst/>
          </a:prstGeom>
          <a:noFill/>
          <a:ln w="28575">
            <a:solidFill>
              <a:srgbClr val="0099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7BE1102-55EF-C3AA-B076-9C75481FF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9169" y="3710781"/>
            <a:ext cx="4138612" cy="1908175"/>
          </a:xfrm>
          <a:prstGeom prst="rect">
            <a:avLst/>
          </a:prstGeom>
          <a:noFill/>
          <a:ln w="19050">
            <a:solidFill>
              <a:srgbClr val="FF33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9" name="Group 7">
            <a:extLst>
              <a:ext uri="{FF2B5EF4-FFF2-40B4-BE49-F238E27FC236}">
                <a16:creationId xmlns:a16="http://schemas.microsoft.com/office/drawing/2014/main" id="{C7907EEF-5DAE-3210-A893-003B02A128E4}"/>
              </a:ext>
            </a:extLst>
          </p:cNvPr>
          <p:cNvGrpSpPr>
            <a:grpSpLocks/>
          </p:cNvGrpSpPr>
          <p:nvPr/>
        </p:nvGrpSpPr>
        <p:grpSpPr bwMode="auto">
          <a:xfrm>
            <a:off x="5137944" y="1153319"/>
            <a:ext cx="3349625" cy="2449512"/>
            <a:chOff x="3178" y="1207"/>
            <a:chExt cx="1906" cy="1357"/>
          </a:xfrm>
        </p:grpSpPr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D98DAF6D-226E-82B0-78CA-2FD2EA2DD2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1209"/>
              <a:ext cx="190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ED0E8748-B1D2-423D-2009-B8AD1130D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9" y="1607"/>
              <a:ext cx="1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1EA36AF7-92B7-024A-C6D3-04D4BE95D5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1250"/>
              <a:ext cx="0" cy="131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4E936773-204E-AD54-C073-0D224BA099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9" y="2553"/>
              <a:ext cx="55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5DBB3731-5ADE-EF32-1989-699C957F67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7" y="1613"/>
              <a:ext cx="0" cy="92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AB52B45C-B3C8-1FEF-2290-BE955A32C8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0" y="1207"/>
              <a:ext cx="0" cy="40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5177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5BE90-B8F6-167E-10DA-699A136C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+mj-ea"/>
                <a:ea typeface="+mj-ea"/>
              </a:rPr>
              <a:t>SRAM</a:t>
            </a:r>
            <a:r>
              <a:rPr lang="zh-CN" altLang="en-US" dirty="0">
                <a:latin typeface="+mj-ea"/>
                <a:ea typeface="+mj-ea"/>
              </a:rPr>
              <a:t>存储单元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E2D65A-2C9A-07C7-5ADF-FFBE5D119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楷体_GB2312" pitchFamily="49" charset="-122"/>
                <a:cs typeface="宋体" panose="02010600030101010101" pitchFamily="2" charset="-122"/>
              </a:rPr>
              <a:t>X</a:t>
            </a:r>
            <a:r>
              <a:rPr lang="en-US" altLang="zh-CN" baseline="-25000" dirty="0">
                <a:ea typeface="楷体_GB2312" pitchFamily="49" charset="-122"/>
                <a:cs typeface="宋体" panose="02010600030101010101" pitchFamily="2" charset="-122"/>
              </a:rPr>
              <a:t>i </a:t>
            </a:r>
            <a:r>
              <a:rPr lang="en-US" altLang="zh-CN" dirty="0">
                <a:ea typeface="楷体_GB2312" pitchFamily="49" charset="-122"/>
                <a:cs typeface="宋体" panose="02010600030101010101" pitchFamily="2" charset="-122"/>
              </a:rPr>
              <a:t>=1</a:t>
            </a:r>
          </a:p>
          <a:p>
            <a:pPr lvl="1"/>
            <a:r>
              <a:rPr lang="en-US" altLang="zh-CN" dirty="0">
                <a:cs typeface="宋体" panose="02010600030101010101" pitchFamily="2" charset="-122"/>
              </a:rPr>
              <a:t>T5</a:t>
            </a:r>
            <a:r>
              <a:rPr lang="zh-CN" altLang="en-US" dirty="0">
                <a:cs typeface="宋体" panose="02010600030101010101" pitchFamily="2" charset="-122"/>
              </a:rPr>
              <a:t>、</a:t>
            </a:r>
            <a:r>
              <a:rPr lang="en-US" altLang="zh-CN" dirty="0">
                <a:cs typeface="宋体" panose="02010600030101010101" pitchFamily="2" charset="-122"/>
              </a:rPr>
              <a:t>T6</a:t>
            </a:r>
            <a:r>
              <a:rPr lang="zh-CN" altLang="en-US" dirty="0">
                <a:cs typeface="宋体" panose="02010600030101010101" pitchFamily="2" charset="-122"/>
              </a:rPr>
              <a:t>导通</a:t>
            </a:r>
          </a:p>
          <a:p>
            <a:pPr lvl="1"/>
            <a:r>
              <a:rPr lang="zh-CN" altLang="en-US" dirty="0">
                <a:cs typeface="宋体" panose="02010600030101010101" pitchFamily="2" charset="-122"/>
              </a:rPr>
              <a:t>存储单元与位线接通</a:t>
            </a:r>
          </a:p>
          <a:p>
            <a:r>
              <a:rPr lang="en-US" altLang="zh-CN" dirty="0" err="1">
                <a:ea typeface="楷体_GB2312" pitchFamily="49" charset="-122"/>
                <a:cs typeface="宋体" panose="02010600030101010101" pitchFamily="2" charset="-122"/>
              </a:rPr>
              <a:t>Y</a:t>
            </a:r>
            <a:r>
              <a:rPr lang="en-US" altLang="zh-CN" baseline="-25000" dirty="0" err="1">
                <a:ea typeface="楷体_GB2312" pitchFamily="49" charset="-122"/>
                <a:cs typeface="宋体" panose="02010600030101010101" pitchFamily="2" charset="-122"/>
              </a:rPr>
              <a:t>j</a:t>
            </a:r>
            <a:r>
              <a:rPr lang="en-US" altLang="zh-CN" dirty="0">
                <a:ea typeface="楷体_GB2312" pitchFamily="49" charset="-122"/>
                <a:cs typeface="宋体" panose="02010600030101010101" pitchFamily="2" charset="-122"/>
              </a:rPr>
              <a:t> =1</a:t>
            </a:r>
          </a:p>
          <a:p>
            <a:pPr lvl="1"/>
            <a:r>
              <a:rPr lang="en-US" altLang="zh-CN" dirty="0">
                <a:cs typeface="宋体" panose="02010600030101010101" pitchFamily="2" charset="-122"/>
              </a:rPr>
              <a:t>T7 </a:t>
            </a:r>
            <a:r>
              <a:rPr lang="zh-CN" altLang="en-US" dirty="0">
                <a:cs typeface="宋体" panose="02010600030101010101" pitchFamily="2" charset="-122"/>
              </a:rPr>
              <a:t>、</a:t>
            </a:r>
            <a:r>
              <a:rPr lang="en-US" altLang="zh-CN" dirty="0">
                <a:cs typeface="宋体" panose="02010600030101010101" pitchFamily="2" charset="-122"/>
              </a:rPr>
              <a:t>T8</a:t>
            </a:r>
            <a:r>
              <a:rPr lang="zh-CN" altLang="en-US" dirty="0">
                <a:cs typeface="宋体" panose="02010600030101010101" pitchFamily="2" charset="-122"/>
              </a:rPr>
              <a:t>导通</a:t>
            </a:r>
          </a:p>
          <a:p>
            <a:pPr lvl="1"/>
            <a:r>
              <a:rPr lang="zh-CN" altLang="en-US" dirty="0">
                <a:cs typeface="宋体" panose="02010600030101010101" pitchFamily="2" charset="-122"/>
              </a:rPr>
              <a:t>存储单元与数据线接通</a:t>
            </a:r>
          </a:p>
          <a:p>
            <a:pPr lvl="1"/>
            <a:r>
              <a:rPr lang="zh-CN" altLang="en-US" dirty="0">
                <a:cs typeface="宋体" panose="02010600030101010101" pitchFamily="2" charset="-122"/>
              </a:rPr>
              <a:t>通过数据线读取该单元数据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D95C0A2-6CB6-FD90-2367-6BB478C4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219D06-9E3F-8757-0ED3-AC7084894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15</a:t>
            </a:fld>
            <a:r>
              <a:rPr lang="en-US" altLang="zh-CN" dirty="0"/>
              <a:t>/25</a:t>
            </a:r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BC3B40D-74E5-7228-D11F-BE7CE74D5E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054298"/>
              </p:ext>
            </p:extLst>
          </p:nvPr>
        </p:nvGraphicFramePr>
        <p:xfrm>
          <a:off x="4351959" y="1401113"/>
          <a:ext cx="5267325" cy="431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3" imgW="3777134" imgH="2621382" progId="Word.Picture.8">
                  <p:embed/>
                </p:oleObj>
              </mc:Choice>
              <mc:Fallback>
                <p:oleObj name="图片" r:id="rId3" imgW="3777134" imgH="2621382" progId="Word.Picture.8">
                  <p:embed/>
                  <p:pic>
                    <p:nvPicPr>
                      <p:cNvPr id="2560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959" y="1401113"/>
                        <a:ext cx="5267325" cy="431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2219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7FA3A9-E72D-2564-84A3-5C8D53E41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ea typeface="楷体_GB2312" pitchFamily="49" charset="-122"/>
                <a:cs typeface="宋体" panose="02010600030101010101" pitchFamily="2" charset="-122"/>
              </a:rPr>
              <a:t>SRAM</a:t>
            </a:r>
            <a:r>
              <a:rPr lang="zh-CN" altLang="en-US" dirty="0">
                <a:ea typeface="楷体_GB2312" pitchFamily="49" charset="-122"/>
                <a:cs typeface="宋体" panose="02010600030101010101" pitchFamily="2" charset="-122"/>
              </a:rPr>
              <a:t>读操作时序图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3AE6F3-6818-C87B-9CAB-0BF96F85D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A244A4-B9DC-CA61-0E71-6D0A00C13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16</a:t>
            </a:fld>
            <a:r>
              <a:rPr lang="en-US" altLang="zh-CN" dirty="0"/>
              <a:t>/25</a:t>
            </a:r>
            <a:endParaRPr lang="en-US" dirty="0"/>
          </a:p>
        </p:txBody>
      </p:sp>
      <p:graphicFrame>
        <p:nvGraphicFramePr>
          <p:cNvPr id="6" name="Object 17">
            <a:extLst>
              <a:ext uri="{FF2B5EF4-FFF2-40B4-BE49-F238E27FC236}">
                <a16:creationId xmlns:a16="http://schemas.microsoft.com/office/drawing/2014/main" id="{1775C1C9-1D27-7551-54DC-BF904FFF65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8063" y="1268413"/>
          <a:ext cx="7019925" cy="205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3877056" imgH="1133856" progId="Word.Picture.8">
                  <p:embed/>
                </p:oleObj>
              </mc:Choice>
              <mc:Fallback>
                <p:oleObj name="图片" r:id="rId2" imgW="3877056" imgH="1133856" progId="Word.Picture.8">
                  <p:embed/>
                  <p:pic>
                    <p:nvPicPr>
                      <p:cNvPr id="2765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1268413"/>
                        <a:ext cx="7019925" cy="20526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8">
            <a:extLst>
              <a:ext uri="{FF2B5EF4-FFF2-40B4-BE49-F238E27FC236}">
                <a16:creationId xmlns:a16="http://schemas.microsoft.com/office/drawing/2014/main" id="{73C90FD1-2294-E5A8-F6C0-6D78DB25DE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1388" y="3763963"/>
          <a:ext cx="7231062" cy="218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4" imgW="3991356" imgH="1219200" progId="Word.Picture.8">
                  <p:embed/>
                </p:oleObj>
              </mc:Choice>
              <mc:Fallback>
                <p:oleObj name="图片" r:id="rId4" imgW="3991356" imgH="1219200" progId="Word.Picture.8">
                  <p:embed/>
                  <p:pic>
                    <p:nvPicPr>
                      <p:cNvPr id="2765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388" y="3763963"/>
                        <a:ext cx="7231062" cy="21859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0">
            <a:extLst>
              <a:ext uri="{FF2B5EF4-FFF2-40B4-BE49-F238E27FC236}">
                <a16:creationId xmlns:a16="http://schemas.microsoft.com/office/drawing/2014/main" id="{09B29A0F-D15A-AEA9-59BC-1F853C8C0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3328988"/>
            <a:ext cx="37798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270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（</a:t>
            </a:r>
            <a:r>
              <a:rPr lang="en-US" altLang="zh-CN" sz="2000">
                <a:cs typeface="Times New Roman" panose="02020603050405020304" pitchFamily="18" charset="0"/>
              </a:rPr>
              <a:t>a</a:t>
            </a:r>
            <a:r>
              <a:rPr lang="zh-CN" altLang="en-US" sz="2000">
                <a:ea typeface="宋体" panose="02010600030101010101" pitchFamily="2" charset="-122"/>
              </a:rPr>
              <a:t>）地址控制的读操作</a:t>
            </a:r>
          </a:p>
        </p:txBody>
      </p:sp>
      <p:sp>
        <p:nvSpPr>
          <p:cNvPr id="9" name="Rectangle 21">
            <a:extLst>
              <a:ext uri="{FF2B5EF4-FFF2-40B4-BE49-F238E27FC236}">
                <a16:creationId xmlns:a16="http://schemas.microsoft.com/office/drawing/2014/main" id="{942ECF1F-F1FA-B96E-C714-E996459F9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8288" y="5988050"/>
            <a:ext cx="29670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（</a:t>
            </a:r>
            <a:r>
              <a:rPr lang="en-US" altLang="zh-CN" sz="2000">
                <a:cs typeface="Times New Roman" panose="02020603050405020304" pitchFamily="18" charset="0"/>
              </a:rPr>
              <a:t>b</a:t>
            </a:r>
            <a:r>
              <a:rPr lang="zh-CN" altLang="en-US" sz="2000">
                <a:ea typeface="宋体" panose="02010600030101010101" pitchFamily="2" charset="-122"/>
              </a:rPr>
              <a:t>）片选控制的读操作</a:t>
            </a:r>
            <a:r>
              <a:rPr lang="zh-CN" altLang="en-US" sz="200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2491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0FCC8-E694-BA15-8B40-7D4936AD9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ea typeface="楷体_GB2312" pitchFamily="49" charset="-122"/>
                <a:cs typeface="宋体" panose="02010600030101010101" pitchFamily="2" charset="-122"/>
              </a:rPr>
              <a:t>SRAM</a:t>
            </a:r>
            <a:r>
              <a:rPr lang="zh-CN" altLang="en-US" dirty="0">
                <a:ea typeface="楷体_GB2312" pitchFamily="49" charset="-122"/>
                <a:cs typeface="宋体" panose="02010600030101010101" pitchFamily="2" charset="-122"/>
              </a:rPr>
              <a:t>写操作时序图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C6285D-2930-FFA0-57FE-783186FB2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217331-AF08-42D9-B4AD-B4F26999E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17</a:t>
            </a:fld>
            <a:r>
              <a:rPr lang="en-US" altLang="zh-CN" dirty="0"/>
              <a:t>/25</a:t>
            </a:r>
            <a:endParaRPr lang="en-US" dirty="0"/>
          </a:p>
        </p:txBody>
      </p:sp>
      <p:graphicFrame>
        <p:nvGraphicFramePr>
          <p:cNvPr id="6" name="对象 6">
            <a:extLst>
              <a:ext uri="{FF2B5EF4-FFF2-40B4-BE49-F238E27FC236}">
                <a16:creationId xmlns:a16="http://schemas.microsoft.com/office/drawing/2014/main" id="{B531CBD4-D448-E070-9485-71274C6606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975240"/>
              </p:ext>
            </p:extLst>
          </p:nvPr>
        </p:nvGraphicFramePr>
        <p:xfrm>
          <a:off x="2227125" y="765175"/>
          <a:ext cx="5821362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174898" imgH="1892701" progId="Word.Picture.8">
                  <p:embed/>
                </p:oleObj>
              </mc:Choice>
              <mc:Fallback>
                <p:oleObj name="Picture" r:id="rId2" imgW="4174898" imgH="1892701" progId="Word.Picture.8">
                  <p:embed/>
                  <p:pic>
                    <p:nvPicPr>
                      <p:cNvPr id="29702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125" y="765175"/>
                        <a:ext cx="5821362" cy="26638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7">
            <a:extLst>
              <a:ext uri="{FF2B5EF4-FFF2-40B4-BE49-F238E27FC236}">
                <a16:creationId xmlns:a16="http://schemas.microsoft.com/office/drawing/2014/main" id="{ADAFD1EF-7550-EF7B-5394-F0E53D284C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080002"/>
              </p:ext>
            </p:extLst>
          </p:nvPr>
        </p:nvGraphicFramePr>
        <p:xfrm>
          <a:off x="2041387" y="3540125"/>
          <a:ext cx="6108700" cy="251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4174898" imgH="1854665" progId="Word.Picture.8">
                  <p:embed/>
                </p:oleObj>
              </mc:Choice>
              <mc:Fallback>
                <p:oleObj name="Picture" r:id="rId4" imgW="4174898" imgH="1854665" progId="Word.Picture.8">
                  <p:embed/>
                  <p:pic>
                    <p:nvPicPr>
                      <p:cNvPr id="29703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387" y="3540125"/>
                        <a:ext cx="6108700" cy="2513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2651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6752B-BA78-4DE8-3BB5-159E7EC3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DRAM</a:t>
            </a:r>
            <a:r>
              <a:rPr lang="zh-CN" altLang="en-US" dirty="0"/>
              <a:t>芯片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3EAC7D-8EB4-187D-F4B4-9F5D0EA46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7005872" cy="5947119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地址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决定存储字数</a:t>
            </a:r>
          </a:p>
          <a:p>
            <a:pPr lvl="1"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为减少引脚数，地址分两次输入</a:t>
            </a:r>
          </a:p>
          <a:p>
            <a:pPr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存储字宽度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控制</a:t>
            </a:r>
          </a:p>
          <a:p>
            <a:pPr lvl="1">
              <a:defRPr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WE: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写允许</a:t>
            </a:r>
          </a:p>
          <a:p>
            <a:pPr lvl="1">
              <a:defRPr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RAS: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行地址选通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(Row Address Strobe)</a:t>
            </a:r>
          </a:p>
          <a:p>
            <a:pPr lvl="1">
              <a:defRPr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CAS: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列地址选通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(Column Address Strobe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20000"/>
              </a:spcAft>
              <a:buFontTx/>
              <a:buChar char="•"/>
              <a:defRPr/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20000"/>
              </a:spcAft>
              <a:buFontTx/>
              <a:buChar char="•"/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存储容量</a:t>
            </a:r>
          </a:p>
          <a:p>
            <a:pPr marL="0" indent="0">
              <a:spcAft>
                <a:spcPct val="20000"/>
              </a:spcAft>
              <a:buNone/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	= 2</a:t>
            </a:r>
            <a:r>
              <a:rPr lang="en-US" altLang="zh-CN" b="1" baseline="30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2m</a:t>
            </a:r>
            <a:r>
              <a:rPr lang="en-US" altLang="zh-CN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× n (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marL="0" indent="0">
              <a:spcAft>
                <a:spcPct val="20000"/>
              </a:spcAft>
              <a:buNone/>
              <a:defRPr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		= 2</a:t>
            </a:r>
            <a:r>
              <a:rPr lang="en-US" altLang="zh-CN" b="1" baseline="30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2m</a:t>
            </a:r>
            <a:r>
              <a:rPr lang="en-US" altLang="zh-CN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× n / 8 (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字节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9D3DD8-8608-D9AC-DC86-70429DF4C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C2000C-1B32-35A4-A18E-6B46B075F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18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177EF313-E82B-F579-C805-512D98357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8197" y="2825612"/>
            <a:ext cx="115252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DRAM</a:t>
            </a: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芯片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4A97640-22BE-9DB3-3DAD-7D1BC070D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6759" y="1888987"/>
            <a:ext cx="1296988" cy="28098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6996C321-D7BD-6121-B06C-FCEE4BBAA5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1209" y="2393812"/>
            <a:ext cx="12239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0E37BAFD-91F9-1AE2-43F0-987376C42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8492159" y="3257412"/>
            <a:ext cx="12239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8E4B821D-4E17-DBC6-460E-D6D653ACF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3259" y="1866762"/>
            <a:ext cx="1347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A</a:t>
            </a:r>
            <a:r>
              <a:rPr lang="en-US" altLang="zh-CN" sz="2400" baseline="-2000">
                <a:latin typeface="Arial" panose="020B0604020202020204" pitchFamily="34" charset="0"/>
              </a:rPr>
              <a:t>0 </a:t>
            </a:r>
            <a:r>
              <a:rPr lang="en-US" altLang="zh-CN" sz="2400">
                <a:latin typeface="Arial" panose="020B0604020202020204" pitchFamily="34" charset="0"/>
              </a:rPr>
              <a:t>~A</a:t>
            </a:r>
            <a:r>
              <a:rPr lang="en-US" altLang="zh-CN" sz="2400" baseline="-2000">
                <a:latin typeface="Arial" panose="020B0604020202020204" pitchFamily="34" charset="0"/>
              </a:rPr>
              <a:t>m-1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F82745BA-B09C-C965-82B8-4B3203EED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4447" y="2320787"/>
            <a:ext cx="144462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05B9C7DC-4377-E3B0-46B9-B7B6EF42806A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6984" y="3184387"/>
            <a:ext cx="144463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B27CB47E-F49F-9487-7359-229C32FAC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984" y="2347775"/>
            <a:ext cx="455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84F1787A-3980-1839-9FF6-DD7E8A2AA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3959" y="3305037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3D7CD545-CB88-1C46-BC2E-F5468D02313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1209" y="3978137"/>
            <a:ext cx="12239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7790C0E8-CE3D-BA6C-B17F-CFB23D876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7109" y="3617775"/>
            <a:ext cx="722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RAS</a:t>
            </a: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B46F6D98-DD12-4C50-42A5-136D9E8A75B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1209" y="3328850"/>
            <a:ext cx="12239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D02EFC25-B30D-8FC4-0CFC-E624C6866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7109" y="2970075"/>
            <a:ext cx="59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WE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7D76D281-A197-919E-F833-E1C1ADE318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9659" y="3008175"/>
            <a:ext cx="40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A6E2865B-6C22-DCF2-B0D7-7C02929A18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0134" y="3654287"/>
            <a:ext cx="5397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8CEE92D4-52E7-F4DC-80AA-870C42420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2009" y="2716075"/>
            <a:ext cx="1374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D</a:t>
            </a:r>
            <a:r>
              <a:rPr lang="en-US" altLang="zh-CN" sz="2400" baseline="-2000">
                <a:latin typeface="Arial" panose="020B0604020202020204" pitchFamily="34" charset="0"/>
              </a:rPr>
              <a:t>0 </a:t>
            </a:r>
            <a:r>
              <a:rPr lang="en-US" altLang="zh-CN" sz="2400">
                <a:latin typeface="Arial" panose="020B0604020202020204" pitchFamily="34" charset="0"/>
              </a:rPr>
              <a:t>~ D</a:t>
            </a:r>
            <a:r>
              <a:rPr lang="en-US" altLang="zh-CN" sz="2400" baseline="-2000">
                <a:latin typeface="Arial" panose="020B0604020202020204" pitchFamily="34" charset="0"/>
              </a:rPr>
              <a:t>n-1</a:t>
            </a:r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8B534DF0-8B66-FB82-949F-2425B808B0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1209" y="4457562"/>
            <a:ext cx="12239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82140BB0-9CF1-01E0-E693-F4E8CAA3D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7109" y="4097200"/>
            <a:ext cx="722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CAS</a:t>
            </a:r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AFFAA92E-5257-D73C-7598-3C13477E26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8234" y="4149587"/>
            <a:ext cx="5111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64BCABF-D0CA-5B73-4540-158E676A3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0397" y="4413112"/>
            <a:ext cx="101600" cy="9683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73C6841-CAF3-DD42-4526-30FFE290E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0397" y="3924162"/>
            <a:ext cx="101600" cy="9683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611A808-AD3D-1AAA-027E-22C704304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8334" y="3282812"/>
            <a:ext cx="101600" cy="9683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81245B4F-9EFB-E7F7-1A95-3D4942B2C263}"/>
              </a:ext>
            </a:extLst>
          </p:cNvPr>
          <p:cNvCxnSpPr>
            <a:cxnSpLocks/>
          </p:cNvCxnSpPr>
          <p:nvPr/>
        </p:nvCxnSpPr>
        <p:spPr>
          <a:xfrm>
            <a:off x="827226" y="2570740"/>
            <a:ext cx="431523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D2212BC7-3B5A-7284-C05F-05294C098574}"/>
              </a:ext>
            </a:extLst>
          </p:cNvPr>
          <p:cNvCxnSpPr>
            <a:cxnSpLocks/>
          </p:cNvCxnSpPr>
          <p:nvPr/>
        </p:nvCxnSpPr>
        <p:spPr>
          <a:xfrm>
            <a:off x="847106" y="2948424"/>
            <a:ext cx="431523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DDAC21EB-7EAE-A502-1E54-C5E6ECD89681}"/>
              </a:ext>
            </a:extLst>
          </p:cNvPr>
          <p:cNvCxnSpPr>
            <a:cxnSpLocks/>
          </p:cNvCxnSpPr>
          <p:nvPr/>
        </p:nvCxnSpPr>
        <p:spPr>
          <a:xfrm>
            <a:off x="860358" y="3359245"/>
            <a:ext cx="431523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098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EAC567-8A39-B4A2-5196-A89D3A4D3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200" dirty="0"/>
              <a:t>DRAM</a:t>
            </a:r>
            <a:r>
              <a:rPr lang="zh-CN" altLang="en-US" sz="3200" dirty="0"/>
              <a:t>芯片内部结构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75693D-012B-92D5-E46A-CAF31E737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92B9AB-2807-BC2C-C334-97516326B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19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7343834-53C8-238F-8C2F-82F23A974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8604" y="4957971"/>
            <a:ext cx="3814762" cy="4333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7" name="Line 3">
            <a:extLst>
              <a:ext uri="{FF2B5EF4-FFF2-40B4-BE49-F238E27FC236}">
                <a16:creationId xmlns:a16="http://schemas.microsoft.com/office/drawing/2014/main" id="{6585DDDF-ECFB-B569-9E61-0FB7A904EE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1841" y="4669046"/>
            <a:ext cx="0" cy="287337"/>
          </a:xfrm>
          <a:prstGeom prst="line">
            <a:avLst/>
          </a:prstGeom>
          <a:noFill/>
          <a:ln w="19050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47EC7559-88F6-5FBC-4F71-18402363D0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8466" y="4669046"/>
            <a:ext cx="0" cy="287337"/>
          </a:xfrm>
          <a:prstGeom prst="line">
            <a:avLst/>
          </a:prstGeom>
          <a:noFill/>
          <a:ln w="19050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4A0B992F-C334-52D4-165B-9FFA99C9D0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5091" y="4669046"/>
            <a:ext cx="0" cy="287337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15015752-B65E-953E-58D7-65FE296C0DB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0129" y="4669046"/>
            <a:ext cx="0" cy="287337"/>
          </a:xfrm>
          <a:prstGeom prst="line">
            <a:avLst/>
          </a:prstGeom>
          <a:noFill/>
          <a:ln w="19050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23CA338C-DDF7-3C60-A161-E7DE135C1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9816" y="4021346"/>
            <a:ext cx="1368425" cy="15113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452D3AE8-4760-7B32-0253-F6BF83F76A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6791" y="5891421"/>
            <a:ext cx="144463" cy="144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F75B6591-7CB1-80E4-B4AC-FEF201034884}"/>
              </a:ext>
            </a:extLst>
          </p:cNvPr>
          <p:cNvSpPr>
            <a:spLocks noChangeShapeType="1"/>
          </p:cNvSpPr>
          <p:nvPr/>
        </p:nvSpPr>
        <p:spPr bwMode="auto">
          <a:xfrm>
            <a:off x="934416" y="4234071"/>
            <a:ext cx="129540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A473141C-4AB4-36D3-D35F-588800885A86}"/>
              </a:ext>
            </a:extLst>
          </p:cNvPr>
          <p:cNvSpPr>
            <a:spLocks noChangeShapeType="1"/>
          </p:cNvSpPr>
          <p:nvPr/>
        </p:nvSpPr>
        <p:spPr bwMode="auto">
          <a:xfrm>
            <a:off x="934416" y="4980196"/>
            <a:ext cx="129540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07FBA11B-2B5A-B2EF-7670-95AC8FC6D632}"/>
              </a:ext>
            </a:extLst>
          </p:cNvPr>
          <p:cNvSpPr>
            <a:spLocks noChangeShapeType="1"/>
          </p:cNvSpPr>
          <p:nvPr/>
        </p:nvSpPr>
        <p:spPr bwMode="auto">
          <a:xfrm>
            <a:off x="934416" y="4621421"/>
            <a:ext cx="129540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8E4325E0-C48D-4F27-1437-262081303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8604" y="5030996"/>
            <a:ext cx="3816350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zh-CN" altLang="en-US" sz="2000" b="1" dirty="0">
                <a:latin typeface="+mn-ea"/>
                <a:ea typeface="+mn-ea"/>
              </a:rPr>
              <a:t>列   译   码   器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5E8EC058-2DAA-E315-1546-CFA6B6273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9816" y="4597608"/>
            <a:ext cx="13684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defRPr/>
            </a:pPr>
            <a:r>
              <a:rPr lang="zh-CN" altLang="en-US" sz="2000" b="1" dirty="0">
                <a:latin typeface="+mn-ea"/>
                <a:ea typeface="+mn-ea"/>
              </a:rPr>
              <a:t>读写控制</a:t>
            </a: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209DC05B-0645-75C4-8B3F-081C8973A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416" y="4332496"/>
            <a:ext cx="4540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>
              <a:lnSpc>
                <a:spcPct val="85000"/>
              </a:lnSpc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WE</a:t>
            </a: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1C8A45A9-1E53-3C94-4862-3575C9741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416" y="3900696"/>
            <a:ext cx="385763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>
              <a:lnSpc>
                <a:spcPct val="85000"/>
              </a:lnSpc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D0</a:t>
            </a: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78A07FBA-3647-646E-2F88-4B5EFAE92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416" y="4692858"/>
            <a:ext cx="554038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>
              <a:lnSpc>
                <a:spcPct val="85000"/>
              </a:lnSpc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RAS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74E3EBF8-C78C-5503-6AF3-919CF4E40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5354" y="5605671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504F682F-074E-9B19-8077-F64E61021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2116" y="943183"/>
            <a:ext cx="0" cy="5119688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19">
            <a:extLst>
              <a:ext uri="{FF2B5EF4-FFF2-40B4-BE49-F238E27FC236}">
                <a16:creationId xmlns:a16="http://schemas.microsoft.com/office/drawing/2014/main" id="{F53E4C88-C619-87FF-ECC5-94C88293D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1841" y="4669046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4" name="Text Box 20">
            <a:extLst>
              <a:ext uri="{FF2B5EF4-FFF2-40B4-BE49-F238E27FC236}">
                <a16:creationId xmlns:a16="http://schemas.microsoft.com/office/drawing/2014/main" id="{EC06842A-5F6C-AA4A-84DC-11EF8EDEA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8466" y="4669046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5" name="Text Box 21">
            <a:extLst>
              <a:ext uri="{FF2B5EF4-FFF2-40B4-BE49-F238E27FC236}">
                <a16:creationId xmlns:a16="http://schemas.microsoft.com/office/drawing/2014/main" id="{F38B01BD-E007-FB20-0432-284E70E15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5091" y="4669046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6" name="Text Box 22">
            <a:extLst>
              <a:ext uri="{FF2B5EF4-FFF2-40B4-BE49-F238E27FC236}">
                <a16:creationId xmlns:a16="http://schemas.microsoft.com/office/drawing/2014/main" id="{0C104A38-9686-090D-E69D-3B5E57430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129" y="4669046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7" name="Line 23">
            <a:extLst>
              <a:ext uri="{FF2B5EF4-FFF2-40B4-BE49-F238E27FC236}">
                <a16:creationId xmlns:a16="http://schemas.microsoft.com/office/drawing/2014/main" id="{3119558C-822A-C27E-5F78-F7368D8482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7441" y="4691271"/>
            <a:ext cx="360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Rectangle 24">
            <a:extLst>
              <a:ext uri="{FF2B5EF4-FFF2-40B4-BE49-F238E27FC236}">
                <a16:creationId xmlns:a16="http://schemas.microsoft.com/office/drawing/2014/main" id="{71BE809D-7CD5-6189-842A-1E5265B57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8604" y="4238833"/>
            <a:ext cx="3814762" cy="431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6AF2DEA0-B415-305B-BAEA-967522080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8604" y="4308683"/>
            <a:ext cx="3816350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zh-CN" altLang="en-US" sz="2000" b="1" dirty="0">
                <a:latin typeface="+mn-ea"/>
                <a:ea typeface="+mn-ea"/>
              </a:rPr>
              <a:t>放  大  与  选  择</a:t>
            </a:r>
          </a:p>
        </p:txBody>
      </p:sp>
      <p:sp>
        <p:nvSpPr>
          <p:cNvPr id="30" name="Rectangle 26">
            <a:extLst>
              <a:ext uri="{FF2B5EF4-FFF2-40B4-BE49-F238E27FC236}">
                <a16:creationId xmlns:a16="http://schemas.microsoft.com/office/drawing/2014/main" id="{44AD53C8-05A9-0033-2682-3E3D71CA4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8604" y="5677108"/>
            <a:ext cx="3814762" cy="4333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1" name="Line 27">
            <a:extLst>
              <a:ext uri="{FF2B5EF4-FFF2-40B4-BE49-F238E27FC236}">
                <a16:creationId xmlns:a16="http://schemas.microsoft.com/office/drawing/2014/main" id="{504FA96F-4C9B-0A83-158B-3DE10266DF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0266" y="5389771"/>
            <a:ext cx="0" cy="2873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Rectangle 28">
            <a:extLst>
              <a:ext uri="{FF2B5EF4-FFF2-40B4-BE49-F238E27FC236}">
                <a16:creationId xmlns:a16="http://schemas.microsoft.com/office/drawing/2014/main" id="{E77B066F-64E4-8A95-4B4C-4B44A82AB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0041" y="5748546"/>
            <a:ext cx="3671888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zh-CN" altLang="en-US" sz="2000" b="1" dirty="0">
                <a:latin typeface="+mn-ea"/>
                <a:ea typeface="+mn-ea"/>
              </a:rPr>
              <a:t>列 地 址 锁 存 器</a:t>
            </a:r>
          </a:p>
        </p:txBody>
      </p:sp>
      <p:sp>
        <p:nvSpPr>
          <p:cNvPr id="33" name="Text Box 29">
            <a:extLst>
              <a:ext uri="{FF2B5EF4-FFF2-40B4-BE49-F238E27FC236}">
                <a16:creationId xmlns:a16="http://schemas.microsoft.com/office/drawing/2014/main" id="{FAD4CAE4-B490-C872-44B2-E535D36B9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0266" y="5389771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4" name="Line 30">
            <a:extLst>
              <a:ext uri="{FF2B5EF4-FFF2-40B4-BE49-F238E27FC236}">
                <a16:creationId xmlns:a16="http://schemas.microsoft.com/office/drawing/2014/main" id="{D18A0958-19B0-C6BD-07E6-05622DD94494}"/>
              </a:ext>
            </a:extLst>
          </p:cNvPr>
          <p:cNvSpPr>
            <a:spLocks noChangeShapeType="1"/>
          </p:cNvSpPr>
          <p:nvPr/>
        </p:nvSpPr>
        <p:spPr bwMode="auto">
          <a:xfrm>
            <a:off x="934416" y="5340558"/>
            <a:ext cx="1295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Rectangle 31">
            <a:extLst>
              <a:ext uri="{FF2B5EF4-FFF2-40B4-BE49-F238E27FC236}">
                <a16:creationId xmlns:a16="http://schemas.microsoft.com/office/drawing/2014/main" id="{D7A7623A-95D4-C9F8-F668-B08EC8E25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416" y="5053221"/>
            <a:ext cx="554038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>
              <a:lnSpc>
                <a:spcPct val="85000"/>
              </a:lnSpc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CAS</a:t>
            </a:r>
          </a:p>
        </p:txBody>
      </p:sp>
      <p:sp>
        <p:nvSpPr>
          <p:cNvPr id="36" name="Line 32">
            <a:extLst>
              <a:ext uri="{FF2B5EF4-FFF2-40B4-BE49-F238E27FC236}">
                <a16:creationId xmlns:a16="http://schemas.microsoft.com/office/drawing/2014/main" id="{77CCA51B-217C-1FE5-9CA1-D5E9199656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7441" y="5053221"/>
            <a:ext cx="358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Line 33">
            <a:extLst>
              <a:ext uri="{FF2B5EF4-FFF2-40B4-BE49-F238E27FC236}">
                <a16:creationId xmlns:a16="http://schemas.microsoft.com/office/drawing/2014/main" id="{87FA485B-6E9C-59FC-3294-128CEFDC51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7241" y="5531058"/>
            <a:ext cx="144463" cy="730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34">
            <a:extLst>
              <a:ext uri="{FF2B5EF4-FFF2-40B4-BE49-F238E27FC236}">
                <a16:creationId xmlns:a16="http://schemas.microsoft.com/office/drawing/2014/main" id="{B0975472-27F7-DD59-C3BA-13DD638F89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8241" y="4380121"/>
            <a:ext cx="360363" cy="0"/>
          </a:xfrm>
          <a:prstGeom prst="line">
            <a:avLst/>
          </a:prstGeom>
          <a:noFill/>
          <a:ln w="19050">
            <a:solidFill>
              <a:srgbClr val="CC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35">
            <a:extLst>
              <a:ext uri="{FF2B5EF4-FFF2-40B4-BE49-F238E27FC236}">
                <a16:creationId xmlns:a16="http://schemas.microsoft.com/office/drawing/2014/main" id="{35795F33-7169-03D6-C7E2-0CAE775007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8241" y="4524583"/>
            <a:ext cx="360363" cy="0"/>
          </a:xfrm>
          <a:prstGeom prst="line">
            <a:avLst/>
          </a:prstGeom>
          <a:noFill/>
          <a:ln w="19050">
            <a:solidFill>
              <a:srgbClr val="CC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36">
            <a:extLst>
              <a:ext uri="{FF2B5EF4-FFF2-40B4-BE49-F238E27FC236}">
                <a16:creationId xmlns:a16="http://schemas.microsoft.com/office/drawing/2014/main" id="{F8439897-9274-A484-B28D-188DCD4E07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69454" y="5964446"/>
            <a:ext cx="20891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37">
            <a:extLst>
              <a:ext uri="{FF2B5EF4-FFF2-40B4-BE49-F238E27FC236}">
                <a16:creationId xmlns:a16="http://schemas.microsoft.com/office/drawing/2014/main" id="{15C41012-877F-40ED-EAB0-706875F945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69454" y="2619583"/>
            <a:ext cx="0" cy="3344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Rectangle 38">
            <a:extLst>
              <a:ext uri="{FF2B5EF4-FFF2-40B4-BE49-F238E27FC236}">
                <a16:creationId xmlns:a16="http://schemas.microsoft.com/office/drawing/2014/main" id="{A820B1D5-AD0A-58D2-4E73-FDFD23D33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8604" y="944771"/>
            <a:ext cx="3816350" cy="3171825"/>
          </a:xfrm>
          <a:prstGeom prst="rect">
            <a:avLst/>
          </a:prstGeom>
          <a:noFill/>
          <a:ln w="28575">
            <a:solidFill>
              <a:srgbClr val="0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3" name="Text Box 39">
            <a:extLst>
              <a:ext uri="{FF2B5EF4-FFF2-40B4-BE49-F238E27FC236}">
                <a16:creationId xmlns:a16="http://schemas.microsoft.com/office/drawing/2014/main" id="{963008CF-3E07-0E38-1F0C-22A6689BD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9191" y="2109996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1,2</a:t>
            </a:r>
          </a:p>
        </p:txBody>
      </p:sp>
      <p:sp>
        <p:nvSpPr>
          <p:cNvPr id="44" name="Rectangle 40">
            <a:extLst>
              <a:ext uri="{FF2B5EF4-FFF2-40B4-BE49-F238E27FC236}">
                <a16:creationId xmlns:a16="http://schemas.microsoft.com/office/drawing/2014/main" id="{46D4DC67-487F-BA90-EE20-604A924DE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6441" y="1570246"/>
            <a:ext cx="385763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zh-CN" altLang="en-US" sz="2000" b="1" dirty="0">
                <a:latin typeface="+mn-ea"/>
                <a:ea typeface="+mn-ea"/>
              </a:rPr>
              <a:t>行</a:t>
            </a:r>
          </a:p>
          <a:p>
            <a:pPr>
              <a:lnSpc>
                <a:spcPct val="85000"/>
              </a:lnSpc>
              <a:defRPr/>
            </a:pPr>
            <a:endParaRPr lang="zh-CN" altLang="en-US" sz="2000" b="1" dirty="0">
              <a:latin typeface="+mn-ea"/>
              <a:ea typeface="+mn-ea"/>
            </a:endParaRPr>
          </a:p>
          <a:p>
            <a:pPr>
              <a:lnSpc>
                <a:spcPct val="85000"/>
              </a:lnSpc>
              <a:defRPr/>
            </a:pPr>
            <a:r>
              <a:rPr lang="zh-CN" altLang="en-US" sz="2000" b="1" dirty="0">
                <a:latin typeface="+mn-ea"/>
                <a:ea typeface="+mn-ea"/>
              </a:rPr>
              <a:t>译</a:t>
            </a:r>
          </a:p>
          <a:p>
            <a:pPr>
              <a:lnSpc>
                <a:spcPct val="85000"/>
              </a:lnSpc>
              <a:defRPr/>
            </a:pPr>
            <a:endParaRPr lang="zh-CN" altLang="en-US" sz="2000" b="1" dirty="0">
              <a:latin typeface="+mn-ea"/>
              <a:ea typeface="+mn-ea"/>
            </a:endParaRPr>
          </a:p>
          <a:p>
            <a:pPr>
              <a:lnSpc>
                <a:spcPct val="85000"/>
              </a:lnSpc>
              <a:defRPr/>
            </a:pPr>
            <a:r>
              <a:rPr lang="zh-CN" altLang="en-US" sz="2000" b="1" dirty="0">
                <a:latin typeface="+mn-ea"/>
                <a:ea typeface="+mn-ea"/>
              </a:rPr>
              <a:t>码</a:t>
            </a:r>
          </a:p>
          <a:p>
            <a:pPr>
              <a:lnSpc>
                <a:spcPct val="85000"/>
              </a:lnSpc>
              <a:defRPr/>
            </a:pPr>
            <a:endParaRPr lang="zh-CN" altLang="en-US" sz="2000" b="1" dirty="0">
              <a:latin typeface="+mn-ea"/>
              <a:ea typeface="+mn-ea"/>
            </a:endParaRPr>
          </a:p>
          <a:p>
            <a:pPr>
              <a:lnSpc>
                <a:spcPct val="85000"/>
              </a:lnSpc>
              <a:defRPr/>
            </a:pPr>
            <a:r>
              <a:rPr lang="zh-CN" altLang="en-US" sz="2000" b="1" dirty="0">
                <a:latin typeface="+mn-ea"/>
                <a:ea typeface="+mn-ea"/>
              </a:rPr>
              <a:t>器</a:t>
            </a:r>
          </a:p>
        </p:txBody>
      </p:sp>
      <p:sp>
        <p:nvSpPr>
          <p:cNvPr id="45" name="Rectangle 41">
            <a:extLst>
              <a:ext uri="{FF2B5EF4-FFF2-40B4-BE49-F238E27FC236}">
                <a16:creationId xmlns:a16="http://schemas.microsoft.com/office/drawing/2014/main" id="{4A429009-6374-A9E0-F3E9-AAE597D63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3416" y="943183"/>
            <a:ext cx="504825" cy="27860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6" name="Line 42">
            <a:extLst>
              <a:ext uri="{FF2B5EF4-FFF2-40B4-BE49-F238E27FC236}">
                <a16:creationId xmlns:a16="http://schemas.microsoft.com/office/drawing/2014/main" id="{72CE4F7D-28F0-151D-33B0-FEB9420196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8241" y="1073358"/>
            <a:ext cx="3960813" cy="1588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Rectangle 43">
            <a:extLst>
              <a:ext uri="{FF2B5EF4-FFF2-40B4-BE49-F238E27FC236}">
                <a16:creationId xmlns:a16="http://schemas.microsoft.com/office/drawing/2014/main" id="{D456D70B-63A2-4435-DDF3-8BEBCD198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979" y="2281446"/>
            <a:ext cx="763587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>
              <a:lnSpc>
                <a:spcPct val="85000"/>
              </a:lnSpc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A1~A0</a:t>
            </a:r>
          </a:p>
        </p:txBody>
      </p:sp>
      <p:sp>
        <p:nvSpPr>
          <p:cNvPr id="48" name="Line 44">
            <a:extLst>
              <a:ext uri="{FF2B5EF4-FFF2-40B4-BE49-F238E27FC236}">
                <a16:creationId xmlns:a16="http://schemas.microsoft.com/office/drawing/2014/main" id="{F5CDB548-4A56-3C5D-2BA3-A46E459F23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95454" y="1268621"/>
            <a:ext cx="0" cy="2970212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Line 45">
            <a:extLst>
              <a:ext uri="{FF2B5EF4-FFF2-40B4-BE49-F238E27FC236}">
                <a16:creationId xmlns:a16="http://schemas.microsoft.com/office/drawing/2014/main" id="{6C94EFEB-8AEA-4799-C544-3FB07051A0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2204" y="1268621"/>
            <a:ext cx="0" cy="2970212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Line 46">
            <a:extLst>
              <a:ext uri="{FF2B5EF4-FFF2-40B4-BE49-F238E27FC236}">
                <a16:creationId xmlns:a16="http://schemas.microsoft.com/office/drawing/2014/main" id="{39124063-E6A3-D39A-41B2-3F1C23FC4B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58829" y="1268621"/>
            <a:ext cx="0" cy="2970212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Line 47">
            <a:extLst>
              <a:ext uri="{FF2B5EF4-FFF2-40B4-BE49-F238E27FC236}">
                <a16:creationId xmlns:a16="http://schemas.microsoft.com/office/drawing/2014/main" id="{F831CC51-C87B-C0DA-76E5-585C5B462E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30491" y="1268621"/>
            <a:ext cx="0" cy="2992437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Rectangle 48">
            <a:extLst>
              <a:ext uri="{FF2B5EF4-FFF2-40B4-BE49-F238E27FC236}">
                <a16:creationId xmlns:a16="http://schemas.microsoft.com/office/drawing/2014/main" id="{6B86A89F-9D91-AF1D-1D48-9F7669649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566" y="1268621"/>
            <a:ext cx="431800" cy="3889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3" name="Line 49">
            <a:extLst>
              <a:ext uri="{FF2B5EF4-FFF2-40B4-BE49-F238E27FC236}">
                <a16:creationId xmlns:a16="http://schemas.microsoft.com/office/drawing/2014/main" id="{C7F621FA-81ED-62EF-A95C-7A94EF2B89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8466" y="1074946"/>
            <a:ext cx="0" cy="193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Line 50">
            <a:extLst>
              <a:ext uri="{FF2B5EF4-FFF2-40B4-BE49-F238E27FC236}">
                <a16:creationId xmlns:a16="http://schemas.microsoft.com/office/drawing/2014/main" id="{5D0F7F19-E89C-96E3-1489-6505EA00BB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4366" y="1462296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Rectangle 51">
            <a:extLst>
              <a:ext uri="{FF2B5EF4-FFF2-40B4-BE49-F238E27FC236}">
                <a16:creationId xmlns:a16="http://schemas.microsoft.com/office/drawing/2014/main" id="{1BAEA837-BF8C-B932-3BBF-EC4A741E0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7529" y="1268621"/>
            <a:ext cx="431800" cy="3889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6" name="Line 52">
            <a:extLst>
              <a:ext uri="{FF2B5EF4-FFF2-40B4-BE49-F238E27FC236}">
                <a16:creationId xmlns:a16="http://schemas.microsoft.com/office/drawing/2014/main" id="{36F94AED-1F7A-38F3-0B76-F79BF4F568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3429" y="1074946"/>
            <a:ext cx="0" cy="193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Line 53">
            <a:extLst>
              <a:ext uri="{FF2B5EF4-FFF2-40B4-BE49-F238E27FC236}">
                <a16:creationId xmlns:a16="http://schemas.microsoft.com/office/drawing/2014/main" id="{4733748F-0289-F12A-14FD-AFB5C14499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9329" y="1462296"/>
            <a:ext cx="144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Rectangle 54">
            <a:extLst>
              <a:ext uri="{FF2B5EF4-FFF2-40B4-BE49-F238E27FC236}">
                <a16:creationId xmlns:a16="http://schemas.microsoft.com/office/drawing/2014/main" id="{F20807BC-15DD-CDDF-CF1A-5CC271ABB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191" y="1268621"/>
            <a:ext cx="431800" cy="3889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9" name="Line 55">
            <a:extLst>
              <a:ext uri="{FF2B5EF4-FFF2-40B4-BE49-F238E27FC236}">
                <a16:creationId xmlns:a16="http://schemas.microsoft.com/office/drawing/2014/main" id="{D11935D8-4D05-A08A-C560-9096039BA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5091" y="1074946"/>
            <a:ext cx="0" cy="193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Line 56">
            <a:extLst>
              <a:ext uri="{FF2B5EF4-FFF2-40B4-BE49-F238E27FC236}">
                <a16:creationId xmlns:a16="http://schemas.microsoft.com/office/drawing/2014/main" id="{032AEBEB-A182-E5F7-7DF0-545F2F13B9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0991" y="1462296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Rectangle 57">
            <a:extLst>
              <a:ext uri="{FF2B5EF4-FFF2-40B4-BE49-F238E27FC236}">
                <a16:creationId xmlns:a16="http://schemas.microsoft.com/office/drawing/2014/main" id="{10202E1E-DA7F-CD41-2178-814367007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816" y="1268621"/>
            <a:ext cx="431800" cy="3889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62" name="Line 58">
            <a:extLst>
              <a:ext uri="{FF2B5EF4-FFF2-40B4-BE49-F238E27FC236}">
                <a16:creationId xmlns:a16="http://schemas.microsoft.com/office/drawing/2014/main" id="{CBFA6B15-ACD4-5609-BE68-AD96EC519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1716" y="1074946"/>
            <a:ext cx="0" cy="193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Line 59">
            <a:extLst>
              <a:ext uri="{FF2B5EF4-FFF2-40B4-BE49-F238E27FC236}">
                <a16:creationId xmlns:a16="http://schemas.microsoft.com/office/drawing/2014/main" id="{88A23EA2-FDE6-54AB-6D8F-97A07DF586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616" y="1462296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Line 60">
            <a:extLst>
              <a:ext uri="{FF2B5EF4-FFF2-40B4-BE49-F238E27FC236}">
                <a16:creationId xmlns:a16="http://schemas.microsoft.com/office/drawing/2014/main" id="{6C2061C0-8A0D-E5A2-5170-7EF7BD01F6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8241" y="1849646"/>
            <a:ext cx="3960813" cy="1587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Rectangle 61">
            <a:extLst>
              <a:ext uri="{FF2B5EF4-FFF2-40B4-BE49-F238E27FC236}">
                <a16:creationId xmlns:a16="http://schemas.microsoft.com/office/drawing/2014/main" id="{1366F823-BD63-8CEE-0AB5-EEE701343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566" y="2044908"/>
            <a:ext cx="431800" cy="38893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66" name="Line 62">
            <a:extLst>
              <a:ext uri="{FF2B5EF4-FFF2-40B4-BE49-F238E27FC236}">
                <a16:creationId xmlns:a16="http://schemas.microsoft.com/office/drawing/2014/main" id="{1D09F297-A115-C357-2B42-CDDE22ADA4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8466" y="1851233"/>
            <a:ext cx="0" cy="193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Line 63">
            <a:extLst>
              <a:ext uri="{FF2B5EF4-FFF2-40B4-BE49-F238E27FC236}">
                <a16:creationId xmlns:a16="http://schemas.microsoft.com/office/drawing/2014/main" id="{CF4DCAA0-560B-4E39-04FE-FE70755210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4366" y="2240171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Rectangle 64">
            <a:extLst>
              <a:ext uri="{FF2B5EF4-FFF2-40B4-BE49-F238E27FC236}">
                <a16:creationId xmlns:a16="http://schemas.microsoft.com/office/drawing/2014/main" id="{F7B55B5E-1F0E-659C-C975-CAEF08545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7529" y="2044908"/>
            <a:ext cx="431800" cy="38893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69" name="Line 65">
            <a:extLst>
              <a:ext uri="{FF2B5EF4-FFF2-40B4-BE49-F238E27FC236}">
                <a16:creationId xmlns:a16="http://schemas.microsoft.com/office/drawing/2014/main" id="{409DB728-2834-8266-66E1-A38142161B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3429" y="1851233"/>
            <a:ext cx="0" cy="193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Line 66">
            <a:extLst>
              <a:ext uri="{FF2B5EF4-FFF2-40B4-BE49-F238E27FC236}">
                <a16:creationId xmlns:a16="http://schemas.microsoft.com/office/drawing/2014/main" id="{81E48E95-A00E-49F8-F2AA-7CDEEF4E54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9329" y="2240171"/>
            <a:ext cx="144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Rectangle 67">
            <a:extLst>
              <a:ext uri="{FF2B5EF4-FFF2-40B4-BE49-F238E27FC236}">
                <a16:creationId xmlns:a16="http://schemas.microsoft.com/office/drawing/2014/main" id="{4B31ABB0-F013-5B1E-9A9A-3FF151369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191" y="2044908"/>
            <a:ext cx="431800" cy="388938"/>
          </a:xfrm>
          <a:prstGeom prst="rect">
            <a:avLst/>
          </a:prstGeom>
          <a:noFill/>
          <a:ln w="19050">
            <a:solidFill>
              <a:srgbClr val="CC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72" name="Line 68">
            <a:extLst>
              <a:ext uri="{FF2B5EF4-FFF2-40B4-BE49-F238E27FC236}">
                <a16:creationId xmlns:a16="http://schemas.microsoft.com/office/drawing/2014/main" id="{BDADE995-39A8-1DF3-5418-6AD9DD9D78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5091" y="1851233"/>
            <a:ext cx="0" cy="193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69">
            <a:extLst>
              <a:ext uri="{FF2B5EF4-FFF2-40B4-BE49-F238E27FC236}">
                <a16:creationId xmlns:a16="http://schemas.microsoft.com/office/drawing/2014/main" id="{62B62468-8248-C9C5-948C-6E0FF0112DC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0991" y="2240171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Rectangle 70">
            <a:extLst>
              <a:ext uri="{FF2B5EF4-FFF2-40B4-BE49-F238E27FC236}">
                <a16:creationId xmlns:a16="http://schemas.microsoft.com/office/drawing/2014/main" id="{B1253F87-CDE1-415E-4BD0-DDCF9ED87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816" y="2044908"/>
            <a:ext cx="431800" cy="38893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75" name="Line 71">
            <a:extLst>
              <a:ext uri="{FF2B5EF4-FFF2-40B4-BE49-F238E27FC236}">
                <a16:creationId xmlns:a16="http://schemas.microsoft.com/office/drawing/2014/main" id="{6E5A438B-7A31-CB45-D7F8-02CBFF721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1716" y="1851233"/>
            <a:ext cx="0" cy="193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Line 72">
            <a:extLst>
              <a:ext uri="{FF2B5EF4-FFF2-40B4-BE49-F238E27FC236}">
                <a16:creationId xmlns:a16="http://schemas.microsoft.com/office/drawing/2014/main" id="{03D4A61E-50AE-E0ED-DA48-B5E283A9F4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616" y="2240171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Line 73">
            <a:extLst>
              <a:ext uri="{FF2B5EF4-FFF2-40B4-BE49-F238E27FC236}">
                <a16:creationId xmlns:a16="http://schemas.microsoft.com/office/drawing/2014/main" id="{199E72C4-DFC1-D1B2-F408-227EC4B818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8241" y="2627521"/>
            <a:ext cx="3960813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Rectangle 74">
            <a:extLst>
              <a:ext uri="{FF2B5EF4-FFF2-40B4-BE49-F238E27FC236}">
                <a16:creationId xmlns:a16="http://schemas.microsoft.com/office/drawing/2014/main" id="{54A2732B-EDEE-7BAC-E074-05EBE274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566" y="2822783"/>
            <a:ext cx="431800" cy="3873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79" name="Line 75">
            <a:extLst>
              <a:ext uri="{FF2B5EF4-FFF2-40B4-BE49-F238E27FC236}">
                <a16:creationId xmlns:a16="http://schemas.microsoft.com/office/drawing/2014/main" id="{E959D301-512F-57DF-A42D-3BF40C5A71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8466" y="2627521"/>
            <a:ext cx="0" cy="195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Line 76">
            <a:extLst>
              <a:ext uri="{FF2B5EF4-FFF2-40B4-BE49-F238E27FC236}">
                <a16:creationId xmlns:a16="http://schemas.microsoft.com/office/drawing/2014/main" id="{D74951AA-4FEA-170B-265F-1E894F8B07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4366" y="3016458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Rectangle 77">
            <a:extLst>
              <a:ext uri="{FF2B5EF4-FFF2-40B4-BE49-F238E27FC236}">
                <a16:creationId xmlns:a16="http://schemas.microsoft.com/office/drawing/2014/main" id="{F4F654EC-113A-DD99-791A-B47CB0E50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7529" y="2822783"/>
            <a:ext cx="431800" cy="3873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2" name="Line 78">
            <a:extLst>
              <a:ext uri="{FF2B5EF4-FFF2-40B4-BE49-F238E27FC236}">
                <a16:creationId xmlns:a16="http://schemas.microsoft.com/office/drawing/2014/main" id="{33DB0009-BB3C-1EB2-6A16-7C1ED0688B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3429" y="2627521"/>
            <a:ext cx="0" cy="195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Line 79">
            <a:extLst>
              <a:ext uri="{FF2B5EF4-FFF2-40B4-BE49-F238E27FC236}">
                <a16:creationId xmlns:a16="http://schemas.microsoft.com/office/drawing/2014/main" id="{B845D163-E481-6AB7-05CA-C5340E5CA1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9329" y="3016458"/>
            <a:ext cx="144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Rectangle 80">
            <a:extLst>
              <a:ext uri="{FF2B5EF4-FFF2-40B4-BE49-F238E27FC236}">
                <a16:creationId xmlns:a16="http://schemas.microsoft.com/office/drawing/2014/main" id="{54B727F3-3389-4CC7-5616-DF8C7227F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191" y="2822783"/>
            <a:ext cx="431800" cy="3873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5" name="Line 81">
            <a:extLst>
              <a:ext uri="{FF2B5EF4-FFF2-40B4-BE49-F238E27FC236}">
                <a16:creationId xmlns:a16="http://schemas.microsoft.com/office/drawing/2014/main" id="{9E7DE58D-7B28-4D86-3E77-3492DB687E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5091" y="2627521"/>
            <a:ext cx="0" cy="195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Line 82">
            <a:extLst>
              <a:ext uri="{FF2B5EF4-FFF2-40B4-BE49-F238E27FC236}">
                <a16:creationId xmlns:a16="http://schemas.microsoft.com/office/drawing/2014/main" id="{833F2118-D94D-1D2B-FC01-19E9ECD79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0991" y="3016458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Rectangle 83">
            <a:extLst>
              <a:ext uri="{FF2B5EF4-FFF2-40B4-BE49-F238E27FC236}">
                <a16:creationId xmlns:a16="http://schemas.microsoft.com/office/drawing/2014/main" id="{64499F97-DFFE-BD90-197C-D7F3DAA13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816" y="2822783"/>
            <a:ext cx="431800" cy="3873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8" name="Line 84">
            <a:extLst>
              <a:ext uri="{FF2B5EF4-FFF2-40B4-BE49-F238E27FC236}">
                <a16:creationId xmlns:a16="http://schemas.microsoft.com/office/drawing/2014/main" id="{D954E12B-DEC3-9A7E-C134-592BD034B9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1716" y="2627521"/>
            <a:ext cx="0" cy="195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Line 85">
            <a:extLst>
              <a:ext uri="{FF2B5EF4-FFF2-40B4-BE49-F238E27FC236}">
                <a16:creationId xmlns:a16="http://schemas.microsoft.com/office/drawing/2014/main" id="{8EE16851-89C4-2DF5-5DD4-B9B695CDBE2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616" y="3016458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Line 86">
            <a:extLst>
              <a:ext uri="{FF2B5EF4-FFF2-40B4-BE49-F238E27FC236}">
                <a16:creationId xmlns:a16="http://schemas.microsoft.com/office/drawing/2014/main" id="{96DD0D2D-4A8B-D6A6-830E-4020DF1FB2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8241" y="3403808"/>
            <a:ext cx="3960813" cy="1588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Rectangle 87">
            <a:extLst>
              <a:ext uri="{FF2B5EF4-FFF2-40B4-BE49-F238E27FC236}">
                <a16:creationId xmlns:a16="http://schemas.microsoft.com/office/drawing/2014/main" id="{5DC0A635-08EC-8665-1EF2-D9F02D57F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566" y="3600658"/>
            <a:ext cx="431800" cy="3873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92" name="Line 88">
            <a:extLst>
              <a:ext uri="{FF2B5EF4-FFF2-40B4-BE49-F238E27FC236}">
                <a16:creationId xmlns:a16="http://schemas.microsoft.com/office/drawing/2014/main" id="{B3EA2CD9-A261-7B0E-A43B-36750930C70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8466" y="3405396"/>
            <a:ext cx="0" cy="195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Line 89">
            <a:extLst>
              <a:ext uri="{FF2B5EF4-FFF2-40B4-BE49-F238E27FC236}">
                <a16:creationId xmlns:a16="http://schemas.microsoft.com/office/drawing/2014/main" id="{9341B4C3-7B28-82DA-B907-6398B14BB0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4366" y="3794333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Rectangle 90">
            <a:extLst>
              <a:ext uri="{FF2B5EF4-FFF2-40B4-BE49-F238E27FC236}">
                <a16:creationId xmlns:a16="http://schemas.microsoft.com/office/drawing/2014/main" id="{21959966-CD36-59B3-CA27-263933FB3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7529" y="3600658"/>
            <a:ext cx="431800" cy="3873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95" name="Line 91">
            <a:extLst>
              <a:ext uri="{FF2B5EF4-FFF2-40B4-BE49-F238E27FC236}">
                <a16:creationId xmlns:a16="http://schemas.microsoft.com/office/drawing/2014/main" id="{62D36A17-6C32-E9B9-1282-3C85B80A33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3429" y="3405396"/>
            <a:ext cx="0" cy="195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Line 92">
            <a:extLst>
              <a:ext uri="{FF2B5EF4-FFF2-40B4-BE49-F238E27FC236}">
                <a16:creationId xmlns:a16="http://schemas.microsoft.com/office/drawing/2014/main" id="{8BEE6C5C-E214-9AFE-E01D-61729841A2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9329" y="3794333"/>
            <a:ext cx="144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Rectangle 93">
            <a:extLst>
              <a:ext uri="{FF2B5EF4-FFF2-40B4-BE49-F238E27FC236}">
                <a16:creationId xmlns:a16="http://schemas.microsoft.com/office/drawing/2014/main" id="{33677A71-EAB7-27E4-A6F2-FDEE11562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191" y="3600658"/>
            <a:ext cx="431800" cy="3873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98" name="Line 94">
            <a:extLst>
              <a:ext uri="{FF2B5EF4-FFF2-40B4-BE49-F238E27FC236}">
                <a16:creationId xmlns:a16="http://schemas.microsoft.com/office/drawing/2014/main" id="{B20AC590-2504-CC24-A141-5B7CC2223B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5091" y="3405396"/>
            <a:ext cx="0" cy="195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Line 95">
            <a:extLst>
              <a:ext uri="{FF2B5EF4-FFF2-40B4-BE49-F238E27FC236}">
                <a16:creationId xmlns:a16="http://schemas.microsoft.com/office/drawing/2014/main" id="{F96DEAC7-C30D-A39E-FBEC-8ADFBA549E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0991" y="3794333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Rectangle 96">
            <a:extLst>
              <a:ext uri="{FF2B5EF4-FFF2-40B4-BE49-F238E27FC236}">
                <a16:creationId xmlns:a16="http://schemas.microsoft.com/office/drawing/2014/main" id="{70CC525F-C867-8813-19D8-0A5A7A85D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816" y="3600658"/>
            <a:ext cx="431800" cy="3873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01" name="Line 97">
            <a:extLst>
              <a:ext uri="{FF2B5EF4-FFF2-40B4-BE49-F238E27FC236}">
                <a16:creationId xmlns:a16="http://schemas.microsoft.com/office/drawing/2014/main" id="{5621DC25-7596-BF32-7BED-C096EF5BB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1716" y="3405396"/>
            <a:ext cx="0" cy="195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Line 98">
            <a:extLst>
              <a:ext uri="{FF2B5EF4-FFF2-40B4-BE49-F238E27FC236}">
                <a16:creationId xmlns:a16="http://schemas.microsoft.com/office/drawing/2014/main" id="{FDBE326A-4F63-4C00-7998-A422DB9C62C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616" y="3794333"/>
            <a:ext cx="144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" name="Line 99">
            <a:extLst>
              <a:ext uri="{FF2B5EF4-FFF2-40B4-BE49-F238E27FC236}">
                <a16:creationId xmlns:a16="http://schemas.microsoft.com/office/drawing/2014/main" id="{3C5CD134-F9C1-1047-2E14-0162F05687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7441" y="2603708"/>
            <a:ext cx="1222375" cy="3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Line 100">
            <a:extLst>
              <a:ext uri="{FF2B5EF4-FFF2-40B4-BE49-F238E27FC236}">
                <a16:creationId xmlns:a16="http://schemas.microsoft.com/office/drawing/2014/main" id="{7DA81967-85C7-BF77-528B-E7E0799C7D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0316" y="2538621"/>
            <a:ext cx="144463" cy="130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" name="Text Box 101">
            <a:extLst>
              <a:ext uri="{FF2B5EF4-FFF2-40B4-BE49-F238E27FC236}">
                <a16:creationId xmlns:a16="http://schemas.microsoft.com/office/drawing/2014/main" id="{0B9D575E-D743-8D7B-A91A-065200E28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5941" y="1333708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0,0</a:t>
            </a:r>
          </a:p>
        </p:txBody>
      </p:sp>
      <p:sp>
        <p:nvSpPr>
          <p:cNvPr id="106" name="Text Box 102">
            <a:extLst>
              <a:ext uri="{FF2B5EF4-FFF2-40B4-BE49-F238E27FC236}">
                <a16:creationId xmlns:a16="http://schemas.microsoft.com/office/drawing/2014/main" id="{EB70C630-0092-6EA7-5582-F2841396B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2566" y="1333708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0,1</a:t>
            </a:r>
          </a:p>
        </p:txBody>
      </p:sp>
      <p:sp>
        <p:nvSpPr>
          <p:cNvPr id="107" name="Text Box 103">
            <a:extLst>
              <a:ext uri="{FF2B5EF4-FFF2-40B4-BE49-F238E27FC236}">
                <a16:creationId xmlns:a16="http://schemas.microsoft.com/office/drawing/2014/main" id="{3A4F7242-9570-2B34-FB8C-39C56B21B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9191" y="1333708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0,2</a:t>
            </a:r>
          </a:p>
        </p:txBody>
      </p:sp>
      <p:sp>
        <p:nvSpPr>
          <p:cNvPr id="108" name="Text Box 104">
            <a:extLst>
              <a:ext uri="{FF2B5EF4-FFF2-40B4-BE49-F238E27FC236}">
                <a16:creationId xmlns:a16="http://schemas.microsoft.com/office/drawing/2014/main" id="{4CEC4D3F-1AD4-5BDD-DEF3-4EEDF71E2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229" y="1333708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0,3</a:t>
            </a:r>
          </a:p>
        </p:txBody>
      </p:sp>
      <p:sp>
        <p:nvSpPr>
          <p:cNvPr id="109" name="Text Box 105">
            <a:extLst>
              <a:ext uri="{FF2B5EF4-FFF2-40B4-BE49-F238E27FC236}">
                <a16:creationId xmlns:a16="http://schemas.microsoft.com/office/drawing/2014/main" id="{70D88AF0-D17C-7701-D3EF-D12F4F644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5941" y="2109996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1,0</a:t>
            </a:r>
          </a:p>
        </p:txBody>
      </p:sp>
      <p:sp>
        <p:nvSpPr>
          <p:cNvPr id="110" name="Text Box 106">
            <a:extLst>
              <a:ext uri="{FF2B5EF4-FFF2-40B4-BE49-F238E27FC236}">
                <a16:creationId xmlns:a16="http://schemas.microsoft.com/office/drawing/2014/main" id="{6B7A7094-7A62-7CA6-1E4C-EF759FECA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2566" y="2109996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1,1</a:t>
            </a:r>
          </a:p>
        </p:txBody>
      </p:sp>
      <p:sp>
        <p:nvSpPr>
          <p:cNvPr id="111" name="Text Box 107">
            <a:extLst>
              <a:ext uri="{FF2B5EF4-FFF2-40B4-BE49-F238E27FC236}">
                <a16:creationId xmlns:a16="http://schemas.microsoft.com/office/drawing/2014/main" id="{1DDC353E-A057-8E8F-E204-AE3A3309A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229" y="2109996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1,3</a:t>
            </a:r>
          </a:p>
        </p:txBody>
      </p:sp>
      <p:sp>
        <p:nvSpPr>
          <p:cNvPr id="112" name="Text Box 108">
            <a:extLst>
              <a:ext uri="{FF2B5EF4-FFF2-40B4-BE49-F238E27FC236}">
                <a16:creationId xmlns:a16="http://schemas.microsoft.com/office/drawing/2014/main" id="{49617C4E-807A-3920-B1ED-F5EFD7ECA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5941" y="2887871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2,0</a:t>
            </a:r>
          </a:p>
        </p:txBody>
      </p:sp>
      <p:sp>
        <p:nvSpPr>
          <p:cNvPr id="113" name="Text Box 109">
            <a:extLst>
              <a:ext uri="{FF2B5EF4-FFF2-40B4-BE49-F238E27FC236}">
                <a16:creationId xmlns:a16="http://schemas.microsoft.com/office/drawing/2014/main" id="{53A1F5A2-CF69-4D99-0F0D-130CDA481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2566" y="2887871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2,1</a:t>
            </a:r>
          </a:p>
        </p:txBody>
      </p:sp>
      <p:sp>
        <p:nvSpPr>
          <p:cNvPr id="114" name="Text Box 110">
            <a:extLst>
              <a:ext uri="{FF2B5EF4-FFF2-40B4-BE49-F238E27FC236}">
                <a16:creationId xmlns:a16="http://schemas.microsoft.com/office/drawing/2014/main" id="{68EC8683-5E0B-F78E-B47F-E5C3C324C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9191" y="2887871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2,2</a:t>
            </a:r>
          </a:p>
        </p:txBody>
      </p:sp>
      <p:sp>
        <p:nvSpPr>
          <p:cNvPr id="115" name="Text Box 111">
            <a:extLst>
              <a:ext uri="{FF2B5EF4-FFF2-40B4-BE49-F238E27FC236}">
                <a16:creationId xmlns:a16="http://schemas.microsoft.com/office/drawing/2014/main" id="{417A3AEB-E57D-E515-5B58-4D640F761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229" y="2887871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2,3</a:t>
            </a:r>
          </a:p>
        </p:txBody>
      </p:sp>
      <p:sp>
        <p:nvSpPr>
          <p:cNvPr id="116" name="Text Box 112">
            <a:extLst>
              <a:ext uri="{FF2B5EF4-FFF2-40B4-BE49-F238E27FC236}">
                <a16:creationId xmlns:a16="http://schemas.microsoft.com/office/drawing/2014/main" id="{2317E862-3C1B-7F35-C0A5-E391B7B4C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5941" y="3664158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3,0</a:t>
            </a:r>
          </a:p>
        </p:txBody>
      </p:sp>
      <p:sp>
        <p:nvSpPr>
          <p:cNvPr id="117" name="Text Box 113">
            <a:extLst>
              <a:ext uri="{FF2B5EF4-FFF2-40B4-BE49-F238E27FC236}">
                <a16:creationId xmlns:a16="http://schemas.microsoft.com/office/drawing/2014/main" id="{2AF309DB-D6A8-E714-930B-88FDC9615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2566" y="3664158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3,1</a:t>
            </a:r>
          </a:p>
        </p:txBody>
      </p:sp>
      <p:sp>
        <p:nvSpPr>
          <p:cNvPr id="118" name="Text Box 114">
            <a:extLst>
              <a:ext uri="{FF2B5EF4-FFF2-40B4-BE49-F238E27FC236}">
                <a16:creationId xmlns:a16="http://schemas.microsoft.com/office/drawing/2014/main" id="{E182CC36-293F-93FB-CA13-4AC03677A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9191" y="3664158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3,2</a:t>
            </a:r>
          </a:p>
        </p:txBody>
      </p:sp>
      <p:sp>
        <p:nvSpPr>
          <p:cNvPr id="119" name="Text Box 115">
            <a:extLst>
              <a:ext uri="{FF2B5EF4-FFF2-40B4-BE49-F238E27FC236}">
                <a16:creationId xmlns:a16="http://schemas.microsoft.com/office/drawing/2014/main" id="{7F476E22-1F6B-D8FE-F361-9D1451F9B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229" y="3664158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3,3</a:t>
            </a:r>
          </a:p>
        </p:txBody>
      </p:sp>
      <p:sp>
        <p:nvSpPr>
          <p:cNvPr id="120" name="Text Box 116">
            <a:extLst>
              <a:ext uri="{FF2B5EF4-FFF2-40B4-BE49-F238E27FC236}">
                <a16:creationId xmlns:a16="http://schemas.microsoft.com/office/drawing/2014/main" id="{39F50B9B-4C0C-9BCA-453E-7A7B77C03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879" y="2668796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21" name="Text Box 117">
            <a:extLst>
              <a:ext uri="{FF2B5EF4-FFF2-40B4-BE49-F238E27FC236}">
                <a16:creationId xmlns:a16="http://schemas.microsoft.com/office/drawing/2014/main" id="{E613ADD7-6EE6-007D-0EA3-27D7297B0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5316" y="2109996"/>
            <a:ext cx="6953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zh-CN" altLang="en-US" sz="2000" b="1" dirty="0">
                <a:latin typeface="+mn-ea"/>
                <a:ea typeface="+mn-ea"/>
              </a:rPr>
              <a:t>存储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zh-CN" altLang="en-US" sz="2000" b="1" dirty="0">
                <a:latin typeface="+mn-ea"/>
                <a:ea typeface="+mn-ea"/>
              </a:rPr>
              <a:t>单元</a:t>
            </a:r>
          </a:p>
        </p:txBody>
      </p:sp>
      <p:sp>
        <p:nvSpPr>
          <p:cNvPr id="122" name="Line 118">
            <a:extLst>
              <a:ext uri="{FF2B5EF4-FFF2-40B4-BE49-F238E27FC236}">
                <a16:creationId xmlns:a16="http://schemas.microsoft.com/office/drawing/2014/main" id="{FC71E197-CA2B-E514-E772-B7103324F1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86029" y="2368758"/>
            <a:ext cx="6492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" name="Text Box 119">
            <a:extLst>
              <a:ext uri="{FF2B5EF4-FFF2-40B4-BE49-F238E27FC236}">
                <a16:creationId xmlns:a16="http://schemas.microsoft.com/office/drawing/2014/main" id="{626A54E4-359C-5E2D-2EFB-CF1C17DAB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5316" y="2924383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40000"/>
              </a:spcBef>
              <a:defRPr/>
            </a:pPr>
            <a:r>
              <a:rPr lang="zh-CN" altLang="en-US" sz="2000" b="1" dirty="0">
                <a:latin typeface="+mn-ea"/>
                <a:ea typeface="+mn-ea"/>
              </a:rPr>
              <a:t>字线</a:t>
            </a:r>
          </a:p>
        </p:txBody>
      </p:sp>
      <p:sp>
        <p:nvSpPr>
          <p:cNvPr id="124" name="Text Box 120">
            <a:extLst>
              <a:ext uri="{FF2B5EF4-FFF2-40B4-BE49-F238E27FC236}">
                <a16:creationId xmlns:a16="http://schemas.microsoft.com/office/drawing/2014/main" id="{D94A9805-D108-177F-63C5-EFB4B4AC7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5316" y="3794333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40000"/>
              </a:spcBef>
              <a:defRPr/>
            </a:pPr>
            <a:r>
              <a:rPr lang="zh-CN" altLang="en-US" sz="2000" b="1" dirty="0">
                <a:latin typeface="+mn-ea"/>
                <a:ea typeface="+mn-ea"/>
              </a:rPr>
              <a:t>位线</a:t>
            </a:r>
          </a:p>
        </p:txBody>
      </p:sp>
      <p:sp>
        <p:nvSpPr>
          <p:cNvPr id="125" name="Line 121">
            <a:extLst>
              <a:ext uri="{FF2B5EF4-FFF2-40B4-BE49-F238E27FC236}">
                <a16:creationId xmlns:a16="http://schemas.microsoft.com/office/drawing/2014/main" id="{8A39DC47-0534-019E-2557-156066F084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78116" y="4016583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" name="Line 122">
            <a:extLst>
              <a:ext uri="{FF2B5EF4-FFF2-40B4-BE49-F238E27FC236}">
                <a16:creationId xmlns:a16="http://schemas.microsoft.com/office/drawing/2014/main" id="{9C66855A-8237-3AB0-BD58-85FE93DCD1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41579" y="3152983"/>
            <a:ext cx="733425" cy="2143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" name="Line 123">
            <a:extLst>
              <a:ext uri="{FF2B5EF4-FFF2-40B4-BE49-F238E27FC236}">
                <a16:creationId xmlns:a16="http://schemas.microsoft.com/office/drawing/2014/main" id="{1EABCA55-1452-78D4-C7DE-DEA08747D5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4954" y="1462296"/>
            <a:ext cx="360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" name="Text Box 124">
            <a:extLst>
              <a:ext uri="{FF2B5EF4-FFF2-40B4-BE49-F238E27FC236}">
                <a16:creationId xmlns:a16="http://schemas.microsoft.com/office/drawing/2014/main" id="{542C0E20-38B7-D778-EAE3-DC6559392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5316" y="1203533"/>
            <a:ext cx="6953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zh-CN" altLang="en-US" sz="2000" b="1" dirty="0">
                <a:latin typeface="+mn-ea"/>
                <a:ea typeface="+mn-ea"/>
              </a:rPr>
              <a:t>存储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zh-CN" altLang="en-US" sz="2000" b="1" dirty="0">
                <a:latin typeface="+mn-ea"/>
                <a:ea typeface="+mn-ea"/>
              </a:rPr>
              <a:t>矩阵</a:t>
            </a:r>
          </a:p>
        </p:txBody>
      </p:sp>
      <p:sp>
        <p:nvSpPr>
          <p:cNvPr id="129" name="Text Box 125">
            <a:extLst>
              <a:ext uri="{FF2B5EF4-FFF2-40B4-BE49-F238E27FC236}">
                <a16:creationId xmlns:a16="http://schemas.microsoft.com/office/drawing/2014/main" id="{71CA2D95-2F27-0B7F-F994-1E212D6E0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241" y="1073358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30" name="Text Box 126">
            <a:extLst>
              <a:ext uri="{FF2B5EF4-FFF2-40B4-BE49-F238E27FC236}">
                <a16:creationId xmlns:a16="http://schemas.microsoft.com/office/drawing/2014/main" id="{0FD7627D-2D53-3E70-3545-55D575348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241" y="1849646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31" name="Text Box 127">
            <a:extLst>
              <a:ext uri="{FF2B5EF4-FFF2-40B4-BE49-F238E27FC236}">
                <a16:creationId xmlns:a16="http://schemas.microsoft.com/office/drawing/2014/main" id="{017A8211-9162-4ECC-0B76-3F9F12A33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241" y="262593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32" name="Text Box 128">
            <a:extLst>
              <a:ext uri="{FF2B5EF4-FFF2-40B4-BE49-F238E27FC236}">
                <a16:creationId xmlns:a16="http://schemas.microsoft.com/office/drawing/2014/main" id="{DAC98ED5-ADEB-9579-C350-F74A50835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241" y="3403808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33" name="Line 129">
            <a:extLst>
              <a:ext uri="{FF2B5EF4-FFF2-40B4-BE49-F238E27FC236}">
                <a16:creationId xmlns:a16="http://schemas.microsoft.com/office/drawing/2014/main" id="{2B885092-0413-8E5C-D75B-C709D31E61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5854" y="4332496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" name="Line 130">
            <a:extLst>
              <a:ext uri="{FF2B5EF4-FFF2-40B4-BE49-F238E27FC236}">
                <a16:creationId xmlns:a16="http://schemas.microsoft.com/office/drawing/2014/main" id="{C08A5883-FF57-9D59-C6FA-1278A1C97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934416" y="1244808"/>
            <a:ext cx="6477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" name="Line 131">
            <a:extLst>
              <a:ext uri="{FF2B5EF4-FFF2-40B4-BE49-F238E27FC236}">
                <a16:creationId xmlns:a16="http://schemas.microsoft.com/office/drawing/2014/main" id="{8789BF44-F97E-B3F1-3865-80253AD30253}"/>
              </a:ext>
            </a:extLst>
          </p:cNvPr>
          <p:cNvSpPr>
            <a:spLocks noChangeShapeType="1"/>
          </p:cNvSpPr>
          <p:nvPr/>
        </p:nvSpPr>
        <p:spPr bwMode="auto">
          <a:xfrm>
            <a:off x="934416" y="1632158"/>
            <a:ext cx="6477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" name="Rectangle 132">
            <a:extLst>
              <a:ext uri="{FF2B5EF4-FFF2-40B4-BE49-F238E27FC236}">
                <a16:creationId xmlns:a16="http://schemas.microsoft.com/office/drawing/2014/main" id="{C5B51428-96FB-69DD-2AB5-B47E1217E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979" y="986046"/>
            <a:ext cx="554037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>
              <a:lnSpc>
                <a:spcPct val="85000"/>
              </a:lnSpc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VCC</a:t>
            </a:r>
          </a:p>
        </p:txBody>
      </p:sp>
      <p:sp>
        <p:nvSpPr>
          <p:cNvPr id="137" name="Rectangle 133">
            <a:extLst>
              <a:ext uri="{FF2B5EF4-FFF2-40B4-BE49-F238E27FC236}">
                <a16:creationId xmlns:a16="http://schemas.microsoft.com/office/drawing/2014/main" id="{818D8B22-7272-CC41-248F-96669E4D6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979" y="1374983"/>
            <a:ext cx="5778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>
              <a:lnSpc>
                <a:spcPct val="85000"/>
              </a:lnSpc>
              <a:spcAft>
                <a:spcPct val="0"/>
              </a:spcAft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GND</a:t>
            </a:r>
          </a:p>
        </p:txBody>
      </p:sp>
      <p:sp>
        <p:nvSpPr>
          <p:cNvPr id="138" name="Rectangle 134">
            <a:extLst>
              <a:ext uri="{FF2B5EF4-FFF2-40B4-BE49-F238E27FC236}">
                <a16:creationId xmlns:a16="http://schemas.microsoft.com/office/drawing/2014/main" id="{39B31D75-02D9-F35F-E803-CD76B5905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2841" y="1397208"/>
            <a:ext cx="385763" cy="220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zh-CN" altLang="en-US" sz="2000" b="1">
                <a:latin typeface="+mn-ea"/>
                <a:ea typeface="+mn-ea"/>
              </a:rPr>
              <a:t>行</a:t>
            </a:r>
          </a:p>
          <a:p>
            <a:pPr>
              <a:spcBef>
                <a:spcPct val="20000"/>
              </a:spcBef>
              <a:defRPr/>
            </a:pPr>
            <a:r>
              <a:rPr lang="zh-CN" altLang="en-US" sz="2000" b="1">
                <a:latin typeface="+mn-ea"/>
                <a:ea typeface="+mn-ea"/>
              </a:rPr>
              <a:t>地</a:t>
            </a:r>
          </a:p>
          <a:p>
            <a:pPr>
              <a:spcBef>
                <a:spcPct val="20000"/>
              </a:spcBef>
              <a:defRPr/>
            </a:pPr>
            <a:r>
              <a:rPr lang="zh-CN" altLang="en-US" sz="2000" b="1">
                <a:latin typeface="+mn-ea"/>
                <a:ea typeface="+mn-ea"/>
              </a:rPr>
              <a:t>址</a:t>
            </a:r>
          </a:p>
          <a:p>
            <a:pPr>
              <a:spcBef>
                <a:spcPct val="20000"/>
              </a:spcBef>
              <a:defRPr/>
            </a:pPr>
            <a:r>
              <a:rPr lang="zh-CN" altLang="en-US" sz="2000" b="1">
                <a:latin typeface="+mn-ea"/>
                <a:ea typeface="+mn-ea"/>
              </a:rPr>
              <a:t>锁</a:t>
            </a:r>
          </a:p>
          <a:p>
            <a:pPr>
              <a:spcBef>
                <a:spcPct val="20000"/>
              </a:spcBef>
              <a:defRPr/>
            </a:pPr>
            <a:r>
              <a:rPr lang="zh-CN" altLang="en-US" sz="2000" b="1">
                <a:latin typeface="+mn-ea"/>
                <a:ea typeface="+mn-ea"/>
              </a:rPr>
              <a:t>存</a:t>
            </a:r>
          </a:p>
          <a:p>
            <a:pPr>
              <a:spcBef>
                <a:spcPct val="20000"/>
              </a:spcBef>
              <a:defRPr/>
            </a:pPr>
            <a:r>
              <a:rPr lang="zh-CN" altLang="en-US" sz="2000" b="1">
                <a:latin typeface="+mn-ea"/>
                <a:ea typeface="+mn-ea"/>
              </a:rPr>
              <a:t>器</a:t>
            </a:r>
          </a:p>
        </p:txBody>
      </p:sp>
      <p:sp>
        <p:nvSpPr>
          <p:cNvPr id="139" name="Rectangle 135">
            <a:extLst>
              <a:ext uri="{FF2B5EF4-FFF2-40B4-BE49-F238E27FC236}">
                <a16:creationId xmlns:a16="http://schemas.microsoft.com/office/drawing/2014/main" id="{A52924A2-D829-1EF7-5372-FD5E13525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229" y="943183"/>
            <a:ext cx="504825" cy="27860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0" name="Line 136">
            <a:extLst>
              <a:ext uri="{FF2B5EF4-FFF2-40B4-BE49-F238E27FC236}">
                <a16:creationId xmlns:a16="http://schemas.microsoft.com/office/drawing/2014/main" id="{DF696BCA-89D3-620D-4CE3-0D85CA154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1466" y="2346533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" name="Line 137">
            <a:extLst>
              <a:ext uri="{FF2B5EF4-FFF2-40B4-BE49-F238E27FC236}">
                <a16:creationId xmlns:a16="http://schemas.microsoft.com/office/drawing/2014/main" id="{F4C3DD2E-D096-426B-8B46-51B088F75A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4491" y="2283033"/>
            <a:ext cx="144463" cy="128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" name="Text Box 138">
            <a:extLst>
              <a:ext uri="{FF2B5EF4-FFF2-40B4-BE49-F238E27FC236}">
                <a16:creationId xmlns:a16="http://schemas.microsoft.com/office/drawing/2014/main" id="{C40D0380-DA45-014F-E2F0-58D71E3B2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3054" y="2411621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43" name="Oval 139">
            <a:extLst>
              <a:ext uri="{FF2B5EF4-FFF2-40B4-BE49-F238E27FC236}">
                <a16:creationId xmlns:a16="http://schemas.microsoft.com/office/drawing/2014/main" id="{F7D08B0E-362D-FCF7-3867-327A76B4F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016" y="2540208"/>
            <a:ext cx="144463" cy="1301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4" name="Line 140">
            <a:extLst>
              <a:ext uri="{FF2B5EF4-FFF2-40B4-BE49-F238E27FC236}">
                <a16:creationId xmlns:a16="http://schemas.microsoft.com/office/drawing/2014/main" id="{9EE30B49-C802-D097-419F-DA9814E98A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8741" y="3729246"/>
            <a:ext cx="0" cy="323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" name="Line 141">
            <a:extLst>
              <a:ext uri="{FF2B5EF4-FFF2-40B4-BE49-F238E27FC236}">
                <a16:creationId xmlns:a16="http://schemas.microsoft.com/office/drawing/2014/main" id="{92B8F5FF-2A39-2672-408F-0513AD9288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0541" y="5532646"/>
            <a:ext cx="0" cy="288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" name="Line 142">
            <a:extLst>
              <a:ext uri="{FF2B5EF4-FFF2-40B4-BE49-F238E27FC236}">
                <a16:creationId xmlns:a16="http://schemas.microsoft.com/office/drawing/2014/main" id="{A2AFADB3-A2AF-0377-C08E-28A52522B0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0541" y="5821571"/>
            <a:ext cx="10080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" name="Oval 144">
            <a:extLst>
              <a:ext uri="{FF2B5EF4-FFF2-40B4-BE49-F238E27FC236}">
                <a16:creationId xmlns:a16="http://schemas.microsoft.com/office/drawing/2014/main" id="{EEC7FA58-AFA4-B350-D204-188B9EB97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454" y="5291346"/>
            <a:ext cx="101600" cy="9683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8" name="Oval 145">
            <a:extLst>
              <a:ext uri="{FF2B5EF4-FFF2-40B4-BE49-F238E27FC236}">
                <a16:creationId xmlns:a16="http://schemas.microsoft.com/office/drawing/2014/main" id="{DE565A8A-94C3-4D74-0766-4FF4E663A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454" y="4935746"/>
            <a:ext cx="101600" cy="9683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9" name="Oval 146">
            <a:extLst>
              <a:ext uri="{FF2B5EF4-FFF2-40B4-BE49-F238E27FC236}">
                <a16:creationId xmlns:a16="http://schemas.microsoft.com/office/drawing/2014/main" id="{2D1AFB2A-7A56-83FA-D38B-52F05A882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1391" y="4580146"/>
            <a:ext cx="101600" cy="9683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487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40B51-9DC1-4160-3B07-73EECFFD7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DRAM</a:t>
            </a:r>
            <a:r>
              <a:rPr lang="zh-CN" altLang="en-US" dirty="0"/>
              <a:t>存储单元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35C8D6-6E18-6A1D-0D01-EC3B6A141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由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个三极管和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个电容组成</a:t>
            </a:r>
          </a:p>
          <a:p>
            <a:pPr lvl="1"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根据电容是否充有电荷来存储一位信息</a:t>
            </a:r>
          </a:p>
          <a:p>
            <a:pPr lvl="1">
              <a:defRPr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用于控制读写</a:t>
            </a:r>
          </a:p>
          <a:p>
            <a:pPr>
              <a:spcBef>
                <a:spcPts val="600"/>
              </a:spcBef>
              <a:spcAft>
                <a:spcPct val="0"/>
              </a:spcAft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读写过程</a:t>
            </a:r>
          </a:p>
          <a:p>
            <a:pPr lvl="1">
              <a:spcAft>
                <a:spcPct val="0"/>
              </a:spcAft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写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spcAft>
                <a:spcPct val="0"/>
              </a:spcAft>
              <a:buFontTx/>
              <a:buNone/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D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准备好；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WE-&gt;0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W-&gt;1</a:t>
            </a:r>
          </a:p>
          <a:p>
            <a:pPr lvl="1">
              <a:spcAft>
                <a:spcPct val="0"/>
              </a:spcAft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读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lvl="1" indent="0">
              <a:spcAft>
                <a:spcPct val="0"/>
              </a:spcAft>
              <a:buNone/>
              <a:defRPr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W-&gt;1, WE-&gt;1</a:t>
            </a:r>
          </a:p>
          <a:p>
            <a:pPr lvl="1">
              <a:spcAft>
                <a:spcPct val="0"/>
              </a:spcAft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刷新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lvl="1" indent="0">
              <a:spcAft>
                <a:spcPct val="0"/>
              </a:spcAft>
              <a:buNone/>
              <a:defRPr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W-&gt;1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WE-&gt;1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R-&gt;1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F9183D-7082-423A-59DC-78D6464D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086B09-1CBC-7849-50B2-1A84E0D5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20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0FBF3245-B02B-290E-BE38-DBA384FFD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0701" y="1914552"/>
            <a:ext cx="1728787" cy="1943100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15433358-6357-7C60-1DF9-DEB3A1291742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8104663" y="2562252"/>
            <a:ext cx="1588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9E9E2922-6713-36F9-F1F8-DE6FA0B67E1F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456964" y="1984402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2CAF3C80-81AB-13D6-9C46-2317F7F3833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452995" y="1985195"/>
            <a:ext cx="0" cy="576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3EA8E8CF-9C32-7BD3-A953-51D288BE1EA0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456169" y="2416996"/>
            <a:ext cx="2873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CE587F43-3DE1-4A33-A0A8-99924DCA857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167244" y="2416996"/>
            <a:ext cx="2873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571CE4CB-6666-7AD5-8A99-518065CA4913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203757" y="1875659"/>
            <a:ext cx="5032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DBF7F32D-635F-1A5C-6448-2A775D83B41B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852251" y="2309839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05CFD4B6-AEFA-4041-3DDB-477CADB14C2E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952138" y="2203477"/>
            <a:ext cx="0" cy="717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691E89EA-1E63-89F5-7EF0-3C5FDBEADB98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6593363" y="1338290"/>
            <a:ext cx="0" cy="2520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B7205EF6-4D56-ACD7-8C53-813AEE8DE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8763" y="3209952"/>
            <a:ext cx="431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7583851A-0905-8EE2-61EE-1FA7886AAD3B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7817326" y="3641752"/>
            <a:ext cx="576262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1FEB027C-CD77-12EA-26F0-E00B8CBCA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0338" y="2490815"/>
            <a:ext cx="144463" cy="14446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67D51CFF-CF0C-73D0-C3F0-AEE75A6BD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7326" y="1985990"/>
            <a:ext cx="4016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A30B33DC-E071-04A3-07D6-5E8D84D89B2C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6304438" y="1625627"/>
            <a:ext cx="23415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82A7E045-95A0-51FF-1AC9-B6EE9205D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726" y="3563965"/>
            <a:ext cx="801687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B</a:t>
            </a:r>
            <a:r>
              <a:rPr lang="zh-CN" altLang="en-US" sz="2400">
                <a:latin typeface="Arial" panose="020B0604020202020204" pitchFamily="34" charset="0"/>
              </a:rPr>
              <a:t>：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位线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2C5884C3-9ECE-1224-2226-9737597CE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0813" y="1049365"/>
            <a:ext cx="1247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W</a:t>
            </a:r>
            <a:r>
              <a:rPr lang="zh-CN" altLang="en-US" sz="2400">
                <a:latin typeface="Arial" panose="020B0604020202020204" pitchFamily="34" charset="0"/>
              </a:rPr>
              <a:t>：字线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60504687-E7E4-FB4C-EBA2-BC1B56726C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8763" y="2994052"/>
            <a:ext cx="431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0C2C4001-4B12-DFD7-CC95-FBC8D98C79CA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8104663" y="3209952"/>
            <a:ext cx="1588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Box 23">
            <a:extLst>
              <a:ext uri="{FF2B5EF4-FFF2-40B4-BE49-F238E27FC236}">
                <a16:creationId xmlns:a16="http://schemas.microsoft.com/office/drawing/2014/main" id="{EFD679C9-7D74-09DE-F1BC-C391454EE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5526" y="2849590"/>
            <a:ext cx="44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26" name="Oval 24">
            <a:extLst>
              <a:ext uri="{FF2B5EF4-FFF2-40B4-BE49-F238E27FC236}">
                <a16:creationId xmlns:a16="http://schemas.microsoft.com/office/drawing/2014/main" id="{A147C552-1162-48B1-7166-FC0E6E6BE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5526" y="1554190"/>
            <a:ext cx="144462" cy="14446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27" name="组合 3">
            <a:extLst>
              <a:ext uri="{FF2B5EF4-FFF2-40B4-BE49-F238E27FC236}">
                <a16:creationId xmlns:a16="http://schemas.microsoft.com/office/drawing/2014/main" id="{7026081D-822A-C159-F811-9E24DBE7F596}"/>
              </a:ext>
            </a:extLst>
          </p:cNvPr>
          <p:cNvGrpSpPr>
            <a:grpSpLocks/>
          </p:cNvGrpSpPr>
          <p:nvPr/>
        </p:nvGrpSpPr>
        <p:grpSpPr bwMode="auto">
          <a:xfrm>
            <a:off x="6520338" y="3894165"/>
            <a:ext cx="2579688" cy="2378075"/>
            <a:chOff x="6191733" y="3897052"/>
            <a:chExt cx="2578908" cy="2378051"/>
          </a:xfrm>
        </p:grpSpPr>
        <p:sp>
          <p:nvSpPr>
            <p:cNvPr id="28" name="Line 15">
              <a:extLst>
                <a:ext uri="{FF2B5EF4-FFF2-40B4-BE49-F238E27FC236}">
                  <a16:creationId xmlns:a16="http://schemas.microsoft.com/office/drawing/2014/main" id="{0262109F-0F8E-C587-7E6E-AC519FA86D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4193" y="4617133"/>
              <a:ext cx="150510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2">
              <a:extLst>
                <a:ext uri="{FF2B5EF4-FFF2-40B4-BE49-F238E27FC236}">
                  <a16:creationId xmlns:a16="http://schemas.microsoft.com/office/drawing/2014/main" id="{77828FC8-2CDB-4554-E698-955B5FFBBD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740715" y="6057292"/>
              <a:ext cx="143168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7">
              <a:extLst>
                <a:ext uri="{FF2B5EF4-FFF2-40B4-BE49-F238E27FC236}">
                  <a16:creationId xmlns:a16="http://schemas.microsoft.com/office/drawing/2014/main" id="{6241C6F8-9F25-F41F-73E8-C00D5C6BC4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97138" y="5193196"/>
              <a:ext cx="0" cy="74504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16">
              <a:extLst>
                <a:ext uri="{FF2B5EF4-FFF2-40B4-BE49-F238E27FC236}">
                  <a16:creationId xmlns:a16="http://schemas.microsoft.com/office/drawing/2014/main" id="{AA251441-22BC-FBA9-0DDD-03EE6FBE6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9464" y="5118461"/>
              <a:ext cx="14329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98">
              <a:extLst>
                <a:ext uri="{FF2B5EF4-FFF2-40B4-BE49-F238E27FC236}">
                  <a16:creationId xmlns:a16="http://schemas.microsoft.com/office/drawing/2014/main" id="{9362B6D4-4D4F-5637-A4B9-50CDB182B3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732240" y="5121188"/>
              <a:ext cx="0" cy="93655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107">
              <a:extLst>
                <a:ext uri="{FF2B5EF4-FFF2-40B4-BE49-F238E27FC236}">
                  <a16:creationId xmlns:a16="http://schemas.microsoft.com/office/drawing/2014/main" id="{9F55433F-29E9-6840-CED5-69C8E03AE2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0292" y="5553236"/>
              <a:ext cx="93601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113">
              <a:extLst>
                <a:ext uri="{FF2B5EF4-FFF2-40B4-BE49-F238E27FC236}">
                  <a16:creationId xmlns:a16="http://schemas.microsoft.com/office/drawing/2014/main" id="{FEE7CE62-ADC8-F1D5-E74E-7D8569C0B1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4193" y="5563803"/>
              <a:ext cx="44735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AutoShape 92">
              <a:extLst>
                <a:ext uri="{FF2B5EF4-FFF2-40B4-BE49-F238E27FC236}">
                  <a16:creationId xmlns:a16="http://schemas.microsoft.com/office/drawing/2014/main" id="{E3CEB31D-D730-5725-89D2-971BFD7B1D0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7000981" y="5873886"/>
              <a:ext cx="433388" cy="369046"/>
            </a:xfrm>
            <a:prstGeom prst="flowChartMerg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6" name="Oval 93">
              <a:extLst>
                <a:ext uri="{FF2B5EF4-FFF2-40B4-BE49-F238E27FC236}">
                  <a16:creationId xmlns:a16="http://schemas.microsoft.com/office/drawing/2014/main" id="{0C49A018-AAE7-40AE-4B3C-9117C77BC90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29065" y="5832892"/>
              <a:ext cx="126850" cy="11557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7" name="AutoShape 92">
              <a:extLst>
                <a:ext uri="{FF2B5EF4-FFF2-40B4-BE49-F238E27FC236}">
                  <a16:creationId xmlns:a16="http://schemas.microsoft.com/office/drawing/2014/main" id="{BC9B0867-7620-9F6D-EED0-79151ADCDC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7000981" y="4937782"/>
              <a:ext cx="433388" cy="369046"/>
            </a:xfrm>
            <a:prstGeom prst="flowChartMerg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8" name="AutoShape 92">
              <a:extLst>
                <a:ext uri="{FF2B5EF4-FFF2-40B4-BE49-F238E27FC236}">
                  <a16:creationId xmlns:a16="http://schemas.microsoft.com/office/drawing/2014/main" id="{2A3C9BB8-E679-1311-5207-5E81FA8B159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6964271" y="4433279"/>
              <a:ext cx="433388" cy="369046"/>
            </a:xfrm>
            <a:prstGeom prst="flowChartMerg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9" name="Line 98">
              <a:extLst>
                <a:ext uri="{FF2B5EF4-FFF2-40B4-BE49-F238E27FC236}">
                  <a16:creationId xmlns:a16="http://schemas.microsoft.com/office/drawing/2014/main" id="{9368EBD7-7228-CA16-462E-AFDEED9833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769297" y="4617578"/>
              <a:ext cx="0" cy="50361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EBBB6F38-1F1C-9903-3D29-A70A17221A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81939" y="4185084"/>
              <a:ext cx="91774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94">
              <a:extLst>
                <a:ext uri="{FF2B5EF4-FFF2-40B4-BE49-F238E27FC236}">
                  <a16:creationId xmlns:a16="http://schemas.microsoft.com/office/drawing/2014/main" id="{65FF31A0-5B46-AEFF-6751-8AA6920699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77058" y="4189847"/>
              <a:ext cx="4855" cy="30956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12">
              <a:extLst>
                <a:ext uri="{FF2B5EF4-FFF2-40B4-BE49-F238E27FC236}">
                  <a16:creationId xmlns:a16="http://schemas.microsoft.com/office/drawing/2014/main" id="{65CED808-CA4F-BB22-9780-27CD5926BA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6264189" y="4293095"/>
              <a:ext cx="0" cy="19802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Oval 15">
              <a:extLst>
                <a:ext uri="{FF2B5EF4-FFF2-40B4-BE49-F238E27FC236}">
                  <a16:creationId xmlns:a16="http://schemas.microsoft.com/office/drawing/2014/main" id="{5E0A4108-9F06-57F3-B69C-51C7AE25D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180" y="4545124"/>
              <a:ext cx="144463" cy="144463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4" name="Oval 15">
              <a:extLst>
                <a:ext uri="{FF2B5EF4-FFF2-40B4-BE49-F238E27FC236}">
                  <a16:creationId xmlns:a16="http://schemas.microsoft.com/office/drawing/2014/main" id="{59456F26-83B1-9319-580D-94F1CCCD8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1733" y="5481228"/>
              <a:ext cx="144463" cy="144463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5" name="Oval 15">
              <a:extLst>
                <a:ext uri="{FF2B5EF4-FFF2-40B4-BE49-F238E27FC236}">
                  <a16:creationId xmlns:a16="http://schemas.microsoft.com/office/drawing/2014/main" id="{39E45FD3-00BD-6653-18AC-BDDA99C58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4348" y="5049180"/>
              <a:ext cx="108459" cy="108459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6" name="Oval 15">
              <a:extLst>
                <a:ext uri="{FF2B5EF4-FFF2-40B4-BE49-F238E27FC236}">
                  <a16:creationId xmlns:a16="http://schemas.microsoft.com/office/drawing/2014/main" id="{B40241A8-3241-7483-3EC2-7ED99DA07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284" y="5481228"/>
              <a:ext cx="108459" cy="108459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7" name="Text Box 19">
              <a:extLst>
                <a:ext uri="{FF2B5EF4-FFF2-40B4-BE49-F238E27FC236}">
                  <a16:creationId xmlns:a16="http://schemas.microsoft.com/office/drawing/2014/main" id="{8B36B493-146E-6D32-E72F-589A89A25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2400" y="3969060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4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48" name="Text Box 19">
              <a:extLst>
                <a:ext uri="{FF2B5EF4-FFF2-40B4-BE49-F238E27FC236}">
                  <a16:creationId xmlns:a16="http://schemas.microsoft.com/office/drawing/2014/main" id="{8008FD96-17A3-2405-AC80-6BCEEC187B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2400" y="4869160"/>
              <a:ext cx="56457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4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D</a:t>
              </a:r>
              <a:r>
                <a:rPr lang="en-US" altLang="zh-CN" sz="2000">
                  <a:latin typeface="Arial" panose="020B0604020202020204" pitchFamily="34" charset="0"/>
                </a:rPr>
                <a:t>o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9" name="Text Box 19">
              <a:extLst>
                <a:ext uri="{FF2B5EF4-FFF2-40B4-BE49-F238E27FC236}">
                  <a16:creationId xmlns:a16="http://schemas.microsoft.com/office/drawing/2014/main" id="{2EDB5781-5F50-94FA-1324-F6FAB14683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2334" y="5811558"/>
              <a:ext cx="525304" cy="461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4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D</a:t>
              </a:r>
              <a:r>
                <a:rPr lang="en-US" altLang="zh-CN" sz="1000">
                  <a:latin typeface="Arial" panose="020B0604020202020204" pitchFamily="34" charset="0"/>
                </a:rPr>
                <a:t> </a:t>
              </a:r>
              <a:r>
                <a:rPr lang="en-US" altLang="zh-CN" sz="1600">
                  <a:latin typeface="Arial Black" panose="020B0A04020102020204" pitchFamily="34" charset="0"/>
                </a:rPr>
                <a:t>I</a:t>
              </a:r>
              <a:endParaRPr lang="en-US" altLang="zh-CN" sz="2400">
                <a:latin typeface="Arial Black" panose="020B0A04020102020204" pitchFamily="34" charset="0"/>
              </a:endParaRPr>
            </a:p>
          </p:txBody>
        </p:sp>
        <p:sp>
          <p:nvSpPr>
            <p:cNvPr id="50" name="Oval 15">
              <a:extLst>
                <a:ext uri="{FF2B5EF4-FFF2-40B4-BE49-F238E27FC236}">
                  <a16:creationId xmlns:a16="http://schemas.microsoft.com/office/drawing/2014/main" id="{4EDF9B3B-6089-4456-14CD-A5EC8C5F7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9785" y="5517232"/>
              <a:ext cx="108459" cy="108459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1" name="Text Box 19">
              <a:extLst>
                <a:ext uri="{FF2B5EF4-FFF2-40B4-BE49-F238E27FC236}">
                  <a16:creationId xmlns:a16="http://schemas.microsoft.com/office/drawing/2014/main" id="{30E8FE3E-FB11-ED41-4E95-1108B499B7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2400" y="5405154"/>
              <a:ext cx="59824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4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WE</a:t>
              </a:r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CC627843-1095-D063-D800-31C6F3C974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244408" y="5441158"/>
              <a:ext cx="4163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12">
              <a:extLst>
                <a:ext uri="{FF2B5EF4-FFF2-40B4-BE49-F238E27FC236}">
                  <a16:creationId xmlns:a16="http://schemas.microsoft.com/office/drawing/2014/main" id="{31556D75-8A4E-AC7A-1BA3-A5055873910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6264188" y="3897052"/>
              <a:ext cx="0" cy="3240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D57458D8-8995-6C79-6314-E0C98D5918FE}"/>
              </a:ext>
            </a:extLst>
          </p:cNvPr>
          <p:cNvCxnSpPr>
            <a:cxnSpLocks/>
          </p:cNvCxnSpPr>
          <p:nvPr/>
        </p:nvCxnSpPr>
        <p:spPr>
          <a:xfrm>
            <a:off x="2536756" y="2940862"/>
            <a:ext cx="431523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B9A0E81F-5696-4BCA-3E5F-F93B9D225560}"/>
              </a:ext>
            </a:extLst>
          </p:cNvPr>
          <p:cNvCxnSpPr>
            <a:cxnSpLocks/>
          </p:cNvCxnSpPr>
          <p:nvPr/>
        </p:nvCxnSpPr>
        <p:spPr>
          <a:xfrm>
            <a:off x="2039799" y="3795628"/>
            <a:ext cx="431523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0CBACDCA-AC2C-5A93-F899-16F5238F4B94}"/>
              </a:ext>
            </a:extLst>
          </p:cNvPr>
          <p:cNvCxnSpPr>
            <a:cxnSpLocks/>
          </p:cNvCxnSpPr>
          <p:nvPr/>
        </p:nvCxnSpPr>
        <p:spPr>
          <a:xfrm>
            <a:off x="2172320" y="4696775"/>
            <a:ext cx="431523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537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B0201-354E-ABC1-6A9D-B905909B0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+mj-ea"/>
                <a:ea typeface="+mj-ea"/>
              </a:rPr>
              <a:t>示例</a:t>
            </a:r>
            <a:r>
              <a:rPr lang="en-US" altLang="zh-CN" dirty="0">
                <a:latin typeface="+mj-ea"/>
                <a:ea typeface="+mj-ea"/>
              </a:rPr>
              <a:t>: DRAM</a:t>
            </a:r>
            <a:r>
              <a:rPr lang="zh-CN" altLang="en-US" dirty="0">
                <a:latin typeface="+mj-ea"/>
                <a:ea typeface="+mj-ea"/>
              </a:rPr>
              <a:t>芯片</a:t>
            </a:r>
            <a:r>
              <a:rPr lang="en-US" altLang="zh-CN" dirty="0">
                <a:latin typeface="+mj-ea"/>
                <a:ea typeface="+mj-ea"/>
              </a:rPr>
              <a:t>4164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00EC87A-5E74-5EB0-1401-E5BC66DF1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BAE201-5587-0CDF-A396-59205CFBC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21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A5FE3A0B-F25D-F157-CCA6-3DD2EB509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888220" cy="5947119"/>
          </a:xfrm>
        </p:spPr>
        <p:txBody>
          <a:bodyPr/>
          <a:lstStyle/>
          <a:p>
            <a:pPr>
              <a:buFontTx/>
              <a:buNone/>
              <a:defRPr/>
            </a:pPr>
            <a:r>
              <a:rPr lang="zh-CN" altLang="en-US" sz="2800" dirty="0"/>
              <a:t>     </a:t>
            </a:r>
            <a:endParaRPr lang="en-US" altLang="zh-CN" sz="2800" dirty="0"/>
          </a:p>
          <a:p>
            <a:pPr>
              <a:buFontTx/>
              <a:buNone/>
              <a:defRPr/>
            </a:pPr>
            <a:r>
              <a:rPr lang="zh-CN" altLang="en-US" dirty="0"/>
              <a:t>       </a:t>
            </a:r>
            <a:r>
              <a:rPr lang="zh-CN" altLang="en-US" sz="2800" dirty="0"/>
              <a:t>容量 </a:t>
            </a:r>
            <a:r>
              <a:rPr lang="en-US" altLang="zh-CN" sz="2800" dirty="0"/>
              <a:t>= 2</a:t>
            </a:r>
            <a:r>
              <a:rPr lang="en-US" altLang="zh-CN" baseline="30000" dirty="0"/>
              <a:t>8</a:t>
            </a:r>
            <a:r>
              <a:rPr lang="en-US" altLang="zh-CN" sz="2800" baseline="30000" dirty="0"/>
              <a:t> x </a:t>
            </a:r>
            <a:r>
              <a:rPr lang="en-US" altLang="zh-CN" baseline="30000" dirty="0"/>
              <a:t>2</a:t>
            </a:r>
            <a:r>
              <a:rPr lang="zh-CN" altLang="en-US" baseline="30000" dirty="0"/>
              <a:t> </a:t>
            </a:r>
            <a:r>
              <a:rPr lang="en-US" altLang="zh-CN" sz="2800" dirty="0"/>
              <a:t>x </a:t>
            </a:r>
            <a:r>
              <a:rPr lang="en-US" altLang="zh-CN" dirty="0"/>
              <a:t>1bit</a:t>
            </a:r>
            <a:r>
              <a:rPr lang="en-US" altLang="zh-CN" sz="2800" dirty="0"/>
              <a:t> = 64Kb</a:t>
            </a:r>
          </a:p>
          <a:p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BA7FE2-4DB9-9B1B-6131-56E69BDA63E1}"/>
              </a:ext>
            </a:extLst>
          </p:cNvPr>
          <p:cNvSpPr txBox="1"/>
          <p:nvPr/>
        </p:nvSpPr>
        <p:spPr>
          <a:xfrm>
            <a:off x="6191389" y="637180"/>
            <a:ext cx="2939360" cy="12557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地址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A</a:t>
            </a:r>
            <a:r>
              <a:rPr lang="en-US" altLang="zh-CN" sz="1800" baseline="-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～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en-US" altLang="zh-CN" sz="1800" baseline="-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</a:p>
          <a:p>
            <a:pPr>
              <a:defRPr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Din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Dout</a:t>
            </a:r>
            <a:endParaRPr lang="en-US" altLang="zh-CN" sz="1800" baseline="-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20000"/>
              </a:spcAft>
              <a:defRPr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控制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WE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RAS, CAS</a:t>
            </a:r>
          </a:p>
          <a:p>
            <a:pPr>
              <a:spcAft>
                <a:spcPct val="20000"/>
              </a:spcAft>
              <a:defRPr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电源和地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Vdd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Vss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3293E581-C366-823C-87DE-A39DA4386DDE}"/>
              </a:ext>
            </a:extLst>
          </p:cNvPr>
          <p:cNvCxnSpPr>
            <a:cxnSpLocks/>
          </p:cNvCxnSpPr>
          <p:nvPr/>
        </p:nvCxnSpPr>
        <p:spPr>
          <a:xfrm>
            <a:off x="7475220" y="1232270"/>
            <a:ext cx="408016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815E0C2D-35A9-AB66-CB55-F0DBF9570D9F}"/>
              </a:ext>
            </a:extLst>
          </p:cNvPr>
          <p:cNvCxnSpPr>
            <a:cxnSpLocks/>
          </p:cNvCxnSpPr>
          <p:nvPr/>
        </p:nvCxnSpPr>
        <p:spPr>
          <a:xfrm>
            <a:off x="8008529" y="1232270"/>
            <a:ext cx="428889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A92E4147-9CB8-580A-E9F9-F1BC1CDE4761}"/>
              </a:ext>
            </a:extLst>
          </p:cNvPr>
          <p:cNvCxnSpPr>
            <a:cxnSpLocks/>
          </p:cNvCxnSpPr>
          <p:nvPr/>
        </p:nvCxnSpPr>
        <p:spPr>
          <a:xfrm>
            <a:off x="6810198" y="1232268"/>
            <a:ext cx="408016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4">
            <a:extLst>
              <a:ext uri="{FF2B5EF4-FFF2-40B4-BE49-F238E27FC236}">
                <a16:creationId xmlns:a16="http://schemas.microsoft.com/office/drawing/2014/main" id="{C8D697CF-8CDA-2590-BC9A-793656407D29}"/>
              </a:ext>
            </a:extLst>
          </p:cNvPr>
          <p:cNvGrpSpPr>
            <a:grpSpLocks/>
          </p:cNvGrpSpPr>
          <p:nvPr/>
        </p:nvGrpSpPr>
        <p:grpSpPr bwMode="auto">
          <a:xfrm>
            <a:off x="5164138" y="2487996"/>
            <a:ext cx="3743325" cy="3571875"/>
            <a:chOff x="3061" y="1789"/>
            <a:chExt cx="2358" cy="2250"/>
          </a:xfrm>
        </p:grpSpPr>
        <p:sp>
          <p:nvSpPr>
            <p:cNvPr id="30" name="Text Box 5">
              <a:extLst>
                <a:ext uri="{FF2B5EF4-FFF2-40B4-BE49-F238E27FC236}">
                  <a16:creationId xmlns:a16="http://schemas.microsoft.com/office/drawing/2014/main" id="{6324625D-284E-2DC5-107F-5333327444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3748"/>
              <a:ext cx="19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40000"/>
                </a:spcBef>
                <a:defRPr/>
              </a:pPr>
              <a:r>
                <a: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DRAM 4164 </a:t>
              </a:r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引脚图</a:t>
              </a:r>
            </a:p>
          </p:txBody>
        </p:sp>
        <p:graphicFrame>
          <p:nvGraphicFramePr>
            <p:cNvPr id="31" name="Object 2">
              <a:extLst>
                <a:ext uri="{FF2B5EF4-FFF2-40B4-BE49-F238E27FC236}">
                  <a16:creationId xmlns:a16="http://schemas.microsoft.com/office/drawing/2014/main" id="{50CD333B-E60B-5FB6-A6BA-B424FDF8A5B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061" y="1789"/>
            <a:ext cx="2358" cy="20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685544" imgH="1225296" progId="">
                    <p:embed/>
                  </p:oleObj>
                </mc:Choice>
                <mc:Fallback>
                  <p:oleObj r:id="rId2" imgW="1685544" imgH="1225296" progId="">
                    <p:embed/>
                    <p:pic>
                      <p:nvPicPr>
                        <p:cNvPr id="35876" name="Object 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1789"/>
                          <a:ext cx="2358" cy="20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Rectangle 8">
            <a:extLst>
              <a:ext uri="{FF2B5EF4-FFF2-40B4-BE49-F238E27FC236}">
                <a16:creationId xmlns:a16="http://schemas.microsoft.com/office/drawing/2014/main" id="{B57F7988-E35B-DE68-2137-48137D3FF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2643571"/>
            <a:ext cx="1152525" cy="28098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3" name="Text Box 9">
            <a:extLst>
              <a:ext uri="{FF2B5EF4-FFF2-40B4-BE49-F238E27FC236}">
                <a16:creationId xmlns:a16="http://schemas.microsoft.com/office/drawing/2014/main" id="{BD001663-7FB9-1A1D-DD6C-FB18E73AD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4413" y="3508758"/>
            <a:ext cx="12969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DRAM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4164</a:t>
            </a:r>
          </a:p>
        </p:txBody>
      </p:sp>
      <p:sp>
        <p:nvSpPr>
          <p:cNvPr id="34" name="Line 10">
            <a:extLst>
              <a:ext uri="{FF2B5EF4-FFF2-40B4-BE49-F238E27FC236}">
                <a16:creationId xmlns:a16="http://schemas.microsoft.com/office/drawing/2014/main" id="{607A7FAE-C22A-0DD0-F661-5D324505C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1888" y="3076958"/>
            <a:ext cx="12239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11">
            <a:extLst>
              <a:ext uri="{FF2B5EF4-FFF2-40B4-BE49-F238E27FC236}">
                <a16:creationId xmlns:a16="http://schemas.microsoft.com/office/drawing/2014/main" id="{46A449AC-6AE7-5333-3010-99607C8CF4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8375" y="3653221"/>
            <a:ext cx="936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Text Box 12">
            <a:extLst>
              <a:ext uri="{FF2B5EF4-FFF2-40B4-BE49-F238E27FC236}">
                <a16:creationId xmlns:a16="http://schemas.microsoft.com/office/drawing/2014/main" id="{CA952D02-42BB-51F6-9D0A-ECD888105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325" y="2573721"/>
            <a:ext cx="1028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A</a:t>
            </a:r>
            <a:r>
              <a:rPr lang="en-US" altLang="zh-CN" sz="2400" baseline="-2000">
                <a:latin typeface="Arial" panose="020B0604020202020204" pitchFamily="34" charset="0"/>
              </a:rPr>
              <a:t>0</a:t>
            </a:r>
            <a:r>
              <a:rPr lang="en-US" altLang="zh-CN" sz="2400">
                <a:latin typeface="Arial" panose="020B0604020202020204" pitchFamily="34" charset="0"/>
              </a:rPr>
              <a:t>~A</a:t>
            </a:r>
            <a:r>
              <a:rPr lang="en-US" altLang="zh-CN" sz="2400" baseline="-2000"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7" name="Text Box 13">
            <a:extLst>
              <a:ext uri="{FF2B5EF4-FFF2-40B4-BE49-F238E27FC236}">
                <a16:creationId xmlns:a16="http://schemas.microsoft.com/office/drawing/2014/main" id="{DC14EDD6-FEF4-5F2C-0595-026F6672B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148396"/>
            <a:ext cx="674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Din</a:t>
            </a:r>
            <a:endParaRPr lang="en-US" altLang="zh-CN" sz="2400" baseline="-2000">
              <a:latin typeface="Arial" panose="020B0604020202020204" pitchFamily="34" charset="0"/>
            </a:endParaRPr>
          </a:p>
        </p:txBody>
      </p:sp>
      <p:sp>
        <p:nvSpPr>
          <p:cNvPr id="38" name="Line 14">
            <a:extLst>
              <a:ext uri="{FF2B5EF4-FFF2-40B4-BE49-F238E27FC236}">
                <a16:creationId xmlns:a16="http://schemas.microsoft.com/office/drawing/2014/main" id="{1F2A50D5-0A21-EBAF-AA94-F4AFE99D12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5125" y="3003933"/>
            <a:ext cx="144463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Text Box 15">
            <a:extLst>
              <a:ext uri="{FF2B5EF4-FFF2-40B4-BE49-F238E27FC236}">
                <a16:creationId xmlns:a16="http://schemas.microsoft.com/office/drawing/2014/main" id="{0FA886A0-C2A0-D732-48C1-4489F3CDD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663" y="3076958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40" name="Line 16">
            <a:extLst>
              <a:ext uri="{FF2B5EF4-FFF2-40B4-BE49-F238E27FC236}">
                <a16:creationId xmlns:a16="http://schemas.microsoft.com/office/drawing/2014/main" id="{6AAA4FE4-B9B6-59BF-C54F-75197B74FC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1888" y="4013583"/>
            <a:ext cx="12239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Text Box 17">
            <a:extLst>
              <a:ext uri="{FF2B5EF4-FFF2-40B4-BE49-F238E27FC236}">
                <a16:creationId xmlns:a16="http://schemas.microsoft.com/office/drawing/2014/main" id="{20496D13-1C45-608C-1A0A-9E8CD5B90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813" y="3653221"/>
            <a:ext cx="59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WE</a:t>
            </a:r>
          </a:p>
        </p:txBody>
      </p:sp>
      <p:sp>
        <p:nvSpPr>
          <p:cNvPr id="42" name="Line 18">
            <a:extLst>
              <a:ext uri="{FF2B5EF4-FFF2-40B4-BE49-F238E27FC236}">
                <a16:creationId xmlns:a16="http://schemas.microsoft.com/office/drawing/2014/main" id="{6E1C672D-11FE-E901-8AA6-B146F749D7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2250" y="3689733"/>
            <a:ext cx="431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Text Box 19">
            <a:extLst>
              <a:ext uri="{FF2B5EF4-FFF2-40B4-BE49-F238E27FC236}">
                <a16:creationId xmlns:a16="http://schemas.microsoft.com/office/drawing/2014/main" id="{E4F81E87-ED35-2B46-4DD9-03CBB3EC5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788" y="5568716"/>
            <a:ext cx="30524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40000"/>
              </a:spcBef>
              <a:defRPr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DRAM 4164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逻辑图</a:t>
            </a:r>
          </a:p>
        </p:txBody>
      </p:sp>
      <p:sp>
        <p:nvSpPr>
          <p:cNvPr id="44" name="Line 20">
            <a:extLst>
              <a:ext uri="{FF2B5EF4-FFF2-40B4-BE49-F238E27FC236}">
                <a16:creationId xmlns:a16="http://schemas.microsoft.com/office/drawing/2014/main" id="{9FC09335-8D70-C4EB-0798-C9E0A1890B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8375" y="4516821"/>
            <a:ext cx="936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Text Box 21">
            <a:extLst>
              <a:ext uri="{FF2B5EF4-FFF2-40B4-BE49-F238E27FC236}">
                <a16:creationId xmlns:a16="http://schemas.microsoft.com/office/drawing/2014/main" id="{E72AA9D1-2E98-228D-7F7D-44C87B56E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75" y="4013583"/>
            <a:ext cx="877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Dout</a:t>
            </a:r>
            <a:endParaRPr lang="en-US" altLang="zh-CN" sz="2400" baseline="-2000">
              <a:latin typeface="Arial" panose="020B0604020202020204" pitchFamily="34" charset="0"/>
            </a:endParaRPr>
          </a:p>
        </p:txBody>
      </p:sp>
      <p:sp>
        <p:nvSpPr>
          <p:cNvPr id="46" name="Line 22">
            <a:extLst>
              <a:ext uri="{FF2B5EF4-FFF2-40B4-BE49-F238E27FC236}">
                <a16:creationId xmlns:a16="http://schemas.microsoft.com/office/drawing/2014/main" id="{746E5B2D-B60D-6311-5447-7F1B5F1852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1888" y="4564446"/>
            <a:ext cx="12239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Text Box 23">
            <a:extLst>
              <a:ext uri="{FF2B5EF4-FFF2-40B4-BE49-F238E27FC236}">
                <a16:creationId xmlns:a16="http://schemas.microsoft.com/office/drawing/2014/main" id="{E576C145-8DC0-0FB1-D0F5-5C99F41FE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788" y="4204083"/>
            <a:ext cx="722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RAS</a:t>
            </a:r>
          </a:p>
        </p:txBody>
      </p:sp>
      <p:sp>
        <p:nvSpPr>
          <p:cNvPr id="48" name="Line 24">
            <a:extLst>
              <a:ext uri="{FF2B5EF4-FFF2-40B4-BE49-F238E27FC236}">
                <a16:creationId xmlns:a16="http://schemas.microsoft.com/office/drawing/2014/main" id="{F9F6792B-6944-BAC9-7B49-D545920A22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0813" y="4264408"/>
            <a:ext cx="539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25">
            <a:extLst>
              <a:ext uri="{FF2B5EF4-FFF2-40B4-BE49-F238E27FC236}">
                <a16:creationId xmlns:a16="http://schemas.microsoft.com/office/drawing/2014/main" id="{0FB0113E-5C4F-AE20-51FC-18B3EEC1A8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1888" y="5043871"/>
            <a:ext cx="12239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Text Box 26">
            <a:extLst>
              <a:ext uri="{FF2B5EF4-FFF2-40B4-BE49-F238E27FC236}">
                <a16:creationId xmlns:a16="http://schemas.microsoft.com/office/drawing/2014/main" id="{A87CD73D-39C8-5617-CE63-91A954678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788" y="4683508"/>
            <a:ext cx="722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CAS</a:t>
            </a:r>
          </a:p>
        </p:txBody>
      </p:sp>
      <p:sp>
        <p:nvSpPr>
          <p:cNvPr id="51" name="Line 27">
            <a:extLst>
              <a:ext uri="{FF2B5EF4-FFF2-40B4-BE49-F238E27FC236}">
                <a16:creationId xmlns:a16="http://schemas.microsoft.com/office/drawing/2014/main" id="{04DAEAAC-AA1D-103B-375D-6A977C0DA6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55738" y="4732721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Oval 33">
            <a:extLst>
              <a:ext uri="{FF2B5EF4-FFF2-40B4-BE49-F238E27FC236}">
                <a16:creationId xmlns:a16="http://schemas.microsoft.com/office/drawing/2014/main" id="{AB85EECB-A479-D8B5-B390-2AF147993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900" y="5005771"/>
            <a:ext cx="101600" cy="9683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3" name="Oval 34">
            <a:extLst>
              <a:ext uri="{FF2B5EF4-FFF2-40B4-BE49-F238E27FC236}">
                <a16:creationId xmlns:a16="http://schemas.microsoft.com/office/drawing/2014/main" id="{D8A430D9-2423-503B-04D9-AF2A4D710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900" y="4516821"/>
            <a:ext cx="101600" cy="9683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673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C1654-1463-5622-C02E-E498F701E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+mn-ea"/>
                <a:ea typeface="+mn-ea"/>
              </a:rPr>
              <a:t>主存容量扩展</a:t>
            </a:r>
            <a:endParaRPr kumimoji="1"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5C2380-35D0-2846-B2C2-E6939DC7B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由多个存储芯片，构成较大容量的存储器</a:t>
            </a:r>
          </a:p>
          <a:p>
            <a:pPr>
              <a:lnSpc>
                <a:spcPct val="90000"/>
              </a:lnSpc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容量扩展方式：位扩展、字扩展、字位同时扩展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5DE1FC-68E4-DADD-1358-E72997FED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7BB482-A0A3-D228-5C91-A0E91BC84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22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F98AEAE6-08A0-1FE4-2F66-CF650659E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1931" y="2597583"/>
            <a:ext cx="9829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>
                <a:latin typeface="+mj-ea"/>
                <a:ea typeface="+mj-ea"/>
              </a:rPr>
              <a:t>P x L</a:t>
            </a:r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68667DBD-3A83-9D32-EBF2-889EA708A37D}"/>
              </a:ext>
            </a:extLst>
          </p:cNvPr>
          <p:cNvGrpSpPr>
            <a:grpSpLocks/>
          </p:cNvGrpSpPr>
          <p:nvPr/>
        </p:nvGrpSpPr>
        <p:grpSpPr bwMode="auto">
          <a:xfrm>
            <a:off x="3732068" y="3207183"/>
            <a:ext cx="3552825" cy="2154237"/>
            <a:chOff x="2348" y="2363"/>
            <a:chExt cx="2238" cy="1357"/>
          </a:xfrm>
        </p:grpSpPr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54EAEFC9-1C40-D310-1ED1-38FA89461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" y="3390"/>
              <a:ext cx="770" cy="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800">
                  <a:latin typeface="+mj-ea"/>
                  <a:ea typeface="+mj-ea"/>
                </a:rPr>
                <a:t>M x N</a:t>
              </a: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2FD9B821-21CD-B687-04A9-02A5EFC65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8" y="2363"/>
              <a:ext cx="1407" cy="9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48FC0455-DF6A-4822-CE85-4621C00FB0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635"/>
              <a:ext cx="14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800">
                  <a:latin typeface="+mj-ea"/>
                  <a:ea typeface="+mj-ea"/>
                </a:rPr>
                <a:t>字位同时扩展</a:t>
              </a:r>
            </a:p>
          </p:txBody>
        </p:sp>
      </p:grpSp>
      <p:grpSp>
        <p:nvGrpSpPr>
          <p:cNvPr id="11" name="Group 9">
            <a:extLst>
              <a:ext uri="{FF2B5EF4-FFF2-40B4-BE49-F238E27FC236}">
                <a16:creationId xmlns:a16="http://schemas.microsoft.com/office/drawing/2014/main" id="{80D8B6EE-C8A7-9145-0C1B-006FE87B93B3}"/>
              </a:ext>
            </a:extLst>
          </p:cNvPr>
          <p:cNvGrpSpPr>
            <a:grpSpLocks/>
          </p:cNvGrpSpPr>
          <p:nvPr/>
        </p:nvGrpSpPr>
        <p:grpSpPr bwMode="auto">
          <a:xfrm>
            <a:off x="3732068" y="2254683"/>
            <a:ext cx="4748213" cy="871537"/>
            <a:chOff x="2348" y="1763"/>
            <a:chExt cx="2991" cy="549"/>
          </a:xfrm>
        </p:grpSpPr>
        <p:grpSp>
          <p:nvGrpSpPr>
            <p:cNvPr id="12" name="Group 10">
              <a:extLst>
                <a:ext uri="{FF2B5EF4-FFF2-40B4-BE49-F238E27FC236}">
                  <a16:creationId xmlns:a16="http://schemas.microsoft.com/office/drawing/2014/main" id="{8051C181-37E0-33F3-8B5E-65957E9C25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48" y="1763"/>
              <a:ext cx="2134" cy="549"/>
              <a:chOff x="2348" y="1763"/>
              <a:chExt cx="2134" cy="549"/>
            </a:xfrm>
          </p:grpSpPr>
          <p:sp>
            <p:nvSpPr>
              <p:cNvPr id="14" name="Text Box 11">
                <a:extLst>
                  <a:ext uri="{FF2B5EF4-FFF2-40B4-BE49-F238E27FC236}">
                    <a16:creationId xmlns:a16="http://schemas.microsoft.com/office/drawing/2014/main" id="{6D439083-34DB-BE45-4455-F7BDEFFF9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0" y="1979"/>
                <a:ext cx="682" cy="3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b="0">
                    <a:latin typeface="+mj-ea"/>
                    <a:ea typeface="+mj-ea"/>
                  </a:rPr>
                  <a:t>P x N</a:t>
                </a:r>
              </a:p>
            </p:txBody>
          </p:sp>
          <p:sp>
            <p:nvSpPr>
              <p:cNvPr id="15" name="Line 12">
                <a:extLst>
                  <a:ext uri="{FF2B5EF4-FFF2-40B4-BE49-F238E27FC236}">
                    <a16:creationId xmlns:a16="http://schemas.microsoft.com/office/drawing/2014/main" id="{6272CE76-9465-3869-CE91-ECB86FDF76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8" y="2136"/>
                <a:ext cx="14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6" name="Text Box 13">
                <a:extLst>
                  <a:ext uri="{FF2B5EF4-FFF2-40B4-BE49-F238E27FC236}">
                    <a16:creationId xmlns:a16="http://schemas.microsoft.com/office/drawing/2014/main" id="{86A2B5F1-E328-0FE3-73A3-531A0721CF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8" y="1763"/>
                <a:ext cx="79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r>
                  <a:rPr lang="zh-CN" altLang="en-US" sz="2800" dirty="0">
                    <a:latin typeface="+mj-ea"/>
                    <a:ea typeface="+mj-ea"/>
                  </a:rPr>
                  <a:t>位扩展</a:t>
                </a:r>
              </a:p>
            </p:txBody>
          </p:sp>
        </p:grp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005A0364-1B28-6AEF-DAF2-E85CFC6BC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1979"/>
              <a:ext cx="73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>
                  <a:latin typeface="+mj-ea"/>
                  <a:ea typeface="+mj-ea"/>
                </a:rPr>
                <a:t>(N&gt;L)</a:t>
              </a:r>
            </a:p>
          </p:txBody>
        </p:sp>
      </p:grpSp>
      <p:grpSp>
        <p:nvGrpSpPr>
          <p:cNvPr id="17" name="Group 15">
            <a:extLst>
              <a:ext uri="{FF2B5EF4-FFF2-40B4-BE49-F238E27FC236}">
                <a16:creationId xmlns:a16="http://schemas.microsoft.com/office/drawing/2014/main" id="{3BCE21B4-CB77-4215-25C6-11FAD2FDB7E0}"/>
              </a:ext>
            </a:extLst>
          </p:cNvPr>
          <p:cNvGrpSpPr>
            <a:grpSpLocks/>
          </p:cNvGrpSpPr>
          <p:nvPr/>
        </p:nvGrpSpPr>
        <p:grpSpPr bwMode="auto">
          <a:xfrm>
            <a:off x="1715943" y="3207184"/>
            <a:ext cx="3386138" cy="2154238"/>
            <a:chOff x="930" y="2306"/>
            <a:chExt cx="2133" cy="1357"/>
          </a:xfrm>
        </p:grpSpPr>
        <p:grpSp>
          <p:nvGrpSpPr>
            <p:cNvPr id="18" name="Group 16">
              <a:extLst>
                <a:ext uri="{FF2B5EF4-FFF2-40B4-BE49-F238E27FC236}">
                  <a16:creationId xmlns:a16="http://schemas.microsoft.com/office/drawing/2014/main" id="{BB429006-9B9B-CD9B-5816-E4E6FCF4F3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0" y="2306"/>
              <a:ext cx="1279" cy="1357"/>
              <a:chOff x="1078" y="2363"/>
              <a:chExt cx="1279" cy="1357"/>
            </a:xfrm>
          </p:grpSpPr>
          <p:sp>
            <p:nvSpPr>
              <p:cNvPr id="20" name="Text Box 17">
                <a:extLst>
                  <a:ext uri="{FF2B5EF4-FFF2-40B4-BE49-F238E27FC236}">
                    <a16:creationId xmlns:a16="http://schemas.microsoft.com/office/drawing/2014/main" id="{4D29E4DE-F82D-CA54-2299-B1ED00D090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5" y="3390"/>
                <a:ext cx="702" cy="33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b="0">
                    <a:latin typeface="+mj-ea"/>
                    <a:ea typeface="+mj-ea"/>
                  </a:rPr>
                  <a:t>M x L</a:t>
                </a:r>
              </a:p>
            </p:txBody>
          </p:sp>
          <p:sp>
            <p:nvSpPr>
              <p:cNvPr id="21" name="Line 18">
                <a:extLst>
                  <a:ext uri="{FF2B5EF4-FFF2-40B4-BE49-F238E27FC236}">
                    <a16:creationId xmlns:a16="http://schemas.microsoft.com/office/drawing/2014/main" id="{F664E940-758B-F54A-816C-D40FC47C06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2363"/>
                <a:ext cx="0" cy="99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22" name="Text Box 19">
                <a:extLst>
                  <a:ext uri="{FF2B5EF4-FFF2-40B4-BE49-F238E27FC236}">
                    <a16:creationId xmlns:a16="http://schemas.microsoft.com/office/drawing/2014/main" id="{41CEC0F6-0290-FA23-4507-ECCC1C866A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2635"/>
                <a:ext cx="79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r>
                  <a:rPr lang="zh-CN" altLang="en-US" sz="2800" dirty="0">
                    <a:latin typeface="+mj-ea"/>
                    <a:ea typeface="+mj-ea"/>
                  </a:rPr>
                  <a:t>字扩展</a:t>
                </a:r>
              </a:p>
            </p:txBody>
          </p:sp>
        </p:grpSp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9447034F-897E-65DD-A28C-262E4029E3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" y="3330"/>
              <a:ext cx="79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>
                  <a:latin typeface="+mj-ea"/>
                  <a:ea typeface="+mj-ea"/>
                </a:rPr>
                <a:t>(M&gt;P)</a:t>
              </a:r>
            </a:p>
          </p:txBody>
        </p:sp>
      </p:grpSp>
      <p:sp>
        <p:nvSpPr>
          <p:cNvPr id="23" name="Rectangle 21">
            <a:extLst>
              <a:ext uri="{FF2B5EF4-FFF2-40B4-BE49-F238E27FC236}">
                <a16:creationId xmlns:a16="http://schemas.microsoft.com/office/drawing/2014/main" id="{9AABD0E3-7983-3414-1147-B02D5B41F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156" y="2580120"/>
            <a:ext cx="1612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zh-CN" altLang="en-US" sz="2800" dirty="0">
                <a:latin typeface="+mj-ea"/>
                <a:ea typeface="+mj-ea"/>
              </a:rPr>
              <a:t>芯片容量</a:t>
            </a:r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131D8E4C-655D-EACD-384E-B96CE63DB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7218" y="2038783"/>
            <a:ext cx="20161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zh-CN" altLang="en-US" sz="2800" dirty="0">
                <a:latin typeface="+mj-ea"/>
                <a:ea typeface="+mj-ea"/>
              </a:rPr>
              <a:t>存储器容量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DA8B4B12-C312-2AE2-0862-B24560B2D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418" y="4861358"/>
            <a:ext cx="20161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zh-CN" altLang="en-US" sz="2800">
                <a:latin typeface="+mj-ea"/>
                <a:ea typeface="+mj-ea"/>
              </a:rPr>
              <a:t>存储器容量</a:t>
            </a:r>
          </a:p>
        </p:txBody>
      </p:sp>
    </p:spTree>
    <p:extLst>
      <p:ext uri="{BB962C8B-B14F-4D97-AF65-F5344CB8AC3E}">
        <p14:creationId xmlns:p14="http://schemas.microsoft.com/office/powerpoint/2010/main" val="3304174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24150-3FB6-59E8-AC2B-B983DCFDC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+mj-ea"/>
                <a:ea typeface="+mj-ea"/>
              </a:rPr>
              <a:t>位扩展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D84B9A-C6C7-0591-DE43-BCA02060C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方法：除数据引脚外，芯片的其他引脚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地址和控制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并联</a:t>
            </a:r>
          </a:p>
          <a:p>
            <a:pPr>
              <a:lnSpc>
                <a:spcPct val="90000"/>
              </a:lnSpc>
              <a:defRPr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例如：用容量为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1K×4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位的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2114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构成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1K×8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位的存储器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5A18C7-4898-AA46-E97C-6E90870CC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2C9CF3C-FA26-BCE0-7F55-8C11A98BF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23</a:t>
            </a:fld>
            <a:r>
              <a:rPr lang="en-US" altLang="zh-CN" dirty="0"/>
              <a:t>/25</a:t>
            </a:r>
            <a:endParaRPr lang="en-US" dirty="0"/>
          </a:p>
        </p:txBody>
      </p:sp>
      <p:grpSp>
        <p:nvGrpSpPr>
          <p:cNvPr id="6" name="Group 68">
            <a:extLst>
              <a:ext uri="{FF2B5EF4-FFF2-40B4-BE49-F238E27FC236}">
                <a16:creationId xmlns:a16="http://schemas.microsoft.com/office/drawing/2014/main" id="{B66C5A6D-B8D6-EC89-C002-E1342D23D1DC}"/>
              </a:ext>
            </a:extLst>
          </p:cNvPr>
          <p:cNvGrpSpPr>
            <a:grpSpLocks/>
          </p:cNvGrpSpPr>
          <p:nvPr/>
        </p:nvGrpSpPr>
        <p:grpSpPr bwMode="auto">
          <a:xfrm>
            <a:off x="909493" y="2128865"/>
            <a:ext cx="8423275" cy="4143375"/>
            <a:chOff x="250" y="1434"/>
            <a:chExt cx="5306" cy="2610"/>
          </a:xfrm>
        </p:grpSpPr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ED45BFE3-1A96-7881-E07E-6260A8F133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" y="1434"/>
              <a:ext cx="5306" cy="2610"/>
              <a:chOff x="250" y="1434"/>
              <a:chExt cx="5306" cy="2610"/>
            </a:xfrm>
          </p:grpSpPr>
          <p:sp>
            <p:nvSpPr>
              <p:cNvPr id="12" name="Rectangle 5">
                <a:extLst>
                  <a:ext uri="{FF2B5EF4-FFF2-40B4-BE49-F238E27FC236}">
                    <a16:creationId xmlns:a16="http://schemas.microsoft.com/office/drawing/2014/main" id="{62145BF5-9AC0-5E39-B96E-2D7632E23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7" y="1434"/>
                <a:ext cx="4309" cy="249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3" name="Text Box 6">
                <a:extLst>
                  <a:ext uri="{FF2B5EF4-FFF2-40B4-BE49-F238E27FC236}">
                    <a16:creationId xmlns:a16="http://schemas.microsoft.com/office/drawing/2014/main" id="{8378C009-43A7-EB71-9E04-380D86726D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34" y="2070"/>
                <a:ext cx="2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14" name="Rectangle 7">
                <a:extLst>
                  <a:ext uri="{FF2B5EF4-FFF2-40B4-BE49-F238E27FC236}">
                    <a16:creationId xmlns:a16="http://schemas.microsoft.com/office/drawing/2014/main" id="{71F44236-F65C-4D9F-9063-08BFF36E6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3" y="1752"/>
                <a:ext cx="453" cy="140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5" name="Text Box 8">
                <a:extLst>
                  <a:ext uri="{FF2B5EF4-FFF2-40B4-BE49-F238E27FC236}">
                    <a16:creationId xmlns:a16="http://schemas.microsoft.com/office/drawing/2014/main" id="{96976F40-12A7-834C-60DA-2BB0DE3B40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2" y="2251"/>
                <a:ext cx="6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2114</a:t>
                </a:r>
              </a:p>
            </p:txBody>
          </p:sp>
          <p:sp>
            <p:nvSpPr>
              <p:cNvPr id="16" name="Line 9">
                <a:extLst>
                  <a:ext uri="{FF2B5EF4-FFF2-40B4-BE49-F238E27FC236}">
                    <a16:creationId xmlns:a16="http://schemas.microsoft.com/office/drawing/2014/main" id="{3325FE9A-8987-DDD3-E3B0-48C3ED9C5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2" y="2025"/>
                <a:ext cx="77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10">
                <a:extLst>
                  <a:ext uri="{FF2B5EF4-FFF2-40B4-BE49-F238E27FC236}">
                    <a16:creationId xmlns:a16="http://schemas.microsoft.com/office/drawing/2014/main" id="{D86E6524-E089-F549-4D24-1AAC8EAD94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6" y="2432"/>
                <a:ext cx="590" cy="1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Text Box 11">
                <a:extLst>
                  <a:ext uri="{FF2B5EF4-FFF2-40B4-BE49-F238E27FC236}">
                    <a16:creationId xmlns:a16="http://schemas.microsoft.com/office/drawing/2014/main" id="{1BB56A15-C396-BF34-9957-FDBA98FC75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3" y="1722"/>
                <a:ext cx="55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A</a:t>
                </a:r>
                <a:r>
                  <a:rPr lang="en-US" altLang="zh-CN" sz="2000" baseline="-2000">
                    <a:latin typeface="Arial" panose="020B0604020202020204" pitchFamily="34" charset="0"/>
                  </a:rPr>
                  <a:t>0</a:t>
                </a:r>
                <a:r>
                  <a:rPr lang="en-US" altLang="zh-CN" sz="2000">
                    <a:latin typeface="Arial" panose="020B0604020202020204" pitchFamily="34" charset="0"/>
                  </a:rPr>
                  <a:t>~A</a:t>
                </a:r>
                <a:r>
                  <a:rPr lang="en-US" altLang="zh-CN" sz="2000" baseline="-2000">
                    <a:latin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9" name="Text Box 12">
                <a:extLst>
                  <a:ext uri="{FF2B5EF4-FFF2-40B4-BE49-F238E27FC236}">
                    <a16:creationId xmlns:a16="http://schemas.microsoft.com/office/drawing/2014/main" id="{1D296935-0993-C374-562F-C693C8F17B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6" y="2115"/>
                <a:ext cx="74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I/O</a:t>
                </a:r>
                <a:r>
                  <a:rPr lang="en-US" altLang="zh-CN" sz="2000" baseline="-2000">
                    <a:latin typeface="Arial" panose="020B0604020202020204" pitchFamily="34" charset="0"/>
                  </a:rPr>
                  <a:t>1</a:t>
                </a:r>
                <a:r>
                  <a:rPr lang="en-US" altLang="zh-CN" sz="2000">
                    <a:latin typeface="Arial" panose="020B0604020202020204" pitchFamily="34" charset="0"/>
                  </a:rPr>
                  <a:t>~I/O</a:t>
                </a:r>
                <a:r>
                  <a:rPr lang="en-US" altLang="zh-CN" sz="2000" baseline="-2000">
                    <a:latin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0" name="Line 13">
                <a:extLst>
                  <a:ext uri="{FF2B5EF4-FFF2-40B4-BE49-F238E27FC236}">
                    <a16:creationId xmlns:a16="http://schemas.microsoft.com/office/drawing/2014/main" id="{AE45087E-6664-0FEB-A95E-1CE43EDD5B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4" y="1979"/>
                <a:ext cx="91" cy="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14">
                <a:extLst>
                  <a:ext uri="{FF2B5EF4-FFF2-40B4-BE49-F238E27FC236}">
                    <a16:creationId xmlns:a16="http://schemas.microsoft.com/office/drawing/2014/main" id="{FCF66E12-4F97-7A08-3618-52532BD23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3" y="2387"/>
                <a:ext cx="91" cy="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Text Box 15">
                <a:extLst>
                  <a:ext uri="{FF2B5EF4-FFF2-40B4-BE49-F238E27FC236}">
                    <a16:creationId xmlns:a16="http://schemas.microsoft.com/office/drawing/2014/main" id="{BFBE4C2A-7B99-495B-0769-3863296521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67" y="2478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Line 16">
                <a:extLst>
                  <a:ext uri="{FF2B5EF4-FFF2-40B4-BE49-F238E27FC236}">
                    <a16:creationId xmlns:a16="http://schemas.microsoft.com/office/drawing/2014/main" id="{EAD7C006-63E6-FE8B-0AFB-5FBA162E76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8" y="2932"/>
                <a:ext cx="5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Text Box 17">
                <a:extLst>
                  <a:ext uri="{FF2B5EF4-FFF2-40B4-BE49-F238E27FC236}">
                    <a16:creationId xmlns:a16="http://schemas.microsoft.com/office/drawing/2014/main" id="{DB33D41A-BA22-5393-A7A0-A9EEAA4AC6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34" y="2705"/>
                <a:ext cx="31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CS</a:t>
                </a:r>
              </a:p>
            </p:txBody>
          </p:sp>
          <p:sp>
            <p:nvSpPr>
              <p:cNvPr id="25" name="Line 18">
                <a:extLst>
                  <a:ext uri="{FF2B5EF4-FFF2-40B4-BE49-F238E27FC236}">
                    <a16:creationId xmlns:a16="http://schemas.microsoft.com/office/drawing/2014/main" id="{D1037FD6-5F7B-F75F-1E48-6B20FD8EE2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2" y="2523"/>
                <a:ext cx="77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Text Box 19">
                <a:extLst>
                  <a:ext uri="{FF2B5EF4-FFF2-40B4-BE49-F238E27FC236}">
                    <a16:creationId xmlns:a16="http://schemas.microsoft.com/office/drawing/2014/main" id="{5AF63C4D-0A85-670E-1381-15F7FA7BCA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34" y="2297"/>
                <a:ext cx="3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WE</a:t>
                </a:r>
              </a:p>
            </p:txBody>
          </p:sp>
          <p:sp>
            <p:nvSpPr>
              <p:cNvPr id="27" name="Line 20">
                <a:extLst>
                  <a:ext uri="{FF2B5EF4-FFF2-40B4-BE49-F238E27FC236}">
                    <a16:creationId xmlns:a16="http://schemas.microsoft.com/office/drawing/2014/main" id="{76632E20-ECCE-DFEC-B912-47D4FDAD1D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9" y="2326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Line 21">
                <a:extLst>
                  <a:ext uri="{FF2B5EF4-FFF2-40B4-BE49-F238E27FC236}">
                    <a16:creationId xmlns:a16="http://schemas.microsoft.com/office/drawing/2014/main" id="{811C03A6-EEC2-7B24-394D-9BEA669966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9" y="2734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22">
                <a:extLst>
                  <a:ext uri="{FF2B5EF4-FFF2-40B4-BE49-F238E27FC236}">
                    <a16:creationId xmlns:a16="http://schemas.microsoft.com/office/drawing/2014/main" id="{50BAB861-25FC-A423-825E-B86416FA96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6" y="1978"/>
                <a:ext cx="91" cy="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Text Box 23">
                <a:extLst>
                  <a:ext uri="{FF2B5EF4-FFF2-40B4-BE49-F238E27FC236}">
                    <a16:creationId xmlns:a16="http://schemas.microsoft.com/office/drawing/2014/main" id="{9FB1CE6F-B2C6-A1ED-4F4C-087BE9B22F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5" y="2040"/>
                <a:ext cx="2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31" name="Line 24">
                <a:extLst>
                  <a:ext uri="{FF2B5EF4-FFF2-40B4-BE49-F238E27FC236}">
                    <a16:creationId xmlns:a16="http://schemas.microsoft.com/office/drawing/2014/main" id="{5B8B27BD-57FA-6A64-D1E3-7D22BDD77D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4" y="3793"/>
                <a:ext cx="4582" cy="1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Line 25">
                <a:extLst>
                  <a:ext uri="{FF2B5EF4-FFF2-40B4-BE49-F238E27FC236}">
                    <a16:creationId xmlns:a16="http://schemas.microsoft.com/office/drawing/2014/main" id="{741E42AC-CE60-3E49-AF31-53CDEA8F23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5" y="3749"/>
                <a:ext cx="91" cy="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Text Box 26">
                <a:extLst>
                  <a:ext uri="{FF2B5EF4-FFF2-40B4-BE49-F238E27FC236}">
                    <a16:creationId xmlns:a16="http://schemas.microsoft.com/office/drawing/2014/main" id="{314D29AE-02E5-8EA1-9752-1FA462C812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1" y="2070"/>
                <a:ext cx="2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34" name="Rectangle 27">
                <a:extLst>
                  <a:ext uri="{FF2B5EF4-FFF2-40B4-BE49-F238E27FC236}">
                    <a16:creationId xmlns:a16="http://schemas.microsoft.com/office/drawing/2014/main" id="{5088D75A-4A61-F99B-1E18-243B6C994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1" y="1752"/>
                <a:ext cx="453" cy="140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35" name="Text Box 28">
                <a:extLst>
                  <a:ext uri="{FF2B5EF4-FFF2-40B4-BE49-F238E27FC236}">
                    <a16:creationId xmlns:a16="http://schemas.microsoft.com/office/drawing/2014/main" id="{47714A1C-CF65-6723-7D52-71A6A7ED7A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0" y="2251"/>
                <a:ext cx="6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2114</a:t>
                </a:r>
              </a:p>
            </p:txBody>
          </p:sp>
          <p:sp>
            <p:nvSpPr>
              <p:cNvPr id="36" name="Line 29">
                <a:extLst>
                  <a:ext uri="{FF2B5EF4-FFF2-40B4-BE49-F238E27FC236}">
                    <a16:creationId xmlns:a16="http://schemas.microsoft.com/office/drawing/2014/main" id="{27AB13FB-3E13-073C-3023-1CDC406CD1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4" y="2025"/>
                <a:ext cx="149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Line 30">
                <a:extLst>
                  <a:ext uri="{FF2B5EF4-FFF2-40B4-BE49-F238E27FC236}">
                    <a16:creationId xmlns:a16="http://schemas.microsoft.com/office/drawing/2014/main" id="{38B6FBF7-1336-4EFB-15B0-C97E04BF06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4" y="2432"/>
                <a:ext cx="591" cy="1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Text Box 31">
                <a:extLst>
                  <a:ext uri="{FF2B5EF4-FFF2-40B4-BE49-F238E27FC236}">
                    <a16:creationId xmlns:a16="http://schemas.microsoft.com/office/drawing/2014/main" id="{20E8D147-0FD4-11B0-5BF6-CB8C87AFF9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1" y="1722"/>
                <a:ext cx="55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A</a:t>
                </a:r>
                <a:r>
                  <a:rPr lang="en-US" altLang="zh-CN" sz="2000" baseline="-2000">
                    <a:latin typeface="Arial" panose="020B0604020202020204" pitchFamily="34" charset="0"/>
                  </a:rPr>
                  <a:t>0</a:t>
                </a:r>
                <a:r>
                  <a:rPr lang="en-US" altLang="zh-CN" sz="2000">
                    <a:latin typeface="Arial" panose="020B0604020202020204" pitchFamily="34" charset="0"/>
                  </a:rPr>
                  <a:t>~A</a:t>
                </a:r>
                <a:r>
                  <a:rPr lang="en-US" altLang="zh-CN" sz="2000" baseline="-2000">
                    <a:latin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39" name="Text Box 32">
                <a:extLst>
                  <a:ext uri="{FF2B5EF4-FFF2-40B4-BE49-F238E27FC236}">
                    <a16:creationId xmlns:a16="http://schemas.microsoft.com/office/drawing/2014/main" id="{52B352DF-08E7-AB94-7F11-A08E50DB2E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44" y="2115"/>
                <a:ext cx="74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I/O</a:t>
                </a:r>
                <a:r>
                  <a:rPr lang="en-US" altLang="zh-CN" sz="2000" baseline="-2000">
                    <a:latin typeface="Arial" panose="020B0604020202020204" pitchFamily="34" charset="0"/>
                  </a:rPr>
                  <a:t>1</a:t>
                </a:r>
                <a:r>
                  <a:rPr lang="en-US" altLang="zh-CN" sz="2000">
                    <a:latin typeface="Arial" panose="020B0604020202020204" pitchFamily="34" charset="0"/>
                  </a:rPr>
                  <a:t>~I/O</a:t>
                </a:r>
                <a:r>
                  <a:rPr lang="en-US" altLang="zh-CN" sz="2000" baseline="-2000">
                    <a:latin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40" name="Line 33">
                <a:extLst>
                  <a:ext uri="{FF2B5EF4-FFF2-40B4-BE49-F238E27FC236}">
                    <a16:creationId xmlns:a16="http://schemas.microsoft.com/office/drawing/2014/main" id="{D216B604-15B2-16BD-7CCD-34552FF85E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2" y="1979"/>
                <a:ext cx="91" cy="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34">
                <a:extLst>
                  <a:ext uri="{FF2B5EF4-FFF2-40B4-BE49-F238E27FC236}">
                    <a16:creationId xmlns:a16="http://schemas.microsoft.com/office/drawing/2014/main" id="{C7BAE0C1-EF35-1BC3-5ADA-6F80533870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1" y="2387"/>
                <a:ext cx="91" cy="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Text Box 35">
                <a:extLst>
                  <a:ext uri="{FF2B5EF4-FFF2-40B4-BE49-F238E27FC236}">
                    <a16:creationId xmlns:a16="http://schemas.microsoft.com/office/drawing/2014/main" id="{169ABB49-D25A-353D-E202-AE6F6E1FA7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5" y="2478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43" name="Line 36">
                <a:extLst>
                  <a:ext uri="{FF2B5EF4-FFF2-40B4-BE49-F238E27FC236}">
                    <a16:creationId xmlns:a16="http://schemas.microsoft.com/office/drawing/2014/main" id="{E3F3A1F4-7742-ABE4-AEC1-B46DD4F316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4" y="2932"/>
                <a:ext cx="149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Text Box 37">
                <a:extLst>
                  <a:ext uri="{FF2B5EF4-FFF2-40B4-BE49-F238E27FC236}">
                    <a16:creationId xmlns:a16="http://schemas.microsoft.com/office/drawing/2014/main" id="{A82FE9AB-B393-4125-CCAF-8C03A40708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2" y="2705"/>
                <a:ext cx="31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CS</a:t>
                </a:r>
              </a:p>
            </p:txBody>
          </p:sp>
          <p:sp>
            <p:nvSpPr>
              <p:cNvPr id="45" name="Line 38">
                <a:extLst>
                  <a:ext uri="{FF2B5EF4-FFF2-40B4-BE49-F238E27FC236}">
                    <a16:creationId xmlns:a16="http://schemas.microsoft.com/office/drawing/2014/main" id="{452D2A30-C81B-EE81-742F-2ADA4B46F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4" y="2523"/>
                <a:ext cx="1497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Text Box 39">
                <a:extLst>
                  <a:ext uri="{FF2B5EF4-FFF2-40B4-BE49-F238E27FC236}">
                    <a16:creationId xmlns:a16="http://schemas.microsoft.com/office/drawing/2014/main" id="{282CBE38-E085-B1AC-F271-0C2C66734F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2" y="2297"/>
                <a:ext cx="3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WE</a:t>
                </a:r>
              </a:p>
            </p:txBody>
          </p:sp>
          <p:sp>
            <p:nvSpPr>
              <p:cNvPr id="47" name="Line 40">
                <a:extLst>
                  <a:ext uri="{FF2B5EF4-FFF2-40B4-BE49-F238E27FC236}">
                    <a16:creationId xmlns:a16="http://schemas.microsoft.com/office/drawing/2014/main" id="{8C5853B8-2DCC-D7BB-D089-57FCC1ABED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7" y="2326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Line 41">
                <a:extLst>
                  <a:ext uri="{FF2B5EF4-FFF2-40B4-BE49-F238E27FC236}">
                    <a16:creationId xmlns:a16="http://schemas.microsoft.com/office/drawing/2014/main" id="{54C821C8-491C-E14E-EF0C-8C2E82E081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7" y="2734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Line 42">
                <a:extLst>
                  <a:ext uri="{FF2B5EF4-FFF2-40B4-BE49-F238E27FC236}">
                    <a16:creationId xmlns:a16="http://schemas.microsoft.com/office/drawing/2014/main" id="{D39C86F8-FD2D-DCFE-E4B2-742FA3EE8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3431"/>
                <a:ext cx="231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Line 43">
                <a:extLst>
                  <a:ext uri="{FF2B5EF4-FFF2-40B4-BE49-F238E27FC236}">
                    <a16:creationId xmlns:a16="http://schemas.microsoft.com/office/drawing/2014/main" id="{701E40A4-FB44-B340-A27D-5F08775324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2433"/>
                <a:ext cx="0" cy="1179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Line 44">
                <a:extLst>
                  <a:ext uri="{FF2B5EF4-FFF2-40B4-BE49-F238E27FC236}">
                    <a16:creationId xmlns:a16="http://schemas.microsoft.com/office/drawing/2014/main" id="{21632272-C6C0-CE8A-1C92-AA4645A4C8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6" y="2433"/>
                <a:ext cx="0" cy="136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Line 45">
                <a:extLst>
                  <a:ext uri="{FF2B5EF4-FFF2-40B4-BE49-F238E27FC236}">
                    <a16:creationId xmlns:a16="http://schemas.microsoft.com/office/drawing/2014/main" id="{EAEF1AF9-FF20-12A1-E375-682DAD4659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4" y="3612"/>
                <a:ext cx="254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Line 46">
                <a:extLst>
                  <a:ext uri="{FF2B5EF4-FFF2-40B4-BE49-F238E27FC236}">
                    <a16:creationId xmlns:a16="http://schemas.microsoft.com/office/drawing/2014/main" id="{A05B3DE8-2FE3-7A08-9E53-823C10788C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5" y="3567"/>
                <a:ext cx="91" cy="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Line 47">
                <a:extLst>
                  <a:ext uri="{FF2B5EF4-FFF2-40B4-BE49-F238E27FC236}">
                    <a16:creationId xmlns:a16="http://schemas.microsoft.com/office/drawing/2014/main" id="{9F5CD17D-D6D6-AFA7-6C30-DDAA659489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1571"/>
                <a:ext cx="0" cy="45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Line 48">
                <a:extLst>
                  <a:ext uri="{FF2B5EF4-FFF2-40B4-BE49-F238E27FC236}">
                    <a16:creationId xmlns:a16="http://schemas.microsoft.com/office/drawing/2014/main" id="{CE4F0921-5741-772A-1FA5-8C814DDF5D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2" y="1571"/>
                <a:ext cx="0" cy="45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Line 49">
                <a:extLst>
                  <a:ext uri="{FF2B5EF4-FFF2-40B4-BE49-F238E27FC236}">
                    <a16:creationId xmlns:a16="http://schemas.microsoft.com/office/drawing/2014/main" id="{AAB7BF3A-E300-6F66-677B-1AD747C5D3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2932"/>
                <a:ext cx="0" cy="4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Line 50">
                <a:extLst>
                  <a:ext uri="{FF2B5EF4-FFF2-40B4-BE49-F238E27FC236}">
                    <a16:creationId xmlns:a16="http://schemas.microsoft.com/office/drawing/2014/main" id="{B7CBEE7E-86A9-232D-1689-297BD39E99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8" y="2932"/>
                <a:ext cx="0" cy="49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Line 51">
                <a:extLst>
                  <a:ext uri="{FF2B5EF4-FFF2-40B4-BE49-F238E27FC236}">
                    <a16:creationId xmlns:a16="http://schemas.microsoft.com/office/drawing/2014/main" id="{03B3AC3A-4FBE-F573-5755-9802509DB6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2" y="3294"/>
                <a:ext cx="18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Line 52">
                <a:extLst>
                  <a:ext uri="{FF2B5EF4-FFF2-40B4-BE49-F238E27FC236}">
                    <a16:creationId xmlns:a16="http://schemas.microsoft.com/office/drawing/2014/main" id="{0DF393E9-BB8D-F3AC-1DF4-C07D018FE1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2" y="2523"/>
                <a:ext cx="0" cy="7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Line 53">
                <a:extLst>
                  <a:ext uri="{FF2B5EF4-FFF2-40B4-BE49-F238E27FC236}">
                    <a16:creationId xmlns:a16="http://schemas.microsoft.com/office/drawing/2014/main" id="{FD5C9D6A-F832-5CE5-FAC9-E2FF669109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2" y="2523"/>
                <a:ext cx="0" cy="7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Text Box 54">
                <a:extLst>
                  <a:ext uri="{FF2B5EF4-FFF2-40B4-BE49-F238E27FC236}">
                    <a16:creationId xmlns:a16="http://schemas.microsoft.com/office/drawing/2014/main" id="{2A97A854-E98D-57FB-962E-639745C8C3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" y="1889"/>
                <a:ext cx="55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A</a:t>
                </a:r>
                <a:r>
                  <a:rPr lang="en-US" altLang="zh-CN" sz="2000" baseline="-2000">
                    <a:latin typeface="Arial" panose="020B0604020202020204" pitchFamily="34" charset="0"/>
                  </a:rPr>
                  <a:t>0</a:t>
                </a:r>
                <a:r>
                  <a:rPr lang="en-US" altLang="zh-CN" sz="2000">
                    <a:latin typeface="Arial" panose="020B0604020202020204" pitchFamily="34" charset="0"/>
                  </a:rPr>
                  <a:t>~A</a:t>
                </a:r>
                <a:r>
                  <a:rPr lang="en-US" altLang="zh-CN" sz="2000" baseline="-2000">
                    <a:latin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62" name="Text Box 55">
                <a:extLst>
                  <a:ext uri="{FF2B5EF4-FFF2-40B4-BE49-F238E27FC236}">
                    <a16:creationId xmlns:a16="http://schemas.microsoft.com/office/drawing/2014/main" id="{DB1649C8-719D-F115-5FC2-A86425B366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" y="2432"/>
                <a:ext cx="3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WE</a:t>
                </a:r>
              </a:p>
            </p:txBody>
          </p:sp>
          <p:sp>
            <p:nvSpPr>
              <p:cNvPr id="63" name="Line 56">
                <a:extLst>
                  <a:ext uri="{FF2B5EF4-FFF2-40B4-BE49-F238E27FC236}">
                    <a16:creationId xmlns:a16="http://schemas.microsoft.com/office/drawing/2014/main" id="{6A695285-9C76-9366-0CE6-036A3A53CD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" y="2461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Text Box 57">
                <a:extLst>
                  <a:ext uri="{FF2B5EF4-FFF2-40B4-BE49-F238E27FC236}">
                    <a16:creationId xmlns:a16="http://schemas.microsoft.com/office/drawing/2014/main" id="{BB3A238C-D4C9-7596-B0DD-2E1E192BE9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" y="3476"/>
                <a:ext cx="55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D</a:t>
                </a:r>
                <a:r>
                  <a:rPr lang="en-US" altLang="zh-CN" sz="2000" baseline="-2000">
                    <a:latin typeface="Arial" panose="020B0604020202020204" pitchFamily="34" charset="0"/>
                  </a:rPr>
                  <a:t>0</a:t>
                </a:r>
                <a:r>
                  <a:rPr lang="en-US" altLang="zh-CN" sz="2000">
                    <a:latin typeface="Arial" panose="020B0604020202020204" pitchFamily="34" charset="0"/>
                  </a:rPr>
                  <a:t>~D</a:t>
                </a:r>
                <a:r>
                  <a:rPr lang="en-US" altLang="zh-CN" sz="2000" baseline="-2000">
                    <a:latin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65" name="Text Box 58">
                <a:extLst>
                  <a:ext uri="{FF2B5EF4-FFF2-40B4-BE49-F238E27FC236}">
                    <a16:creationId xmlns:a16="http://schemas.microsoft.com/office/drawing/2014/main" id="{3CA62509-5C8A-57E8-4896-1BBDDD3ACE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" y="3658"/>
                <a:ext cx="55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D</a:t>
                </a:r>
                <a:r>
                  <a:rPr lang="en-US" altLang="zh-CN" sz="2000" baseline="-2000">
                    <a:latin typeface="Arial" panose="020B0604020202020204" pitchFamily="34" charset="0"/>
                  </a:rPr>
                  <a:t>4</a:t>
                </a:r>
                <a:r>
                  <a:rPr lang="en-US" altLang="zh-CN" sz="2000">
                    <a:latin typeface="Arial" panose="020B0604020202020204" pitchFamily="34" charset="0"/>
                  </a:rPr>
                  <a:t>~D</a:t>
                </a:r>
                <a:r>
                  <a:rPr lang="en-US" altLang="zh-CN" sz="2000" baseline="-2000">
                    <a:latin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66" name="Text Box 59">
                <a:extLst>
                  <a:ext uri="{FF2B5EF4-FFF2-40B4-BE49-F238E27FC236}">
                    <a16:creationId xmlns:a16="http://schemas.microsoft.com/office/drawing/2014/main" id="{C8C024FC-6082-9ACE-BC4B-04BB394C55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" y="2841"/>
                <a:ext cx="31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CS</a:t>
                </a:r>
              </a:p>
            </p:txBody>
          </p:sp>
          <p:sp>
            <p:nvSpPr>
              <p:cNvPr id="67" name="Line 60">
                <a:extLst>
                  <a:ext uri="{FF2B5EF4-FFF2-40B4-BE49-F238E27FC236}">
                    <a16:creationId xmlns:a16="http://schemas.microsoft.com/office/drawing/2014/main" id="{19970A57-F19E-A5CA-9B1D-4404606D64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" y="2870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68" name="AutoShape 61">
                <a:extLst>
                  <a:ext uri="{FF2B5EF4-FFF2-40B4-BE49-F238E27FC236}">
                    <a16:creationId xmlns:a16="http://schemas.microsoft.com/office/drawing/2014/main" id="{F36065CB-C1EB-BB88-8016-9DD204DEC436}"/>
                  </a:ext>
                </a:extLst>
              </p:cNvPr>
              <p:cNvCxnSpPr>
                <a:cxnSpLocks noChangeShapeType="1"/>
                <a:stCxn id="54" idx="0"/>
                <a:endCxn id="55" idx="0"/>
              </p:cNvCxnSpPr>
              <p:nvPr/>
            </p:nvCxnSpPr>
            <p:spPr bwMode="auto">
              <a:xfrm>
                <a:off x="1474" y="1559"/>
                <a:ext cx="2088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69" name="Text Box 62">
                <a:extLst>
                  <a:ext uri="{FF2B5EF4-FFF2-40B4-BE49-F238E27FC236}">
                    <a16:creationId xmlns:a16="http://schemas.microsoft.com/office/drawing/2014/main" id="{436690D5-9D87-4722-3DDE-2486D69E22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0" y="3340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0" name="Text Box 63">
                <a:extLst>
                  <a:ext uri="{FF2B5EF4-FFF2-40B4-BE49-F238E27FC236}">
                    <a16:creationId xmlns:a16="http://schemas.microsoft.com/office/drawing/2014/main" id="{67AD8E83-A2A8-499D-9648-F54177423B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0" y="3794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  <a:cs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4</a:t>
                </a:r>
              </a:p>
            </p:txBody>
          </p:sp>
        </p:grpSp>
        <p:sp>
          <p:nvSpPr>
            <p:cNvPr id="8" name="Oval 64">
              <a:extLst>
                <a:ext uri="{FF2B5EF4-FFF2-40B4-BE49-F238E27FC236}">
                  <a16:creationId xmlns:a16="http://schemas.microsoft.com/office/drawing/2014/main" id="{E0FBCA6A-642C-65E5-EC5F-89588F17A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2" y="2500"/>
              <a:ext cx="64" cy="6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" name="Oval 65">
              <a:extLst>
                <a:ext uri="{FF2B5EF4-FFF2-40B4-BE49-F238E27FC236}">
                  <a16:creationId xmlns:a16="http://schemas.microsoft.com/office/drawing/2014/main" id="{84BC0243-FA11-8D35-3656-B2A4FD6B4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2" y="2908"/>
              <a:ext cx="64" cy="6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0" name="Oval 66">
              <a:extLst>
                <a:ext uri="{FF2B5EF4-FFF2-40B4-BE49-F238E27FC236}">
                  <a16:creationId xmlns:a16="http://schemas.microsoft.com/office/drawing/2014/main" id="{1589366A-40D5-1E1A-16A0-D6353FB8B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3" y="2478"/>
              <a:ext cx="64" cy="6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1" name="Oval 67">
              <a:extLst>
                <a:ext uri="{FF2B5EF4-FFF2-40B4-BE49-F238E27FC236}">
                  <a16:creationId xmlns:a16="http://schemas.microsoft.com/office/drawing/2014/main" id="{D5D78484-70AF-E886-0274-2FA5FC68B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3" y="2893"/>
              <a:ext cx="64" cy="6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0031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E908D-E721-527C-5883-EE4E8E4A3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+mj-ea"/>
                <a:ea typeface="+mj-ea"/>
              </a:rPr>
              <a:t>字扩展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6A12B3-81C3-7F63-9FFD-6A0A7498B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334032" cy="5947119"/>
          </a:xfrm>
        </p:spPr>
        <p:txBody>
          <a:bodyPr/>
          <a:lstStyle/>
          <a:p>
            <a:pPr>
              <a:spcAft>
                <a:spcPts val="1200"/>
              </a:spcAft>
              <a:defRPr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方法：除片选引脚外，芯片的其他引脚 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地址、数据、写允许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并联；高位地址经译码选择芯片。例如：用容量为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1K×4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位的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2114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构成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8K×4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位的存储器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38CC4E-4988-194F-DD59-23664FA28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0D8A33-D730-FB89-C13E-392F7386F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24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7" name="Text Box 90">
            <a:extLst>
              <a:ext uri="{FF2B5EF4-FFF2-40B4-BE49-F238E27FC236}">
                <a16:creationId xmlns:a16="http://schemas.microsoft.com/office/drawing/2014/main" id="{F6D5484C-638F-EFF2-00BE-5280CCC6B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591" y="3329565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1</a:t>
            </a:r>
            <a:endParaRPr lang="en-US" altLang="zh-CN" sz="1800" baseline="-2000">
              <a:latin typeface="Arial" panose="020B0604020202020204" pitchFamily="34" charset="0"/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0FD188D6-2682-12CB-9B6E-C04467F34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091" y="5820352"/>
            <a:ext cx="53308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91FA0AA6-1305-AB10-78FF-7672933CA4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2991" y="5820352"/>
            <a:ext cx="719137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F694BD44-FD15-9020-4C1D-EE37C435B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4941" y="2138147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28B4E949-8439-E285-E335-E0E7CC493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566" y="5459990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A</a:t>
            </a:r>
            <a:endParaRPr lang="en-US" altLang="zh-CN" sz="1800" baseline="-2000">
              <a:latin typeface="Arial" panose="020B0604020202020204" pitchFamily="34" charset="0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C11FEE81-9B04-8D9C-DEFF-738E9F391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566" y="5099627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B</a:t>
            </a:r>
            <a:endParaRPr lang="en-US" altLang="zh-CN" sz="1800" baseline="-2000">
              <a:latin typeface="Arial" panose="020B0604020202020204" pitchFamily="34" charset="0"/>
            </a:endParaRP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26FE2C8E-6E1F-1277-40F6-77887942D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9741" y="2580265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EBDF27C2-BB6A-0672-5C8D-37A9A28B8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028" y="2075440"/>
            <a:ext cx="719138" cy="22320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54F55D85-A3F9-1FA8-7AE7-D18913CDB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566" y="2651702"/>
            <a:ext cx="10080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2114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endParaRPr lang="en-US" altLang="zh-CN" sz="2000">
              <a:latin typeface="Arial" panose="020B0604020202020204" pitchFamily="34" charset="0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(1)</a:t>
            </a:r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13B46777-A709-3ED7-DA40-35E4A17B6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9378" y="2508827"/>
            <a:ext cx="10080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70724728-66EE-73C5-F172-DCB25481B3E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18166" y="3154940"/>
            <a:ext cx="576262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49795E83-5C32-FD4B-42A5-E9F451675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2403" y="2027815"/>
            <a:ext cx="884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A</a:t>
            </a:r>
            <a:r>
              <a:rPr lang="en-US" altLang="zh-CN" sz="2000" baseline="-2000">
                <a:latin typeface="Arial" panose="020B0604020202020204" pitchFamily="34" charset="0"/>
              </a:rPr>
              <a:t>0</a:t>
            </a:r>
            <a:r>
              <a:rPr lang="en-US" altLang="zh-CN" sz="2000">
                <a:latin typeface="Arial" panose="020B0604020202020204" pitchFamily="34" charset="0"/>
              </a:rPr>
              <a:t>~A</a:t>
            </a:r>
            <a:r>
              <a:rPr lang="en-US" altLang="zh-CN" sz="2000" baseline="-2000"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19" name="Text Box 14">
            <a:extLst>
              <a:ext uri="{FF2B5EF4-FFF2-40B4-BE49-F238E27FC236}">
                <a16:creationId xmlns:a16="http://schemas.microsoft.com/office/drawing/2014/main" id="{378E0786-FFB1-8E38-5DF5-86EEDD37C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8166" y="2651702"/>
            <a:ext cx="1189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I/O</a:t>
            </a:r>
            <a:r>
              <a:rPr lang="en-US" altLang="zh-CN" sz="2000" baseline="-2000">
                <a:latin typeface="Arial" panose="020B0604020202020204" pitchFamily="34" charset="0"/>
              </a:rPr>
              <a:t>1</a:t>
            </a:r>
            <a:r>
              <a:rPr lang="en-US" altLang="zh-CN" sz="2000">
                <a:latin typeface="Arial" panose="020B0604020202020204" pitchFamily="34" charset="0"/>
              </a:rPr>
              <a:t>~I/O</a:t>
            </a:r>
            <a:r>
              <a:rPr lang="en-US" altLang="zh-CN" sz="2000" baseline="-20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0" name="Line 15">
            <a:extLst>
              <a:ext uri="{FF2B5EF4-FFF2-40B4-BE49-F238E27FC236}">
                <a16:creationId xmlns:a16="http://schemas.microsoft.com/office/drawing/2014/main" id="{0D38DAEC-1767-C1DB-68AA-6AC4F0268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2616" y="2435802"/>
            <a:ext cx="144462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6">
            <a:extLst>
              <a:ext uri="{FF2B5EF4-FFF2-40B4-BE49-F238E27FC236}">
                <a16:creationId xmlns:a16="http://schemas.microsoft.com/office/drawing/2014/main" id="{EC0B4CE3-038A-C163-687D-AD55EC8EB54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34066" y="3085090"/>
            <a:ext cx="144462" cy="144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Box 17">
            <a:extLst>
              <a:ext uri="{FF2B5EF4-FFF2-40B4-BE49-F238E27FC236}">
                <a16:creationId xmlns:a16="http://schemas.microsoft.com/office/drawing/2014/main" id="{6BE1EB73-ECEA-FA0E-2020-099F44A80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9603" y="3181927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3" name="Line 18">
            <a:extLst>
              <a:ext uri="{FF2B5EF4-FFF2-40B4-BE49-F238E27FC236}">
                <a16:creationId xmlns:a16="http://schemas.microsoft.com/office/drawing/2014/main" id="{33986F6F-B690-E7D4-BDF7-145351F0991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1178" y="3948690"/>
            <a:ext cx="5778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Box 19">
            <a:extLst>
              <a:ext uri="{FF2B5EF4-FFF2-40B4-BE49-F238E27FC236}">
                <a16:creationId xmlns:a16="http://schemas.microsoft.com/office/drawing/2014/main" id="{E8AB37EB-2FD1-E62C-B51C-D74808BC7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1328" y="3588327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CS</a:t>
            </a:r>
          </a:p>
        </p:txBody>
      </p:sp>
      <p:sp>
        <p:nvSpPr>
          <p:cNvPr id="25" name="Line 20">
            <a:extLst>
              <a:ext uri="{FF2B5EF4-FFF2-40B4-BE49-F238E27FC236}">
                <a16:creationId xmlns:a16="http://schemas.microsoft.com/office/drawing/2014/main" id="{825CFA5F-735A-9ABA-4C5B-4EB1BFD98A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0816" y="3299402"/>
            <a:ext cx="936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Box 21">
            <a:extLst>
              <a:ext uri="{FF2B5EF4-FFF2-40B4-BE49-F238E27FC236}">
                <a16:creationId xmlns:a16="http://schemas.microsoft.com/office/drawing/2014/main" id="{2EA5BE9D-2993-B403-2B50-582CAD8FB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1328" y="2940627"/>
            <a:ext cx="552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WE</a:t>
            </a:r>
          </a:p>
        </p:txBody>
      </p:sp>
      <p:sp>
        <p:nvSpPr>
          <p:cNvPr id="27" name="Line 22">
            <a:extLst>
              <a:ext uri="{FF2B5EF4-FFF2-40B4-BE49-F238E27FC236}">
                <a16:creationId xmlns:a16="http://schemas.microsoft.com/office/drawing/2014/main" id="{4F8B2CA7-C57D-9F04-B610-3B0863DAFF8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2766" y="2986665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3">
            <a:extLst>
              <a:ext uri="{FF2B5EF4-FFF2-40B4-BE49-F238E27FC236}">
                <a16:creationId xmlns:a16="http://schemas.microsoft.com/office/drawing/2014/main" id="{D7A4FA63-AA57-2893-93A5-99300D7486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2766" y="3634365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4">
            <a:extLst>
              <a:ext uri="{FF2B5EF4-FFF2-40B4-BE49-F238E27FC236}">
                <a16:creationId xmlns:a16="http://schemas.microsoft.com/office/drawing/2014/main" id="{E1CC1E00-C752-66FB-08DC-9F04406E98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6991" y="1788102"/>
            <a:ext cx="48990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5">
            <a:extLst>
              <a:ext uri="{FF2B5EF4-FFF2-40B4-BE49-F238E27FC236}">
                <a16:creationId xmlns:a16="http://schemas.microsoft.com/office/drawing/2014/main" id="{5A4DCA86-375B-0760-1016-92DEB70085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6703" y="2435802"/>
            <a:ext cx="144463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26">
            <a:extLst>
              <a:ext uri="{FF2B5EF4-FFF2-40B4-BE49-F238E27FC236}">
                <a16:creationId xmlns:a16="http://schemas.microsoft.com/office/drawing/2014/main" id="{C3C3BEC5-6AD4-C760-4B25-FE91CDB122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07778" y="6325177"/>
            <a:ext cx="7524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27">
            <a:extLst>
              <a:ext uri="{FF2B5EF4-FFF2-40B4-BE49-F238E27FC236}">
                <a16:creationId xmlns:a16="http://schemas.microsoft.com/office/drawing/2014/main" id="{74A0AB83-A93E-6B5E-53A9-0CC7FFCAE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6703" y="6255327"/>
            <a:ext cx="144463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Box 28">
            <a:extLst>
              <a:ext uri="{FF2B5EF4-FFF2-40B4-BE49-F238E27FC236}">
                <a16:creationId xmlns:a16="http://schemas.microsoft.com/office/drawing/2014/main" id="{EE06CABB-C0E0-E2DB-4333-6BEE22BF9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353" y="2580265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4" name="Rectangle 29">
            <a:extLst>
              <a:ext uri="{FF2B5EF4-FFF2-40B4-BE49-F238E27FC236}">
                <a16:creationId xmlns:a16="http://schemas.microsoft.com/office/drawing/2014/main" id="{E8C8C82F-83A1-3AFE-178C-1E2CFDD02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5053" y="2075440"/>
            <a:ext cx="719138" cy="22320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5" name="Text Box 30">
            <a:extLst>
              <a:ext uri="{FF2B5EF4-FFF2-40B4-BE49-F238E27FC236}">
                <a16:creationId xmlns:a16="http://schemas.microsoft.com/office/drawing/2014/main" id="{9CDFCA10-82A7-FBCC-6CCA-48491B837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2178" y="2651702"/>
            <a:ext cx="100806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2114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endParaRPr lang="en-US" altLang="zh-CN" sz="2000">
              <a:latin typeface="Arial" panose="020B0604020202020204" pitchFamily="34" charset="0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(0)</a:t>
            </a:r>
          </a:p>
        </p:txBody>
      </p:sp>
      <p:sp>
        <p:nvSpPr>
          <p:cNvPr id="36" name="Line 31">
            <a:extLst>
              <a:ext uri="{FF2B5EF4-FFF2-40B4-BE49-F238E27FC236}">
                <a16:creationId xmlns:a16="http://schemas.microsoft.com/office/drawing/2014/main" id="{BB5B1867-68B4-7B67-CC52-AB780D186C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7778" y="2508827"/>
            <a:ext cx="3600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Line 32">
            <a:extLst>
              <a:ext uri="{FF2B5EF4-FFF2-40B4-BE49-F238E27FC236}">
                <a16:creationId xmlns:a16="http://schemas.microsoft.com/office/drawing/2014/main" id="{7DBC268B-962F-46E9-6CF4-AFF5437AD9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4191" y="3154940"/>
            <a:ext cx="576262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Box 33">
            <a:extLst>
              <a:ext uri="{FF2B5EF4-FFF2-40B4-BE49-F238E27FC236}">
                <a16:creationId xmlns:a16="http://schemas.microsoft.com/office/drawing/2014/main" id="{2D81A53D-464F-D563-1AF8-53FCDBD42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428" y="2027815"/>
            <a:ext cx="884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A</a:t>
            </a:r>
            <a:r>
              <a:rPr lang="en-US" altLang="zh-CN" sz="2000" baseline="-2000">
                <a:latin typeface="Arial" panose="020B0604020202020204" pitchFamily="34" charset="0"/>
              </a:rPr>
              <a:t>0</a:t>
            </a:r>
            <a:r>
              <a:rPr lang="en-US" altLang="zh-CN" sz="2000">
                <a:latin typeface="Arial" panose="020B0604020202020204" pitchFamily="34" charset="0"/>
              </a:rPr>
              <a:t>~A</a:t>
            </a:r>
            <a:r>
              <a:rPr lang="en-US" altLang="zh-CN" sz="2000" baseline="-2000"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9" name="Text Box 34">
            <a:extLst>
              <a:ext uri="{FF2B5EF4-FFF2-40B4-BE49-F238E27FC236}">
                <a16:creationId xmlns:a16="http://schemas.microsoft.com/office/drawing/2014/main" id="{AB34F524-361C-32B0-5F1F-A71B78A5F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191" y="2651702"/>
            <a:ext cx="1189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I/O</a:t>
            </a:r>
            <a:r>
              <a:rPr lang="en-US" altLang="zh-CN" sz="2000" baseline="-2000">
                <a:latin typeface="Arial" panose="020B0604020202020204" pitchFamily="34" charset="0"/>
              </a:rPr>
              <a:t>1</a:t>
            </a:r>
            <a:r>
              <a:rPr lang="en-US" altLang="zh-CN" sz="2000">
                <a:latin typeface="Arial" panose="020B0604020202020204" pitchFamily="34" charset="0"/>
              </a:rPr>
              <a:t>~I/O</a:t>
            </a:r>
            <a:r>
              <a:rPr lang="en-US" altLang="zh-CN" sz="2000" baseline="-20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0" name="Line 35">
            <a:extLst>
              <a:ext uri="{FF2B5EF4-FFF2-40B4-BE49-F238E27FC236}">
                <a16:creationId xmlns:a16="http://schemas.microsoft.com/office/drawing/2014/main" id="{EED2AFA5-B648-8B69-351D-36248BCC7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0228" y="2435802"/>
            <a:ext cx="144463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36">
            <a:extLst>
              <a:ext uri="{FF2B5EF4-FFF2-40B4-BE49-F238E27FC236}">
                <a16:creationId xmlns:a16="http://schemas.microsoft.com/office/drawing/2014/main" id="{5B4EAB80-2EEE-E5CB-325F-7E546BB11B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1678" y="3083502"/>
            <a:ext cx="144463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Text Box 37">
            <a:extLst>
              <a:ext uri="{FF2B5EF4-FFF2-40B4-BE49-F238E27FC236}">
                <a16:creationId xmlns:a16="http://schemas.microsoft.com/office/drawing/2014/main" id="{B8DCCB53-7FEB-FAD4-C924-5BBC4D661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3678" y="5964811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3" name="Line 38">
            <a:extLst>
              <a:ext uri="{FF2B5EF4-FFF2-40B4-BE49-F238E27FC236}">
                <a16:creationId xmlns:a16="http://schemas.microsoft.com/office/drawing/2014/main" id="{F7916BC0-4016-76A2-1DE4-DA0F0E3EC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091" y="3948690"/>
            <a:ext cx="12239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Text Box 39">
            <a:extLst>
              <a:ext uri="{FF2B5EF4-FFF2-40B4-BE49-F238E27FC236}">
                <a16:creationId xmlns:a16="http://schemas.microsoft.com/office/drawing/2014/main" id="{B1160E8D-098F-AEFD-B715-A993E0649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353" y="3588327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CS</a:t>
            </a:r>
          </a:p>
        </p:txBody>
      </p:sp>
      <p:sp>
        <p:nvSpPr>
          <p:cNvPr id="45" name="Line 40">
            <a:extLst>
              <a:ext uri="{FF2B5EF4-FFF2-40B4-BE49-F238E27FC236}">
                <a16:creationId xmlns:a16="http://schemas.microsoft.com/office/drawing/2014/main" id="{26746FDD-44AB-04C4-01AA-452D1E87F4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07778" y="3299402"/>
            <a:ext cx="36004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Text Box 41">
            <a:extLst>
              <a:ext uri="{FF2B5EF4-FFF2-40B4-BE49-F238E27FC236}">
                <a16:creationId xmlns:a16="http://schemas.microsoft.com/office/drawing/2014/main" id="{5998B36F-C0E8-B8B7-8EB1-8469CE191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353" y="2940627"/>
            <a:ext cx="552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WE</a:t>
            </a:r>
          </a:p>
        </p:txBody>
      </p:sp>
      <p:sp>
        <p:nvSpPr>
          <p:cNvPr id="47" name="Line 42">
            <a:extLst>
              <a:ext uri="{FF2B5EF4-FFF2-40B4-BE49-F238E27FC236}">
                <a16:creationId xmlns:a16="http://schemas.microsoft.com/office/drawing/2014/main" id="{447A1400-17D1-CB22-A100-28C0C3399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8791" y="2986665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Line 43">
            <a:extLst>
              <a:ext uri="{FF2B5EF4-FFF2-40B4-BE49-F238E27FC236}">
                <a16:creationId xmlns:a16="http://schemas.microsoft.com/office/drawing/2014/main" id="{02B85D10-F2D3-4FF3-FD49-4ED8D6BF69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8791" y="3634365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44">
            <a:extLst>
              <a:ext uri="{FF2B5EF4-FFF2-40B4-BE49-F238E27FC236}">
                <a16:creationId xmlns:a16="http://schemas.microsoft.com/office/drawing/2014/main" id="{32479FF8-98B8-077D-D539-BDB47F6AE9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091" y="4740852"/>
            <a:ext cx="324008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Line 45">
            <a:extLst>
              <a:ext uri="{FF2B5EF4-FFF2-40B4-BE49-F238E27FC236}">
                <a16:creationId xmlns:a16="http://schemas.microsoft.com/office/drawing/2014/main" id="{3A5F0F5A-AD22-FAC5-8E5B-AF90533FB7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0453" y="3156527"/>
            <a:ext cx="1588" cy="3168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Line 46">
            <a:extLst>
              <a:ext uri="{FF2B5EF4-FFF2-40B4-BE49-F238E27FC236}">
                <a16:creationId xmlns:a16="http://schemas.microsoft.com/office/drawing/2014/main" id="{712911CC-3F3F-5550-1F4F-ED441B600AF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94428" y="3156527"/>
            <a:ext cx="1588" cy="3168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Line 47">
            <a:extLst>
              <a:ext uri="{FF2B5EF4-FFF2-40B4-BE49-F238E27FC236}">
                <a16:creationId xmlns:a16="http://schemas.microsoft.com/office/drawing/2014/main" id="{8066239E-BA23-4FDE-269F-892E1F0686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6991" y="1788102"/>
            <a:ext cx="0" cy="719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Line 48">
            <a:extLst>
              <a:ext uri="{FF2B5EF4-FFF2-40B4-BE49-F238E27FC236}">
                <a16:creationId xmlns:a16="http://schemas.microsoft.com/office/drawing/2014/main" id="{E20427BD-EB25-31BC-4927-028EFA1687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9378" y="1788102"/>
            <a:ext cx="0" cy="719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Line 49">
            <a:extLst>
              <a:ext uri="{FF2B5EF4-FFF2-40B4-BE49-F238E27FC236}">
                <a16:creationId xmlns:a16="http://schemas.microsoft.com/office/drawing/2014/main" id="{DCBF0EE0-5291-D57E-9E52-4D13472856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21178" y="3948690"/>
            <a:ext cx="0" cy="7921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Line 50">
            <a:extLst>
              <a:ext uri="{FF2B5EF4-FFF2-40B4-BE49-F238E27FC236}">
                <a16:creationId xmlns:a16="http://schemas.microsoft.com/office/drawing/2014/main" id="{CD92F090-29F2-92C3-8EA8-6932C2A8D4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4328" y="4524952"/>
            <a:ext cx="47545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Line 51">
            <a:extLst>
              <a:ext uri="{FF2B5EF4-FFF2-40B4-BE49-F238E27FC236}">
                <a16:creationId xmlns:a16="http://schemas.microsoft.com/office/drawing/2014/main" id="{EBB1A83E-54C1-FB7F-C6FD-61E786A805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4328" y="3299402"/>
            <a:ext cx="0" cy="12239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Line 52">
            <a:extLst>
              <a:ext uri="{FF2B5EF4-FFF2-40B4-BE49-F238E27FC236}">
                <a16:creationId xmlns:a16="http://schemas.microsoft.com/office/drawing/2014/main" id="{E337BEFD-A78D-DE21-BE28-7FF6CDDDF7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0816" y="3299402"/>
            <a:ext cx="0" cy="12239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Text Box 53">
            <a:extLst>
              <a:ext uri="{FF2B5EF4-FFF2-40B4-BE49-F238E27FC236}">
                <a16:creationId xmlns:a16="http://schemas.microsoft.com/office/drawing/2014/main" id="{5C42978D-6772-5A14-FB0E-47AB9D5D1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566" y="4740852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C</a:t>
            </a:r>
            <a:endParaRPr lang="en-US" altLang="zh-CN" sz="1800" baseline="-2000">
              <a:latin typeface="Arial" panose="020B0604020202020204" pitchFamily="34" charset="0"/>
            </a:endParaRPr>
          </a:p>
        </p:txBody>
      </p:sp>
      <p:sp>
        <p:nvSpPr>
          <p:cNvPr id="59" name="Text Box 54">
            <a:extLst>
              <a:ext uri="{FF2B5EF4-FFF2-40B4-BE49-F238E27FC236}">
                <a16:creationId xmlns:a16="http://schemas.microsoft.com/office/drawing/2014/main" id="{AC01D475-CA94-EE74-F556-5095F3CB3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879" y="2256055"/>
            <a:ext cx="8842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A</a:t>
            </a:r>
            <a:r>
              <a:rPr lang="en-US" altLang="zh-CN" sz="2000" baseline="-2000" dirty="0">
                <a:latin typeface="Arial" panose="020B0604020202020204" pitchFamily="34" charset="0"/>
              </a:rPr>
              <a:t>0</a:t>
            </a:r>
            <a:r>
              <a:rPr lang="en-US" altLang="zh-CN" sz="2000" dirty="0">
                <a:latin typeface="Arial" panose="020B0604020202020204" pitchFamily="34" charset="0"/>
              </a:rPr>
              <a:t>~A</a:t>
            </a:r>
            <a:r>
              <a:rPr lang="en-US" altLang="zh-CN" sz="2000" baseline="-2000" dirty="0"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60" name="Text Box 55">
            <a:extLst>
              <a:ext uri="{FF2B5EF4-FFF2-40B4-BE49-F238E27FC236}">
                <a16:creationId xmlns:a16="http://schemas.microsoft.com/office/drawing/2014/main" id="{21CDBF18-650B-CD9B-530B-AF527D8B0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902" y="3120737"/>
            <a:ext cx="552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WE</a:t>
            </a:r>
          </a:p>
        </p:txBody>
      </p:sp>
      <p:sp>
        <p:nvSpPr>
          <p:cNvPr id="61" name="Line 56">
            <a:extLst>
              <a:ext uri="{FF2B5EF4-FFF2-40B4-BE49-F238E27FC236}">
                <a16:creationId xmlns:a16="http://schemas.microsoft.com/office/drawing/2014/main" id="{54AFC825-D0F5-CD30-8C5E-CA5F3A6450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927" y="3120737"/>
            <a:ext cx="43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Text Box 57">
            <a:extLst>
              <a:ext uri="{FF2B5EF4-FFF2-40B4-BE49-F238E27FC236}">
                <a16:creationId xmlns:a16="http://schemas.microsoft.com/office/drawing/2014/main" id="{7F8C649E-179A-86A3-7231-309B0B2ED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08" y="6076892"/>
            <a:ext cx="8842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D</a:t>
            </a:r>
            <a:r>
              <a:rPr lang="en-US" altLang="zh-CN" sz="2000" baseline="-2000" dirty="0">
                <a:latin typeface="Arial" panose="020B0604020202020204" pitchFamily="34" charset="0"/>
              </a:rPr>
              <a:t>0</a:t>
            </a:r>
            <a:r>
              <a:rPr lang="en-US" altLang="zh-CN" sz="2000" dirty="0">
                <a:latin typeface="Arial" panose="020B0604020202020204" pitchFamily="34" charset="0"/>
              </a:rPr>
              <a:t>~D</a:t>
            </a:r>
            <a:r>
              <a:rPr lang="en-US" altLang="zh-CN" sz="2000" baseline="-2000" dirty="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3" name="Text Box 58">
            <a:extLst>
              <a:ext uri="{FF2B5EF4-FFF2-40B4-BE49-F238E27FC236}">
                <a16:creationId xmlns:a16="http://schemas.microsoft.com/office/drawing/2014/main" id="{0D8A83B7-A8A4-B38A-7075-E7213C68D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8653" y="3181927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4" name="Line 59">
            <a:extLst>
              <a:ext uri="{FF2B5EF4-FFF2-40B4-BE49-F238E27FC236}">
                <a16:creationId xmlns:a16="http://schemas.microsoft.com/office/drawing/2014/main" id="{809F89D8-29D4-42CB-80F3-74ABDE3CCC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4283" y="1785938"/>
            <a:ext cx="0" cy="496728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Rectangle 60">
            <a:extLst>
              <a:ext uri="{FF2B5EF4-FFF2-40B4-BE49-F238E27FC236}">
                <a16:creationId xmlns:a16="http://schemas.microsoft.com/office/drawing/2014/main" id="{B8645DD3-5237-97D2-8CF9-03EADA6DC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0366" y="3515302"/>
            <a:ext cx="719137" cy="25923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6" name="Text Box 61">
            <a:extLst>
              <a:ext uri="{FF2B5EF4-FFF2-40B4-BE49-F238E27FC236}">
                <a16:creationId xmlns:a16="http://schemas.microsoft.com/office/drawing/2014/main" id="{0F8C6685-275E-3273-AF00-00DFB1A52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9503" y="3613727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Y</a:t>
            </a:r>
            <a:r>
              <a:rPr lang="en-US" altLang="zh-CN" sz="1800" baseline="-20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7" name="Text Box 62">
            <a:extLst>
              <a:ext uri="{FF2B5EF4-FFF2-40B4-BE49-F238E27FC236}">
                <a16:creationId xmlns:a16="http://schemas.microsoft.com/office/drawing/2014/main" id="{2C7BF056-F536-0380-BAC5-AE5981993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9503" y="4405890"/>
            <a:ext cx="4206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Y</a:t>
            </a:r>
            <a:r>
              <a:rPr lang="en-US" altLang="zh-CN" sz="1800" baseline="-20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8" name="Text Box 63">
            <a:extLst>
              <a:ext uri="{FF2B5EF4-FFF2-40B4-BE49-F238E27FC236}">
                <a16:creationId xmlns:a16="http://schemas.microsoft.com/office/drawing/2014/main" id="{CF8EA8EF-5F67-F268-4580-28BA406A8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9503" y="5485390"/>
            <a:ext cx="4206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Y</a:t>
            </a:r>
            <a:r>
              <a:rPr lang="en-US" altLang="zh-CN" sz="1800" baseline="-2000"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69" name="Text Box 64">
            <a:extLst>
              <a:ext uri="{FF2B5EF4-FFF2-40B4-BE49-F238E27FC236}">
                <a16:creationId xmlns:a16="http://schemas.microsoft.com/office/drawing/2014/main" id="{C2C9DF3E-A8B5-CCF4-168B-661F641DF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8928" y="4020127"/>
            <a:ext cx="865188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3-8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译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码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器</a:t>
            </a:r>
          </a:p>
        </p:txBody>
      </p:sp>
      <p:sp>
        <p:nvSpPr>
          <p:cNvPr id="70" name="Text Box 65">
            <a:extLst>
              <a:ext uri="{FF2B5EF4-FFF2-40B4-BE49-F238E27FC236}">
                <a16:creationId xmlns:a16="http://schemas.microsoft.com/office/drawing/2014/main" id="{21F5F92D-FB44-93A9-3194-579A466C4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091" y="4956752"/>
            <a:ext cx="611187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…</a:t>
            </a:r>
          </a:p>
        </p:txBody>
      </p:sp>
      <p:sp>
        <p:nvSpPr>
          <p:cNvPr id="71" name="Text Box 66">
            <a:extLst>
              <a:ext uri="{FF2B5EF4-FFF2-40B4-BE49-F238E27FC236}">
                <a16:creationId xmlns:a16="http://schemas.microsoft.com/office/drawing/2014/main" id="{0ACEF9B4-5FDF-11A3-F456-6704A6CB8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902" y="5640100"/>
            <a:ext cx="552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A</a:t>
            </a:r>
            <a:r>
              <a:rPr lang="en-US" altLang="zh-CN" sz="2000" baseline="-20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72" name="Text Box 67">
            <a:extLst>
              <a:ext uri="{FF2B5EF4-FFF2-40B4-BE49-F238E27FC236}">
                <a16:creationId xmlns:a16="http://schemas.microsoft.com/office/drawing/2014/main" id="{50174176-7D2D-D3EB-FFF6-959AB9A77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902" y="5279737"/>
            <a:ext cx="552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A</a:t>
            </a:r>
            <a:r>
              <a:rPr lang="en-US" altLang="zh-CN" sz="2000" baseline="-2000"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73" name="Text Box 68">
            <a:extLst>
              <a:ext uri="{FF2B5EF4-FFF2-40B4-BE49-F238E27FC236}">
                <a16:creationId xmlns:a16="http://schemas.microsoft.com/office/drawing/2014/main" id="{052FD0C3-3C4F-E876-3D0B-4DBE0421A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902" y="4920962"/>
            <a:ext cx="552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A</a:t>
            </a:r>
            <a:r>
              <a:rPr lang="en-US" altLang="zh-CN" sz="2000" baseline="-2000"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74" name="Line 69">
            <a:extLst>
              <a:ext uri="{FF2B5EF4-FFF2-40B4-BE49-F238E27FC236}">
                <a16:creationId xmlns:a16="http://schemas.microsoft.com/office/drawing/2014/main" id="{1D5FF098-A379-2F1A-139E-8F0B7C1069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2528" y="5533015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Line 70">
            <a:extLst>
              <a:ext uri="{FF2B5EF4-FFF2-40B4-BE49-F238E27FC236}">
                <a16:creationId xmlns:a16="http://schemas.microsoft.com/office/drawing/2014/main" id="{63C7F5D9-77E6-D719-FC50-64A2370569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2528" y="4451927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Line 71">
            <a:extLst>
              <a:ext uri="{FF2B5EF4-FFF2-40B4-BE49-F238E27FC236}">
                <a16:creationId xmlns:a16="http://schemas.microsoft.com/office/drawing/2014/main" id="{7A217282-3FA9-0168-8F5F-752D73B42D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2528" y="3659765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7" name="Group 72">
            <a:extLst>
              <a:ext uri="{FF2B5EF4-FFF2-40B4-BE49-F238E27FC236}">
                <a16:creationId xmlns:a16="http://schemas.microsoft.com/office/drawing/2014/main" id="{5C1ABEF5-A250-F3C1-5585-5B3E2829CF3C}"/>
              </a:ext>
            </a:extLst>
          </p:cNvPr>
          <p:cNvGrpSpPr>
            <a:grpSpLocks/>
          </p:cNvGrpSpPr>
          <p:nvPr/>
        </p:nvGrpSpPr>
        <p:grpSpPr bwMode="auto">
          <a:xfrm>
            <a:off x="1207778" y="5099627"/>
            <a:ext cx="1655763" cy="720725"/>
            <a:chOff x="340" y="2976"/>
            <a:chExt cx="953" cy="454"/>
          </a:xfrm>
        </p:grpSpPr>
        <p:sp>
          <p:nvSpPr>
            <p:cNvPr id="78" name="Line 73">
              <a:extLst>
                <a:ext uri="{FF2B5EF4-FFF2-40B4-BE49-F238E27FC236}">
                  <a16:creationId xmlns:a16="http://schemas.microsoft.com/office/drawing/2014/main" id="{0A1A0F9D-60F3-2456-1A78-6F6CB05C1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976"/>
              <a:ext cx="95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74">
              <a:extLst>
                <a:ext uri="{FF2B5EF4-FFF2-40B4-BE49-F238E27FC236}">
                  <a16:creationId xmlns:a16="http://schemas.microsoft.com/office/drawing/2014/main" id="{BEE929C7-1E97-097D-8C01-D2AE427B1A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3203"/>
              <a:ext cx="9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75">
              <a:extLst>
                <a:ext uri="{FF2B5EF4-FFF2-40B4-BE49-F238E27FC236}">
                  <a16:creationId xmlns:a16="http://schemas.microsoft.com/office/drawing/2014/main" id="{430FD1CD-433D-46FF-5252-A1A5912B8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3430"/>
              <a:ext cx="9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" name="Line 76">
            <a:extLst>
              <a:ext uri="{FF2B5EF4-FFF2-40B4-BE49-F238E27FC236}">
                <a16:creationId xmlns:a16="http://schemas.microsoft.com/office/drawing/2014/main" id="{9003A615-B35E-528A-9771-E82406840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96016" y="1788102"/>
            <a:ext cx="6477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Line 77">
            <a:extLst>
              <a:ext uri="{FF2B5EF4-FFF2-40B4-BE49-F238E27FC236}">
                <a16:creationId xmlns:a16="http://schemas.microsoft.com/office/drawing/2014/main" id="{3B291DBA-E761-968B-5379-5F4F7AC0EBD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96016" y="6325177"/>
            <a:ext cx="6477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Line 78">
            <a:extLst>
              <a:ext uri="{FF2B5EF4-FFF2-40B4-BE49-F238E27FC236}">
                <a16:creationId xmlns:a16="http://schemas.microsoft.com/office/drawing/2014/main" id="{A40B28B2-7772-F595-0E1B-11E42B494B0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2991" y="4524952"/>
            <a:ext cx="719137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Text Box 79">
            <a:extLst>
              <a:ext uri="{FF2B5EF4-FFF2-40B4-BE49-F238E27FC236}">
                <a16:creationId xmlns:a16="http://schemas.microsoft.com/office/drawing/2014/main" id="{443D3831-0916-91B6-8C2E-D66119F7E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7453" y="3408940"/>
            <a:ext cx="446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G</a:t>
            </a:r>
            <a:r>
              <a:rPr lang="en-US" altLang="zh-CN" sz="1800" baseline="-20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5" name="Text Box 80">
            <a:extLst>
              <a:ext uri="{FF2B5EF4-FFF2-40B4-BE49-F238E27FC236}">
                <a16:creationId xmlns:a16="http://schemas.microsoft.com/office/drawing/2014/main" id="{B0C88ACA-EB6D-B1E7-8D00-09BB05A33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7278" y="3840740"/>
            <a:ext cx="555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G</a:t>
            </a:r>
            <a:r>
              <a:rPr lang="en-US" altLang="zh-CN" sz="1800" baseline="-2000">
                <a:latin typeface="Arial" panose="020B0604020202020204" pitchFamily="34" charset="0"/>
              </a:rPr>
              <a:t>2A</a:t>
            </a:r>
          </a:p>
        </p:txBody>
      </p:sp>
      <p:sp>
        <p:nvSpPr>
          <p:cNvPr id="86" name="Text Box 81">
            <a:extLst>
              <a:ext uri="{FF2B5EF4-FFF2-40B4-BE49-F238E27FC236}">
                <a16:creationId xmlns:a16="http://schemas.microsoft.com/office/drawing/2014/main" id="{0FC108E6-98F7-6B7A-A46C-07BD41920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3791" y="4229677"/>
            <a:ext cx="555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G</a:t>
            </a:r>
            <a:r>
              <a:rPr lang="en-US" altLang="zh-CN" sz="1800" baseline="-2000">
                <a:latin typeface="Arial" panose="020B0604020202020204" pitchFamily="34" charset="0"/>
              </a:rPr>
              <a:t>2B</a:t>
            </a:r>
          </a:p>
        </p:txBody>
      </p:sp>
      <p:sp>
        <p:nvSpPr>
          <p:cNvPr id="87" name="Line 82">
            <a:extLst>
              <a:ext uri="{FF2B5EF4-FFF2-40B4-BE49-F238E27FC236}">
                <a16:creationId xmlns:a16="http://schemas.microsoft.com/office/drawing/2014/main" id="{75667EE3-6FC4-0EED-F95B-B29DFB7185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4428" y="4559877"/>
            <a:ext cx="5032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Line 83">
            <a:extLst>
              <a:ext uri="{FF2B5EF4-FFF2-40B4-BE49-F238E27FC236}">
                <a16:creationId xmlns:a16="http://schemas.microsoft.com/office/drawing/2014/main" id="{9BDBD417-177A-689E-A264-5FF7389D35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4428" y="4164590"/>
            <a:ext cx="5032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Line 84">
            <a:extLst>
              <a:ext uri="{FF2B5EF4-FFF2-40B4-BE49-F238E27FC236}">
                <a16:creationId xmlns:a16="http://schemas.microsoft.com/office/drawing/2014/main" id="{D7949C08-B150-4617-590C-21015A479B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6016" y="4164590"/>
            <a:ext cx="0" cy="6111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Line 85">
            <a:extLst>
              <a:ext uri="{FF2B5EF4-FFF2-40B4-BE49-F238E27FC236}">
                <a16:creationId xmlns:a16="http://schemas.microsoft.com/office/drawing/2014/main" id="{CA65C491-16BB-C572-AD44-1517543E11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9966" y="4775777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Line 86">
            <a:extLst>
              <a:ext uri="{FF2B5EF4-FFF2-40B4-BE49-F238E27FC236}">
                <a16:creationId xmlns:a16="http://schemas.microsoft.com/office/drawing/2014/main" id="{DA41EAAE-4286-87BC-7E47-DE688C7464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5228" y="4272540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Line 87">
            <a:extLst>
              <a:ext uri="{FF2B5EF4-FFF2-40B4-BE49-F238E27FC236}">
                <a16:creationId xmlns:a16="http://schemas.microsoft.com/office/drawing/2014/main" id="{9D6C3765-4FBB-51EF-CCD2-D5CA4D69B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8716" y="3875665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Line 88">
            <a:extLst>
              <a:ext uri="{FF2B5EF4-FFF2-40B4-BE49-F238E27FC236}">
                <a16:creationId xmlns:a16="http://schemas.microsoft.com/office/drawing/2014/main" id="{C0BF1FCA-5CFA-13EC-91F0-2F8C925808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4578" y="3767715"/>
            <a:ext cx="5746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Oval 91">
            <a:extLst>
              <a:ext uri="{FF2B5EF4-FFF2-40B4-BE49-F238E27FC236}">
                <a16:creationId xmlns:a16="http://schemas.microsoft.com/office/drawing/2014/main" id="{B3F32435-6C68-8EB1-6057-035D20681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1941" y="4102677"/>
            <a:ext cx="101600" cy="9683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95" name="Oval 92">
            <a:extLst>
              <a:ext uri="{FF2B5EF4-FFF2-40B4-BE49-F238E27FC236}">
                <a16:creationId xmlns:a16="http://schemas.microsoft.com/office/drawing/2014/main" id="{5EDD125F-03B1-3EDB-2ED4-BB4CC306F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591" y="4499552"/>
            <a:ext cx="101600" cy="9683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96" name="Oval 93">
            <a:extLst>
              <a:ext uri="{FF2B5EF4-FFF2-40B4-BE49-F238E27FC236}">
                <a16:creationId xmlns:a16="http://schemas.microsoft.com/office/drawing/2014/main" id="{0602B2E5-675E-D602-A598-B56699CDD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6628" y="3886777"/>
            <a:ext cx="101600" cy="9683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97" name="Oval 94">
            <a:extLst>
              <a:ext uri="{FF2B5EF4-FFF2-40B4-BE49-F238E27FC236}">
                <a16:creationId xmlns:a16="http://schemas.microsoft.com/office/drawing/2014/main" id="{37CDD94C-3C21-78C1-4780-0230899F9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2666" y="3886777"/>
            <a:ext cx="101600" cy="9683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782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92BC4-F3C4-3AEF-EC86-F47B0BED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作业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D1469-A401-31ED-3543-D565F3B08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电子技术基础</a:t>
            </a: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b="1" kern="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部分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P351-353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7.1.1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7.1.4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7.1.6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7.2.3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7.2.6</a:t>
            </a:r>
          </a:p>
          <a:p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补充思考题（不用写）：为什么需要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ROM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RAM? 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为什么需要两种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RAM? 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分别用在什么地方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? Cache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又是什么？</a:t>
            </a:r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1EBEAF-E105-3D6B-A44A-1A805B92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23. </a:t>
            </a:r>
            <a:r>
              <a:rPr lang="zh-CN" altLang="en-US"/>
              <a:t>存储器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440A33-A646-F11A-EF20-5480EA52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25</a:t>
            </a:fld>
            <a:r>
              <a:rPr lang="en-US" altLang="zh-CN" dirty="0"/>
              <a:t>/25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91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19132</TotalTime>
  <Words>2542</Words>
  <Application>Microsoft Macintosh PowerPoint</Application>
  <PresentationFormat>A4 纸张(210x297 毫米)</PresentationFormat>
  <Paragraphs>649</Paragraphs>
  <Slides>25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等线</vt:lpstr>
      <vt:lpstr>黑体</vt:lpstr>
      <vt:lpstr>宋体</vt:lpstr>
      <vt:lpstr>Microsoft YaHei</vt:lpstr>
      <vt:lpstr>Microsoft YaHei</vt:lpstr>
      <vt:lpstr>Arial</vt:lpstr>
      <vt:lpstr>Arial Black</vt:lpstr>
      <vt:lpstr>Helvetica</vt:lpstr>
      <vt:lpstr>Times New Roman</vt:lpstr>
      <vt:lpstr>Verdana</vt:lpstr>
      <vt:lpstr>Office-Design</vt:lpstr>
      <vt:lpstr>图片</vt:lpstr>
      <vt:lpstr>Picture</vt:lpstr>
      <vt:lpstr>  模拟与数字电路 Analog and Digital Circuits</vt:lpstr>
      <vt:lpstr>内容提纲</vt:lpstr>
      <vt:lpstr>半导体存储器</vt:lpstr>
      <vt:lpstr>半导体存储器分类</vt:lpstr>
      <vt:lpstr>只读存储器ROM</vt:lpstr>
      <vt:lpstr>掩模ROM</vt:lpstr>
      <vt:lpstr>地址二维译码</vt:lpstr>
      <vt:lpstr>示例：ROM应用</vt:lpstr>
      <vt:lpstr>示例：ROM应用(续)</vt:lpstr>
      <vt:lpstr>随机存取存储器RAM</vt:lpstr>
      <vt:lpstr>SRAM芯片</vt:lpstr>
      <vt:lpstr>/CS: 片选(Chip Select)</vt:lpstr>
      <vt:lpstr>示例：SRAM芯片2114</vt:lpstr>
      <vt:lpstr>SRAM芯片内部结构</vt:lpstr>
      <vt:lpstr>SRAM存储单元</vt:lpstr>
      <vt:lpstr>SRAM读操作时序图</vt:lpstr>
      <vt:lpstr>SRAM写操作时序图</vt:lpstr>
      <vt:lpstr>DRAM芯片</vt:lpstr>
      <vt:lpstr>DRAM芯片内部结构</vt:lpstr>
      <vt:lpstr>DRAM存储单元</vt:lpstr>
      <vt:lpstr>示例: DRAM芯片4164</vt:lpstr>
      <vt:lpstr>主存容量扩展</vt:lpstr>
      <vt:lpstr>位扩展</vt:lpstr>
      <vt:lpstr>字扩展</vt:lpstr>
      <vt:lpstr>作业</vt:lpstr>
    </vt:vector>
  </TitlesOfParts>
  <Company>DFKI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从本科到硕士到博士</dc:title>
  <dc:creator>jingyuan cheng</dc:creator>
  <cp:lastModifiedBy>Microsoft Office User</cp:lastModifiedBy>
  <cp:revision>2529</cp:revision>
  <cp:lastPrinted>2020-05-26T13:24:01Z</cp:lastPrinted>
  <dcterms:created xsi:type="dcterms:W3CDTF">2020-04-07T12:23:01Z</dcterms:created>
  <dcterms:modified xsi:type="dcterms:W3CDTF">2024-12-05T14:47:54Z</dcterms:modified>
</cp:coreProperties>
</file>