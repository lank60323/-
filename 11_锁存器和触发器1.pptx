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444" r:id="rId3"/>
    <p:sldId id="512" r:id="rId4"/>
    <p:sldId id="513" r:id="rId5"/>
    <p:sldId id="514" r:id="rId6"/>
    <p:sldId id="515" r:id="rId7"/>
    <p:sldId id="516" r:id="rId8"/>
    <p:sldId id="517" r:id="rId9"/>
    <p:sldId id="518" r:id="rId10"/>
    <p:sldId id="519" r:id="rId11"/>
    <p:sldId id="520" r:id="rId12"/>
    <p:sldId id="521" r:id="rId13"/>
    <p:sldId id="522" r:id="rId14"/>
    <p:sldId id="523" r:id="rId15"/>
    <p:sldId id="524" r:id="rId16"/>
    <p:sldId id="525" r:id="rId17"/>
    <p:sldId id="526" r:id="rId18"/>
    <p:sldId id="527" r:id="rId19"/>
    <p:sldId id="528" r:id="rId20"/>
    <p:sldId id="529" r:id="rId21"/>
    <p:sldId id="530" r:id="rId22"/>
    <p:sldId id="511" r:id="rId23"/>
    <p:sldId id="531" r:id="rId24"/>
  </p:sldIdLst>
  <p:sldSz cx="9906000" cy="6858000" type="A4"/>
  <p:notesSz cx="9144000" cy="6858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5"/>
    <p:restoredTop sz="83174"/>
  </p:normalViewPr>
  <p:slideViewPr>
    <p:cSldViewPr snapToGrid="0" snapToObjects="1">
      <p:cViewPr varScale="1">
        <p:scale>
          <a:sx n="84" d="100"/>
          <a:sy n="84" d="100"/>
        </p:scale>
        <p:origin x="2144" y="184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1" d="100"/>
          <a:sy n="111" d="100"/>
        </p:scale>
        <p:origin x="160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8FAB7-9DA6-42E2-BB80-6EB4D83E2AE8}" type="datetimeFigureOut">
              <a:rPr lang="zh-CN" altLang="en-US" smtClean="0"/>
              <a:t>2024/10/10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D08B7-D15B-4122-BED5-76961CE891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715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6F516-474B-49E6-8B3A-4C2D69386E26}" type="datetimeFigureOut">
              <a:rPr lang="zh-CN" altLang="en-US" smtClean="0"/>
              <a:t>2024/10/10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7EB77-94AC-4128-8DFB-759E46F1AD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672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023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1200" dirty="0">
                <a:solidFill>
                  <a:srgbClr val="000066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200" dirty="0">
                <a:solidFill>
                  <a:srgbClr val="000066"/>
                </a:solidFill>
                <a:latin typeface="Times New Roman" panose="02020603050405020304" pitchFamily="18" charset="0"/>
              </a:rPr>
              <a:t>、掌握锁存器、触发器的电路结构和工作原理</a:t>
            </a:r>
          </a:p>
          <a:p>
            <a:pPr eaLnBrk="1" hangingPunct="1"/>
            <a:r>
              <a:rPr lang="en-US" altLang="zh-CN" sz="1200" dirty="0">
                <a:solidFill>
                  <a:srgbClr val="000066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1200" dirty="0">
                <a:solidFill>
                  <a:srgbClr val="000066"/>
                </a:solidFill>
                <a:latin typeface="Times New Roman" panose="02020603050405020304" pitchFamily="18" charset="0"/>
              </a:rPr>
              <a:t>、熟练掌握</a:t>
            </a:r>
            <a:r>
              <a:rPr lang="en-US" altLang="zh-CN" sz="120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SR</a:t>
            </a:r>
            <a:r>
              <a:rPr lang="zh-CN" altLang="en-US" sz="1200" dirty="0">
                <a:solidFill>
                  <a:srgbClr val="000066"/>
                </a:solidFill>
                <a:latin typeface="Times New Roman" panose="02020603050405020304" pitchFamily="18" charset="0"/>
              </a:rPr>
              <a:t>触发器、</a:t>
            </a:r>
            <a:r>
              <a:rPr lang="en-US" altLang="zh-CN" sz="120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JK</a:t>
            </a:r>
            <a:r>
              <a:rPr lang="zh-CN" altLang="en-US" sz="1200" dirty="0">
                <a:solidFill>
                  <a:srgbClr val="000066"/>
                </a:solidFill>
                <a:latin typeface="Times New Roman" panose="02020603050405020304" pitchFamily="18" charset="0"/>
              </a:rPr>
              <a:t>触发器、</a:t>
            </a:r>
            <a:r>
              <a:rPr lang="en-US" altLang="zh-CN" sz="120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1200" dirty="0">
                <a:solidFill>
                  <a:srgbClr val="000066"/>
                </a:solidFill>
                <a:latin typeface="Times New Roman" panose="02020603050405020304" pitchFamily="18" charset="0"/>
              </a:rPr>
              <a:t>触发器及</a:t>
            </a:r>
            <a:r>
              <a:rPr lang="en-US" altLang="zh-CN" sz="120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T </a:t>
            </a:r>
            <a:r>
              <a:rPr lang="zh-CN" altLang="en-US" sz="1200" dirty="0">
                <a:solidFill>
                  <a:srgbClr val="000066"/>
                </a:solidFill>
                <a:latin typeface="Times New Roman" panose="02020603050405020304" pitchFamily="18" charset="0"/>
              </a:rPr>
              <a:t>触发器的逻辑功能</a:t>
            </a:r>
            <a:endParaRPr lang="en-US" altLang="zh-CN" sz="1200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1200" dirty="0">
                <a:solidFill>
                  <a:srgbClr val="000066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1200" dirty="0">
                <a:solidFill>
                  <a:srgbClr val="000066"/>
                </a:solidFill>
                <a:latin typeface="Times New Roman" panose="02020603050405020304" pitchFamily="18" charset="0"/>
              </a:rPr>
              <a:t>、正确理解锁存器、触发器的动态特性</a:t>
            </a:r>
            <a:endParaRPr lang="en-US" altLang="zh-CN" sz="1200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406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其特点为： 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    ① 逻辑电路通常包括组合电路和记忆电路两部分，记忆电路是必不可少的； 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    ② 电路的输出不仅决定于当时的输入，而且与过去的输入有关，有记忆能力。</a:t>
            </a:r>
            <a:endParaRPr kumimoji="1" lang="en-US" altLang="zh-CN" dirty="0">
              <a:solidFill>
                <a:srgbClr val="00000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66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/>
            <a:r>
              <a:rPr lang="zh-CN" altLang="en-US" dirty="0">
                <a:solidFill>
                  <a:srgbClr val="000066"/>
                </a:solidFill>
              </a:rPr>
              <a:t>锁存器和触发器都是具有存储功能的逻辑电路，是构成时序电路的基本逻辑单元。每个锁存器或触发器都能存储</a:t>
            </a:r>
            <a:r>
              <a:rPr lang="en-US" altLang="zh-CN" dirty="0">
                <a:solidFill>
                  <a:srgbClr val="000066"/>
                </a:solidFill>
              </a:rPr>
              <a:t>1</a:t>
            </a:r>
            <a:r>
              <a:rPr lang="zh-CN" altLang="en-US" dirty="0">
                <a:solidFill>
                  <a:srgbClr val="000066"/>
                </a:solidFill>
              </a:rPr>
              <a:t>位二值信息。 </a:t>
            </a:r>
          </a:p>
          <a:p>
            <a:pPr marL="228600" indent="-228600" eaLnBrk="1" hangingPunct="1"/>
            <a:r>
              <a:rPr lang="zh-CN" altLang="en-US" dirty="0">
                <a:solidFill>
                  <a:srgbClr val="000066"/>
                </a:solidFill>
              </a:rPr>
              <a:t>锁存器是对脉冲电平敏感的电路，它们在一定电平作用下改变状态。</a:t>
            </a:r>
          </a:p>
          <a:p>
            <a:pPr marL="228600" indent="-228600" eaLnBrk="1" hangingPunct="1"/>
            <a:r>
              <a:rPr lang="zh-CN" altLang="en-US" dirty="0">
                <a:solidFill>
                  <a:srgbClr val="000066"/>
                </a:solidFill>
              </a:rPr>
              <a:t>触发器是对时钟脉冲边沿敏感的电路，它们在时钟脉冲的上升沿或下降沿作用下改变状态。</a:t>
            </a:r>
          </a:p>
          <a:p>
            <a:pPr marL="228600" indent="-228600" eaLnBrk="1" hangingPunct="1"/>
            <a:r>
              <a:rPr lang="zh-CN" altLang="en-US" dirty="0">
                <a:solidFill>
                  <a:srgbClr val="000066"/>
                </a:solidFill>
              </a:rPr>
              <a:t>触发器按逻辑功能分类有</a:t>
            </a:r>
            <a:r>
              <a:rPr lang="en-US" altLang="zh-CN" dirty="0">
                <a:solidFill>
                  <a:srgbClr val="000066"/>
                </a:solidFill>
              </a:rPr>
              <a:t>D</a:t>
            </a:r>
            <a:r>
              <a:rPr lang="zh-CN" altLang="en-US" dirty="0">
                <a:solidFill>
                  <a:srgbClr val="000066"/>
                </a:solidFill>
              </a:rPr>
              <a:t>触发器、</a:t>
            </a:r>
            <a:r>
              <a:rPr lang="en-US" altLang="zh-CN" dirty="0">
                <a:solidFill>
                  <a:srgbClr val="000066"/>
                </a:solidFill>
              </a:rPr>
              <a:t>JK</a:t>
            </a:r>
            <a:r>
              <a:rPr lang="zh-CN" altLang="en-US" dirty="0">
                <a:solidFill>
                  <a:srgbClr val="000066"/>
                </a:solidFill>
              </a:rPr>
              <a:t>触发器、</a:t>
            </a:r>
            <a:r>
              <a:rPr lang="en-US" altLang="zh-CN" dirty="0">
                <a:solidFill>
                  <a:srgbClr val="000066"/>
                </a:solidFill>
              </a:rPr>
              <a:t>T</a:t>
            </a:r>
            <a:r>
              <a:rPr lang="zh-CN" altLang="en-US" dirty="0">
                <a:solidFill>
                  <a:srgbClr val="000066"/>
                </a:solidFill>
              </a:rPr>
              <a:t>（</a:t>
            </a:r>
            <a:r>
              <a:rPr lang="en-US" altLang="zh-CN" dirty="0">
                <a:solidFill>
                  <a:srgbClr val="000066"/>
                </a:solidFill>
              </a:rPr>
              <a:t>T‘</a:t>
            </a:r>
            <a:r>
              <a:rPr lang="zh-CN" altLang="en-US" dirty="0">
                <a:solidFill>
                  <a:srgbClr val="000066"/>
                </a:solidFill>
              </a:rPr>
              <a:t>）触发器和</a:t>
            </a:r>
            <a:r>
              <a:rPr lang="en-US" altLang="zh-CN" dirty="0">
                <a:solidFill>
                  <a:srgbClr val="000066"/>
                </a:solidFill>
              </a:rPr>
              <a:t>SR</a:t>
            </a:r>
            <a:r>
              <a:rPr lang="zh-CN" altLang="en-US" dirty="0">
                <a:solidFill>
                  <a:srgbClr val="000066"/>
                </a:solidFill>
              </a:rPr>
              <a:t>触发器。它们的功能可用特性表、特性方程和状态图来描述。触发器的电路结构与逻辑功能没有必然联系。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613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下面一组图中，中图没有标</a:t>
            </a:r>
            <a:r>
              <a:rPr lang="en-US" altLang="zh-CN" dirty="0"/>
              <a:t>/S,/R</a:t>
            </a:r>
            <a:r>
              <a:rPr lang="zh-CN" altLang="en-US" dirty="0"/>
              <a:t>，但是由于外面加了圈表示求反，因此还是低电平有效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222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918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Master-Untertitelformat bearbeiten</a:t>
            </a:r>
            <a:endParaRPr lang="en-US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AD0EE8D-9D56-A393-A0B6-B1D464FF8959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906000" cy="5106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/>
              <a:t>计算机科学与技术学院本科课程</a:t>
            </a:r>
            <a:endParaRPr lang="en-US" altLang="zh-CN" sz="28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2A6DDD0-4B5B-3901-545E-2EAC257EF17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21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906000" cy="510639"/>
          </a:xfrm>
          <a:solidFill>
            <a:schemeClr val="accent1"/>
          </a:solidFill>
          <a:ln>
            <a:noFill/>
          </a:ln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7780" y="585760"/>
            <a:ext cx="9888220" cy="5947119"/>
          </a:xfrm>
        </p:spPr>
        <p:txBody>
          <a:bodyPr/>
          <a:lstStyle>
            <a:lvl1pPr>
              <a:defRPr sz="28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2pPr>
            <a:lvl3pPr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 err="1"/>
              <a:t>Mastertextformat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altLang="zh-CN" dirty="0"/>
          </a:p>
          <a:p>
            <a:pPr lvl="1"/>
            <a:r>
              <a:rPr lang="en-US" altLang="zh-CN" dirty="0" err="1"/>
              <a:t>Zweite</a:t>
            </a:r>
            <a:r>
              <a:rPr lang="en-US" altLang="zh-CN" dirty="0"/>
              <a:t> Ebene</a:t>
            </a:r>
          </a:p>
          <a:p>
            <a:pPr lvl="2"/>
            <a:r>
              <a:rPr lang="en-US" altLang="zh-CN" dirty="0" err="1"/>
              <a:t>Dritte</a:t>
            </a:r>
            <a:r>
              <a:rPr lang="en-US" altLang="zh-CN" dirty="0"/>
              <a:t> Ebene</a:t>
            </a:r>
          </a:p>
          <a:p>
            <a:pPr lvl="3"/>
            <a:r>
              <a:rPr lang="en-US" altLang="zh-CN" dirty="0" err="1"/>
              <a:t>Vierte</a:t>
            </a:r>
            <a:r>
              <a:rPr lang="en-US" altLang="zh-CN" dirty="0"/>
              <a:t> Ebene</a:t>
            </a:r>
          </a:p>
          <a:p>
            <a:pPr lvl="4"/>
            <a:r>
              <a:rPr lang="en-US" altLang="zh-CN" dirty="0" err="1"/>
              <a:t>Fünfte</a:t>
            </a:r>
            <a:r>
              <a:rPr lang="en-US" altLang="zh-CN" dirty="0"/>
              <a:t> Ebene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532880"/>
            <a:ext cx="31369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475220" y="6543040"/>
            <a:ext cx="23114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fld id="{9E260BC5-5BF3-8746-862B-DC45E9CAA88B}" type="slidenum">
              <a:rPr lang="en-US" smtClean="0"/>
              <a:pPr/>
              <a:t>‹#›</a:t>
            </a:fld>
            <a:r>
              <a:rPr lang="en-US" altLang="zh-CN" dirty="0"/>
              <a:t>/</a:t>
            </a:r>
            <a:endParaRPr lang="en-US" dirty="0"/>
          </a:p>
        </p:txBody>
      </p:sp>
      <p:pic>
        <p:nvPicPr>
          <p:cNvPr id="7" name="Bild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58354" y="575599"/>
            <a:ext cx="629866" cy="574907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8A49508E-0CBC-36CF-BE0A-9CFE928D505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482FF6C-9411-92E7-7DED-EBDB23C92E35}"/>
              </a:ext>
            </a:extLst>
          </p:cNvPr>
          <p:cNvSpPr txBox="1">
            <a:spLocks/>
          </p:cNvSpPr>
          <p:nvPr userDrawn="1"/>
        </p:nvSpPr>
        <p:spPr>
          <a:xfrm>
            <a:off x="17780" y="6522719"/>
            <a:ext cx="1684560" cy="208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457200" rtl="0" eaLnBrk="1" latinLnBrk="0" hangingPunct="1">
              <a:defRPr sz="10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2024</a:t>
            </a:r>
            <a:r>
              <a:rPr lang="zh-CN" altLang="en-US" dirty="0"/>
              <a:t>年秋季学期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37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7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0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0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2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6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3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3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5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3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0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1077976"/>
            <a:ext cx="8420100" cy="1470025"/>
          </a:xfrm>
        </p:spPr>
        <p:txBody>
          <a:bodyPr>
            <a:normAutofit fontScale="90000"/>
          </a:bodyPr>
          <a:lstStyle/>
          <a:p>
            <a:br>
              <a:rPr lang="en-US" altLang="zh-CN" sz="2400" b="1" dirty="0">
                <a:latin typeface="黑体"/>
                <a:ea typeface="黑体"/>
                <a:cs typeface="黑体"/>
              </a:rPr>
            </a:br>
            <a:br>
              <a:rPr lang="en-US" altLang="zh-CN" b="1" dirty="0">
                <a:latin typeface="黑体"/>
                <a:ea typeface="黑体"/>
                <a:cs typeface="黑体"/>
              </a:rPr>
            </a:br>
            <a: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  <a:t>模拟与数字电路</a:t>
            </a:r>
            <a:b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CN" sz="2200" dirty="0">
                <a:solidFill>
                  <a:schemeClr val="accent1">
                    <a:lumMod val="50000"/>
                  </a:schemeClr>
                </a:solidFill>
                <a:latin typeface="+mj-ea"/>
              </a:rPr>
              <a:t>Analog and Digital Circuits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2546991"/>
            <a:ext cx="6934200" cy="2269558"/>
          </a:xfrm>
        </p:spPr>
        <p:txBody>
          <a:bodyPr>
            <a:noAutofit/>
          </a:bodyPr>
          <a:lstStyle/>
          <a:p>
            <a:endParaRPr lang="en-US" altLang="zh-CN" sz="16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br>
              <a:rPr lang="en-US" altLang="zh-CN" sz="16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11_</a:t>
            </a:r>
            <a:r>
              <a:rPr lang="zh-CN" altLang="en-US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锁存器和触发器（</a:t>
            </a: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36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（数电</a:t>
            </a:r>
            <a:r>
              <a:rPr lang="en-US" altLang="zh-CN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P220-231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br>
              <a:rPr lang="en-US" sz="2000" dirty="0">
                <a:solidFill>
                  <a:srgbClr val="0070C0"/>
                </a:solidFill>
              </a:rPr>
            </a:b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4" name="Bil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04" y="5093353"/>
            <a:ext cx="1727992" cy="157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7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DBC4C-9640-AD61-0F3B-5CF87397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内容提纲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06375B-3C17-2170-48EE-3E1111080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/>
              <a:t>时序逻辑电路特点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锁存器</a:t>
            </a:r>
          </a:p>
          <a:p>
            <a:pPr lvl="1">
              <a:lnSpc>
                <a:spcPct val="110000"/>
              </a:lnSpc>
            </a:pPr>
            <a:r>
              <a:rPr lang="zh-CN" altLang="en-US" dirty="0"/>
              <a:t>基本</a:t>
            </a:r>
            <a:r>
              <a:rPr lang="en-US" altLang="zh-CN" dirty="0"/>
              <a:t>SR</a:t>
            </a:r>
            <a:r>
              <a:rPr lang="zh-CN" altLang="en-US" dirty="0"/>
              <a:t>锁存器</a:t>
            </a:r>
          </a:p>
          <a:p>
            <a:pPr lvl="1">
              <a:lnSpc>
                <a:spcPct val="110000"/>
              </a:lnSpc>
            </a:pPr>
            <a:r>
              <a:rPr lang="zh-CN" altLang="en-US" dirty="0"/>
              <a:t>门控</a:t>
            </a:r>
            <a:r>
              <a:rPr lang="en-US" altLang="zh-CN" dirty="0"/>
              <a:t>SR</a:t>
            </a:r>
            <a:r>
              <a:rPr lang="zh-CN" altLang="en-US" dirty="0"/>
              <a:t>锁存器</a:t>
            </a:r>
          </a:p>
          <a:p>
            <a:pPr lvl="1">
              <a:lnSpc>
                <a:spcPct val="110000"/>
              </a:lnSpc>
            </a:pPr>
            <a:r>
              <a:rPr kumimoji="1" lang="en-US" altLang="zh-CN" dirty="0"/>
              <a:t>D</a:t>
            </a:r>
            <a:r>
              <a:rPr kumimoji="1" lang="zh-CN" altLang="en-US" dirty="0"/>
              <a:t>锁存器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B087B8-46F4-E8D4-8B30-EF3E7278E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7B7386-9DB7-80F6-203E-055AF101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</a:t>
            </a:fld>
            <a:r>
              <a:rPr lang="en-US" altLang="zh-CN" dirty="0"/>
              <a:t>/22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00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2F1188-D078-E29B-DA73-AC6A165D0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时序</a:t>
            </a:r>
            <a:r>
              <a:rPr lang="en-US" altLang="en-US" dirty="0" err="1"/>
              <a:t>逻辑</a:t>
            </a:r>
            <a:r>
              <a:rPr lang="en-US" altLang="zh-CN" dirty="0" err="1"/>
              <a:t>电路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27E936-FD4C-CC6D-58B9-BB8E833CD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289506" cy="5947119"/>
          </a:xfrm>
        </p:spPr>
        <p:txBody>
          <a:bodyPr/>
          <a:lstStyle/>
          <a:p>
            <a:r>
              <a:rPr lang="zh-CN" altLang="en-US" dirty="0"/>
              <a:t>任意时刻电路的输出不仅与该时刻的输入有关，还与之前的输入有关</a:t>
            </a:r>
          </a:p>
          <a:p>
            <a:r>
              <a:rPr lang="zh-CN" altLang="en-US" dirty="0"/>
              <a:t>时序电路结构特点：含有记忆电路和反馈路径</a:t>
            </a:r>
          </a:p>
          <a:p>
            <a:endParaRPr lang="zh-CN" altLang="en-US" sz="2400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记忆单元电路：锁存器和触发器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6AC723-B112-22FF-F9AD-ACEEAB6E9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860E3B-472F-35D0-1234-969FF060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</a:t>
            </a:fld>
            <a:r>
              <a:rPr lang="en-US" altLang="zh-CN" dirty="0"/>
              <a:t>/22</a:t>
            </a:r>
            <a:endParaRPr lang="en-US" dirty="0"/>
          </a:p>
        </p:txBody>
      </p:sp>
      <p:grpSp>
        <p:nvGrpSpPr>
          <p:cNvPr id="6" name="Group 36">
            <a:extLst>
              <a:ext uri="{FF2B5EF4-FFF2-40B4-BE49-F238E27FC236}">
                <a16:creationId xmlns:a16="http://schemas.microsoft.com/office/drawing/2014/main" id="{6CA87C4D-DDE5-DDA0-DF59-4257EFF319B3}"/>
              </a:ext>
            </a:extLst>
          </p:cNvPr>
          <p:cNvGrpSpPr>
            <a:grpSpLocks/>
          </p:cNvGrpSpPr>
          <p:nvPr/>
        </p:nvGrpSpPr>
        <p:grpSpPr bwMode="auto">
          <a:xfrm>
            <a:off x="4739958" y="3354498"/>
            <a:ext cx="2413000" cy="676275"/>
            <a:chOff x="2677" y="2705"/>
            <a:chExt cx="1520" cy="426"/>
          </a:xfrm>
        </p:grpSpPr>
        <p:sp>
          <p:nvSpPr>
            <p:cNvPr id="7" name="Text Box 23">
              <a:extLst>
                <a:ext uri="{FF2B5EF4-FFF2-40B4-BE49-F238E27FC236}">
                  <a16:creationId xmlns:a16="http://schemas.microsoft.com/office/drawing/2014/main" id="{F0035736-06F3-0A52-F32D-15F649A6C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" y="2705"/>
              <a:ext cx="1158" cy="426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solidFill>
                    <a:srgbClr val="0000FF"/>
                  </a:solidFill>
                  <a:latin typeface="Arial" panose="020B0604020202020204" pitchFamily="34" charset="0"/>
                </a:rPr>
                <a:t>记忆电路</a:t>
              </a:r>
            </a:p>
          </p:txBody>
        </p:sp>
        <p:sp>
          <p:nvSpPr>
            <p:cNvPr id="8" name="Line 24">
              <a:extLst>
                <a:ext uri="{FF2B5EF4-FFF2-40B4-BE49-F238E27FC236}">
                  <a16:creationId xmlns:a16="http://schemas.microsoft.com/office/drawing/2014/main" id="{A7DEFB22-4DF4-E647-056E-79A9D1B658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7" y="2906"/>
              <a:ext cx="3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37">
            <a:extLst>
              <a:ext uri="{FF2B5EF4-FFF2-40B4-BE49-F238E27FC236}">
                <a16:creationId xmlns:a16="http://schemas.microsoft.com/office/drawing/2014/main" id="{FE3AA95D-DC8F-CD26-B43F-2F29192A78AE}"/>
              </a:ext>
            </a:extLst>
          </p:cNvPr>
          <p:cNvGrpSpPr>
            <a:grpSpLocks/>
          </p:cNvGrpSpPr>
          <p:nvPr/>
        </p:nvGrpSpPr>
        <p:grpSpPr bwMode="auto">
          <a:xfrm>
            <a:off x="3193733" y="3697398"/>
            <a:ext cx="4281487" cy="885825"/>
            <a:chOff x="1703" y="2921"/>
            <a:chExt cx="2697" cy="558"/>
          </a:xfrm>
        </p:grpSpPr>
        <p:sp>
          <p:nvSpPr>
            <p:cNvPr id="10" name="Line 20">
              <a:extLst>
                <a:ext uri="{FF2B5EF4-FFF2-40B4-BE49-F238E27FC236}">
                  <a16:creationId xmlns:a16="http://schemas.microsoft.com/office/drawing/2014/main" id="{0DE63DC1-0F31-8179-87DB-938E5D0F7B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96" y="2921"/>
              <a:ext cx="20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25">
              <a:extLst>
                <a:ext uri="{FF2B5EF4-FFF2-40B4-BE49-F238E27FC236}">
                  <a16:creationId xmlns:a16="http://schemas.microsoft.com/office/drawing/2014/main" id="{3D23BE62-7368-0BD6-7A09-E3853F0559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3" y="3472"/>
              <a:ext cx="269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28">
              <a:extLst>
                <a:ext uri="{FF2B5EF4-FFF2-40B4-BE49-F238E27FC236}">
                  <a16:creationId xmlns:a16="http://schemas.microsoft.com/office/drawing/2014/main" id="{B38C5ED7-5F1F-036F-FE96-7A69943EC4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3" y="2928"/>
              <a:ext cx="27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29">
              <a:extLst>
                <a:ext uri="{FF2B5EF4-FFF2-40B4-BE49-F238E27FC236}">
                  <a16:creationId xmlns:a16="http://schemas.microsoft.com/office/drawing/2014/main" id="{A9374C07-9024-CC73-8DE9-CACB5C5253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9" y="2921"/>
              <a:ext cx="0" cy="55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31">
              <a:extLst>
                <a:ext uri="{FF2B5EF4-FFF2-40B4-BE49-F238E27FC236}">
                  <a16:creationId xmlns:a16="http://schemas.microsoft.com/office/drawing/2014/main" id="{18672C72-7881-EA99-73FE-8C6E89525D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3" y="2928"/>
              <a:ext cx="0" cy="55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39">
            <a:extLst>
              <a:ext uri="{FF2B5EF4-FFF2-40B4-BE49-F238E27FC236}">
                <a16:creationId xmlns:a16="http://schemas.microsoft.com/office/drawing/2014/main" id="{0B9BD532-EEC1-DBE8-A8F9-6A486D0EF7B2}"/>
              </a:ext>
            </a:extLst>
          </p:cNvPr>
          <p:cNvGrpSpPr>
            <a:grpSpLocks/>
          </p:cNvGrpSpPr>
          <p:nvPr/>
        </p:nvGrpSpPr>
        <p:grpSpPr bwMode="auto">
          <a:xfrm>
            <a:off x="1938020" y="2525823"/>
            <a:ext cx="4492625" cy="1506537"/>
            <a:chOff x="912" y="2183"/>
            <a:chExt cx="2830" cy="949"/>
          </a:xfrm>
        </p:grpSpPr>
        <p:sp>
          <p:nvSpPr>
            <p:cNvPr id="16" name="Text Box 21">
              <a:extLst>
                <a:ext uri="{FF2B5EF4-FFF2-40B4-BE49-F238E27FC236}">
                  <a16:creationId xmlns:a16="http://schemas.microsoft.com/office/drawing/2014/main" id="{C734CC1C-DD28-284A-8B63-68C3C37D09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3" y="2183"/>
              <a:ext cx="705" cy="94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组合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电路</a:t>
              </a:r>
            </a:p>
          </p:txBody>
        </p:sp>
        <p:sp>
          <p:nvSpPr>
            <p:cNvPr id="17" name="Line 22">
              <a:extLst>
                <a:ext uri="{FF2B5EF4-FFF2-40B4-BE49-F238E27FC236}">
                  <a16:creationId xmlns:a16="http://schemas.microsoft.com/office/drawing/2014/main" id="{DC574421-C96A-726E-2DA9-BAD718BD98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3" y="2424"/>
              <a:ext cx="3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26">
              <a:extLst>
                <a:ext uri="{FF2B5EF4-FFF2-40B4-BE49-F238E27FC236}">
                  <a16:creationId xmlns:a16="http://schemas.microsoft.com/office/drawing/2014/main" id="{6A42544A-1190-0BDC-3828-32660FC471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309"/>
              <a:ext cx="74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/>
                <a:t>输入</a:t>
              </a:r>
            </a:p>
          </p:txBody>
        </p:sp>
        <p:sp>
          <p:nvSpPr>
            <p:cNvPr id="19" name="Text Box 27">
              <a:extLst>
                <a:ext uri="{FF2B5EF4-FFF2-40B4-BE49-F238E27FC236}">
                  <a16:creationId xmlns:a16="http://schemas.microsoft.com/office/drawing/2014/main" id="{914417B0-01A0-5962-5A53-D3778EF6C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7" y="2296"/>
              <a:ext cx="72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/>
                <a:t>输出</a:t>
              </a:r>
            </a:p>
          </p:txBody>
        </p:sp>
        <p:sp>
          <p:nvSpPr>
            <p:cNvPr id="20" name="Line 33">
              <a:extLst>
                <a:ext uri="{FF2B5EF4-FFF2-40B4-BE49-F238E27FC236}">
                  <a16:creationId xmlns:a16="http://schemas.microsoft.com/office/drawing/2014/main" id="{A085D233-63B9-C670-ACE1-8C55104514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9" y="2424"/>
              <a:ext cx="3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38">
            <a:extLst>
              <a:ext uri="{FF2B5EF4-FFF2-40B4-BE49-F238E27FC236}">
                <a16:creationId xmlns:a16="http://schemas.microsoft.com/office/drawing/2014/main" id="{BDE99AEB-6353-E81D-A14A-40B065C61412}"/>
              </a:ext>
            </a:extLst>
          </p:cNvPr>
          <p:cNvGrpSpPr>
            <a:grpSpLocks/>
          </p:cNvGrpSpPr>
          <p:nvPr/>
        </p:nvGrpSpPr>
        <p:grpSpPr bwMode="auto">
          <a:xfrm>
            <a:off x="5208270" y="4037123"/>
            <a:ext cx="1041400" cy="431800"/>
            <a:chOff x="2972" y="3135"/>
            <a:chExt cx="656" cy="272"/>
          </a:xfrm>
        </p:grpSpPr>
        <p:sp>
          <p:nvSpPr>
            <p:cNvPr id="22" name="Line 34">
              <a:extLst>
                <a:ext uri="{FF2B5EF4-FFF2-40B4-BE49-F238E27FC236}">
                  <a16:creationId xmlns:a16="http://schemas.microsoft.com/office/drawing/2014/main" id="{C26CD72B-8D5B-4721-5990-B77E3B5970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28" y="3135"/>
              <a:ext cx="0" cy="272"/>
            </a:xfrm>
            <a:prstGeom prst="line">
              <a:avLst/>
            </a:prstGeom>
            <a:noFill/>
            <a:ln w="28575">
              <a:solidFill>
                <a:srgbClr val="9900FF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 Box 35">
              <a:extLst>
                <a:ext uri="{FF2B5EF4-FFF2-40B4-BE49-F238E27FC236}">
                  <a16:creationId xmlns:a16="http://schemas.microsoft.com/office/drawing/2014/main" id="{75A8B768-C682-B7F2-A47A-16CBA6898F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2" y="3177"/>
              <a:ext cx="61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solidFill>
                    <a:srgbClr val="9900FF"/>
                  </a:solidFill>
                </a:rPr>
                <a:t>时钟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0889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500DB4-D2D2-734A-F554-80B1FAC80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时钟信号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D8B5F3-158D-7DC5-F21F-3B49E8A30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338491" cy="5947119"/>
          </a:xfrm>
        </p:spPr>
        <p:txBody>
          <a:bodyPr/>
          <a:lstStyle/>
          <a:p>
            <a:pPr>
              <a:spcAft>
                <a:spcPct val="30000"/>
              </a:spcAft>
            </a:pPr>
            <a:r>
              <a:rPr lang="zh-CN" altLang="en-US" dirty="0"/>
              <a:t>周期性的脉冲信号，也称时钟脉冲</a:t>
            </a:r>
            <a:r>
              <a:rPr lang="en-US" altLang="zh-CN" dirty="0"/>
              <a:t>(CP)</a:t>
            </a:r>
            <a:r>
              <a:rPr lang="zh-CN" altLang="en-US" dirty="0"/>
              <a:t>，简称时钟，用于控制记忆单元状态更新的时机</a:t>
            </a:r>
          </a:p>
          <a:p>
            <a:pPr lvl="1">
              <a:spcAft>
                <a:spcPct val="30000"/>
              </a:spcAft>
            </a:pPr>
            <a:r>
              <a:rPr lang="zh-CN" altLang="en-US" dirty="0"/>
              <a:t>参数：周期</a:t>
            </a:r>
            <a:r>
              <a:rPr lang="en-US" altLang="zh-CN" dirty="0"/>
              <a:t>T</a:t>
            </a:r>
            <a:r>
              <a:rPr lang="zh-CN" altLang="en-US" dirty="0"/>
              <a:t>，频率 </a:t>
            </a:r>
            <a:r>
              <a:rPr lang="en-US" altLang="zh-CN" dirty="0"/>
              <a:t>f </a:t>
            </a:r>
            <a:r>
              <a:rPr lang="zh-CN" altLang="en-US" dirty="0"/>
              <a:t>，脉冲宽度</a:t>
            </a:r>
            <a:r>
              <a:rPr lang="en-US" altLang="zh-CN" dirty="0" err="1"/>
              <a:t>t</a:t>
            </a:r>
            <a:r>
              <a:rPr lang="en-US" altLang="zh-CN" baseline="-15000" dirty="0" err="1"/>
              <a:t>W</a:t>
            </a:r>
            <a:r>
              <a:rPr lang="en-US" altLang="zh-CN" baseline="-15000" dirty="0"/>
              <a:t> </a:t>
            </a:r>
            <a:r>
              <a:rPr lang="zh-CN" altLang="en-US" dirty="0"/>
              <a:t>，占空比</a:t>
            </a:r>
            <a:r>
              <a:rPr lang="en-US" altLang="zh-CN" dirty="0"/>
              <a:t>q</a:t>
            </a:r>
          </a:p>
          <a:p>
            <a:pPr lvl="1">
              <a:spcAft>
                <a:spcPct val="30000"/>
              </a:spcAft>
            </a:pPr>
            <a:endParaRPr lang="en-US" altLang="zh-CN" sz="2000" dirty="0"/>
          </a:p>
          <a:p>
            <a:pPr lvl="1">
              <a:spcAft>
                <a:spcPct val="30000"/>
              </a:spcAft>
            </a:pPr>
            <a:endParaRPr lang="en-US" altLang="zh-CN" sz="1800" dirty="0"/>
          </a:p>
          <a:p>
            <a:pPr lvl="1">
              <a:spcAft>
                <a:spcPct val="30000"/>
              </a:spcAft>
            </a:pPr>
            <a:r>
              <a:rPr lang="zh-CN" altLang="en-US" dirty="0"/>
              <a:t>有效时机：高电平、低电平、上升沿或下降沿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B6E54A-E0B4-1E4D-5541-2382FB78A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07FCA1-5724-5F9A-4B8E-6D88AABAA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4</a:t>
            </a:fld>
            <a:r>
              <a:rPr lang="en-US" altLang="zh-CN" dirty="0"/>
              <a:t>/22</a:t>
            </a:r>
            <a:endParaRPr lang="en-US" dirty="0"/>
          </a:p>
        </p:txBody>
      </p:sp>
      <p:graphicFrame>
        <p:nvGraphicFramePr>
          <p:cNvPr id="6" name="Object 71">
            <a:extLst>
              <a:ext uri="{FF2B5EF4-FFF2-40B4-BE49-F238E27FC236}">
                <a16:creationId xmlns:a16="http://schemas.microsoft.com/office/drawing/2014/main" id="{C62A80CA-AD17-FD5B-BB9C-D021B2719A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342440"/>
              </p:ext>
            </p:extLst>
          </p:nvPr>
        </p:nvGraphicFramePr>
        <p:xfrm>
          <a:off x="4148905" y="2083348"/>
          <a:ext cx="190817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52087" imgH="406224" progId="Equation.3">
                  <p:embed/>
                </p:oleObj>
              </mc:Choice>
              <mc:Fallback>
                <p:oleObj name="公式" r:id="rId2" imgW="952087" imgH="406224" progId="Equation.3">
                  <p:embed/>
                  <p:pic>
                    <p:nvPicPr>
                      <p:cNvPr id="10247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8905" y="2083348"/>
                        <a:ext cx="1908175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8">
            <a:extLst>
              <a:ext uri="{FF2B5EF4-FFF2-40B4-BE49-F238E27FC236}">
                <a16:creationId xmlns:a16="http://schemas.microsoft.com/office/drawing/2014/main" id="{4D5D8F11-AD9C-8217-E3A3-83500F5761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4026798"/>
              </p:ext>
            </p:extLst>
          </p:nvPr>
        </p:nvGraphicFramePr>
        <p:xfrm>
          <a:off x="2204217" y="2119861"/>
          <a:ext cx="788988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93529" imgH="393529" progId="Equation.3">
                  <p:embed/>
                </p:oleObj>
              </mc:Choice>
              <mc:Fallback>
                <p:oleObj name="公式" r:id="rId4" imgW="393529" imgH="393529" progId="Equation.3">
                  <p:embed/>
                  <p:pic>
                    <p:nvPicPr>
                      <p:cNvPr id="10261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4217" y="2119861"/>
                        <a:ext cx="788988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>
            <a:extLst>
              <a:ext uri="{FF2B5EF4-FFF2-40B4-BE49-F238E27FC236}">
                <a16:creationId xmlns:a16="http://schemas.microsoft.com/office/drawing/2014/main" id="{C09D1CBA-FA39-84EB-18E6-EBB73D3E0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029" y="4534940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CP</a:t>
            </a: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A865F6DD-9D23-E635-D869-962E5E6BB0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529" y="5073103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10639B79-D38D-0C34-64BD-D02E98F576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1554" y="4574628"/>
            <a:ext cx="8651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EB42C95C-DBDB-A5B3-032D-CA19494BB1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8854" y="4574628"/>
            <a:ext cx="0" cy="511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8D362A90-8C8A-5098-4B4F-76CABED2FF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6742" y="4574628"/>
            <a:ext cx="0" cy="511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8E1475BF-CFD3-CBE8-5E77-2C211A75DF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64129" y="4561928"/>
            <a:ext cx="0" cy="511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66DB807F-18AE-8854-FF3D-0255B5FF7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7729" y="4574628"/>
            <a:ext cx="0" cy="511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" name="Group 87">
            <a:extLst>
              <a:ext uri="{FF2B5EF4-FFF2-40B4-BE49-F238E27FC236}">
                <a16:creationId xmlns:a16="http://schemas.microsoft.com/office/drawing/2014/main" id="{4A47A11E-3363-250B-DAD4-0AF0289EE69B}"/>
              </a:ext>
            </a:extLst>
          </p:cNvPr>
          <p:cNvGrpSpPr>
            <a:grpSpLocks/>
          </p:cNvGrpSpPr>
          <p:nvPr/>
        </p:nvGrpSpPr>
        <p:grpSpPr bwMode="auto">
          <a:xfrm>
            <a:off x="5405767" y="3933278"/>
            <a:ext cx="1985962" cy="1663700"/>
            <a:chOff x="3531" y="2795"/>
            <a:chExt cx="1251" cy="1048"/>
          </a:xfrm>
        </p:grpSpPr>
        <p:sp>
          <p:nvSpPr>
            <p:cNvPr id="16" name="Line 8">
              <a:extLst>
                <a:ext uri="{FF2B5EF4-FFF2-40B4-BE49-F238E27FC236}">
                  <a16:creationId xmlns:a16="http://schemas.microsoft.com/office/drawing/2014/main" id="{155968F2-EE15-1B6F-53AE-73994CFE54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91" y="3187"/>
              <a:ext cx="0" cy="32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0">
              <a:extLst>
                <a:ext uri="{FF2B5EF4-FFF2-40B4-BE49-F238E27FC236}">
                  <a16:creationId xmlns:a16="http://schemas.microsoft.com/office/drawing/2014/main" id="{459D9B07-05A3-BB21-4835-E817AF8F8B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3" y="3187"/>
              <a:ext cx="0" cy="32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lg" len="lg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29F7BF3D-A5AF-997D-71A7-6C8C8F4E18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1" y="2795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Arial" panose="020B0604020202020204" pitchFamily="34" charset="0"/>
                </a:rPr>
                <a:t>上升沿</a:t>
              </a:r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7081E5DD-5B5D-CDAC-7D14-AF2C55D1EF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0" y="3555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Arial" panose="020B0604020202020204" pitchFamily="34" charset="0"/>
                </a:rPr>
                <a:t>下升沿</a:t>
              </a:r>
            </a:p>
          </p:txBody>
        </p:sp>
      </p:grpSp>
      <p:grpSp>
        <p:nvGrpSpPr>
          <p:cNvPr id="20" name="Group 80">
            <a:extLst>
              <a:ext uri="{FF2B5EF4-FFF2-40B4-BE49-F238E27FC236}">
                <a16:creationId xmlns:a16="http://schemas.microsoft.com/office/drawing/2014/main" id="{DEDCA9C3-4280-BE5B-8FA5-DAFD12A7C2C8}"/>
              </a:ext>
            </a:extLst>
          </p:cNvPr>
          <p:cNvGrpSpPr>
            <a:grpSpLocks/>
          </p:cNvGrpSpPr>
          <p:nvPr/>
        </p:nvGrpSpPr>
        <p:grpSpPr bwMode="auto">
          <a:xfrm>
            <a:off x="4227842" y="5168353"/>
            <a:ext cx="1736725" cy="601662"/>
            <a:chOff x="2789" y="3573"/>
            <a:chExt cx="1094" cy="379"/>
          </a:xfrm>
        </p:grpSpPr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3686A8C5-6F0E-2F93-9A08-EA33E43C8E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3622"/>
              <a:ext cx="0" cy="3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8C3EDC69-B8AE-5F6D-CB18-17A312FFFB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3" y="3622"/>
              <a:ext cx="0" cy="3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06A60112-4926-4857-C107-CCCD3AD505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3861"/>
              <a:ext cx="10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A808C372-B2C9-EF41-2336-E12CEEE2F0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7" y="3573"/>
              <a:ext cx="2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T</a:t>
              </a:r>
            </a:p>
          </p:txBody>
        </p:sp>
      </p:grpSp>
      <p:grpSp>
        <p:nvGrpSpPr>
          <p:cNvPr id="25" name="Group 79">
            <a:extLst>
              <a:ext uri="{FF2B5EF4-FFF2-40B4-BE49-F238E27FC236}">
                <a16:creationId xmlns:a16="http://schemas.microsoft.com/office/drawing/2014/main" id="{B4C12B62-A0AD-3CC8-9BA9-31C388508D26}"/>
              </a:ext>
            </a:extLst>
          </p:cNvPr>
          <p:cNvGrpSpPr>
            <a:grpSpLocks/>
          </p:cNvGrpSpPr>
          <p:nvPr/>
        </p:nvGrpSpPr>
        <p:grpSpPr bwMode="auto">
          <a:xfrm>
            <a:off x="4192917" y="3753890"/>
            <a:ext cx="893762" cy="696913"/>
            <a:chOff x="2767" y="2682"/>
            <a:chExt cx="563" cy="439"/>
          </a:xfrm>
        </p:grpSpPr>
        <p:sp>
          <p:nvSpPr>
            <p:cNvPr id="26" name="Text Box 3">
              <a:extLst>
                <a:ext uri="{FF2B5EF4-FFF2-40B4-BE49-F238E27FC236}">
                  <a16:creationId xmlns:a16="http://schemas.microsoft.com/office/drawing/2014/main" id="{186A2AC7-D3B2-0162-DF70-DCBFBACAF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2" y="2682"/>
              <a:ext cx="308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t</a:t>
              </a:r>
              <a:r>
                <a:rPr lang="en-US" altLang="zh-CN" sz="2400" baseline="-15000"/>
                <a:t>W</a:t>
              </a:r>
            </a:p>
          </p:txBody>
        </p:sp>
        <p:sp>
          <p:nvSpPr>
            <p:cNvPr id="27" name="Line 22">
              <a:extLst>
                <a:ext uri="{FF2B5EF4-FFF2-40B4-BE49-F238E27FC236}">
                  <a16:creationId xmlns:a16="http://schemas.microsoft.com/office/drawing/2014/main" id="{ADB15C58-CC0D-D1E5-648E-15A5F3C124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7" y="2791"/>
              <a:ext cx="0" cy="3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3">
              <a:extLst>
                <a:ext uri="{FF2B5EF4-FFF2-40B4-BE49-F238E27FC236}">
                  <a16:creationId xmlns:a16="http://schemas.microsoft.com/office/drawing/2014/main" id="{0770A960-03C2-DA28-30F6-D961D7C0FC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0" y="2791"/>
              <a:ext cx="0" cy="3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4">
              <a:extLst>
                <a:ext uri="{FF2B5EF4-FFF2-40B4-BE49-F238E27FC236}">
                  <a16:creationId xmlns:a16="http://schemas.microsoft.com/office/drawing/2014/main" id="{8CEB29E4-8E05-FED3-745B-FA48193910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7" y="3017"/>
              <a:ext cx="5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" name="Line 72">
            <a:extLst>
              <a:ext uri="{FF2B5EF4-FFF2-40B4-BE49-F238E27FC236}">
                <a16:creationId xmlns:a16="http://schemas.microsoft.com/office/drawing/2014/main" id="{C6A8344D-7C1F-5A28-739B-E50FE04223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6679" y="5073103"/>
            <a:ext cx="8778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73">
            <a:extLst>
              <a:ext uri="{FF2B5EF4-FFF2-40B4-BE49-F238E27FC236}">
                <a16:creationId xmlns:a16="http://schemas.microsoft.com/office/drawing/2014/main" id="{4DF240E1-2F11-8DF6-FDAF-5508D3A8EA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5142" y="4574628"/>
            <a:ext cx="8778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74">
            <a:extLst>
              <a:ext uri="{FF2B5EF4-FFF2-40B4-BE49-F238E27FC236}">
                <a16:creationId xmlns:a16="http://schemas.microsoft.com/office/drawing/2014/main" id="{A417CC8D-6390-5D10-9DFE-A389E74CAB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7692" y="5073103"/>
            <a:ext cx="8810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82">
            <a:extLst>
              <a:ext uri="{FF2B5EF4-FFF2-40B4-BE49-F238E27FC236}">
                <a16:creationId xmlns:a16="http://schemas.microsoft.com/office/drawing/2014/main" id="{BBBC820B-8CAA-F834-EBFC-37E0770086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2017" y="5085803"/>
            <a:ext cx="8778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83">
            <a:extLst>
              <a:ext uri="{FF2B5EF4-FFF2-40B4-BE49-F238E27FC236}">
                <a16:creationId xmlns:a16="http://schemas.microsoft.com/office/drawing/2014/main" id="{CB7C59E5-DE98-6326-B611-6C94C29B7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4129" y="4580978"/>
            <a:ext cx="8778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85">
            <a:extLst>
              <a:ext uri="{FF2B5EF4-FFF2-40B4-BE49-F238E27FC236}">
                <a16:creationId xmlns:a16="http://schemas.microsoft.com/office/drawing/2014/main" id="{CAF83E43-DFF8-5D80-BAA1-46889C3BB8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27842" y="4574628"/>
            <a:ext cx="0" cy="511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86">
            <a:extLst>
              <a:ext uri="{FF2B5EF4-FFF2-40B4-BE49-F238E27FC236}">
                <a16:creationId xmlns:a16="http://schemas.microsoft.com/office/drawing/2014/main" id="{09EB6FE5-361B-1C17-0B82-26C09367D3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3029" y="4574628"/>
            <a:ext cx="0" cy="511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7" name="Group 81">
            <a:extLst>
              <a:ext uri="{FF2B5EF4-FFF2-40B4-BE49-F238E27FC236}">
                <a16:creationId xmlns:a16="http://schemas.microsoft.com/office/drawing/2014/main" id="{D28A4099-CA61-4EBC-D048-C035B41DD271}"/>
              </a:ext>
            </a:extLst>
          </p:cNvPr>
          <p:cNvGrpSpPr>
            <a:grpSpLocks/>
          </p:cNvGrpSpPr>
          <p:nvPr/>
        </p:nvGrpSpPr>
        <p:grpSpPr bwMode="auto">
          <a:xfrm>
            <a:off x="2310142" y="3952328"/>
            <a:ext cx="1905000" cy="1662112"/>
            <a:chOff x="1581" y="2807"/>
            <a:chExt cx="1200" cy="1047"/>
          </a:xfrm>
        </p:grpSpPr>
        <p:sp>
          <p:nvSpPr>
            <p:cNvPr id="38" name="Text Box 2">
              <a:extLst>
                <a:ext uri="{FF2B5EF4-FFF2-40B4-BE49-F238E27FC236}">
                  <a16:creationId xmlns:a16="http://schemas.microsoft.com/office/drawing/2014/main" id="{2CE5FAA4-2348-37E5-A1BD-DAA0A1C87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6" y="3566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solidFill>
                    <a:srgbClr val="0000FF"/>
                  </a:solidFill>
                  <a:latin typeface="Arial" panose="020B0604020202020204" pitchFamily="34" charset="0"/>
                </a:rPr>
                <a:t>低电平</a:t>
              </a:r>
            </a:p>
          </p:txBody>
        </p:sp>
        <p:sp>
          <p:nvSpPr>
            <p:cNvPr id="39" name="Text Box 17">
              <a:extLst>
                <a:ext uri="{FF2B5EF4-FFF2-40B4-BE49-F238E27FC236}">
                  <a16:creationId xmlns:a16="http://schemas.microsoft.com/office/drawing/2014/main" id="{8E8FB783-CE54-0C10-0F99-5406E45A7E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1" y="2807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solidFill>
                    <a:srgbClr val="0000FF"/>
                  </a:solidFill>
                  <a:latin typeface="Arial" panose="020B0604020202020204" pitchFamily="34" charset="0"/>
                </a:rPr>
                <a:t>高电平</a:t>
              </a:r>
            </a:p>
          </p:txBody>
        </p:sp>
        <p:sp>
          <p:nvSpPr>
            <p:cNvPr id="40" name="Line 75">
              <a:extLst>
                <a:ext uri="{FF2B5EF4-FFF2-40B4-BE49-F238E27FC236}">
                  <a16:creationId xmlns:a16="http://schemas.microsoft.com/office/drawing/2014/main" id="{6E936484-16A8-112C-BFFC-814205A37B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2" y="3513"/>
              <a:ext cx="553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76">
              <a:extLst>
                <a:ext uri="{FF2B5EF4-FFF2-40B4-BE49-F238E27FC236}">
                  <a16:creationId xmlns:a16="http://schemas.microsoft.com/office/drawing/2014/main" id="{518F19ED-59F7-9CC7-F69B-3B4819B059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9" y="3199"/>
              <a:ext cx="553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60028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D660C1-EE3E-6F80-E226-5F1C518E5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锁存器和触发器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99FBF7-6B01-CDC0-441E-339C99A85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073668" cy="5947119"/>
          </a:xfrm>
        </p:spPr>
        <p:txBody>
          <a:bodyPr/>
          <a:lstStyle/>
          <a:p>
            <a:r>
              <a:rPr lang="zh-CN" altLang="en-US" sz="2800" dirty="0"/>
              <a:t>具有记忆功能的逻辑单元电路，是构成时序电路的基石，又称为记忆单元、存储单元或状态单元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两者共同点：</a:t>
            </a:r>
            <a:r>
              <a:rPr lang="zh-CN" altLang="en-US" dirty="0"/>
              <a:t>记忆</a:t>
            </a:r>
            <a:r>
              <a:rPr lang="zh-CN" altLang="en-US" dirty="0">
                <a:latin typeface="Arial" panose="020B0604020202020204" pitchFamily="34" charset="0"/>
              </a:rPr>
              <a:t>功能</a:t>
            </a:r>
          </a:p>
          <a:p>
            <a:pPr lvl="1">
              <a:spcAft>
                <a:spcPct val="15000"/>
              </a:spcAft>
            </a:pPr>
            <a:r>
              <a:rPr lang="zh-CN" altLang="en-US" sz="2000" dirty="0">
                <a:latin typeface="Arial" panose="020B0604020202020204" pitchFamily="34" charset="0"/>
              </a:rPr>
              <a:t>具有两个能自行保持的稳定状态，可用来存储一位二值信息</a:t>
            </a:r>
          </a:p>
          <a:p>
            <a:pPr lvl="1">
              <a:spcAft>
                <a:spcPct val="15000"/>
              </a:spcAft>
            </a:pPr>
            <a:r>
              <a:rPr lang="zh-CN" altLang="en-US" sz="2000" dirty="0">
                <a:latin typeface="Arial" panose="020B0604020202020204" pitchFamily="34" charset="0"/>
              </a:rPr>
              <a:t>在输入信号作用下可更新状态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spcAft>
                <a:spcPct val="15000"/>
              </a:spcAft>
            </a:pPr>
            <a:r>
              <a:rPr lang="zh-CN" altLang="en-US" dirty="0">
                <a:latin typeface="Arial" panose="020B0604020202020204" pitchFamily="34" charset="0"/>
              </a:rPr>
              <a:t>两者不同点：更新时机</a:t>
            </a:r>
          </a:p>
          <a:p>
            <a:pPr lvl="1">
              <a:spcAft>
                <a:spcPct val="15000"/>
              </a:spcAft>
            </a:pPr>
            <a:r>
              <a:rPr lang="zh-CN" altLang="en-US" sz="2000" dirty="0">
                <a:latin typeface="Arial" panose="020B0604020202020204" pitchFamily="34" charset="0"/>
              </a:rPr>
              <a:t>锁存器对时钟的电平敏感，在有效电平期间更新状态</a:t>
            </a:r>
          </a:p>
          <a:p>
            <a:pPr lvl="1">
              <a:spcAft>
                <a:spcPct val="15000"/>
              </a:spcAft>
            </a:pPr>
            <a:r>
              <a:rPr lang="zh-CN" altLang="en-US" sz="2000" dirty="0">
                <a:latin typeface="Arial" panose="020B0604020202020204" pitchFamily="34" charset="0"/>
              </a:rPr>
              <a:t>触发器对时钟的边沿敏感，在有效边沿瞬间更新状态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F52B58-D3BE-CC7F-1550-5129D9D6F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FF9DCB-E2EF-79AC-4E7C-AF2CD904E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5</a:t>
            </a:fld>
            <a:r>
              <a:rPr lang="en-US" altLang="zh-CN" dirty="0"/>
              <a:t>/22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C37F23-F54F-54CF-2903-6DAD9EFF3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807" y="4506913"/>
            <a:ext cx="982663" cy="11064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5FD78946-0A4B-C017-3306-629F48DC47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6607" y="4808538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18A071F7-D49A-00E5-F6E2-601A78C960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6607" y="5311775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C874990B-8372-9C5E-F893-0653B50B89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8057" y="4808538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9B82563C-0688-0A4A-D323-734E46174D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8057" y="5311775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9A9F8B33-443D-2A4E-5F0C-BDE70211B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0795" y="46053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D</a:t>
            </a:r>
            <a:endParaRPr kumimoji="1" lang="en-US" altLang="zh-CN" sz="1600">
              <a:ea typeface="楷体_GB2312" pitchFamily="49" charset="-122"/>
            </a:endParaRP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619D8B51-C56B-2C48-61C7-AFD3BCF58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857" y="5083175"/>
            <a:ext cx="390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E</a:t>
            </a:r>
            <a:endParaRPr kumimoji="1" lang="en-US" altLang="zh-CN" sz="1600">
              <a:ea typeface="楷体_GB2312" pitchFamily="49" charset="-122"/>
            </a:endParaRP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FD639A12-405C-9D88-5AF0-C36DA6F3A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1770" y="4527550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54323387-915E-18BD-E1B6-A5AF36538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7645" y="5053013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</a:p>
        </p:txBody>
      </p:sp>
      <p:sp>
        <p:nvSpPr>
          <p:cNvPr id="15" name="Text Box 28">
            <a:extLst>
              <a:ext uri="{FF2B5EF4-FFF2-40B4-BE49-F238E27FC236}">
                <a16:creationId xmlns:a16="http://schemas.microsoft.com/office/drawing/2014/main" id="{C09F3872-F8BC-7BCB-7D19-0AB83B403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795" y="5838825"/>
            <a:ext cx="1298575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ct val="0"/>
              </a:spcAft>
              <a:buFontTx/>
              <a:buNone/>
            </a:pPr>
            <a:r>
              <a:rPr lang="en-US" altLang="zh-CN" sz="2400" b="0"/>
              <a:t>D</a:t>
            </a:r>
            <a:r>
              <a:rPr lang="zh-CN" altLang="en-US" sz="2400" b="0"/>
              <a:t>锁存器</a:t>
            </a:r>
            <a:endParaRPr lang="en-US" altLang="zh-CN" sz="2400" b="0"/>
          </a:p>
        </p:txBody>
      </p:sp>
      <p:sp>
        <p:nvSpPr>
          <p:cNvPr id="16" name="Oval 30">
            <a:extLst>
              <a:ext uri="{FF2B5EF4-FFF2-40B4-BE49-F238E27FC236}">
                <a16:creationId xmlns:a16="http://schemas.microsoft.com/office/drawing/2014/main" id="{2542D73D-EB00-1423-C13E-C64600E90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470" y="5227638"/>
            <a:ext cx="131762" cy="1428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7" name="Line 31">
            <a:extLst>
              <a:ext uri="{FF2B5EF4-FFF2-40B4-BE49-F238E27FC236}">
                <a16:creationId xmlns:a16="http://schemas.microsoft.com/office/drawing/2014/main" id="{F64F09C2-B22E-A487-6CCD-FE9E342267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2895" y="5140325"/>
            <a:ext cx="2222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86A7B2E8-1FCE-E0DD-42CB-15D2BE8C9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8491" y="4529931"/>
            <a:ext cx="973138" cy="11064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4B26927B-A623-73DF-8938-6FFB5EA546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1291" y="4831556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9182051D-3355-CFCB-1A93-329BE7118E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1291" y="5334794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95DAB655-19B6-790D-D8F2-5A0589DE5D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2741" y="4831556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C3E79EDD-3C3E-D8F2-B565-351AE70966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2741" y="5334794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20">
            <a:extLst>
              <a:ext uri="{FF2B5EF4-FFF2-40B4-BE49-F238E27FC236}">
                <a16:creationId xmlns:a16="http://schemas.microsoft.com/office/drawing/2014/main" id="{8E836696-C00F-71BB-507C-6B5B12FD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2466" y="4629944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D</a:t>
            </a:r>
            <a:endParaRPr kumimoji="1" lang="en-US" altLang="zh-CN" sz="1600">
              <a:ea typeface="楷体_GB2312" pitchFamily="49" charset="-122"/>
            </a:endParaRPr>
          </a:p>
        </p:txBody>
      </p:sp>
      <p:sp>
        <p:nvSpPr>
          <p:cNvPr id="24" name="Text Box 21">
            <a:extLst>
              <a:ext uri="{FF2B5EF4-FFF2-40B4-BE49-F238E27FC236}">
                <a16:creationId xmlns:a16="http://schemas.microsoft.com/office/drawing/2014/main" id="{DD50767E-FE78-ECC2-CC52-1E0216BEE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1841" y="5096669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C</a:t>
            </a:r>
            <a:endParaRPr kumimoji="1" lang="en-US" altLang="zh-CN" sz="1600">
              <a:ea typeface="楷体_GB2312" pitchFamily="49" charset="-122"/>
            </a:endParaRPr>
          </a:p>
        </p:txBody>
      </p:sp>
      <p:sp>
        <p:nvSpPr>
          <p:cNvPr id="25" name="Text Box 22">
            <a:extLst>
              <a:ext uri="{FF2B5EF4-FFF2-40B4-BE49-F238E27FC236}">
                <a16:creationId xmlns:a16="http://schemas.microsoft.com/office/drawing/2014/main" id="{82C67CAE-EB15-C427-375D-5508FCF63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6454" y="4593431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</a:p>
        </p:txBody>
      </p:sp>
      <p:sp>
        <p:nvSpPr>
          <p:cNvPr id="26" name="Text Box 23">
            <a:extLst>
              <a:ext uri="{FF2B5EF4-FFF2-40B4-BE49-F238E27FC236}">
                <a16:creationId xmlns:a16="http://schemas.microsoft.com/office/drawing/2014/main" id="{5BC3F37C-FF97-610A-BEA3-A09B5927C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929" y="5126831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</a:p>
        </p:txBody>
      </p:sp>
      <p:sp>
        <p:nvSpPr>
          <p:cNvPr id="27" name="Oval 25">
            <a:extLst>
              <a:ext uri="{FF2B5EF4-FFF2-40B4-BE49-F238E27FC236}">
                <a16:creationId xmlns:a16="http://schemas.microsoft.com/office/drawing/2014/main" id="{58B57C11-A303-B6B3-819F-2FCB2890D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4329" y="5260181"/>
            <a:ext cx="131762" cy="1428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102DA909-1731-3AD9-019B-6F7864706E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8491" y="5212556"/>
            <a:ext cx="144463" cy="1190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EB60DD99-7488-05AA-9579-703611102C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28491" y="5331619"/>
            <a:ext cx="144463" cy="1190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16452B07-CD7A-6AB2-CCE5-84A353D87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129" y="5817394"/>
            <a:ext cx="1298575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ct val="0"/>
              </a:spcAft>
              <a:buFontTx/>
              <a:buNone/>
            </a:pPr>
            <a:r>
              <a:rPr lang="en-US" altLang="zh-CN" sz="2400" b="0"/>
              <a:t>D</a:t>
            </a:r>
            <a:r>
              <a:rPr lang="zh-CN" altLang="en-US" sz="2400" b="0"/>
              <a:t>触发器</a:t>
            </a:r>
            <a:endParaRPr lang="en-US" altLang="zh-CN" sz="2400" b="0"/>
          </a:p>
        </p:txBody>
      </p:sp>
      <p:sp>
        <p:nvSpPr>
          <p:cNvPr id="31" name="Line 32">
            <a:extLst>
              <a:ext uri="{FF2B5EF4-FFF2-40B4-BE49-F238E27FC236}">
                <a16:creationId xmlns:a16="http://schemas.microsoft.com/office/drawing/2014/main" id="{28A3AF02-02AA-99BD-1259-C9C3B4619B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2654" y="5220494"/>
            <a:ext cx="2222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909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79838-8841-8319-03C5-CA75A9C75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基本</a:t>
            </a:r>
            <a:r>
              <a:rPr lang="en-US" altLang="zh-CN" dirty="0"/>
              <a:t>SR</a:t>
            </a:r>
            <a:r>
              <a:rPr lang="zh-CN" altLang="en-US" dirty="0"/>
              <a:t>锁存器</a:t>
            </a:r>
            <a:r>
              <a:rPr lang="en-US" altLang="zh-CN" dirty="0"/>
              <a:t>(Latch)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15E16A-C58E-9AE1-3E50-3F9B10BBB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电路结构</a:t>
            </a:r>
            <a:endParaRPr lang="en-US" altLang="zh-CN" dirty="0"/>
          </a:p>
          <a:p>
            <a:pPr lvl="1"/>
            <a:r>
              <a:rPr lang="zh-CN" altLang="en-US" dirty="0"/>
              <a:t>利用反馈实现记忆</a:t>
            </a:r>
          </a:p>
          <a:p>
            <a:pPr lvl="1"/>
            <a:r>
              <a:rPr lang="zh-CN" altLang="en-US" dirty="0"/>
              <a:t>利用</a:t>
            </a:r>
            <a:r>
              <a:rPr lang="en-US" altLang="zh-CN" dirty="0"/>
              <a:t>R</a:t>
            </a:r>
            <a:r>
              <a:rPr lang="zh-CN" altLang="en-US" dirty="0"/>
              <a:t>、</a:t>
            </a:r>
            <a:r>
              <a:rPr lang="en-US" altLang="zh-CN" dirty="0"/>
              <a:t>S</a:t>
            </a:r>
            <a:r>
              <a:rPr lang="zh-CN" altLang="en-US" dirty="0"/>
              <a:t>更新状态</a:t>
            </a:r>
          </a:p>
          <a:p>
            <a:endParaRPr lang="en-US" altLang="zh-CN" dirty="0"/>
          </a:p>
          <a:p>
            <a:r>
              <a:rPr lang="zh-CN" altLang="en-US" dirty="0"/>
              <a:t>逻辑符号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F71752-36C1-A097-F9EE-AB704EEE7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C494AF-D68F-8353-60A0-1BB09FC1D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6</a:t>
            </a:fld>
            <a:r>
              <a:rPr lang="en-US" altLang="zh-CN" dirty="0"/>
              <a:t>/22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D73D4392-35BC-DAD4-A7AE-79595CDD1819}"/>
              </a:ext>
            </a:extLst>
          </p:cNvPr>
          <p:cNvGrpSpPr>
            <a:grpSpLocks/>
          </p:cNvGrpSpPr>
          <p:nvPr/>
        </p:nvGrpSpPr>
        <p:grpSpPr bwMode="auto">
          <a:xfrm>
            <a:off x="5384801" y="1539338"/>
            <a:ext cx="2578100" cy="309563"/>
            <a:chOff x="3343" y="1443"/>
            <a:chExt cx="1841" cy="195"/>
          </a:xfrm>
        </p:grpSpPr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95902293-D446-6AB3-0D8B-557F2B921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3" y="1443"/>
              <a:ext cx="1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solidFill>
                    <a:srgbClr val="0000FF"/>
                  </a:solidFill>
                  <a:ea typeface="楷体_GB2312" pitchFamily="49" charset="-122"/>
                </a:rPr>
                <a:t>0</a:t>
              </a:r>
              <a:endParaRPr kumimoji="1" lang="en-US" altLang="zh-CN" sz="2000" baseline="-2500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54ADF2EE-8D7B-EBBE-7200-CB1B2967D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0" y="1465"/>
              <a:ext cx="1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solidFill>
                    <a:srgbClr val="0000FF"/>
                  </a:solidFill>
                  <a:ea typeface="楷体_GB2312" pitchFamily="49" charset="-122"/>
                </a:rPr>
                <a:t>1</a:t>
              </a:r>
              <a:endParaRPr kumimoji="1" lang="en-US" altLang="zh-CN" sz="2000" baseline="-2500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CBE9D4C2-FCFF-301E-2F35-E175EA0D27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2" y="1457"/>
              <a:ext cx="1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solidFill>
                    <a:srgbClr val="0000FF"/>
                  </a:solidFill>
                  <a:ea typeface="楷体_GB2312" pitchFamily="49" charset="-122"/>
                </a:rPr>
                <a:t>0</a:t>
              </a:r>
              <a:endParaRPr kumimoji="1" lang="en-US" altLang="zh-CN" sz="2000" baseline="-25000">
                <a:solidFill>
                  <a:srgbClr val="0000FF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10" name="Group 8">
            <a:extLst>
              <a:ext uri="{FF2B5EF4-FFF2-40B4-BE49-F238E27FC236}">
                <a16:creationId xmlns:a16="http://schemas.microsoft.com/office/drawing/2014/main" id="{069B4EF3-D569-AA17-21A5-085DB312DD94}"/>
              </a:ext>
            </a:extLst>
          </p:cNvPr>
          <p:cNvGrpSpPr>
            <a:grpSpLocks/>
          </p:cNvGrpSpPr>
          <p:nvPr/>
        </p:nvGrpSpPr>
        <p:grpSpPr bwMode="auto">
          <a:xfrm>
            <a:off x="5397501" y="1855251"/>
            <a:ext cx="2578100" cy="296862"/>
            <a:chOff x="3334" y="1457"/>
            <a:chExt cx="1841" cy="187"/>
          </a:xfrm>
        </p:grpSpPr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26FEE950-144B-D54D-3B29-E18D8EAD81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1457"/>
              <a:ext cx="172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solidFill>
                    <a:srgbClr val="FF0000"/>
                  </a:solidFill>
                  <a:ea typeface="楷体_GB2312" pitchFamily="49" charset="-122"/>
                </a:rPr>
                <a:t>1</a:t>
              </a:r>
              <a:endParaRPr kumimoji="1" lang="en-US" altLang="zh-CN" sz="2000" baseline="-2500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B67EF252-B4C1-87B2-3E79-6CE267BDF4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" y="1457"/>
              <a:ext cx="172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solidFill>
                    <a:srgbClr val="FF0000"/>
                  </a:solidFill>
                  <a:ea typeface="楷体_GB2312" pitchFamily="49" charset="-122"/>
                </a:rPr>
                <a:t>0</a:t>
              </a:r>
              <a:endParaRPr kumimoji="1" lang="en-US" altLang="zh-CN" sz="2000" baseline="-2500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B32705BB-71D7-1468-C9B5-CF7E7385F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3" y="1471"/>
              <a:ext cx="172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solidFill>
                    <a:srgbClr val="FF0000"/>
                  </a:solidFill>
                  <a:ea typeface="楷体_GB2312" pitchFamily="49" charset="-122"/>
                </a:rPr>
                <a:t>1</a:t>
              </a:r>
              <a:endParaRPr kumimoji="1" lang="en-US" altLang="zh-CN" sz="2000" baseline="-2500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</p:grpSp>
      <p:sp>
        <p:nvSpPr>
          <p:cNvPr id="14" name="Line 12">
            <a:extLst>
              <a:ext uri="{FF2B5EF4-FFF2-40B4-BE49-F238E27FC236}">
                <a16:creationId xmlns:a16="http://schemas.microsoft.com/office/drawing/2014/main" id="{7DBC0BD0-E30C-C92B-703C-7ABA0315ED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7513" y="1437738"/>
            <a:ext cx="26685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" name="Group 13">
            <a:extLst>
              <a:ext uri="{FF2B5EF4-FFF2-40B4-BE49-F238E27FC236}">
                <a16:creationId xmlns:a16="http://schemas.microsoft.com/office/drawing/2014/main" id="{B2BE4F60-3236-CF04-8A7C-62187055D6CB}"/>
              </a:ext>
            </a:extLst>
          </p:cNvPr>
          <p:cNvGrpSpPr>
            <a:grpSpLocks/>
          </p:cNvGrpSpPr>
          <p:nvPr/>
        </p:nvGrpSpPr>
        <p:grpSpPr bwMode="auto">
          <a:xfrm>
            <a:off x="7021513" y="1182151"/>
            <a:ext cx="509588" cy="523875"/>
            <a:chOff x="4422" y="1277"/>
            <a:chExt cx="364" cy="330"/>
          </a:xfrm>
        </p:grpSpPr>
        <p:sp>
          <p:nvSpPr>
            <p:cNvPr id="16" name="AutoShape 14">
              <a:extLst>
                <a:ext uri="{FF2B5EF4-FFF2-40B4-BE49-F238E27FC236}">
                  <a16:creationId xmlns:a16="http://schemas.microsoft.com/office/drawing/2014/main" id="{721B61F4-A98B-82F6-C6B6-A399BE403C9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413" y="1286"/>
              <a:ext cx="330" cy="311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7" name="Oval 15">
              <a:extLst>
                <a:ext uri="{FF2B5EF4-FFF2-40B4-BE49-F238E27FC236}">
                  <a16:creationId xmlns:a16="http://schemas.microsoft.com/office/drawing/2014/main" id="{FB92F1B5-EE00-AE03-3CFE-94944E3F4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397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18" name="Line 16">
            <a:extLst>
              <a:ext uri="{FF2B5EF4-FFF2-40B4-BE49-F238E27FC236}">
                <a16:creationId xmlns:a16="http://schemas.microsoft.com/office/drawing/2014/main" id="{B1B592A7-E495-3657-4E92-0DF5503632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99101" y="856713"/>
            <a:ext cx="0" cy="5778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16F9F477-E31D-4B35-D460-91088D5D39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7513" y="856713"/>
            <a:ext cx="23828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E6CA6AC1-DAAA-761A-5EFA-B336CA1CF5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81938" y="856713"/>
            <a:ext cx="0" cy="5778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" name="Group 19">
            <a:extLst>
              <a:ext uri="{FF2B5EF4-FFF2-40B4-BE49-F238E27FC236}">
                <a16:creationId xmlns:a16="http://schemas.microsoft.com/office/drawing/2014/main" id="{D64CBE9A-8F4A-0C13-60FF-7CBC9FA7F795}"/>
              </a:ext>
            </a:extLst>
          </p:cNvPr>
          <p:cNvGrpSpPr>
            <a:grpSpLocks/>
          </p:cNvGrpSpPr>
          <p:nvPr/>
        </p:nvGrpSpPr>
        <p:grpSpPr bwMode="auto">
          <a:xfrm>
            <a:off x="5413375" y="3454400"/>
            <a:ext cx="3303588" cy="1157288"/>
            <a:chOff x="3410" y="2176"/>
            <a:chExt cx="2081" cy="729"/>
          </a:xfrm>
        </p:grpSpPr>
        <p:sp>
          <p:nvSpPr>
            <p:cNvPr id="22" name="Text Box 20">
              <a:extLst>
                <a:ext uri="{FF2B5EF4-FFF2-40B4-BE49-F238E27FC236}">
                  <a16:creationId xmlns:a16="http://schemas.microsoft.com/office/drawing/2014/main" id="{6DD307B5-C55B-2D74-8B41-123245EFF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0" y="2516"/>
              <a:ext cx="151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23" name="Text Box 21">
              <a:extLst>
                <a:ext uri="{FF2B5EF4-FFF2-40B4-BE49-F238E27FC236}">
                  <a16:creationId xmlns:a16="http://schemas.microsoft.com/office/drawing/2014/main" id="{60E81D43-8D73-D1A7-29C2-81F2D43CF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1" y="2312"/>
              <a:ext cx="150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grpSp>
          <p:nvGrpSpPr>
            <p:cNvPr id="24" name="Group 22">
              <a:extLst>
                <a:ext uri="{FF2B5EF4-FFF2-40B4-BE49-F238E27FC236}">
                  <a16:creationId xmlns:a16="http://schemas.microsoft.com/office/drawing/2014/main" id="{DB77F8BD-C1C8-567C-3238-5C9D22B97C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1" y="2449"/>
              <a:ext cx="320" cy="385"/>
              <a:chOff x="4173" y="2976"/>
              <a:chExt cx="431" cy="431"/>
            </a:xfrm>
          </p:grpSpPr>
          <p:grpSp>
            <p:nvGrpSpPr>
              <p:cNvPr id="43" name="Group 23">
                <a:extLst>
                  <a:ext uri="{FF2B5EF4-FFF2-40B4-BE49-F238E27FC236}">
                    <a16:creationId xmlns:a16="http://schemas.microsoft.com/office/drawing/2014/main" id="{0B221855-50B5-47E4-A98E-E8565A5C62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3" y="2976"/>
                <a:ext cx="431" cy="431"/>
                <a:chOff x="4445" y="2999"/>
                <a:chExt cx="295" cy="318"/>
              </a:xfrm>
            </p:grpSpPr>
            <p:sp>
              <p:nvSpPr>
                <p:cNvPr id="45" name="Arc 24">
                  <a:extLst>
                    <a:ext uri="{FF2B5EF4-FFF2-40B4-BE49-F238E27FC236}">
                      <a16:creationId xmlns:a16="http://schemas.microsoft.com/office/drawing/2014/main" id="{52F78CD9-F3A5-DEBD-5F16-9B4C3B3B18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5" y="2999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" name="Arc 25">
                  <a:extLst>
                    <a:ext uri="{FF2B5EF4-FFF2-40B4-BE49-F238E27FC236}">
                      <a16:creationId xmlns:a16="http://schemas.microsoft.com/office/drawing/2014/main" id="{87A52328-6539-AC81-07AD-350CF8162D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 flipH="1">
                  <a:off x="4445" y="3158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4" name="Arc 26">
                <a:extLst>
                  <a:ext uri="{FF2B5EF4-FFF2-40B4-BE49-F238E27FC236}">
                    <a16:creationId xmlns:a16="http://schemas.microsoft.com/office/drawing/2014/main" id="{BE442B9F-F002-05C3-AF9F-F8B54C96B9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2976"/>
                <a:ext cx="90" cy="430"/>
              </a:xfrm>
              <a:custGeom>
                <a:avLst/>
                <a:gdLst>
                  <a:gd name="T0" fmla="*/ 0 w 21838"/>
                  <a:gd name="T1" fmla="*/ 0 h 43200"/>
                  <a:gd name="T2" fmla="*/ 0 w 21838"/>
                  <a:gd name="T3" fmla="*/ 0 h 43200"/>
                  <a:gd name="T4" fmla="*/ 0 w 21838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838"/>
                  <a:gd name="T10" fmla="*/ 0 h 43200"/>
                  <a:gd name="T11" fmla="*/ 21838 w 21838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38" h="43200" fill="none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</a:path>
                  <a:path w="21838" h="43200" stroke="0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  <a:lnTo>
                      <a:pt x="238" y="21600"/>
                    </a:lnTo>
                    <a:lnTo>
                      <a:pt x="237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EDC3F34D-8D6C-6AC2-B163-E659D94DF7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1" y="2744"/>
              <a:ext cx="2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Text Box 28">
              <a:extLst>
                <a:ext uri="{FF2B5EF4-FFF2-40B4-BE49-F238E27FC236}">
                  <a16:creationId xmlns:a16="http://schemas.microsoft.com/office/drawing/2014/main" id="{65417FC7-256E-FC47-E362-19F8F4271B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0" y="2584"/>
              <a:ext cx="280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endParaRPr kumimoji="1" lang="en-US" altLang="zh-CN" sz="1600" baseline="-25000">
                <a:ea typeface="楷体_GB2312" pitchFamily="49" charset="-122"/>
              </a:endParaRPr>
            </a:p>
          </p:txBody>
        </p:sp>
        <p:sp>
          <p:nvSpPr>
            <p:cNvPr id="27" name="Line 29">
              <a:extLst>
                <a:ext uri="{FF2B5EF4-FFF2-40B4-BE49-F238E27FC236}">
                  <a16:creationId xmlns:a16="http://schemas.microsoft.com/office/drawing/2014/main" id="{49BABC79-9031-BBB0-BFB2-0B3661E057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1" y="2315"/>
              <a:ext cx="1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8" name="Group 30">
              <a:extLst>
                <a:ext uri="{FF2B5EF4-FFF2-40B4-BE49-F238E27FC236}">
                  <a16:creationId xmlns:a16="http://schemas.microsoft.com/office/drawing/2014/main" id="{DC8ECC76-5D2A-7B7C-FC51-BFDFE8EEAD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0" y="2358"/>
              <a:ext cx="320" cy="385"/>
              <a:chOff x="4173" y="2976"/>
              <a:chExt cx="431" cy="431"/>
            </a:xfrm>
          </p:grpSpPr>
          <p:grpSp>
            <p:nvGrpSpPr>
              <p:cNvPr id="39" name="Group 31">
                <a:extLst>
                  <a:ext uri="{FF2B5EF4-FFF2-40B4-BE49-F238E27FC236}">
                    <a16:creationId xmlns:a16="http://schemas.microsoft.com/office/drawing/2014/main" id="{3BA65AAB-2145-D273-F72C-3069B6E989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3" y="2976"/>
                <a:ext cx="431" cy="431"/>
                <a:chOff x="4445" y="2999"/>
                <a:chExt cx="295" cy="318"/>
              </a:xfrm>
            </p:grpSpPr>
            <p:sp>
              <p:nvSpPr>
                <p:cNvPr id="41" name="Arc 32">
                  <a:extLst>
                    <a:ext uri="{FF2B5EF4-FFF2-40B4-BE49-F238E27FC236}">
                      <a16:creationId xmlns:a16="http://schemas.microsoft.com/office/drawing/2014/main" id="{1BA50157-CC35-FC21-17B7-87890B5621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5" y="2999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Arc 33">
                  <a:extLst>
                    <a:ext uri="{FF2B5EF4-FFF2-40B4-BE49-F238E27FC236}">
                      <a16:creationId xmlns:a16="http://schemas.microsoft.com/office/drawing/2014/main" id="{01A4D849-B3F2-7E87-E313-77FA05F67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 flipH="1">
                  <a:off x="4445" y="3158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0" name="Arc 34">
                <a:extLst>
                  <a:ext uri="{FF2B5EF4-FFF2-40B4-BE49-F238E27FC236}">
                    <a16:creationId xmlns:a16="http://schemas.microsoft.com/office/drawing/2014/main" id="{C3145B1E-2A94-EB93-40DB-F2FC1163AE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2976"/>
                <a:ext cx="90" cy="430"/>
              </a:xfrm>
              <a:custGeom>
                <a:avLst/>
                <a:gdLst>
                  <a:gd name="T0" fmla="*/ 0 w 21838"/>
                  <a:gd name="T1" fmla="*/ 0 h 43200"/>
                  <a:gd name="T2" fmla="*/ 0 w 21838"/>
                  <a:gd name="T3" fmla="*/ 0 h 43200"/>
                  <a:gd name="T4" fmla="*/ 0 w 21838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838"/>
                  <a:gd name="T10" fmla="*/ 0 h 43200"/>
                  <a:gd name="T11" fmla="*/ 21838 w 21838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38" h="43200" fill="none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</a:path>
                  <a:path w="21838" h="43200" stroke="0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  <a:lnTo>
                      <a:pt x="238" y="21600"/>
                    </a:lnTo>
                    <a:lnTo>
                      <a:pt x="237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" name="Line 35">
              <a:extLst>
                <a:ext uri="{FF2B5EF4-FFF2-40B4-BE49-F238E27FC236}">
                  <a16:creationId xmlns:a16="http://schemas.microsoft.com/office/drawing/2014/main" id="{7678F741-56BF-E8A7-3B70-0D98191830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9" y="2462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36">
              <a:extLst>
                <a:ext uri="{FF2B5EF4-FFF2-40B4-BE49-F238E27FC236}">
                  <a16:creationId xmlns:a16="http://schemas.microsoft.com/office/drawing/2014/main" id="{18776095-E6E9-E2BD-FED5-BB235320BF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9" y="2653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37">
              <a:extLst>
                <a:ext uri="{FF2B5EF4-FFF2-40B4-BE49-F238E27FC236}">
                  <a16:creationId xmlns:a16="http://schemas.microsoft.com/office/drawing/2014/main" id="{C883FBAC-56FE-4FD1-5F7E-E50E6FF9A3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1" y="2630"/>
              <a:ext cx="3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Oval 38">
              <a:extLst>
                <a:ext uri="{FF2B5EF4-FFF2-40B4-BE49-F238E27FC236}">
                  <a16:creationId xmlns:a16="http://schemas.microsoft.com/office/drawing/2014/main" id="{C209042B-3921-5FA2-2970-FAC6A1FCB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8" y="2589"/>
              <a:ext cx="73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3" name="Line 39">
              <a:extLst>
                <a:ext uri="{FF2B5EF4-FFF2-40B4-BE49-F238E27FC236}">
                  <a16:creationId xmlns:a16="http://schemas.microsoft.com/office/drawing/2014/main" id="{56C8FE4F-41E2-6EF9-6AF8-2E6DAA3D92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2" y="2558"/>
              <a:ext cx="4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40">
              <a:extLst>
                <a:ext uri="{FF2B5EF4-FFF2-40B4-BE49-F238E27FC236}">
                  <a16:creationId xmlns:a16="http://schemas.microsoft.com/office/drawing/2014/main" id="{DE27E37A-F2D6-55C0-A666-837E573BF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8" y="2517"/>
              <a:ext cx="7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5" name="Line 41">
              <a:extLst>
                <a:ext uri="{FF2B5EF4-FFF2-40B4-BE49-F238E27FC236}">
                  <a16:creationId xmlns:a16="http://schemas.microsoft.com/office/drawing/2014/main" id="{6CD0C246-FDF6-A45B-1B59-0BF267D653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0" y="2176"/>
              <a:ext cx="150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42">
              <a:extLst>
                <a:ext uri="{FF2B5EF4-FFF2-40B4-BE49-F238E27FC236}">
                  <a16:creationId xmlns:a16="http://schemas.microsoft.com/office/drawing/2014/main" id="{FB1195BD-895D-3292-31BA-C148573E95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72" y="2176"/>
              <a:ext cx="0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43">
              <a:extLst>
                <a:ext uri="{FF2B5EF4-FFF2-40B4-BE49-F238E27FC236}">
                  <a16:creationId xmlns:a16="http://schemas.microsoft.com/office/drawing/2014/main" id="{168CCCA0-2F22-0A8C-3766-7AB071E47E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0" y="2176"/>
              <a:ext cx="0" cy="2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 Box 44">
              <a:extLst>
                <a:ext uri="{FF2B5EF4-FFF2-40B4-BE49-F238E27FC236}">
                  <a16:creationId xmlns:a16="http://schemas.microsoft.com/office/drawing/2014/main" id="{8061D589-786D-88E8-D4A7-96AEF61037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8" y="2698"/>
              <a:ext cx="23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  <a:endParaRPr kumimoji="1" lang="en-US" altLang="zh-CN" sz="1600" baseline="-25000">
                <a:ea typeface="楷体_GB2312" pitchFamily="49" charset="-122"/>
              </a:endParaRPr>
            </a:p>
          </p:txBody>
        </p:sp>
      </p:grpSp>
      <p:sp>
        <p:nvSpPr>
          <p:cNvPr id="47" name="Text Box 45">
            <a:extLst>
              <a:ext uri="{FF2B5EF4-FFF2-40B4-BE49-F238E27FC236}">
                <a16:creationId xmlns:a16="http://schemas.microsoft.com/office/drawing/2014/main" id="{D40E9E2E-5FC6-D58B-5CBB-05755A73B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7851" y="1252001"/>
            <a:ext cx="2365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  <a:endParaRPr kumimoji="1" lang="en-US" altLang="zh-CN" sz="1600">
              <a:ea typeface="楷体_GB2312" pitchFamily="49" charset="-122"/>
            </a:endParaRPr>
          </a:p>
        </p:txBody>
      </p:sp>
      <p:grpSp>
        <p:nvGrpSpPr>
          <p:cNvPr id="48" name="Group 46">
            <a:extLst>
              <a:ext uri="{FF2B5EF4-FFF2-40B4-BE49-F238E27FC236}">
                <a16:creationId xmlns:a16="http://schemas.microsoft.com/office/drawing/2014/main" id="{381B9D01-4D3A-9160-B7B4-61DAE2242F20}"/>
              </a:ext>
            </a:extLst>
          </p:cNvPr>
          <p:cNvGrpSpPr>
            <a:grpSpLocks/>
          </p:cNvGrpSpPr>
          <p:nvPr/>
        </p:nvGrpSpPr>
        <p:grpSpPr bwMode="auto">
          <a:xfrm>
            <a:off x="5815013" y="1182151"/>
            <a:ext cx="511175" cy="523875"/>
            <a:chOff x="3651" y="1277"/>
            <a:chExt cx="364" cy="330"/>
          </a:xfrm>
        </p:grpSpPr>
        <p:sp>
          <p:nvSpPr>
            <p:cNvPr id="49" name="AutoShape 47">
              <a:extLst>
                <a:ext uri="{FF2B5EF4-FFF2-40B4-BE49-F238E27FC236}">
                  <a16:creationId xmlns:a16="http://schemas.microsoft.com/office/drawing/2014/main" id="{2FF95F24-EE58-8B0B-EE53-16DC4DD617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642" y="1286"/>
              <a:ext cx="330" cy="311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0" name="Oval 48">
              <a:extLst>
                <a:ext uri="{FF2B5EF4-FFF2-40B4-BE49-F238E27FC236}">
                  <a16:creationId xmlns:a16="http://schemas.microsoft.com/office/drawing/2014/main" id="{1EA90553-8008-B09B-D3F5-558A114E5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3" y="1397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51" name="Text Box 49">
            <a:extLst>
              <a:ext uri="{FF2B5EF4-FFF2-40B4-BE49-F238E27FC236}">
                <a16:creationId xmlns:a16="http://schemas.microsoft.com/office/drawing/2014/main" id="{497E9B6B-1734-835E-6C06-3392DBCDA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1" y="999588"/>
            <a:ext cx="238125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  <a:endParaRPr kumimoji="1" lang="en-US" altLang="zh-CN" sz="2400" baseline="-25000">
              <a:ea typeface="楷体_GB2312" pitchFamily="49" charset="-122"/>
            </a:endParaRPr>
          </a:p>
        </p:txBody>
      </p:sp>
      <p:sp>
        <p:nvSpPr>
          <p:cNvPr id="52" name="Line 50">
            <a:extLst>
              <a:ext uri="{FF2B5EF4-FFF2-40B4-BE49-F238E27FC236}">
                <a16:creationId xmlns:a16="http://schemas.microsoft.com/office/drawing/2014/main" id="{1A10D750-1A1B-B443-1FFC-7183A792C7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5101" y="1004351"/>
            <a:ext cx="2222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3" name="Group 51">
            <a:extLst>
              <a:ext uri="{FF2B5EF4-FFF2-40B4-BE49-F238E27FC236}">
                <a16:creationId xmlns:a16="http://schemas.microsoft.com/office/drawing/2014/main" id="{A8563741-3B57-B52B-52B1-881ECC62E5DA}"/>
              </a:ext>
            </a:extLst>
          </p:cNvPr>
          <p:cNvGrpSpPr>
            <a:grpSpLocks/>
          </p:cNvGrpSpPr>
          <p:nvPr/>
        </p:nvGrpSpPr>
        <p:grpSpPr bwMode="auto">
          <a:xfrm>
            <a:off x="858838" y="3590925"/>
            <a:ext cx="1876425" cy="1062038"/>
            <a:chOff x="541" y="2262"/>
            <a:chExt cx="1182" cy="669"/>
          </a:xfrm>
        </p:grpSpPr>
        <p:sp>
          <p:nvSpPr>
            <p:cNvPr id="54" name="Rectangle 52">
              <a:extLst>
                <a:ext uri="{FF2B5EF4-FFF2-40B4-BE49-F238E27FC236}">
                  <a16:creationId xmlns:a16="http://schemas.microsoft.com/office/drawing/2014/main" id="{BF840023-1F99-14FB-2D57-2B5F41387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" y="2262"/>
              <a:ext cx="430" cy="66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grpSp>
          <p:nvGrpSpPr>
            <p:cNvPr id="55" name="Group 53">
              <a:extLst>
                <a:ext uri="{FF2B5EF4-FFF2-40B4-BE49-F238E27FC236}">
                  <a16:creationId xmlns:a16="http://schemas.microsoft.com/office/drawing/2014/main" id="{AB2E4C2F-EDA3-7DED-D979-4760602892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1" y="2444"/>
              <a:ext cx="222" cy="305"/>
              <a:chOff x="365" y="2319"/>
              <a:chExt cx="288" cy="305"/>
            </a:xfrm>
          </p:grpSpPr>
          <p:sp>
            <p:nvSpPr>
              <p:cNvPr id="65" name="Line 54">
                <a:extLst>
                  <a:ext uri="{FF2B5EF4-FFF2-40B4-BE49-F238E27FC236}">
                    <a16:creationId xmlns:a16="http://schemas.microsoft.com/office/drawing/2014/main" id="{12049CF6-67EE-EB0E-623A-CB7321EE61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" y="231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Line 55">
                <a:extLst>
                  <a:ext uri="{FF2B5EF4-FFF2-40B4-BE49-F238E27FC236}">
                    <a16:creationId xmlns:a16="http://schemas.microsoft.com/office/drawing/2014/main" id="{E7EE460B-B0ED-8352-A253-F4161BF47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" y="262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6" name="Group 56">
              <a:extLst>
                <a:ext uri="{FF2B5EF4-FFF2-40B4-BE49-F238E27FC236}">
                  <a16:creationId xmlns:a16="http://schemas.microsoft.com/office/drawing/2014/main" id="{79DE7854-BB97-8F56-663A-51E8F1E93E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2444"/>
              <a:ext cx="225" cy="305"/>
              <a:chOff x="1090" y="2319"/>
              <a:chExt cx="288" cy="305"/>
            </a:xfrm>
          </p:grpSpPr>
          <p:sp>
            <p:nvSpPr>
              <p:cNvPr id="63" name="Line 57">
                <a:extLst>
                  <a:ext uri="{FF2B5EF4-FFF2-40B4-BE49-F238E27FC236}">
                    <a16:creationId xmlns:a16="http://schemas.microsoft.com/office/drawing/2014/main" id="{93330F02-E74D-6195-3BD1-53C5DC0EC5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231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Line 58">
                <a:extLst>
                  <a:ext uri="{FF2B5EF4-FFF2-40B4-BE49-F238E27FC236}">
                    <a16:creationId xmlns:a16="http://schemas.microsoft.com/office/drawing/2014/main" id="{EFC044AF-F1AA-DEBD-70A0-8AFA0887C8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262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" name="Text Box 59">
              <a:extLst>
                <a:ext uri="{FF2B5EF4-FFF2-40B4-BE49-F238E27FC236}">
                  <a16:creationId xmlns:a16="http://schemas.microsoft.com/office/drawing/2014/main" id="{F132440B-8EDF-419E-A05F-B54CFCDFC8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" y="2289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58" name="Text Box 60">
              <a:extLst>
                <a:ext uri="{FF2B5EF4-FFF2-40B4-BE49-F238E27FC236}">
                  <a16:creationId xmlns:a16="http://schemas.microsoft.com/office/drawing/2014/main" id="{3CEEC7CE-F19F-A738-51F4-5EB914A946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" y="263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59" name="Text Box 61">
              <a:extLst>
                <a:ext uri="{FF2B5EF4-FFF2-40B4-BE49-F238E27FC236}">
                  <a16:creationId xmlns:a16="http://schemas.microsoft.com/office/drawing/2014/main" id="{CBC2A501-DBEE-3BFD-BCB9-B5F8FB77EA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8" y="2289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60" name="Text Box 62">
              <a:extLst>
                <a:ext uri="{FF2B5EF4-FFF2-40B4-BE49-F238E27FC236}">
                  <a16:creationId xmlns:a16="http://schemas.microsoft.com/office/drawing/2014/main" id="{821A3292-FA22-3E90-B339-D0DCA72ACB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8" y="2625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61" name="Line 63">
              <a:extLst>
                <a:ext uri="{FF2B5EF4-FFF2-40B4-BE49-F238E27FC236}">
                  <a16:creationId xmlns:a16="http://schemas.microsoft.com/office/drawing/2014/main" id="{68D6B8B0-2BDB-6EB4-A6C7-F7BDE6AD5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6" y="2671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Oval 64">
              <a:extLst>
                <a:ext uri="{FF2B5EF4-FFF2-40B4-BE49-F238E27FC236}">
                  <a16:creationId xmlns:a16="http://schemas.microsoft.com/office/drawing/2014/main" id="{1AC5E96C-5A0F-04EF-131C-058EE45E5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8" y="2716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pSp>
        <p:nvGrpSpPr>
          <p:cNvPr id="67" name="Group 159">
            <a:extLst>
              <a:ext uri="{FF2B5EF4-FFF2-40B4-BE49-F238E27FC236}">
                <a16:creationId xmlns:a16="http://schemas.microsoft.com/office/drawing/2014/main" id="{DD657317-080D-4512-6D08-C918D206ED0A}"/>
              </a:ext>
            </a:extLst>
          </p:cNvPr>
          <p:cNvGrpSpPr>
            <a:grpSpLocks/>
          </p:cNvGrpSpPr>
          <p:nvPr/>
        </p:nvGrpSpPr>
        <p:grpSpPr bwMode="auto">
          <a:xfrm>
            <a:off x="3132138" y="3249613"/>
            <a:ext cx="1957387" cy="1336675"/>
            <a:chOff x="1973" y="2047"/>
            <a:chExt cx="1233" cy="842"/>
          </a:xfrm>
        </p:grpSpPr>
        <p:sp>
          <p:nvSpPr>
            <p:cNvPr id="68" name="Line 66">
              <a:extLst>
                <a:ext uri="{FF2B5EF4-FFF2-40B4-BE49-F238E27FC236}">
                  <a16:creationId xmlns:a16="http://schemas.microsoft.com/office/drawing/2014/main" id="{BDBCF0D3-E125-D33A-4EDD-CB9ECD3B40D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74" y="2274"/>
              <a:ext cx="1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67">
              <a:extLst>
                <a:ext uri="{FF2B5EF4-FFF2-40B4-BE49-F238E27FC236}">
                  <a16:creationId xmlns:a16="http://schemas.microsoft.com/office/drawing/2014/main" id="{9AEBC9C0-77C0-0CB8-6D54-F9581612D86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435" y="2196"/>
              <a:ext cx="215" cy="6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0" name="Group 68">
              <a:extLst>
                <a:ext uri="{FF2B5EF4-FFF2-40B4-BE49-F238E27FC236}">
                  <a16:creationId xmlns:a16="http://schemas.microsoft.com/office/drawing/2014/main" id="{4F2ED089-3C16-DC09-FEFD-2A4F57B749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2" y="2047"/>
              <a:ext cx="284" cy="294"/>
              <a:chOff x="4173" y="2976"/>
              <a:chExt cx="431" cy="431"/>
            </a:xfrm>
          </p:grpSpPr>
          <p:grpSp>
            <p:nvGrpSpPr>
              <p:cNvPr id="93" name="Group 69">
                <a:extLst>
                  <a:ext uri="{FF2B5EF4-FFF2-40B4-BE49-F238E27FC236}">
                    <a16:creationId xmlns:a16="http://schemas.microsoft.com/office/drawing/2014/main" id="{FD8D53F0-854E-8FAC-DC7F-80C1E22373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3" y="2976"/>
                <a:ext cx="431" cy="431"/>
                <a:chOff x="4445" y="2999"/>
                <a:chExt cx="295" cy="318"/>
              </a:xfrm>
            </p:grpSpPr>
            <p:sp>
              <p:nvSpPr>
                <p:cNvPr id="95" name="Arc 70">
                  <a:extLst>
                    <a:ext uri="{FF2B5EF4-FFF2-40B4-BE49-F238E27FC236}">
                      <a16:creationId xmlns:a16="http://schemas.microsoft.com/office/drawing/2014/main" id="{7746DED7-2277-85BC-A7A4-C1DE8774F9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5" y="2999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6" name="Arc 71">
                  <a:extLst>
                    <a:ext uri="{FF2B5EF4-FFF2-40B4-BE49-F238E27FC236}">
                      <a16:creationId xmlns:a16="http://schemas.microsoft.com/office/drawing/2014/main" id="{AB3D5A04-FB3D-3641-A5C9-34DBA3BA98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 flipH="1">
                  <a:off x="4445" y="3158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4" name="Arc 72">
                <a:extLst>
                  <a:ext uri="{FF2B5EF4-FFF2-40B4-BE49-F238E27FC236}">
                    <a16:creationId xmlns:a16="http://schemas.microsoft.com/office/drawing/2014/main" id="{55EEC27A-D429-D48F-9722-14A749936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2976"/>
                <a:ext cx="90" cy="430"/>
              </a:xfrm>
              <a:custGeom>
                <a:avLst/>
                <a:gdLst>
                  <a:gd name="T0" fmla="*/ 0 w 21838"/>
                  <a:gd name="T1" fmla="*/ 0 h 43200"/>
                  <a:gd name="T2" fmla="*/ 0 w 21838"/>
                  <a:gd name="T3" fmla="*/ 0 h 43200"/>
                  <a:gd name="T4" fmla="*/ 0 w 21838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838"/>
                  <a:gd name="T10" fmla="*/ 0 h 43200"/>
                  <a:gd name="T11" fmla="*/ 21838 w 21838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38" h="43200" fill="none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</a:path>
                  <a:path w="21838" h="43200" stroke="0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  <a:lnTo>
                      <a:pt x="238" y="21600"/>
                    </a:lnTo>
                    <a:lnTo>
                      <a:pt x="237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" name="Line 73">
              <a:extLst>
                <a:ext uri="{FF2B5EF4-FFF2-40B4-BE49-F238E27FC236}">
                  <a16:creationId xmlns:a16="http://schemas.microsoft.com/office/drawing/2014/main" id="{C2E7AFE5-E219-7B08-A287-94A6AF52DF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" y="2136"/>
              <a:ext cx="29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74">
              <a:extLst>
                <a:ext uri="{FF2B5EF4-FFF2-40B4-BE49-F238E27FC236}">
                  <a16:creationId xmlns:a16="http://schemas.microsoft.com/office/drawing/2014/main" id="{0831625D-4F6A-D6D3-7A8D-BB79C03991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3" y="2266"/>
              <a:ext cx="1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Line 75">
              <a:extLst>
                <a:ext uri="{FF2B5EF4-FFF2-40B4-BE49-F238E27FC236}">
                  <a16:creationId xmlns:a16="http://schemas.microsoft.com/office/drawing/2014/main" id="{74E10985-3CB0-4B4A-7EBC-74A682E56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9" y="2204"/>
              <a:ext cx="2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Line 76">
              <a:extLst>
                <a:ext uri="{FF2B5EF4-FFF2-40B4-BE49-F238E27FC236}">
                  <a16:creationId xmlns:a16="http://schemas.microsoft.com/office/drawing/2014/main" id="{A087FAA2-7CBA-7EB0-CF52-66296FB93C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3" y="2675"/>
              <a:ext cx="1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77">
              <a:extLst>
                <a:ext uri="{FF2B5EF4-FFF2-40B4-BE49-F238E27FC236}">
                  <a16:creationId xmlns:a16="http://schemas.microsoft.com/office/drawing/2014/main" id="{EFEA2B43-EC0A-0DA5-70F0-ECC2A2E4C0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" y="2804"/>
              <a:ext cx="29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Line 78">
              <a:extLst>
                <a:ext uri="{FF2B5EF4-FFF2-40B4-BE49-F238E27FC236}">
                  <a16:creationId xmlns:a16="http://schemas.microsoft.com/office/drawing/2014/main" id="{C3118E92-49C4-3281-2B70-C449CED8AA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9" y="2743"/>
              <a:ext cx="2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Line 79">
              <a:extLst>
                <a:ext uri="{FF2B5EF4-FFF2-40B4-BE49-F238E27FC236}">
                  <a16:creationId xmlns:a16="http://schemas.microsoft.com/office/drawing/2014/main" id="{0E027753-C076-00B8-7A30-81D38427FB9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74" y="2674"/>
              <a:ext cx="1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80">
              <a:extLst>
                <a:ext uri="{FF2B5EF4-FFF2-40B4-BE49-F238E27FC236}">
                  <a16:creationId xmlns:a16="http://schemas.microsoft.com/office/drawing/2014/main" id="{1D46C884-4EDA-6C1A-B4C4-D3549FCCE93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80" y="2328"/>
              <a:ext cx="12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81">
              <a:extLst>
                <a:ext uri="{FF2B5EF4-FFF2-40B4-BE49-F238E27FC236}">
                  <a16:creationId xmlns:a16="http://schemas.microsoft.com/office/drawing/2014/main" id="{29C5D73D-A76B-E72E-A168-7F444D47609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35" y="2150"/>
              <a:ext cx="215" cy="6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Line 82">
              <a:extLst>
                <a:ext uri="{FF2B5EF4-FFF2-40B4-BE49-F238E27FC236}">
                  <a16:creationId xmlns:a16="http://schemas.microsoft.com/office/drawing/2014/main" id="{32982B13-F827-6FFF-5B5D-E5728C6996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80" y="2620"/>
              <a:ext cx="12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Text Box 83">
              <a:extLst>
                <a:ext uri="{FF2B5EF4-FFF2-40B4-BE49-F238E27FC236}">
                  <a16:creationId xmlns:a16="http://schemas.microsoft.com/office/drawing/2014/main" id="{81349F32-806D-9FA1-0833-D259D158B8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3" y="2047"/>
              <a:ext cx="134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82" name="Text Box 84">
              <a:extLst>
                <a:ext uri="{FF2B5EF4-FFF2-40B4-BE49-F238E27FC236}">
                  <a16:creationId xmlns:a16="http://schemas.microsoft.com/office/drawing/2014/main" id="{0280D55E-9DD4-A005-3B9A-3ECCA90B3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3" y="2682"/>
              <a:ext cx="134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83" name="Text Box 86">
              <a:extLst>
                <a:ext uri="{FF2B5EF4-FFF2-40B4-BE49-F238E27FC236}">
                  <a16:creationId xmlns:a16="http://schemas.microsoft.com/office/drawing/2014/main" id="{0703AE2C-F54C-CEC8-17B6-5B281B392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2638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84" name="Line 87">
              <a:extLst>
                <a:ext uri="{FF2B5EF4-FFF2-40B4-BE49-F238E27FC236}">
                  <a16:creationId xmlns:a16="http://schemas.microsoft.com/office/drawing/2014/main" id="{9A5A3F7A-B539-012D-ACE0-0F0B588B0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6" y="2629"/>
              <a:ext cx="1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Text Box 88">
              <a:extLst>
                <a:ext uri="{FF2B5EF4-FFF2-40B4-BE49-F238E27FC236}">
                  <a16:creationId xmlns:a16="http://schemas.microsoft.com/office/drawing/2014/main" id="{4F3E4623-8ADA-5E2E-B849-B38247CB0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2115"/>
              <a:ext cx="188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86" name="Oval 89">
              <a:extLst>
                <a:ext uri="{FF2B5EF4-FFF2-40B4-BE49-F238E27FC236}">
                  <a16:creationId xmlns:a16="http://schemas.microsoft.com/office/drawing/2014/main" id="{2CE2CFF8-6196-54AE-39C4-0CC73F06D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6" y="2704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87" name="Oval 90">
              <a:extLst>
                <a:ext uri="{FF2B5EF4-FFF2-40B4-BE49-F238E27FC236}">
                  <a16:creationId xmlns:a16="http://schemas.microsoft.com/office/drawing/2014/main" id="{599BBDC3-1737-85D4-CDE3-F7B9661B5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6" y="2160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grpSp>
          <p:nvGrpSpPr>
            <p:cNvPr id="88" name="Group 91">
              <a:extLst>
                <a:ext uri="{FF2B5EF4-FFF2-40B4-BE49-F238E27FC236}">
                  <a16:creationId xmlns:a16="http://schemas.microsoft.com/office/drawing/2014/main" id="{BD97776F-78A4-B6B1-E963-344B597C9F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2" y="2592"/>
              <a:ext cx="284" cy="294"/>
              <a:chOff x="4173" y="2976"/>
              <a:chExt cx="431" cy="431"/>
            </a:xfrm>
          </p:grpSpPr>
          <p:grpSp>
            <p:nvGrpSpPr>
              <p:cNvPr id="89" name="Group 92">
                <a:extLst>
                  <a:ext uri="{FF2B5EF4-FFF2-40B4-BE49-F238E27FC236}">
                    <a16:creationId xmlns:a16="http://schemas.microsoft.com/office/drawing/2014/main" id="{FFA7670A-028C-86C5-566C-F5798F3653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3" y="2976"/>
                <a:ext cx="431" cy="431"/>
                <a:chOff x="4445" y="2999"/>
                <a:chExt cx="295" cy="318"/>
              </a:xfrm>
            </p:grpSpPr>
            <p:sp>
              <p:nvSpPr>
                <p:cNvPr id="91" name="Arc 93">
                  <a:extLst>
                    <a:ext uri="{FF2B5EF4-FFF2-40B4-BE49-F238E27FC236}">
                      <a16:creationId xmlns:a16="http://schemas.microsoft.com/office/drawing/2014/main" id="{8463332B-0D3F-A2B1-1E2A-E6BF00C899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5" y="2999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" name="Arc 94">
                  <a:extLst>
                    <a:ext uri="{FF2B5EF4-FFF2-40B4-BE49-F238E27FC236}">
                      <a16:creationId xmlns:a16="http://schemas.microsoft.com/office/drawing/2014/main" id="{C0A5A52C-DB01-3EB0-B9DE-DFC1687960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 flipH="1">
                  <a:off x="4445" y="3158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0" name="Arc 95">
                <a:extLst>
                  <a:ext uri="{FF2B5EF4-FFF2-40B4-BE49-F238E27FC236}">
                    <a16:creationId xmlns:a16="http://schemas.microsoft.com/office/drawing/2014/main" id="{36846FAC-9B4B-94DE-3C56-82E3C60F8C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2976"/>
                <a:ext cx="90" cy="430"/>
              </a:xfrm>
              <a:custGeom>
                <a:avLst/>
                <a:gdLst>
                  <a:gd name="T0" fmla="*/ 0 w 21838"/>
                  <a:gd name="T1" fmla="*/ 0 h 43200"/>
                  <a:gd name="T2" fmla="*/ 0 w 21838"/>
                  <a:gd name="T3" fmla="*/ 0 h 43200"/>
                  <a:gd name="T4" fmla="*/ 0 w 21838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838"/>
                  <a:gd name="T10" fmla="*/ 0 h 43200"/>
                  <a:gd name="T11" fmla="*/ 21838 w 21838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38" h="43200" fill="none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</a:path>
                  <a:path w="21838" h="43200" stroke="0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  <a:lnTo>
                      <a:pt x="238" y="21600"/>
                    </a:lnTo>
                    <a:lnTo>
                      <a:pt x="237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EFF90AB5-17CC-18F3-ECAD-9E28D7147CE5}"/>
              </a:ext>
            </a:extLst>
          </p:cNvPr>
          <p:cNvGrpSpPr>
            <a:grpSpLocks/>
          </p:cNvGrpSpPr>
          <p:nvPr/>
        </p:nvGrpSpPr>
        <p:grpSpPr bwMode="auto">
          <a:xfrm>
            <a:off x="819150" y="4797425"/>
            <a:ext cx="7966075" cy="1506538"/>
            <a:chOff x="819150" y="4797425"/>
            <a:chExt cx="7966075" cy="1506538"/>
          </a:xfrm>
        </p:grpSpPr>
        <p:grpSp>
          <p:nvGrpSpPr>
            <p:cNvPr id="98" name="Group 161">
              <a:extLst>
                <a:ext uri="{FF2B5EF4-FFF2-40B4-BE49-F238E27FC236}">
                  <a16:creationId xmlns:a16="http://schemas.microsoft.com/office/drawing/2014/main" id="{305600A0-D052-B178-3883-850D9619A8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9150" y="5067300"/>
              <a:ext cx="1876425" cy="1062038"/>
              <a:chOff x="516" y="3192"/>
              <a:chExt cx="1182" cy="669"/>
            </a:xfrm>
          </p:grpSpPr>
          <p:sp>
            <p:nvSpPr>
              <p:cNvPr id="144" name="Rectangle 136">
                <a:extLst>
                  <a:ext uri="{FF2B5EF4-FFF2-40B4-BE49-F238E27FC236}">
                    <a16:creationId xmlns:a16="http://schemas.microsoft.com/office/drawing/2014/main" id="{5E780337-BE95-7276-5540-E49534AF0D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" y="3192"/>
                <a:ext cx="430" cy="66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grpSp>
            <p:nvGrpSpPr>
              <p:cNvPr id="145" name="Group 137">
                <a:extLst>
                  <a:ext uri="{FF2B5EF4-FFF2-40B4-BE49-F238E27FC236}">
                    <a16:creationId xmlns:a16="http://schemas.microsoft.com/office/drawing/2014/main" id="{0F899DEC-C327-6B28-7C13-4FAC013DFD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6" y="3374"/>
                <a:ext cx="222" cy="305"/>
                <a:chOff x="365" y="2319"/>
                <a:chExt cx="288" cy="305"/>
              </a:xfrm>
            </p:grpSpPr>
            <p:sp>
              <p:nvSpPr>
                <p:cNvPr id="157" name="Line 138">
                  <a:extLst>
                    <a:ext uri="{FF2B5EF4-FFF2-40B4-BE49-F238E27FC236}">
                      <a16:creationId xmlns:a16="http://schemas.microsoft.com/office/drawing/2014/main" id="{8EBBA522-EDB9-AB64-0FF3-8FD87153CA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5" y="2319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" name="Line 139">
                  <a:extLst>
                    <a:ext uri="{FF2B5EF4-FFF2-40B4-BE49-F238E27FC236}">
                      <a16:creationId xmlns:a16="http://schemas.microsoft.com/office/drawing/2014/main" id="{DAFA6256-83E2-545F-69C7-5F14959A7E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5" y="2624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6" name="Group 140">
                <a:extLst>
                  <a:ext uri="{FF2B5EF4-FFF2-40B4-BE49-F238E27FC236}">
                    <a16:creationId xmlns:a16="http://schemas.microsoft.com/office/drawing/2014/main" id="{D6F39983-F54F-E0CC-FC0B-C9ABDB74C1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75" y="3374"/>
                <a:ext cx="225" cy="305"/>
                <a:chOff x="1090" y="2319"/>
                <a:chExt cx="288" cy="305"/>
              </a:xfrm>
            </p:grpSpPr>
            <p:sp>
              <p:nvSpPr>
                <p:cNvPr id="155" name="Line 141">
                  <a:extLst>
                    <a:ext uri="{FF2B5EF4-FFF2-40B4-BE49-F238E27FC236}">
                      <a16:creationId xmlns:a16="http://schemas.microsoft.com/office/drawing/2014/main" id="{97DD919D-C1AD-E16A-26D6-6C658387C1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90" y="2319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" name="Line 142">
                  <a:extLst>
                    <a:ext uri="{FF2B5EF4-FFF2-40B4-BE49-F238E27FC236}">
                      <a16:creationId xmlns:a16="http://schemas.microsoft.com/office/drawing/2014/main" id="{DFAF480E-E890-718B-5288-F0B5C812EB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90" y="2624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7" name="Text Box 143">
                <a:extLst>
                  <a:ext uri="{FF2B5EF4-FFF2-40B4-BE49-F238E27FC236}">
                    <a16:creationId xmlns:a16="http://schemas.microsoft.com/office/drawing/2014/main" id="{7237D4CF-C04F-68D0-C0EF-56D94E1506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8" y="3219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S</a:t>
                </a:r>
                <a:endParaRPr kumimoji="1" lang="en-US" altLang="zh-CN" sz="1600">
                  <a:ea typeface="楷体_GB2312" pitchFamily="49" charset="-122"/>
                </a:endParaRPr>
              </a:p>
            </p:txBody>
          </p:sp>
          <p:sp>
            <p:nvSpPr>
              <p:cNvPr id="148" name="Text Box 144">
                <a:extLst>
                  <a:ext uri="{FF2B5EF4-FFF2-40B4-BE49-F238E27FC236}">
                    <a16:creationId xmlns:a16="http://schemas.microsoft.com/office/drawing/2014/main" id="{F622D9BF-A5F3-D701-CF0C-46B724D166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8" y="3563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R</a:t>
                </a:r>
                <a:endParaRPr kumimoji="1" lang="en-US" altLang="zh-CN" sz="1600">
                  <a:ea typeface="楷体_GB2312" pitchFamily="49" charset="-122"/>
                </a:endParaRPr>
              </a:p>
            </p:txBody>
          </p:sp>
          <p:sp>
            <p:nvSpPr>
              <p:cNvPr id="149" name="Text Box 145">
                <a:extLst>
                  <a:ext uri="{FF2B5EF4-FFF2-40B4-BE49-F238E27FC236}">
                    <a16:creationId xmlns:a16="http://schemas.microsoft.com/office/drawing/2014/main" id="{CF90377C-3EAD-8174-76E9-96B8A2711C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3" y="3219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</a:p>
            </p:txBody>
          </p:sp>
          <p:sp>
            <p:nvSpPr>
              <p:cNvPr id="150" name="Text Box 146">
                <a:extLst>
                  <a:ext uri="{FF2B5EF4-FFF2-40B4-BE49-F238E27FC236}">
                    <a16:creationId xmlns:a16="http://schemas.microsoft.com/office/drawing/2014/main" id="{4F7FD2BF-4E36-C4F1-9094-16C0FA002F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3" y="3555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</a:p>
            </p:txBody>
          </p:sp>
          <p:sp>
            <p:nvSpPr>
              <p:cNvPr id="151" name="Line 147">
                <a:extLst>
                  <a:ext uri="{FF2B5EF4-FFF2-40B4-BE49-F238E27FC236}">
                    <a16:creationId xmlns:a16="http://schemas.microsoft.com/office/drawing/2014/main" id="{ECA8F409-FC2B-0D08-B2C7-49A96BF80F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1" y="3601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Oval 148">
                <a:extLst>
                  <a:ext uri="{FF2B5EF4-FFF2-40B4-BE49-F238E27FC236}">
                    <a16:creationId xmlns:a16="http://schemas.microsoft.com/office/drawing/2014/main" id="{9A9B5833-7CDA-6FCE-F652-2173908988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3" y="3646"/>
                <a:ext cx="68" cy="6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53" name="Oval 149">
                <a:extLst>
                  <a:ext uri="{FF2B5EF4-FFF2-40B4-BE49-F238E27FC236}">
                    <a16:creationId xmlns:a16="http://schemas.microsoft.com/office/drawing/2014/main" id="{EC464E37-8001-3231-0A87-15B4B8AE4B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7" y="3351"/>
                <a:ext cx="68" cy="6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54" name="Oval 150">
                <a:extLst>
                  <a:ext uri="{FF2B5EF4-FFF2-40B4-BE49-F238E27FC236}">
                    <a16:creationId xmlns:a16="http://schemas.microsoft.com/office/drawing/2014/main" id="{D2843888-1409-1C4F-B795-4C2D0088C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7" y="3646"/>
                <a:ext cx="68" cy="6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9" name="Group 160">
              <a:extLst>
                <a:ext uri="{FF2B5EF4-FFF2-40B4-BE49-F238E27FC236}">
                  <a16:creationId xmlns:a16="http://schemas.microsoft.com/office/drawing/2014/main" id="{548D2B4A-30B3-441C-B681-3541380A89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9113" y="4797425"/>
              <a:ext cx="5726112" cy="1506538"/>
              <a:chOff x="1927" y="3022"/>
              <a:chExt cx="3607" cy="949"/>
            </a:xfrm>
          </p:grpSpPr>
          <p:sp>
            <p:nvSpPr>
              <p:cNvPr id="100" name="Text Box 97">
                <a:extLst>
                  <a:ext uri="{FF2B5EF4-FFF2-40B4-BE49-F238E27FC236}">
                    <a16:creationId xmlns:a16="http://schemas.microsoft.com/office/drawing/2014/main" id="{072E9F39-CC11-8A9F-EB54-BA1099B814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7" y="3582"/>
                <a:ext cx="151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101" name="Text Box 98">
                <a:extLst>
                  <a:ext uri="{FF2B5EF4-FFF2-40B4-BE49-F238E27FC236}">
                    <a16:creationId xmlns:a16="http://schemas.microsoft.com/office/drawing/2014/main" id="{67A195E2-2EE5-D05A-2B7C-51DF5DEF71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3" y="3378"/>
                <a:ext cx="151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102" name="Line 99">
                <a:extLst>
                  <a:ext uri="{FF2B5EF4-FFF2-40B4-BE49-F238E27FC236}">
                    <a16:creationId xmlns:a16="http://schemas.microsoft.com/office/drawing/2014/main" id="{BF16D2FE-A0F2-50D5-1A1F-BB79FB3F3C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3" y="3810"/>
                <a:ext cx="22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" name="Text Box 100">
                <a:extLst>
                  <a:ext uri="{FF2B5EF4-FFF2-40B4-BE49-F238E27FC236}">
                    <a16:creationId xmlns:a16="http://schemas.microsoft.com/office/drawing/2014/main" id="{43F93B4C-048E-CD9A-31BF-17A5D28396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2" y="3650"/>
                <a:ext cx="281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R</a:t>
                </a:r>
                <a:endParaRPr kumimoji="1" lang="en-US" altLang="zh-CN" sz="1600" baseline="-25000">
                  <a:ea typeface="楷体_GB2312" pitchFamily="49" charset="-122"/>
                </a:endParaRPr>
              </a:p>
            </p:txBody>
          </p:sp>
          <p:sp>
            <p:nvSpPr>
              <p:cNvPr id="104" name="Line 101">
                <a:extLst>
                  <a:ext uri="{FF2B5EF4-FFF2-40B4-BE49-F238E27FC236}">
                    <a16:creationId xmlns:a16="http://schemas.microsoft.com/office/drawing/2014/main" id="{54BD8819-494B-03DB-ED87-6AF48207E7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9" y="3382"/>
                <a:ext cx="1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" name="Line 102">
                <a:extLst>
                  <a:ext uri="{FF2B5EF4-FFF2-40B4-BE49-F238E27FC236}">
                    <a16:creationId xmlns:a16="http://schemas.microsoft.com/office/drawing/2014/main" id="{4322DCE5-C5A2-F3BA-A730-A49B697DE1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61" y="3528"/>
                <a:ext cx="2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" name="Line 103">
                <a:extLst>
                  <a:ext uri="{FF2B5EF4-FFF2-40B4-BE49-F238E27FC236}">
                    <a16:creationId xmlns:a16="http://schemas.microsoft.com/office/drawing/2014/main" id="{0D39AB49-6A60-264C-AF20-FD6AEF723B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61" y="3719"/>
                <a:ext cx="2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" name="Line 104">
                <a:extLst>
                  <a:ext uri="{FF2B5EF4-FFF2-40B4-BE49-F238E27FC236}">
                    <a16:creationId xmlns:a16="http://schemas.microsoft.com/office/drawing/2014/main" id="{FD344193-56F6-55B2-469F-AF3A4A6FD0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4" y="3696"/>
                <a:ext cx="34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" name="Oval 105">
                <a:extLst>
                  <a:ext uri="{FF2B5EF4-FFF2-40B4-BE49-F238E27FC236}">
                    <a16:creationId xmlns:a16="http://schemas.microsoft.com/office/drawing/2014/main" id="{CCEC0576-8E3C-6694-3559-C622D913A1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1" y="3655"/>
                <a:ext cx="72" cy="8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09" name="Line 106">
                <a:extLst>
                  <a:ext uri="{FF2B5EF4-FFF2-40B4-BE49-F238E27FC236}">
                    <a16:creationId xmlns:a16="http://schemas.microsoft.com/office/drawing/2014/main" id="{C5746B5B-0EFF-E16A-89BF-A3E9E5003C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4" y="3624"/>
                <a:ext cx="43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" name="Oval 107">
                <a:extLst>
                  <a:ext uri="{FF2B5EF4-FFF2-40B4-BE49-F238E27FC236}">
                    <a16:creationId xmlns:a16="http://schemas.microsoft.com/office/drawing/2014/main" id="{E6ABDE1D-4201-585A-6E1C-449DD7754A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3583"/>
                <a:ext cx="73" cy="8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11" name="Line 108">
                <a:extLst>
                  <a:ext uri="{FF2B5EF4-FFF2-40B4-BE49-F238E27FC236}">
                    <a16:creationId xmlns:a16="http://schemas.microsoft.com/office/drawing/2014/main" id="{E1D74D22-0198-DE6A-C935-B1613F2E1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62" y="3242"/>
                <a:ext cx="150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" name="Line 109">
                <a:extLst>
                  <a:ext uri="{FF2B5EF4-FFF2-40B4-BE49-F238E27FC236}">
                    <a16:creationId xmlns:a16="http://schemas.microsoft.com/office/drawing/2014/main" id="{B071DDB5-014A-E22D-BA3B-993C475B55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64" y="3242"/>
                <a:ext cx="0" cy="4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Line 110">
                <a:extLst>
                  <a:ext uri="{FF2B5EF4-FFF2-40B4-BE49-F238E27FC236}">
                    <a16:creationId xmlns:a16="http://schemas.microsoft.com/office/drawing/2014/main" id="{63B2147D-EDE3-82F4-645E-4B67A69E25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62" y="3242"/>
                <a:ext cx="0" cy="29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Text Box 111">
                <a:extLst>
                  <a:ext uri="{FF2B5EF4-FFF2-40B4-BE49-F238E27FC236}">
                    <a16:creationId xmlns:a16="http://schemas.microsoft.com/office/drawing/2014/main" id="{61F1CB6B-0262-8ECB-108B-03F890BC58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1" y="3764"/>
                <a:ext cx="232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S</a:t>
                </a:r>
                <a:endParaRPr kumimoji="1" lang="en-US" altLang="zh-CN" sz="1600" baseline="-25000">
                  <a:ea typeface="楷体_GB2312" pitchFamily="49" charset="-122"/>
                </a:endParaRPr>
              </a:p>
            </p:txBody>
          </p:sp>
          <p:sp>
            <p:nvSpPr>
              <p:cNvPr id="115" name="AutoShape 112">
                <a:extLst>
                  <a:ext uri="{FF2B5EF4-FFF2-40B4-BE49-F238E27FC236}">
                    <a16:creationId xmlns:a16="http://schemas.microsoft.com/office/drawing/2014/main" id="{5841A4F0-BEB5-7A60-A829-019335F1B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0" y="3435"/>
                <a:ext cx="300" cy="374"/>
              </a:xfrm>
              <a:prstGeom prst="flowChartDelay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16" name="AutoShape 113">
                <a:extLst>
                  <a:ext uri="{FF2B5EF4-FFF2-40B4-BE49-F238E27FC236}">
                    <a16:creationId xmlns:a16="http://schemas.microsoft.com/office/drawing/2014/main" id="{74047EAE-85DD-035E-CD6B-216F55C022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1" y="3515"/>
                <a:ext cx="300" cy="374"/>
              </a:xfrm>
              <a:prstGeom prst="flowChartDelay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17" name="Line 114">
                <a:extLst>
                  <a:ext uri="{FF2B5EF4-FFF2-40B4-BE49-F238E27FC236}">
                    <a16:creationId xmlns:a16="http://schemas.microsoft.com/office/drawing/2014/main" id="{8AF694D9-2928-2F5D-EA7C-958E59EAE7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770" y="3344"/>
                <a:ext cx="13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8" name="Line 115">
                <a:extLst>
                  <a:ext uri="{FF2B5EF4-FFF2-40B4-BE49-F238E27FC236}">
                    <a16:creationId xmlns:a16="http://schemas.microsoft.com/office/drawing/2014/main" id="{A05A5D92-9A72-AB07-FE84-6BEAFB2EFB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2431" y="3266"/>
                <a:ext cx="215" cy="60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9" name="Line 116">
                <a:extLst>
                  <a:ext uri="{FF2B5EF4-FFF2-40B4-BE49-F238E27FC236}">
                    <a16:creationId xmlns:a16="http://schemas.microsoft.com/office/drawing/2014/main" id="{1AAFE335-56D6-FB36-F03D-520439A7F3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8" y="3206"/>
                <a:ext cx="29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0" name="Line 117">
                <a:extLst>
                  <a:ext uri="{FF2B5EF4-FFF2-40B4-BE49-F238E27FC236}">
                    <a16:creationId xmlns:a16="http://schemas.microsoft.com/office/drawing/2014/main" id="{9F1E5EAD-A317-0CED-C944-0FE98AE716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9" y="3336"/>
                <a:ext cx="1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1" name="Line 118">
                <a:extLst>
                  <a:ext uri="{FF2B5EF4-FFF2-40B4-BE49-F238E27FC236}">
                    <a16:creationId xmlns:a16="http://schemas.microsoft.com/office/drawing/2014/main" id="{A3B1DDC6-453A-89E0-CAEB-B1EF5FD39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5" y="3274"/>
                <a:ext cx="2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2" name="Line 119">
                <a:extLst>
                  <a:ext uri="{FF2B5EF4-FFF2-40B4-BE49-F238E27FC236}">
                    <a16:creationId xmlns:a16="http://schemas.microsoft.com/office/drawing/2014/main" id="{934DB353-19A8-C178-F808-C45E1B0919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9" y="3745"/>
                <a:ext cx="1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" name="Line 120">
                <a:extLst>
                  <a:ext uri="{FF2B5EF4-FFF2-40B4-BE49-F238E27FC236}">
                    <a16:creationId xmlns:a16="http://schemas.microsoft.com/office/drawing/2014/main" id="{5A52A123-B9EB-9B7F-21F2-6A83B6BC9B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8" y="3874"/>
                <a:ext cx="29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" name="Line 121">
                <a:extLst>
                  <a:ext uri="{FF2B5EF4-FFF2-40B4-BE49-F238E27FC236}">
                    <a16:creationId xmlns:a16="http://schemas.microsoft.com/office/drawing/2014/main" id="{CBDE558F-E7FD-A7E4-A8F7-C51C3F697B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5" y="3813"/>
                <a:ext cx="2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" name="Line 122">
                <a:extLst>
                  <a:ext uri="{FF2B5EF4-FFF2-40B4-BE49-F238E27FC236}">
                    <a16:creationId xmlns:a16="http://schemas.microsoft.com/office/drawing/2014/main" id="{CCCDF679-F917-D9AE-7F8C-95EF7EDBA6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770" y="3744"/>
                <a:ext cx="13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6" name="Line 123">
                <a:extLst>
                  <a:ext uri="{FF2B5EF4-FFF2-40B4-BE49-F238E27FC236}">
                    <a16:creationId xmlns:a16="http://schemas.microsoft.com/office/drawing/2014/main" id="{C7D567C0-F244-EFF3-8433-E676137457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176" y="3398"/>
                <a:ext cx="12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" name="Line 124">
                <a:extLst>
                  <a:ext uri="{FF2B5EF4-FFF2-40B4-BE49-F238E27FC236}">
                    <a16:creationId xmlns:a16="http://schemas.microsoft.com/office/drawing/2014/main" id="{E01CA67F-B102-DA72-4ACF-6D4073072E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431" y="3220"/>
                <a:ext cx="215" cy="60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" name="Line 125">
                <a:extLst>
                  <a:ext uri="{FF2B5EF4-FFF2-40B4-BE49-F238E27FC236}">
                    <a16:creationId xmlns:a16="http://schemas.microsoft.com/office/drawing/2014/main" id="{C7EC5BA5-BABA-9205-EC67-F6C8869089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176" y="3690"/>
                <a:ext cx="12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" name="Text Box 126">
                <a:extLst>
                  <a:ext uri="{FF2B5EF4-FFF2-40B4-BE49-F238E27FC236}">
                    <a16:creationId xmlns:a16="http://schemas.microsoft.com/office/drawing/2014/main" id="{6088A2D0-0790-37E3-CD26-671EFA4470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9" y="3110"/>
                <a:ext cx="134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S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130" name="Text Box 127">
                <a:extLst>
                  <a:ext uri="{FF2B5EF4-FFF2-40B4-BE49-F238E27FC236}">
                    <a16:creationId xmlns:a16="http://schemas.microsoft.com/office/drawing/2014/main" id="{599E75D6-43E2-CB28-44B6-5D97A1586A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9" y="3748"/>
                <a:ext cx="134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R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grpSp>
            <p:nvGrpSpPr>
              <p:cNvPr id="131" name="Group 128">
                <a:extLst>
                  <a:ext uri="{FF2B5EF4-FFF2-40B4-BE49-F238E27FC236}">
                    <a16:creationId xmlns:a16="http://schemas.microsoft.com/office/drawing/2014/main" id="{8AC58113-ECE3-BF14-A9EF-12E44E2C95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2976" y="3741"/>
                <a:ext cx="209" cy="134"/>
                <a:chOff x="4582" y="3884"/>
                <a:chExt cx="308" cy="171"/>
              </a:xfrm>
            </p:grpSpPr>
            <p:sp>
              <p:nvSpPr>
                <p:cNvPr id="142" name="Text Box 129">
                  <a:extLst>
                    <a:ext uri="{FF2B5EF4-FFF2-40B4-BE49-F238E27FC236}">
                      <a16:creationId xmlns:a16="http://schemas.microsoft.com/office/drawing/2014/main" id="{454C6D4C-B699-4C8D-D6B1-A8F984F4DED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rot="5400000">
                  <a:off x="4649" y="3817"/>
                  <a:ext cx="171" cy="3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kumimoji="1" lang="en-US" altLang="zh-CN" sz="2400">
                      <a:ea typeface="楷体_GB2312" pitchFamily="49" charset="-122"/>
                    </a:rPr>
                    <a:t>Q</a:t>
                  </a:r>
                  <a:endParaRPr kumimoji="1" lang="en-US" altLang="zh-CN" sz="2400" baseline="-25000">
                    <a:ea typeface="楷体_GB2312" pitchFamily="49" charset="-122"/>
                  </a:endParaRPr>
                </a:p>
              </p:txBody>
            </p:sp>
            <p:sp>
              <p:nvSpPr>
                <p:cNvPr id="143" name="Line 130">
                  <a:extLst>
                    <a:ext uri="{FF2B5EF4-FFF2-40B4-BE49-F238E27FC236}">
                      <a16:creationId xmlns:a16="http://schemas.microsoft.com/office/drawing/2014/main" id="{43CAA075-FCE9-4C29-57FC-4A095E0F45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4810" y="3964"/>
                  <a:ext cx="1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32" name="Text Box 131">
                <a:extLst>
                  <a:ext uri="{FF2B5EF4-FFF2-40B4-BE49-F238E27FC236}">
                    <a16:creationId xmlns:a16="http://schemas.microsoft.com/office/drawing/2014/main" id="{1585F0C1-C52F-FBC0-40F9-BBC60F3BD8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14" y="3181"/>
                <a:ext cx="134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E04A636E-01B7-A205-515C-079B548A0A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2" y="3774"/>
                <a:ext cx="68" cy="6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F6CA6505-878F-600C-B8F7-0252EDD93E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2" y="3230"/>
                <a:ext cx="68" cy="6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35" name="AutoShape 134">
                <a:extLst>
                  <a:ext uri="{FF2B5EF4-FFF2-40B4-BE49-F238E27FC236}">
                    <a16:creationId xmlns:a16="http://schemas.microsoft.com/office/drawing/2014/main" id="{830BC79B-193A-6EB1-4C79-99A228128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7" y="3124"/>
                <a:ext cx="245" cy="284"/>
              </a:xfrm>
              <a:prstGeom prst="flowChartDelay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36" name="AutoShape 135">
                <a:extLst>
                  <a:ext uri="{FF2B5EF4-FFF2-40B4-BE49-F238E27FC236}">
                    <a16:creationId xmlns:a16="http://schemas.microsoft.com/office/drawing/2014/main" id="{987379E4-CF92-AA58-E9E2-3B71161E8C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7" y="3657"/>
                <a:ext cx="245" cy="284"/>
              </a:xfrm>
              <a:prstGeom prst="flowChartDelay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37" name="Line 151">
                <a:extLst>
                  <a:ext uri="{FF2B5EF4-FFF2-40B4-BE49-F238E27FC236}">
                    <a16:creationId xmlns:a16="http://schemas.microsoft.com/office/drawing/2014/main" id="{0DFB5DFF-BF7A-9AA4-3412-5C485B97F2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7" y="3022"/>
                <a:ext cx="360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Line 154">
                <a:extLst>
                  <a:ext uri="{FF2B5EF4-FFF2-40B4-BE49-F238E27FC236}">
                    <a16:creationId xmlns:a16="http://schemas.microsoft.com/office/drawing/2014/main" id="{5A03B8B1-FA13-059F-AA2B-39D9304944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5" y="3112"/>
                <a:ext cx="10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Line 155">
                <a:extLst>
                  <a:ext uri="{FF2B5EF4-FFF2-40B4-BE49-F238E27FC236}">
                    <a16:creationId xmlns:a16="http://schemas.microsoft.com/office/drawing/2014/main" id="{CAFB6417-59C2-4F71-23C8-BB801805E9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7" y="3749"/>
                <a:ext cx="1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Line 156">
                <a:extLst>
                  <a:ext uri="{FF2B5EF4-FFF2-40B4-BE49-F238E27FC236}">
                    <a16:creationId xmlns:a16="http://schemas.microsoft.com/office/drawing/2014/main" id="{AC11D23D-EE35-66D3-7F99-D1260F0E7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6" y="3764"/>
                <a:ext cx="10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Line 157">
                <a:extLst>
                  <a:ext uri="{FF2B5EF4-FFF2-40B4-BE49-F238E27FC236}">
                    <a16:creationId xmlns:a16="http://schemas.microsoft.com/office/drawing/2014/main" id="{A67CFBA8-4F83-4349-DDFF-E2CA5042E1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9" y="3650"/>
                <a:ext cx="1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59" name="文本框 158">
            <a:extLst>
              <a:ext uri="{FF2B5EF4-FFF2-40B4-BE49-F238E27FC236}">
                <a16:creationId xmlns:a16="http://schemas.microsoft.com/office/drawing/2014/main" id="{7A04C9DE-2A74-DC9F-5C3D-E7609190FCFD}"/>
              </a:ext>
            </a:extLst>
          </p:cNvPr>
          <p:cNvSpPr txBox="1"/>
          <p:nvPr/>
        </p:nvSpPr>
        <p:spPr>
          <a:xfrm>
            <a:off x="4514056" y="2131082"/>
            <a:ext cx="5374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基本元件：利用反馈保持电路状态为两者中的一个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问题：状态随机，且无法更新</a:t>
            </a:r>
          </a:p>
        </p:txBody>
      </p:sp>
    </p:spTree>
    <p:extLst>
      <p:ext uri="{BB962C8B-B14F-4D97-AF65-F5344CB8AC3E}">
        <p14:creationId xmlns:p14="http://schemas.microsoft.com/office/powerpoint/2010/main" val="2998035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58EE03-5ED3-EDDC-3F43-8484D5DBE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基本</a:t>
            </a:r>
            <a:r>
              <a:rPr lang="en-US" altLang="zh-CN" dirty="0"/>
              <a:t>SR</a:t>
            </a:r>
            <a:r>
              <a:rPr lang="zh-CN" altLang="en-US" dirty="0"/>
              <a:t>锁存器工作原理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5E80A9-161B-E045-FA6E-E11A217D2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10000"/>
              </a:spcBef>
            </a:pPr>
            <a:r>
              <a:rPr lang="zh-CN" altLang="en-US" dirty="0"/>
              <a:t>现态：</a:t>
            </a:r>
            <a:r>
              <a:rPr lang="en-US" altLang="zh-CN" dirty="0"/>
              <a:t>R</a:t>
            </a:r>
            <a:r>
              <a:rPr lang="zh-CN" altLang="en-US" dirty="0"/>
              <a:t>、</a:t>
            </a:r>
            <a:r>
              <a:rPr lang="en-US" altLang="zh-CN" dirty="0"/>
              <a:t>S</a:t>
            </a:r>
            <a:r>
              <a:rPr lang="zh-CN" altLang="en-US" dirty="0"/>
              <a:t>作用前</a:t>
            </a:r>
            <a:r>
              <a:rPr lang="en-US" altLang="zh-CN" dirty="0"/>
              <a:t>Q</a:t>
            </a:r>
            <a:r>
              <a:rPr lang="zh-CN" altLang="en-US" dirty="0"/>
              <a:t>端的状态，记为</a:t>
            </a:r>
            <a:r>
              <a:rPr lang="en-US" altLang="zh-CN" dirty="0" err="1"/>
              <a:t>Q</a:t>
            </a:r>
            <a:r>
              <a:rPr lang="en-US" altLang="zh-CN" baseline="30000" dirty="0" err="1"/>
              <a:t>n</a:t>
            </a:r>
            <a:endParaRPr lang="en-US" altLang="zh-CN" baseline="30000" dirty="0"/>
          </a:p>
          <a:p>
            <a:pPr>
              <a:spcBef>
                <a:spcPct val="10000"/>
              </a:spcBef>
            </a:pPr>
            <a:r>
              <a:rPr lang="zh-CN" altLang="en-US" dirty="0"/>
              <a:t>次态：</a:t>
            </a:r>
            <a:r>
              <a:rPr lang="en-US" altLang="zh-CN" dirty="0"/>
              <a:t>R</a:t>
            </a:r>
            <a:r>
              <a:rPr lang="zh-CN" altLang="en-US" dirty="0"/>
              <a:t>、</a:t>
            </a:r>
            <a:r>
              <a:rPr lang="en-US" altLang="zh-CN" dirty="0"/>
              <a:t>S</a:t>
            </a:r>
            <a:r>
              <a:rPr lang="zh-CN" altLang="en-US" dirty="0"/>
              <a:t>作用后</a:t>
            </a:r>
            <a:r>
              <a:rPr lang="en-US" altLang="zh-CN" dirty="0"/>
              <a:t>Q</a:t>
            </a:r>
            <a:r>
              <a:rPr lang="zh-CN" altLang="en-US" dirty="0"/>
              <a:t>端的状态，记为</a:t>
            </a:r>
            <a:r>
              <a:rPr lang="en-US" altLang="zh-CN" dirty="0"/>
              <a:t>Q</a:t>
            </a:r>
            <a:r>
              <a:rPr lang="en-US" altLang="zh-CN" baseline="30000" dirty="0"/>
              <a:t>n+1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E5A292-13AB-1E81-2E62-4293AFEF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ED9328-5A26-69BB-D667-D60DE166D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7</a:t>
            </a:fld>
            <a:r>
              <a:rPr lang="en-US" altLang="zh-CN" dirty="0"/>
              <a:t>/22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AB363F0A-032C-F998-B69B-303582CF235B}"/>
              </a:ext>
            </a:extLst>
          </p:cNvPr>
          <p:cNvGrpSpPr>
            <a:grpSpLocks/>
          </p:cNvGrpSpPr>
          <p:nvPr/>
        </p:nvGrpSpPr>
        <p:grpSpPr bwMode="auto">
          <a:xfrm>
            <a:off x="1339850" y="2963862"/>
            <a:ext cx="2397125" cy="1924050"/>
            <a:chOff x="3804" y="867"/>
            <a:chExt cx="1510" cy="1212"/>
          </a:xfrm>
        </p:grpSpPr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E8CE4E44-320A-DE63-B9D9-B6C7141CC7B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818" y="1173"/>
              <a:ext cx="2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7B215EF2-F04D-C88D-FB51-D21987691E1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375" y="1116"/>
              <a:ext cx="318" cy="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" name="Group 7">
              <a:extLst>
                <a:ext uri="{FF2B5EF4-FFF2-40B4-BE49-F238E27FC236}">
                  <a16:creationId xmlns:a16="http://schemas.microsoft.com/office/drawing/2014/main" id="{65106940-0914-12DF-93DF-996F09221B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867"/>
              <a:ext cx="363" cy="385"/>
              <a:chOff x="4173" y="2976"/>
              <a:chExt cx="431" cy="431"/>
            </a:xfrm>
          </p:grpSpPr>
          <p:grpSp>
            <p:nvGrpSpPr>
              <p:cNvPr id="33" name="Group 8">
                <a:extLst>
                  <a:ext uri="{FF2B5EF4-FFF2-40B4-BE49-F238E27FC236}">
                    <a16:creationId xmlns:a16="http://schemas.microsoft.com/office/drawing/2014/main" id="{58CB5FEE-22E0-F010-1793-E48545B4B3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3" y="2976"/>
                <a:ext cx="431" cy="431"/>
                <a:chOff x="4445" y="2999"/>
                <a:chExt cx="295" cy="318"/>
              </a:xfrm>
            </p:grpSpPr>
            <p:sp>
              <p:nvSpPr>
                <p:cNvPr id="35" name="Arc 9">
                  <a:extLst>
                    <a:ext uri="{FF2B5EF4-FFF2-40B4-BE49-F238E27FC236}">
                      <a16:creationId xmlns:a16="http://schemas.microsoft.com/office/drawing/2014/main" id="{D1F0D43E-53F9-0605-B9DF-3B4416DC58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5" y="2999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Arc 10">
                  <a:extLst>
                    <a:ext uri="{FF2B5EF4-FFF2-40B4-BE49-F238E27FC236}">
                      <a16:creationId xmlns:a16="http://schemas.microsoft.com/office/drawing/2014/main" id="{D4D82449-7595-0361-6FE8-41C6E8CD5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 flipH="1">
                  <a:off x="4445" y="3158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4" name="Arc 11">
                <a:extLst>
                  <a:ext uri="{FF2B5EF4-FFF2-40B4-BE49-F238E27FC236}">
                    <a16:creationId xmlns:a16="http://schemas.microsoft.com/office/drawing/2014/main" id="{FD4975A1-817A-525F-3EFC-77E84F806C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2976"/>
                <a:ext cx="90" cy="430"/>
              </a:xfrm>
              <a:custGeom>
                <a:avLst/>
                <a:gdLst>
                  <a:gd name="T0" fmla="*/ 0 w 21838"/>
                  <a:gd name="T1" fmla="*/ 0 h 43200"/>
                  <a:gd name="T2" fmla="*/ 0 w 21838"/>
                  <a:gd name="T3" fmla="*/ 0 h 43200"/>
                  <a:gd name="T4" fmla="*/ 0 w 21838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838"/>
                  <a:gd name="T10" fmla="*/ 0 h 43200"/>
                  <a:gd name="T11" fmla="*/ 21838 w 21838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38" h="43200" fill="none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</a:path>
                  <a:path w="21838" h="43200" stroke="0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  <a:lnTo>
                      <a:pt x="238" y="21600"/>
                    </a:lnTo>
                    <a:lnTo>
                      <a:pt x="237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CC8036C1-E9D9-570F-B648-8DBD854B03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971"/>
              <a:ext cx="3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376148BC-D811-21E2-5660-E091D42D67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1162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14">
              <a:extLst>
                <a:ext uri="{FF2B5EF4-FFF2-40B4-BE49-F238E27FC236}">
                  <a16:creationId xmlns:a16="http://schemas.microsoft.com/office/drawing/2014/main" id="{DC3FA4B8-FB46-A4EF-9DF1-A42887D282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" y="1026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3310D030-D559-23A1-8F42-445787CAC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071"/>
              <a:ext cx="3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" name="Group 16">
              <a:extLst>
                <a:ext uri="{FF2B5EF4-FFF2-40B4-BE49-F238E27FC236}">
                  <a16:creationId xmlns:a16="http://schemas.microsoft.com/office/drawing/2014/main" id="{5E5D324E-FAF7-8CFC-C11B-3743DD3B15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1661"/>
              <a:ext cx="363" cy="385"/>
              <a:chOff x="4173" y="2976"/>
              <a:chExt cx="431" cy="431"/>
            </a:xfrm>
          </p:grpSpPr>
          <p:grpSp>
            <p:nvGrpSpPr>
              <p:cNvPr id="29" name="Group 17">
                <a:extLst>
                  <a:ext uri="{FF2B5EF4-FFF2-40B4-BE49-F238E27FC236}">
                    <a16:creationId xmlns:a16="http://schemas.microsoft.com/office/drawing/2014/main" id="{7F57943E-AAB6-888F-33BB-9570661AE7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3" y="2976"/>
                <a:ext cx="431" cy="431"/>
                <a:chOff x="4445" y="2999"/>
                <a:chExt cx="295" cy="318"/>
              </a:xfrm>
            </p:grpSpPr>
            <p:sp>
              <p:nvSpPr>
                <p:cNvPr id="31" name="Arc 18">
                  <a:extLst>
                    <a:ext uri="{FF2B5EF4-FFF2-40B4-BE49-F238E27FC236}">
                      <a16:creationId xmlns:a16="http://schemas.microsoft.com/office/drawing/2014/main" id="{D26A167E-7583-3458-CE45-07CE61C9AD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5" y="2999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2" name="Arc 19">
                  <a:extLst>
                    <a:ext uri="{FF2B5EF4-FFF2-40B4-BE49-F238E27FC236}">
                      <a16:creationId xmlns:a16="http://schemas.microsoft.com/office/drawing/2014/main" id="{618B3124-1DD8-060D-27E5-91B696FFB3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 flipH="1">
                  <a:off x="4445" y="3158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0" name="Arc 20">
                <a:extLst>
                  <a:ext uri="{FF2B5EF4-FFF2-40B4-BE49-F238E27FC236}">
                    <a16:creationId xmlns:a16="http://schemas.microsoft.com/office/drawing/2014/main" id="{E597A89F-FF68-57FA-213A-499441FE95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2976"/>
                <a:ext cx="90" cy="430"/>
              </a:xfrm>
              <a:custGeom>
                <a:avLst/>
                <a:gdLst>
                  <a:gd name="T0" fmla="*/ 0 w 21838"/>
                  <a:gd name="T1" fmla="*/ 0 h 43200"/>
                  <a:gd name="T2" fmla="*/ 0 w 21838"/>
                  <a:gd name="T3" fmla="*/ 0 h 43200"/>
                  <a:gd name="T4" fmla="*/ 0 w 21838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838"/>
                  <a:gd name="T10" fmla="*/ 0 h 43200"/>
                  <a:gd name="T11" fmla="*/ 21838 w 21838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38" h="43200" fill="none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</a:path>
                  <a:path w="21838" h="43200" stroke="0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  <a:lnTo>
                      <a:pt x="238" y="21600"/>
                    </a:lnTo>
                    <a:lnTo>
                      <a:pt x="237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" name="Line 21">
              <a:extLst>
                <a:ext uri="{FF2B5EF4-FFF2-40B4-BE49-F238E27FC236}">
                  <a16:creationId xmlns:a16="http://schemas.microsoft.com/office/drawing/2014/main" id="{F5D62E67-FC28-82AB-E273-1B0122B7B5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1765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22">
              <a:extLst>
                <a:ext uri="{FF2B5EF4-FFF2-40B4-BE49-F238E27FC236}">
                  <a16:creationId xmlns:a16="http://schemas.microsoft.com/office/drawing/2014/main" id="{9FAD09B0-CC2A-ED2B-0D71-A9F1026ED3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956"/>
              <a:ext cx="3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23">
              <a:extLst>
                <a:ext uri="{FF2B5EF4-FFF2-40B4-BE49-F238E27FC236}">
                  <a16:creationId xmlns:a16="http://schemas.microsoft.com/office/drawing/2014/main" id="{A330E0F6-B38A-0A0E-7DEC-F422B494F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" y="1820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8" name="Line 24">
              <a:extLst>
                <a:ext uri="{FF2B5EF4-FFF2-40B4-BE49-F238E27FC236}">
                  <a16:creationId xmlns:a16="http://schemas.microsoft.com/office/drawing/2014/main" id="{3E83F94D-B9EF-6F56-5A8D-8BBB1E6559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865"/>
              <a:ext cx="3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25">
              <a:extLst>
                <a:ext uri="{FF2B5EF4-FFF2-40B4-BE49-F238E27FC236}">
                  <a16:creationId xmlns:a16="http://schemas.microsoft.com/office/drawing/2014/main" id="{2C834AAC-D933-04B0-569F-E16121FE53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818" y="1763"/>
              <a:ext cx="2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26">
              <a:extLst>
                <a:ext uri="{FF2B5EF4-FFF2-40B4-BE49-F238E27FC236}">
                  <a16:creationId xmlns:a16="http://schemas.microsoft.com/office/drawing/2014/main" id="{32756DBD-F8EA-A3DE-E26F-51ED94D3774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57" y="1253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5D68E0CC-CBEE-394B-1A6D-0ABAF25415B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375" y="1048"/>
              <a:ext cx="318" cy="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8">
              <a:extLst>
                <a:ext uri="{FF2B5EF4-FFF2-40B4-BE49-F238E27FC236}">
                  <a16:creationId xmlns:a16="http://schemas.microsoft.com/office/drawing/2014/main" id="{40846733-DF54-BBB1-647A-42155948211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57" y="168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Text Box 29">
              <a:extLst>
                <a:ext uri="{FF2B5EF4-FFF2-40B4-BE49-F238E27FC236}">
                  <a16:creationId xmlns:a16="http://schemas.microsoft.com/office/drawing/2014/main" id="{E554F692-59C8-961C-2C4D-3488FCF50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4" y="889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24" name="Text Box 30">
              <a:extLst>
                <a:ext uri="{FF2B5EF4-FFF2-40B4-BE49-F238E27FC236}">
                  <a16:creationId xmlns:a16="http://schemas.microsoft.com/office/drawing/2014/main" id="{A86AAD13-1822-9E9D-1135-2AEEBA3189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4" y="1872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grpSp>
          <p:nvGrpSpPr>
            <p:cNvPr id="25" name="Group 31">
              <a:extLst>
                <a:ext uri="{FF2B5EF4-FFF2-40B4-BE49-F238E27FC236}">
                  <a16:creationId xmlns:a16="http://schemas.microsoft.com/office/drawing/2014/main" id="{96907236-485D-7842-8C68-160EC29861AE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5125" y="1791"/>
              <a:ext cx="208" cy="171"/>
              <a:chOff x="4682" y="3884"/>
              <a:chExt cx="208" cy="171"/>
            </a:xfrm>
          </p:grpSpPr>
          <p:sp>
            <p:nvSpPr>
              <p:cNvPr id="27" name="Text Box 32">
                <a:extLst>
                  <a:ext uri="{FF2B5EF4-FFF2-40B4-BE49-F238E27FC236}">
                    <a16:creationId xmlns:a16="http://schemas.microsoft.com/office/drawing/2014/main" id="{62BA04E8-A8DA-BCB3-94E4-14074F70FF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4700" y="3866"/>
                <a:ext cx="171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28" name="Line 33">
                <a:extLst>
                  <a:ext uri="{FF2B5EF4-FFF2-40B4-BE49-F238E27FC236}">
                    <a16:creationId xmlns:a16="http://schemas.microsoft.com/office/drawing/2014/main" id="{15AE1CAB-7536-A93E-7E7B-1EEED187C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810" y="3964"/>
                <a:ext cx="15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" name="Text Box 34">
              <a:extLst>
                <a:ext uri="{FF2B5EF4-FFF2-40B4-BE49-F238E27FC236}">
                  <a16:creationId xmlns:a16="http://schemas.microsoft.com/office/drawing/2014/main" id="{FA71A59B-E0BE-330F-F222-1531F97A0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3" y="1002"/>
              <a:ext cx="171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</p:grpSp>
      <p:sp>
        <p:nvSpPr>
          <p:cNvPr id="37" name="Text Box 35">
            <a:extLst>
              <a:ext uri="{FF2B5EF4-FFF2-40B4-BE49-F238E27FC236}">
                <a16:creationId xmlns:a16="http://schemas.microsoft.com/office/drawing/2014/main" id="{8331F111-6807-F2A7-8394-EF455D95C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3075" y="26066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38" name="Text Box 36">
            <a:extLst>
              <a:ext uri="{FF2B5EF4-FFF2-40B4-BE49-F238E27FC236}">
                <a16:creationId xmlns:a16="http://schemas.microsoft.com/office/drawing/2014/main" id="{DF359550-0FE8-DEC2-5054-77C82B8A5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8475" y="2760662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0</a:t>
            </a:r>
          </a:p>
        </p:txBody>
      </p:sp>
      <p:sp>
        <p:nvSpPr>
          <p:cNvPr id="39" name="Text Box 37">
            <a:extLst>
              <a:ext uri="{FF2B5EF4-FFF2-40B4-BE49-F238E27FC236}">
                <a16:creationId xmlns:a16="http://schemas.microsoft.com/office/drawing/2014/main" id="{D59FFB20-6236-9703-F099-E9D92D9F5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4021137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0</a:t>
            </a:r>
          </a:p>
        </p:txBody>
      </p:sp>
      <p:sp>
        <p:nvSpPr>
          <p:cNvPr id="40" name="Text Box 38">
            <a:extLst>
              <a:ext uri="{FF2B5EF4-FFF2-40B4-BE49-F238E27FC236}">
                <a16:creationId xmlns:a16="http://schemas.microsoft.com/office/drawing/2014/main" id="{03AF002E-E64F-3E17-6B5C-018C1D094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3075" y="47307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41" name="Text Box 39">
            <a:extLst>
              <a:ext uri="{FF2B5EF4-FFF2-40B4-BE49-F238E27FC236}">
                <a16:creationId xmlns:a16="http://schemas.microsoft.com/office/drawing/2014/main" id="{B624EAD7-112E-31CB-B11A-313DED8FA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4988" y="4597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1</a:t>
            </a:r>
          </a:p>
        </p:txBody>
      </p:sp>
      <p:sp>
        <p:nvSpPr>
          <p:cNvPr id="42" name="Text Box 40">
            <a:extLst>
              <a:ext uri="{FF2B5EF4-FFF2-40B4-BE49-F238E27FC236}">
                <a16:creationId xmlns:a16="http://schemas.microsoft.com/office/drawing/2014/main" id="{9CF1499D-164F-E3C7-8D2C-995996629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3325812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1</a:t>
            </a:r>
          </a:p>
        </p:txBody>
      </p:sp>
      <p:sp>
        <p:nvSpPr>
          <p:cNvPr id="43" name="Rectangle 41">
            <a:extLst>
              <a:ext uri="{FF2B5EF4-FFF2-40B4-BE49-F238E27FC236}">
                <a16:creationId xmlns:a16="http://schemas.microsoft.com/office/drawing/2014/main" id="{6C71D36C-A5B7-5FC3-3FCB-BF1084D6A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25" y="5240337"/>
            <a:ext cx="1384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b="0"/>
              <a:t>Q</a:t>
            </a:r>
            <a:r>
              <a:rPr lang="en-US" altLang="zh-CN" b="0" baseline="30000"/>
              <a:t>n</a:t>
            </a:r>
            <a:r>
              <a:rPr lang="en-US" altLang="zh-CN" b="0"/>
              <a:t> =0</a:t>
            </a:r>
            <a:r>
              <a:rPr lang="zh-CN" altLang="en-US" b="0"/>
              <a:t>，</a:t>
            </a:r>
          </a:p>
        </p:txBody>
      </p:sp>
      <p:sp>
        <p:nvSpPr>
          <p:cNvPr id="44" name="Rectangle 42">
            <a:extLst>
              <a:ext uri="{FF2B5EF4-FFF2-40B4-BE49-F238E27FC236}">
                <a16:creationId xmlns:a16="http://schemas.microsoft.com/office/drawing/2014/main" id="{C77FF850-0F1B-417C-196D-FB1375D96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6013" y="5243512"/>
            <a:ext cx="1285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b="0"/>
              <a:t>Q</a:t>
            </a:r>
            <a:r>
              <a:rPr lang="en-US" altLang="zh-CN" b="0" baseline="30000"/>
              <a:t>n+1</a:t>
            </a:r>
            <a:r>
              <a:rPr lang="en-US" altLang="zh-CN" b="0"/>
              <a:t> =0</a:t>
            </a:r>
            <a:endParaRPr lang="zh-CN" altLang="en-US" b="0"/>
          </a:p>
        </p:txBody>
      </p:sp>
      <p:sp>
        <p:nvSpPr>
          <p:cNvPr id="45" name="Rectangle 43">
            <a:extLst>
              <a:ext uri="{FF2B5EF4-FFF2-40B4-BE49-F238E27FC236}">
                <a16:creationId xmlns:a16="http://schemas.microsoft.com/office/drawing/2014/main" id="{C62D146E-2D82-25E2-A44B-6850FBF44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3488" y="2071687"/>
            <a:ext cx="3095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/>
              <a:t>当</a:t>
            </a:r>
            <a:r>
              <a:rPr lang="en-US" altLang="zh-CN"/>
              <a:t>R=0</a:t>
            </a:r>
            <a:r>
              <a:rPr lang="zh-CN" altLang="en-US"/>
              <a:t>，</a:t>
            </a:r>
            <a:r>
              <a:rPr lang="en-US" altLang="zh-CN"/>
              <a:t>S=0</a:t>
            </a:r>
            <a:r>
              <a:rPr lang="zh-CN" altLang="en-US"/>
              <a:t>时</a:t>
            </a:r>
            <a:r>
              <a:rPr lang="en-US" altLang="zh-CN"/>
              <a:t>,</a:t>
            </a:r>
          </a:p>
        </p:txBody>
      </p:sp>
      <p:sp>
        <p:nvSpPr>
          <p:cNvPr id="46" name="Rectangle 44">
            <a:extLst>
              <a:ext uri="{FF2B5EF4-FFF2-40B4-BE49-F238E27FC236}">
                <a16:creationId xmlns:a16="http://schemas.microsoft.com/office/drawing/2014/main" id="{DE5135DA-11C6-3AD0-AC94-98E830181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3825" y="2071687"/>
            <a:ext cx="3743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/>
              <a:t>Q</a:t>
            </a:r>
            <a:r>
              <a:rPr lang="en-US" altLang="zh-CN" baseline="30000"/>
              <a:t>n+1</a:t>
            </a:r>
            <a:r>
              <a:rPr lang="en-US" altLang="zh-CN"/>
              <a:t> = Q</a:t>
            </a:r>
            <a:r>
              <a:rPr lang="en-US" altLang="zh-CN" baseline="30000"/>
              <a:t>n  </a:t>
            </a:r>
            <a:r>
              <a:rPr lang="en-US" altLang="zh-CN"/>
              <a:t>(</a:t>
            </a:r>
            <a:r>
              <a:rPr lang="zh-CN" altLang="en-US"/>
              <a:t>状态不变</a:t>
            </a:r>
            <a:r>
              <a:rPr lang="en-US" altLang="zh-CN"/>
              <a:t>)</a:t>
            </a:r>
            <a:endParaRPr lang="en-US" altLang="zh-CN" baseline="30000"/>
          </a:p>
        </p:txBody>
      </p:sp>
      <p:grpSp>
        <p:nvGrpSpPr>
          <p:cNvPr id="47" name="Group 45">
            <a:extLst>
              <a:ext uri="{FF2B5EF4-FFF2-40B4-BE49-F238E27FC236}">
                <a16:creationId xmlns:a16="http://schemas.microsoft.com/office/drawing/2014/main" id="{F64ADC40-AE69-7B8A-209C-2FF52EBEF348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3433762"/>
            <a:ext cx="1876425" cy="1062038"/>
            <a:chOff x="4505" y="1135"/>
            <a:chExt cx="1182" cy="669"/>
          </a:xfrm>
        </p:grpSpPr>
        <p:sp>
          <p:nvSpPr>
            <p:cNvPr id="48" name="Rectangle 46">
              <a:extLst>
                <a:ext uri="{FF2B5EF4-FFF2-40B4-BE49-F238E27FC236}">
                  <a16:creationId xmlns:a16="http://schemas.microsoft.com/office/drawing/2014/main" id="{9356E0D6-866A-C578-01F8-068B57ADE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4" y="1135"/>
              <a:ext cx="430" cy="66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grpSp>
          <p:nvGrpSpPr>
            <p:cNvPr id="49" name="Group 47">
              <a:extLst>
                <a:ext uri="{FF2B5EF4-FFF2-40B4-BE49-F238E27FC236}">
                  <a16:creationId xmlns:a16="http://schemas.microsoft.com/office/drawing/2014/main" id="{96C29BAE-0ED7-5B1F-6F22-2515FE031F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5" y="1317"/>
              <a:ext cx="222" cy="305"/>
              <a:chOff x="365" y="2319"/>
              <a:chExt cx="288" cy="305"/>
            </a:xfrm>
          </p:grpSpPr>
          <p:sp>
            <p:nvSpPr>
              <p:cNvPr id="59" name="Line 48">
                <a:extLst>
                  <a:ext uri="{FF2B5EF4-FFF2-40B4-BE49-F238E27FC236}">
                    <a16:creationId xmlns:a16="http://schemas.microsoft.com/office/drawing/2014/main" id="{952323F8-C5AF-4512-8078-709EFCBB97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" y="231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Line 49">
                <a:extLst>
                  <a:ext uri="{FF2B5EF4-FFF2-40B4-BE49-F238E27FC236}">
                    <a16:creationId xmlns:a16="http://schemas.microsoft.com/office/drawing/2014/main" id="{E8B41AA7-4DF6-A00E-AB54-C1EAACB6FE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" y="262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0" name="Group 50">
              <a:extLst>
                <a:ext uri="{FF2B5EF4-FFF2-40B4-BE49-F238E27FC236}">
                  <a16:creationId xmlns:a16="http://schemas.microsoft.com/office/drawing/2014/main" id="{30A3913D-4AA5-BDF8-5572-1B656FA82C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64" y="1317"/>
              <a:ext cx="225" cy="305"/>
              <a:chOff x="1090" y="2319"/>
              <a:chExt cx="288" cy="305"/>
            </a:xfrm>
          </p:grpSpPr>
          <p:sp>
            <p:nvSpPr>
              <p:cNvPr id="57" name="Line 51">
                <a:extLst>
                  <a:ext uri="{FF2B5EF4-FFF2-40B4-BE49-F238E27FC236}">
                    <a16:creationId xmlns:a16="http://schemas.microsoft.com/office/drawing/2014/main" id="{A33B6D92-0120-1B27-640A-E9BFED76AC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231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Line 52">
                <a:extLst>
                  <a:ext uri="{FF2B5EF4-FFF2-40B4-BE49-F238E27FC236}">
                    <a16:creationId xmlns:a16="http://schemas.microsoft.com/office/drawing/2014/main" id="{747DB5F4-D231-E2EB-487E-FA40CE0CCA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262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1" name="Text Box 53">
              <a:extLst>
                <a:ext uri="{FF2B5EF4-FFF2-40B4-BE49-F238E27FC236}">
                  <a16:creationId xmlns:a16="http://schemas.microsoft.com/office/drawing/2014/main" id="{F6D0A414-D83A-48B3-A97E-287E63A0CA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7" y="1162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52" name="Text Box 54">
              <a:extLst>
                <a:ext uri="{FF2B5EF4-FFF2-40B4-BE49-F238E27FC236}">
                  <a16:creationId xmlns:a16="http://schemas.microsoft.com/office/drawing/2014/main" id="{23610CE1-181E-88C0-4465-5F0F3D605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7" y="150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53" name="Text Box 55">
              <a:extLst>
                <a:ext uri="{FF2B5EF4-FFF2-40B4-BE49-F238E27FC236}">
                  <a16:creationId xmlns:a16="http://schemas.microsoft.com/office/drawing/2014/main" id="{B4105CB8-8662-77A8-DBFE-22927FFD32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2" y="1162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54" name="Text Box 56">
              <a:extLst>
                <a:ext uri="{FF2B5EF4-FFF2-40B4-BE49-F238E27FC236}">
                  <a16:creationId xmlns:a16="http://schemas.microsoft.com/office/drawing/2014/main" id="{06EA90DC-5304-1E7F-E0ED-F13577FEAC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2" y="1498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55" name="Line 57">
              <a:extLst>
                <a:ext uri="{FF2B5EF4-FFF2-40B4-BE49-F238E27FC236}">
                  <a16:creationId xmlns:a16="http://schemas.microsoft.com/office/drawing/2014/main" id="{F57F4869-BB88-7518-828D-85DFDF8416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0" y="154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Oval 58">
              <a:extLst>
                <a:ext uri="{FF2B5EF4-FFF2-40B4-BE49-F238E27FC236}">
                  <a16:creationId xmlns:a16="http://schemas.microsoft.com/office/drawing/2014/main" id="{E3C80BB8-B2D2-6243-6CD1-32CD16DB4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2" y="1589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pSp>
        <p:nvGrpSpPr>
          <p:cNvPr id="61" name="Group 59">
            <a:extLst>
              <a:ext uri="{FF2B5EF4-FFF2-40B4-BE49-F238E27FC236}">
                <a16:creationId xmlns:a16="http://schemas.microsoft.com/office/drawing/2014/main" id="{469488E4-916A-6C3A-2571-46E13A3315A6}"/>
              </a:ext>
            </a:extLst>
          </p:cNvPr>
          <p:cNvGrpSpPr>
            <a:grpSpLocks/>
          </p:cNvGrpSpPr>
          <p:nvPr/>
        </p:nvGrpSpPr>
        <p:grpSpPr bwMode="auto">
          <a:xfrm>
            <a:off x="4510088" y="2606675"/>
            <a:ext cx="2433637" cy="3173412"/>
            <a:chOff x="2517" y="1975"/>
            <a:chExt cx="1533" cy="1999"/>
          </a:xfrm>
        </p:grpSpPr>
        <p:grpSp>
          <p:nvGrpSpPr>
            <p:cNvPr id="62" name="Group 60">
              <a:extLst>
                <a:ext uri="{FF2B5EF4-FFF2-40B4-BE49-F238E27FC236}">
                  <a16:creationId xmlns:a16="http://schemas.microsoft.com/office/drawing/2014/main" id="{CC6F3B67-74F0-3661-1A3B-6079E61B81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0" y="2200"/>
              <a:ext cx="1510" cy="1212"/>
              <a:chOff x="3804" y="867"/>
              <a:chExt cx="1510" cy="1212"/>
            </a:xfrm>
          </p:grpSpPr>
          <p:sp>
            <p:nvSpPr>
              <p:cNvPr id="71" name="Line 61">
                <a:extLst>
                  <a:ext uri="{FF2B5EF4-FFF2-40B4-BE49-F238E27FC236}">
                    <a16:creationId xmlns:a16="http://schemas.microsoft.com/office/drawing/2014/main" id="{B1BE305A-9363-C7ED-2098-4DED5404DE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818" y="1173"/>
                <a:ext cx="2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" name="Line 62">
                <a:extLst>
                  <a:ext uri="{FF2B5EF4-FFF2-40B4-BE49-F238E27FC236}">
                    <a16:creationId xmlns:a16="http://schemas.microsoft.com/office/drawing/2014/main" id="{20A83EAC-826A-422E-19A8-7EDEBDEDD3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4375" y="1116"/>
                <a:ext cx="318" cy="7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73" name="Group 63">
                <a:extLst>
                  <a:ext uri="{FF2B5EF4-FFF2-40B4-BE49-F238E27FC236}">
                    <a16:creationId xmlns:a16="http://schemas.microsoft.com/office/drawing/2014/main" id="{002DDBF8-9CB0-3945-552D-C1247886AB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2" y="867"/>
                <a:ext cx="363" cy="385"/>
                <a:chOff x="4173" y="2976"/>
                <a:chExt cx="431" cy="431"/>
              </a:xfrm>
            </p:grpSpPr>
            <p:grpSp>
              <p:nvGrpSpPr>
                <p:cNvPr id="97" name="Group 64">
                  <a:extLst>
                    <a:ext uri="{FF2B5EF4-FFF2-40B4-BE49-F238E27FC236}">
                      <a16:creationId xmlns:a16="http://schemas.microsoft.com/office/drawing/2014/main" id="{5DBE306F-0373-6A56-5BCA-C2784051B7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73" y="2976"/>
                  <a:ext cx="431" cy="431"/>
                  <a:chOff x="4445" y="2999"/>
                  <a:chExt cx="295" cy="318"/>
                </a:xfrm>
              </p:grpSpPr>
              <p:sp>
                <p:nvSpPr>
                  <p:cNvPr id="99" name="Arc 65">
                    <a:extLst>
                      <a:ext uri="{FF2B5EF4-FFF2-40B4-BE49-F238E27FC236}">
                        <a16:creationId xmlns:a16="http://schemas.microsoft.com/office/drawing/2014/main" id="{161CF798-5C15-E175-E9A3-1DCC6480825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445" y="2999"/>
                    <a:ext cx="295" cy="159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" name="Arc 66">
                    <a:extLst>
                      <a:ext uri="{FF2B5EF4-FFF2-40B4-BE49-F238E27FC236}">
                        <a16:creationId xmlns:a16="http://schemas.microsoft.com/office/drawing/2014/main" id="{4714C0FC-2BC0-624B-61F8-D3C4E7F0B03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10800000" flipH="1">
                    <a:off x="4445" y="3158"/>
                    <a:ext cx="295" cy="159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98" name="Arc 67">
                  <a:extLst>
                    <a:ext uri="{FF2B5EF4-FFF2-40B4-BE49-F238E27FC236}">
                      <a16:creationId xmlns:a16="http://schemas.microsoft.com/office/drawing/2014/main" id="{C928AF38-2EA9-C581-0516-3AEB1058BD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73" y="2976"/>
                  <a:ext cx="90" cy="430"/>
                </a:xfrm>
                <a:custGeom>
                  <a:avLst/>
                  <a:gdLst>
                    <a:gd name="T0" fmla="*/ 0 w 21838"/>
                    <a:gd name="T1" fmla="*/ 0 h 43200"/>
                    <a:gd name="T2" fmla="*/ 0 w 21838"/>
                    <a:gd name="T3" fmla="*/ 0 h 43200"/>
                    <a:gd name="T4" fmla="*/ 0 w 21838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838"/>
                    <a:gd name="T10" fmla="*/ 0 h 43200"/>
                    <a:gd name="T11" fmla="*/ 21838 w 21838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838" h="43200" fill="none" extrusionOk="0">
                      <a:moveTo>
                        <a:pt x="237" y="0"/>
                      </a:moveTo>
                      <a:cubicBezTo>
                        <a:pt x="12167" y="0"/>
                        <a:pt x="21838" y="9670"/>
                        <a:pt x="21838" y="21600"/>
                      </a:cubicBezTo>
                      <a:cubicBezTo>
                        <a:pt x="21838" y="33529"/>
                        <a:pt x="12167" y="43200"/>
                        <a:pt x="238" y="43200"/>
                      </a:cubicBezTo>
                      <a:cubicBezTo>
                        <a:pt x="158" y="43200"/>
                        <a:pt x="79" y="43199"/>
                        <a:pt x="0" y="43198"/>
                      </a:cubicBezTo>
                    </a:path>
                    <a:path w="21838" h="43200" stroke="0" extrusionOk="0">
                      <a:moveTo>
                        <a:pt x="237" y="0"/>
                      </a:moveTo>
                      <a:cubicBezTo>
                        <a:pt x="12167" y="0"/>
                        <a:pt x="21838" y="9670"/>
                        <a:pt x="21838" y="21600"/>
                      </a:cubicBezTo>
                      <a:cubicBezTo>
                        <a:pt x="21838" y="33529"/>
                        <a:pt x="12167" y="43200"/>
                        <a:pt x="238" y="43200"/>
                      </a:cubicBezTo>
                      <a:cubicBezTo>
                        <a:pt x="158" y="43200"/>
                        <a:pt x="79" y="43199"/>
                        <a:pt x="0" y="43198"/>
                      </a:cubicBezTo>
                      <a:lnTo>
                        <a:pt x="238" y="21600"/>
                      </a:lnTo>
                      <a:lnTo>
                        <a:pt x="237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4" name="Line 68">
                <a:extLst>
                  <a:ext uri="{FF2B5EF4-FFF2-40B4-BE49-F238E27FC236}">
                    <a16:creationId xmlns:a16="http://schemas.microsoft.com/office/drawing/2014/main" id="{5EF60A16-2287-C0C6-6EDD-606B98EF1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1" y="971"/>
                <a:ext cx="3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" name="Line 69">
                <a:extLst>
                  <a:ext uri="{FF2B5EF4-FFF2-40B4-BE49-F238E27FC236}">
                    <a16:creationId xmlns:a16="http://schemas.microsoft.com/office/drawing/2014/main" id="{009D5892-7585-7EC7-3C16-85F5B567CA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50" y="1162"/>
                <a:ext cx="25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" name="Oval 70">
                <a:extLst>
                  <a:ext uri="{FF2B5EF4-FFF2-40B4-BE49-F238E27FC236}">
                    <a16:creationId xmlns:a16="http://schemas.microsoft.com/office/drawing/2014/main" id="{6179CB30-B924-4989-0429-C269BA3D4C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3" y="1026"/>
                <a:ext cx="82" cy="8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77" name="Line 71">
                <a:extLst>
                  <a:ext uri="{FF2B5EF4-FFF2-40B4-BE49-F238E27FC236}">
                    <a16:creationId xmlns:a16="http://schemas.microsoft.com/office/drawing/2014/main" id="{B5A48D6F-7993-9844-EA63-10051C01B6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1071"/>
                <a:ext cx="30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78" name="Group 72">
                <a:extLst>
                  <a:ext uri="{FF2B5EF4-FFF2-40B4-BE49-F238E27FC236}">
                    <a16:creationId xmlns:a16="http://schemas.microsoft.com/office/drawing/2014/main" id="{6BCED311-61A0-67A9-FD8B-220756E5EE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2" y="1661"/>
                <a:ext cx="363" cy="385"/>
                <a:chOff x="4173" y="2976"/>
                <a:chExt cx="431" cy="431"/>
              </a:xfrm>
            </p:grpSpPr>
            <p:grpSp>
              <p:nvGrpSpPr>
                <p:cNvPr id="93" name="Group 73">
                  <a:extLst>
                    <a:ext uri="{FF2B5EF4-FFF2-40B4-BE49-F238E27FC236}">
                      <a16:creationId xmlns:a16="http://schemas.microsoft.com/office/drawing/2014/main" id="{8953ABF7-2642-7BA8-6D6A-1502C7481C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73" y="2976"/>
                  <a:ext cx="431" cy="431"/>
                  <a:chOff x="4445" y="2999"/>
                  <a:chExt cx="295" cy="318"/>
                </a:xfrm>
              </p:grpSpPr>
              <p:sp>
                <p:nvSpPr>
                  <p:cNvPr id="95" name="Arc 74">
                    <a:extLst>
                      <a:ext uri="{FF2B5EF4-FFF2-40B4-BE49-F238E27FC236}">
                        <a16:creationId xmlns:a16="http://schemas.microsoft.com/office/drawing/2014/main" id="{9E76F963-2BB6-6FFA-81A8-A00EE877B3E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445" y="2999"/>
                    <a:ext cx="295" cy="159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6" name="Arc 75">
                    <a:extLst>
                      <a:ext uri="{FF2B5EF4-FFF2-40B4-BE49-F238E27FC236}">
                        <a16:creationId xmlns:a16="http://schemas.microsoft.com/office/drawing/2014/main" id="{816F82A6-CE89-E707-A806-3EE6B13C904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10800000" flipH="1">
                    <a:off x="4445" y="3158"/>
                    <a:ext cx="295" cy="159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94" name="Arc 76">
                  <a:extLst>
                    <a:ext uri="{FF2B5EF4-FFF2-40B4-BE49-F238E27FC236}">
                      <a16:creationId xmlns:a16="http://schemas.microsoft.com/office/drawing/2014/main" id="{8FCB409F-F34A-E571-FA10-21D875ABF9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73" y="2976"/>
                  <a:ext cx="90" cy="430"/>
                </a:xfrm>
                <a:custGeom>
                  <a:avLst/>
                  <a:gdLst>
                    <a:gd name="T0" fmla="*/ 0 w 21838"/>
                    <a:gd name="T1" fmla="*/ 0 h 43200"/>
                    <a:gd name="T2" fmla="*/ 0 w 21838"/>
                    <a:gd name="T3" fmla="*/ 0 h 43200"/>
                    <a:gd name="T4" fmla="*/ 0 w 21838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838"/>
                    <a:gd name="T10" fmla="*/ 0 h 43200"/>
                    <a:gd name="T11" fmla="*/ 21838 w 21838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838" h="43200" fill="none" extrusionOk="0">
                      <a:moveTo>
                        <a:pt x="237" y="0"/>
                      </a:moveTo>
                      <a:cubicBezTo>
                        <a:pt x="12167" y="0"/>
                        <a:pt x="21838" y="9670"/>
                        <a:pt x="21838" y="21600"/>
                      </a:cubicBezTo>
                      <a:cubicBezTo>
                        <a:pt x="21838" y="33529"/>
                        <a:pt x="12167" y="43200"/>
                        <a:pt x="238" y="43200"/>
                      </a:cubicBezTo>
                      <a:cubicBezTo>
                        <a:pt x="158" y="43200"/>
                        <a:pt x="79" y="43199"/>
                        <a:pt x="0" y="43198"/>
                      </a:cubicBezTo>
                    </a:path>
                    <a:path w="21838" h="43200" stroke="0" extrusionOk="0">
                      <a:moveTo>
                        <a:pt x="237" y="0"/>
                      </a:moveTo>
                      <a:cubicBezTo>
                        <a:pt x="12167" y="0"/>
                        <a:pt x="21838" y="9670"/>
                        <a:pt x="21838" y="21600"/>
                      </a:cubicBezTo>
                      <a:cubicBezTo>
                        <a:pt x="21838" y="33529"/>
                        <a:pt x="12167" y="43200"/>
                        <a:pt x="238" y="43200"/>
                      </a:cubicBezTo>
                      <a:cubicBezTo>
                        <a:pt x="158" y="43200"/>
                        <a:pt x="79" y="43199"/>
                        <a:pt x="0" y="43198"/>
                      </a:cubicBezTo>
                      <a:lnTo>
                        <a:pt x="238" y="21600"/>
                      </a:lnTo>
                      <a:lnTo>
                        <a:pt x="237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9" name="Line 77">
                <a:extLst>
                  <a:ext uri="{FF2B5EF4-FFF2-40B4-BE49-F238E27FC236}">
                    <a16:creationId xmlns:a16="http://schemas.microsoft.com/office/drawing/2014/main" id="{5FD893F3-2688-0C3E-AC01-2D63170614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50" y="1765"/>
                <a:ext cx="25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" name="Line 78">
                <a:extLst>
                  <a:ext uri="{FF2B5EF4-FFF2-40B4-BE49-F238E27FC236}">
                    <a16:creationId xmlns:a16="http://schemas.microsoft.com/office/drawing/2014/main" id="{2B89E11A-F00A-35AD-BA05-A67417BED4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1" y="1956"/>
                <a:ext cx="3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" name="Oval 79">
                <a:extLst>
                  <a:ext uri="{FF2B5EF4-FFF2-40B4-BE49-F238E27FC236}">
                    <a16:creationId xmlns:a16="http://schemas.microsoft.com/office/drawing/2014/main" id="{BF57C56F-80D3-B804-23D9-8A8480B22A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3" y="1820"/>
                <a:ext cx="82" cy="8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82" name="Line 80">
                <a:extLst>
                  <a:ext uri="{FF2B5EF4-FFF2-40B4-BE49-F238E27FC236}">
                    <a16:creationId xmlns:a16="http://schemas.microsoft.com/office/drawing/2014/main" id="{4267C50D-DC38-F43A-0997-528999ED9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1865"/>
                <a:ext cx="30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" name="Line 81">
                <a:extLst>
                  <a:ext uri="{FF2B5EF4-FFF2-40B4-BE49-F238E27FC236}">
                    <a16:creationId xmlns:a16="http://schemas.microsoft.com/office/drawing/2014/main" id="{4D1CEA2C-9609-A14D-DCF6-488B0FD79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818" y="1763"/>
                <a:ext cx="2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" name="Line 82">
                <a:extLst>
                  <a:ext uri="{FF2B5EF4-FFF2-40B4-BE49-F238E27FC236}">
                    <a16:creationId xmlns:a16="http://schemas.microsoft.com/office/drawing/2014/main" id="{58829234-DD47-3164-CB71-28744D120B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057" y="1253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" name="Line 83">
                <a:extLst>
                  <a:ext uri="{FF2B5EF4-FFF2-40B4-BE49-F238E27FC236}">
                    <a16:creationId xmlns:a16="http://schemas.microsoft.com/office/drawing/2014/main" id="{6EC93019-96B6-E84A-416B-4C019200E8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375" y="1048"/>
                <a:ext cx="318" cy="7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" name="Line 84">
                <a:extLst>
                  <a:ext uri="{FF2B5EF4-FFF2-40B4-BE49-F238E27FC236}">
                    <a16:creationId xmlns:a16="http://schemas.microsoft.com/office/drawing/2014/main" id="{3553B67D-4D0E-745E-D42A-053E93A01E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057" y="1684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" name="Text Box 85">
                <a:extLst>
                  <a:ext uri="{FF2B5EF4-FFF2-40B4-BE49-F238E27FC236}">
                    <a16:creationId xmlns:a16="http://schemas.microsoft.com/office/drawing/2014/main" id="{8646F876-410F-77E4-26FD-3F0B7DC2F3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4" y="889"/>
                <a:ext cx="172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R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88" name="Text Box 86">
                <a:extLst>
                  <a:ext uri="{FF2B5EF4-FFF2-40B4-BE49-F238E27FC236}">
                    <a16:creationId xmlns:a16="http://schemas.microsoft.com/office/drawing/2014/main" id="{73AC01FB-5B2C-E6F3-6377-2C9DEADE38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4" y="1872"/>
                <a:ext cx="172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S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grpSp>
            <p:nvGrpSpPr>
              <p:cNvPr id="89" name="Group 87">
                <a:extLst>
                  <a:ext uri="{FF2B5EF4-FFF2-40B4-BE49-F238E27FC236}">
                    <a16:creationId xmlns:a16="http://schemas.microsoft.com/office/drawing/2014/main" id="{75A23894-A7D4-8CFE-9AE8-782403A0C8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5125" y="1791"/>
                <a:ext cx="208" cy="171"/>
                <a:chOff x="4682" y="3884"/>
                <a:chExt cx="208" cy="171"/>
              </a:xfrm>
            </p:grpSpPr>
            <p:sp>
              <p:nvSpPr>
                <p:cNvPr id="91" name="Text Box 88">
                  <a:extLst>
                    <a:ext uri="{FF2B5EF4-FFF2-40B4-BE49-F238E27FC236}">
                      <a16:creationId xmlns:a16="http://schemas.microsoft.com/office/drawing/2014/main" id="{35709935-3B69-3F92-2E5B-7C01E368F6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rot="5400000">
                  <a:off x="4700" y="3866"/>
                  <a:ext cx="171" cy="2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kumimoji="1" lang="en-US" altLang="zh-CN" sz="2400">
                      <a:ea typeface="楷体_GB2312" pitchFamily="49" charset="-122"/>
                    </a:rPr>
                    <a:t>Q</a:t>
                  </a:r>
                  <a:endParaRPr kumimoji="1" lang="en-US" altLang="zh-CN" sz="2400" baseline="-25000">
                    <a:ea typeface="楷体_GB2312" pitchFamily="49" charset="-122"/>
                  </a:endParaRPr>
                </a:p>
              </p:txBody>
            </p:sp>
            <p:sp>
              <p:nvSpPr>
                <p:cNvPr id="92" name="Line 89">
                  <a:extLst>
                    <a:ext uri="{FF2B5EF4-FFF2-40B4-BE49-F238E27FC236}">
                      <a16:creationId xmlns:a16="http://schemas.microsoft.com/office/drawing/2014/main" id="{6C9C5D30-CB32-CD53-7E54-A731AED257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4810" y="3964"/>
                  <a:ext cx="1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0" name="Text Box 90">
                <a:extLst>
                  <a:ext uri="{FF2B5EF4-FFF2-40B4-BE49-F238E27FC236}">
                    <a16:creationId xmlns:a16="http://schemas.microsoft.com/office/drawing/2014/main" id="{0BF83949-988F-523D-38F9-BF665DE257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43" y="1002"/>
                <a:ext cx="171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</p:grpSp>
        <p:sp>
          <p:nvSpPr>
            <p:cNvPr id="63" name="Text Box 91">
              <a:extLst>
                <a:ext uri="{FF2B5EF4-FFF2-40B4-BE49-F238E27FC236}">
                  <a16:creationId xmlns:a16="http://schemas.microsoft.com/office/drawing/2014/main" id="{E4B61B16-9281-3B62-7D16-BC56AADB1E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4" y="197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64" name="Text Box 92">
              <a:extLst>
                <a:ext uri="{FF2B5EF4-FFF2-40B4-BE49-F238E27FC236}">
                  <a16:creationId xmlns:a16="http://schemas.microsoft.com/office/drawing/2014/main" id="{EDF04CFE-DD8A-754B-5FC6-23B726DE0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0" y="207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65" name="Text Box 93">
              <a:extLst>
                <a:ext uri="{FF2B5EF4-FFF2-40B4-BE49-F238E27FC236}">
                  <a16:creationId xmlns:a16="http://schemas.microsoft.com/office/drawing/2014/main" id="{22C2A38E-C53C-97DF-AEAE-7ED3704FC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1" y="286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66" name="Text Box 94">
              <a:extLst>
                <a:ext uri="{FF2B5EF4-FFF2-40B4-BE49-F238E27FC236}">
                  <a16:creationId xmlns:a16="http://schemas.microsoft.com/office/drawing/2014/main" id="{88E0DDDD-3B77-7F1A-97E1-819890DB49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4" y="331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67" name="Text Box 95">
              <a:extLst>
                <a:ext uri="{FF2B5EF4-FFF2-40B4-BE49-F238E27FC236}">
                  <a16:creationId xmlns:a16="http://schemas.microsoft.com/office/drawing/2014/main" id="{7E45D9F2-C10C-A8AC-9C7D-7FFF241AB5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3" y="322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0</a:t>
              </a:r>
            </a:p>
          </p:txBody>
        </p:sp>
        <p:sp>
          <p:nvSpPr>
            <p:cNvPr id="68" name="Text Box 96">
              <a:extLst>
                <a:ext uri="{FF2B5EF4-FFF2-40B4-BE49-F238E27FC236}">
                  <a16:creationId xmlns:a16="http://schemas.microsoft.com/office/drawing/2014/main" id="{DF72EC3A-1997-51B7-8D2A-61B5279BF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1" y="242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0</a:t>
              </a:r>
            </a:p>
          </p:txBody>
        </p:sp>
        <p:sp>
          <p:nvSpPr>
            <p:cNvPr id="69" name="Rectangle 97">
              <a:extLst>
                <a:ext uri="{FF2B5EF4-FFF2-40B4-BE49-F238E27FC236}">
                  <a16:creationId xmlns:a16="http://schemas.microsoft.com/office/drawing/2014/main" id="{489CB5E7-D228-08A8-AB55-8B020D7F7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3645"/>
              <a:ext cx="8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Q</a:t>
              </a:r>
              <a:r>
                <a:rPr lang="en-US" altLang="zh-CN" b="0" baseline="30000"/>
                <a:t>n</a:t>
              </a:r>
              <a:r>
                <a:rPr lang="en-US" altLang="zh-CN" b="0"/>
                <a:t> =1</a:t>
              </a:r>
              <a:r>
                <a:rPr lang="zh-CN" altLang="en-US" b="0"/>
                <a:t>，</a:t>
              </a:r>
            </a:p>
          </p:txBody>
        </p:sp>
        <p:sp>
          <p:nvSpPr>
            <p:cNvPr id="70" name="Rectangle 98">
              <a:extLst>
                <a:ext uri="{FF2B5EF4-FFF2-40B4-BE49-F238E27FC236}">
                  <a16:creationId xmlns:a16="http://schemas.microsoft.com/office/drawing/2014/main" id="{71200B9E-6F1E-CF2E-1CB1-B69CACB73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3647"/>
              <a:ext cx="81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Q</a:t>
              </a:r>
              <a:r>
                <a:rPr lang="en-US" altLang="zh-CN" b="0" baseline="30000"/>
                <a:t>n+1</a:t>
              </a:r>
              <a:r>
                <a:rPr lang="en-US" altLang="zh-CN" b="0"/>
                <a:t> =1</a:t>
              </a:r>
              <a:endParaRPr lang="zh-CN" altLang="en-US" b="0"/>
            </a:p>
          </p:txBody>
        </p:sp>
      </p:grpSp>
    </p:spTree>
    <p:extLst>
      <p:ext uri="{BB962C8B-B14F-4D97-AF65-F5344CB8AC3E}">
        <p14:creationId xmlns:p14="http://schemas.microsoft.com/office/powerpoint/2010/main" val="465958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834B7E-8683-5BD9-81A7-41B724D74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基本</a:t>
            </a:r>
            <a:r>
              <a:rPr lang="en-US" altLang="zh-CN" dirty="0"/>
              <a:t>SR</a:t>
            </a:r>
            <a:r>
              <a:rPr lang="zh-CN" altLang="en-US" dirty="0"/>
              <a:t>锁存器工作原理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1)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C0EB15-FB48-7AB3-220F-003A9C447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0CFF8B-6D6E-D786-D4C0-868F0C06C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8</a:t>
            </a:fld>
            <a:r>
              <a:rPr lang="en-US" altLang="zh-CN" dirty="0"/>
              <a:t>/22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C91717C-7ED7-BCBB-1ECF-04C5AD35C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257667"/>
            <a:ext cx="32019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/>
              <a:t>当</a:t>
            </a:r>
            <a:r>
              <a:rPr lang="en-US" altLang="zh-CN"/>
              <a:t>R=1</a:t>
            </a:r>
            <a:r>
              <a:rPr lang="zh-CN" altLang="en-US"/>
              <a:t>，</a:t>
            </a:r>
            <a:r>
              <a:rPr lang="en-US" altLang="zh-CN"/>
              <a:t>S=0</a:t>
            </a:r>
            <a:r>
              <a:rPr lang="zh-CN" altLang="en-US"/>
              <a:t>时</a:t>
            </a:r>
            <a:endParaRPr lang="en-US" altLang="zh-CN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5CDCA94A-0A66-AADD-D5DE-6FA111B9F3D7}"/>
              </a:ext>
            </a:extLst>
          </p:cNvPr>
          <p:cNvGrpSpPr>
            <a:grpSpLocks/>
          </p:cNvGrpSpPr>
          <p:nvPr/>
        </p:nvGrpSpPr>
        <p:grpSpPr bwMode="auto">
          <a:xfrm>
            <a:off x="4530725" y="2816592"/>
            <a:ext cx="2397125" cy="1924050"/>
            <a:chOff x="3804" y="867"/>
            <a:chExt cx="1510" cy="1212"/>
          </a:xfrm>
        </p:grpSpPr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2C7E5F1F-561D-35A3-7AB4-8090A2C536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818" y="1173"/>
              <a:ext cx="2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017EB382-F50E-074E-E859-2591D4EC88E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375" y="1116"/>
              <a:ext cx="318" cy="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" name="Group 7">
              <a:extLst>
                <a:ext uri="{FF2B5EF4-FFF2-40B4-BE49-F238E27FC236}">
                  <a16:creationId xmlns:a16="http://schemas.microsoft.com/office/drawing/2014/main" id="{10A2F17C-5459-681A-A43C-0F7E47C424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867"/>
              <a:ext cx="363" cy="385"/>
              <a:chOff x="4173" y="2976"/>
              <a:chExt cx="431" cy="431"/>
            </a:xfrm>
          </p:grpSpPr>
          <p:grpSp>
            <p:nvGrpSpPr>
              <p:cNvPr id="34" name="Group 8">
                <a:extLst>
                  <a:ext uri="{FF2B5EF4-FFF2-40B4-BE49-F238E27FC236}">
                    <a16:creationId xmlns:a16="http://schemas.microsoft.com/office/drawing/2014/main" id="{F3723B27-CDC8-139D-0309-28A586E8C0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3" y="2976"/>
                <a:ext cx="431" cy="431"/>
                <a:chOff x="4445" y="2999"/>
                <a:chExt cx="295" cy="318"/>
              </a:xfrm>
            </p:grpSpPr>
            <p:sp>
              <p:nvSpPr>
                <p:cNvPr id="36" name="Arc 9">
                  <a:extLst>
                    <a:ext uri="{FF2B5EF4-FFF2-40B4-BE49-F238E27FC236}">
                      <a16:creationId xmlns:a16="http://schemas.microsoft.com/office/drawing/2014/main" id="{68C39E0F-7EA0-6796-572D-C0A6A3406C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5" y="2999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Arc 10">
                  <a:extLst>
                    <a:ext uri="{FF2B5EF4-FFF2-40B4-BE49-F238E27FC236}">
                      <a16:creationId xmlns:a16="http://schemas.microsoft.com/office/drawing/2014/main" id="{8F6B876E-0AC9-7103-97A6-C2310FC283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 flipH="1">
                  <a:off x="4445" y="3158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5" name="Arc 11">
                <a:extLst>
                  <a:ext uri="{FF2B5EF4-FFF2-40B4-BE49-F238E27FC236}">
                    <a16:creationId xmlns:a16="http://schemas.microsoft.com/office/drawing/2014/main" id="{6F627303-FEC3-545C-2567-9867B92800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2976"/>
                <a:ext cx="90" cy="430"/>
              </a:xfrm>
              <a:custGeom>
                <a:avLst/>
                <a:gdLst>
                  <a:gd name="T0" fmla="*/ 0 w 21838"/>
                  <a:gd name="T1" fmla="*/ 0 h 43200"/>
                  <a:gd name="T2" fmla="*/ 0 w 21838"/>
                  <a:gd name="T3" fmla="*/ 0 h 43200"/>
                  <a:gd name="T4" fmla="*/ 0 w 21838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838"/>
                  <a:gd name="T10" fmla="*/ 0 h 43200"/>
                  <a:gd name="T11" fmla="*/ 21838 w 21838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38" h="43200" fill="none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</a:path>
                  <a:path w="21838" h="43200" stroke="0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  <a:lnTo>
                      <a:pt x="238" y="21600"/>
                    </a:lnTo>
                    <a:lnTo>
                      <a:pt x="237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5B954961-39B6-994C-CE33-352BADAD99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971"/>
              <a:ext cx="3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7D114D04-D778-9E0D-B9A2-A8E855BD7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1162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14">
              <a:extLst>
                <a:ext uri="{FF2B5EF4-FFF2-40B4-BE49-F238E27FC236}">
                  <a16:creationId xmlns:a16="http://schemas.microsoft.com/office/drawing/2014/main" id="{31B8587A-A514-8614-E409-CFEE2ABC1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" y="1026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00A87B66-E5A2-A4E7-C811-683098D56A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071"/>
              <a:ext cx="3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" name="Group 16">
              <a:extLst>
                <a:ext uri="{FF2B5EF4-FFF2-40B4-BE49-F238E27FC236}">
                  <a16:creationId xmlns:a16="http://schemas.microsoft.com/office/drawing/2014/main" id="{99D99D23-1AB6-4EA1-BACE-D1751702D0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1661"/>
              <a:ext cx="363" cy="385"/>
              <a:chOff x="4173" y="2976"/>
              <a:chExt cx="431" cy="431"/>
            </a:xfrm>
          </p:grpSpPr>
          <p:grpSp>
            <p:nvGrpSpPr>
              <p:cNvPr id="30" name="Group 17">
                <a:extLst>
                  <a:ext uri="{FF2B5EF4-FFF2-40B4-BE49-F238E27FC236}">
                    <a16:creationId xmlns:a16="http://schemas.microsoft.com/office/drawing/2014/main" id="{3EAF3DB2-BB0C-216F-2ECB-4C6E49F54E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3" y="2976"/>
                <a:ext cx="431" cy="431"/>
                <a:chOff x="4445" y="2999"/>
                <a:chExt cx="295" cy="318"/>
              </a:xfrm>
            </p:grpSpPr>
            <p:sp>
              <p:nvSpPr>
                <p:cNvPr id="32" name="Arc 18">
                  <a:extLst>
                    <a:ext uri="{FF2B5EF4-FFF2-40B4-BE49-F238E27FC236}">
                      <a16:creationId xmlns:a16="http://schemas.microsoft.com/office/drawing/2014/main" id="{B48CB51E-46B2-5034-6D6F-31441367E1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5" y="2999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" name="Arc 19">
                  <a:extLst>
                    <a:ext uri="{FF2B5EF4-FFF2-40B4-BE49-F238E27FC236}">
                      <a16:creationId xmlns:a16="http://schemas.microsoft.com/office/drawing/2014/main" id="{C752DBCE-A55D-054F-65EB-F16E61EB59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 flipH="1">
                  <a:off x="4445" y="3158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1" name="Arc 20">
                <a:extLst>
                  <a:ext uri="{FF2B5EF4-FFF2-40B4-BE49-F238E27FC236}">
                    <a16:creationId xmlns:a16="http://schemas.microsoft.com/office/drawing/2014/main" id="{24F53348-A8F3-31DA-D157-84E04DB911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2976"/>
                <a:ext cx="90" cy="430"/>
              </a:xfrm>
              <a:custGeom>
                <a:avLst/>
                <a:gdLst>
                  <a:gd name="T0" fmla="*/ 0 w 21838"/>
                  <a:gd name="T1" fmla="*/ 0 h 43200"/>
                  <a:gd name="T2" fmla="*/ 0 w 21838"/>
                  <a:gd name="T3" fmla="*/ 0 h 43200"/>
                  <a:gd name="T4" fmla="*/ 0 w 21838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838"/>
                  <a:gd name="T10" fmla="*/ 0 h 43200"/>
                  <a:gd name="T11" fmla="*/ 21838 w 21838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38" h="43200" fill="none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</a:path>
                  <a:path w="21838" h="43200" stroke="0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  <a:lnTo>
                      <a:pt x="238" y="21600"/>
                    </a:lnTo>
                    <a:lnTo>
                      <a:pt x="237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6" name="Line 21">
              <a:extLst>
                <a:ext uri="{FF2B5EF4-FFF2-40B4-BE49-F238E27FC236}">
                  <a16:creationId xmlns:a16="http://schemas.microsoft.com/office/drawing/2014/main" id="{327A5FBB-0605-FE41-89A8-78F703452A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1765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22">
              <a:extLst>
                <a:ext uri="{FF2B5EF4-FFF2-40B4-BE49-F238E27FC236}">
                  <a16:creationId xmlns:a16="http://schemas.microsoft.com/office/drawing/2014/main" id="{A37AE4BA-6229-8179-C65E-C98598F0DE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956"/>
              <a:ext cx="3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7C5A8D48-4536-43E4-947F-C85A1BB23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" y="1820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9" name="Line 24">
              <a:extLst>
                <a:ext uri="{FF2B5EF4-FFF2-40B4-BE49-F238E27FC236}">
                  <a16:creationId xmlns:a16="http://schemas.microsoft.com/office/drawing/2014/main" id="{B99097A6-0FD9-C64D-E752-61B4F7EFC2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865"/>
              <a:ext cx="3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25">
              <a:extLst>
                <a:ext uri="{FF2B5EF4-FFF2-40B4-BE49-F238E27FC236}">
                  <a16:creationId xmlns:a16="http://schemas.microsoft.com/office/drawing/2014/main" id="{E2A76D81-E69C-CFF8-270C-BCD868BC2AD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818" y="1763"/>
              <a:ext cx="2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26">
              <a:extLst>
                <a:ext uri="{FF2B5EF4-FFF2-40B4-BE49-F238E27FC236}">
                  <a16:creationId xmlns:a16="http://schemas.microsoft.com/office/drawing/2014/main" id="{642FAB55-9E20-5078-6BCE-CAE77C15D3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57" y="1253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7">
              <a:extLst>
                <a:ext uri="{FF2B5EF4-FFF2-40B4-BE49-F238E27FC236}">
                  <a16:creationId xmlns:a16="http://schemas.microsoft.com/office/drawing/2014/main" id="{EE93C75A-1361-C8B7-399E-0784DB295AA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375" y="1048"/>
              <a:ext cx="318" cy="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8">
              <a:extLst>
                <a:ext uri="{FF2B5EF4-FFF2-40B4-BE49-F238E27FC236}">
                  <a16:creationId xmlns:a16="http://schemas.microsoft.com/office/drawing/2014/main" id="{0D6B770D-AA47-BF72-8D9D-A26069E9C34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57" y="168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Text Box 29">
              <a:extLst>
                <a:ext uri="{FF2B5EF4-FFF2-40B4-BE49-F238E27FC236}">
                  <a16:creationId xmlns:a16="http://schemas.microsoft.com/office/drawing/2014/main" id="{128E7F48-967D-2F5C-B9A0-77D496BF1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4" y="889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25" name="Text Box 30">
              <a:extLst>
                <a:ext uri="{FF2B5EF4-FFF2-40B4-BE49-F238E27FC236}">
                  <a16:creationId xmlns:a16="http://schemas.microsoft.com/office/drawing/2014/main" id="{801BC461-78DA-18B2-0712-4E0C3280E6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4" y="1872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grpSp>
          <p:nvGrpSpPr>
            <p:cNvPr id="26" name="Group 31">
              <a:extLst>
                <a:ext uri="{FF2B5EF4-FFF2-40B4-BE49-F238E27FC236}">
                  <a16:creationId xmlns:a16="http://schemas.microsoft.com/office/drawing/2014/main" id="{FD92FD5D-81D3-C16D-C2C4-DEE7A7B6AFCE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5125" y="1791"/>
              <a:ext cx="208" cy="171"/>
              <a:chOff x="4682" y="3884"/>
              <a:chExt cx="208" cy="171"/>
            </a:xfrm>
          </p:grpSpPr>
          <p:sp>
            <p:nvSpPr>
              <p:cNvPr id="28" name="Text Box 32">
                <a:extLst>
                  <a:ext uri="{FF2B5EF4-FFF2-40B4-BE49-F238E27FC236}">
                    <a16:creationId xmlns:a16="http://schemas.microsoft.com/office/drawing/2014/main" id="{941248B4-0471-E3FF-E077-839CE47A3F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4700" y="3866"/>
                <a:ext cx="171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29" name="Line 33">
                <a:extLst>
                  <a:ext uri="{FF2B5EF4-FFF2-40B4-BE49-F238E27FC236}">
                    <a16:creationId xmlns:a16="http://schemas.microsoft.com/office/drawing/2014/main" id="{12BBD58C-E27F-923D-09F2-A40190C980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810" y="3964"/>
                <a:ext cx="15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" name="Text Box 34">
              <a:extLst>
                <a:ext uri="{FF2B5EF4-FFF2-40B4-BE49-F238E27FC236}">
                  <a16:creationId xmlns:a16="http://schemas.microsoft.com/office/drawing/2014/main" id="{13B879AE-B0C6-EE16-FB18-273C5E2D8E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3" y="1002"/>
              <a:ext cx="171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</p:grpSp>
      <p:sp>
        <p:nvSpPr>
          <p:cNvPr id="38" name="Rectangle 35">
            <a:extLst>
              <a:ext uri="{FF2B5EF4-FFF2-40B4-BE49-F238E27FC236}">
                <a16:creationId xmlns:a16="http://schemas.microsoft.com/office/drawing/2014/main" id="{60384A69-E737-C530-9901-768C1A9F0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7025" y="1257667"/>
            <a:ext cx="3201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/>
              <a:t>当</a:t>
            </a:r>
            <a:r>
              <a:rPr lang="en-US" altLang="zh-CN"/>
              <a:t>R=0</a:t>
            </a:r>
            <a:r>
              <a:rPr lang="zh-CN" altLang="en-US"/>
              <a:t>，</a:t>
            </a:r>
            <a:r>
              <a:rPr lang="en-US" altLang="zh-CN"/>
              <a:t>S=1</a:t>
            </a:r>
            <a:r>
              <a:rPr lang="zh-CN" altLang="en-US"/>
              <a:t>时</a:t>
            </a:r>
            <a:endParaRPr lang="en-US" altLang="zh-CN"/>
          </a:p>
        </p:txBody>
      </p:sp>
      <p:sp>
        <p:nvSpPr>
          <p:cNvPr id="39" name="Text Box 36">
            <a:extLst>
              <a:ext uri="{FF2B5EF4-FFF2-40B4-BE49-F238E27FC236}">
                <a16:creationId xmlns:a16="http://schemas.microsoft.com/office/drawing/2014/main" id="{722F8F92-E421-8BB6-EAE6-30C044556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3950" y="2459404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40" name="Text Box 37">
            <a:extLst>
              <a:ext uri="{FF2B5EF4-FFF2-40B4-BE49-F238E27FC236}">
                <a16:creationId xmlns:a16="http://schemas.microsoft.com/office/drawing/2014/main" id="{44AF3CE4-C22D-619B-1A3C-16867D77F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9350" y="2613392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1" name="Text Box 38">
            <a:extLst>
              <a:ext uri="{FF2B5EF4-FFF2-40B4-BE49-F238E27FC236}">
                <a16:creationId xmlns:a16="http://schemas.microsoft.com/office/drawing/2014/main" id="{67F78D7F-D67A-F636-6FF9-E6A6FA49A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188" y="3873867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x</a:t>
            </a:r>
          </a:p>
        </p:txBody>
      </p:sp>
      <p:sp>
        <p:nvSpPr>
          <p:cNvPr id="42" name="Text Box 39">
            <a:extLst>
              <a:ext uri="{FF2B5EF4-FFF2-40B4-BE49-F238E27FC236}">
                <a16:creationId xmlns:a16="http://schemas.microsoft.com/office/drawing/2014/main" id="{BD3A7D21-5745-494F-4FFE-D431770E0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3950" y="4583479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43" name="Text Box 40">
            <a:extLst>
              <a:ext uri="{FF2B5EF4-FFF2-40B4-BE49-F238E27FC236}">
                <a16:creationId xmlns:a16="http://schemas.microsoft.com/office/drawing/2014/main" id="{D82B791C-6DE9-D9B3-5706-EAA3E8939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5863" y="4450129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0</a:t>
            </a:r>
          </a:p>
        </p:txBody>
      </p:sp>
      <p:sp>
        <p:nvSpPr>
          <p:cNvPr id="44" name="Text Box 41">
            <a:extLst>
              <a:ext uri="{FF2B5EF4-FFF2-40B4-BE49-F238E27FC236}">
                <a16:creationId xmlns:a16="http://schemas.microsoft.com/office/drawing/2014/main" id="{B107BEE5-0A5C-40B8-249B-C3B8A5DA1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188" y="3178542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x</a:t>
            </a:r>
          </a:p>
        </p:txBody>
      </p:sp>
      <p:sp>
        <p:nvSpPr>
          <p:cNvPr id="45" name="Rectangle 42">
            <a:extLst>
              <a:ext uri="{FF2B5EF4-FFF2-40B4-BE49-F238E27FC236}">
                <a16:creationId xmlns:a16="http://schemas.microsoft.com/office/drawing/2014/main" id="{8CC585F2-D4CD-73AF-D70A-A3A901F6C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713" y="1819642"/>
            <a:ext cx="2573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/>
              <a:t>Q</a:t>
            </a:r>
            <a:r>
              <a:rPr lang="en-US" altLang="zh-CN" baseline="30000"/>
              <a:t>n+1</a:t>
            </a:r>
            <a:r>
              <a:rPr lang="en-US" altLang="zh-CN"/>
              <a:t> =0</a:t>
            </a:r>
            <a:r>
              <a:rPr lang="zh-CN" altLang="en-US"/>
              <a:t>（清</a:t>
            </a:r>
            <a:r>
              <a:rPr lang="en-US" altLang="zh-CN"/>
              <a:t>0</a:t>
            </a:r>
            <a:r>
              <a:rPr lang="zh-CN" altLang="en-US"/>
              <a:t>）</a:t>
            </a:r>
          </a:p>
        </p:txBody>
      </p:sp>
      <p:sp>
        <p:nvSpPr>
          <p:cNvPr id="46" name="Rectangle 43">
            <a:extLst>
              <a:ext uri="{FF2B5EF4-FFF2-40B4-BE49-F238E27FC236}">
                <a16:creationId xmlns:a16="http://schemas.microsoft.com/office/drawing/2014/main" id="{74E78FD6-9616-AD5A-BBBF-1D32ECC78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3263" y="1819642"/>
            <a:ext cx="2573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/>
              <a:t>Q</a:t>
            </a:r>
            <a:r>
              <a:rPr lang="en-US" altLang="zh-CN" baseline="30000"/>
              <a:t>n+1</a:t>
            </a:r>
            <a:r>
              <a:rPr lang="en-US" altLang="zh-CN"/>
              <a:t> =1</a:t>
            </a:r>
            <a:r>
              <a:rPr lang="zh-CN" altLang="en-US"/>
              <a:t>（置</a:t>
            </a:r>
            <a:r>
              <a:rPr lang="en-US" altLang="zh-CN"/>
              <a:t>1</a:t>
            </a:r>
            <a:r>
              <a:rPr lang="zh-CN" altLang="en-US"/>
              <a:t>）</a:t>
            </a:r>
          </a:p>
        </p:txBody>
      </p:sp>
      <p:grpSp>
        <p:nvGrpSpPr>
          <p:cNvPr id="47" name="Group 44">
            <a:extLst>
              <a:ext uri="{FF2B5EF4-FFF2-40B4-BE49-F238E27FC236}">
                <a16:creationId xmlns:a16="http://schemas.microsoft.com/office/drawing/2014/main" id="{16E857EE-5829-5DA8-7CCF-B78EFD1CFB35}"/>
              </a:ext>
            </a:extLst>
          </p:cNvPr>
          <p:cNvGrpSpPr>
            <a:grpSpLocks/>
          </p:cNvGrpSpPr>
          <p:nvPr/>
        </p:nvGrpSpPr>
        <p:grpSpPr bwMode="auto">
          <a:xfrm>
            <a:off x="1435100" y="2816592"/>
            <a:ext cx="2397125" cy="1924050"/>
            <a:chOff x="3804" y="867"/>
            <a:chExt cx="1510" cy="1212"/>
          </a:xfrm>
        </p:grpSpPr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5A104CAD-F104-BAAB-8836-A33DCD7A24E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818" y="1173"/>
              <a:ext cx="2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ACC39CF2-DD8E-BB52-875C-0E3306E027B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375" y="1116"/>
              <a:ext cx="318" cy="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0" name="Group 47">
              <a:extLst>
                <a:ext uri="{FF2B5EF4-FFF2-40B4-BE49-F238E27FC236}">
                  <a16:creationId xmlns:a16="http://schemas.microsoft.com/office/drawing/2014/main" id="{B69CACDB-4929-24C6-7637-3214B604A3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867"/>
              <a:ext cx="363" cy="385"/>
              <a:chOff x="4173" y="2976"/>
              <a:chExt cx="431" cy="431"/>
            </a:xfrm>
          </p:grpSpPr>
          <p:grpSp>
            <p:nvGrpSpPr>
              <p:cNvPr id="74" name="Group 48">
                <a:extLst>
                  <a:ext uri="{FF2B5EF4-FFF2-40B4-BE49-F238E27FC236}">
                    <a16:creationId xmlns:a16="http://schemas.microsoft.com/office/drawing/2014/main" id="{6F4172E7-004B-474D-D01A-DD22ADFF02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3" y="2976"/>
                <a:ext cx="431" cy="431"/>
                <a:chOff x="4445" y="2999"/>
                <a:chExt cx="295" cy="318"/>
              </a:xfrm>
            </p:grpSpPr>
            <p:sp>
              <p:nvSpPr>
                <p:cNvPr id="76" name="Arc 49">
                  <a:extLst>
                    <a:ext uri="{FF2B5EF4-FFF2-40B4-BE49-F238E27FC236}">
                      <a16:creationId xmlns:a16="http://schemas.microsoft.com/office/drawing/2014/main" id="{E0279846-2399-AA74-4D8B-19E11DF2F5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5" y="2999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" name="Arc 50">
                  <a:extLst>
                    <a:ext uri="{FF2B5EF4-FFF2-40B4-BE49-F238E27FC236}">
                      <a16:creationId xmlns:a16="http://schemas.microsoft.com/office/drawing/2014/main" id="{A737633D-6601-72E7-B4EA-1B7BE1B49C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 flipH="1">
                  <a:off x="4445" y="3158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5" name="Arc 51">
                <a:extLst>
                  <a:ext uri="{FF2B5EF4-FFF2-40B4-BE49-F238E27FC236}">
                    <a16:creationId xmlns:a16="http://schemas.microsoft.com/office/drawing/2014/main" id="{3E04E986-2BDA-2AA4-A34F-3734F155F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2976"/>
                <a:ext cx="90" cy="430"/>
              </a:xfrm>
              <a:custGeom>
                <a:avLst/>
                <a:gdLst>
                  <a:gd name="T0" fmla="*/ 0 w 21838"/>
                  <a:gd name="T1" fmla="*/ 0 h 43200"/>
                  <a:gd name="T2" fmla="*/ 0 w 21838"/>
                  <a:gd name="T3" fmla="*/ 0 h 43200"/>
                  <a:gd name="T4" fmla="*/ 0 w 21838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838"/>
                  <a:gd name="T10" fmla="*/ 0 h 43200"/>
                  <a:gd name="T11" fmla="*/ 21838 w 21838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38" h="43200" fill="none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</a:path>
                  <a:path w="21838" h="43200" stroke="0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  <a:lnTo>
                      <a:pt x="238" y="21600"/>
                    </a:lnTo>
                    <a:lnTo>
                      <a:pt x="237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1" name="Line 52">
              <a:extLst>
                <a:ext uri="{FF2B5EF4-FFF2-40B4-BE49-F238E27FC236}">
                  <a16:creationId xmlns:a16="http://schemas.microsoft.com/office/drawing/2014/main" id="{1F275EF6-79DA-E949-4FD3-65A93EE07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971"/>
              <a:ext cx="3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Line 53">
              <a:extLst>
                <a:ext uri="{FF2B5EF4-FFF2-40B4-BE49-F238E27FC236}">
                  <a16:creationId xmlns:a16="http://schemas.microsoft.com/office/drawing/2014/main" id="{49C77BC4-1E17-1643-F37E-D1F32E4B4C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1162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Oval 54">
              <a:extLst>
                <a:ext uri="{FF2B5EF4-FFF2-40B4-BE49-F238E27FC236}">
                  <a16:creationId xmlns:a16="http://schemas.microsoft.com/office/drawing/2014/main" id="{3E896A13-4F5E-3959-4C0A-C5144ECD1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" y="1026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4" name="Line 55">
              <a:extLst>
                <a:ext uri="{FF2B5EF4-FFF2-40B4-BE49-F238E27FC236}">
                  <a16:creationId xmlns:a16="http://schemas.microsoft.com/office/drawing/2014/main" id="{ABE8D9A0-11EF-B009-21BD-37C2F7E666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071"/>
              <a:ext cx="3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5" name="Group 56">
              <a:extLst>
                <a:ext uri="{FF2B5EF4-FFF2-40B4-BE49-F238E27FC236}">
                  <a16:creationId xmlns:a16="http://schemas.microsoft.com/office/drawing/2014/main" id="{7164D08A-CD1E-C00A-9D10-0AD3CAC07E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1661"/>
              <a:ext cx="363" cy="385"/>
              <a:chOff x="4173" y="2976"/>
              <a:chExt cx="431" cy="431"/>
            </a:xfrm>
          </p:grpSpPr>
          <p:grpSp>
            <p:nvGrpSpPr>
              <p:cNvPr id="70" name="Group 57">
                <a:extLst>
                  <a:ext uri="{FF2B5EF4-FFF2-40B4-BE49-F238E27FC236}">
                    <a16:creationId xmlns:a16="http://schemas.microsoft.com/office/drawing/2014/main" id="{2D37856A-EFEA-3A96-80F4-01C4BCD1B8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3" y="2976"/>
                <a:ext cx="431" cy="431"/>
                <a:chOff x="4445" y="2999"/>
                <a:chExt cx="295" cy="318"/>
              </a:xfrm>
            </p:grpSpPr>
            <p:sp>
              <p:nvSpPr>
                <p:cNvPr id="72" name="Arc 58">
                  <a:extLst>
                    <a:ext uri="{FF2B5EF4-FFF2-40B4-BE49-F238E27FC236}">
                      <a16:creationId xmlns:a16="http://schemas.microsoft.com/office/drawing/2014/main" id="{0C1F54B9-D39E-0C17-C943-8D94CE1BB1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5" y="2999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" name="Arc 59">
                  <a:extLst>
                    <a:ext uri="{FF2B5EF4-FFF2-40B4-BE49-F238E27FC236}">
                      <a16:creationId xmlns:a16="http://schemas.microsoft.com/office/drawing/2014/main" id="{26A90E44-B1B7-E6A5-D3D8-794D5AF5FC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 flipH="1">
                  <a:off x="4445" y="3158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1" name="Arc 60">
                <a:extLst>
                  <a:ext uri="{FF2B5EF4-FFF2-40B4-BE49-F238E27FC236}">
                    <a16:creationId xmlns:a16="http://schemas.microsoft.com/office/drawing/2014/main" id="{A4F0CACB-9DE9-E582-1D41-6DD59936D4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2976"/>
                <a:ext cx="90" cy="430"/>
              </a:xfrm>
              <a:custGeom>
                <a:avLst/>
                <a:gdLst>
                  <a:gd name="T0" fmla="*/ 0 w 21838"/>
                  <a:gd name="T1" fmla="*/ 0 h 43200"/>
                  <a:gd name="T2" fmla="*/ 0 w 21838"/>
                  <a:gd name="T3" fmla="*/ 0 h 43200"/>
                  <a:gd name="T4" fmla="*/ 0 w 21838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838"/>
                  <a:gd name="T10" fmla="*/ 0 h 43200"/>
                  <a:gd name="T11" fmla="*/ 21838 w 21838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38" h="43200" fill="none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</a:path>
                  <a:path w="21838" h="43200" stroke="0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  <a:lnTo>
                      <a:pt x="238" y="21600"/>
                    </a:lnTo>
                    <a:lnTo>
                      <a:pt x="237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6" name="Line 61">
              <a:extLst>
                <a:ext uri="{FF2B5EF4-FFF2-40B4-BE49-F238E27FC236}">
                  <a16:creationId xmlns:a16="http://schemas.microsoft.com/office/drawing/2014/main" id="{30261E4B-9D4E-968E-D5F5-FAFABF1191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1765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62">
              <a:extLst>
                <a:ext uri="{FF2B5EF4-FFF2-40B4-BE49-F238E27FC236}">
                  <a16:creationId xmlns:a16="http://schemas.microsoft.com/office/drawing/2014/main" id="{B518400A-EBAD-36BD-48FF-E039873E6E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956"/>
              <a:ext cx="3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Oval 63">
              <a:extLst>
                <a:ext uri="{FF2B5EF4-FFF2-40B4-BE49-F238E27FC236}">
                  <a16:creationId xmlns:a16="http://schemas.microsoft.com/office/drawing/2014/main" id="{4963A205-D20C-ED69-BFFC-68C4E2A04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" y="1820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9" name="Line 64">
              <a:extLst>
                <a:ext uri="{FF2B5EF4-FFF2-40B4-BE49-F238E27FC236}">
                  <a16:creationId xmlns:a16="http://schemas.microsoft.com/office/drawing/2014/main" id="{FAB2C514-55B4-4998-5845-76A07DE345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865"/>
              <a:ext cx="3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Line 65">
              <a:extLst>
                <a:ext uri="{FF2B5EF4-FFF2-40B4-BE49-F238E27FC236}">
                  <a16:creationId xmlns:a16="http://schemas.microsoft.com/office/drawing/2014/main" id="{F5662ABB-5143-CB93-644C-CB82BAE05F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818" y="1763"/>
              <a:ext cx="2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66">
              <a:extLst>
                <a:ext uri="{FF2B5EF4-FFF2-40B4-BE49-F238E27FC236}">
                  <a16:creationId xmlns:a16="http://schemas.microsoft.com/office/drawing/2014/main" id="{72C20033-B7A3-CFAD-49F8-34B38D3F1C3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57" y="1253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67">
              <a:extLst>
                <a:ext uri="{FF2B5EF4-FFF2-40B4-BE49-F238E27FC236}">
                  <a16:creationId xmlns:a16="http://schemas.microsoft.com/office/drawing/2014/main" id="{3C0D1DF5-ED4A-A18C-D0A6-CB2FDFC3837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375" y="1048"/>
              <a:ext cx="318" cy="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68">
              <a:extLst>
                <a:ext uri="{FF2B5EF4-FFF2-40B4-BE49-F238E27FC236}">
                  <a16:creationId xmlns:a16="http://schemas.microsoft.com/office/drawing/2014/main" id="{4AF5E3FF-DF15-D7E0-1665-C5C5B3EBABF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57" y="168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Text Box 69">
              <a:extLst>
                <a:ext uri="{FF2B5EF4-FFF2-40B4-BE49-F238E27FC236}">
                  <a16:creationId xmlns:a16="http://schemas.microsoft.com/office/drawing/2014/main" id="{142DD6D6-CDEF-7CBF-BCFC-680942465E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4" y="889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65" name="Text Box 70">
              <a:extLst>
                <a:ext uri="{FF2B5EF4-FFF2-40B4-BE49-F238E27FC236}">
                  <a16:creationId xmlns:a16="http://schemas.microsoft.com/office/drawing/2014/main" id="{49970A91-BDFC-ECE1-F454-5036742FAC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4" y="1872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grpSp>
          <p:nvGrpSpPr>
            <p:cNvPr id="66" name="Group 71">
              <a:extLst>
                <a:ext uri="{FF2B5EF4-FFF2-40B4-BE49-F238E27FC236}">
                  <a16:creationId xmlns:a16="http://schemas.microsoft.com/office/drawing/2014/main" id="{95F3066B-4263-74A0-8FEC-5F3E4E7A5A19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5125" y="1791"/>
              <a:ext cx="208" cy="171"/>
              <a:chOff x="4682" y="3884"/>
              <a:chExt cx="208" cy="171"/>
            </a:xfrm>
          </p:grpSpPr>
          <p:sp>
            <p:nvSpPr>
              <p:cNvPr id="68" name="Text Box 72">
                <a:extLst>
                  <a:ext uri="{FF2B5EF4-FFF2-40B4-BE49-F238E27FC236}">
                    <a16:creationId xmlns:a16="http://schemas.microsoft.com/office/drawing/2014/main" id="{AE708E5D-DAA0-6C51-D5C6-D1F8D0BCF5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4700" y="3866"/>
                <a:ext cx="171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69" name="Line 73">
                <a:extLst>
                  <a:ext uri="{FF2B5EF4-FFF2-40B4-BE49-F238E27FC236}">
                    <a16:creationId xmlns:a16="http://schemas.microsoft.com/office/drawing/2014/main" id="{7D6542D9-F117-D14E-BD1E-EB5D738988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810" y="3964"/>
                <a:ext cx="15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7" name="Text Box 74">
              <a:extLst>
                <a:ext uri="{FF2B5EF4-FFF2-40B4-BE49-F238E27FC236}">
                  <a16:creationId xmlns:a16="http://schemas.microsoft.com/office/drawing/2014/main" id="{080E6A61-C5EE-039B-2BC0-A7117F721F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3" y="1002"/>
              <a:ext cx="171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</p:grpSp>
      <p:sp>
        <p:nvSpPr>
          <p:cNvPr id="78" name="Text Box 75">
            <a:extLst>
              <a:ext uri="{FF2B5EF4-FFF2-40B4-BE49-F238E27FC236}">
                <a16:creationId xmlns:a16="http://schemas.microsoft.com/office/drawing/2014/main" id="{A5E5ACC2-E05A-B78A-550D-13B59D747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8325" y="2459404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79" name="Text Box 76">
            <a:extLst>
              <a:ext uri="{FF2B5EF4-FFF2-40B4-BE49-F238E27FC236}">
                <a16:creationId xmlns:a16="http://schemas.microsoft.com/office/drawing/2014/main" id="{AD386D45-02CD-D795-874C-5A1533347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3725" y="2613392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80" name="Text Box 77">
            <a:extLst>
              <a:ext uri="{FF2B5EF4-FFF2-40B4-BE49-F238E27FC236}">
                <a16:creationId xmlns:a16="http://schemas.microsoft.com/office/drawing/2014/main" id="{5CA9AACE-ED83-E022-C239-12B2490F3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9563" y="3873867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x</a:t>
            </a:r>
          </a:p>
        </p:txBody>
      </p:sp>
      <p:sp>
        <p:nvSpPr>
          <p:cNvPr id="81" name="Text Box 78">
            <a:extLst>
              <a:ext uri="{FF2B5EF4-FFF2-40B4-BE49-F238E27FC236}">
                <a16:creationId xmlns:a16="http://schemas.microsoft.com/office/drawing/2014/main" id="{EC9D48F9-8E23-D1BC-0761-F8BD1C4CA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8325" y="4583479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82" name="Text Box 79">
            <a:extLst>
              <a:ext uri="{FF2B5EF4-FFF2-40B4-BE49-F238E27FC236}">
                <a16:creationId xmlns:a16="http://schemas.microsoft.com/office/drawing/2014/main" id="{7A2DC17A-AEE6-2982-EE1C-E36E11CBD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0238" y="4450129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1</a:t>
            </a:r>
          </a:p>
        </p:txBody>
      </p:sp>
      <p:sp>
        <p:nvSpPr>
          <p:cNvPr id="83" name="Text Box 80">
            <a:extLst>
              <a:ext uri="{FF2B5EF4-FFF2-40B4-BE49-F238E27FC236}">
                <a16:creationId xmlns:a16="http://schemas.microsoft.com/office/drawing/2014/main" id="{372223E8-1C19-89CC-0DDA-FE4870910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9563" y="3178542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x</a:t>
            </a:r>
          </a:p>
        </p:txBody>
      </p:sp>
      <p:sp>
        <p:nvSpPr>
          <p:cNvPr id="84" name="Rectangle 81">
            <a:extLst>
              <a:ext uri="{FF2B5EF4-FFF2-40B4-BE49-F238E27FC236}">
                <a16:creationId xmlns:a16="http://schemas.microsoft.com/office/drawing/2014/main" id="{9EBDFA10-2765-5C77-05B2-D3CD21012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838" y="5256579"/>
            <a:ext cx="76578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当</a:t>
            </a:r>
            <a:r>
              <a:rPr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都恢复到</a:t>
            </a:r>
            <a:r>
              <a:rPr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后，锁存器新的状态保持不变</a:t>
            </a:r>
          </a:p>
        </p:txBody>
      </p:sp>
      <p:grpSp>
        <p:nvGrpSpPr>
          <p:cNvPr id="85" name="Group 82">
            <a:extLst>
              <a:ext uri="{FF2B5EF4-FFF2-40B4-BE49-F238E27FC236}">
                <a16:creationId xmlns:a16="http://schemas.microsoft.com/office/drawing/2014/main" id="{ACA4262E-83FB-A00C-9E66-8522DE4EE25A}"/>
              </a:ext>
            </a:extLst>
          </p:cNvPr>
          <p:cNvGrpSpPr>
            <a:grpSpLocks/>
          </p:cNvGrpSpPr>
          <p:nvPr/>
        </p:nvGrpSpPr>
        <p:grpSpPr bwMode="auto">
          <a:xfrm>
            <a:off x="7305675" y="3310304"/>
            <a:ext cx="1876425" cy="1062038"/>
            <a:chOff x="4505" y="1135"/>
            <a:chExt cx="1182" cy="669"/>
          </a:xfrm>
        </p:grpSpPr>
        <p:sp>
          <p:nvSpPr>
            <p:cNvPr id="86" name="Rectangle 83">
              <a:extLst>
                <a:ext uri="{FF2B5EF4-FFF2-40B4-BE49-F238E27FC236}">
                  <a16:creationId xmlns:a16="http://schemas.microsoft.com/office/drawing/2014/main" id="{2CA0F7F1-1F6E-3CE8-C0A0-EF6860D0D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4" y="1135"/>
              <a:ext cx="430" cy="66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grpSp>
          <p:nvGrpSpPr>
            <p:cNvPr id="87" name="Group 84">
              <a:extLst>
                <a:ext uri="{FF2B5EF4-FFF2-40B4-BE49-F238E27FC236}">
                  <a16:creationId xmlns:a16="http://schemas.microsoft.com/office/drawing/2014/main" id="{2BAEBCAD-05CB-3B8E-3BCA-4AEA06D8FA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5" y="1317"/>
              <a:ext cx="222" cy="305"/>
              <a:chOff x="365" y="2319"/>
              <a:chExt cx="288" cy="305"/>
            </a:xfrm>
          </p:grpSpPr>
          <p:sp>
            <p:nvSpPr>
              <p:cNvPr id="97" name="Line 85">
                <a:extLst>
                  <a:ext uri="{FF2B5EF4-FFF2-40B4-BE49-F238E27FC236}">
                    <a16:creationId xmlns:a16="http://schemas.microsoft.com/office/drawing/2014/main" id="{A9385504-5405-A117-00C0-E7A365A119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" y="231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Line 86">
                <a:extLst>
                  <a:ext uri="{FF2B5EF4-FFF2-40B4-BE49-F238E27FC236}">
                    <a16:creationId xmlns:a16="http://schemas.microsoft.com/office/drawing/2014/main" id="{350435D8-212D-5BF6-FF0B-FDDF864D78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" y="262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6554C3F-0D55-BDE4-4614-A904C283FD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64" y="1317"/>
              <a:ext cx="225" cy="305"/>
              <a:chOff x="1090" y="2319"/>
              <a:chExt cx="288" cy="305"/>
            </a:xfrm>
          </p:grpSpPr>
          <p:sp>
            <p:nvSpPr>
              <p:cNvPr id="95" name="Line 88">
                <a:extLst>
                  <a:ext uri="{FF2B5EF4-FFF2-40B4-BE49-F238E27FC236}">
                    <a16:creationId xmlns:a16="http://schemas.microsoft.com/office/drawing/2014/main" id="{F292E5D1-1DC3-44B1-9A78-85818D58BB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231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Line 89">
                <a:extLst>
                  <a:ext uri="{FF2B5EF4-FFF2-40B4-BE49-F238E27FC236}">
                    <a16:creationId xmlns:a16="http://schemas.microsoft.com/office/drawing/2014/main" id="{19F95EBE-6C52-BAE6-5036-41F664FEE5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262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9" name="Text Box 90">
              <a:extLst>
                <a:ext uri="{FF2B5EF4-FFF2-40B4-BE49-F238E27FC236}">
                  <a16:creationId xmlns:a16="http://schemas.microsoft.com/office/drawing/2014/main" id="{FB2D96D3-AA5E-5071-D84E-F39DA0BCAC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7" y="1162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90" name="Text Box 91">
              <a:extLst>
                <a:ext uri="{FF2B5EF4-FFF2-40B4-BE49-F238E27FC236}">
                  <a16:creationId xmlns:a16="http://schemas.microsoft.com/office/drawing/2014/main" id="{C07035FB-4DD7-22C6-8655-25117E1C28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7" y="150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91" name="Text Box 92">
              <a:extLst>
                <a:ext uri="{FF2B5EF4-FFF2-40B4-BE49-F238E27FC236}">
                  <a16:creationId xmlns:a16="http://schemas.microsoft.com/office/drawing/2014/main" id="{2F327444-73A9-F59C-D68C-1B3F6C22FA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2" y="1162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92" name="Text Box 93">
              <a:extLst>
                <a:ext uri="{FF2B5EF4-FFF2-40B4-BE49-F238E27FC236}">
                  <a16:creationId xmlns:a16="http://schemas.microsoft.com/office/drawing/2014/main" id="{839F9467-9D90-BD6F-6A99-2F39FCA7B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2" y="1498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93" name="Line 94">
              <a:extLst>
                <a:ext uri="{FF2B5EF4-FFF2-40B4-BE49-F238E27FC236}">
                  <a16:creationId xmlns:a16="http://schemas.microsoft.com/office/drawing/2014/main" id="{D402811A-D06A-8867-8D97-C02F78CB13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0" y="154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Oval 95">
              <a:extLst>
                <a:ext uri="{FF2B5EF4-FFF2-40B4-BE49-F238E27FC236}">
                  <a16:creationId xmlns:a16="http://schemas.microsoft.com/office/drawing/2014/main" id="{A404F143-8710-4AF0-CD3D-46CFE72F0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2" y="1589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670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49ED0-F817-259C-3DA9-D1FD4D43F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基本</a:t>
            </a:r>
            <a:r>
              <a:rPr lang="en-US" altLang="zh-CN" dirty="0"/>
              <a:t>SR</a:t>
            </a:r>
            <a:r>
              <a:rPr lang="zh-CN" altLang="en-US" dirty="0"/>
              <a:t>锁存器工作原理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2)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AC8C2F-93FF-C15C-5C7C-2D4945CFA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B606E9-8A02-30D2-4796-A85178C2E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9</a:t>
            </a:fld>
            <a:r>
              <a:rPr lang="en-US" altLang="zh-CN" dirty="0"/>
              <a:t>/22</a:t>
            </a:r>
            <a:endParaRPr lang="en-US" dirty="0"/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27534AD0-9180-2682-377C-2F0021CF1A2F}"/>
              </a:ext>
            </a:extLst>
          </p:cNvPr>
          <p:cNvGrpSpPr>
            <a:grpSpLocks/>
          </p:cNvGrpSpPr>
          <p:nvPr/>
        </p:nvGrpSpPr>
        <p:grpSpPr bwMode="auto">
          <a:xfrm>
            <a:off x="1114426" y="2575223"/>
            <a:ext cx="2397125" cy="1924050"/>
            <a:chOff x="3804" y="867"/>
            <a:chExt cx="1510" cy="1212"/>
          </a:xfrm>
        </p:grpSpPr>
        <p:sp>
          <p:nvSpPr>
            <p:cNvPr id="8" name="Line 4">
              <a:extLst>
                <a:ext uri="{FF2B5EF4-FFF2-40B4-BE49-F238E27FC236}">
                  <a16:creationId xmlns:a16="http://schemas.microsoft.com/office/drawing/2014/main" id="{BCFF5DBF-0446-CB8C-4D48-A2590CEF521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818" y="1173"/>
              <a:ext cx="2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669E29B2-F255-98AC-6219-60948C6A1E1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375" y="1116"/>
              <a:ext cx="318" cy="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" name="Group 6">
              <a:extLst>
                <a:ext uri="{FF2B5EF4-FFF2-40B4-BE49-F238E27FC236}">
                  <a16:creationId xmlns:a16="http://schemas.microsoft.com/office/drawing/2014/main" id="{162213B2-58C3-9E19-1545-2BF1B5D4A2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867"/>
              <a:ext cx="363" cy="385"/>
              <a:chOff x="4173" y="2976"/>
              <a:chExt cx="431" cy="431"/>
            </a:xfrm>
          </p:grpSpPr>
          <p:grpSp>
            <p:nvGrpSpPr>
              <p:cNvPr id="34" name="Group 7">
                <a:extLst>
                  <a:ext uri="{FF2B5EF4-FFF2-40B4-BE49-F238E27FC236}">
                    <a16:creationId xmlns:a16="http://schemas.microsoft.com/office/drawing/2014/main" id="{5EF693BC-C2A1-0F46-D57B-AA24D2F3C0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3" y="2976"/>
                <a:ext cx="431" cy="431"/>
                <a:chOff x="4445" y="2999"/>
                <a:chExt cx="295" cy="318"/>
              </a:xfrm>
            </p:grpSpPr>
            <p:sp>
              <p:nvSpPr>
                <p:cNvPr id="36" name="Arc 8">
                  <a:extLst>
                    <a:ext uri="{FF2B5EF4-FFF2-40B4-BE49-F238E27FC236}">
                      <a16:creationId xmlns:a16="http://schemas.microsoft.com/office/drawing/2014/main" id="{BC3B081E-F000-CEC3-D6B7-2C8660B503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5" y="2999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Arc 9">
                  <a:extLst>
                    <a:ext uri="{FF2B5EF4-FFF2-40B4-BE49-F238E27FC236}">
                      <a16:creationId xmlns:a16="http://schemas.microsoft.com/office/drawing/2014/main" id="{9DCC9E13-793D-72A3-5D36-1EA530333E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 flipH="1">
                  <a:off x="4445" y="3158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5" name="Arc 10">
                <a:extLst>
                  <a:ext uri="{FF2B5EF4-FFF2-40B4-BE49-F238E27FC236}">
                    <a16:creationId xmlns:a16="http://schemas.microsoft.com/office/drawing/2014/main" id="{3DE4AA9B-9FE9-BEEA-C348-F71E50FA7F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2976"/>
                <a:ext cx="90" cy="430"/>
              </a:xfrm>
              <a:custGeom>
                <a:avLst/>
                <a:gdLst>
                  <a:gd name="T0" fmla="*/ 0 w 21838"/>
                  <a:gd name="T1" fmla="*/ 0 h 43200"/>
                  <a:gd name="T2" fmla="*/ 0 w 21838"/>
                  <a:gd name="T3" fmla="*/ 0 h 43200"/>
                  <a:gd name="T4" fmla="*/ 0 w 21838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838"/>
                  <a:gd name="T10" fmla="*/ 0 h 43200"/>
                  <a:gd name="T11" fmla="*/ 21838 w 21838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38" h="43200" fill="none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</a:path>
                  <a:path w="21838" h="43200" stroke="0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  <a:lnTo>
                      <a:pt x="238" y="21600"/>
                    </a:lnTo>
                    <a:lnTo>
                      <a:pt x="237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83B7A163-C801-5697-C892-2FE2267FC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971"/>
              <a:ext cx="3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2D837269-4563-F031-CC68-2F4ED7EDE5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1162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13">
              <a:extLst>
                <a:ext uri="{FF2B5EF4-FFF2-40B4-BE49-F238E27FC236}">
                  <a16:creationId xmlns:a16="http://schemas.microsoft.com/office/drawing/2014/main" id="{5A0FE209-C02B-C795-49C9-D4C711276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" y="1026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B4ADF8DA-F302-1B9D-C349-5C0705835F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071"/>
              <a:ext cx="3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A709B092-75D6-E2A0-4153-6E25494C16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1661"/>
              <a:ext cx="363" cy="385"/>
              <a:chOff x="4173" y="2976"/>
              <a:chExt cx="431" cy="431"/>
            </a:xfrm>
          </p:grpSpPr>
          <p:grpSp>
            <p:nvGrpSpPr>
              <p:cNvPr id="30" name="Group 16">
                <a:extLst>
                  <a:ext uri="{FF2B5EF4-FFF2-40B4-BE49-F238E27FC236}">
                    <a16:creationId xmlns:a16="http://schemas.microsoft.com/office/drawing/2014/main" id="{AC9164A8-2631-3DD9-0F92-01748728F9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3" y="2976"/>
                <a:ext cx="431" cy="431"/>
                <a:chOff x="4445" y="2999"/>
                <a:chExt cx="295" cy="318"/>
              </a:xfrm>
            </p:grpSpPr>
            <p:sp>
              <p:nvSpPr>
                <p:cNvPr id="32" name="Arc 17">
                  <a:extLst>
                    <a:ext uri="{FF2B5EF4-FFF2-40B4-BE49-F238E27FC236}">
                      <a16:creationId xmlns:a16="http://schemas.microsoft.com/office/drawing/2014/main" id="{0EF8347A-DB3D-B5EE-7319-865ABD268E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5" y="2999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" name="Arc 18">
                  <a:extLst>
                    <a:ext uri="{FF2B5EF4-FFF2-40B4-BE49-F238E27FC236}">
                      <a16:creationId xmlns:a16="http://schemas.microsoft.com/office/drawing/2014/main" id="{D2239A97-D18C-876B-018C-1D04A237FA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 flipH="1">
                  <a:off x="4445" y="3158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1" name="Arc 19">
                <a:extLst>
                  <a:ext uri="{FF2B5EF4-FFF2-40B4-BE49-F238E27FC236}">
                    <a16:creationId xmlns:a16="http://schemas.microsoft.com/office/drawing/2014/main" id="{94ED6421-41F4-7503-CCC9-AB9D452A7B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2976"/>
                <a:ext cx="90" cy="430"/>
              </a:xfrm>
              <a:custGeom>
                <a:avLst/>
                <a:gdLst>
                  <a:gd name="T0" fmla="*/ 0 w 21838"/>
                  <a:gd name="T1" fmla="*/ 0 h 43200"/>
                  <a:gd name="T2" fmla="*/ 0 w 21838"/>
                  <a:gd name="T3" fmla="*/ 0 h 43200"/>
                  <a:gd name="T4" fmla="*/ 0 w 21838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838"/>
                  <a:gd name="T10" fmla="*/ 0 h 43200"/>
                  <a:gd name="T11" fmla="*/ 21838 w 21838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38" h="43200" fill="none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</a:path>
                  <a:path w="21838" h="43200" stroke="0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  <a:lnTo>
                      <a:pt x="238" y="21600"/>
                    </a:lnTo>
                    <a:lnTo>
                      <a:pt x="237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6" name="Line 20">
              <a:extLst>
                <a:ext uri="{FF2B5EF4-FFF2-40B4-BE49-F238E27FC236}">
                  <a16:creationId xmlns:a16="http://schemas.microsoft.com/office/drawing/2014/main" id="{FFF572EF-B7B0-3E8F-E9A0-EE684EFE2A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1765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21">
              <a:extLst>
                <a:ext uri="{FF2B5EF4-FFF2-40B4-BE49-F238E27FC236}">
                  <a16:creationId xmlns:a16="http://schemas.microsoft.com/office/drawing/2014/main" id="{51515AED-2934-72E5-AC1A-97207932E4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956"/>
              <a:ext cx="3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22">
              <a:extLst>
                <a:ext uri="{FF2B5EF4-FFF2-40B4-BE49-F238E27FC236}">
                  <a16:creationId xmlns:a16="http://schemas.microsoft.com/office/drawing/2014/main" id="{FFC552F3-BD86-7049-ECFC-A199DF425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" y="1820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9" name="Line 23">
              <a:extLst>
                <a:ext uri="{FF2B5EF4-FFF2-40B4-BE49-F238E27FC236}">
                  <a16:creationId xmlns:a16="http://schemas.microsoft.com/office/drawing/2014/main" id="{1D87A621-0ECA-8659-37A2-BE3A2EE49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865"/>
              <a:ext cx="3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24">
              <a:extLst>
                <a:ext uri="{FF2B5EF4-FFF2-40B4-BE49-F238E27FC236}">
                  <a16:creationId xmlns:a16="http://schemas.microsoft.com/office/drawing/2014/main" id="{3B433303-C04D-B42D-F329-0873724779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818" y="1763"/>
              <a:ext cx="2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25">
              <a:extLst>
                <a:ext uri="{FF2B5EF4-FFF2-40B4-BE49-F238E27FC236}">
                  <a16:creationId xmlns:a16="http://schemas.microsoft.com/office/drawing/2014/main" id="{4AB13715-2391-29C5-14B9-9A53BF7952C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57" y="1253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6">
              <a:extLst>
                <a:ext uri="{FF2B5EF4-FFF2-40B4-BE49-F238E27FC236}">
                  <a16:creationId xmlns:a16="http://schemas.microsoft.com/office/drawing/2014/main" id="{B490F3C6-8A4C-2267-06FA-D7EACB10E81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375" y="1048"/>
              <a:ext cx="318" cy="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7">
              <a:extLst>
                <a:ext uri="{FF2B5EF4-FFF2-40B4-BE49-F238E27FC236}">
                  <a16:creationId xmlns:a16="http://schemas.microsoft.com/office/drawing/2014/main" id="{3C5B437D-D4F1-5115-7534-65639E012CA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57" y="168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Text Box 28">
              <a:extLst>
                <a:ext uri="{FF2B5EF4-FFF2-40B4-BE49-F238E27FC236}">
                  <a16:creationId xmlns:a16="http://schemas.microsoft.com/office/drawing/2014/main" id="{DE512AA5-8A7D-57EC-6512-39AF817CE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4" y="889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25" name="Text Box 29">
              <a:extLst>
                <a:ext uri="{FF2B5EF4-FFF2-40B4-BE49-F238E27FC236}">
                  <a16:creationId xmlns:a16="http://schemas.microsoft.com/office/drawing/2014/main" id="{20AA9894-B9C3-4997-48B8-D5BA4AEA49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4" y="1872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grpSp>
          <p:nvGrpSpPr>
            <p:cNvPr id="26" name="Group 30">
              <a:extLst>
                <a:ext uri="{FF2B5EF4-FFF2-40B4-BE49-F238E27FC236}">
                  <a16:creationId xmlns:a16="http://schemas.microsoft.com/office/drawing/2014/main" id="{E4FDE7C4-87F7-0F26-4F66-2BA72FE79913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5125" y="1791"/>
              <a:ext cx="208" cy="171"/>
              <a:chOff x="4682" y="3884"/>
              <a:chExt cx="208" cy="171"/>
            </a:xfrm>
          </p:grpSpPr>
          <p:sp>
            <p:nvSpPr>
              <p:cNvPr id="28" name="Text Box 31">
                <a:extLst>
                  <a:ext uri="{FF2B5EF4-FFF2-40B4-BE49-F238E27FC236}">
                    <a16:creationId xmlns:a16="http://schemas.microsoft.com/office/drawing/2014/main" id="{700305B5-844C-04AA-AB26-4C6BB3C5E4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4700" y="3866"/>
                <a:ext cx="171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29" name="Line 32">
                <a:extLst>
                  <a:ext uri="{FF2B5EF4-FFF2-40B4-BE49-F238E27FC236}">
                    <a16:creationId xmlns:a16="http://schemas.microsoft.com/office/drawing/2014/main" id="{9D5EE96A-0BE7-2806-A591-133791065F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810" y="3964"/>
                <a:ext cx="15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" name="Text Box 33">
              <a:extLst>
                <a:ext uri="{FF2B5EF4-FFF2-40B4-BE49-F238E27FC236}">
                  <a16:creationId xmlns:a16="http://schemas.microsoft.com/office/drawing/2014/main" id="{78B9FC6E-1938-C0CF-E6F0-E9139BCF57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3" y="1002"/>
              <a:ext cx="171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</p:grpSp>
      <p:sp>
        <p:nvSpPr>
          <p:cNvPr id="38" name="Rectangle 34">
            <a:extLst>
              <a:ext uri="{FF2B5EF4-FFF2-40B4-BE49-F238E27FC236}">
                <a16:creationId xmlns:a16="http://schemas.microsoft.com/office/drawing/2014/main" id="{085F9EF0-084C-7B61-3F70-837487DAE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038" y="1049635"/>
            <a:ext cx="6948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/>
              <a:t>当</a:t>
            </a:r>
            <a:r>
              <a:rPr lang="en-US" altLang="zh-CN"/>
              <a:t>R=1</a:t>
            </a:r>
            <a:r>
              <a:rPr lang="zh-CN" altLang="en-US"/>
              <a:t>，</a:t>
            </a:r>
            <a:r>
              <a:rPr lang="en-US" altLang="zh-CN"/>
              <a:t>S=1</a:t>
            </a:r>
            <a:r>
              <a:rPr lang="zh-CN" altLang="en-US"/>
              <a:t>时，</a:t>
            </a:r>
            <a:r>
              <a:rPr lang="en-US" altLang="zh-CN"/>
              <a:t>Q</a:t>
            </a:r>
            <a:r>
              <a:rPr lang="en-US" altLang="zh-CN" baseline="30000"/>
              <a:t>n+1</a:t>
            </a:r>
            <a:r>
              <a:rPr lang="en-US" altLang="zh-CN"/>
              <a:t> = Q</a:t>
            </a:r>
            <a:r>
              <a:rPr lang="en-US" altLang="zh-CN" baseline="30000"/>
              <a:t>n+1</a:t>
            </a:r>
            <a:r>
              <a:rPr lang="en-US" altLang="zh-CN"/>
              <a:t> = 0</a:t>
            </a:r>
            <a:endParaRPr lang="zh-CN" altLang="en-US"/>
          </a:p>
        </p:txBody>
      </p:sp>
      <p:sp>
        <p:nvSpPr>
          <p:cNvPr id="39" name="Text Box 35">
            <a:extLst>
              <a:ext uri="{FF2B5EF4-FFF2-40B4-BE49-F238E27FC236}">
                <a16:creationId xmlns:a16="http://schemas.microsoft.com/office/drawing/2014/main" id="{ABD83BE5-9140-7E92-FC8E-02E29B2FF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651" y="221803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40" name="Text Box 36">
            <a:extLst>
              <a:ext uri="{FF2B5EF4-FFF2-40B4-BE49-F238E27FC236}">
                <a16:creationId xmlns:a16="http://schemas.microsoft.com/office/drawing/2014/main" id="{0566DB06-DF3B-DC79-B070-279DA3867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3051" y="237202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0</a:t>
            </a:r>
          </a:p>
        </p:txBody>
      </p:sp>
      <p:sp>
        <p:nvSpPr>
          <p:cNvPr id="41" name="Text Box 37">
            <a:extLst>
              <a:ext uri="{FF2B5EF4-FFF2-40B4-BE49-F238E27FC236}">
                <a16:creationId xmlns:a16="http://schemas.microsoft.com/office/drawing/2014/main" id="{C88CCF1D-B4B8-DF35-DA08-1440771E3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63249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x</a:t>
            </a:r>
          </a:p>
        </p:txBody>
      </p:sp>
      <p:sp>
        <p:nvSpPr>
          <p:cNvPr id="42" name="Text Box 38">
            <a:extLst>
              <a:ext uri="{FF2B5EF4-FFF2-40B4-BE49-F238E27FC236}">
                <a16:creationId xmlns:a16="http://schemas.microsoft.com/office/drawing/2014/main" id="{3EF91271-EB47-9A79-9D4D-8AF80EC49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651" y="434211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43" name="Text Box 39">
            <a:extLst>
              <a:ext uri="{FF2B5EF4-FFF2-40B4-BE49-F238E27FC236}">
                <a16:creationId xmlns:a16="http://schemas.microsoft.com/office/drawing/2014/main" id="{AF4CFCE3-AD06-97CC-8539-50832A872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9563" y="420876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0</a:t>
            </a:r>
          </a:p>
        </p:txBody>
      </p:sp>
      <p:sp>
        <p:nvSpPr>
          <p:cNvPr id="44" name="Text Box 40">
            <a:extLst>
              <a:ext uri="{FF2B5EF4-FFF2-40B4-BE49-F238E27FC236}">
                <a16:creationId xmlns:a16="http://schemas.microsoft.com/office/drawing/2014/main" id="{14A57C4D-04CA-1480-3B92-3E2767463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93717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x</a:t>
            </a:r>
          </a:p>
        </p:txBody>
      </p:sp>
      <p:sp>
        <p:nvSpPr>
          <p:cNvPr id="45" name="Line 41">
            <a:extLst>
              <a:ext uri="{FF2B5EF4-FFF2-40B4-BE49-F238E27FC236}">
                <a16:creationId xmlns:a16="http://schemas.microsoft.com/office/drawing/2014/main" id="{D73F8495-587A-26F4-3703-FB349A2763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4876" y="1121073"/>
            <a:ext cx="323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Rectangle 42">
            <a:extLst>
              <a:ext uri="{FF2B5EF4-FFF2-40B4-BE49-F238E27FC236}">
                <a16:creationId xmlns:a16="http://schemas.microsoft.com/office/drawing/2014/main" id="{24BD3084-BAF9-D1B6-BB96-D4F54CDBC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038" y="1627485"/>
            <a:ext cx="7693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/>
              <a:t>当</a:t>
            </a:r>
            <a:r>
              <a:rPr lang="en-US" altLang="zh-CN"/>
              <a:t>R </a:t>
            </a:r>
            <a:r>
              <a:rPr lang="zh-CN" altLang="en-US"/>
              <a:t>、</a:t>
            </a:r>
            <a:r>
              <a:rPr lang="en-US" altLang="zh-CN"/>
              <a:t>S</a:t>
            </a:r>
            <a:r>
              <a:rPr lang="zh-CN" altLang="en-US"/>
              <a:t>同时回到</a:t>
            </a:r>
            <a:r>
              <a:rPr lang="en-US" altLang="zh-CN"/>
              <a:t>0</a:t>
            </a:r>
            <a:r>
              <a:rPr lang="zh-CN" altLang="en-US"/>
              <a:t>后，锁存器最终状态不能确定</a:t>
            </a:r>
          </a:p>
        </p:txBody>
      </p:sp>
      <p:sp>
        <p:nvSpPr>
          <p:cNvPr id="47" name="Rectangle 43">
            <a:extLst>
              <a:ext uri="{FF2B5EF4-FFF2-40B4-BE49-F238E27FC236}">
                <a16:creationId xmlns:a16="http://schemas.microsoft.com/office/drawing/2014/main" id="{D7F0D678-54BB-261F-26D4-9270147FB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8" y="5245399"/>
            <a:ext cx="955802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在实际应用中，应避免</a:t>
            </a:r>
            <a:r>
              <a:rPr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同时为</a:t>
            </a:r>
            <a:r>
              <a:rPr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，即要求满足约束条件：</a:t>
            </a:r>
            <a:r>
              <a:rPr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SR = 0</a:t>
            </a:r>
            <a:endParaRPr lang="zh-CN" altLang="en-US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48" name="Group 44">
            <a:extLst>
              <a:ext uri="{FF2B5EF4-FFF2-40B4-BE49-F238E27FC236}">
                <a16:creationId xmlns:a16="http://schemas.microsoft.com/office/drawing/2014/main" id="{92C983D0-E279-E58B-89A6-E8D75C9A5F69}"/>
              </a:ext>
            </a:extLst>
          </p:cNvPr>
          <p:cNvGrpSpPr>
            <a:grpSpLocks/>
          </p:cNvGrpSpPr>
          <p:nvPr/>
        </p:nvGrpSpPr>
        <p:grpSpPr bwMode="auto">
          <a:xfrm>
            <a:off x="4138613" y="2218035"/>
            <a:ext cx="2397125" cy="2581275"/>
            <a:chOff x="2562" y="1730"/>
            <a:chExt cx="1510" cy="1626"/>
          </a:xfrm>
        </p:grpSpPr>
        <p:grpSp>
          <p:nvGrpSpPr>
            <p:cNvPr id="49" name="Group 45">
              <a:extLst>
                <a:ext uri="{FF2B5EF4-FFF2-40B4-BE49-F238E27FC236}">
                  <a16:creationId xmlns:a16="http://schemas.microsoft.com/office/drawing/2014/main" id="{2665FBA7-CFA5-9A59-A64C-2168066687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2" y="1955"/>
              <a:ext cx="1510" cy="1212"/>
              <a:chOff x="3804" y="867"/>
              <a:chExt cx="1510" cy="1212"/>
            </a:xfrm>
          </p:grpSpPr>
          <p:sp>
            <p:nvSpPr>
              <p:cNvPr id="56" name="Line 46">
                <a:extLst>
                  <a:ext uri="{FF2B5EF4-FFF2-40B4-BE49-F238E27FC236}">
                    <a16:creationId xmlns:a16="http://schemas.microsoft.com/office/drawing/2014/main" id="{6747E6E5-D76A-1934-A4AC-1B76B2C456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818" y="1173"/>
                <a:ext cx="2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Line 47">
                <a:extLst>
                  <a:ext uri="{FF2B5EF4-FFF2-40B4-BE49-F238E27FC236}">
                    <a16:creationId xmlns:a16="http://schemas.microsoft.com/office/drawing/2014/main" id="{1BC61DF2-61F7-8EDB-94CA-F95BF2D4F4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4375" y="1116"/>
                <a:ext cx="318" cy="7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8" name="Group 48">
                <a:extLst>
                  <a:ext uri="{FF2B5EF4-FFF2-40B4-BE49-F238E27FC236}">
                    <a16:creationId xmlns:a16="http://schemas.microsoft.com/office/drawing/2014/main" id="{2D3C671D-0E6C-0F19-129B-EB5BA0CF1A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2" y="867"/>
                <a:ext cx="363" cy="385"/>
                <a:chOff x="4173" y="2976"/>
                <a:chExt cx="431" cy="431"/>
              </a:xfrm>
            </p:grpSpPr>
            <p:grpSp>
              <p:nvGrpSpPr>
                <p:cNvPr id="82" name="Group 49">
                  <a:extLst>
                    <a:ext uri="{FF2B5EF4-FFF2-40B4-BE49-F238E27FC236}">
                      <a16:creationId xmlns:a16="http://schemas.microsoft.com/office/drawing/2014/main" id="{F3F0935B-5E67-9A73-8CBF-AB7DE1A79C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73" y="2976"/>
                  <a:ext cx="431" cy="431"/>
                  <a:chOff x="4445" y="2999"/>
                  <a:chExt cx="295" cy="318"/>
                </a:xfrm>
              </p:grpSpPr>
              <p:sp>
                <p:nvSpPr>
                  <p:cNvPr id="84" name="Arc 50">
                    <a:extLst>
                      <a:ext uri="{FF2B5EF4-FFF2-40B4-BE49-F238E27FC236}">
                        <a16:creationId xmlns:a16="http://schemas.microsoft.com/office/drawing/2014/main" id="{CE97FDB2-0893-2D27-0540-FAFD8743D4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445" y="2999"/>
                    <a:ext cx="295" cy="159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" name="Arc 51">
                    <a:extLst>
                      <a:ext uri="{FF2B5EF4-FFF2-40B4-BE49-F238E27FC236}">
                        <a16:creationId xmlns:a16="http://schemas.microsoft.com/office/drawing/2014/main" id="{145A5C10-5BE4-2975-245E-515882F4903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10800000" flipH="1">
                    <a:off x="4445" y="3158"/>
                    <a:ext cx="295" cy="159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3" name="Arc 52">
                  <a:extLst>
                    <a:ext uri="{FF2B5EF4-FFF2-40B4-BE49-F238E27FC236}">
                      <a16:creationId xmlns:a16="http://schemas.microsoft.com/office/drawing/2014/main" id="{FF7F271D-EAB5-724B-8DF8-5DD46994B5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73" y="2976"/>
                  <a:ext cx="90" cy="430"/>
                </a:xfrm>
                <a:custGeom>
                  <a:avLst/>
                  <a:gdLst>
                    <a:gd name="T0" fmla="*/ 0 w 21838"/>
                    <a:gd name="T1" fmla="*/ 0 h 43200"/>
                    <a:gd name="T2" fmla="*/ 0 w 21838"/>
                    <a:gd name="T3" fmla="*/ 0 h 43200"/>
                    <a:gd name="T4" fmla="*/ 0 w 21838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838"/>
                    <a:gd name="T10" fmla="*/ 0 h 43200"/>
                    <a:gd name="T11" fmla="*/ 21838 w 21838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838" h="43200" fill="none" extrusionOk="0">
                      <a:moveTo>
                        <a:pt x="237" y="0"/>
                      </a:moveTo>
                      <a:cubicBezTo>
                        <a:pt x="12167" y="0"/>
                        <a:pt x="21838" y="9670"/>
                        <a:pt x="21838" y="21600"/>
                      </a:cubicBezTo>
                      <a:cubicBezTo>
                        <a:pt x="21838" y="33529"/>
                        <a:pt x="12167" y="43200"/>
                        <a:pt x="238" y="43200"/>
                      </a:cubicBezTo>
                      <a:cubicBezTo>
                        <a:pt x="158" y="43200"/>
                        <a:pt x="79" y="43199"/>
                        <a:pt x="0" y="43198"/>
                      </a:cubicBezTo>
                    </a:path>
                    <a:path w="21838" h="43200" stroke="0" extrusionOk="0">
                      <a:moveTo>
                        <a:pt x="237" y="0"/>
                      </a:moveTo>
                      <a:cubicBezTo>
                        <a:pt x="12167" y="0"/>
                        <a:pt x="21838" y="9670"/>
                        <a:pt x="21838" y="21600"/>
                      </a:cubicBezTo>
                      <a:cubicBezTo>
                        <a:pt x="21838" y="33529"/>
                        <a:pt x="12167" y="43200"/>
                        <a:pt x="238" y="43200"/>
                      </a:cubicBezTo>
                      <a:cubicBezTo>
                        <a:pt x="158" y="43200"/>
                        <a:pt x="79" y="43199"/>
                        <a:pt x="0" y="43198"/>
                      </a:cubicBezTo>
                      <a:lnTo>
                        <a:pt x="238" y="21600"/>
                      </a:lnTo>
                      <a:lnTo>
                        <a:pt x="237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9" name="Line 53">
                <a:extLst>
                  <a:ext uri="{FF2B5EF4-FFF2-40B4-BE49-F238E27FC236}">
                    <a16:creationId xmlns:a16="http://schemas.microsoft.com/office/drawing/2014/main" id="{0EFFFD53-9DF6-B3E6-4B2B-17080EC336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1" y="971"/>
                <a:ext cx="3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Line 54">
                <a:extLst>
                  <a:ext uri="{FF2B5EF4-FFF2-40B4-BE49-F238E27FC236}">
                    <a16:creationId xmlns:a16="http://schemas.microsoft.com/office/drawing/2014/main" id="{EC012869-5319-227B-CD19-BF62302133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50" y="1162"/>
                <a:ext cx="25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Oval 55">
                <a:extLst>
                  <a:ext uri="{FF2B5EF4-FFF2-40B4-BE49-F238E27FC236}">
                    <a16:creationId xmlns:a16="http://schemas.microsoft.com/office/drawing/2014/main" id="{3710A2B6-CA2C-605D-9D66-D2C42F025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3" y="1026"/>
                <a:ext cx="82" cy="8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62" name="Line 56">
                <a:extLst>
                  <a:ext uri="{FF2B5EF4-FFF2-40B4-BE49-F238E27FC236}">
                    <a16:creationId xmlns:a16="http://schemas.microsoft.com/office/drawing/2014/main" id="{B5D0B9E3-8DB6-1B90-1230-F237140C14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1071"/>
                <a:ext cx="30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63" name="Group 57">
                <a:extLst>
                  <a:ext uri="{FF2B5EF4-FFF2-40B4-BE49-F238E27FC236}">
                    <a16:creationId xmlns:a16="http://schemas.microsoft.com/office/drawing/2014/main" id="{382E7FCC-1A96-D5F0-DD4C-B55D27BD96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2" y="1661"/>
                <a:ext cx="363" cy="385"/>
                <a:chOff x="4173" y="2976"/>
                <a:chExt cx="431" cy="431"/>
              </a:xfrm>
            </p:grpSpPr>
            <p:grpSp>
              <p:nvGrpSpPr>
                <p:cNvPr id="78" name="Group 58">
                  <a:extLst>
                    <a:ext uri="{FF2B5EF4-FFF2-40B4-BE49-F238E27FC236}">
                      <a16:creationId xmlns:a16="http://schemas.microsoft.com/office/drawing/2014/main" id="{5DD13C08-586B-076D-0E5D-A409923383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73" y="2976"/>
                  <a:ext cx="431" cy="431"/>
                  <a:chOff x="4445" y="2999"/>
                  <a:chExt cx="295" cy="318"/>
                </a:xfrm>
              </p:grpSpPr>
              <p:sp>
                <p:nvSpPr>
                  <p:cNvPr id="80" name="Arc 59">
                    <a:extLst>
                      <a:ext uri="{FF2B5EF4-FFF2-40B4-BE49-F238E27FC236}">
                        <a16:creationId xmlns:a16="http://schemas.microsoft.com/office/drawing/2014/main" id="{80A0BDB4-2574-1CE9-30C5-FC9CB9B4C40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445" y="2999"/>
                    <a:ext cx="295" cy="159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1" name="Arc 60">
                    <a:extLst>
                      <a:ext uri="{FF2B5EF4-FFF2-40B4-BE49-F238E27FC236}">
                        <a16:creationId xmlns:a16="http://schemas.microsoft.com/office/drawing/2014/main" id="{6EE88BBD-3AB1-9CA1-4E58-0409D39772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10800000" flipH="1">
                    <a:off x="4445" y="3158"/>
                    <a:ext cx="295" cy="159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9" name="Arc 61">
                  <a:extLst>
                    <a:ext uri="{FF2B5EF4-FFF2-40B4-BE49-F238E27FC236}">
                      <a16:creationId xmlns:a16="http://schemas.microsoft.com/office/drawing/2014/main" id="{9AEC9D15-C736-3A6F-FE6D-FE43B24239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73" y="2976"/>
                  <a:ext cx="90" cy="430"/>
                </a:xfrm>
                <a:custGeom>
                  <a:avLst/>
                  <a:gdLst>
                    <a:gd name="T0" fmla="*/ 0 w 21838"/>
                    <a:gd name="T1" fmla="*/ 0 h 43200"/>
                    <a:gd name="T2" fmla="*/ 0 w 21838"/>
                    <a:gd name="T3" fmla="*/ 0 h 43200"/>
                    <a:gd name="T4" fmla="*/ 0 w 21838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1838"/>
                    <a:gd name="T10" fmla="*/ 0 h 43200"/>
                    <a:gd name="T11" fmla="*/ 21838 w 21838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838" h="43200" fill="none" extrusionOk="0">
                      <a:moveTo>
                        <a:pt x="237" y="0"/>
                      </a:moveTo>
                      <a:cubicBezTo>
                        <a:pt x="12167" y="0"/>
                        <a:pt x="21838" y="9670"/>
                        <a:pt x="21838" y="21600"/>
                      </a:cubicBezTo>
                      <a:cubicBezTo>
                        <a:pt x="21838" y="33529"/>
                        <a:pt x="12167" y="43200"/>
                        <a:pt x="238" y="43200"/>
                      </a:cubicBezTo>
                      <a:cubicBezTo>
                        <a:pt x="158" y="43200"/>
                        <a:pt x="79" y="43199"/>
                        <a:pt x="0" y="43198"/>
                      </a:cubicBezTo>
                    </a:path>
                    <a:path w="21838" h="43200" stroke="0" extrusionOk="0">
                      <a:moveTo>
                        <a:pt x="237" y="0"/>
                      </a:moveTo>
                      <a:cubicBezTo>
                        <a:pt x="12167" y="0"/>
                        <a:pt x="21838" y="9670"/>
                        <a:pt x="21838" y="21600"/>
                      </a:cubicBezTo>
                      <a:cubicBezTo>
                        <a:pt x="21838" y="33529"/>
                        <a:pt x="12167" y="43200"/>
                        <a:pt x="238" y="43200"/>
                      </a:cubicBezTo>
                      <a:cubicBezTo>
                        <a:pt x="158" y="43200"/>
                        <a:pt x="79" y="43199"/>
                        <a:pt x="0" y="43198"/>
                      </a:cubicBezTo>
                      <a:lnTo>
                        <a:pt x="238" y="21600"/>
                      </a:lnTo>
                      <a:lnTo>
                        <a:pt x="237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4" name="Line 62">
                <a:extLst>
                  <a:ext uri="{FF2B5EF4-FFF2-40B4-BE49-F238E27FC236}">
                    <a16:creationId xmlns:a16="http://schemas.microsoft.com/office/drawing/2014/main" id="{590154EE-D0BB-70D7-E973-3BDDE0D476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50" y="1765"/>
                <a:ext cx="25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Line 63">
                <a:extLst>
                  <a:ext uri="{FF2B5EF4-FFF2-40B4-BE49-F238E27FC236}">
                    <a16:creationId xmlns:a16="http://schemas.microsoft.com/office/drawing/2014/main" id="{9B679E1E-3901-ED5B-BF3A-CD171C5EBB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1" y="1956"/>
                <a:ext cx="3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Oval 64">
                <a:extLst>
                  <a:ext uri="{FF2B5EF4-FFF2-40B4-BE49-F238E27FC236}">
                    <a16:creationId xmlns:a16="http://schemas.microsoft.com/office/drawing/2014/main" id="{45B6C62E-EB43-C3EF-B09E-1C54BDE7A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3" y="1820"/>
                <a:ext cx="82" cy="8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67" name="Line 65">
                <a:extLst>
                  <a:ext uri="{FF2B5EF4-FFF2-40B4-BE49-F238E27FC236}">
                    <a16:creationId xmlns:a16="http://schemas.microsoft.com/office/drawing/2014/main" id="{1937F214-9A21-4D31-2CD7-F9D1ABF3A2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1865"/>
                <a:ext cx="30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Line 66">
                <a:extLst>
                  <a:ext uri="{FF2B5EF4-FFF2-40B4-BE49-F238E27FC236}">
                    <a16:creationId xmlns:a16="http://schemas.microsoft.com/office/drawing/2014/main" id="{C88BD4DE-D756-E5F6-4332-18C2F26BD6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818" y="1763"/>
                <a:ext cx="2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Line 67">
                <a:extLst>
                  <a:ext uri="{FF2B5EF4-FFF2-40B4-BE49-F238E27FC236}">
                    <a16:creationId xmlns:a16="http://schemas.microsoft.com/office/drawing/2014/main" id="{B3FF77B1-BBE0-A3DA-875B-671D0DFE8F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057" y="1253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Line 68">
                <a:extLst>
                  <a:ext uri="{FF2B5EF4-FFF2-40B4-BE49-F238E27FC236}">
                    <a16:creationId xmlns:a16="http://schemas.microsoft.com/office/drawing/2014/main" id="{844298A6-32F8-DC39-510B-DA19D0A942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375" y="1048"/>
                <a:ext cx="318" cy="7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Line 69">
                <a:extLst>
                  <a:ext uri="{FF2B5EF4-FFF2-40B4-BE49-F238E27FC236}">
                    <a16:creationId xmlns:a16="http://schemas.microsoft.com/office/drawing/2014/main" id="{EAA71942-27CA-9F40-5453-71C3C2E065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057" y="1684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" name="Text Box 70">
                <a:extLst>
                  <a:ext uri="{FF2B5EF4-FFF2-40B4-BE49-F238E27FC236}">
                    <a16:creationId xmlns:a16="http://schemas.microsoft.com/office/drawing/2014/main" id="{4275DC67-8D07-C577-2011-5B0B3590CC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4" y="889"/>
                <a:ext cx="172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R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73" name="Text Box 71">
                <a:extLst>
                  <a:ext uri="{FF2B5EF4-FFF2-40B4-BE49-F238E27FC236}">
                    <a16:creationId xmlns:a16="http://schemas.microsoft.com/office/drawing/2014/main" id="{1A56156C-71C8-E917-E9A2-4F2A67DFB6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4" y="1872"/>
                <a:ext cx="172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S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grpSp>
            <p:nvGrpSpPr>
              <p:cNvPr id="74" name="Group 72">
                <a:extLst>
                  <a:ext uri="{FF2B5EF4-FFF2-40B4-BE49-F238E27FC236}">
                    <a16:creationId xmlns:a16="http://schemas.microsoft.com/office/drawing/2014/main" id="{AC23921E-36C3-34F2-451A-E0D506CF2A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5125" y="1791"/>
                <a:ext cx="208" cy="171"/>
                <a:chOff x="4682" y="3884"/>
                <a:chExt cx="208" cy="171"/>
              </a:xfrm>
            </p:grpSpPr>
            <p:sp>
              <p:nvSpPr>
                <p:cNvPr id="76" name="Text Box 73">
                  <a:extLst>
                    <a:ext uri="{FF2B5EF4-FFF2-40B4-BE49-F238E27FC236}">
                      <a16:creationId xmlns:a16="http://schemas.microsoft.com/office/drawing/2014/main" id="{399ADE8F-D4B4-161F-FDE7-6A610373A9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rot="5400000">
                  <a:off x="4700" y="3866"/>
                  <a:ext cx="171" cy="2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kumimoji="1" lang="en-US" altLang="zh-CN" sz="2400">
                      <a:ea typeface="楷体_GB2312" pitchFamily="49" charset="-122"/>
                    </a:rPr>
                    <a:t>Q</a:t>
                  </a:r>
                  <a:endParaRPr kumimoji="1" lang="en-US" altLang="zh-CN" sz="2400" baseline="-25000">
                    <a:ea typeface="楷体_GB2312" pitchFamily="49" charset="-122"/>
                  </a:endParaRPr>
                </a:p>
              </p:txBody>
            </p:sp>
            <p:sp>
              <p:nvSpPr>
                <p:cNvPr id="77" name="Line 74">
                  <a:extLst>
                    <a:ext uri="{FF2B5EF4-FFF2-40B4-BE49-F238E27FC236}">
                      <a16:creationId xmlns:a16="http://schemas.microsoft.com/office/drawing/2014/main" id="{7D5AB217-8527-D960-B3A7-49E35B12CA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4810" y="3964"/>
                  <a:ext cx="1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5" name="Text Box 75">
                <a:extLst>
                  <a:ext uri="{FF2B5EF4-FFF2-40B4-BE49-F238E27FC236}">
                    <a16:creationId xmlns:a16="http://schemas.microsoft.com/office/drawing/2014/main" id="{722A3CD9-5CE9-870D-A6A4-52729D6294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43" y="1002"/>
                <a:ext cx="171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</p:grpSp>
        <p:sp>
          <p:nvSpPr>
            <p:cNvPr id="50" name="Text Box 76">
              <a:extLst>
                <a:ext uri="{FF2B5EF4-FFF2-40B4-BE49-F238E27FC236}">
                  <a16:creationId xmlns:a16="http://schemas.microsoft.com/office/drawing/2014/main" id="{0602CAC4-0289-D30D-27B1-2A06FAD9D6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6" y="173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51" name="Text Box 77">
              <a:extLst>
                <a:ext uri="{FF2B5EF4-FFF2-40B4-BE49-F238E27FC236}">
                  <a16:creationId xmlns:a16="http://schemas.microsoft.com/office/drawing/2014/main" id="{C959FF7B-6306-7422-089E-357CE56E8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2" y="1827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?</a:t>
              </a:r>
            </a:p>
          </p:txBody>
        </p:sp>
        <p:sp>
          <p:nvSpPr>
            <p:cNvPr id="52" name="Text Box 78">
              <a:extLst>
                <a:ext uri="{FF2B5EF4-FFF2-40B4-BE49-F238E27FC236}">
                  <a16:creationId xmlns:a16="http://schemas.microsoft.com/office/drawing/2014/main" id="{3A665D8B-9AC6-E911-54E6-0AB19FCA5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6" y="306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53" name="Text Box 79">
              <a:extLst>
                <a:ext uri="{FF2B5EF4-FFF2-40B4-BE49-F238E27FC236}">
                  <a16:creationId xmlns:a16="http://schemas.microsoft.com/office/drawing/2014/main" id="{6A62A1F8-184B-CFFE-F15C-DA685DB14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5" y="298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?</a:t>
              </a:r>
            </a:p>
          </p:txBody>
        </p:sp>
        <p:sp>
          <p:nvSpPr>
            <p:cNvPr id="54" name="Text Box 80">
              <a:extLst>
                <a:ext uri="{FF2B5EF4-FFF2-40B4-BE49-F238E27FC236}">
                  <a16:creationId xmlns:a16="http://schemas.microsoft.com/office/drawing/2014/main" id="{CE606871-A43F-7844-FD9D-0E8A47F80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6" y="261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0</a:t>
              </a:r>
            </a:p>
          </p:txBody>
        </p:sp>
        <p:sp>
          <p:nvSpPr>
            <p:cNvPr id="55" name="Text Box 81">
              <a:extLst>
                <a:ext uri="{FF2B5EF4-FFF2-40B4-BE49-F238E27FC236}">
                  <a16:creationId xmlns:a16="http://schemas.microsoft.com/office/drawing/2014/main" id="{9328189E-2CC0-6923-F98C-E6E75466A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6" y="218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0</a:t>
              </a:r>
            </a:p>
          </p:txBody>
        </p:sp>
      </p:grpSp>
      <p:grpSp>
        <p:nvGrpSpPr>
          <p:cNvPr id="86" name="Group 82">
            <a:extLst>
              <a:ext uri="{FF2B5EF4-FFF2-40B4-BE49-F238E27FC236}">
                <a16:creationId xmlns:a16="http://schemas.microsoft.com/office/drawing/2014/main" id="{B1A54186-BA93-74E9-C43A-A67F8CF21F35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3116560"/>
            <a:ext cx="1876425" cy="1062038"/>
            <a:chOff x="4505" y="1135"/>
            <a:chExt cx="1182" cy="669"/>
          </a:xfrm>
        </p:grpSpPr>
        <p:sp>
          <p:nvSpPr>
            <p:cNvPr id="87" name="Rectangle 83">
              <a:extLst>
                <a:ext uri="{FF2B5EF4-FFF2-40B4-BE49-F238E27FC236}">
                  <a16:creationId xmlns:a16="http://schemas.microsoft.com/office/drawing/2014/main" id="{804E3ECA-105F-D0A5-EE7B-E462236E6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4" y="1135"/>
              <a:ext cx="430" cy="66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grpSp>
          <p:nvGrpSpPr>
            <p:cNvPr id="88" name="Group 84">
              <a:extLst>
                <a:ext uri="{FF2B5EF4-FFF2-40B4-BE49-F238E27FC236}">
                  <a16:creationId xmlns:a16="http://schemas.microsoft.com/office/drawing/2014/main" id="{CC6EF76B-42DE-EBBB-E152-998A66C5EE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5" y="1317"/>
              <a:ext cx="222" cy="305"/>
              <a:chOff x="365" y="2319"/>
              <a:chExt cx="288" cy="305"/>
            </a:xfrm>
          </p:grpSpPr>
          <p:sp>
            <p:nvSpPr>
              <p:cNvPr id="98" name="Line 85">
                <a:extLst>
                  <a:ext uri="{FF2B5EF4-FFF2-40B4-BE49-F238E27FC236}">
                    <a16:creationId xmlns:a16="http://schemas.microsoft.com/office/drawing/2014/main" id="{0324EF4F-2E27-A556-159F-58ECD64879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" y="231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Line 86">
                <a:extLst>
                  <a:ext uri="{FF2B5EF4-FFF2-40B4-BE49-F238E27FC236}">
                    <a16:creationId xmlns:a16="http://schemas.microsoft.com/office/drawing/2014/main" id="{4AC91B5E-2747-E939-A482-F0A8534596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" y="262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9" name="Group 87">
              <a:extLst>
                <a:ext uri="{FF2B5EF4-FFF2-40B4-BE49-F238E27FC236}">
                  <a16:creationId xmlns:a16="http://schemas.microsoft.com/office/drawing/2014/main" id="{C41FA6B8-7415-D47E-E1B6-D5FA5E32B2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64" y="1317"/>
              <a:ext cx="225" cy="305"/>
              <a:chOff x="1090" y="2319"/>
              <a:chExt cx="288" cy="305"/>
            </a:xfrm>
          </p:grpSpPr>
          <p:sp>
            <p:nvSpPr>
              <p:cNvPr id="96" name="Line 88">
                <a:extLst>
                  <a:ext uri="{FF2B5EF4-FFF2-40B4-BE49-F238E27FC236}">
                    <a16:creationId xmlns:a16="http://schemas.microsoft.com/office/drawing/2014/main" id="{A15FEB5F-7AA3-621E-1D3C-1EEBDC3677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231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89">
                <a:extLst>
                  <a:ext uri="{FF2B5EF4-FFF2-40B4-BE49-F238E27FC236}">
                    <a16:creationId xmlns:a16="http://schemas.microsoft.com/office/drawing/2014/main" id="{D5309F9A-F934-AC66-0405-B4B3F29E38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262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0" name="Text Box 90">
              <a:extLst>
                <a:ext uri="{FF2B5EF4-FFF2-40B4-BE49-F238E27FC236}">
                  <a16:creationId xmlns:a16="http://schemas.microsoft.com/office/drawing/2014/main" id="{2E2DCC06-4423-0F61-A58B-FFBF438BF2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7" y="1162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91" name="Text Box 91">
              <a:extLst>
                <a:ext uri="{FF2B5EF4-FFF2-40B4-BE49-F238E27FC236}">
                  <a16:creationId xmlns:a16="http://schemas.microsoft.com/office/drawing/2014/main" id="{88F1B305-4170-6AE9-D2E5-15FFC2210B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7" y="150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92" name="Text Box 92">
              <a:extLst>
                <a:ext uri="{FF2B5EF4-FFF2-40B4-BE49-F238E27FC236}">
                  <a16:creationId xmlns:a16="http://schemas.microsoft.com/office/drawing/2014/main" id="{4E04A919-7112-FDF1-BB97-2AB35A76C4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2" y="1162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93" name="Text Box 93">
              <a:extLst>
                <a:ext uri="{FF2B5EF4-FFF2-40B4-BE49-F238E27FC236}">
                  <a16:creationId xmlns:a16="http://schemas.microsoft.com/office/drawing/2014/main" id="{3DC79966-DD12-29F4-7D63-9D5508CCD4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2" y="1498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94" name="Line 94">
              <a:extLst>
                <a:ext uri="{FF2B5EF4-FFF2-40B4-BE49-F238E27FC236}">
                  <a16:creationId xmlns:a16="http://schemas.microsoft.com/office/drawing/2014/main" id="{47F9E8C4-4D1D-A017-90D1-DDD53FC873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0" y="154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Oval 95">
              <a:extLst>
                <a:ext uri="{FF2B5EF4-FFF2-40B4-BE49-F238E27FC236}">
                  <a16:creationId xmlns:a16="http://schemas.microsoft.com/office/drawing/2014/main" id="{147EE5B0-DB4C-D6B9-0A09-E0DABC7F1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2" y="1589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8533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698E3-7C8E-F928-D9E1-E28BB1BA2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基本</a:t>
            </a:r>
            <a:r>
              <a:rPr lang="en-US" altLang="zh-CN" dirty="0"/>
              <a:t>SR</a:t>
            </a:r>
            <a:r>
              <a:rPr lang="zh-CN" altLang="en-US" dirty="0"/>
              <a:t>锁存器特性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3A68EF-9953-4D47-B6FC-303AAEE7D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02A9DB-71CB-1306-70EC-251920EED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10</a:t>
            </a:fld>
            <a:r>
              <a:rPr lang="en-US" altLang="zh-CN" dirty="0"/>
              <a:t>/22</a:t>
            </a:r>
            <a:endParaRPr lang="en-US" dirty="0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CF81EB16-C23C-BAB1-2572-85C49EE5D40B}"/>
              </a:ext>
            </a:extLst>
          </p:cNvPr>
          <p:cNvGrpSpPr>
            <a:grpSpLocks/>
          </p:cNvGrpSpPr>
          <p:nvPr/>
        </p:nvGrpSpPr>
        <p:grpSpPr bwMode="auto">
          <a:xfrm>
            <a:off x="955676" y="1511508"/>
            <a:ext cx="1876425" cy="1062037"/>
            <a:chOff x="3989" y="1049"/>
            <a:chExt cx="1182" cy="669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692FB2AD-3801-82C6-E34D-4043B55FD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049"/>
              <a:ext cx="430" cy="66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B118C728-96DE-2C6C-42B2-AF9241E445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9" y="1231"/>
              <a:ext cx="222" cy="305"/>
              <a:chOff x="365" y="2319"/>
              <a:chExt cx="288" cy="305"/>
            </a:xfrm>
          </p:grpSpPr>
          <p:sp>
            <p:nvSpPr>
              <p:cNvPr id="18" name="Line 6">
                <a:extLst>
                  <a:ext uri="{FF2B5EF4-FFF2-40B4-BE49-F238E27FC236}">
                    <a16:creationId xmlns:a16="http://schemas.microsoft.com/office/drawing/2014/main" id="{6C381142-821B-08D1-2F9C-27246F2C3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" y="231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7">
                <a:extLst>
                  <a:ext uri="{FF2B5EF4-FFF2-40B4-BE49-F238E27FC236}">
                    <a16:creationId xmlns:a16="http://schemas.microsoft.com/office/drawing/2014/main" id="{36BDD5D9-B3F2-2562-BADB-0C742A7697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" y="262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3435DA3-B83F-A95D-FF65-FACC71FF78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8" y="1231"/>
              <a:ext cx="225" cy="305"/>
              <a:chOff x="1090" y="2319"/>
              <a:chExt cx="288" cy="305"/>
            </a:xfrm>
          </p:grpSpPr>
          <p:sp>
            <p:nvSpPr>
              <p:cNvPr id="16" name="Line 9">
                <a:extLst>
                  <a:ext uri="{FF2B5EF4-FFF2-40B4-BE49-F238E27FC236}">
                    <a16:creationId xmlns:a16="http://schemas.microsoft.com/office/drawing/2014/main" id="{AE0BCD0E-426D-DEC4-2371-7B464D15D3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231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10">
                <a:extLst>
                  <a:ext uri="{FF2B5EF4-FFF2-40B4-BE49-F238E27FC236}">
                    <a16:creationId xmlns:a16="http://schemas.microsoft.com/office/drawing/2014/main" id="{827F6B27-6EB0-F417-3A9A-8C6BB34D5D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262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68B54936-13EA-A906-66B3-CF0DB22E86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" y="107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A5269835-91C6-1686-2BD9-1A34C667EB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" y="1420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F524A1F7-DF0E-279F-D7CD-0840EE68E8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076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C0C4D940-B937-F162-634A-BB3871CA5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6" y="1412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2D2CFC02-7D43-B697-506E-5F9BF0EF65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4" y="145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Oval 16">
              <a:extLst>
                <a:ext uri="{FF2B5EF4-FFF2-40B4-BE49-F238E27FC236}">
                  <a16:creationId xmlns:a16="http://schemas.microsoft.com/office/drawing/2014/main" id="{F945CD6E-E97A-66AB-256E-392CDB397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" y="1503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pSp>
        <p:nvGrpSpPr>
          <p:cNvPr id="20" name="Group 17">
            <a:extLst>
              <a:ext uri="{FF2B5EF4-FFF2-40B4-BE49-F238E27FC236}">
                <a16:creationId xmlns:a16="http://schemas.microsoft.com/office/drawing/2014/main" id="{1C490130-4145-C885-8979-965255463AD8}"/>
              </a:ext>
            </a:extLst>
          </p:cNvPr>
          <p:cNvGrpSpPr>
            <a:grpSpLocks/>
          </p:cNvGrpSpPr>
          <p:nvPr/>
        </p:nvGrpSpPr>
        <p:grpSpPr bwMode="auto">
          <a:xfrm>
            <a:off x="3152776" y="1403558"/>
            <a:ext cx="1871662" cy="1336675"/>
            <a:chOff x="3981" y="2003"/>
            <a:chExt cx="1179" cy="842"/>
          </a:xfrm>
        </p:grpSpPr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600C2E1B-0399-842E-D2B4-D5841C7F88B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782" y="2230"/>
              <a:ext cx="1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75A0A0B4-1CE2-F678-F094-2EBE64C127D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443" y="2152"/>
              <a:ext cx="215" cy="6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" name="Group 20">
              <a:extLst>
                <a:ext uri="{FF2B5EF4-FFF2-40B4-BE49-F238E27FC236}">
                  <a16:creationId xmlns:a16="http://schemas.microsoft.com/office/drawing/2014/main" id="{EFA6A8B3-3075-65D7-1AB5-893B56BE8C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0" y="2003"/>
              <a:ext cx="284" cy="294"/>
              <a:chOff x="4173" y="2976"/>
              <a:chExt cx="431" cy="431"/>
            </a:xfrm>
          </p:grpSpPr>
          <p:grpSp>
            <p:nvGrpSpPr>
              <p:cNvPr id="47" name="Group 21">
                <a:extLst>
                  <a:ext uri="{FF2B5EF4-FFF2-40B4-BE49-F238E27FC236}">
                    <a16:creationId xmlns:a16="http://schemas.microsoft.com/office/drawing/2014/main" id="{2A1B6B9E-9E51-4313-0D51-4D694AD0D0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3" y="2976"/>
                <a:ext cx="431" cy="431"/>
                <a:chOff x="4445" y="2999"/>
                <a:chExt cx="295" cy="318"/>
              </a:xfrm>
            </p:grpSpPr>
            <p:sp>
              <p:nvSpPr>
                <p:cNvPr id="49" name="Arc 22">
                  <a:extLst>
                    <a:ext uri="{FF2B5EF4-FFF2-40B4-BE49-F238E27FC236}">
                      <a16:creationId xmlns:a16="http://schemas.microsoft.com/office/drawing/2014/main" id="{E6E7020A-B780-2065-4D24-5B0AFA62DB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5" y="2999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Arc 23">
                  <a:extLst>
                    <a:ext uri="{FF2B5EF4-FFF2-40B4-BE49-F238E27FC236}">
                      <a16:creationId xmlns:a16="http://schemas.microsoft.com/office/drawing/2014/main" id="{4BCD8341-DD0F-5298-6506-8CD011E970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 flipH="1">
                  <a:off x="4445" y="3158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8" name="Arc 24">
                <a:extLst>
                  <a:ext uri="{FF2B5EF4-FFF2-40B4-BE49-F238E27FC236}">
                    <a16:creationId xmlns:a16="http://schemas.microsoft.com/office/drawing/2014/main" id="{1BA0152C-3A6E-103B-C8DD-A1D7A93221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2976"/>
                <a:ext cx="90" cy="430"/>
              </a:xfrm>
              <a:custGeom>
                <a:avLst/>
                <a:gdLst>
                  <a:gd name="T0" fmla="*/ 0 w 21838"/>
                  <a:gd name="T1" fmla="*/ 0 h 43200"/>
                  <a:gd name="T2" fmla="*/ 0 w 21838"/>
                  <a:gd name="T3" fmla="*/ 0 h 43200"/>
                  <a:gd name="T4" fmla="*/ 0 w 21838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838"/>
                  <a:gd name="T10" fmla="*/ 0 h 43200"/>
                  <a:gd name="T11" fmla="*/ 21838 w 21838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38" h="43200" fill="none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</a:path>
                  <a:path w="21838" h="43200" stroke="0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  <a:lnTo>
                      <a:pt x="238" y="21600"/>
                    </a:lnTo>
                    <a:lnTo>
                      <a:pt x="237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C9C4BA91-EFDE-2EA1-59EA-714F1A4E4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2092"/>
              <a:ext cx="29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6">
              <a:extLst>
                <a:ext uri="{FF2B5EF4-FFF2-40B4-BE49-F238E27FC236}">
                  <a16:creationId xmlns:a16="http://schemas.microsoft.com/office/drawing/2014/main" id="{114259D1-4204-E2EB-6728-8A61FD1FC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2222"/>
              <a:ext cx="1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414ED976-F2CA-D79B-1EA9-597AFEB8EC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7" y="2160"/>
              <a:ext cx="2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8">
              <a:extLst>
                <a:ext uri="{FF2B5EF4-FFF2-40B4-BE49-F238E27FC236}">
                  <a16:creationId xmlns:a16="http://schemas.microsoft.com/office/drawing/2014/main" id="{2C787938-8B7F-4058-D3EC-AD37CD2046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2631"/>
              <a:ext cx="1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29">
              <a:extLst>
                <a:ext uri="{FF2B5EF4-FFF2-40B4-BE49-F238E27FC236}">
                  <a16:creationId xmlns:a16="http://schemas.microsoft.com/office/drawing/2014/main" id="{0DDC2E0E-4454-7EE3-1668-1FB36DF1C5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2760"/>
              <a:ext cx="29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A2242EA2-10A1-5FB3-319F-D6E9C06957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7" y="2699"/>
              <a:ext cx="2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DB6F0064-8DF1-7BEF-F3BB-C18750C42E6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782" y="2630"/>
              <a:ext cx="1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32">
              <a:extLst>
                <a:ext uri="{FF2B5EF4-FFF2-40B4-BE49-F238E27FC236}">
                  <a16:creationId xmlns:a16="http://schemas.microsoft.com/office/drawing/2014/main" id="{C4BAB404-131A-2E8A-9C03-92FD4591572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88" y="2284"/>
              <a:ext cx="12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33">
              <a:extLst>
                <a:ext uri="{FF2B5EF4-FFF2-40B4-BE49-F238E27FC236}">
                  <a16:creationId xmlns:a16="http://schemas.microsoft.com/office/drawing/2014/main" id="{87A40261-0F87-78D0-F83D-A3FB44DEF96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443" y="2106"/>
              <a:ext cx="215" cy="6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34">
              <a:extLst>
                <a:ext uri="{FF2B5EF4-FFF2-40B4-BE49-F238E27FC236}">
                  <a16:creationId xmlns:a16="http://schemas.microsoft.com/office/drawing/2014/main" id="{44ADBD1C-AC45-F8F6-7BF5-5F8B9F9B6A9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88" y="2576"/>
              <a:ext cx="12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Text Box 35">
              <a:extLst>
                <a:ext uri="{FF2B5EF4-FFF2-40B4-BE49-F238E27FC236}">
                  <a16:creationId xmlns:a16="http://schemas.microsoft.com/office/drawing/2014/main" id="{FCF634F4-2D4B-0677-23A0-9235538628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1" y="2003"/>
              <a:ext cx="134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35" name="Text Box 36">
              <a:extLst>
                <a:ext uri="{FF2B5EF4-FFF2-40B4-BE49-F238E27FC236}">
                  <a16:creationId xmlns:a16="http://schemas.microsoft.com/office/drawing/2014/main" id="{715B84E3-E7F5-EAA1-606F-D29F395071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1" y="2638"/>
              <a:ext cx="134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grpSp>
          <p:nvGrpSpPr>
            <p:cNvPr id="36" name="Group 37">
              <a:extLst>
                <a:ext uri="{FF2B5EF4-FFF2-40B4-BE49-F238E27FC236}">
                  <a16:creationId xmlns:a16="http://schemas.microsoft.com/office/drawing/2014/main" id="{E5103F5F-C340-951E-5D73-B5BCAA3DAE83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4988" y="2630"/>
              <a:ext cx="209" cy="134"/>
              <a:chOff x="4582" y="3884"/>
              <a:chExt cx="308" cy="171"/>
            </a:xfrm>
          </p:grpSpPr>
          <p:sp>
            <p:nvSpPr>
              <p:cNvPr id="45" name="Text Box 38">
                <a:extLst>
                  <a:ext uri="{FF2B5EF4-FFF2-40B4-BE49-F238E27FC236}">
                    <a16:creationId xmlns:a16="http://schemas.microsoft.com/office/drawing/2014/main" id="{AF15481E-ABDA-A5BC-C2C9-EA82093796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4649" y="3817"/>
                <a:ext cx="171" cy="3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46" name="Line 39">
                <a:extLst>
                  <a:ext uri="{FF2B5EF4-FFF2-40B4-BE49-F238E27FC236}">
                    <a16:creationId xmlns:a16="http://schemas.microsoft.com/office/drawing/2014/main" id="{A132430A-D029-84A0-C850-8596EEC838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810" y="3964"/>
                <a:ext cx="15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7" name="Text Box 40">
              <a:extLst>
                <a:ext uri="{FF2B5EF4-FFF2-40B4-BE49-F238E27FC236}">
                  <a16:creationId xmlns:a16="http://schemas.microsoft.com/office/drawing/2014/main" id="{3C0B0E30-E26D-30EE-1302-D43DEBF7E0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6" y="2071"/>
              <a:ext cx="134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endParaRPr kumimoji="1"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38" name="Oval 41">
              <a:extLst>
                <a:ext uri="{FF2B5EF4-FFF2-40B4-BE49-F238E27FC236}">
                  <a16:creationId xmlns:a16="http://schemas.microsoft.com/office/drawing/2014/main" id="{5BAD930D-D0A4-643A-1D13-F695C3955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4" y="2660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9" name="Oval 42">
              <a:extLst>
                <a:ext uri="{FF2B5EF4-FFF2-40B4-BE49-F238E27FC236}">
                  <a16:creationId xmlns:a16="http://schemas.microsoft.com/office/drawing/2014/main" id="{FE05095E-E5D4-2768-E98A-10923932A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4" y="2116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grpSp>
          <p:nvGrpSpPr>
            <p:cNvPr id="40" name="Group 43">
              <a:extLst>
                <a:ext uri="{FF2B5EF4-FFF2-40B4-BE49-F238E27FC236}">
                  <a16:creationId xmlns:a16="http://schemas.microsoft.com/office/drawing/2014/main" id="{A3B75057-1B5D-D769-0696-A0C509791A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0" y="2548"/>
              <a:ext cx="284" cy="294"/>
              <a:chOff x="4173" y="2976"/>
              <a:chExt cx="431" cy="431"/>
            </a:xfrm>
          </p:grpSpPr>
          <p:grpSp>
            <p:nvGrpSpPr>
              <p:cNvPr id="41" name="Group 44">
                <a:extLst>
                  <a:ext uri="{FF2B5EF4-FFF2-40B4-BE49-F238E27FC236}">
                    <a16:creationId xmlns:a16="http://schemas.microsoft.com/office/drawing/2014/main" id="{F32F528F-2222-31CD-DACC-FB55095FCC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3" y="2976"/>
                <a:ext cx="431" cy="431"/>
                <a:chOff x="4445" y="2999"/>
                <a:chExt cx="295" cy="318"/>
              </a:xfrm>
            </p:grpSpPr>
            <p:sp>
              <p:nvSpPr>
                <p:cNvPr id="43" name="Arc 45">
                  <a:extLst>
                    <a:ext uri="{FF2B5EF4-FFF2-40B4-BE49-F238E27FC236}">
                      <a16:creationId xmlns:a16="http://schemas.microsoft.com/office/drawing/2014/main" id="{E46621E4-1F27-CDA3-6EAF-53F74F30A8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5" y="2999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" name="Arc 46">
                  <a:extLst>
                    <a:ext uri="{FF2B5EF4-FFF2-40B4-BE49-F238E27FC236}">
                      <a16:creationId xmlns:a16="http://schemas.microsoft.com/office/drawing/2014/main" id="{FC62BC3A-4B9E-423F-6589-408D7465BC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 flipH="1">
                  <a:off x="4445" y="3158"/>
                  <a:ext cx="295" cy="1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2" name="Arc 47">
                <a:extLst>
                  <a:ext uri="{FF2B5EF4-FFF2-40B4-BE49-F238E27FC236}">
                    <a16:creationId xmlns:a16="http://schemas.microsoft.com/office/drawing/2014/main" id="{780C0190-3E63-9A16-AFD5-9FF5A7E95C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2976"/>
                <a:ext cx="90" cy="430"/>
              </a:xfrm>
              <a:custGeom>
                <a:avLst/>
                <a:gdLst>
                  <a:gd name="T0" fmla="*/ 0 w 21838"/>
                  <a:gd name="T1" fmla="*/ 0 h 43200"/>
                  <a:gd name="T2" fmla="*/ 0 w 21838"/>
                  <a:gd name="T3" fmla="*/ 0 h 43200"/>
                  <a:gd name="T4" fmla="*/ 0 w 21838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838"/>
                  <a:gd name="T10" fmla="*/ 0 h 43200"/>
                  <a:gd name="T11" fmla="*/ 21838 w 21838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838" h="43200" fill="none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</a:path>
                  <a:path w="21838" h="43200" stroke="0" extrusionOk="0">
                    <a:moveTo>
                      <a:pt x="237" y="0"/>
                    </a:moveTo>
                    <a:cubicBezTo>
                      <a:pt x="12167" y="0"/>
                      <a:pt x="21838" y="9670"/>
                      <a:pt x="21838" y="21600"/>
                    </a:cubicBezTo>
                    <a:cubicBezTo>
                      <a:pt x="21838" y="33529"/>
                      <a:pt x="12167" y="43200"/>
                      <a:pt x="238" y="43200"/>
                    </a:cubicBezTo>
                    <a:cubicBezTo>
                      <a:pt x="158" y="43200"/>
                      <a:pt x="79" y="43199"/>
                      <a:pt x="0" y="43198"/>
                    </a:cubicBezTo>
                    <a:lnTo>
                      <a:pt x="238" y="21600"/>
                    </a:lnTo>
                    <a:lnTo>
                      <a:pt x="237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51" name="Group 48">
            <a:extLst>
              <a:ext uri="{FF2B5EF4-FFF2-40B4-BE49-F238E27FC236}">
                <a16:creationId xmlns:a16="http://schemas.microsoft.com/office/drawing/2014/main" id="{CFC28E74-0001-800F-1D22-DD9CDE1FB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098420"/>
              </p:ext>
            </p:extLst>
          </p:nvPr>
        </p:nvGraphicFramePr>
        <p:xfrm>
          <a:off x="955676" y="3707020"/>
          <a:ext cx="2989262" cy="2195514"/>
        </p:xfrm>
        <a:graphic>
          <a:graphicData uri="http://schemas.openxmlformats.org/drawingml/2006/table">
            <a:tbl>
              <a:tblPr/>
              <a:tblGrid>
                <a:gridCol w="563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3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387"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n+1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kumimoji="1" lang="zh-CN" altLang="en-US" sz="24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988"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禁止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988"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置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清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988"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2" name="Group 130">
            <a:extLst>
              <a:ext uri="{FF2B5EF4-FFF2-40B4-BE49-F238E27FC236}">
                <a16:creationId xmlns:a16="http://schemas.microsoft.com/office/drawing/2014/main" id="{BA79E458-A92F-ABBC-2239-DC85A2AB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218822"/>
              </p:ext>
            </p:extLst>
          </p:nvPr>
        </p:nvGraphicFramePr>
        <p:xfrm>
          <a:off x="5529263" y="1727408"/>
          <a:ext cx="2989263" cy="2195511"/>
        </p:xfrm>
        <a:graphic>
          <a:graphicData uri="http://schemas.openxmlformats.org/drawingml/2006/table">
            <a:tbl>
              <a:tblPr/>
              <a:tblGrid>
                <a:gridCol w="563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3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388"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n+1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kumimoji="1" lang="zh-CN" altLang="en-US" sz="24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987"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987"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清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2"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置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987"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0*</a:t>
                      </a:r>
                      <a:endParaRPr kumimoji="1" lang="en-US" altLang="zh-CN" sz="24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禁止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" name="Rectangle 172">
            <a:extLst>
              <a:ext uri="{FF2B5EF4-FFF2-40B4-BE49-F238E27FC236}">
                <a16:creationId xmlns:a16="http://schemas.microsoft.com/office/drawing/2014/main" id="{92BAEB2E-769F-FB1C-5182-0BBEF593B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426" y="1151145"/>
            <a:ext cx="12557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特性表</a:t>
            </a:r>
          </a:p>
        </p:txBody>
      </p:sp>
      <p:sp>
        <p:nvSpPr>
          <p:cNvPr id="54" name="Rectangle 173">
            <a:extLst>
              <a:ext uri="{FF2B5EF4-FFF2-40B4-BE49-F238E27FC236}">
                <a16:creationId xmlns:a16="http://schemas.microsoft.com/office/drawing/2014/main" id="{90CC91E3-E1B6-9E92-AB26-AA595E8FC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095833"/>
            <a:ext cx="12557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特性表</a:t>
            </a:r>
          </a:p>
        </p:txBody>
      </p:sp>
      <p:grpSp>
        <p:nvGrpSpPr>
          <p:cNvPr id="55" name="Group 174">
            <a:extLst>
              <a:ext uri="{FF2B5EF4-FFF2-40B4-BE49-F238E27FC236}">
                <a16:creationId xmlns:a16="http://schemas.microsoft.com/office/drawing/2014/main" id="{758AEDB9-432F-9759-D205-F403460EEA01}"/>
              </a:ext>
            </a:extLst>
          </p:cNvPr>
          <p:cNvGrpSpPr>
            <a:grpSpLocks/>
          </p:cNvGrpSpPr>
          <p:nvPr/>
        </p:nvGrpSpPr>
        <p:grpSpPr bwMode="auto">
          <a:xfrm>
            <a:off x="920751" y="3022808"/>
            <a:ext cx="7704137" cy="1152525"/>
            <a:chOff x="499" y="2137"/>
            <a:chExt cx="4853" cy="726"/>
          </a:xfrm>
        </p:grpSpPr>
        <p:sp>
          <p:nvSpPr>
            <p:cNvPr id="56" name="Line 175">
              <a:extLst>
                <a:ext uri="{FF2B5EF4-FFF2-40B4-BE49-F238E27FC236}">
                  <a16:creationId xmlns:a16="http://schemas.microsoft.com/office/drawing/2014/main" id="{C9CE69A9-CCAE-985A-15CE-D8EC827824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" y="2137"/>
              <a:ext cx="24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176">
              <a:extLst>
                <a:ext uri="{FF2B5EF4-FFF2-40B4-BE49-F238E27FC236}">
                  <a16:creationId xmlns:a16="http://schemas.microsoft.com/office/drawing/2014/main" id="{5DF80D4F-0386-D05C-30DE-4729AF5F0D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3" y="2137"/>
              <a:ext cx="0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177">
              <a:extLst>
                <a:ext uri="{FF2B5EF4-FFF2-40B4-BE49-F238E27FC236}">
                  <a16:creationId xmlns:a16="http://schemas.microsoft.com/office/drawing/2014/main" id="{610CE304-6E9F-B393-A57B-2B51AEF3C0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3" y="2863"/>
              <a:ext cx="23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" name="Group 186">
            <a:extLst>
              <a:ext uri="{FF2B5EF4-FFF2-40B4-BE49-F238E27FC236}">
                <a16:creationId xmlns:a16="http://schemas.microsoft.com/office/drawing/2014/main" id="{1A686B5C-3857-9807-4681-68E629CCA66E}"/>
              </a:ext>
            </a:extLst>
          </p:cNvPr>
          <p:cNvGrpSpPr>
            <a:grpSpLocks/>
          </p:cNvGrpSpPr>
          <p:nvPr/>
        </p:nvGrpSpPr>
        <p:grpSpPr bwMode="auto">
          <a:xfrm>
            <a:off x="4483101" y="4535695"/>
            <a:ext cx="3997325" cy="1341438"/>
            <a:chOff x="2743" y="3090"/>
            <a:chExt cx="2518" cy="845"/>
          </a:xfrm>
        </p:grpSpPr>
        <p:grpSp>
          <p:nvGrpSpPr>
            <p:cNvPr id="60" name="Group 91">
              <a:extLst>
                <a:ext uri="{FF2B5EF4-FFF2-40B4-BE49-F238E27FC236}">
                  <a16:creationId xmlns:a16="http://schemas.microsoft.com/office/drawing/2014/main" id="{087F56A6-8BA9-B343-33D2-B513F01BA9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2" y="3090"/>
              <a:ext cx="1179" cy="845"/>
              <a:chOff x="1948" y="1341"/>
              <a:chExt cx="1179" cy="845"/>
            </a:xfrm>
          </p:grpSpPr>
          <p:sp>
            <p:nvSpPr>
              <p:cNvPr id="78" name="Line 92">
                <a:extLst>
                  <a:ext uri="{FF2B5EF4-FFF2-40B4-BE49-F238E27FC236}">
                    <a16:creationId xmlns:a16="http://schemas.microsoft.com/office/drawing/2014/main" id="{48FC4EDF-6521-C8A6-C2FC-A2119E6236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749" y="1575"/>
                <a:ext cx="13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" name="Line 93">
                <a:extLst>
                  <a:ext uri="{FF2B5EF4-FFF2-40B4-BE49-F238E27FC236}">
                    <a16:creationId xmlns:a16="http://schemas.microsoft.com/office/drawing/2014/main" id="{68937C94-EE30-F595-1E88-971949AD92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2410" y="1497"/>
                <a:ext cx="215" cy="60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" name="Line 94">
                <a:extLst>
                  <a:ext uri="{FF2B5EF4-FFF2-40B4-BE49-F238E27FC236}">
                    <a16:creationId xmlns:a16="http://schemas.microsoft.com/office/drawing/2014/main" id="{84DC6B6B-7702-6952-73CC-5BE6402D7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7" y="1437"/>
                <a:ext cx="29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" name="Line 95">
                <a:extLst>
                  <a:ext uri="{FF2B5EF4-FFF2-40B4-BE49-F238E27FC236}">
                    <a16:creationId xmlns:a16="http://schemas.microsoft.com/office/drawing/2014/main" id="{04372145-A83D-973B-7844-038B9E8164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8" y="1567"/>
                <a:ext cx="1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" name="Line 96">
                <a:extLst>
                  <a:ext uri="{FF2B5EF4-FFF2-40B4-BE49-F238E27FC236}">
                    <a16:creationId xmlns:a16="http://schemas.microsoft.com/office/drawing/2014/main" id="{00E846D5-D0BE-3E1F-F179-36386F7BF6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4" y="1505"/>
                <a:ext cx="2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" name="Line 97">
                <a:extLst>
                  <a:ext uri="{FF2B5EF4-FFF2-40B4-BE49-F238E27FC236}">
                    <a16:creationId xmlns:a16="http://schemas.microsoft.com/office/drawing/2014/main" id="{3D9C18D2-2B5D-3263-AD6A-7DA0F19159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8" y="1976"/>
                <a:ext cx="1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" name="Line 98">
                <a:extLst>
                  <a:ext uri="{FF2B5EF4-FFF2-40B4-BE49-F238E27FC236}">
                    <a16:creationId xmlns:a16="http://schemas.microsoft.com/office/drawing/2014/main" id="{21309A34-4B34-EE96-27FB-B402C4744B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7" y="2105"/>
                <a:ext cx="29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" name="Line 99">
                <a:extLst>
                  <a:ext uri="{FF2B5EF4-FFF2-40B4-BE49-F238E27FC236}">
                    <a16:creationId xmlns:a16="http://schemas.microsoft.com/office/drawing/2014/main" id="{77516794-6FBA-6F54-A0AB-728396CEC1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4" y="2044"/>
                <a:ext cx="2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" name="Line 100">
                <a:extLst>
                  <a:ext uri="{FF2B5EF4-FFF2-40B4-BE49-F238E27FC236}">
                    <a16:creationId xmlns:a16="http://schemas.microsoft.com/office/drawing/2014/main" id="{203C1664-61BE-E8B4-D593-D4BD5B6E32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749" y="1975"/>
                <a:ext cx="13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" name="Line 101">
                <a:extLst>
                  <a:ext uri="{FF2B5EF4-FFF2-40B4-BE49-F238E27FC236}">
                    <a16:creationId xmlns:a16="http://schemas.microsoft.com/office/drawing/2014/main" id="{6BBAFDA2-CB2A-023C-06EF-4253E89027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155" y="1629"/>
                <a:ext cx="12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" name="Line 102">
                <a:extLst>
                  <a:ext uri="{FF2B5EF4-FFF2-40B4-BE49-F238E27FC236}">
                    <a16:creationId xmlns:a16="http://schemas.microsoft.com/office/drawing/2014/main" id="{36779220-8EF1-9AF5-AE55-69C22573DF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410" y="1451"/>
                <a:ext cx="215" cy="60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9" name="Line 103">
                <a:extLst>
                  <a:ext uri="{FF2B5EF4-FFF2-40B4-BE49-F238E27FC236}">
                    <a16:creationId xmlns:a16="http://schemas.microsoft.com/office/drawing/2014/main" id="{599EE71C-A9FB-B9C2-8DA3-5F290A544D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155" y="1921"/>
                <a:ext cx="12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" name="Text Box 104">
                <a:extLst>
                  <a:ext uri="{FF2B5EF4-FFF2-40B4-BE49-F238E27FC236}">
                    <a16:creationId xmlns:a16="http://schemas.microsoft.com/office/drawing/2014/main" id="{00D48916-FAC9-11CC-90B5-DD673DA5C7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8" y="1341"/>
                <a:ext cx="134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S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91" name="Text Box 105">
                <a:extLst>
                  <a:ext uri="{FF2B5EF4-FFF2-40B4-BE49-F238E27FC236}">
                    <a16:creationId xmlns:a16="http://schemas.microsoft.com/office/drawing/2014/main" id="{BC95B1E7-8283-D8FD-24CB-EEB8F3BBF1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8" y="1979"/>
                <a:ext cx="134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R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grpSp>
            <p:nvGrpSpPr>
              <p:cNvPr id="92" name="Group 106">
                <a:extLst>
                  <a:ext uri="{FF2B5EF4-FFF2-40B4-BE49-F238E27FC236}">
                    <a16:creationId xmlns:a16="http://schemas.microsoft.com/office/drawing/2014/main" id="{94D4FAD7-601E-24C8-6E4D-6310C06E6C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2955" y="1972"/>
                <a:ext cx="209" cy="134"/>
                <a:chOff x="4582" y="3884"/>
                <a:chExt cx="308" cy="171"/>
              </a:xfrm>
            </p:grpSpPr>
            <p:sp>
              <p:nvSpPr>
                <p:cNvPr id="98" name="Text Box 107">
                  <a:extLst>
                    <a:ext uri="{FF2B5EF4-FFF2-40B4-BE49-F238E27FC236}">
                      <a16:creationId xmlns:a16="http://schemas.microsoft.com/office/drawing/2014/main" id="{250C04B5-E434-4A11-777B-BDD55687BE2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rot="5400000">
                  <a:off x="4649" y="3817"/>
                  <a:ext cx="171" cy="3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kumimoji="1" lang="en-US" altLang="zh-CN" sz="2400">
                      <a:ea typeface="楷体_GB2312" pitchFamily="49" charset="-122"/>
                    </a:rPr>
                    <a:t>Q</a:t>
                  </a:r>
                  <a:endParaRPr kumimoji="1" lang="en-US" altLang="zh-CN" sz="2400" baseline="-25000">
                    <a:ea typeface="楷体_GB2312" pitchFamily="49" charset="-122"/>
                  </a:endParaRPr>
                </a:p>
              </p:txBody>
            </p:sp>
            <p:sp>
              <p:nvSpPr>
                <p:cNvPr id="99" name="Line 108">
                  <a:extLst>
                    <a:ext uri="{FF2B5EF4-FFF2-40B4-BE49-F238E27FC236}">
                      <a16:creationId xmlns:a16="http://schemas.microsoft.com/office/drawing/2014/main" id="{589C45D6-E551-9BD4-D983-401E434651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4810" y="3964"/>
                  <a:ext cx="1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3" name="Text Box 109">
                <a:extLst>
                  <a:ext uri="{FF2B5EF4-FFF2-40B4-BE49-F238E27FC236}">
                    <a16:creationId xmlns:a16="http://schemas.microsoft.com/office/drawing/2014/main" id="{9CAD17CA-9B72-E65F-73A2-39A1880C0F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3" y="1412"/>
                <a:ext cx="134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  <a:endParaRPr kumimoji="1" lang="en-US" altLang="zh-CN" sz="2400" baseline="-25000">
                  <a:ea typeface="楷体_GB2312" pitchFamily="49" charset="-122"/>
                </a:endParaRPr>
              </a:p>
            </p:txBody>
          </p:sp>
          <p:sp>
            <p:nvSpPr>
              <p:cNvPr id="94" name="Oval 110">
                <a:extLst>
                  <a:ext uri="{FF2B5EF4-FFF2-40B4-BE49-F238E27FC236}">
                    <a16:creationId xmlns:a16="http://schemas.microsoft.com/office/drawing/2014/main" id="{3925FAD1-6F2B-6821-9B01-A936D3D884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1" y="2005"/>
                <a:ext cx="68" cy="6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95" name="Oval 111">
                <a:extLst>
                  <a:ext uri="{FF2B5EF4-FFF2-40B4-BE49-F238E27FC236}">
                    <a16:creationId xmlns:a16="http://schemas.microsoft.com/office/drawing/2014/main" id="{D701CF4D-B73A-A0DE-7EB0-8DE5E5C0B5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1" y="1461"/>
                <a:ext cx="68" cy="6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96" name="AutoShape 112">
                <a:extLst>
                  <a:ext uri="{FF2B5EF4-FFF2-40B4-BE49-F238E27FC236}">
                    <a16:creationId xmlns:a16="http://schemas.microsoft.com/office/drawing/2014/main" id="{7C642705-351A-3E88-2407-5F996AB41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6" y="1355"/>
                <a:ext cx="245" cy="284"/>
              </a:xfrm>
              <a:prstGeom prst="flowChartDelay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97" name="AutoShape 113">
                <a:extLst>
                  <a:ext uri="{FF2B5EF4-FFF2-40B4-BE49-F238E27FC236}">
                    <a16:creationId xmlns:a16="http://schemas.microsoft.com/office/drawing/2014/main" id="{B39EBFB4-CD19-74A7-5979-1C350360A8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6" y="1888"/>
                <a:ext cx="245" cy="284"/>
              </a:xfrm>
              <a:prstGeom prst="flowChartDelay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1" name="Rectangle 115">
              <a:extLst>
                <a:ext uri="{FF2B5EF4-FFF2-40B4-BE49-F238E27FC236}">
                  <a16:creationId xmlns:a16="http://schemas.microsoft.com/office/drawing/2014/main" id="{CCBDBC41-F46A-77DA-696F-8F9B67F5E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2" y="3141"/>
              <a:ext cx="430" cy="66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grpSp>
          <p:nvGrpSpPr>
            <p:cNvPr id="62" name="Group 116">
              <a:extLst>
                <a:ext uri="{FF2B5EF4-FFF2-40B4-BE49-F238E27FC236}">
                  <a16:creationId xmlns:a16="http://schemas.microsoft.com/office/drawing/2014/main" id="{514F1786-3225-2547-B904-9E266E1F29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3" y="3323"/>
              <a:ext cx="222" cy="305"/>
              <a:chOff x="365" y="2319"/>
              <a:chExt cx="288" cy="305"/>
            </a:xfrm>
          </p:grpSpPr>
          <p:sp>
            <p:nvSpPr>
              <p:cNvPr id="76" name="Line 117">
                <a:extLst>
                  <a:ext uri="{FF2B5EF4-FFF2-40B4-BE49-F238E27FC236}">
                    <a16:creationId xmlns:a16="http://schemas.microsoft.com/office/drawing/2014/main" id="{1E55B5B0-376B-605A-FE6F-26BD335CE8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" y="231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Line 118">
                <a:extLst>
                  <a:ext uri="{FF2B5EF4-FFF2-40B4-BE49-F238E27FC236}">
                    <a16:creationId xmlns:a16="http://schemas.microsoft.com/office/drawing/2014/main" id="{FF88C071-3AA7-AE93-9F75-906CBF2C85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" y="262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3" name="Group 119">
              <a:extLst>
                <a:ext uri="{FF2B5EF4-FFF2-40B4-BE49-F238E27FC236}">
                  <a16:creationId xmlns:a16="http://schemas.microsoft.com/office/drawing/2014/main" id="{CDBE6143-706B-81E2-E375-F2BDBDD0FE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2" y="3323"/>
              <a:ext cx="225" cy="305"/>
              <a:chOff x="1090" y="2319"/>
              <a:chExt cx="288" cy="305"/>
            </a:xfrm>
          </p:grpSpPr>
          <p:sp>
            <p:nvSpPr>
              <p:cNvPr id="74" name="Line 120">
                <a:extLst>
                  <a:ext uri="{FF2B5EF4-FFF2-40B4-BE49-F238E27FC236}">
                    <a16:creationId xmlns:a16="http://schemas.microsoft.com/office/drawing/2014/main" id="{F96DDA96-326A-1020-E259-4E90252EFE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231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Line 121">
                <a:extLst>
                  <a:ext uri="{FF2B5EF4-FFF2-40B4-BE49-F238E27FC236}">
                    <a16:creationId xmlns:a16="http://schemas.microsoft.com/office/drawing/2014/main" id="{9CF91201-60DD-7A33-3CF1-283C872E06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262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" name="Text Box 122">
              <a:extLst>
                <a:ext uri="{FF2B5EF4-FFF2-40B4-BE49-F238E27FC236}">
                  <a16:creationId xmlns:a16="http://schemas.microsoft.com/office/drawing/2014/main" id="{2A0C485F-B7C2-2F2C-A8B0-B1DA19343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5" y="316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65" name="Text Box 123">
              <a:extLst>
                <a:ext uri="{FF2B5EF4-FFF2-40B4-BE49-F238E27FC236}">
                  <a16:creationId xmlns:a16="http://schemas.microsoft.com/office/drawing/2014/main" id="{D50EA7EE-710B-E144-5CA9-1F11B60EE9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5" y="351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66" name="Text Box 124">
              <a:extLst>
                <a:ext uri="{FF2B5EF4-FFF2-40B4-BE49-F238E27FC236}">
                  <a16:creationId xmlns:a16="http://schemas.microsoft.com/office/drawing/2014/main" id="{E71031C2-D856-7DED-B4FE-45BD38EAAF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0" y="3168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67" name="Text Box 125">
              <a:extLst>
                <a:ext uri="{FF2B5EF4-FFF2-40B4-BE49-F238E27FC236}">
                  <a16:creationId xmlns:a16="http://schemas.microsoft.com/office/drawing/2014/main" id="{7252B395-1F95-6A21-E7B3-9CBBFC5688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0" y="3504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68" name="Line 126">
              <a:extLst>
                <a:ext uri="{FF2B5EF4-FFF2-40B4-BE49-F238E27FC236}">
                  <a16:creationId xmlns:a16="http://schemas.microsoft.com/office/drawing/2014/main" id="{9BD4106F-E21B-7E4F-B2E6-0076E7274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355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Oval 127">
              <a:extLst>
                <a:ext uri="{FF2B5EF4-FFF2-40B4-BE49-F238E27FC236}">
                  <a16:creationId xmlns:a16="http://schemas.microsoft.com/office/drawing/2014/main" id="{D9A2EAE6-8240-1A2C-5B1B-1273B1574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" y="3595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70" name="Oval 128">
              <a:extLst>
                <a:ext uri="{FF2B5EF4-FFF2-40B4-BE49-F238E27FC236}">
                  <a16:creationId xmlns:a16="http://schemas.microsoft.com/office/drawing/2014/main" id="{8F957CED-4931-6AB2-66A5-27655FB2F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4" y="3300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71" name="Oval 129">
              <a:extLst>
                <a:ext uri="{FF2B5EF4-FFF2-40B4-BE49-F238E27FC236}">
                  <a16:creationId xmlns:a16="http://schemas.microsoft.com/office/drawing/2014/main" id="{82C07568-CD67-4C8A-1677-6B8108B20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4" y="3595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72" name="Line 178">
              <a:extLst>
                <a:ext uri="{FF2B5EF4-FFF2-40B4-BE49-F238E27FC236}">
                  <a16:creationId xmlns:a16="http://schemas.microsoft.com/office/drawing/2014/main" id="{FF6D1D87-E109-EF47-31C4-1B98B3C1F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2" y="3092"/>
              <a:ext cx="1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181">
              <a:extLst>
                <a:ext uri="{FF2B5EF4-FFF2-40B4-BE49-F238E27FC236}">
                  <a16:creationId xmlns:a16="http://schemas.microsoft.com/office/drawing/2014/main" id="{A203125E-4329-EAEC-62D8-15852E55C8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5" y="3721"/>
              <a:ext cx="1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0" name="Group 185">
            <a:extLst>
              <a:ext uri="{FF2B5EF4-FFF2-40B4-BE49-F238E27FC236}">
                <a16:creationId xmlns:a16="http://schemas.microsoft.com/office/drawing/2014/main" id="{0C3D855D-F89C-F5F7-E8EC-1C16CDDDE365}"/>
              </a:ext>
            </a:extLst>
          </p:cNvPr>
          <p:cNvGrpSpPr>
            <a:grpSpLocks/>
          </p:cNvGrpSpPr>
          <p:nvPr/>
        </p:nvGrpSpPr>
        <p:grpSpPr bwMode="auto">
          <a:xfrm>
            <a:off x="1139826" y="3829258"/>
            <a:ext cx="769937" cy="0"/>
            <a:chOff x="637" y="2645"/>
            <a:chExt cx="485" cy="0"/>
          </a:xfrm>
        </p:grpSpPr>
        <p:sp>
          <p:nvSpPr>
            <p:cNvPr id="101" name="Line 183">
              <a:extLst>
                <a:ext uri="{FF2B5EF4-FFF2-40B4-BE49-F238E27FC236}">
                  <a16:creationId xmlns:a16="http://schemas.microsoft.com/office/drawing/2014/main" id="{21BA180E-6CE3-4646-5545-E00B4E23BF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" y="2645"/>
              <a:ext cx="1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184">
              <a:extLst>
                <a:ext uri="{FF2B5EF4-FFF2-40B4-BE49-F238E27FC236}">
                  <a16:creationId xmlns:a16="http://schemas.microsoft.com/office/drawing/2014/main" id="{3A56C475-EB4E-B15E-560A-25E6989714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" y="2645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85867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430CE3-6C80-A8FE-0C7E-1494A31B3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两个激励输入端</a:t>
            </a:r>
          </a:p>
          <a:p>
            <a:pPr lvl="1"/>
            <a:r>
              <a:rPr lang="en-US" altLang="zh-CN" dirty="0"/>
              <a:t>R</a:t>
            </a:r>
            <a:r>
              <a:rPr lang="zh-CN" altLang="en-US" dirty="0"/>
              <a:t>：</a:t>
            </a:r>
            <a:r>
              <a:rPr lang="en-US" altLang="zh-CN" dirty="0"/>
              <a:t>Reset</a:t>
            </a:r>
            <a:r>
              <a:rPr lang="zh-CN" altLang="en-US" dirty="0"/>
              <a:t>，复位</a:t>
            </a:r>
            <a:r>
              <a:rPr lang="en-US" altLang="zh-CN" dirty="0"/>
              <a:t>/</a:t>
            </a:r>
            <a:r>
              <a:rPr lang="zh-CN" altLang="en-US" dirty="0"/>
              <a:t>置</a:t>
            </a:r>
            <a:r>
              <a:rPr lang="en-US" altLang="zh-CN" dirty="0"/>
              <a:t>0/</a:t>
            </a:r>
            <a:r>
              <a:rPr lang="zh-CN" altLang="en-US" dirty="0"/>
              <a:t>清</a:t>
            </a:r>
            <a:r>
              <a:rPr lang="en-US" altLang="zh-CN" dirty="0"/>
              <a:t>0</a:t>
            </a:r>
            <a:r>
              <a:rPr lang="zh-CN" altLang="en-US" dirty="0"/>
              <a:t>，有效时，</a:t>
            </a:r>
            <a:r>
              <a:rPr lang="en-US" altLang="zh-CN" dirty="0"/>
              <a:t>Q=0</a:t>
            </a:r>
            <a:r>
              <a:rPr lang="zh-CN" altLang="en-US" dirty="0"/>
              <a:t>，</a:t>
            </a:r>
            <a:r>
              <a:rPr lang="en-US" altLang="zh-CN" dirty="0"/>
              <a:t>Q=1</a:t>
            </a:r>
            <a:endParaRPr lang="zh-CN" altLang="en-US" dirty="0"/>
          </a:p>
          <a:p>
            <a:pPr lvl="1"/>
            <a:r>
              <a:rPr lang="en-US" altLang="zh-CN" dirty="0"/>
              <a:t>S</a:t>
            </a:r>
            <a:r>
              <a:rPr lang="zh-CN" altLang="en-US" dirty="0"/>
              <a:t>：</a:t>
            </a:r>
            <a:r>
              <a:rPr lang="en-US" altLang="zh-CN" dirty="0"/>
              <a:t>Set</a:t>
            </a:r>
            <a:r>
              <a:rPr lang="zh-CN" altLang="en-US" dirty="0"/>
              <a:t>，置位</a:t>
            </a:r>
            <a:r>
              <a:rPr lang="en-US" altLang="zh-CN" dirty="0"/>
              <a:t>/</a:t>
            </a:r>
            <a:r>
              <a:rPr lang="zh-CN" altLang="en-US" dirty="0"/>
              <a:t>置</a:t>
            </a:r>
            <a:r>
              <a:rPr lang="en-US" altLang="zh-CN" dirty="0"/>
              <a:t>1</a:t>
            </a:r>
            <a:r>
              <a:rPr lang="zh-CN" altLang="en-US" dirty="0"/>
              <a:t>，有效时，</a:t>
            </a:r>
            <a:r>
              <a:rPr lang="en-US" altLang="zh-CN" dirty="0"/>
              <a:t>Q=1</a:t>
            </a:r>
            <a:r>
              <a:rPr lang="zh-CN" altLang="en-US" dirty="0"/>
              <a:t>，</a:t>
            </a:r>
            <a:r>
              <a:rPr lang="en-US" altLang="zh-CN" dirty="0"/>
              <a:t>Q=0</a:t>
            </a:r>
          </a:p>
          <a:p>
            <a:pPr lvl="1"/>
            <a:r>
              <a:rPr lang="zh-CN" altLang="en-US" dirty="0"/>
              <a:t>存在约束条件，要求</a:t>
            </a:r>
            <a:r>
              <a:rPr lang="en-US" altLang="zh-CN" dirty="0"/>
              <a:t>R</a:t>
            </a:r>
            <a:r>
              <a:rPr lang="zh-CN" altLang="en-US" dirty="0"/>
              <a:t>和</a:t>
            </a:r>
            <a:r>
              <a:rPr lang="en-US" altLang="zh-CN" dirty="0"/>
              <a:t>S</a:t>
            </a:r>
            <a:r>
              <a:rPr lang="zh-CN" altLang="en-US" dirty="0"/>
              <a:t>不能同时有效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锁存器状态更新不受时间控制</a:t>
            </a:r>
          </a:p>
          <a:p>
            <a:pPr lvl="1"/>
            <a:r>
              <a:rPr lang="zh-CN" altLang="en-US" dirty="0"/>
              <a:t>激励输入可以随时更新状态</a:t>
            </a:r>
            <a:endParaRPr kumimoji="1"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264EE5F-EF1D-CF66-81EA-4BBF5E1C0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基本</a:t>
            </a:r>
            <a:r>
              <a:rPr lang="en-US" altLang="zh-CN" dirty="0"/>
              <a:t>SR</a:t>
            </a:r>
            <a:r>
              <a:rPr lang="zh-CN" altLang="en-US" dirty="0"/>
              <a:t>锁存器特性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1BBCCC-1F98-56DE-14EB-5EC63D62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CDDC0D-36A4-F332-3439-20F33AAC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11</a:t>
            </a:fld>
            <a:r>
              <a:rPr lang="en-US" altLang="zh-CN" dirty="0"/>
              <a:t>/22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8D6A3F80-5AAF-2BE1-25E7-79488E784A0E}"/>
              </a:ext>
            </a:extLst>
          </p:cNvPr>
          <p:cNvGrpSpPr>
            <a:grpSpLocks/>
          </p:cNvGrpSpPr>
          <p:nvPr/>
        </p:nvGrpSpPr>
        <p:grpSpPr bwMode="auto">
          <a:xfrm>
            <a:off x="1328738" y="2840213"/>
            <a:ext cx="1876425" cy="1062038"/>
            <a:chOff x="3989" y="1049"/>
            <a:chExt cx="1182" cy="669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657D382B-2724-3940-10DC-B85176720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049"/>
              <a:ext cx="430" cy="66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349C136E-A5E0-7EFD-1B15-EF72A6A120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9" y="1231"/>
              <a:ext cx="222" cy="305"/>
              <a:chOff x="365" y="2319"/>
              <a:chExt cx="288" cy="305"/>
            </a:xfrm>
          </p:grpSpPr>
          <p:sp>
            <p:nvSpPr>
              <p:cNvPr id="18" name="Line 7">
                <a:extLst>
                  <a:ext uri="{FF2B5EF4-FFF2-40B4-BE49-F238E27FC236}">
                    <a16:creationId xmlns:a16="http://schemas.microsoft.com/office/drawing/2014/main" id="{697ED7D3-0517-2C5B-E99B-F329423C1B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" y="231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8">
                <a:extLst>
                  <a:ext uri="{FF2B5EF4-FFF2-40B4-BE49-F238E27FC236}">
                    <a16:creationId xmlns:a16="http://schemas.microsoft.com/office/drawing/2014/main" id="{8580E5AC-21E1-FCB3-2ACC-14072A20A8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" y="262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B1602BBA-CBEB-3942-7DCC-9D78696A3E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8" y="1231"/>
              <a:ext cx="225" cy="305"/>
              <a:chOff x="1090" y="2319"/>
              <a:chExt cx="288" cy="305"/>
            </a:xfrm>
          </p:grpSpPr>
          <p:sp>
            <p:nvSpPr>
              <p:cNvPr id="16" name="Line 10">
                <a:extLst>
                  <a:ext uri="{FF2B5EF4-FFF2-40B4-BE49-F238E27FC236}">
                    <a16:creationId xmlns:a16="http://schemas.microsoft.com/office/drawing/2014/main" id="{601EE21F-71BD-C0EE-5185-D7E3F4B1C1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231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11">
                <a:extLst>
                  <a:ext uri="{FF2B5EF4-FFF2-40B4-BE49-F238E27FC236}">
                    <a16:creationId xmlns:a16="http://schemas.microsoft.com/office/drawing/2014/main" id="{E494C96C-CDA7-C24F-59E0-2321E95CED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262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" name="Text Box 12">
              <a:extLst>
                <a:ext uri="{FF2B5EF4-FFF2-40B4-BE49-F238E27FC236}">
                  <a16:creationId xmlns:a16="http://schemas.microsoft.com/office/drawing/2014/main" id="{AA2C10BF-C413-D753-E0C5-440BB3575A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" y="107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11" name="Text Box 13">
              <a:extLst>
                <a:ext uri="{FF2B5EF4-FFF2-40B4-BE49-F238E27FC236}">
                  <a16:creationId xmlns:a16="http://schemas.microsoft.com/office/drawing/2014/main" id="{03624FC9-1E8B-74DD-4A13-5239DF2C2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" y="1420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060B77DA-26B2-2022-4918-1FF51EF330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076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13" name="Text Box 15">
              <a:extLst>
                <a:ext uri="{FF2B5EF4-FFF2-40B4-BE49-F238E27FC236}">
                  <a16:creationId xmlns:a16="http://schemas.microsoft.com/office/drawing/2014/main" id="{3474AB0F-5F67-966F-900E-9C198B2714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6" y="1412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14" name="Line 16">
              <a:extLst>
                <a:ext uri="{FF2B5EF4-FFF2-40B4-BE49-F238E27FC236}">
                  <a16:creationId xmlns:a16="http://schemas.microsoft.com/office/drawing/2014/main" id="{F6F9410C-EB34-D35A-AF78-C86B9FEE1E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4" y="145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Oval 17">
              <a:extLst>
                <a:ext uri="{FF2B5EF4-FFF2-40B4-BE49-F238E27FC236}">
                  <a16:creationId xmlns:a16="http://schemas.microsoft.com/office/drawing/2014/main" id="{ABAA8B3E-A4C3-A63B-D9DC-0502DC3C7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" y="1503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0F206939-D52B-6480-05EF-5FCC5DD9F28F}"/>
              </a:ext>
            </a:extLst>
          </p:cNvPr>
          <p:cNvSpPr txBox="1"/>
          <p:nvPr/>
        </p:nvSpPr>
        <p:spPr>
          <a:xfrm>
            <a:off x="463552" y="3977372"/>
            <a:ext cx="39512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或非门实现的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SR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锁存器，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高电平有效，约束条件：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SR = 0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2A1839C-F30A-F8CD-0598-91B56C6720BF}"/>
              </a:ext>
            </a:extLst>
          </p:cNvPr>
          <p:cNvSpPr txBox="1"/>
          <p:nvPr/>
        </p:nvSpPr>
        <p:spPr>
          <a:xfrm>
            <a:off x="4500563" y="4021488"/>
            <a:ext cx="5000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与非门实现的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SR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锁存器，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低电平有效的，约束条件：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R+S = 1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88282FF-87AD-4275-3AF6-22A6E3A4AA88}"/>
              </a:ext>
            </a:extLst>
          </p:cNvPr>
          <p:cNvGrpSpPr/>
          <p:nvPr/>
        </p:nvGrpSpPr>
        <p:grpSpPr>
          <a:xfrm>
            <a:off x="5617369" y="2854500"/>
            <a:ext cx="1876425" cy="1062037"/>
            <a:chOff x="6408738" y="4995863"/>
            <a:chExt cx="1876425" cy="1062037"/>
          </a:xfrm>
        </p:grpSpPr>
        <p:sp>
          <p:nvSpPr>
            <p:cNvPr id="25" name="Rectangle 19">
              <a:extLst>
                <a:ext uri="{FF2B5EF4-FFF2-40B4-BE49-F238E27FC236}">
                  <a16:creationId xmlns:a16="http://schemas.microsoft.com/office/drawing/2014/main" id="{B2B31B17-6736-5A2F-D7AF-1644F4C43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2275" y="4995863"/>
              <a:ext cx="682625" cy="106203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grpSp>
          <p:nvGrpSpPr>
            <p:cNvPr id="26" name="Group 20">
              <a:extLst>
                <a:ext uri="{FF2B5EF4-FFF2-40B4-BE49-F238E27FC236}">
                  <a16:creationId xmlns:a16="http://schemas.microsoft.com/office/drawing/2014/main" id="{2D3C9233-6AEE-526F-16C7-4B549EB905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08738" y="5284788"/>
              <a:ext cx="352425" cy="484187"/>
              <a:chOff x="365" y="2319"/>
              <a:chExt cx="288" cy="305"/>
            </a:xfrm>
          </p:grpSpPr>
          <p:sp>
            <p:nvSpPr>
              <p:cNvPr id="38" name="Line 21">
                <a:extLst>
                  <a:ext uri="{FF2B5EF4-FFF2-40B4-BE49-F238E27FC236}">
                    <a16:creationId xmlns:a16="http://schemas.microsoft.com/office/drawing/2014/main" id="{F715454F-2CEA-1290-7AC7-C71C9872A3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" y="231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Line 22">
                <a:extLst>
                  <a:ext uri="{FF2B5EF4-FFF2-40B4-BE49-F238E27FC236}">
                    <a16:creationId xmlns:a16="http://schemas.microsoft.com/office/drawing/2014/main" id="{F5AE00A9-AF9C-4329-E141-0EB9338B9A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" y="262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7" name="Group 23">
              <a:extLst>
                <a:ext uri="{FF2B5EF4-FFF2-40B4-BE49-F238E27FC236}">
                  <a16:creationId xmlns:a16="http://schemas.microsoft.com/office/drawing/2014/main" id="{EDB5A69F-02D7-36C2-0506-FD43211A52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54900" y="5284788"/>
              <a:ext cx="357188" cy="484187"/>
              <a:chOff x="1090" y="2319"/>
              <a:chExt cx="288" cy="305"/>
            </a:xfrm>
          </p:grpSpPr>
          <p:sp>
            <p:nvSpPr>
              <p:cNvPr id="36" name="Line 24">
                <a:extLst>
                  <a:ext uri="{FF2B5EF4-FFF2-40B4-BE49-F238E27FC236}">
                    <a16:creationId xmlns:a16="http://schemas.microsoft.com/office/drawing/2014/main" id="{6CBF6D54-4FED-17E7-AEFE-3C4150B459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231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Line 25">
                <a:extLst>
                  <a:ext uri="{FF2B5EF4-FFF2-40B4-BE49-F238E27FC236}">
                    <a16:creationId xmlns:a16="http://schemas.microsoft.com/office/drawing/2014/main" id="{C046D13A-9488-943A-03D9-347B3AE8E4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262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035AD64C-C99D-4C5D-6DEC-67A1D3C9F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5288" y="5038725"/>
              <a:ext cx="3540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6E4EB407-DE3F-CB75-F374-64E0C5916D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5288" y="5584825"/>
              <a:ext cx="4048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30" name="Text Box 28">
              <a:extLst>
                <a:ext uri="{FF2B5EF4-FFF2-40B4-BE49-F238E27FC236}">
                  <a16:creationId xmlns:a16="http://schemas.microsoft.com/office/drawing/2014/main" id="{A35A4A06-1FBC-47A0-EEDC-3ED598C6E0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8600" y="5038725"/>
              <a:ext cx="4206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31" name="Text Box 29">
              <a:extLst>
                <a:ext uri="{FF2B5EF4-FFF2-40B4-BE49-F238E27FC236}">
                  <a16:creationId xmlns:a16="http://schemas.microsoft.com/office/drawing/2014/main" id="{25B5F5EE-C841-1CDF-EE6B-FADBA753A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64475" y="5572125"/>
              <a:ext cx="4206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2221A13E-06CD-5CAF-BD07-C5D5C4A88A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0675" y="564515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Oval 31">
              <a:extLst>
                <a:ext uri="{FF2B5EF4-FFF2-40B4-BE49-F238E27FC236}">
                  <a16:creationId xmlns:a16="http://schemas.microsoft.com/office/drawing/2014/main" id="{3C78689E-1D83-15CA-2481-21C37B613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1725" y="5716588"/>
              <a:ext cx="107950" cy="10795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4" name="Oval 32">
              <a:extLst>
                <a:ext uri="{FF2B5EF4-FFF2-40B4-BE49-F238E27FC236}">
                  <a16:creationId xmlns:a16="http://schemas.microsoft.com/office/drawing/2014/main" id="{8AE6211E-E27A-E914-F6A3-D47D16591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4325" y="5248275"/>
              <a:ext cx="107950" cy="10795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5" name="Oval 33">
              <a:extLst>
                <a:ext uri="{FF2B5EF4-FFF2-40B4-BE49-F238E27FC236}">
                  <a16:creationId xmlns:a16="http://schemas.microsoft.com/office/drawing/2014/main" id="{59B8D588-6D8D-041D-C6BA-DB92BAFA2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4325" y="5716588"/>
              <a:ext cx="107950" cy="10795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40" name="Line 35">
            <a:extLst>
              <a:ext uri="{FF2B5EF4-FFF2-40B4-BE49-F238E27FC236}">
                <a16:creationId xmlns:a16="http://schemas.microsoft.com/office/drawing/2014/main" id="{02A919AD-E342-0446-30E9-AE96DB4198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3861" y="1147754"/>
            <a:ext cx="252413" cy="0"/>
          </a:xfrm>
          <a:prstGeom prst="line">
            <a:avLst/>
          </a:prstGeom>
          <a:noFill/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35">
            <a:extLst>
              <a:ext uri="{FF2B5EF4-FFF2-40B4-BE49-F238E27FC236}">
                <a16:creationId xmlns:a16="http://schemas.microsoft.com/office/drawing/2014/main" id="{945CFB51-DC01-6359-311C-F4B05B80B53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3258" y="1585906"/>
            <a:ext cx="252413" cy="0"/>
          </a:xfrm>
          <a:prstGeom prst="line">
            <a:avLst/>
          </a:prstGeom>
          <a:noFill/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470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14A96-8A6F-514C-2487-52CC3B0E4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示例：基本</a:t>
            </a:r>
            <a:r>
              <a:rPr kumimoji="1" lang="en-US" altLang="zh-CN" dirty="0"/>
              <a:t>SR</a:t>
            </a:r>
            <a:r>
              <a:rPr kumimoji="1" lang="zh-CN" altLang="en-US" dirty="0"/>
              <a:t>锁存器</a:t>
            </a:r>
            <a:r>
              <a:rPr lang="zh-CN" altLang="en-US" dirty="0"/>
              <a:t>波形图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B3CD04-873A-9124-D832-5BA49ED4A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已知激励输入，作出输出波形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C2F3FE-BCBE-C0D8-A2DF-43CE0D609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F25512-3A5E-4A83-EF3C-0C158F50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12</a:t>
            </a:fld>
            <a:r>
              <a:rPr lang="en-US" altLang="zh-CN" dirty="0"/>
              <a:t>/22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86298FD-EF3A-7479-F8F8-0ABF5931B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551" y="4462462"/>
            <a:ext cx="2365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00"/>
                </a:solidFill>
              </a:rPr>
              <a:t>Q</a:t>
            </a:r>
            <a:endParaRPr lang="en-US" altLang="zh-CN" sz="240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8D7D572-D912-80EA-CC88-169ABE259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4426" y="5181600"/>
            <a:ext cx="2365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00"/>
                </a:solidFill>
              </a:rPr>
              <a:t>Q</a:t>
            </a:r>
            <a:endParaRPr lang="en-US" altLang="zh-CN" sz="2400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74ADED22-F70B-D3D0-2301-A500B4C307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5376" y="5200650"/>
            <a:ext cx="252412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1DCCF76-1B9A-F264-AD66-AC0C53CE9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963" y="3671887"/>
            <a:ext cx="2206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00"/>
                </a:solidFill>
              </a:rPr>
              <a:t>R</a:t>
            </a:r>
            <a:endParaRPr lang="en-US" altLang="zh-CN" sz="2400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79765109-9CD5-5878-4A1F-BA555B868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663" y="2995612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00"/>
                </a:solidFill>
              </a:rPr>
              <a:t>S</a:t>
            </a:r>
            <a:endParaRPr lang="en-US" altLang="zh-CN" sz="240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10D5E3B4-63B4-B2AB-4DF8-4A8331938F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7326" y="2974975"/>
            <a:ext cx="657225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28D8B582-1C2E-3E3E-E602-72DF68F45D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4551" y="2967037"/>
            <a:ext cx="1587" cy="4111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2ACCB216-75CC-547D-4BC8-D1F6C0CCBE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4551" y="3371850"/>
            <a:ext cx="158115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FD6710DB-BF01-8C32-AC12-1DD6B3B0AA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05701" y="2967037"/>
            <a:ext cx="1587" cy="4111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0BA154CA-2A4C-E079-2A0B-9F8D521784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5701" y="2974975"/>
            <a:ext cx="157480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33E87384-C917-D871-7903-76C4986411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80501" y="2967037"/>
            <a:ext cx="3175" cy="4111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FEEE6CEA-D800-1A62-9485-8879F15928E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0501" y="3370262"/>
            <a:ext cx="15811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15093378-43F9-14E4-8F41-C8C1D82384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61651" y="2967037"/>
            <a:ext cx="1587" cy="4111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E90EA56C-EA55-8886-048A-5BA9E450A5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1651" y="2974975"/>
            <a:ext cx="1576387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77B4E225-9BCB-E0A8-0D0F-EE871BE814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7326" y="4060825"/>
            <a:ext cx="1843087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165B33FF-A7F1-7DDE-EA07-C71D356BA9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0413" y="3651250"/>
            <a:ext cx="1588" cy="411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FB36A05B-FFB0-A95B-8A62-6FEECC590B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0413" y="3649662"/>
            <a:ext cx="395288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02E5A7C1-6F6A-6875-3C76-41520B296E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05701" y="3651250"/>
            <a:ext cx="1587" cy="411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F37AE2A7-F591-8C04-ED65-1213A5475D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5701" y="4059237"/>
            <a:ext cx="1179512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DFCBA4D1-D8D8-B013-A404-48C72F27CE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85213" y="3651250"/>
            <a:ext cx="3175" cy="411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5DAE37AC-7CEE-4675-77F5-B0BF8318FE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5213" y="3649662"/>
            <a:ext cx="395288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A4FE417D-40BB-6921-D6B7-9C6A2F1D5F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80501" y="3651250"/>
            <a:ext cx="3175" cy="411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9D891D73-208D-E3FE-4461-C77CA2A2EF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71076" y="3651250"/>
            <a:ext cx="3175" cy="411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1ABC64D2-F934-10ED-0D74-2DFDC2C689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1076" y="3649662"/>
            <a:ext cx="1576387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836BCCB1-2710-AAB4-FA25-50A2D43DE2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47463" y="3651250"/>
            <a:ext cx="1588" cy="411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BD952B6B-75F3-08DB-2C09-28DE84AA014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47463" y="4059237"/>
            <a:ext cx="7905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29">
            <a:extLst>
              <a:ext uri="{FF2B5EF4-FFF2-40B4-BE49-F238E27FC236}">
                <a16:creationId xmlns:a16="http://schemas.microsoft.com/office/drawing/2014/main" id="{0055E426-081D-500B-5056-0A1D394D1FC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5738" y="4060825"/>
            <a:ext cx="790575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3" name="Group 31">
            <a:extLst>
              <a:ext uri="{FF2B5EF4-FFF2-40B4-BE49-F238E27FC236}">
                <a16:creationId xmlns:a16="http://schemas.microsoft.com/office/drawing/2014/main" id="{AD505F97-1FF9-4E42-B65B-66A0FF6DCA90}"/>
              </a:ext>
            </a:extLst>
          </p:cNvPr>
          <p:cNvGrpSpPr>
            <a:grpSpLocks/>
          </p:cNvGrpSpPr>
          <p:nvPr/>
        </p:nvGrpSpPr>
        <p:grpSpPr bwMode="auto">
          <a:xfrm>
            <a:off x="6683850" y="844013"/>
            <a:ext cx="2182813" cy="1284287"/>
            <a:chOff x="3989" y="1049"/>
            <a:chExt cx="1137" cy="669"/>
          </a:xfrm>
        </p:grpSpPr>
        <p:sp>
          <p:nvSpPr>
            <p:cNvPr id="34" name="Rectangle 32">
              <a:extLst>
                <a:ext uri="{FF2B5EF4-FFF2-40B4-BE49-F238E27FC236}">
                  <a16:creationId xmlns:a16="http://schemas.microsoft.com/office/drawing/2014/main" id="{71602940-900E-901B-ABDF-E80C55B20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049"/>
              <a:ext cx="430" cy="66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grpSp>
          <p:nvGrpSpPr>
            <p:cNvPr id="35" name="Group 33">
              <a:extLst>
                <a:ext uri="{FF2B5EF4-FFF2-40B4-BE49-F238E27FC236}">
                  <a16:creationId xmlns:a16="http://schemas.microsoft.com/office/drawing/2014/main" id="{CAF50E41-F24E-53F5-B8C1-9575DF7847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9" y="1231"/>
              <a:ext cx="222" cy="305"/>
              <a:chOff x="365" y="2319"/>
              <a:chExt cx="288" cy="305"/>
            </a:xfrm>
          </p:grpSpPr>
          <p:sp>
            <p:nvSpPr>
              <p:cNvPr id="45" name="Line 34">
                <a:extLst>
                  <a:ext uri="{FF2B5EF4-FFF2-40B4-BE49-F238E27FC236}">
                    <a16:creationId xmlns:a16="http://schemas.microsoft.com/office/drawing/2014/main" id="{EC5553F2-6FF9-53A7-E1BD-98B3017367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" y="231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Line 35">
                <a:extLst>
                  <a:ext uri="{FF2B5EF4-FFF2-40B4-BE49-F238E27FC236}">
                    <a16:creationId xmlns:a16="http://schemas.microsoft.com/office/drawing/2014/main" id="{16CFA92D-E7F5-496B-F92A-2A79D7DA79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" y="262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6" name="Group 36">
              <a:extLst>
                <a:ext uri="{FF2B5EF4-FFF2-40B4-BE49-F238E27FC236}">
                  <a16:creationId xmlns:a16="http://schemas.microsoft.com/office/drawing/2014/main" id="{FF4CDD95-F575-B7D7-8786-A31436B56E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8" y="1231"/>
              <a:ext cx="225" cy="305"/>
              <a:chOff x="1090" y="2319"/>
              <a:chExt cx="288" cy="305"/>
            </a:xfrm>
          </p:grpSpPr>
          <p:sp>
            <p:nvSpPr>
              <p:cNvPr id="43" name="Line 37">
                <a:extLst>
                  <a:ext uri="{FF2B5EF4-FFF2-40B4-BE49-F238E27FC236}">
                    <a16:creationId xmlns:a16="http://schemas.microsoft.com/office/drawing/2014/main" id="{49553E3E-B8C9-5BBC-D02E-80008B9E66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231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Line 38">
                <a:extLst>
                  <a:ext uri="{FF2B5EF4-FFF2-40B4-BE49-F238E27FC236}">
                    <a16:creationId xmlns:a16="http://schemas.microsoft.com/office/drawing/2014/main" id="{4BDF115B-9839-CAB2-5717-12E42572D5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0" y="262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" name="Text Box 39">
              <a:extLst>
                <a:ext uri="{FF2B5EF4-FFF2-40B4-BE49-F238E27FC236}">
                  <a16:creationId xmlns:a16="http://schemas.microsoft.com/office/drawing/2014/main" id="{D0B0DEBD-1625-5FFF-B0C2-8A5919581E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" y="1076"/>
              <a:ext cx="184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38" name="Text Box 40">
              <a:extLst>
                <a:ext uri="{FF2B5EF4-FFF2-40B4-BE49-F238E27FC236}">
                  <a16:creationId xmlns:a16="http://schemas.microsoft.com/office/drawing/2014/main" id="{9586C955-A08B-BADD-EFF0-8F12EDDB2C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" y="1420"/>
              <a:ext cx="211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39" name="Text Box 41">
              <a:extLst>
                <a:ext uri="{FF2B5EF4-FFF2-40B4-BE49-F238E27FC236}">
                  <a16:creationId xmlns:a16="http://schemas.microsoft.com/office/drawing/2014/main" id="{175C5466-6049-9AF0-4509-2FD85A54C7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076"/>
              <a:ext cx="22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40" name="Text Box 42">
              <a:extLst>
                <a:ext uri="{FF2B5EF4-FFF2-40B4-BE49-F238E27FC236}">
                  <a16:creationId xmlns:a16="http://schemas.microsoft.com/office/drawing/2014/main" id="{2DFA6DFC-DD77-B961-2C50-9D6835319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6" y="1412"/>
              <a:ext cx="22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41" name="Line 43">
              <a:extLst>
                <a:ext uri="{FF2B5EF4-FFF2-40B4-BE49-F238E27FC236}">
                  <a16:creationId xmlns:a16="http://schemas.microsoft.com/office/drawing/2014/main" id="{57508307-6AE8-33F6-1780-F808CCAF42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4" y="145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Oval 44">
              <a:extLst>
                <a:ext uri="{FF2B5EF4-FFF2-40B4-BE49-F238E27FC236}">
                  <a16:creationId xmlns:a16="http://schemas.microsoft.com/office/drawing/2014/main" id="{063C9F10-EA78-6B87-BFC9-553B361C0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" y="1503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pSp>
        <p:nvGrpSpPr>
          <p:cNvPr id="47" name="Group 45">
            <a:extLst>
              <a:ext uri="{FF2B5EF4-FFF2-40B4-BE49-F238E27FC236}">
                <a16:creationId xmlns:a16="http://schemas.microsoft.com/office/drawing/2014/main" id="{FC5CAFDF-B68C-8EA5-51A0-13E994EC56AF}"/>
              </a:ext>
            </a:extLst>
          </p:cNvPr>
          <p:cNvGrpSpPr>
            <a:grpSpLocks/>
          </p:cNvGrpSpPr>
          <p:nvPr/>
        </p:nvGrpSpPr>
        <p:grpSpPr bwMode="auto">
          <a:xfrm>
            <a:off x="1467326" y="4441825"/>
            <a:ext cx="6991350" cy="1150937"/>
            <a:chOff x="767" y="3113"/>
            <a:chExt cx="4404" cy="725"/>
          </a:xfrm>
        </p:grpSpPr>
        <p:sp>
          <p:nvSpPr>
            <p:cNvPr id="48" name="Line 46">
              <a:extLst>
                <a:ext uri="{FF2B5EF4-FFF2-40B4-BE49-F238E27FC236}">
                  <a16:creationId xmlns:a16="http://schemas.microsoft.com/office/drawing/2014/main" id="{21A3400A-1F53-F5D0-186E-405CAAB715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" y="3119"/>
              <a:ext cx="116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5047D19B-2FFC-C107-9517-FB59FFB76A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8" y="3119"/>
              <a:ext cx="1" cy="2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48">
              <a:extLst>
                <a:ext uri="{FF2B5EF4-FFF2-40B4-BE49-F238E27FC236}">
                  <a16:creationId xmlns:a16="http://schemas.microsoft.com/office/drawing/2014/main" id="{DBC4B4EC-20CF-ACE9-30F2-D7A1B91E24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8" y="3378"/>
              <a:ext cx="24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49">
              <a:extLst>
                <a:ext uri="{FF2B5EF4-FFF2-40B4-BE49-F238E27FC236}">
                  <a16:creationId xmlns:a16="http://schemas.microsoft.com/office/drawing/2014/main" id="{739A0BD1-BD0D-8125-F1B6-91770EB87B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7" y="3119"/>
              <a:ext cx="1" cy="2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A28303B9-3A27-60C8-7E71-75F420DC71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7" y="3119"/>
              <a:ext cx="74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51">
              <a:extLst>
                <a:ext uri="{FF2B5EF4-FFF2-40B4-BE49-F238E27FC236}">
                  <a16:creationId xmlns:a16="http://schemas.microsoft.com/office/drawing/2014/main" id="{7A2F115D-6BF2-356C-6576-CF7228155B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5" y="3578"/>
              <a:ext cx="1" cy="2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52">
              <a:extLst>
                <a:ext uri="{FF2B5EF4-FFF2-40B4-BE49-F238E27FC236}">
                  <a16:creationId xmlns:a16="http://schemas.microsoft.com/office/drawing/2014/main" id="{C8597C56-1DC3-44BE-23F8-E5D54349F2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0" y="3119"/>
              <a:ext cx="51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53">
              <a:extLst>
                <a:ext uri="{FF2B5EF4-FFF2-40B4-BE49-F238E27FC236}">
                  <a16:creationId xmlns:a16="http://schemas.microsoft.com/office/drawing/2014/main" id="{D082C6CE-AD47-F1BF-B4F8-028671603A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" y="3837"/>
              <a:ext cx="116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54">
              <a:extLst>
                <a:ext uri="{FF2B5EF4-FFF2-40B4-BE49-F238E27FC236}">
                  <a16:creationId xmlns:a16="http://schemas.microsoft.com/office/drawing/2014/main" id="{7746AF20-DA23-AA3E-F2FD-9D37DB5936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8" y="3579"/>
              <a:ext cx="1" cy="2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55">
              <a:extLst>
                <a:ext uri="{FF2B5EF4-FFF2-40B4-BE49-F238E27FC236}">
                  <a16:creationId xmlns:a16="http://schemas.microsoft.com/office/drawing/2014/main" id="{DFCA0ED7-BC7F-BC62-466D-8382943594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8" y="3588"/>
              <a:ext cx="24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56">
              <a:extLst>
                <a:ext uri="{FF2B5EF4-FFF2-40B4-BE49-F238E27FC236}">
                  <a16:creationId xmlns:a16="http://schemas.microsoft.com/office/drawing/2014/main" id="{F9BD271C-ACD5-C01F-0B71-2345BE645D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7" y="3579"/>
              <a:ext cx="1" cy="2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57">
              <a:extLst>
                <a:ext uri="{FF2B5EF4-FFF2-40B4-BE49-F238E27FC236}">
                  <a16:creationId xmlns:a16="http://schemas.microsoft.com/office/drawing/2014/main" id="{548F3FFA-E448-6918-E429-9F89A4277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7" y="3837"/>
              <a:ext cx="101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58">
              <a:extLst>
                <a:ext uri="{FF2B5EF4-FFF2-40B4-BE49-F238E27FC236}">
                  <a16:creationId xmlns:a16="http://schemas.microsoft.com/office/drawing/2014/main" id="{6EFD69A7-D13C-1B39-531B-D0F9883B2E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7" y="3588"/>
              <a:ext cx="49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59">
              <a:extLst>
                <a:ext uri="{FF2B5EF4-FFF2-40B4-BE49-F238E27FC236}">
                  <a16:creationId xmlns:a16="http://schemas.microsoft.com/office/drawing/2014/main" id="{CECBE4DE-B600-9D0E-F918-163234C177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60" y="3120"/>
              <a:ext cx="1" cy="2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60">
              <a:extLst>
                <a:ext uri="{FF2B5EF4-FFF2-40B4-BE49-F238E27FC236}">
                  <a16:creationId xmlns:a16="http://schemas.microsoft.com/office/drawing/2014/main" id="{02DFFD34-D080-1E09-192C-B1A29FF7C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0" y="3837"/>
              <a:ext cx="49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61">
              <a:extLst>
                <a:ext uri="{FF2B5EF4-FFF2-40B4-BE49-F238E27FC236}">
                  <a16:creationId xmlns:a16="http://schemas.microsoft.com/office/drawing/2014/main" id="{BD41EBEB-BEC4-C32F-18A7-9F88F763B7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0" y="3113"/>
              <a:ext cx="2" cy="2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62">
              <a:extLst>
                <a:ext uri="{FF2B5EF4-FFF2-40B4-BE49-F238E27FC236}">
                  <a16:creationId xmlns:a16="http://schemas.microsoft.com/office/drawing/2014/main" id="{130A48D1-9F5F-FD2F-082A-2B1EAAE706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1" y="3836"/>
              <a:ext cx="49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Rectangle 63" descr="宽上对角线">
              <a:extLst>
                <a:ext uri="{FF2B5EF4-FFF2-40B4-BE49-F238E27FC236}">
                  <a16:creationId xmlns:a16="http://schemas.microsoft.com/office/drawing/2014/main" id="{06C10E4D-5A84-8F5C-99B2-0E827F3C8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" y="3129"/>
              <a:ext cx="499" cy="249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66" name="Rectangle 64" descr="宽上对角线">
              <a:extLst>
                <a:ext uri="{FF2B5EF4-FFF2-40B4-BE49-F238E27FC236}">
                  <a16:creationId xmlns:a16="http://schemas.microsoft.com/office/drawing/2014/main" id="{0B215002-0D9A-E9F0-7B07-5E0F89964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" y="3589"/>
              <a:ext cx="499" cy="249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67" name="Line 65">
              <a:extLst>
                <a:ext uri="{FF2B5EF4-FFF2-40B4-BE49-F238E27FC236}">
                  <a16:creationId xmlns:a16="http://schemas.microsoft.com/office/drawing/2014/main" id="{DE005E75-357E-85B6-C3A9-285C385E27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6" y="3378"/>
              <a:ext cx="17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8" name="Group 79">
            <a:extLst>
              <a:ext uri="{FF2B5EF4-FFF2-40B4-BE49-F238E27FC236}">
                <a16:creationId xmlns:a16="http://schemas.microsoft.com/office/drawing/2014/main" id="{1002B06B-ED71-9385-B55B-BD73E2EDED1B}"/>
              </a:ext>
            </a:extLst>
          </p:cNvPr>
          <p:cNvGrpSpPr>
            <a:grpSpLocks/>
          </p:cNvGrpSpPr>
          <p:nvPr/>
        </p:nvGrpSpPr>
        <p:grpSpPr bwMode="auto">
          <a:xfrm>
            <a:off x="2121376" y="2835275"/>
            <a:ext cx="5532437" cy="2749550"/>
            <a:chOff x="1179" y="2069"/>
            <a:chExt cx="3485" cy="1860"/>
          </a:xfrm>
        </p:grpSpPr>
        <p:sp>
          <p:nvSpPr>
            <p:cNvPr id="69" name="Line 66">
              <a:extLst>
                <a:ext uri="{FF2B5EF4-FFF2-40B4-BE49-F238E27FC236}">
                  <a16:creationId xmlns:a16="http://schemas.microsoft.com/office/drawing/2014/main" id="{24FB5469-8363-1FD9-5666-49C4E8AA5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9" y="2069"/>
              <a:ext cx="0" cy="18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67">
              <a:extLst>
                <a:ext uri="{FF2B5EF4-FFF2-40B4-BE49-F238E27FC236}">
                  <a16:creationId xmlns:a16="http://schemas.microsoft.com/office/drawing/2014/main" id="{3148B7BE-AE3F-7DF1-642C-7CA9F32B97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7" y="2069"/>
              <a:ext cx="0" cy="18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68">
              <a:extLst>
                <a:ext uri="{FF2B5EF4-FFF2-40B4-BE49-F238E27FC236}">
                  <a16:creationId xmlns:a16="http://schemas.microsoft.com/office/drawing/2014/main" id="{41D46BD2-8AAB-2DFA-EE99-9A295C9C9E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7" y="2069"/>
              <a:ext cx="0" cy="18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69">
              <a:extLst>
                <a:ext uri="{FF2B5EF4-FFF2-40B4-BE49-F238E27FC236}">
                  <a16:creationId xmlns:a16="http://schemas.microsoft.com/office/drawing/2014/main" id="{B1B67B0E-BB12-508E-9A2B-BB31DE7CD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2069"/>
              <a:ext cx="0" cy="18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70">
              <a:extLst>
                <a:ext uri="{FF2B5EF4-FFF2-40B4-BE49-F238E27FC236}">
                  <a16:creationId xmlns:a16="http://schemas.microsoft.com/office/drawing/2014/main" id="{1F23343D-DBF1-DD22-3022-811DBC0456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069"/>
              <a:ext cx="0" cy="18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63095B44-597F-B3E0-37EB-75ED4CAB72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4" y="2069"/>
              <a:ext cx="0" cy="18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72">
              <a:extLst>
                <a:ext uri="{FF2B5EF4-FFF2-40B4-BE49-F238E27FC236}">
                  <a16:creationId xmlns:a16="http://schemas.microsoft.com/office/drawing/2014/main" id="{F5486919-0205-BFA6-BD6F-B7B245865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069"/>
              <a:ext cx="0" cy="18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73">
              <a:extLst>
                <a:ext uri="{FF2B5EF4-FFF2-40B4-BE49-F238E27FC236}">
                  <a16:creationId xmlns:a16="http://schemas.microsoft.com/office/drawing/2014/main" id="{3E63FA08-66A3-95B8-4D27-22214B987D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4" y="2069"/>
              <a:ext cx="0" cy="18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7" name="Rectangle 74">
            <a:extLst>
              <a:ext uri="{FF2B5EF4-FFF2-40B4-BE49-F238E27FC236}">
                <a16:creationId xmlns:a16="http://schemas.microsoft.com/office/drawing/2014/main" id="{1267A1C2-C743-6EC1-A502-2397AFC0A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0338" y="2332037"/>
            <a:ext cx="658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b="0">
                <a:latin typeface="Arial" panose="020B0604020202020204" pitchFamily="34" charset="0"/>
              </a:rPr>
              <a:t>置</a:t>
            </a:r>
            <a:r>
              <a:rPr lang="en-US" altLang="zh-CN" sz="2400" b="0">
                <a:latin typeface="Arial" panose="020B0604020202020204" pitchFamily="34" charset="0"/>
              </a:rPr>
              <a:t>1</a:t>
            </a:r>
            <a:endParaRPr lang="zh-CN" altLang="en-US" sz="2400" b="0">
              <a:latin typeface="Arial" panose="020B0604020202020204" pitchFamily="34" charset="0"/>
            </a:endParaRPr>
          </a:p>
        </p:txBody>
      </p:sp>
      <p:sp>
        <p:nvSpPr>
          <p:cNvPr id="78" name="Rectangle 75">
            <a:extLst>
              <a:ext uri="{FF2B5EF4-FFF2-40B4-BE49-F238E27FC236}">
                <a16:creationId xmlns:a16="http://schemas.microsoft.com/office/drawing/2014/main" id="{63287477-3CDA-E78F-8D7E-6F95F5481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0763" y="2333625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b="0">
                <a:latin typeface="Arial" panose="020B0604020202020204" pitchFamily="34" charset="0"/>
              </a:rPr>
              <a:t>保持</a:t>
            </a:r>
          </a:p>
        </p:txBody>
      </p:sp>
      <p:sp>
        <p:nvSpPr>
          <p:cNvPr id="79" name="Rectangle 76">
            <a:extLst>
              <a:ext uri="{FF2B5EF4-FFF2-40B4-BE49-F238E27FC236}">
                <a16:creationId xmlns:a16="http://schemas.microsoft.com/office/drawing/2014/main" id="{69B42988-118C-0797-6907-D665B4407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076" y="2333625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b="0">
                <a:latin typeface="Arial" panose="020B0604020202020204" pitchFamily="34" charset="0"/>
              </a:rPr>
              <a:t>不定</a:t>
            </a:r>
          </a:p>
        </p:txBody>
      </p:sp>
      <p:sp>
        <p:nvSpPr>
          <p:cNvPr id="80" name="Rectangle 77">
            <a:extLst>
              <a:ext uri="{FF2B5EF4-FFF2-40B4-BE49-F238E27FC236}">
                <a16:creationId xmlns:a16="http://schemas.microsoft.com/office/drawing/2014/main" id="{3FE64150-C076-6B38-AAF0-1C0FFB1A6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638" y="2332037"/>
            <a:ext cx="658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b="0">
                <a:latin typeface="Arial" panose="020B0604020202020204" pitchFamily="34" charset="0"/>
              </a:rPr>
              <a:t>清</a:t>
            </a:r>
            <a:r>
              <a:rPr lang="en-US" altLang="zh-CN" sz="2400" b="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81" name="Rectangle 78">
            <a:extLst>
              <a:ext uri="{FF2B5EF4-FFF2-40B4-BE49-F238E27FC236}">
                <a16:creationId xmlns:a16="http://schemas.microsoft.com/office/drawing/2014/main" id="{4B590E48-6BF8-02E7-78DC-218B28DC4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8438" y="2352675"/>
            <a:ext cx="658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b="0">
                <a:latin typeface="Arial" panose="020B0604020202020204" pitchFamily="34" charset="0"/>
              </a:rPr>
              <a:t>置</a:t>
            </a:r>
            <a:r>
              <a:rPr lang="en-US" altLang="zh-CN" sz="2400" b="0">
                <a:latin typeface="Arial" panose="020B0604020202020204" pitchFamily="34" charset="0"/>
              </a:rPr>
              <a:t>1</a:t>
            </a:r>
            <a:endParaRPr lang="zh-CN" altLang="en-US" sz="24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466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F5516-A276-C9EB-7E4F-4DC9BF22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示例：基本</a:t>
            </a:r>
            <a:r>
              <a:rPr lang="en-US" altLang="zh-CN" dirty="0"/>
              <a:t>SR</a:t>
            </a:r>
            <a:r>
              <a:rPr lang="zh-CN" altLang="en-US" dirty="0"/>
              <a:t>锁存器</a:t>
            </a:r>
            <a:r>
              <a:rPr kumimoji="1" lang="zh-CN" altLang="en-US" dirty="0"/>
              <a:t>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0DC6C-3D54-9D2A-3CAA-0D6FBD33B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041765" cy="5947119"/>
          </a:xfrm>
        </p:spPr>
        <p:txBody>
          <a:bodyPr/>
          <a:lstStyle/>
          <a:p>
            <a:r>
              <a:rPr lang="zh-CN" altLang="en-US" dirty="0"/>
              <a:t>开关去抖动电路</a:t>
            </a:r>
          </a:p>
          <a:p>
            <a:pPr lvl="1"/>
            <a:r>
              <a:rPr lang="zh-CN" altLang="en-US" dirty="0"/>
              <a:t>运用基本</a:t>
            </a:r>
            <a:r>
              <a:rPr lang="en-US" altLang="zh-CN" dirty="0"/>
              <a:t>SR</a:t>
            </a:r>
            <a:r>
              <a:rPr lang="zh-CN" altLang="en-US" dirty="0"/>
              <a:t>锁存器，消除因机械开关触点抖动所引起的干扰脉冲的输出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7115C0-DD83-B51D-46B9-6FBFA8F1A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9FE8BE-F1D0-AAA1-02C3-79234855E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13</a:t>
            </a:fld>
            <a:r>
              <a:rPr lang="en-US" altLang="zh-CN" dirty="0"/>
              <a:t>/22</a:t>
            </a:r>
            <a:endParaRPr lang="en-US" dirty="0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E76412C1-63CD-5FE4-D2BF-AD3A4AC41469}"/>
              </a:ext>
            </a:extLst>
          </p:cNvPr>
          <p:cNvGrpSpPr/>
          <p:nvPr/>
        </p:nvGrpSpPr>
        <p:grpSpPr>
          <a:xfrm>
            <a:off x="6916420" y="1971676"/>
            <a:ext cx="2870200" cy="4038600"/>
            <a:chOff x="5878513" y="1585913"/>
            <a:chExt cx="2870200" cy="4038600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4CB77E97-9B55-FB52-A937-7EF6C7EA4B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2138" y="5227638"/>
              <a:ext cx="6254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V</a:t>
              </a:r>
              <a:r>
                <a:rPr kumimoji="1" lang="en-US" altLang="zh-CN" sz="1400">
                  <a:ea typeface="楷体_GB2312" pitchFamily="49" charset="-122"/>
                </a:rPr>
                <a:t>CC</a:t>
              </a:r>
            </a:p>
          </p:txBody>
        </p:sp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3E00711B-A52E-46DE-125A-47BEDF533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04138" y="3095625"/>
              <a:ext cx="6238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17B72673-0ABE-B8A0-E7A9-2F4E7E7570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8938" y="3095625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1CB372D0-04AC-6CE4-2E7B-05DD705942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94538" y="3400425"/>
              <a:ext cx="9144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53C29C1B-F24A-BD36-A4BA-A322EF2F8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4538" y="3781425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98655425-262F-BAA9-794F-95E794702D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4538" y="4010025"/>
              <a:ext cx="15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EEE7DE43-D690-94DC-2E13-18169DF673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04138" y="4152900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44DD5FDB-74D9-EB56-914C-9FADADFD51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08938" y="3781425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6">
              <a:extLst>
                <a:ext uri="{FF2B5EF4-FFF2-40B4-BE49-F238E27FC236}">
                  <a16:creationId xmlns:a16="http://schemas.microsoft.com/office/drawing/2014/main" id="{6E0C21E5-25B3-7BD7-FFCC-E988FC33C7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094538" y="3476625"/>
              <a:ext cx="91440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25CE1D90-0632-AB36-2C68-22C0ADD7DC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94538" y="3248025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8">
              <a:extLst>
                <a:ext uri="{FF2B5EF4-FFF2-40B4-BE49-F238E27FC236}">
                  <a16:creationId xmlns:a16="http://schemas.microsoft.com/office/drawing/2014/main" id="{BAC58A58-9FAC-44FA-51F6-E63EE2AD67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4538" y="3248025"/>
              <a:ext cx="15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1DFD2D36-B0A3-BBF1-1858-4DDAD5DCC4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84938" y="2943225"/>
              <a:ext cx="762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0">
              <a:extLst>
                <a:ext uri="{FF2B5EF4-FFF2-40B4-BE49-F238E27FC236}">
                  <a16:creationId xmlns:a16="http://schemas.microsoft.com/office/drawing/2014/main" id="{14CC2DC9-0AFA-2313-D6A0-9DCB4E4C58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4938" y="2943225"/>
              <a:ext cx="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21">
              <a:extLst>
                <a:ext uri="{FF2B5EF4-FFF2-40B4-BE49-F238E27FC236}">
                  <a16:creationId xmlns:a16="http://schemas.microsoft.com/office/drawing/2014/main" id="{80A11509-EEB4-F4A5-4178-78CE7FA483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4938" y="3857625"/>
              <a:ext cx="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2">
              <a:extLst>
                <a:ext uri="{FF2B5EF4-FFF2-40B4-BE49-F238E27FC236}">
                  <a16:creationId xmlns:a16="http://schemas.microsoft.com/office/drawing/2014/main" id="{47E1C667-DF23-E6B7-B0E7-0251CF1F4B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4938" y="4314825"/>
              <a:ext cx="762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3">
              <a:extLst>
                <a:ext uri="{FF2B5EF4-FFF2-40B4-BE49-F238E27FC236}">
                  <a16:creationId xmlns:a16="http://schemas.microsoft.com/office/drawing/2014/main" id="{907DF6C3-C547-3286-ECB7-9223FDA8BB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7738" y="3629025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4">
              <a:extLst>
                <a:ext uri="{FF2B5EF4-FFF2-40B4-BE49-F238E27FC236}">
                  <a16:creationId xmlns:a16="http://schemas.microsoft.com/office/drawing/2014/main" id="{482EA5EC-176A-26D9-CDED-CD0C24C4E5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7738" y="3629025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5">
              <a:extLst>
                <a:ext uri="{FF2B5EF4-FFF2-40B4-BE49-F238E27FC236}">
                  <a16:creationId xmlns:a16="http://schemas.microsoft.com/office/drawing/2014/main" id="{9379E602-5951-0F14-97E1-FEE9EA606E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8513" y="3857625"/>
              <a:ext cx="288925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6">
              <a:extLst>
                <a:ext uri="{FF2B5EF4-FFF2-40B4-BE49-F238E27FC236}">
                  <a16:creationId xmlns:a16="http://schemas.microsoft.com/office/drawing/2014/main" id="{E54FB412-92F3-E1B2-AFFB-F25134BD04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5938" y="4314825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27">
              <a:extLst>
                <a:ext uri="{FF2B5EF4-FFF2-40B4-BE49-F238E27FC236}">
                  <a16:creationId xmlns:a16="http://schemas.microsoft.com/office/drawing/2014/main" id="{0E114796-8C18-CD5E-DD9B-259899DBF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9738" y="4619625"/>
              <a:ext cx="152400" cy="533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6" name="Line 28">
              <a:extLst>
                <a:ext uri="{FF2B5EF4-FFF2-40B4-BE49-F238E27FC236}">
                  <a16:creationId xmlns:a16="http://schemas.microsoft.com/office/drawing/2014/main" id="{424ACBC4-CBE5-6216-EF58-A41FCEEF6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5938" y="5153025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9">
              <a:extLst>
                <a:ext uri="{FF2B5EF4-FFF2-40B4-BE49-F238E27FC236}">
                  <a16:creationId xmlns:a16="http://schemas.microsoft.com/office/drawing/2014/main" id="{5488D8D5-36A5-2506-235E-0BC750AC3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5938" y="2638425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Rectangle 30">
              <a:extLst>
                <a:ext uri="{FF2B5EF4-FFF2-40B4-BE49-F238E27FC236}">
                  <a16:creationId xmlns:a16="http://schemas.microsoft.com/office/drawing/2014/main" id="{753666AC-E4A8-D995-0282-6D8DD6317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9738" y="2105025"/>
              <a:ext cx="152400" cy="533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9" name="Line 31">
              <a:extLst>
                <a:ext uri="{FF2B5EF4-FFF2-40B4-BE49-F238E27FC236}">
                  <a16:creationId xmlns:a16="http://schemas.microsoft.com/office/drawing/2014/main" id="{72300ED8-E3B0-A6BC-17AC-D96877B3CF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5938" y="1800225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Box 32">
              <a:extLst>
                <a:ext uri="{FF2B5EF4-FFF2-40B4-BE49-F238E27FC236}">
                  <a16:creationId xmlns:a16="http://schemas.microsoft.com/office/drawing/2014/main" id="{177BD852-7FFD-A8A5-0A26-8B28B91556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6263" y="1585913"/>
              <a:ext cx="6254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V</a:t>
              </a:r>
              <a:r>
                <a:rPr kumimoji="1" lang="en-US" altLang="zh-CN" sz="1400">
                  <a:ea typeface="楷体_GB2312" pitchFamily="49" charset="-122"/>
                </a:rPr>
                <a:t>CC</a:t>
              </a:r>
            </a:p>
          </p:txBody>
        </p:sp>
        <p:sp>
          <p:nvSpPr>
            <p:cNvPr id="31" name="Text Box 33">
              <a:extLst>
                <a:ext uri="{FF2B5EF4-FFF2-40B4-BE49-F238E27FC236}">
                  <a16:creationId xmlns:a16="http://schemas.microsoft.com/office/drawing/2014/main" id="{5831DF9B-4012-47E9-D55D-85671573CC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6263" y="2105025"/>
              <a:ext cx="5175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  <a:r>
                <a:rPr kumimoji="1" lang="en-US" altLang="zh-CN" sz="2000">
                  <a:ea typeface="楷体_GB2312" pitchFamily="49" charset="-122"/>
                </a:rPr>
                <a:t>c</a:t>
              </a:r>
            </a:p>
          </p:txBody>
        </p:sp>
        <p:sp>
          <p:nvSpPr>
            <p:cNvPr id="32" name="Text Box 34">
              <a:extLst>
                <a:ext uri="{FF2B5EF4-FFF2-40B4-BE49-F238E27FC236}">
                  <a16:creationId xmlns:a16="http://schemas.microsoft.com/office/drawing/2014/main" id="{523E8335-C478-1439-BB00-F700D378F9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2613" y="4619625"/>
              <a:ext cx="5175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  <a:r>
                <a:rPr kumimoji="1" lang="en-US" altLang="zh-CN" sz="2000">
                  <a:ea typeface="楷体_GB2312" pitchFamily="49" charset="-122"/>
                </a:rPr>
                <a:t>c</a:t>
              </a:r>
            </a:p>
          </p:txBody>
        </p:sp>
        <p:sp>
          <p:nvSpPr>
            <p:cNvPr id="33" name="Text Box 35">
              <a:extLst>
                <a:ext uri="{FF2B5EF4-FFF2-40B4-BE49-F238E27FC236}">
                  <a16:creationId xmlns:a16="http://schemas.microsoft.com/office/drawing/2014/main" id="{66C5DC63-00C8-B180-BF10-6398B9F332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8025" y="2867025"/>
              <a:ext cx="4206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34" name="Text Box 36">
              <a:extLst>
                <a:ext uri="{FF2B5EF4-FFF2-40B4-BE49-F238E27FC236}">
                  <a16:creationId xmlns:a16="http://schemas.microsoft.com/office/drawing/2014/main" id="{29B59A85-6FBA-3452-69C0-8ADC5127B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0675" y="3890963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R</a:t>
              </a:r>
            </a:p>
          </p:txBody>
        </p:sp>
        <p:sp>
          <p:nvSpPr>
            <p:cNvPr id="35" name="Text Box 37">
              <a:extLst>
                <a:ext uri="{FF2B5EF4-FFF2-40B4-BE49-F238E27FC236}">
                  <a16:creationId xmlns:a16="http://schemas.microsoft.com/office/drawing/2014/main" id="{6AA8E79F-B7DA-4460-836F-08C67DFF3D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5600" y="3005138"/>
              <a:ext cx="3254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S</a:t>
              </a:r>
            </a:p>
          </p:txBody>
        </p:sp>
        <p:sp>
          <p:nvSpPr>
            <p:cNvPr id="36" name="Line 38">
              <a:extLst>
                <a:ext uri="{FF2B5EF4-FFF2-40B4-BE49-F238E27FC236}">
                  <a16:creationId xmlns:a16="http://schemas.microsoft.com/office/drawing/2014/main" id="{8AE516B2-5DB1-B645-7247-0ED124C6E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9200" y="3625850"/>
              <a:ext cx="323850" cy="2270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Oval 92">
              <a:extLst>
                <a:ext uri="{FF2B5EF4-FFF2-40B4-BE49-F238E27FC236}">
                  <a16:creationId xmlns:a16="http://schemas.microsoft.com/office/drawing/2014/main" id="{C7E300DC-6E4A-FBAA-4B62-EA2EBD391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1438" y="3025775"/>
              <a:ext cx="123825" cy="12382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8" name="Oval 93">
              <a:extLst>
                <a:ext uri="{FF2B5EF4-FFF2-40B4-BE49-F238E27FC236}">
                  <a16:creationId xmlns:a16="http://schemas.microsoft.com/office/drawing/2014/main" id="{EEA681B3-444C-344D-0639-56B2C5758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9263" y="5402263"/>
              <a:ext cx="123825" cy="12382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9" name="Oval 94">
              <a:extLst>
                <a:ext uri="{FF2B5EF4-FFF2-40B4-BE49-F238E27FC236}">
                  <a16:creationId xmlns:a16="http://schemas.microsoft.com/office/drawing/2014/main" id="{4E7D74F5-D3AA-304E-AE59-11A5910B5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5138" y="1730375"/>
              <a:ext cx="123825" cy="12382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0" name="AutoShape 99">
              <a:extLst>
                <a:ext uri="{FF2B5EF4-FFF2-40B4-BE49-F238E27FC236}">
                  <a16:creationId xmlns:a16="http://schemas.microsoft.com/office/drawing/2014/main" id="{65248F8F-CAEB-85D4-8105-EB3709FDF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6463" y="2809875"/>
              <a:ext cx="428625" cy="550863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1" name="Oval 100">
              <a:extLst>
                <a:ext uri="{FF2B5EF4-FFF2-40B4-BE49-F238E27FC236}">
                  <a16:creationId xmlns:a16="http://schemas.microsoft.com/office/drawing/2014/main" id="{8E6F20A5-318F-F700-462A-10522ADA8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6675" y="4092575"/>
              <a:ext cx="123825" cy="12382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2" name="AutoShape 101">
              <a:extLst>
                <a:ext uri="{FF2B5EF4-FFF2-40B4-BE49-F238E27FC236}">
                  <a16:creationId xmlns:a16="http://schemas.microsoft.com/office/drawing/2014/main" id="{1065CD27-596B-643F-B11B-F174DA152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1700" y="3876675"/>
              <a:ext cx="428625" cy="550863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3" name="Line 102">
              <a:extLst>
                <a:ext uri="{FF2B5EF4-FFF2-40B4-BE49-F238E27FC236}">
                  <a16:creationId xmlns:a16="http://schemas.microsoft.com/office/drawing/2014/main" id="{62B15436-42C8-9CE3-B1CB-7FB5F62D4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5925" y="3068638"/>
              <a:ext cx="1873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105">
              <a:extLst>
                <a:ext uri="{FF2B5EF4-FFF2-40B4-BE49-F238E27FC236}">
                  <a16:creationId xmlns:a16="http://schemas.microsoft.com/office/drawing/2014/main" id="{AB2ECC2F-39EF-D494-C80A-4CAF3782FE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0525" y="3943350"/>
              <a:ext cx="1873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F38115FE-1CDC-535D-1D4C-8485EC1FCCD5}"/>
              </a:ext>
            </a:extLst>
          </p:cNvPr>
          <p:cNvGrpSpPr/>
          <p:nvPr/>
        </p:nvGrpSpPr>
        <p:grpSpPr>
          <a:xfrm>
            <a:off x="919322" y="2947988"/>
            <a:ext cx="4949825" cy="2162175"/>
            <a:chOff x="561975" y="3663950"/>
            <a:chExt cx="4949825" cy="2162175"/>
          </a:xfrm>
        </p:grpSpPr>
        <p:sp>
          <p:nvSpPr>
            <p:cNvPr id="46" name="Line 39">
              <a:extLst>
                <a:ext uri="{FF2B5EF4-FFF2-40B4-BE49-F238E27FC236}">
                  <a16:creationId xmlns:a16="http://schemas.microsoft.com/office/drawing/2014/main" id="{CAE6B0BC-010B-2937-882D-6AB1D43C8D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0613" y="3884613"/>
              <a:ext cx="990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0">
              <a:extLst>
                <a:ext uri="{FF2B5EF4-FFF2-40B4-BE49-F238E27FC236}">
                  <a16:creationId xmlns:a16="http://schemas.microsoft.com/office/drawing/2014/main" id="{2E45A41C-CC0F-7416-4197-9698C7B736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1213" y="388461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1">
              <a:extLst>
                <a:ext uri="{FF2B5EF4-FFF2-40B4-BE49-F238E27FC236}">
                  <a16:creationId xmlns:a16="http://schemas.microsoft.com/office/drawing/2014/main" id="{E3A7F156-5752-763A-2999-F13E0E7F1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1213" y="4189413"/>
              <a:ext cx="7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42">
              <a:extLst>
                <a:ext uri="{FF2B5EF4-FFF2-40B4-BE49-F238E27FC236}">
                  <a16:creationId xmlns:a16="http://schemas.microsoft.com/office/drawing/2014/main" id="{D87AE8FB-8FBB-027B-1F1D-4EA3BC9F92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57413" y="388461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43">
              <a:extLst>
                <a:ext uri="{FF2B5EF4-FFF2-40B4-BE49-F238E27FC236}">
                  <a16:creationId xmlns:a16="http://schemas.microsoft.com/office/drawing/2014/main" id="{4E2C4380-CFF5-A64C-68BB-A78D2C3A9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7413" y="3884613"/>
              <a:ext cx="7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44">
              <a:extLst>
                <a:ext uri="{FF2B5EF4-FFF2-40B4-BE49-F238E27FC236}">
                  <a16:creationId xmlns:a16="http://schemas.microsoft.com/office/drawing/2014/main" id="{F5E9257C-952C-C1EF-2288-C92CB8FBAF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3613" y="388461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45">
              <a:extLst>
                <a:ext uri="{FF2B5EF4-FFF2-40B4-BE49-F238E27FC236}">
                  <a16:creationId xmlns:a16="http://schemas.microsoft.com/office/drawing/2014/main" id="{72B2AF29-9C30-502E-96BB-3207DE9D2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3613" y="4189413"/>
              <a:ext cx="7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46">
              <a:extLst>
                <a:ext uri="{FF2B5EF4-FFF2-40B4-BE49-F238E27FC236}">
                  <a16:creationId xmlns:a16="http://schemas.microsoft.com/office/drawing/2014/main" id="{41A173D0-49DD-71F2-BE97-EE8B27D82E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9813" y="388461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47">
              <a:extLst>
                <a:ext uri="{FF2B5EF4-FFF2-40B4-BE49-F238E27FC236}">
                  <a16:creationId xmlns:a16="http://schemas.microsoft.com/office/drawing/2014/main" id="{84794491-E31C-CBA3-73E0-BD4548CF98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9813" y="3884613"/>
              <a:ext cx="7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48">
              <a:extLst>
                <a:ext uri="{FF2B5EF4-FFF2-40B4-BE49-F238E27FC236}">
                  <a16:creationId xmlns:a16="http://schemas.microsoft.com/office/drawing/2014/main" id="{351D78D8-9B75-6A3E-180B-5514E3485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6013" y="388461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49">
              <a:extLst>
                <a:ext uri="{FF2B5EF4-FFF2-40B4-BE49-F238E27FC236}">
                  <a16:creationId xmlns:a16="http://schemas.microsoft.com/office/drawing/2014/main" id="{5A7F2041-FEAC-0734-05A5-D63B0283C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6013" y="4189413"/>
              <a:ext cx="14684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50">
              <a:extLst>
                <a:ext uri="{FF2B5EF4-FFF2-40B4-BE49-F238E27FC236}">
                  <a16:creationId xmlns:a16="http://schemas.microsoft.com/office/drawing/2014/main" id="{DD004FDD-FA15-2EE7-22D5-A8AEC96E49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4450" y="388461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51">
              <a:extLst>
                <a:ext uri="{FF2B5EF4-FFF2-40B4-BE49-F238E27FC236}">
                  <a16:creationId xmlns:a16="http://schemas.microsoft.com/office/drawing/2014/main" id="{C3697069-BF91-DCEC-01AA-7CFEBD1DC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4450" y="3884613"/>
              <a:ext cx="7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52">
              <a:extLst>
                <a:ext uri="{FF2B5EF4-FFF2-40B4-BE49-F238E27FC236}">
                  <a16:creationId xmlns:a16="http://schemas.microsoft.com/office/drawing/2014/main" id="{C7E8D343-6007-91ED-F955-9BCE7A2C69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0650" y="388461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53">
              <a:extLst>
                <a:ext uri="{FF2B5EF4-FFF2-40B4-BE49-F238E27FC236}">
                  <a16:creationId xmlns:a16="http://schemas.microsoft.com/office/drawing/2014/main" id="{A1A6263C-5BF5-F3D0-CB0B-4683503E3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0650" y="4189413"/>
              <a:ext cx="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54">
              <a:extLst>
                <a:ext uri="{FF2B5EF4-FFF2-40B4-BE49-F238E27FC236}">
                  <a16:creationId xmlns:a16="http://schemas.microsoft.com/office/drawing/2014/main" id="{90A9D9D5-9BF4-5FE5-4539-E3E3E1536D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0650" y="4189413"/>
              <a:ext cx="7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55">
              <a:extLst>
                <a:ext uri="{FF2B5EF4-FFF2-40B4-BE49-F238E27FC236}">
                  <a16:creationId xmlns:a16="http://schemas.microsoft.com/office/drawing/2014/main" id="{E5B6CC8A-466F-6322-6D77-83DA8A97A4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6850" y="388461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56">
              <a:extLst>
                <a:ext uri="{FF2B5EF4-FFF2-40B4-BE49-F238E27FC236}">
                  <a16:creationId xmlns:a16="http://schemas.microsoft.com/office/drawing/2014/main" id="{5E077CEB-E0BC-83DD-40A2-7A2F1A463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6850" y="3884613"/>
              <a:ext cx="7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57">
              <a:extLst>
                <a:ext uri="{FF2B5EF4-FFF2-40B4-BE49-F238E27FC236}">
                  <a16:creationId xmlns:a16="http://schemas.microsoft.com/office/drawing/2014/main" id="{03F3DAFF-678B-A086-9A51-3EEA23BC4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3050" y="388461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58">
              <a:extLst>
                <a:ext uri="{FF2B5EF4-FFF2-40B4-BE49-F238E27FC236}">
                  <a16:creationId xmlns:a16="http://schemas.microsoft.com/office/drawing/2014/main" id="{2EA60812-486A-2519-C8C9-84B60A6766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3050" y="4189413"/>
              <a:ext cx="7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59">
              <a:extLst>
                <a:ext uri="{FF2B5EF4-FFF2-40B4-BE49-F238E27FC236}">
                  <a16:creationId xmlns:a16="http://schemas.microsoft.com/office/drawing/2014/main" id="{C38E5C87-D5F9-A1F0-D3E7-458CB03680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59250" y="388461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60">
              <a:extLst>
                <a:ext uri="{FF2B5EF4-FFF2-40B4-BE49-F238E27FC236}">
                  <a16:creationId xmlns:a16="http://schemas.microsoft.com/office/drawing/2014/main" id="{40576007-AE92-CAE3-949F-E5DA2E099D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9250" y="3884613"/>
              <a:ext cx="13525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61">
              <a:extLst>
                <a:ext uri="{FF2B5EF4-FFF2-40B4-BE49-F238E27FC236}">
                  <a16:creationId xmlns:a16="http://schemas.microsoft.com/office/drawing/2014/main" id="{1569E4C9-AFB4-8FD6-FB0D-A7D6174E5A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0613" y="4919663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62">
              <a:extLst>
                <a:ext uri="{FF2B5EF4-FFF2-40B4-BE49-F238E27FC236}">
                  <a16:creationId xmlns:a16="http://schemas.microsoft.com/office/drawing/2014/main" id="{003E6947-5DAF-0735-35E3-A4A4E50E23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5413" y="461486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63">
              <a:extLst>
                <a:ext uri="{FF2B5EF4-FFF2-40B4-BE49-F238E27FC236}">
                  <a16:creationId xmlns:a16="http://schemas.microsoft.com/office/drawing/2014/main" id="{88751548-518E-3E02-45F7-85D5BD4A77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5413" y="4614863"/>
              <a:ext cx="7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64">
              <a:extLst>
                <a:ext uri="{FF2B5EF4-FFF2-40B4-BE49-F238E27FC236}">
                  <a16:creationId xmlns:a16="http://schemas.microsoft.com/office/drawing/2014/main" id="{998A8160-05EE-02CB-70BE-97A3546E65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613" y="461486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65">
              <a:extLst>
                <a:ext uri="{FF2B5EF4-FFF2-40B4-BE49-F238E27FC236}">
                  <a16:creationId xmlns:a16="http://schemas.microsoft.com/office/drawing/2014/main" id="{C8F4FD47-01FB-FAA8-4194-A1503A0AF9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613" y="4919663"/>
              <a:ext cx="7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66">
              <a:extLst>
                <a:ext uri="{FF2B5EF4-FFF2-40B4-BE49-F238E27FC236}">
                  <a16:creationId xmlns:a16="http://schemas.microsoft.com/office/drawing/2014/main" id="{58A2B514-FEBA-A281-0EDB-FD2F9B3840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47813" y="461486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67">
              <a:extLst>
                <a:ext uri="{FF2B5EF4-FFF2-40B4-BE49-F238E27FC236}">
                  <a16:creationId xmlns:a16="http://schemas.microsoft.com/office/drawing/2014/main" id="{FBA7A999-3AF6-5418-CD3C-78F6371253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7813" y="4614863"/>
              <a:ext cx="7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68">
              <a:extLst>
                <a:ext uri="{FF2B5EF4-FFF2-40B4-BE49-F238E27FC236}">
                  <a16:creationId xmlns:a16="http://schemas.microsoft.com/office/drawing/2014/main" id="{44D5D646-8E31-3145-FC5F-1BBD70AD6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4013" y="461486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69">
              <a:extLst>
                <a:ext uri="{FF2B5EF4-FFF2-40B4-BE49-F238E27FC236}">
                  <a16:creationId xmlns:a16="http://schemas.microsoft.com/office/drawing/2014/main" id="{E7819944-C5D2-9F29-2ADC-2F29FD3C6A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4013" y="4919663"/>
              <a:ext cx="7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70">
              <a:extLst>
                <a:ext uri="{FF2B5EF4-FFF2-40B4-BE49-F238E27FC236}">
                  <a16:creationId xmlns:a16="http://schemas.microsoft.com/office/drawing/2014/main" id="{EF55A2F8-C513-294F-26AE-7583E17EFC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0213" y="461486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71">
              <a:extLst>
                <a:ext uri="{FF2B5EF4-FFF2-40B4-BE49-F238E27FC236}">
                  <a16:creationId xmlns:a16="http://schemas.microsoft.com/office/drawing/2014/main" id="{B027026D-3164-65A8-5F3E-AE106E1EFA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213" y="4614863"/>
              <a:ext cx="2982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72">
              <a:extLst>
                <a:ext uri="{FF2B5EF4-FFF2-40B4-BE49-F238E27FC236}">
                  <a16:creationId xmlns:a16="http://schemas.microsoft.com/office/drawing/2014/main" id="{BA833ED7-F130-8DF4-4406-3A7F53A9BF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3125" y="461486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73">
              <a:extLst>
                <a:ext uri="{FF2B5EF4-FFF2-40B4-BE49-F238E27FC236}">
                  <a16:creationId xmlns:a16="http://schemas.microsoft.com/office/drawing/2014/main" id="{6D726008-1546-9A1B-10E5-047045D659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3125" y="4919663"/>
              <a:ext cx="7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74">
              <a:extLst>
                <a:ext uri="{FF2B5EF4-FFF2-40B4-BE49-F238E27FC236}">
                  <a16:creationId xmlns:a16="http://schemas.microsoft.com/office/drawing/2014/main" id="{FE56CB8A-069C-9BCB-BBB0-912954B5AF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9325" y="461486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75">
              <a:extLst>
                <a:ext uri="{FF2B5EF4-FFF2-40B4-BE49-F238E27FC236}">
                  <a16:creationId xmlns:a16="http://schemas.microsoft.com/office/drawing/2014/main" id="{4843B4C3-A357-2A03-BF87-AA0AF1F49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9325" y="4614863"/>
              <a:ext cx="7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76">
              <a:extLst>
                <a:ext uri="{FF2B5EF4-FFF2-40B4-BE49-F238E27FC236}">
                  <a16:creationId xmlns:a16="http://schemas.microsoft.com/office/drawing/2014/main" id="{FC210502-56CC-17D2-EE17-F61810BB10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5525" y="461486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77">
              <a:extLst>
                <a:ext uri="{FF2B5EF4-FFF2-40B4-BE49-F238E27FC236}">
                  <a16:creationId xmlns:a16="http://schemas.microsoft.com/office/drawing/2014/main" id="{19D9714B-2456-32C4-4DCB-696ED8FA42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5525" y="4919663"/>
              <a:ext cx="7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78">
              <a:extLst>
                <a:ext uri="{FF2B5EF4-FFF2-40B4-BE49-F238E27FC236}">
                  <a16:creationId xmlns:a16="http://schemas.microsoft.com/office/drawing/2014/main" id="{3D9FD57C-EC61-F54E-C57D-D7E866BDD1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11725" y="461486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79">
              <a:extLst>
                <a:ext uri="{FF2B5EF4-FFF2-40B4-BE49-F238E27FC236}">
                  <a16:creationId xmlns:a16="http://schemas.microsoft.com/office/drawing/2014/main" id="{B6684409-0093-0675-301C-D1DFCBC0B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1725" y="4614863"/>
              <a:ext cx="76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80">
              <a:extLst>
                <a:ext uri="{FF2B5EF4-FFF2-40B4-BE49-F238E27FC236}">
                  <a16:creationId xmlns:a16="http://schemas.microsoft.com/office/drawing/2014/main" id="{09A7114F-E3B4-4F80-45E0-FCC2C88147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7925" y="4614863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81">
              <a:extLst>
                <a:ext uri="{FF2B5EF4-FFF2-40B4-BE49-F238E27FC236}">
                  <a16:creationId xmlns:a16="http://schemas.microsoft.com/office/drawing/2014/main" id="{4378E0B6-D79E-F3B1-F1F2-12F17F769B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7925" y="4919663"/>
              <a:ext cx="5238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9" name="Group 82">
              <a:extLst>
                <a:ext uri="{FF2B5EF4-FFF2-40B4-BE49-F238E27FC236}">
                  <a16:creationId xmlns:a16="http://schemas.microsoft.com/office/drawing/2014/main" id="{3F3E9901-05E0-F14A-69C8-389E7ACF60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0613" y="5214938"/>
              <a:ext cx="4421187" cy="381000"/>
              <a:chOff x="775" y="3477"/>
              <a:chExt cx="2785" cy="240"/>
            </a:xfrm>
          </p:grpSpPr>
          <p:sp>
            <p:nvSpPr>
              <p:cNvPr id="90" name="Line 83">
                <a:extLst>
                  <a:ext uri="{FF2B5EF4-FFF2-40B4-BE49-F238E27FC236}">
                    <a16:creationId xmlns:a16="http://schemas.microsoft.com/office/drawing/2014/main" id="{572517EC-206C-2461-7BDA-193F34F6E1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5" y="3717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84">
                <a:extLst>
                  <a:ext uri="{FF2B5EF4-FFF2-40B4-BE49-F238E27FC236}">
                    <a16:creationId xmlns:a16="http://schemas.microsoft.com/office/drawing/2014/main" id="{91CB0B0D-90A7-8451-0641-EACF4D805E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9" y="3477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85">
                <a:extLst>
                  <a:ext uri="{FF2B5EF4-FFF2-40B4-BE49-F238E27FC236}">
                    <a16:creationId xmlns:a16="http://schemas.microsoft.com/office/drawing/2014/main" id="{0F2DC70C-7C75-D3EF-D591-38A2901686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9" y="3477"/>
                <a:ext cx="163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86">
                <a:extLst>
                  <a:ext uri="{FF2B5EF4-FFF2-40B4-BE49-F238E27FC236}">
                    <a16:creationId xmlns:a16="http://schemas.microsoft.com/office/drawing/2014/main" id="{96C91055-4B62-99C1-03C6-A755377E3D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8" y="3477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87">
                <a:extLst>
                  <a:ext uri="{FF2B5EF4-FFF2-40B4-BE49-F238E27FC236}">
                    <a16:creationId xmlns:a16="http://schemas.microsoft.com/office/drawing/2014/main" id="{D0BCE3B1-B1C9-2976-6DE8-45488BD16C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8" y="3717"/>
                <a:ext cx="5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5" name="Text Box 88">
              <a:extLst>
                <a:ext uri="{FF2B5EF4-FFF2-40B4-BE49-F238E27FC236}">
                  <a16:creationId xmlns:a16="http://schemas.microsoft.com/office/drawing/2014/main" id="{462BB629-A329-E3BC-7176-93837F2C5D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838" y="3808413"/>
              <a:ext cx="3540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S</a:t>
              </a:r>
            </a:p>
          </p:txBody>
        </p:sp>
        <p:sp>
          <p:nvSpPr>
            <p:cNvPr id="96" name="Text Box 89">
              <a:extLst>
                <a:ext uri="{FF2B5EF4-FFF2-40B4-BE49-F238E27FC236}">
                  <a16:creationId xmlns:a16="http://schemas.microsoft.com/office/drawing/2014/main" id="{B71B7A8E-8FE9-3727-EA33-A90E0B769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6900" y="4538663"/>
              <a:ext cx="4048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R</a:t>
              </a:r>
            </a:p>
          </p:txBody>
        </p:sp>
        <p:sp>
          <p:nvSpPr>
            <p:cNvPr id="97" name="Text Box 90">
              <a:extLst>
                <a:ext uri="{FF2B5EF4-FFF2-40B4-BE49-F238E27FC236}">
                  <a16:creationId xmlns:a16="http://schemas.microsoft.com/office/drawing/2014/main" id="{07609A46-C9DA-9D2D-7150-498E8409C0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975" y="5187950"/>
              <a:ext cx="4206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98" name="Line 97">
              <a:extLst>
                <a:ext uri="{FF2B5EF4-FFF2-40B4-BE49-F238E27FC236}">
                  <a16:creationId xmlns:a16="http://schemas.microsoft.com/office/drawing/2014/main" id="{670A2FEC-6F2B-A7C3-504C-008F19663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2325" y="3663950"/>
              <a:ext cx="0" cy="21256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98">
              <a:extLst>
                <a:ext uri="{FF2B5EF4-FFF2-40B4-BE49-F238E27FC236}">
                  <a16:creationId xmlns:a16="http://schemas.microsoft.com/office/drawing/2014/main" id="{CCC07BAB-F7E7-EFD2-DF04-AD36FE3E97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4713" y="3700463"/>
              <a:ext cx="0" cy="21256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103">
              <a:extLst>
                <a:ext uri="{FF2B5EF4-FFF2-40B4-BE49-F238E27FC236}">
                  <a16:creationId xmlns:a16="http://schemas.microsoft.com/office/drawing/2014/main" id="{1349F692-0172-4300-19CD-E8005B0257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225" y="3887788"/>
              <a:ext cx="2524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104">
              <a:extLst>
                <a:ext uri="{FF2B5EF4-FFF2-40B4-BE49-F238E27FC236}">
                  <a16:creationId xmlns:a16="http://schemas.microsoft.com/office/drawing/2014/main" id="{5324AA9B-E36B-E30B-85DE-F12443848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225" y="4606925"/>
              <a:ext cx="2524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2456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15B82-E2D4-EA6B-946E-6B539690B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门控</a:t>
            </a:r>
            <a:r>
              <a:rPr kumimoji="1" lang="en-US" altLang="zh-CN" dirty="0"/>
              <a:t>SR</a:t>
            </a:r>
            <a:r>
              <a:rPr kumimoji="1" lang="zh-CN" altLang="en-US" dirty="0"/>
              <a:t>锁存器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66719A-2529-20DB-F251-CFFEA4F1E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183370" cy="5947119"/>
          </a:xfrm>
        </p:spPr>
        <p:txBody>
          <a:bodyPr/>
          <a:lstStyle/>
          <a:p>
            <a:r>
              <a:rPr lang="zh-CN" altLang="en-US" dirty="0"/>
              <a:t>增加门控</a:t>
            </a:r>
            <a:r>
              <a:rPr lang="en-US" altLang="zh-CN" dirty="0"/>
              <a:t>(Gated)</a:t>
            </a:r>
            <a:r>
              <a:rPr lang="zh-CN" altLang="en-US" dirty="0"/>
              <a:t>信号，使得激励输入信号更新锁存器状态的时机可以受控</a:t>
            </a:r>
            <a:endParaRPr lang="en-US" altLang="zh-CN" dirty="0"/>
          </a:p>
          <a:p>
            <a:pPr lvl="1"/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当</a:t>
            </a: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E=0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时</a:t>
            </a: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锁存器状态保持不变，不受</a:t>
            </a: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影响</a:t>
            </a:r>
            <a:endParaRPr kumimoji="1" lang="en-US" altLang="zh-CN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当</a:t>
            </a: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E=1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时</a:t>
            </a: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与基本</a:t>
            </a: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SR</a:t>
            </a: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锁存器功能相同</a:t>
            </a:r>
            <a:endParaRPr kumimoji="1" lang="en-US" altLang="zh-CN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5F9293-14D5-C453-58C1-6F6DB6728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02DEF7-5380-8AF0-6A41-291E7E5EF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14</a:t>
            </a:fld>
            <a:r>
              <a:rPr lang="en-US" altLang="zh-CN" dirty="0"/>
              <a:t>/22</a:t>
            </a:r>
            <a:endParaRPr lang="en-US" dirty="0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643E03BD-51D3-E985-8F36-08B4FC3BFE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7650" y="3468695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11">
            <a:extLst>
              <a:ext uri="{FF2B5EF4-FFF2-40B4-BE49-F238E27FC236}">
                <a16:creationId xmlns:a16="http://schemas.microsoft.com/office/drawing/2014/main" id="{BF8833F3-BA18-923A-0BAD-4623A3BA4B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7650" y="4702183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16">
            <a:extLst>
              <a:ext uri="{FF2B5EF4-FFF2-40B4-BE49-F238E27FC236}">
                <a16:creationId xmlns:a16="http://schemas.microsoft.com/office/drawing/2014/main" id="{53F22393-D26B-0809-28ED-5A70626AD6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55787" y="3479808"/>
            <a:ext cx="355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17">
            <a:extLst>
              <a:ext uri="{FF2B5EF4-FFF2-40B4-BE49-F238E27FC236}">
                <a16:creationId xmlns:a16="http://schemas.microsoft.com/office/drawing/2014/main" id="{4236A69E-926A-7659-F154-5632370ECE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5787" y="3479808"/>
            <a:ext cx="0" cy="1203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8">
            <a:extLst>
              <a:ext uri="{FF2B5EF4-FFF2-40B4-BE49-F238E27FC236}">
                <a16:creationId xmlns:a16="http://schemas.microsoft.com/office/drawing/2014/main" id="{57BC0AC8-D4A0-0A36-E339-8DA8C734D5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5787" y="4683133"/>
            <a:ext cx="355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9">
            <a:extLst>
              <a:ext uri="{FF2B5EF4-FFF2-40B4-BE49-F238E27FC236}">
                <a16:creationId xmlns:a16="http://schemas.microsoft.com/office/drawing/2014/main" id="{D9B3D3E3-458A-377F-8A5B-F6D83AD9E0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3187" y="3179770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20">
            <a:extLst>
              <a:ext uri="{FF2B5EF4-FFF2-40B4-BE49-F238E27FC236}">
                <a16:creationId xmlns:a16="http://schemas.microsoft.com/office/drawing/2014/main" id="{02F1E99D-9F56-D7EC-8513-5588C493B2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3187" y="4970470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21">
            <a:extLst>
              <a:ext uri="{FF2B5EF4-FFF2-40B4-BE49-F238E27FC236}">
                <a16:creationId xmlns:a16="http://schemas.microsoft.com/office/drawing/2014/main" id="{4918007B-62A9-E911-79BB-39A99E6F89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3187" y="4081470"/>
            <a:ext cx="48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22">
            <a:extLst>
              <a:ext uri="{FF2B5EF4-FFF2-40B4-BE49-F238E27FC236}">
                <a16:creationId xmlns:a16="http://schemas.microsoft.com/office/drawing/2014/main" id="{07F23334-B500-F909-E228-AC7033EF90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8587" y="3328995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23">
            <a:extLst>
              <a:ext uri="{FF2B5EF4-FFF2-40B4-BE49-F238E27FC236}">
                <a16:creationId xmlns:a16="http://schemas.microsoft.com/office/drawing/2014/main" id="{3BE7D408-00FF-4637-0792-4BA28D51D7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8587" y="4833945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24">
            <a:extLst>
              <a:ext uri="{FF2B5EF4-FFF2-40B4-BE49-F238E27FC236}">
                <a16:creationId xmlns:a16="http://schemas.microsoft.com/office/drawing/2014/main" id="{03628BF2-3C6C-BFD9-A27B-0D4DEC2809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1187" y="3470283"/>
            <a:ext cx="0" cy="3111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25">
            <a:extLst>
              <a:ext uri="{FF2B5EF4-FFF2-40B4-BE49-F238E27FC236}">
                <a16:creationId xmlns:a16="http://schemas.microsoft.com/office/drawing/2014/main" id="{3B547F0A-822A-F344-C76E-102CF94676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8187" y="3781433"/>
            <a:ext cx="1143000" cy="525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26">
            <a:extLst>
              <a:ext uri="{FF2B5EF4-FFF2-40B4-BE49-F238E27FC236}">
                <a16:creationId xmlns:a16="http://schemas.microsoft.com/office/drawing/2014/main" id="{32333073-A4F0-88C2-419C-5AF3DA9CD0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8187" y="4306895"/>
            <a:ext cx="0" cy="225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27">
            <a:extLst>
              <a:ext uri="{FF2B5EF4-FFF2-40B4-BE49-F238E27FC236}">
                <a16:creationId xmlns:a16="http://schemas.microsoft.com/office/drawing/2014/main" id="{B6E484C5-203E-37B9-DF28-7768A42AAB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8187" y="453232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28">
            <a:extLst>
              <a:ext uri="{FF2B5EF4-FFF2-40B4-BE49-F238E27FC236}">
                <a16:creationId xmlns:a16="http://schemas.microsoft.com/office/drawing/2014/main" id="{2033BBC2-19BA-1A22-84AF-E1C90B9E9F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1187" y="4232283"/>
            <a:ext cx="0" cy="469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29">
            <a:extLst>
              <a:ext uri="{FF2B5EF4-FFF2-40B4-BE49-F238E27FC236}">
                <a16:creationId xmlns:a16="http://schemas.microsoft.com/office/drawing/2014/main" id="{2118E4C1-3C62-8A7A-C0BB-57A113637B8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78187" y="3930658"/>
            <a:ext cx="1143000" cy="301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30">
            <a:extLst>
              <a:ext uri="{FF2B5EF4-FFF2-40B4-BE49-F238E27FC236}">
                <a16:creationId xmlns:a16="http://schemas.microsoft.com/office/drawing/2014/main" id="{B60EB6E2-FB23-DC81-EBCC-FB22C409F7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8187" y="3630620"/>
            <a:ext cx="0" cy="300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31">
            <a:extLst>
              <a:ext uri="{FF2B5EF4-FFF2-40B4-BE49-F238E27FC236}">
                <a16:creationId xmlns:a16="http://schemas.microsoft.com/office/drawing/2014/main" id="{8884C411-87AA-B853-BC22-69C4BF6FD2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8187" y="363062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Box 32">
            <a:extLst>
              <a:ext uri="{FF2B5EF4-FFF2-40B4-BE49-F238E27FC236}">
                <a16:creationId xmlns:a16="http://schemas.microsoft.com/office/drawing/2014/main" id="{C7CAB2C9-1BA2-65AD-75D3-2791CC35B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3837" y="4714883"/>
            <a:ext cx="522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G</a:t>
            </a:r>
            <a:r>
              <a:rPr kumimoji="1" lang="en-US" altLang="zh-CN" sz="2400" baseline="-25000">
                <a:ea typeface="楷体_GB2312" pitchFamily="49" charset="-122"/>
              </a:rPr>
              <a:t>2</a:t>
            </a:r>
            <a:endParaRPr kumimoji="1" lang="en-US" altLang="zh-CN" sz="2400">
              <a:ea typeface="楷体_GB2312" pitchFamily="49" charset="-122"/>
            </a:endParaRPr>
          </a:p>
        </p:txBody>
      </p:sp>
      <p:sp>
        <p:nvSpPr>
          <p:cNvPr id="25" name="Text Box 33">
            <a:extLst>
              <a:ext uri="{FF2B5EF4-FFF2-40B4-BE49-F238E27FC236}">
                <a16:creationId xmlns:a16="http://schemas.microsoft.com/office/drawing/2014/main" id="{B93C3398-97DA-0BA9-57AF-FB8FCDA99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7" y="295434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R</a:t>
            </a:r>
          </a:p>
        </p:txBody>
      </p:sp>
      <p:sp>
        <p:nvSpPr>
          <p:cNvPr id="26" name="Text Box 34">
            <a:extLst>
              <a:ext uri="{FF2B5EF4-FFF2-40B4-BE49-F238E27FC236}">
                <a16:creationId xmlns:a16="http://schemas.microsoft.com/office/drawing/2014/main" id="{93789001-BAF8-317C-D243-09AFFA15A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7" y="474504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S</a:t>
            </a:r>
          </a:p>
        </p:txBody>
      </p:sp>
      <p:sp>
        <p:nvSpPr>
          <p:cNvPr id="27" name="Text Box 35">
            <a:extLst>
              <a:ext uri="{FF2B5EF4-FFF2-40B4-BE49-F238E27FC236}">
                <a16:creationId xmlns:a16="http://schemas.microsoft.com/office/drawing/2014/main" id="{F51AB4F5-C985-D67A-026F-673255785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7" y="3856045"/>
            <a:ext cx="390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E</a:t>
            </a:r>
          </a:p>
        </p:txBody>
      </p:sp>
      <p:sp>
        <p:nvSpPr>
          <p:cNvPr id="28" name="Text Box 36">
            <a:extLst>
              <a:ext uri="{FF2B5EF4-FFF2-40B4-BE49-F238E27FC236}">
                <a16:creationId xmlns:a16="http://schemas.microsoft.com/office/drawing/2014/main" id="{D9D6AED7-6782-2D55-916B-D1C2DC4BE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4575" y="3179770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</a:p>
        </p:txBody>
      </p:sp>
      <p:sp>
        <p:nvSpPr>
          <p:cNvPr id="29" name="Text Box 37">
            <a:extLst>
              <a:ext uri="{FF2B5EF4-FFF2-40B4-BE49-F238E27FC236}">
                <a16:creationId xmlns:a16="http://schemas.microsoft.com/office/drawing/2014/main" id="{803B4AB5-2FD4-A4C1-C3A7-E65A39075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8387" y="4383095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</a:p>
        </p:txBody>
      </p:sp>
      <p:sp>
        <p:nvSpPr>
          <p:cNvPr id="30" name="Line 38">
            <a:extLst>
              <a:ext uri="{FF2B5EF4-FFF2-40B4-BE49-F238E27FC236}">
                <a16:creationId xmlns:a16="http://schemas.microsoft.com/office/drawing/2014/main" id="{0D99F60C-25F6-2BED-4920-0F32178F53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4587" y="4457708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 Box 42">
            <a:extLst>
              <a:ext uri="{FF2B5EF4-FFF2-40B4-BE49-F238E27FC236}">
                <a16:creationId xmlns:a16="http://schemas.microsoft.com/office/drawing/2014/main" id="{C849087E-8511-7AC8-E9FD-C35DC80EA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3837" y="2878145"/>
            <a:ext cx="522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G</a:t>
            </a:r>
            <a:r>
              <a:rPr kumimoji="1" lang="en-US" altLang="zh-CN" sz="2400" baseline="-25000">
                <a:ea typeface="楷体_GB2312" pitchFamily="49" charset="-122"/>
              </a:rPr>
              <a:t>1</a:t>
            </a:r>
            <a:endParaRPr kumimoji="1" lang="en-US" altLang="zh-CN" sz="2400">
              <a:ea typeface="楷体_GB2312" pitchFamily="49" charset="-122"/>
            </a:endParaRPr>
          </a:p>
        </p:txBody>
      </p:sp>
      <p:sp>
        <p:nvSpPr>
          <p:cNvPr id="33" name="Text Box 43">
            <a:extLst>
              <a:ext uri="{FF2B5EF4-FFF2-40B4-BE49-F238E27FC236}">
                <a16:creationId xmlns:a16="http://schemas.microsoft.com/office/drawing/2014/main" id="{B2C5BB5A-4D10-667E-0451-D8A6F4E3E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4462" y="2806708"/>
            <a:ext cx="522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G</a:t>
            </a:r>
            <a:r>
              <a:rPr kumimoji="1" lang="en-US" altLang="zh-CN" sz="2400" baseline="-25000">
                <a:ea typeface="楷体_GB2312" pitchFamily="49" charset="-122"/>
              </a:rPr>
              <a:t>3</a:t>
            </a:r>
            <a:endParaRPr kumimoji="1" lang="en-US" altLang="zh-CN" sz="2400">
              <a:ea typeface="楷体_GB2312" pitchFamily="49" charset="-122"/>
            </a:endParaRPr>
          </a:p>
        </p:txBody>
      </p:sp>
      <p:sp>
        <p:nvSpPr>
          <p:cNvPr id="34" name="Text Box 44">
            <a:extLst>
              <a:ext uri="{FF2B5EF4-FFF2-40B4-BE49-F238E27FC236}">
                <a16:creationId xmlns:a16="http://schemas.microsoft.com/office/drawing/2014/main" id="{0503B85C-8B2E-8B3F-F195-8572CAC48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975" y="4857758"/>
            <a:ext cx="522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G</a:t>
            </a:r>
            <a:r>
              <a:rPr kumimoji="1" lang="en-US" altLang="zh-CN" sz="2400" baseline="-25000">
                <a:ea typeface="楷体_GB2312" pitchFamily="49" charset="-122"/>
              </a:rPr>
              <a:t>4</a:t>
            </a:r>
            <a:endParaRPr kumimoji="1" lang="en-US" altLang="zh-CN" sz="2400">
              <a:ea typeface="楷体_GB2312" pitchFamily="49" charset="-122"/>
            </a:endParaRPr>
          </a:p>
        </p:txBody>
      </p:sp>
      <p:grpSp>
        <p:nvGrpSpPr>
          <p:cNvPr id="35" name="Group 45">
            <a:extLst>
              <a:ext uri="{FF2B5EF4-FFF2-40B4-BE49-F238E27FC236}">
                <a16:creationId xmlns:a16="http://schemas.microsoft.com/office/drawing/2014/main" id="{75A1EEBD-75C5-4206-F422-548D0FF9F655}"/>
              </a:ext>
            </a:extLst>
          </p:cNvPr>
          <p:cNvGrpSpPr>
            <a:grpSpLocks/>
          </p:cNvGrpSpPr>
          <p:nvPr/>
        </p:nvGrpSpPr>
        <p:grpSpPr bwMode="auto">
          <a:xfrm>
            <a:off x="7151687" y="3106745"/>
            <a:ext cx="2235200" cy="2112962"/>
            <a:chOff x="3901" y="1879"/>
            <a:chExt cx="1408" cy="1331"/>
          </a:xfrm>
        </p:grpSpPr>
        <p:sp>
          <p:nvSpPr>
            <p:cNvPr id="36" name="Text Box 46">
              <a:extLst>
                <a:ext uri="{FF2B5EF4-FFF2-40B4-BE49-F238E27FC236}">
                  <a16:creationId xmlns:a16="http://schemas.microsoft.com/office/drawing/2014/main" id="{DDCC9667-78E5-E660-6686-60CEC1C92E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0" y="2922"/>
              <a:ext cx="117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逻辑符号</a:t>
              </a:r>
            </a:p>
          </p:txBody>
        </p:sp>
        <p:grpSp>
          <p:nvGrpSpPr>
            <p:cNvPr id="37" name="Group 47">
              <a:extLst>
                <a:ext uri="{FF2B5EF4-FFF2-40B4-BE49-F238E27FC236}">
                  <a16:creationId xmlns:a16="http://schemas.microsoft.com/office/drawing/2014/main" id="{5BD2C204-08C4-7A20-14B3-8A4DBA831C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1" y="1879"/>
              <a:ext cx="1408" cy="960"/>
              <a:chOff x="3901" y="1879"/>
              <a:chExt cx="1408" cy="960"/>
            </a:xfrm>
          </p:grpSpPr>
          <p:sp>
            <p:nvSpPr>
              <p:cNvPr id="38" name="Rectangle 48">
                <a:extLst>
                  <a:ext uri="{FF2B5EF4-FFF2-40B4-BE49-F238E27FC236}">
                    <a16:creationId xmlns:a16="http://schemas.microsoft.com/office/drawing/2014/main" id="{E14115B6-1E45-8DB6-EB8A-26F514651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9" y="1879"/>
                <a:ext cx="576" cy="96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endParaRPr kumimoji="1" lang="zh-CN" altLang="en-US">
                  <a:ea typeface="楷体_GB2312" pitchFamily="49" charset="-122"/>
                </a:endParaRPr>
              </a:p>
            </p:txBody>
          </p:sp>
          <p:sp>
            <p:nvSpPr>
              <p:cNvPr id="39" name="Line 49">
                <a:extLst>
                  <a:ext uri="{FF2B5EF4-FFF2-40B4-BE49-F238E27FC236}">
                    <a16:creationId xmlns:a16="http://schemas.microsoft.com/office/drawing/2014/main" id="{9CD3FBEC-ACAA-407E-F60C-F047257E65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01" y="2071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50">
                <a:extLst>
                  <a:ext uri="{FF2B5EF4-FFF2-40B4-BE49-F238E27FC236}">
                    <a16:creationId xmlns:a16="http://schemas.microsoft.com/office/drawing/2014/main" id="{51974EEE-5FF0-A858-FF33-D7163915E4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01" y="235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51">
                <a:extLst>
                  <a:ext uri="{FF2B5EF4-FFF2-40B4-BE49-F238E27FC236}">
                    <a16:creationId xmlns:a16="http://schemas.microsoft.com/office/drawing/2014/main" id="{565EA373-EEA7-9864-3084-B82C5D64F1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01" y="2647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Text Box 52">
                <a:extLst>
                  <a:ext uri="{FF2B5EF4-FFF2-40B4-BE49-F238E27FC236}">
                    <a16:creationId xmlns:a16="http://schemas.microsoft.com/office/drawing/2014/main" id="{1ECDAD0B-AEA2-9993-2B0F-4751262D3E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5" y="1933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S</a:t>
                </a:r>
              </a:p>
            </p:txBody>
          </p:sp>
          <p:sp>
            <p:nvSpPr>
              <p:cNvPr id="43" name="Text Box 53">
                <a:extLst>
                  <a:ext uri="{FF2B5EF4-FFF2-40B4-BE49-F238E27FC236}">
                    <a16:creationId xmlns:a16="http://schemas.microsoft.com/office/drawing/2014/main" id="{2FEB69CB-4864-31DA-8A89-F57BFB27AA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8" y="2211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E</a:t>
                </a:r>
              </a:p>
            </p:txBody>
          </p:sp>
          <p:sp>
            <p:nvSpPr>
              <p:cNvPr id="44" name="Text Box 54">
                <a:extLst>
                  <a:ext uri="{FF2B5EF4-FFF2-40B4-BE49-F238E27FC236}">
                    <a16:creationId xmlns:a16="http://schemas.microsoft.com/office/drawing/2014/main" id="{502C07FD-1041-109F-10D4-3ECB11F5F3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0" y="2499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R</a:t>
                </a:r>
              </a:p>
            </p:txBody>
          </p:sp>
          <p:sp>
            <p:nvSpPr>
              <p:cNvPr id="45" name="Line 55">
                <a:extLst>
                  <a:ext uri="{FF2B5EF4-FFF2-40B4-BE49-F238E27FC236}">
                    <a16:creationId xmlns:a16="http://schemas.microsoft.com/office/drawing/2014/main" id="{10933913-1CDC-7D5A-8FF0-BFD89F9160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5" y="2071"/>
                <a:ext cx="27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Line 56">
                <a:extLst>
                  <a:ext uri="{FF2B5EF4-FFF2-40B4-BE49-F238E27FC236}">
                    <a16:creationId xmlns:a16="http://schemas.microsoft.com/office/drawing/2014/main" id="{DA796018-D6B1-EFB2-2BD3-00D2CC9F74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13" y="2647"/>
                <a:ext cx="2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Text Box 57">
                <a:extLst>
                  <a:ext uri="{FF2B5EF4-FFF2-40B4-BE49-F238E27FC236}">
                    <a16:creationId xmlns:a16="http://schemas.microsoft.com/office/drawing/2014/main" id="{459322DA-D994-D05A-AD8D-EEBD2D0B04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2" y="1933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</a:p>
            </p:txBody>
          </p:sp>
          <p:sp>
            <p:nvSpPr>
              <p:cNvPr id="48" name="Text Box 58">
                <a:extLst>
                  <a:ext uri="{FF2B5EF4-FFF2-40B4-BE49-F238E27FC236}">
                    <a16:creationId xmlns:a16="http://schemas.microsoft.com/office/drawing/2014/main" id="{3DEEA0CD-F2C4-30F0-9F74-33558F5CBE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44" y="2488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</a:p>
            </p:txBody>
          </p:sp>
          <p:sp>
            <p:nvSpPr>
              <p:cNvPr id="49" name="Oval 59">
                <a:extLst>
                  <a:ext uri="{FF2B5EF4-FFF2-40B4-BE49-F238E27FC236}">
                    <a16:creationId xmlns:a16="http://schemas.microsoft.com/office/drawing/2014/main" id="{12B91FDF-ADF1-A613-8F9F-3D7CBE138B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5" y="2621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50" name="Oval 60">
                <a:extLst>
                  <a:ext uri="{FF2B5EF4-FFF2-40B4-BE49-F238E27FC236}">
                    <a16:creationId xmlns:a16="http://schemas.microsoft.com/office/drawing/2014/main" id="{94432D2A-8C8B-71FC-3DE0-0DFED41C22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2" y="2614"/>
                <a:ext cx="82" cy="8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51" name="Line 61">
                <a:extLst>
                  <a:ext uri="{FF2B5EF4-FFF2-40B4-BE49-F238E27FC236}">
                    <a16:creationId xmlns:a16="http://schemas.microsoft.com/office/drawing/2014/main" id="{F7B4C6CE-5FC6-E095-7C86-98491590F0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95" y="2537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2" name="AutoShape 64">
            <a:extLst>
              <a:ext uri="{FF2B5EF4-FFF2-40B4-BE49-F238E27FC236}">
                <a16:creationId xmlns:a16="http://schemas.microsoft.com/office/drawing/2014/main" id="{E151B022-28A4-0362-E611-C32300019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044833"/>
            <a:ext cx="454025" cy="550862"/>
          </a:xfrm>
          <a:prstGeom prst="flowChartDelay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3" name="AutoShape 65">
            <a:extLst>
              <a:ext uri="{FF2B5EF4-FFF2-40B4-BE49-F238E27FC236}">
                <a16:creationId xmlns:a16="http://schemas.microsoft.com/office/drawing/2014/main" id="{AF06F916-8DF2-67E2-3F90-FA5D3B62F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559308"/>
            <a:ext cx="454025" cy="550862"/>
          </a:xfrm>
          <a:prstGeom prst="flowChartDelay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4" name="Oval 66">
            <a:extLst>
              <a:ext uri="{FF2B5EF4-FFF2-40B4-BE49-F238E27FC236}">
                <a16:creationId xmlns:a16="http://schemas.microsoft.com/office/drawing/2014/main" id="{6ACFA244-19ED-0BB8-2B0D-348C29EB5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0662" y="3403608"/>
            <a:ext cx="144463" cy="14446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55" name="Group 67">
            <a:extLst>
              <a:ext uri="{FF2B5EF4-FFF2-40B4-BE49-F238E27FC236}">
                <a16:creationId xmlns:a16="http://schemas.microsoft.com/office/drawing/2014/main" id="{F0CC5AD6-66CF-1E5F-6107-082240AD7EB7}"/>
              </a:ext>
            </a:extLst>
          </p:cNvPr>
          <p:cNvGrpSpPr>
            <a:grpSpLocks/>
          </p:cNvGrpSpPr>
          <p:nvPr/>
        </p:nvGrpSpPr>
        <p:grpSpPr bwMode="auto">
          <a:xfrm>
            <a:off x="3409950" y="3155958"/>
            <a:ext cx="606425" cy="627062"/>
            <a:chOff x="4173" y="2976"/>
            <a:chExt cx="431" cy="431"/>
          </a:xfrm>
        </p:grpSpPr>
        <p:grpSp>
          <p:nvGrpSpPr>
            <p:cNvPr id="56" name="Group 68">
              <a:extLst>
                <a:ext uri="{FF2B5EF4-FFF2-40B4-BE49-F238E27FC236}">
                  <a16:creationId xmlns:a16="http://schemas.microsoft.com/office/drawing/2014/main" id="{8134AEB0-EE55-556C-34EB-EC7254AE20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3" y="2976"/>
              <a:ext cx="431" cy="431"/>
              <a:chOff x="4445" y="2999"/>
              <a:chExt cx="295" cy="318"/>
            </a:xfrm>
          </p:grpSpPr>
          <p:sp>
            <p:nvSpPr>
              <p:cNvPr id="58" name="Arc 69">
                <a:extLst>
                  <a:ext uri="{FF2B5EF4-FFF2-40B4-BE49-F238E27FC236}">
                    <a16:creationId xmlns:a16="http://schemas.microsoft.com/office/drawing/2014/main" id="{ADB50A1E-D367-505B-D725-91809DD07F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5" y="2999"/>
                <a:ext cx="295" cy="15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Arc 70">
                <a:extLst>
                  <a:ext uri="{FF2B5EF4-FFF2-40B4-BE49-F238E27FC236}">
                    <a16:creationId xmlns:a16="http://schemas.microsoft.com/office/drawing/2014/main" id="{324644B8-6281-4FC7-EBB1-F3467D45EA2A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 flipH="1">
                <a:off x="4445" y="3158"/>
                <a:ext cx="295" cy="15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7" name="Arc 71">
              <a:extLst>
                <a:ext uri="{FF2B5EF4-FFF2-40B4-BE49-F238E27FC236}">
                  <a16:creationId xmlns:a16="http://schemas.microsoft.com/office/drawing/2014/main" id="{6891BD4B-2AFE-764E-BA13-4627D3E851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2976"/>
              <a:ext cx="90" cy="430"/>
            </a:xfrm>
            <a:custGeom>
              <a:avLst/>
              <a:gdLst>
                <a:gd name="T0" fmla="*/ 0 w 21838"/>
                <a:gd name="T1" fmla="*/ 0 h 43200"/>
                <a:gd name="T2" fmla="*/ 0 w 21838"/>
                <a:gd name="T3" fmla="*/ 0 h 43200"/>
                <a:gd name="T4" fmla="*/ 0 w 21838"/>
                <a:gd name="T5" fmla="*/ 0 h 43200"/>
                <a:gd name="T6" fmla="*/ 0 60000 65536"/>
                <a:gd name="T7" fmla="*/ 0 60000 65536"/>
                <a:gd name="T8" fmla="*/ 0 60000 65536"/>
                <a:gd name="T9" fmla="*/ 0 w 21838"/>
                <a:gd name="T10" fmla="*/ 0 h 43200"/>
                <a:gd name="T11" fmla="*/ 21838 w 21838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838" h="43200" fill="none" extrusionOk="0">
                  <a:moveTo>
                    <a:pt x="237" y="0"/>
                  </a:moveTo>
                  <a:cubicBezTo>
                    <a:pt x="12167" y="0"/>
                    <a:pt x="21838" y="9670"/>
                    <a:pt x="21838" y="21600"/>
                  </a:cubicBezTo>
                  <a:cubicBezTo>
                    <a:pt x="21838" y="33529"/>
                    <a:pt x="12167" y="43200"/>
                    <a:pt x="238" y="43200"/>
                  </a:cubicBezTo>
                  <a:cubicBezTo>
                    <a:pt x="158" y="43200"/>
                    <a:pt x="79" y="43199"/>
                    <a:pt x="0" y="43198"/>
                  </a:cubicBezTo>
                </a:path>
                <a:path w="21838" h="43200" stroke="0" extrusionOk="0">
                  <a:moveTo>
                    <a:pt x="237" y="0"/>
                  </a:moveTo>
                  <a:cubicBezTo>
                    <a:pt x="12167" y="0"/>
                    <a:pt x="21838" y="9670"/>
                    <a:pt x="21838" y="21600"/>
                  </a:cubicBezTo>
                  <a:cubicBezTo>
                    <a:pt x="21838" y="33529"/>
                    <a:pt x="12167" y="43200"/>
                    <a:pt x="238" y="43200"/>
                  </a:cubicBezTo>
                  <a:cubicBezTo>
                    <a:pt x="158" y="43200"/>
                    <a:pt x="79" y="43199"/>
                    <a:pt x="0" y="43198"/>
                  </a:cubicBezTo>
                  <a:lnTo>
                    <a:pt x="238" y="21600"/>
                  </a:lnTo>
                  <a:lnTo>
                    <a:pt x="237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0" name="Oval 72">
            <a:extLst>
              <a:ext uri="{FF2B5EF4-FFF2-40B4-BE49-F238E27FC236}">
                <a16:creationId xmlns:a16="http://schemas.microsoft.com/office/drawing/2014/main" id="{25392401-2A46-5E7C-3EE8-F763114E8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75" y="4629158"/>
            <a:ext cx="144462" cy="14446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61" name="Group 73">
            <a:extLst>
              <a:ext uri="{FF2B5EF4-FFF2-40B4-BE49-F238E27FC236}">
                <a16:creationId xmlns:a16="http://schemas.microsoft.com/office/drawing/2014/main" id="{A0CB325B-5D00-49AF-C11C-0B9839C2BF25}"/>
              </a:ext>
            </a:extLst>
          </p:cNvPr>
          <p:cNvGrpSpPr>
            <a:grpSpLocks/>
          </p:cNvGrpSpPr>
          <p:nvPr/>
        </p:nvGrpSpPr>
        <p:grpSpPr bwMode="auto">
          <a:xfrm>
            <a:off x="3408362" y="4381508"/>
            <a:ext cx="606425" cy="627062"/>
            <a:chOff x="4173" y="2976"/>
            <a:chExt cx="431" cy="431"/>
          </a:xfrm>
        </p:grpSpPr>
        <p:grpSp>
          <p:nvGrpSpPr>
            <p:cNvPr id="62" name="Group 74">
              <a:extLst>
                <a:ext uri="{FF2B5EF4-FFF2-40B4-BE49-F238E27FC236}">
                  <a16:creationId xmlns:a16="http://schemas.microsoft.com/office/drawing/2014/main" id="{2BBF60BC-FCC5-AA0F-9637-EF1A79E1A4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3" y="2976"/>
              <a:ext cx="431" cy="431"/>
              <a:chOff x="4445" y="2999"/>
              <a:chExt cx="295" cy="318"/>
            </a:xfrm>
          </p:grpSpPr>
          <p:sp>
            <p:nvSpPr>
              <p:cNvPr id="64" name="Arc 75">
                <a:extLst>
                  <a:ext uri="{FF2B5EF4-FFF2-40B4-BE49-F238E27FC236}">
                    <a16:creationId xmlns:a16="http://schemas.microsoft.com/office/drawing/2014/main" id="{3749F392-988C-7FDA-7854-C9BE57C763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5" y="2999"/>
                <a:ext cx="295" cy="15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Arc 76">
                <a:extLst>
                  <a:ext uri="{FF2B5EF4-FFF2-40B4-BE49-F238E27FC236}">
                    <a16:creationId xmlns:a16="http://schemas.microsoft.com/office/drawing/2014/main" id="{8495B96D-7DA7-610D-8CC1-D679F561AE9C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 flipH="1">
                <a:off x="4445" y="3158"/>
                <a:ext cx="295" cy="15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3" name="Arc 77">
              <a:extLst>
                <a:ext uri="{FF2B5EF4-FFF2-40B4-BE49-F238E27FC236}">
                  <a16:creationId xmlns:a16="http://schemas.microsoft.com/office/drawing/2014/main" id="{D0A57841-01AD-BD3B-5EFE-4CF5A6E89F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2976"/>
              <a:ext cx="90" cy="430"/>
            </a:xfrm>
            <a:custGeom>
              <a:avLst/>
              <a:gdLst>
                <a:gd name="T0" fmla="*/ 0 w 21838"/>
                <a:gd name="T1" fmla="*/ 0 h 43200"/>
                <a:gd name="T2" fmla="*/ 0 w 21838"/>
                <a:gd name="T3" fmla="*/ 0 h 43200"/>
                <a:gd name="T4" fmla="*/ 0 w 21838"/>
                <a:gd name="T5" fmla="*/ 0 h 43200"/>
                <a:gd name="T6" fmla="*/ 0 60000 65536"/>
                <a:gd name="T7" fmla="*/ 0 60000 65536"/>
                <a:gd name="T8" fmla="*/ 0 60000 65536"/>
                <a:gd name="T9" fmla="*/ 0 w 21838"/>
                <a:gd name="T10" fmla="*/ 0 h 43200"/>
                <a:gd name="T11" fmla="*/ 21838 w 21838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838" h="43200" fill="none" extrusionOk="0">
                  <a:moveTo>
                    <a:pt x="237" y="0"/>
                  </a:moveTo>
                  <a:cubicBezTo>
                    <a:pt x="12167" y="0"/>
                    <a:pt x="21838" y="9670"/>
                    <a:pt x="21838" y="21600"/>
                  </a:cubicBezTo>
                  <a:cubicBezTo>
                    <a:pt x="21838" y="33529"/>
                    <a:pt x="12167" y="43200"/>
                    <a:pt x="238" y="43200"/>
                  </a:cubicBezTo>
                  <a:cubicBezTo>
                    <a:pt x="158" y="43200"/>
                    <a:pt x="79" y="43199"/>
                    <a:pt x="0" y="43198"/>
                  </a:cubicBezTo>
                </a:path>
                <a:path w="21838" h="43200" stroke="0" extrusionOk="0">
                  <a:moveTo>
                    <a:pt x="237" y="0"/>
                  </a:moveTo>
                  <a:cubicBezTo>
                    <a:pt x="12167" y="0"/>
                    <a:pt x="21838" y="9670"/>
                    <a:pt x="21838" y="21600"/>
                  </a:cubicBezTo>
                  <a:cubicBezTo>
                    <a:pt x="21838" y="33529"/>
                    <a:pt x="12167" y="43200"/>
                    <a:pt x="238" y="43200"/>
                  </a:cubicBezTo>
                  <a:cubicBezTo>
                    <a:pt x="158" y="43200"/>
                    <a:pt x="79" y="43199"/>
                    <a:pt x="0" y="43198"/>
                  </a:cubicBezTo>
                  <a:lnTo>
                    <a:pt x="238" y="21600"/>
                  </a:lnTo>
                  <a:lnTo>
                    <a:pt x="237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87173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DC935-D51B-B49B-8F75-A30D9C274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门控</a:t>
            </a:r>
            <a:r>
              <a:rPr kumimoji="1" lang="en-US" altLang="zh-CN" dirty="0"/>
              <a:t>SR</a:t>
            </a:r>
            <a:r>
              <a:rPr kumimoji="1" lang="zh-CN" altLang="en-US" dirty="0"/>
              <a:t>锁存器特性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BA0701-6A71-541E-278B-1F0857573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锁存器状态可以随激励输入变化发生多次翻转</a:t>
            </a:r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E</a:t>
            </a:r>
            <a:r>
              <a:rPr lang="zh-CN" altLang="en-US" dirty="0"/>
              <a:t>有效</a:t>
            </a:r>
            <a:r>
              <a:rPr lang="en-US" altLang="zh-CN" dirty="0"/>
              <a:t>(</a:t>
            </a:r>
            <a:r>
              <a:rPr lang="zh-CN" altLang="en-US" dirty="0"/>
              <a:t>高电平</a:t>
            </a:r>
            <a:r>
              <a:rPr lang="en-US" altLang="zh-CN" dirty="0"/>
              <a:t>)</a:t>
            </a:r>
            <a:r>
              <a:rPr lang="zh-CN" altLang="en-US" dirty="0"/>
              <a:t>期间，</a:t>
            </a:r>
            <a:r>
              <a:rPr lang="en-US" altLang="zh-CN" dirty="0"/>
              <a:t>R</a:t>
            </a:r>
            <a:r>
              <a:rPr lang="zh-CN" altLang="en-US" dirty="0"/>
              <a:t>和</a:t>
            </a:r>
            <a:r>
              <a:rPr lang="en-US" altLang="zh-CN" dirty="0"/>
              <a:t>S</a:t>
            </a:r>
            <a:r>
              <a:rPr lang="zh-CN" altLang="en-US" dirty="0"/>
              <a:t>的变化将引起输出状态的变化</a:t>
            </a:r>
            <a:endParaRPr lang="en-US" altLang="zh-CN" dirty="0"/>
          </a:p>
          <a:p>
            <a:r>
              <a:rPr lang="zh-CN" altLang="en-US" dirty="0"/>
              <a:t>激励输入约束条件</a:t>
            </a:r>
            <a:r>
              <a:rPr lang="en-US" altLang="zh-CN" dirty="0"/>
              <a:t>(SR = 0)</a:t>
            </a:r>
            <a:r>
              <a:rPr lang="zh-CN" altLang="en-US" dirty="0"/>
              <a:t>仍然存在</a:t>
            </a:r>
          </a:p>
          <a:p>
            <a:pPr lvl="1"/>
            <a:endParaRPr lang="zh-CN" altLang="en-US" sz="2000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979B35E-986F-F12B-77B2-F1869C14B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7A3125-45EA-28FD-23CE-FDECBC55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15</a:t>
            </a:fld>
            <a:r>
              <a:rPr lang="en-US" altLang="zh-CN" dirty="0"/>
              <a:t>/22</a:t>
            </a:r>
            <a:endParaRPr lang="en-US" dirty="0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C3AAAECA-6C6A-C229-2A09-45FAB58F5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6662" y="2193142"/>
            <a:ext cx="12557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特性表</a:t>
            </a:r>
          </a:p>
        </p:txBody>
      </p:sp>
      <p:graphicFrame>
        <p:nvGraphicFramePr>
          <p:cNvPr id="24" name="Group 20">
            <a:extLst>
              <a:ext uri="{FF2B5EF4-FFF2-40B4-BE49-F238E27FC236}">
                <a16:creationId xmlns:a16="http://schemas.microsoft.com/office/drawing/2014/main" id="{93B8C9A1-70F4-84C7-5DF2-F24279A82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67687"/>
              </p:ext>
            </p:extLst>
          </p:nvPr>
        </p:nvGraphicFramePr>
        <p:xfrm>
          <a:off x="1103312" y="2896404"/>
          <a:ext cx="3779837" cy="3024189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0875"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n+1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kumimoji="1" lang="zh-CN" altLang="en-US" sz="24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663"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75"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663"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清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置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663"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1" lang="en-US" altLang="zh-CN" sz="24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禁止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5" name="Group 45">
            <a:extLst>
              <a:ext uri="{FF2B5EF4-FFF2-40B4-BE49-F238E27FC236}">
                <a16:creationId xmlns:a16="http://schemas.microsoft.com/office/drawing/2014/main" id="{4C906BD0-6FF6-300C-9F95-B3A8136373FF}"/>
              </a:ext>
            </a:extLst>
          </p:cNvPr>
          <p:cNvGrpSpPr>
            <a:grpSpLocks/>
          </p:cNvGrpSpPr>
          <p:nvPr/>
        </p:nvGrpSpPr>
        <p:grpSpPr bwMode="auto">
          <a:xfrm>
            <a:off x="7151687" y="3106745"/>
            <a:ext cx="2235200" cy="2112962"/>
            <a:chOff x="3901" y="1879"/>
            <a:chExt cx="1408" cy="1331"/>
          </a:xfrm>
        </p:grpSpPr>
        <p:sp>
          <p:nvSpPr>
            <p:cNvPr id="26" name="Text Box 46">
              <a:extLst>
                <a:ext uri="{FF2B5EF4-FFF2-40B4-BE49-F238E27FC236}">
                  <a16:creationId xmlns:a16="http://schemas.microsoft.com/office/drawing/2014/main" id="{586A991D-49C5-377F-4683-9399E13D1C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0" y="2922"/>
              <a:ext cx="117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逻辑符号</a:t>
              </a:r>
            </a:p>
          </p:txBody>
        </p:sp>
        <p:grpSp>
          <p:nvGrpSpPr>
            <p:cNvPr id="27" name="Group 47">
              <a:extLst>
                <a:ext uri="{FF2B5EF4-FFF2-40B4-BE49-F238E27FC236}">
                  <a16:creationId xmlns:a16="http://schemas.microsoft.com/office/drawing/2014/main" id="{ADF6EECB-2C13-D4BC-F12A-777A602387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1" y="1879"/>
              <a:ext cx="1408" cy="960"/>
              <a:chOff x="3901" y="1879"/>
              <a:chExt cx="1408" cy="960"/>
            </a:xfrm>
          </p:grpSpPr>
          <p:sp>
            <p:nvSpPr>
              <p:cNvPr id="28" name="Rectangle 48">
                <a:extLst>
                  <a:ext uri="{FF2B5EF4-FFF2-40B4-BE49-F238E27FC236}">
                    <a16:creationId xmlns:a16="http://schemas.microsoft.com/office/drawing/2014/main" id="{A3F9719E-5971-438B-BF36-1A87B8E372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9" y="1879"/>
                <a:ext cx="576" cy="96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endParaRPr kumimoji="1" lang="zh-CN" altLang="en-US">
                  <a:ea typeface="楷体_GB2312" pitchFamily="49" charset="-122"/>
                </a:endParaRPr>
              </a:p>
            </p:txBody>
          </p:sp>
          <p:sp>
            <p:nvSpPr>
              <p:cNvPr id="29" name="Line 49">
                <a:extLst>
                  <a:ext uri="{FF2B5EF4-FFF2-40B4-BE49-F238E27FC236}">
                    <a16:creationId xmlns:a16="http://schemas.microsoft.com/office/drawing/2014/main" id="{48CD3293-725C-38DD-8759-A4D58CBDE8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01" y="2071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Line 50">
                <a:extLst>
                  <a:ext uri="{FF2B5EF4-FFF2-40B4-BE49-F238E27FC236}">
                    <a16:creationId xmlns:a16="http://schemas.microsoft.com/office/drawing/2014/main" id="{FAAC6F31-F389-199C-5411-B4A4016763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01" y="235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Line 51">
                <a:extLst>
                  <a:ext uri="{FF2B5EF4-FFF2-40B4-BE49-F238E27FC236}">
                    <a16:creationId xmlns:a16="http://schemas.microsoft.com/office/drawing/2014/main" id="{7E7B4CBB-F964-5A2B-9EF0-E191CE303B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01" y="2647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Text Box 52">
                <a:extLst>
                  <a:ext uri="{FF2B5EF4-FFF2-40B4-BE49-F238E27FC236}">
                    <a16:creationId xmlns:a16="http://schemas.microsoft.com/office/drawing/2014/main" id="{986FA6FF-B6F0-B398-1A93-3232CB8FED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5" y="1933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S</a:t>
                </a:r>
              </a:p>
            </p:txBody>
          </p:sp>
          <p:sp>
            <p:nvSpPr>
              <p:cNvPr id="33" name="Text Box 53">
                <a:extLst>
                  <a:ext uri="{FF2B5EF4-FFF2-40B4-BE49-F238E27FC236}">
                    <a16:creationId xmlns:a16="http://schemas.microsoft.com/office/drawing/2014/main" id="{C11CBB98-A0EB-2C1A-CA6A-91D1E9E4E7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8" y="2211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E</a:t>
                </a:r>
              </a:p>
            </p:txBody>
          </p:sp>
          <p:sp>
            <p:nvSpPr>
              <p:cNvPr id="34" name="Text Box 54">
                <a:extLst>
                  <a:ext uri="{FF2B5EF4-FFF2-40B4-BE49-F238E27FC236}">
                    <a16:creationId xmlns:a16="http://schemas.microsoft.com/office/drawing/2014/main" id="{341CA71B-2592-5538-56C8-0D38E76535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0" y="2499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R</a:t>
                </a:r>
              </a:p>
            </p:txBody>
          </p:sp>
          <p:sp>
            <p:nvSpPr>
              <p:cNvPr id="35" name="Line 55">
                <a:extLst>
                  <a:ext uri="{FF2B5EF4-FFF2-40B4-BE49-F238E27FC236}">
                    <a16:creationId xmlns:a16="http://schemas.microsoft.com/office/drawing/2014/main" id="{E25D7C0D-CFE7-EECC-5911-F875CB4BBF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5" y="2071"/>
                <a:ext cx="27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Line 56">
                <a:extLst>
                  <a:ext uri="{FF2B5EF4-FFF2-40B4-BE49-F238E27FC236}">
                    <a16:creationId xmlns:a16="http://schemas.microsoft.com/office/drawing/2014/main" id="{2FE70C10-D4A9-1CF8-9E1F-FB2EF67FBE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13" y="2647"/>
                <a:ext cx="2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Text Box 57">
                <a:extLst>
                  <a:ext uri="{FF2B5EF4-FFF2-40B4-BE49-F238E27FC236}">
                    <a16:creationId xmlns:a16="http://schemas.microsoft.com/office/drawing/2014/main" id="{449BED21-1F6A-FA3A-1FF5-E22F3F6211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2" y="1933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</a:p>
            </p:txBody>
          </p:sp>
          <p:sp>
            <p:nvSpPr>
              <p:cNvPr id="38" name="Text Box 58">
                <a:extLst>
                  <a:ext uri="{FF2B5EF4-FFF2-40B4-BE49-F238E27FC236}">
                    <a16:creationId xmlns:a16="http://schemas.microsoft.com/office/drawing/2014/main" id="{AB2B9B8D-EECE-7E00-0AD5-D3CFE4237C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44" y="2488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</a:p>
            </p:txBody>
          </p:sp>
          <p:sp>
            <p:nvSpPr>
              <p:cNvPr id="39" name="Oval 59">
                <a:extLst>
                  <a:ext uri="{FF2B5EF4-FFF2-40B4-BE49-F238E27FC236}">
                    <a16:creationId xmlns:a16="http://schemas.microsoft.com/office/drawing/2014/main" id="{1A79CF50-BCAA-697F-52D8-D4DEBB1B77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5" y="2621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40" name="Oval 60">
                <a:extLst>
                  <a:ext uri="{FF2B5EF4-FFF2-40B4-BE49-F238E27FC236}">
                    <a16:creationId xmlns:a16="http://schemas.microsoft.com/office/drawing/2014/main" id="{E78329AE-8754-11E9-A3FD-85729E5E47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2" y="2614"/>
                <a:ext cx="82" cy="8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41" name="Line 61">
                <a:extLst>
                  <a:ext uri="{FF2B5EF4-FFF2-40B4-BE49-F238E27FC236}">
                    <a16:creationId xmlns:a16="http://schemas.microsoft.com/office/drawing/2014/main" id="{8D1A2FBF-91A4-2912-2E3E-1DC7024AC6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95" y="2537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56940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CFDDA-5DD1-72EF-BA5A-7783857C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</a:t>
            </a:r>
            <a:r>
              <a:rPr kumimoji="1" lang="zh-CN" altLang="en-US" dirty="0"/>
              <a:t>门控</a:t>
            </a:r>
            <a:r>
              <a:rPr kumimoji="1" lang="en-US" altLang="zh-CN" dirty="0"/>
              <a:t>SR</a:t>
            </a:r>
            <a:r>
              <a:rPr kumimoji="1" lang="zh-CN" altLang="en-US" dirty="0"/>
              <a:t>锁存器波形图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9255E1-931D-BE7C-38D2-2EF54F132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已知激励和控制输入，作出相应的输出波形</a:t>
            </a:r>
            <a:r>
              <a:rPr lang="en-US" altLang="zh-CN" dirty="0"/>
              <a:t>(</a:t>
            </a:r>
            <a:r>
              <a:rPr lang="zh-CN" altLang="en-US" dirty="0"/>
              <a:t>设初态为</a:t>
            </a:r>
            <a:r>
              <a:rPr lang="en-US" altLang="zh-CN" dirty="0"/>
              <a:t>0)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CEC664-B9EF-C942-4BFD-5667D7A52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AF1104-57C6-32A6-C66C-1092FDCA7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16</a:t>
            </a:fld>
            <a:r>
              <a:rPr lang="en-US" altLang="zh-CN" dirty="0"/>
              <a:t>/22</a:t>
            </a:r>
            <a:endParaRPr lang="en-US" dirty="0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C9747C6-1560-F491-0193-946BDA2BA518}"/>
              </a:ext>
            </a:extLst>
          </p:cNvPr>
          <p:cNvGrpSpPr/>
          <p:nvPr/>
        </p:nvGrpSpPr>
        <p:grpSpPr>
          <a:xfrm>
            <a:off x="399258" y="2867036"/>
            <a:ext cx="5654675" cy="2498725"/>
            <a:chOff x="755650" y="3036888"/>
            <a:chExt cx="5654675" cy="2498725"/>
          </a:xfrm>
        </p:grpSpPr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B23C7D03-D406-7209-0380-E15903375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125" y="3427413"/>
              <a:ext cx="1143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6A3504C9-159F-CD0A-BD4C-E07F8F5BE3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4125" y="3046413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E1EDE2F0-8A7B-4D71-C44E-FEEE714B4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4125" y="3046413"/>
              <a:ext cx="2667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8D668C88-060D-A34F-A510-307D9E10C3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125" y="3046413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627C357B-0E4A-7844-F0F2-55869894C4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125" y="3427413"/>
              <a:ext cx="1219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B5D6BC8F-31CA-718E-7B30-8B98CA13D7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125" y="4037013"/>
              <a:ext cx="609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AA873C09-6FF1-8ED9-FA41-C57B9D913E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0725" y="3656013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E9DD1C52-E143-BE57-A60D-A1E632D2D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0725" y="3656013"/>
              <a:ext cx="990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29FCB442-F0BD-1851-8788-C4AEAEB980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1325" y="3656013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947365AE-7BA8-10C4-1D16-C8AEC4DEDC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1325" y="4037013"/>
              <a:ext cx="762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A889230F-6A5D-6386-ABCC-44C429CEA4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3325" y="3656013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2644A8A3-3399-E4D1-9C90-9B4B7C7E2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3325" y="3656013"/>
              <a:ext cx="1752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81078EB2-5908-4B3B-732F-A1CB7D3E1F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5925" y="3656013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99A0AE61-7311-557D-E1B1-8705B3166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5925" y="4037013"/>
              <a:ext cx="914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9982751C-525A-50ED-1444-D9E187CF2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125" y="4265613"/>
              <a:ext cx="609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0268E9E7-A8CE-7EE9-0D58-D1DD1DEF5C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0725" y="4265613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994B4890-0FC7-CA8C-49EE-845A0DF6CA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0725" y="4646613"/>
              <a:ext cx="990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D7621E3F-8B5D-5B8C-C489-7809EFE2E0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1325" y="4265613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5A6C2D37-157B-7E70-BBBA-CDAAC0E2F5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1325" y="4265613"/>
              <a:ext cx="762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08FBA02B-AE3D-46CB-7BD0-72B28526FA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3325" y="4265613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F209A021-6EDD-07D1-B80C-316530BD7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3325" y="4646613"/>
              <a:ext cx="1752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90FC87D5-F74D-56C4-F75D-B5B8CB7747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95925" y="4265613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0228C1A6-4610-B326-6170-B520B9C1F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5925" y="4265613"/>
              <a:ext cx="914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9FEC2D01-CCD1-E03E-BCCD-21E5AE8DDD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4125" y="3427413"/>
              <a:ext cx="0" cy="198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EDDA8621-FD9B-F01E-B34B-1A1C16613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1325" y="3046413"/>
              <a:ext cx="0" cy="2362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5EF2E8B4-6950-50A3-D46D-253D15CEC5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3325" y="3046413"/>
              <a:ext cx="0" cy="2362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 Box 31">
              <a:extLst>
                <a:ext uri="{FF2B5EF4-FFF2-40B4-BE49-F238E27FC236}">
                  <a16:creationId xmlns:a16="http://schemas.microsoft.com/office/drawing/2014/main" id="{BAE2FC14-F28E-0BBD-F9A1-905FD85F04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3600" y="3036888"/>
              <a:ext cx="42386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>
                  <a:ea typeface="楷体_GB2312" pitchFamily="49" charset="-122"/>
                </a:rPr>
                <a:t>E</a:t>
              </a:r>
            </a:p>
          </p:txBody>
        </p:sp>
        <p:sp>
          <p:nvSpPr>
            <p:cNvPr id="33" name="Text Box 32">
              <a:extLst>
                <a:ext uri="{FF2B5EF4-FFF2-40B4-BE49-F238E27FC236}">
                  <a16:creationId xmlns:a16="http://schemas.microsoft.com/office/drawing/2014/main" id="{C0129762-5649-6046-32E9-59E1FDF672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1850" y="3570288"/>
              <a:ext cx="382588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>
                  <a:ea typeface="楷体_GB2312" pitchFamily="49" charset="-122"/>
                </a:rPr>
                <a:t>S</a:t>
              </a:r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BFAA65A7-21E3-2BBF-3F4D-24D200FB2F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7725" y="4113213"/>
              <a:ext cx="441325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>
                  <a:ea typeface="楷体_GB2312" pitchFamily="49" charset="-122"/>
                </a:rPr>
                <a:t>R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98B1BE2-0D05-C16E-3546-8A9229268E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1125" y="5026025"/>
              <a:ext cx="5029200" cy="381000"/>
              <a:chOff x="870" y="3086"/>
              <a:chExt cx="3168" cy="240"/>
            </a:xfrm>
          </p:grpSpPr>
          <p:sp>
            <p:nvSpPr>
              <p:cNvPr id="36" name="Line 35">
                <a:extLst>
                  <a:ext uri="{FF2B5EF4-FFF2-40B4-BE49-F238E27FC236}">
                    <a16:creationId xmlns:a16="http://schemas.microsoft.com/office/drawing/2014/main" id="{CE53342D-6EF6-8C69-2848-62AECFD2FB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0" y="3326"/>
                <a:ext cx="7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Line 36">
                <a:extLst>
                  <a:ext uri="{FF2B5EF4-FFF2-40B4-BE49-F238E27FC236}">
                    <a16:creationId xmlns:a16="http://schemas.microsoft.com/office/drawing/2014/main" id="{EE40C60C-8495-201C-A43E-0BE858934E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90" y="3086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Line 37">
                <a:extLst>
                  <a:ext uri="{FF2B5EF4-FFF2-40B4-BE49-F238E27FC236}">
                    <a16:creationId xmlns:a16="http://schemas.microsoft.com/office/drawing/2014/main" id="{46A4C5B5-9FEA-52B3-4C8B-B80EAF1CA5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0" y="3086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Line 38">
                <a:extLst>
                  <a:ext uri="{FF2B5EF4-FFF2-40B4-BE49-F238E27FC236}">
                    <a16:creationId xmlns:a16="http://schemas.microsoft.com/office/drawing/2014/main" id="{D05B9759-B984-06A0-1D53-CB552C4559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8" y="3086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39">
                <a:extLst>
                  <a:ext uri="{FF2B5EF4-FFF2-40B4-BE49-F238E27FC236}">
                    <a16:creationId xmlns:a16="http://schemas.microsoft.com/office/drawing/2014/main" id="{6DAAD6F3-964D-6AB1-9DC8-17F896FC7E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8" y="332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40">
                <a:extLst>
                  <a:ext uri="{FF2B5EF4-FFF2-40B4-BE49-F238E27FC236}">
                    <a16:creationId xmlns:a16="http://schemas.microsoft.com/office/drawing/2014/main" id="{4B394B7D-C5D1-164A-5861-9FA188CD64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58" y="3086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Line 41">
                <a:extLst>
                  <a:ext uri="{FF2B5EF4-FFF2-40B4-BE49-F238E27FC236}">
                    <a16:creationId xmlns:a16="http://schemas.microsoft.com/office/drawing/2014/main" id="{B8A612F8-518C-EDDD-BFB4-C13F14A253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3086"/>
                <a:ext cx="16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" name="Text Box 42">
              <a:extLst>
                <a:ext uri="{FF2B5EF4-FFF2-40B4-BE49-F238E27FC236}">
                  <a16:creationId xmlns:a16="http://schemas.microsoft.com/office/drawing/2014/main" id="{8A334B80-BA86-ABBE-914E-8677D49E74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650" y="5016500"/>
              <a:ext cx="460375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>
                  <a:ea typeface="楷体_GB2312" pitchFamily="49" charset="-122"/>
                </a:rPr>
                <a:t>Q</a:t>
              </a:r>
            </a:p>
          </p:txBody>
        </p:sp>
      </p:grpSp>
      <p:grpSp>
        <p:nvGrpSpPr>
          <p:cNvPr id="62" name="Group 45">
            <a:extLst>
              <a:ext uri="{FF2B5EF4-FFF2-40B4-BE49-F238E27FC236}">
                <a16:creationId xmlns:a16="http://schemas.microsoft.com/office/drawing/2014/main" id="{74DC6A91-F60C-CF6C-C5DD-3E45470EB329}"/>
              </a:ext>
            </a:extLst>
          </p:cNvPr>
          <p:cNvGrpSpPr>
            <a:grpSpLocks/>
          </p:cNvGrpSpPr>
          <p:nvPr/>
        </p:nvGrpSpPr>
        <p:grpSpPr bwMode="auto">
          <a:xfrm>
            <a:off x="7151687" y="3106745"/>
            <a:ext cx="2235200" cy="2112962"/>
            <a:chOff x="3901" y="1879"/>
            <a:chExt cx="1408" cy="1331"/>
          </a:xfrm>
        </p:grpSpPr>
        <p:sp>
          <p:nvSpPr>
            <p:cNvPr id="63" name="Text Box 46">
              <a:extLst>
                <a:ext uri="{FF2B5EF4-FFF2-40B4-BE49-F238E27FC236}">
                  <a16:creationId xmlns:a16="http://schemas.microsoft.com/office/drawing/2014/main" id="{6EACCE42-22C5-BFDD-B1D4-4001CE0670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0" y="2922"/>
              <a:ext cx="117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逻辑符号</a:t>
              </a:r>
            </a:p>
          </p:txBody>
        </p:sp>
        <p:grpSp>
          <p:nvGrpSpPr>
            <p:cNvPr id="64" name="Group 47">
              <a:extLst>
                <a:ext uri="{FF2B5EF4-FFF2-40B4-BE49-F238E27FC236}">
                  <a16:creationId xmlns:a16="http://schemas.microsoft.com/office/drawing/2014/main" id="{799E57AD-D50C-41AC-50D1-AF5CFDA4AA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1" y="1879"/>
              <a:ext cx="1408" cy="960"/>
              <a:chOff x="3901" y="1879"/>
              <a:chExt cx="1408" cy="960"/>
            </a:xfrm>
          </p:grpSpPr>
          <p:sp>
            <p:nvSpPr>
              <p:cNvPr id="65" name="Rectangle 48">
                <a:extLst>
                  <a:ext uri="{FF2B5EF4-FFF2-40B4-BE49-F238E27FC236}">
                    <a16:creationId xmlns:a16="http://schemas.microsoft.com/office/drawing/2014/main" id="{D7E5E840-AEF4-C424-D95A-58EB3F160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9" y="1879"/>
                <a:ext cx="576" cy="96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endParaRPr kumimoji="1" lang="zh-CN" altLang="en-US">
                  <a:ea typeface="楷体_GB2312" pitchFamily="49" charset="-122"/>
                </a:endParaRPr>
              </a:p>
            </p:txBody>
          </p:sp>
          <p:sp>
            <p:nvSpPr>
              <p:cNvPr id="66" name="Line 49">
                <a:extLst>
                  <a:ext uri="{FF2B5EF4-FFF2-40B4-BE49-F238E27FC236}">
                    <a16:creationId xmlns:a16="http://schemas.microsoft.com/office/drawing/2014/main" id="{16FA6BE6-AAE9-B84E-941F-91924D51F8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01" y="2071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Line 50">
                <a:extLst>
                  <a:ext uri="{FF2B5EF4-FFF2-40B4-BE49-F238E27FC236}">
                    <a16:creationId xmlns:a16="http://schemas.microsoft.com/office/drawing/2014/main" id="{00861E62-7C94-A5BE-00BB-C72F02020C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01" y="235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Line 51">
                <a:extLst>
                  <a:ext uri="{FF2B5EF4-FFF2-40B4-BE49-F238E27FC236}">
                    <a16:creationId xmlns:a16="http://schemas.microsoft.com/office/drawing/2014/main" id="{5BCA75CF-7BCB-9350-4312-7107D6AB73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01" y="2647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Text Box 52">
                <a:extLst>
                  <a:ext uri="{FF2B5EF4-FFF2-40B4-BE49-F238E27FC236}">
                    <a16:creationId xmlns:a16="http://schemas.microsoft.com/office/drawing/2014/main" id="{88A1C108-9FD6-2D19-3A00-E31039F8E7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5" y="1933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S</a:t>
                </a:r>
              </a:p>
            </p:txBody>
          </p:sp>
          <p:sp>
            <p:nvSpPr>
              <p:cNvPr id="70" name="Text Box 53">
                <a:extLst>
                  <a:ext uri="{FF2B5EF4-FFF2-40B4-BE49-F238E27FC236}">
                    <a16:creationId xmlns:a16="http://schemas.microsoft.com/office/drawing/2014/main" id="{5F783A1E-0478-EC15-BF1C-BB6B82BBE6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8" y="2211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E</a:t>
                </a:r>
              </a:p>
            </p:txBody>
          </p:sp>
          <p:sp>
            <p:nvSpPr>
              <p:cNvPr id="71" name="Text Box 54">
                <a:extLst>
                  <a:ext uri="{FF2B5EF4-FFF2-40B4-BE49-F238E27FC236}">
                    <a16:creationId xmlns:a16="http://schemas.microsoft.com/office/drawing/2014/main" id="{FAF57360-A494-AC85-75E9-3A2678DD7B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0" y="2499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R</a:t>
                </a:r>
              </a:p>
            </p:txBody>
          </p:sp>
          <p:sp>
            <p:nvSpPr>
              <p:cNvPr id="72" name="Line 55">
                <a:extLst>
                  <a:ext uri="{FF2B5EF4-FFF2-40B4-BE49-F238E27FC236}">
                    <a16:creationId xmlns:a16="http://schemas.microsoft.com/office/drawing/2014/main" id="{97FB0501-1F84-2D14-CF98-C20EE8E3CF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5" y="2071"/>
                <a:ext cx="27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Line 56">
                <a:extLst>
                  <a:ext uri="{FF2B5EF4-FFF2-40B4-BE49-F238E27FC236}">
                    <a16:creationId xmlns:a16="http://schemas.microsoft.com/office/drawing/2014/main" id="{62984FD5-91AB-2780-8E95-E2AC3004B6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13" y="2647"/>
                <a:ext cx="2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Text Box 57">
                <a:extLst>
                  <a:ext uri="{FF2B5EF4-FFF2-40B4-BE49-F238E27FC236}">
                    <a16:creationId xmlns:a16="http://schemas.microsoft.com/office/drawing/2014/main" id="{2AA69C52-99F6-A881-36A9-484657F46B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2" y="1933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</a:p>
            </p:txBody>
          </p:sp>
          <p:sp>
            <p:nvSpPr>
              <p:cNvPr id="75" name="Text Box 58">
                <a:extLst>
                  <a:ext uri="{FF2B5EF4-FFF2-40B4-BE49-F238E27FC236}">
                    <a16:creationId xmlns:a16="http://schemas.microsoft.com/office/drawing/2014/main" id="{CBEDD31C-2DE9-697C-1207-6713AFE274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44" y="2488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>
                    <a:ea typeface="楷体_GB2312" pitchFamily="49" charset="-122"/>
                  </a:rPr>
                  <a:t>Q</a:t>
                </a:r>
              </a:p>
            </p:txBody>
          </p:sp>
          <p:sp>
            <p:nvSpPr>
              <p:cNvPr id="76" name="Oval 59">
                <a:extLst>
                  <a:ext uri="{FF2B5EF4-FFF2-40B4-BE49-F238E27FC236}">
                    <a16:creationId xmlns:a16="http://schemas.microsoft.com/office/drawing/2014/main" id="{58572897-E00F-463B-F5D9-2379991FF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5" y="2621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77" name="Oval 60">
                <a:extLst>
                  <a:ext uri="{FF2B5EF4-FFF2-40B4-BE49-F238E27FC236}">
                    <a16:creationId xmlns:a16="http://schemas.microsoft.com/office/drawing/2014/main" id="{2DA59047-3191-135F-FE09-5898F14295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2" y="2614"/>
                <a:ext cx="82" cy="8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78" name="Line 61">
                <a:extLst>
                  <a:ext uri="{FF2B5EF4-FFF2-40B4-BE49-F238E27FC236}">
                    <a16:creationId xmlns:a16="http://schemas.microsoft.com/office/drawing/2014/main" id="{10577538-2D9D-0A2E-3F86-794B6E6D73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95" y="2537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69567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B9F702-A1A9-3504-3CC5-F6FA82E0F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D</a:t>
            </a:r>
            <a:r>
              <a:rPr kumimoji="1" lang="en-US" altLang="en-US" dirty="0" err="1"/>
              <a:t>锁存器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969287-8DAE-989C-EB59-89B949294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768840" cy="5947119"/>
          </a:xfrm>
        </p:spPr>
        <p:txBody>
          <a:bodyPr/>
          <a:lstStyle/>
          <a:p>
            <a:r>
              <a:rPr lang="zh-CN" altLang="en-US" sz="2800" dirty="0"/>
              <a:t>性能较为直接，存的就是</a:t>
            </a:r>
            <a:r>
              <a:rPr lang="en-US" altLang="zh-CN" sz="2800" dirty="0"/>
              <a:t>D</a:t>
            </a:r>
            <a:r>
              <a:rPr lang="zh-CN" altLang="en-US" sz="2800" dirty="0"/>
              <a:t>的输入</a:t>
            </a:r>
            <a:endParaRPr lang="en-US" altLang="zh-CN" sz="2800" dirty="0"/>
          </a:p>
          <a:p>
            <a:r>
              <a:rPr lang="zh-CN" altLang="en-US" sz="2800" dirty="0"/>
              <a:t>在</a:t>
            </a:r>
            <a:r>
              <a:rPr lang="en-US" altLang="zh-CN" sz="2800" dirty="0"/>
              <a:t>E</a:t>
            </a:r>
            <a:r>
              <a:rPr lang="zh-CN" altLang="en-US" sz="2800" dirty="0"/>
              <a:t>有效</a:t>
            </a:r>
            <a:r>
              <a:rPr lang="zh-CN" altLang="en-US" dirty="0"/>
              <a:t>（</a:t>
            </a:r>
            <a:r>
              <a:rPr lang="zh-CN" altLang="en-US" sz="2800" dirty="0"/>
              <a:t>电平有效</a:t>
            </a:r>
            <a:r>
              <a:rPr lang="zh-CN" altLang="en-US" dirty="0"/>
              <a:t>）</a:t>
            </a:r>
            <a:r>
              <a:rPr lang="zh-CN" altLang="en-US" sz="2800" dirty="0"/>
              <a:t>期间，</a:t>
            </a:r>
            <a:r>
              <a:rPr lang="en-US" altLang="zh-CN" sz="2800" dirty="0"/>
              <a:t>D</a:t>
            </a:r>
            <a:r>
              <a:rPr lang="zh-CN" altLang="en-US" sz="2800" dirty="0"/>
              <a:t>的变化将引起锁存器状态多次翻转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74DBE0-180D-0C62-9863-16FA40C8D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AA18DC-CEC9-E353-0D66-015341612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17</a:t>
            </a:fld>
            <a:r>
              <a:rPr lang="en-US" altLang="zh-CN" dirty="0"/>
              <a:t>/22</a:t>
            </a:r>
            <a:endParaRPr lang="en-US" dirty="0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EAE9E407-7543-4702-AD16-2512CC5480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7183" y="2791559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2C7373D7-072E-ADB9-6F9F-4FA95D42B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7183" y="4005997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ADD73D24-6380-9217-DA8C-BAEA75E6BA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49170" y="2791559"/>
            <a:ext cx="2444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14">
            <a:extLst>
              <a:ext uri="{FF2B5EF4-FFF2-40B4-BE49-F238E27FC236}">
                <a16:creationId xmlns:a16="http://schemas.microsoft.com/office/drawing/2014/main" id="{953A24C3-4FB5-D2FF-7FB5-3432A79D45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9170" y="2791559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5">
            <a:extLst>
              <a:ext uri="{FF2B5EF4-FFF2-40B4-BE49-F238E27FC236}">
                <a16:creationId xmlns:a16="http://schemas.microsoft.com/office/drawing/2014/main" id="{38D9E9A8-4FF6-54FE-1E4E-C6A9305FCD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9170" y="4010759"/>
            <a:ext cx="2571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6">
            <a:extLst>
              <a:ext uri="{FF2B5EF4-FFF2-40B4-BE49-F238E27FC236}">
                <a16:creationId xmlns:a16="http://schemas.microsoft.com/office/drawing/2014/main" id="{FEE35DA8-CCFB-8867-1045-D1F3A9EB1F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06183" y="4277459"/>
            <a:ext cx="12985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7">
            <a:extLst>
              <a:ext uri="{FF2B5EF4-FFF2-40B4-BE49-F238E27FC236}">
                <a16:creationId xmlns:a16="http://schemas.microsoft.com/office/drawing/2014/main" id="{A1D866DC-FC0B-2ECF-2252-A13D5FAD93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53795" y="3401159"/>
            <a:ext cx="10953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8">
            <a:extLst>
              <a:ext uri="{FF2B5EF4-FFF2-40B4-BE49-F238E27FC236}">
                <a16:creationId xmlns:a16="http://schemas.microsoft.com/office/drawing/2014/main" id="{9B3ED8CD-BF45-24AC-F2D2-D7B58586D7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3370" y="2651859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9">
            <a:extLst>
              <a:ext uri="{FF2B5EF4-FFF2-40B4-BE49-F238E27FC236}">
                <a16:creationId xmlns:a16="http://schemas.microsoft.com/office/drawing/2014/main" id="{F9284858-650B-149F-BA2F-96F627BCEF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9770" y="2793147"/>
            <a:ext cx="0" cy="3286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20">
            <a:extLst>
              <a:ext uri="{FF2B5EF4-FFF2-40B4-BE49-F238E27FC236}">
                <a16:creationId xmlns:a16="http://schemas.microsoft.com/office/drawing/2014/main" id="{37D68CAC-7C69-7F0F-C297-A062209B9E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66770" y="3109059"/>
            <a:ext cx="11430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21">
            <a:extLst>
              <a:ext uri="{FF2B5EF4-FFF2-40B4-BE49-F238E27FC236}">
                <a16:creationId xmlns:a16="http://schemas.microsoft.com/office/drawing/2014/main" id="{BB91DD6F-60AD-8972-098D-94DAA77DD4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6770" y="3642459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22">
            <a:extLst>
              <a:ext uri="{FF2B5EF4-FFF2-40B4-BE49-F238E27FC236}">
                <a16:creationId xmlns:a16="http://schemas.microsoft.com/office/drawing/2014/main" id="{B86169CC-A96B-9159-145C-A593A651904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6770" y="3871059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23">
            <a:extLst>
              <a:ext uri="{FF2B5EF4-FFF2-40B4-BE49-F238E27FC236}">
                <a16:creationId xmlns:a16="http://schemas.microsoft.com/office/drawing/2014/main" id="{F168461E-3132-ECD7-BAE8-522C6C365D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9770" y="3566259"/>
            <a:ext cx="0" cy="433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24">
            <a:extLst>
              <a:ext uri="{FF2B5EF4-FFF2-40B4-BE49-F238E27FC236}">
                <a16:creationId xmlns:a16="http://schemas.microsoft.com/office/drawing/2014/main" id="{4E743CEF-7817-0629-AE4B-44D1A6CCCE6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66770" y="3261459"/>
            <a:ext cx="11430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25">
            <a:extLst>
              <a:ext uri="{FF2B5EF4-FFF2-40B4-BE49-F238E27FC236}">
                <a16:creationId xmlns:a16="http://schemas.microsoft.com/office/drawing/2014/main" id="{9F17DE58-33EF-B6D5-3789-E41F91EDC0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6770" y="2956659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26">
            <a:extLst>
              <a:ext uri="{FF2B5EF4-FFF2-40B4-BE49-F238E27FC236}">
                <a16:creationId xmlns:a16="http://schemas.microsoft.com/office/drawing/2014/main" id="{E8AC0090-5E9D-1C59-8C7E-14230446D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6770" y="2956659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Box 27">
            <a:extLst>
              <a:ext uri="{FF2B5EF4-FFF2-40B4-BE49-F238E27FC236}">
                <a16:creationId xmlns:a16="http://schemas.microsoft.com/office/drawing/2014/main" id="{C44A4C48-A1A3-B679-D78D-1D9E1C0BB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458" y="4048859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D</a:t>
            </a:r>
          </a:p>
        </p:txBody>
      </p:sp>
      <p:sp>
        <p:nvSpPr>
          <p:cNvPr id="23" name="Text Box 28">
            <a:extLst>
              <a:ext uri="{FF2B5EF4-FFF2-40B4-BE49-F238E27FC236}">
                <a16:creationId xmlns:a16="http://schemas.microsoft.com/office/drawing/2014/main" id="{CBEDC942-A983-90BD-C53B-59794AD4C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458" y="3172559"/>
            <a:ext cx="390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E</a:t>
            </a:r>
          </a:p>
        </p:txBody>
      </p:sp>
      <p:sp>
        <p:nvSpPr>
          <p:cNvPr id="24" name="Text Box 29">
            <a:extLst>
              <a:ext uri="{FF2B5EF4-FFF2-40B4-BE49-F238E27FC236}">
                <a16:creationId xmlns:a16="http://schemas.microsoft.com/office/drawing/2014/main" id="{D4489925-DF16-ED29-2F43-FFEE188D3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158" y="2499459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</a:p>
        </p:txBody>
      </p:sp>
      <p:sp>
        <p:nvSpPr>
          <p:cNvPr id="25" name="Text Box 30">
            <a:extLst>
              <a:ext uri="{FF2B5EF4-FFF2-40B4-BE49-F238E27FC236}">
                <a16:creationId xmlns:a16="http://schemas.microsoft.com/office/drawing/2014/main" id="{8C0526E0-88C9-DF64-63BD-5A6AF54BE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6970" y="3718659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Q</a:t>
            </a:r>
          </a:p>
        </p:txBody>
      </p:sp>
      <p:sp>
        <p:nvSpPr>
          <p:cNvPr id="26" name="Line 31">
            <a:extLst>
              <a:ext uri="{FF2B5EF4-FFF2-40B4-BE49-F238E27FC236}">
                <a16:creationId xmlns:a16="http://schemas.microsoft.com/office/drawing/2014/main" id="{BE31D852-84E6-2676-2F00-1F08ADC2FF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4120" y="2575659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33">
            <a:extLst>
              <a:ext uri="{FF2B5EF4-FFF2-40B4-BE49-F238E27FC236}">
                <a16:creationId xmlns:a16="http://schemas.microsoft.com/office/drawing/2014/main" id="{198ED4D1-A363-D50D-C3A0-0FC31D44CB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3370" y="4137759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40">
            <a:extLst>
              <a:ext uri="{FF2B5EF4-FFF2-40B4-BE49-F238E27FC236}">
                <a16:creationId xmlns:a16="http://schemas.microsoft.com/office/drawing/2014/main" id="{0EBAE2A6-C823-A48A-E7F4-5F3A3D2090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50670" y="2499459"/>
            <a:ext cx="9890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41">
            <a:extLst>
              <a:ext uri="{FF2B5EF4-FFF2-40B4-BE49-F238E27FC236}">
                <a16:creationId xmlns:a16="http://schemas.microsoft.com/office/drawing/2014/main" id="{E3A49D49-E5FB-7880-6C26-F76D47368A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0670" y="2501047"/>
            <a:ext cx="0" cy="17859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Box 72">
            <a:extLst>
              <a:ext uri="{FF2B5EF4-FFF2-40B4-BE49-F238E27FC236}">
                <a16:creationId xmlns:a16="http://schemas.microsoft.com/office/drawing/2014/main" id="{8499CEDC-CD44-0D9A-4D61-5097A26AC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408" y="3305542"/>
            <a:ext cx="1706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逻辑符号</a:t>
            </a:r>
          </a:p>
        </p:txBody>
      </p:sp>
      <p:grpSp>
        <p:nvGrpSpPr>
          <p:cNvPr id="31" name="Group 73">
            <a:extLst>
              <a:ext uri="{FF2B5EF4-FFF2-40B4-BE49-F238E27FC236}">
                <a16:creationId xmlns:a16="http://schemas.microsoft.com/office/drawing/2014/main" id="{AEB55DB1-344F-2C7C-F27B-0322728780A6}"/>
              </a:ext>
            </a:extLst>
          </p:cNvPr>
          <p:cNvGrpSpPr>
            <a:grpSpLocks/>
          </p:cNvGrpSpPr>
          <p:nvPr/>
        </p:nvGrpSpPr>
        <p:grpSpPr bwMode="auto">
          <a:xfrm>
            <a:off x="6662420" y="1829167"/>
            <a:ext cx="2235200" cy="1295400"/>
            <a:chOff x="3742" y="992"/>
            <a:chExt cx="1408" cy="816"/>
          </a:xfrm>
        </p:grpSpPr>
        <p:sp>
          <p:nvSpPr>
            <p:cNvPr id="32" name="Rectangle 74">
              <a:extLst>
                <a:ext uri="{FF2B5EF4-FFF2-40B4-BE49-F238E27FC236}">
                  <a16:creationId xmlns:a16="http://schemas.microsoft.com/office/drawing/2014/main" id="{E8F800AB-39FA-F5CB-476E-C46129D9E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0" y="992"/>
              <a:ext cx="576" cy="81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endParaRPr kumimoji="1" lang="zh-CN" altLang="en-US">
                <a:ea typeface="楷体_GB2312" pitchFamily="49" charset="-122"/>
              </a:endParaRPr>
            </a:p>
          </p:txBody>
        </p:sp>
        <p:sp>
          <p:nvSpPr>
            <p:cNvPr id="33" name="Line 75">
              <a:extLst>
                <a:ext uri="{FF2B5EF4-FFF2-40B4-BE49-F238E27FC236}">
                  <a16:creationId xmlns:a16="http://schemas.microsoft.com/office/drawing/2014/main" id="{45F69E96-E559-0B73-2080-EC24DE1F8C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2" y="1184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76">
              <a:extLst>
                <a:ext uri="{FF2B5EF4-FFF2-40B4-BE49-F238E27FC236}">
                  <a16:creationId xmlns:a16="http://schemas.microsoft.com/office/drawing/2014/main" id="{1C116528-64D9-91CF-91ED-6A90B62DD1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2" y="163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77">
              <a:extLst>
                <a:ext uri="{FF2B5EF4-FFF2-40B4-BE49-F238E27FC236}">
                  <a16:creationId xmlns:a16="http://schemas.microsoft.com/office/drawing/2014/main" id="{F6872FBD-4BE2-4319-06CF-8EBE66B24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6" y="104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D</a:t>
              </a:r>
            </a:p>
          </p:txBody>
        </p:sp>
        <p:sp>
          <p:nvSpPr>
            <p:cNvPr id="36" name="Text Box 78">
              <a:extLst>
                <a:ext uri="{FF2B5EF4-FFF2-40B4-BE49-F238E27FC236}">
                  <a16:creationId xmlns:a16="http://schemas.microsoft.com/office/drawing/2014/main" id="{59B400CD-AEC1-1C59-E099-C76B06A439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1" y="1484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E</a:t>
              </a:r>
            </a:p>
          </p:txBody>
        </p:sp>
        <p:sp>
          <p:nvSpPr>
            <p:cNvPr id="37" name="Line 79">
              <a:extLst>
                <a:ext uri="{FF2B5EF4-FFF2-40B4-BE49-F238E27FC236}">
                  <a16:creationId xmlns:a16="http://schemas.microsoft.com/office/drawing/2014/main" id="{02960787-035B-1161-A828-BAA71AE4D8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6" y="1184"/>
              <a:ext cx="27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80">
              <a:extLst>
                <a:ext uri="{FF2B5EF4-FFF2-40B4-BE49-F238E27FC236}">
                  <a16:creationId xmlns:a16="http://schemas.microsoft.com/office/drawing/2014/main" id="{6EDEF320-43B1-13E0-DCDE-90628A5C69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1632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Box 81">
              <a:extLst>
                <a:ext uri="{FF2B5EF4-FFF2-40B4-BE49-F238E27FC236}">
                  <a16:creationId xmlns:a16="http://schemas.microsoft.com/office/drawing/2014/main" id="{28A54C4C-198D-0ED3-1C6F-FC4226805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3" y="1046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40" name="Text Box 82">
              <a:extLst>
                <a:ext uri="{FF2B5EF4-FFF2-40B4-BE49-F238E27FC236}">
                  <a16:creationId xmlns:a16="http://schemas.microsoft.com/office/drawing/2014/main" id="{6316C379-4CC4-8380-AA99-BD7191D3A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5" y="1465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41" name="Oval 83">
              <a:extLst>
                <a:ext uri="{FF2B5EF4-FFF2-40B4-BE49-F238E27FC236}">
                  <a16:creationId xmlns:a16="http://schemas.microsoft.com/office/drawing/2014/main" id="{86D33B02-41FF-53D8-CA80-D094ED89B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6" y="1598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2" name="Oval 84">
              <a:extLst>
                <a:ext uri="{FF2B5EF4-FFF2-40B4-BE49-F238E27FC236}">
                  <a16:creationId xmlns:a16="http://schemas.microsoft.com/office/drawing/2014/main" id="{04A8B25D-4B9A-5415-C7C1-10324B872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3" y="1591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3" name="Line 85">
              <a:extLst>
                <a:ext uri="{FF2B5EF4-FFF2-40B4-BE49-F238E27FC236}">
                  <a16:creationId xmlns:a16="http://schemas.microsoft.com/office/drawing/2014/main" id="{8E363332-4A16-D043-FBB6-51B04EBDD5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6" y="151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" name="Oval 88">
            <a:extLst>
              <a:ext uri="{FF2B5EF4-FFF2-40B4-BE49-F238E27FC236}">
                <a16:creationId xmlns:a16="http://schemas.microsoft.com/office/drawing/2014/main" id="{3C53A35B-FA95-AD82-15F9-442F3D0A6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2728059"/>
            <a:ext cx="123825" cy="12382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5" name="AutoShape 89">
            <a:extLst>
              <a:ext uri="{FF2B5EF4-FFF2-40B4-BE49-F238E27FC236}">
                <a16:creationId xmlns:a16="http://schemas.microsoft.com/office/drawing/2014/main" id="{9F77D2C1-565A-1A0C-600A-DFB3E4522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1245" y="2512159"/>
            <a:ext cx="493713" cy="550863"/>
          </a:xfrm>
          <a:prstGeom prst="flowChartDelay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6" name="Oval 90">
            <a:extLst>
              <a:ext uri="{FF2B5EF4-FFF2-40B4-BE49-F238E27FC236}">
                <a16:creationId xmlns:a16="http://schemas.microsoft.com/office/drawing/2014/main" id="{0AC02462-A9E6-BC4C-6A06-2DFABBAAB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720" y="3944084"/>
            <a:ext cx="123825" cy="12382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7" name="AutoShape 91">
            <a:extLst>
              <a:ext uri="{FF2B5EF4-FFF2-40B4-BE49-F238E27FC236}">
                <a16:creationId xmlns:a16="http://schemas.microsoft.com/office/drawing/2014/main" id="{08940F59-AEF3-1FD3-8519-3A54FDD48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1245" y="3728184"/>
            <a:ext cx="493713" cy="550863"/>
          </a:xfrm>
          <a:prstGeom prst="flowChartDelay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8" name="Oval 92">
            <a:extLst>
              <a:ext uri="{FF2B5EF4-FFF2-40B4-BE49-F238E27FC236}">
                <a16:creationId xmlns:a16="http://schemas.microsoft.com/office/drawing/2014/main" id="{DF575F0B-9B67-5C78-6058-2B690A6CE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5770" y="2596297"/>
            <a:ext cx="123825" cy="12382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9" name="AutoShape 93">
            <a:extLst>
              <a:ext uri="{FF2B5EF4-FFF2-40B4-BE49-F238E27FC236}">
                <a16:creationId xmlns:a16="http://schemas.microsoft.com/office/drawing/2014/main" id="{5BDE8E9F-395E-7CCA-BF45-F7B0DD9BD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295" y="2380397"/>
            <a:ext cx="493713" cy="550862"/>
          </a:xfrm>
          <a:prstGeom prst="flowChartDelay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0" name="Oval 94">
            <a:extLst>
              <a:ext uri="{FF2B5EF4-FFF2-40B4-BE49-F238E27FC236}">
                <a16:creationId xmlns:a16="http://schemas.microsoft.com/office/drawing/2014/main" id="{9C8A8388-0868-1759-9DF8-4140D33D7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6883" y="4074259"/>
            <a:ext cx="123825" cy="12382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1" name="AutoShape 95">
            <a:extLst>
              <a:ext uri="{FF2B5EF4-FFF2-40B4-BE49-F238E27FC236}">
                <a16:creationId xmlns:a16="http://schemas.microsoft.com/office/drawing/2014/main" id="{59EA1C2A-CD30-FC5E-2727-83E1084D5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8408" y="3858359"/>
            <a:ext cx="493712" cy="550863"/>
          </a:xfrm>
          <a:prstGeom prst="flowChartDelay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2" name="AutoShape 96">
            <a:extLst>
              <a:ext uri="{FF2B5EF4-FFF2-40B4-BE49-F238E27FC236}">
                <a16:creationId xmlns:a16="http://schemas.microsoft.com/office/drawing/2014/main" id="{E6D55DFA-D231-87B0-DC79-66ACE131DB5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734821" y="2305784"/>
            <a:ext cx="417512" cy="376237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3" name="Oval 97">
            <a:extLst>
              <a:ext uri="{FF2B5EF4-FFF2-40B4-BE49-F238E27FC236}">
                <a16:creationId xmlns:a16="http://schemas.microsoft.com/office/drawing/2014/main" id="{E59D7073-9897-EBDA-D8C0-911893C06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770" y="2435959"/>
            <a:ext cx="123825" cy="12382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4" name="文本框 3">
            <a:extLst>
              <a:ext uri="{FF2B5EF4-FFF2-40B4-BE49-F238E27FC236}">
                <a16:creationId xmlns:a16="http://schemas.microsoft.com/office/drawing/2014/main" id="{C94F4944-8841-E728-F27B-52BB8D375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258" y="4113947"/>
            <a:ext cx="403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>
                <a:solidFill>
                  <a:srgbClr val="0000FF"/>
                </a:solidFill>
                <a:latin typeface="Arial" panose="020B0604020202020204" pitchFamily="34" charset="0"/>
              </a:rPr>
              <a:t>/S</a:t>
            </a:r>
            <a:endParaRPr lang="zh-CN" altLang="en-US" sz="1800" b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55" name="文本框 99">
            <a:extLst>
              <a:ext uri="{FF2B5EF4-FFF2-40B4-BE49-F238E27FC236}">
                <a16:creationId xmlns:a16="http://schemas.microsoft.com/office/drawing/2014/main" id="{7DAF4BAE-DF54-5DB5-0283-886433C66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2145" y="2296259"/>
            <a:ext cx="415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>
                <a:solidFill>
                  <a:srgbClr val="0000FF"/>
                </a:solidFill>
                <a:latin typeface="Arial" panose="020B0604020202020204" pitchFamily="34" charset="0"/>
              </a:rPr>
              <a:t>/R</a:t>
            </a:r>
            <a:endParaRPr lang="zh-CN" altLang="en-US" sz="1800" b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56" name="Text Box 42">
            <a:extLst>
              <a:ext uri="{FF2B5EF4-FFF2-40B4-BE49-F238E27FC236}">
                <a16:creationId xmlns:a16="http://schemas.microsoft.com/office/drawing/2014/main" id="{FAEED72C-4648-C77C-C282-40C55C877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4202" y="4005997"/>
            <a:ext cx="1250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zh-CN" altLang="en-US" dirty="0"/>
              <a:t>特性表</a:t>
            </a:r>
            <a:endParaRPr kumimoji="1" lang="en-US" altLang="zh-CN" dirty="0"/>
          </a:p>
        </p:txBody>
      </p:sp>
      <p:graphicFrame>
        <p:nvGraphicFramePr>
          <p:cNvPr id="57" name="Group 87">
            <a:extLst>
              <a:ext uri="{FF2B5EF4-FFF2-40B4-BE49-F238E27FC236}">
                <a16:creationId xmlns:a16="http://schemas.microsoft.com/office/drawing/2014/main" id="{EFAD374C-343C-1070-0958-68BE569EA6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4148260"/>
              </p:ext>
            </p:extLst>
          </p:nvPr>
        </p:nvGraphicFramePr>
        <p:xfrm>
          <a:off x="6133940" y="4563209"/>
          <a:ext cx="2911475" cy="1762126"/>
        </p:xfrm>
        <a:graphic>
          <a:graphicData uri="http://schemas.openxmlformats.org/drawingml/2006/table">
            <a:tbl>
              <a:tblPr/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7550"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n+1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kumimoji="1" lang="zh-CN" altLang="en-US" sz="24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288"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en-US" altLang="zh-CN" sz="24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跟随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8" name="图片 2">
            <a:extLst>
              <a:ext uri="{FF2B5EF4-FFF2-40B4-BE49-F238E27FC236}">
                <a16:creationId xmlns:a16="http://schemas.microsoft.com/office/drawing/2014/main" id="{10BFC58E-591E-2055-DADE-E6A6F0C1A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95" y="5187096"/>
            <a:ext cx="2300288" cy="7969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 Box 72">
            <a:extLst>
              <a:ext uri="{FF2B5EF4-FFF2-40B4-BE49-F238E27FC236}">
                <a16:creationId xmlns:a16="http://schemas.microsoft.com/office/drawing/2014/main" id="{C0404445-81F7-D89F-4353-B86371999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224" y="5966935"/>
            <a:ext cx="3136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000" b="0" dirty="0">
                <a:latin typeface="+mj-ea"/>
                <a:ea typeface="+mj-ea"/>
              </a:rPr>
              <a:t>用于参考的</a:t>
            </a:r>
            <a:r>
              <a:rPr lang="en-US" altLang="zh-CN" sz="2000" b="0" dirty="0">
                <a:latin typeface="+mj-ea"/>
                <a:ea typeface="+mj-ea"/>
              </a:rPr>
              <a:t>RS</a:t>
            </a:r>
            <a:r>
              <a:rPr lang="zh-CN" altLang="en-US" sz="2000" b="0" dirty="0">
                <a:latin typeface="+mj-ea"/>
                <a:ea typeface="+mj-ea"/>
              </a:rPr>
              <a:t>锁存器</a:t>
            </a:r>
          </a:p>
        </p:txBody>
      </p:sp>
    </p:spTree>
    <p:extLst>
      <p:ext uri="{BB962C8B-B14F-4D97-AF65-F5344CB8AC3E}">
        <p14:creationId xmlns:p14="http://schemas.microsoft.com/office/powerpoint/2010/main" val="2608695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CDCE7-E0D5-6C17-82C9-EECEAE91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</a:t>
            </a:r>
            <a:r>
              <a:rPr kumimoji="1" lang="en-US" altLang="ja-JP" dirty="0" err="1"/>
              <a:t>D</a:t>
            </a:r>
            <a:r>
              <a:rPr kumimoji="1" lang="en-US" altLang="en-US" dirty="0" err="1"/>
              <a:t>锁存器</a:t>
            </a:r>
            <a:r>
              <a:rPr kumimoji="1" lang="en-US" altLang="zh-CN" dirty="0" err="1"/>
              <a:t>波形图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D6A200-31A3-26F5-6947-505CCA6C3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已知激励和控制输入，作出相应输出波形 </a:t>
            </a:r>
            <a:r>
              <a:rPr lang="en-US" altLang="zh-CN" dirty="0"/>
              <a:t>(</a:t>
            </a:r>
            <a:r>
              <a:rPr lang="zh-CN" altLang="en-US" dirty="0"/>
              <a:t>设初态为</a:t>
            </a:r>
            <a:r>
              <a:rPr lang="en-US" altLang="zh-CN" dirty="0"/>
              <a:t>0)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9C1C20-BFEB-551C-AB43-0A045DBF9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6B8DEA-8CCC-66E1-0E5E-EC9F8DD6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18</a:t>
            </a:fld>
            <a:r>
              <a:rPr lang="en-US" altLang="zh-CN" dirty="0"/>
              <a:t>/22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203FF896-9B5D-D554-91AE-6E210BCF70F4}"/>
              </a:ext>
            </a:extLst>
          </p:cNvPr>
          <p:cNvGrpSpPr>
            <a:grpSpLocks/>
          </p:cNvGrpSpPr>
          <p:nvPr/>
        </p:nvGrpSpPr>
        <p:grpSpPr bwMode="auto">
          <a:xfrm>
            <a:off x="1492250" y="3429000"/>
            <a:ext cx="6477000" cy="401637"/>
            <a:chOff x="913" y="2102"/>
            <a:chExt cx="4080" cy="288"/>
          </a:xfrm>
        </p:grpSpPr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7DA93062-62EE-C67A-CDF8-78D00220B7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3" y="2390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AA9F3A33-F844-1885-E938-14081B29B3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5" y="210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DE99D85B-77F9-868D-8EC5-54647AE222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5" y="2102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915E04C7-09D6-DDF7-B294-73312FA13A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5" y="210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2050FE3F-2DAA-4BEC-F120-F90A3D4ADB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5" y="2390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9835E866-88A0-4896-A01A-7880139997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5" y="210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7505EA12-1D59-FDA9-6CF2-FEE5EFC476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" y="2102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D9EDEA2B-3C8B-9355-1980-E721ACED8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5" y="210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91D5C20A-A53E-66C6-865D-3B2F8703A6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5" y="2390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CEC102CE-2DC9-8F63-57B8-6EBC54DCF7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7" y="210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DA90F96B-F080-4604-EB58-D78986A3E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7" y="2102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657EC621-F6E4-6639-95D8-D7666B08BE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1" y="210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EB05501C-A660-9AA8-96B8-F3B1552DE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1" y="2390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96ECEA4E-7ACA-7E99-E7AC-78D94450A1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7" y="210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E08A4549-CA87-4728-7635-C9A05CE27B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7" y="2102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20">
            <a:extLst>
              <a:ext uri="{FF2B5EF4-FFF2-40B4-BE49-F238E27FC236}">
                <a16:creationId xmlns:a16="http://schemas.microsoft.com/office/drawing/2014/main" id="{68CE7F40-7A01-59B2-DA28-3C0EAAE596FA}"/>
              </a:ext>
            </a:extLst>
          </p:cNvPr>
          <p:cNvGrpSpPr>
            <a:grpSpLocks/>
          </p:cNvGrpSpPr>
          <p:nvPr/>
        </p:nvGrpSpPr>
        <p:grpSpPr bwMode="auto">
          <a:xfrm>
            <a:off x="1492250" y="4257675"/>
            <a:ext cx="6400800" cy="431800"/>
            <a:chOff x="913" y="2630"/>
            <a:chExt cx="4032" cy="301"/>
          </a:xfrm>
        </p:grpSpPr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5C6AF29F-F2EE-5BCA-04AF-6B97165581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3" y="2918"/>
              <a:ext cx="1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70685206-C664-0E91-BFAF-90D13CC380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5" y="2630"/>
              <a:ext cx="0" cy="3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A6C53EA6-CE88-AA9A-8B64-FF1E0DDD1B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2630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03CB5B06-20F4-DD41-82B8-0FE18997A3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9" y="263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EC27112F-D262-3D8F-7A40-0D51B4F562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9" y="2918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F74E5381-8D5B-434E-B55A-69A26C4310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9" y="263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E1CFC2EA-4F51-CEAA-FEC2-58A49C037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9" y="2630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D96FBD63-4A50-7D2E-26FF-7096244B2F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263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29">
              <a:extLst>
                <a:ext uri="{FF2B5EF4-FFF2-40B4-BE49-F238E27FC236}">
                  <a16:creationId xmlns:a16="http://schemas.microsoft.com/office/drawing/2014/main" id="{F03375A7-36DA-E6D5-7F98-2ADD66925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2918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" name="Line 30">
            <a:extLst>
              <a:ext uri="{FF2B5EF4-FFF2-40B4-BE49-F238E27FC236}">
                <a16:creationId xmlns:a16="http://schemas.microsoft.com/office/drawing/2014/main" id="{FCDAB5BE-18B1-C633-108A-4CF4183BFF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9462" y="3321050"/>
            <a:ext cx="0" cy="25669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6FB8FDB9-2D8F-59FD-1CB3-897FC4293E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2650" y="3321050"/>
            <a:ext cx="0" cy="25669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3B090F56-908E-DFEB-9EFD-6F6AB119C2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5650" y="3373437"/>
            <a:ext cx="0" cy="2590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D9639741-AEF0-BA92-1477-861CCB13E0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8650" y="3373437"/>
            <a:ext cx="0" cy="2590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Text Box 34">
            <a:extLst>
              <a:ext uri="{FF2B5EF4-FFF2-40B4-BE49-F238E27FC236}">
                <a16:creationId xmlns:a16="http://schemas.microsoft.com/office/drawing/2014/main" id="{D5DDCD1F-C6DB-6985-3403-25C76F662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" y="3463925"/>
            <a:ext cx="441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>
                <a:ea typeface="楷体_GB2312" pitchFamily="49" charset="-122"/>
              </a:rPr>
              <a:t>D</a:t>
            </a:r>
          </a:p>
        </p:txBody>
      </p:sp>
      <p:sp>
        <p:nvSpPr>
          <p:cNvPr id="37" name="Text Box 35">
            <a:extLst>
              <a:ext uri="{FF2B5EF4-FFF2-40B4-BE49-F238E27FC236}">
                <a16:creationId xmlns:a16="http://schemas.microsoft.com/office/drawing/2014/main" id="{15B5E93C-EF16-F632-E0E4-DDDC12A13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850" y="4378325"/>
            <a:ext cx="423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>
                <a:ea typeface="楷体_GB2312" pitchFamily="49" charset="-122"/>
              </a:rPr>
              <a:t>E</a:t>
            </a:r>
          </a:p>
        </p:txBody>
      </p:sp>
      <p:sp>
        <p:nvSpPr>
          <p:cNvPr id="38" name="Text Box 36">
            <a:extLst>
              <a:ext uri="{FF2B5EF4-FFF2-40B4-BE49-F238E27FC236}">
                <a16:creationId xmlns:a16="http://schemas.microsoft.com/office/drawing/2014/main" id="{16F0C40A-C6F6-092B-13B3-5551DF3D9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850" y="5140325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>
                <a:ea typeface="楷体_GB2312" pitchFamily="49" charset="-122"/>
              </a:rPr>
              <a:t>Q</a:t>
            </a:r>
          </a:p>
        </p:txBody>
      </p:sp>
      <p:grpSp>
        <p:nvGrpSpPr>
          <p:cNvPr id="39" name="Group 37">
            <a:extLst>
              <a:ext uri="{FF2B5EF4-FFF2-40B4-BE49-F238E27FC236}">
                <a16:creationId xmlns:a16="http://schemas.microsoft.com/office/drawing/2014/main" id="{AACF52C9-7DC3-3318-067D-637FBE559AB9}"/>
              </a:ext>
            </a:extLst>
          </p:cNvPr>
          <p:cNvGrpSpPr>
            <a:grpSpLocks/>
          </p:cNvGrpSpPr>
          <p:nvPr/>
        </p:nvGrpSpPr>
        <p:grpSpPr bwMode="auto">
          <a:xfrm>
            <a:off x="1492250" y="5049837"/>
            <a:ext cx="6453187" cy="858838"/>
            <a:chOff x="913" y="3158"/>
            <a:chExt cx="4065" cy="541"/>
          </a:xfrm>
        </p:grpSpPr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30082792-24FE-D904-A82A-B0F9B1B4DA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3" y="3398"/>
              <a:ext cx="13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A7680780-5886-43A7-5D64-03DB17E46C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5" y="315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40">
              <a:extLst>
                <a:ext uri="{FF2B5EF4-FFF2-40B4-BE49-F238E27FC236}">
                  <a16:creationId xmlns:a16="http://schemas.microsoft.com/office/drawing/2014/main" id="{40223E81-7BB1-1D2E-5C8F-4D812CC704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" y="315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1">
              <a:extLst>
                <a:ext uri="{FF2B5EF4-FFF2-40B4-BE49-F238E27FC236}">
                  <a16:creationId xmlns:a16="http://schemas.microsoft.com/office/drawing/2014/main" id="{038C0453-4FE3-7AB8-937A-0964F2EE08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5" y="315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42">
              <a:extLst>
                <a:ext uri="{FF2B5EF4-FFF2-40B4-BE49-F238E27FC236}">
                  <a16:creationId xmlns:a16="http://schemas.microsoft.com/office/drawing/2014/main" id="{32C1B122-66B5-5867-D957-0BDB45EEB1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5" y="3398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43">
              <a:extLst>
                <a:ext uri="{FF2B5EF4-FFF2-40B4-BE49-F238E27FC236}">
                  <a16:creationId xmlns:a16="http://schemas.microsoft.com/office/drawing/2014/main" id="{6C6BED73-5B09-B7DC-0DD5-0565459EF6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9" y="315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A1EC7F8C-2C02-BBAB-185A-1804EAB971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9" y="315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5">
              <a:extLst>
                <a:ext uri="{FF2B5EF4-FFF2-40B4-BE49-F238E27FC236}">
                  <a16:creationId xmlns:a16="http://schemas.microsoft.com/office/drawing/2014/main" id="{F7030CB1-4150-87DF-EE6F-9E9157745A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1" y="315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6">
              <a:extLst>
                <a:ext uri="{FF2B5EF4-FFF2-40B4-BE49-F238E27FC236}">
                  <a16:creationId xmlns:a16="http://schemas.microsoft.com/office/drawing/2014/main" id="{3330E66B-E0AA-6F40-EBCC-F909BC3618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1" y="339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81FC55E6-1CFA-86F0-8042-D42FE90286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7" y="315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48">
              <a:extLst>
                <a:ext uri="{FF2B5EF4-FFF2-40B4-BE49-F238E27FC236}">
                  <a16:creationId xmlns:a16="http://schemas.microsoft.com/office/drawing/2014/main" id="{CDE94F08-0245-5D0D-EA50-ACE438785A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7" y="3158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 Box 49">
              <a:extLst>
                <a:ext uri="{FF2B5EF4-FFF2-40B4-BE49-F238E27FC236}">
                  <a16:creationId xmlns:a16="http://schemas.microsoft.com/office/drawing/2014/main" id="{5B2AB39E-9848-AAFC-FED7-B81A916614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4" y="3411"/>
              <a:ext cx="37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latin typeface="宋体" panose="02010600030101010101" pitchFamily="2" charset="-122"/>
                </a:rPr>
                <a:t>保持      跟随</a:t>
              </a:r>
              <a:r>
                <a:rPr kumimoji="1" lang="en-US" altLang="zh-CN" sz="2400">
                  <a:latin typeface="宋体" panose="02010600030101010101" pitchFamily="2" charset="-122"/>
                </a:rPr>
                <a:t>     </a:t>
              </a:r>
              <a:r>
                <a:rPr kumimoji="1" lang="zh-CN" altLang="en-US" sz="2400">
                  <a:latin typeface="宋体" panose="02010600030101010101" pitchFamily="2" charset="-122"/>
                </a:rPr>
                <a:t>保持   跟随</a:t>
              </a:r>
              <a:r>
                <a:rPr kumimoji="1" lang="en-US" altLang="zh-CN" sz="2400">
                  <a:latin typeface="宋体" panose="02010600030101010101" pitchFamily="2" charset="-122"/>
                </a:rPr>
                <a:t>    </a:t>
              </a:r>
              <a:r>
                <a:rPr kumimoji="1" lang="zh-CN" altLang="en-US" sz="2400">
                  <a:latin typeface="宋体" panose="02010600030101010101" pitchFamily="2" charset="-122"/>
                </a:rPr>
                <a:t>保持</a:t>
              </a:r>
            </a:p>
          </p:txBody>
        </p:sp>
      </p:grpSp>
      <p:grpSp>
        <p:nvGrpSpPr>
          <p:cNvPr id="53" name="Group 73">
            <a:extLst>
              <a:ext uri="{FF2B5EF4-FFF2-40B4-BE49-F238E27FC236}">
                <a16:creationId xmlns:a16="http://schemas.microsoft.com/office/drawing/2014/main" id="{32E4363B-015D-62DF-32E2-2065D6ED16BE}"/>
              </a:ext>
            </a:extLst>
          </p:cNvPr>
          <p:cNvGrpSpPr>
            <a:grpSpLocks/>
          </p:cNvGrpSpPr>
          <p:nvPr/>
        </p:nvGrpSpPr>
        <p:grpSpPr bwMode="auto">
          <a:xfrm>
            <a:off x="1289050" y="1359680"/>
            <a:ext cx="2235200" cy="1295400"/>
            <a:chOff x="3742" y="992"/>
            <a:chExt cx="1408" cy="816"/>
          </a:xfrm>
        </p:grpSpPr>
        <p:sp>
          <p:nvSpPr>
            <p:cNvPr id="54" name="Rectangle 74">
              <a:extLst>
                <a:ext uri="{FF2B5EF4-FFF2-40B4-BE49-F238E27FC236}">
                  <a16:creationId xmlns:a16="http://schemas.microsoft.com/office/drawing/2014/main" id="{FC31D0F0-54B0-805A-32F5-627D5E02A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0" y="992"/>
              <a:ext cx="576" cy="81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endParaRPr kumimoji="1" lang="zh-CN" altLang="en-US">
                <a:ea typeface="楷体_GB2312" pitchFamily="49" charset="-122"/>
              </a:endParaRPr>
            </a:p>
          </p:txBody>
        </p:sp>
        <p:sp>
          <p:nvSpPr>
            <p:cNvPr id="55" name="Line 75">
              <a:extLst>
                <a:ext uri="{FF2B5EF4-FFF2-40B4-BE49-F238E27FC236}">
                  <a16:creationId xmlns:a16="http://schemas.microsoft.com/office/drawing/2014/main" id="{BC3A63E6-EDD5-142B-5FEB-11204FB63D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2" y="1184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76">
              <a:extLst>
                <a:ext uri="{FF2B5EF4-FFF2-40B4-BE49-F238E27FC236}">
                  <a16:creationId xmlns:a16="http://schemas.microsoft.com/office/drawing/2014/main" id="{D286C5EE-B302-7372-1AA8-445E7111F4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2" y="163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 Box 77">
              <a:extLst>
                <a:ext uri="{FF2B5EF4-FFF2-40B4-BE49-F238E27FC236}">
                  <a16:creationId xmlns:a16="http://schemas.microsoft.com/office/drawing/2014/main" id="{6306E262-F6FB-CE71-602C-FC0B16DF73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6" y="104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dirty="0">
                  <a:ea typeface="楷体_GB2312" pitchFamily="49" charset="-122"/>
                </a:rPr>
                <a:t>D</a:t>
              </a:r>
            </a:p>
          </p:txBody>
        </p:sp>
        <p:sp>
          <p:nvSpPr>
            <p:cNvPr id="58" name="Text Box 78">
              <a:extLst>
                <a:ext uri="{FF2B5EF4-FFF2-40B4-BE49-F238E27FC236}">
                  <a16:creationId xmlns:a16="http://schemas.microsoft.com/office/drawing/2014/main" id="{60605FBA-D6E7-2D7B-8FF7-E6197CC413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1" y="1484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dirty="0">
                  <a:ea typeface="楷体_GB2312" pitchFamily="49" charset="-122"/>
                </a:rPr>
                <a:t>E</a:t>
              </a:r>
            </a:p>
          </p:txBody>
        </p:sp>
        <p:sp>
          <p:nvSpPr>
            <p:cNvPr id="59" name="Line 79">
              <a:extLst>
                <a:ext uri="{FF2B5EF4-FFF2-40B4-BE49-F238E27FC236}">
                  <a16:creationId xmlns:a16="http://schemas.microsoft.com/office/drawing/2014/main" id="{E3313FC1-D1D4-9B86-5094-3E582F2439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6" y="1184"/>
              <a:ext cx="27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80">
              <a:extLst>
                <a:ext uri="{FF2B5EF4-FFF2-40B4-BE49-F238E27FC236}">
                  <a16:creationId xmlns:a16="http://schemas.microsoft.com/office/drawing/2014/main" id="{E543FAC1-3D19-6363-7C7A-8BB82AE133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1632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 Box 81">
              <a:extLst>
                <a:ext uri="{FF2B5EF4-FFF2-40B4-BE49-F238E27FC236}">
                  <a16:creationId xmlns:a16="http://schemas.microsoft.com/office/drawing/2014/main" id="{8A81700F-4FFD-9F8F-40E0-082CDD8998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3" y="1046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62" name="Text Box 82">
              <a:extLst>
                <a:ext uri="{FF2B5EF4-FFF2-40B4-BE49-F238E27FC236}">
                  <a16:creationId xmlns:a16="http://schemas.microsoft.com/office/drawing/2014/main" id="{D787C4AE-6FE1-50C6-335D-40C56C6EB5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5" y="1465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63" name="Oval 83">
              <a:extLst>
                <a:ext uri="{FF2B5EF4-FFF2-40B4-BE49-F238E27FC236}">
                  <a16:creationId xmlns:a16="http://schemas.microsoft.com/office/drawing/2014/main" id="{C74FB109-0DBA-F0C6-C554-357405731F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6" y="1598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64" name="Oval 84">
              <a:extLst>
                <a:ext uri="{FF2B5EF4-FFF2-40B4-BE49-F238E27FC236}">
                  <a16:creationId xmlns:a16="http://schemas.microsoft.com/office/drawing/2014/main" id="{CB671537-7614-A1B2-30A1-F093411DA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3" y="1591"/>
              <a:ext cx="82" cy="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65" name="Line 85">
              <a:extLst>
                <a:ext uri="{FF2B5EF4-FFF2-40B4-BE49-F238E27FC236}">
                  <a16:creationId xmlns:a16="http://schemas.microsoft.com/office/drawing/2014/main" id="{31210765-70AB-C022-48A4-A832D6A940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6" y="151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71092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CCEA2-19DC-06E7-CE72-4B0E0AEBE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D</a:t>
            </a:r>
            <a:r>
              <a:rPr kumimoji="1" lang="en-US" altLang="en-US" dirty="0" err="1"/>
              <a:t>锁存器</a:t>
            </a:r>
            <a:r>
              <a:rPr kumimoji="1" lang="en-US" altLang="zh-CN" dirty="0" err="1"/>
              <a:t>的</a:t>
            </a:r>
            <a:r>
              <a:rPr kumimoji="1" lang="zh-CN" altLang="en-US" dirty="0"/>
              <a:t>传输门实现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00371-BAE4-8E89-958C-D61859556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 dirty="0"/>
              <a:t>当</a:t>
            </a:r>
            <a:r>
              <a:rPr lang="en-US" altLang="zh-CN" sz="2400" dirty="0"/>
              <a:t>S1</a:t>
            </a:r>
            <a:r>
              <a:rPr lang="zh-CN" altLang="en-US" sz="2400" dirty="0"/>
              <a:t>合上，</a:t>
            </a:r>
            <a:r>
              <a:rPr lang="en-US" altLang="zh-CN" sz="2400" dirty="0"/>
              <a:t>S2</a:t>
            </a:r>
            <a:r>
              <a:rPr lang="zh-CN" altLang="en-US" sz="2400" dirty="0"/>
              <a:t>断开时，</a:t>
            </a:r>
            <a:r>
              <a:rPr lang="en-US" altLang="zh-CN" sz="2400" dirty="0"/>
              <a:t>Q=D</a:t>
            </a:r>
            <a:r>
              <a:rPr lang="zh-CN" altLang="en-US" sz="2400" dirty="0"/>
              <a:t>，跟随</a:t>
            </a:r>
          </a:p>
          <a:p>
            <a:pPr>
              <a:lnSpc>
                <a:spcPct val="110000"/>
              </a:lnSpc>
            </a:pPr>
            <a:r>
              <a:rPr lang="zh-CN" altLang="en-US" sz="2400" dirty="0"/>
              <a:t>当</a:t>
            </a:r>
            <a:r>
              <a:rPr lang="en-US" altLang="zh-CN" sz="2400" dirty="0"/>
              <a:t>S2</a:t>
            </a:r>
            <a:r>
              <a:rPr lang="zh-CN" altLang="en-US" sz="2400" dirty="0"/>
              <a:t>合上，</a:t>
            </a:r>
            <a:r>
              <a:rPr lang="en-US" altLang="zh-CN" sz="2400" dirty="0"/>
              <a:t>S1</a:t>
            </a:r>
            <a:r>
              <a:rPr lang="zh-CN" altLang="en-US" sz="2400" dirty="0"/>
              <a:t>断开时，</a:t>
            </a:r>
            <a:r>
              <a:rPr lang="en-US" altLang="zh-CN" sz="2400" dirty="0"/>
              <a:t>Q</a:t>
            </a:r>
            <a:r>
              <a:rPr lang="zh-CN" altLang="en-US" sz="2400" dirty="0"/>
              <a:t>保持</a:t>
            </a:r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r>
              <a:rPr lang="zh-CN" altLang="en-US" sz="2400" dirty="0"/>
              <a:t>传输门相当于受控的双向开关</a:t>
            </a:r>
            <a:endParaRPr lang="en-US" altLang="zh-CN" sz="2400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当</a:t>
            </a:r>
            <a:r>
              <a:rPr lang="en-US" altLang="zh-CN" dirty="0"/>
              <a:t>C=1</a:t>
            </a:r>
            <a:r>
              <a:rPr lang="zh-CN" altLang="en-US" dirty="0"/>
              <a:t>，</a:t>
            </a:r>
            <a:r>
              <a:rPr lang="en-US" altLang="zh-CN" dirty="0"/>
              <a:t>C =0</a:t>
            </a:r>
            <a:r>
              <a:rPr lang="zh-CN" altLang="en-US" dirty="0"/>
              <a:t>：</a:t>
            </a:r>
            <a:r>
              <a:rPr lang="en-US" altLang="zh-CN" dirty="0"/>
              <a:t>Y</a:t>
            </a:r>
            <a:r>
              <a:rPr lang="zh-CN" altLang="en-US" dirty="0"/>
              <a:t>与</a:t>
            </a:r>
            <a:r>
              <a:rPr lang="en-US" altLang="zh-CN" dirty="0"/>
              <a:t>X</a:t>
            </a:r>
            <a:r>
              <a:rPr lang="zh-CN" altLang="en-US" dirty="0"/>
              <a:t>连通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当</a:t>
            </a:r>
            <a:r>
              <a:rPr lang="en-US" altLang="zh-CN" dirty="0"/>
              <a:t>C=0</a:t>
            </a:r>
            <a:r>
              <a:rPr lang="zh-CN" altLang="en-US" dirty="0"/>
              <a:t>，</a:t>
            </a:r>
            <a:r>
              <a:rPr lang="en-US" altLang="zh-CN" dirty="0"/>
              <a:t>C =1</a:t>
            </a:r>
            <a:r>
              <a:rPr lang="zh-CN" altLang="en-US" dirty="0"/>
              <a:t>：</a:t>
            </a:r>
            <a:r>
              <a:rPr lang="en-US" altLang="zh-CN" dirty="0"/>
              <a:t>Y</a:t>
            </a:r>
            <a:r>
              <a:rPr lang="zh-CN" altLang="en-US" dirty="0"/>
              <a:t>与</a:t>
            </a:r>
            <a:r>
              <a:rPr lang="en-US" altLang="zh-CN" dirty="0"/>
              <a:t>X</a:t>
            </a:r>
            <a:r>
              <a:rPr lang="zh-CN" altLang="en-US" dirty="0"/>
              <a:t>断开</a:t>
            </a:r>
          </a:p>
          <a:p>
            <a:pPr>
              <a:lnSpc>
                <a:spcPct val="110000"/>
              </a:lnSpc>
            </a:pPr>
            <a:endParaRPr lang="zh-CN" altLang="en-US" sz="2000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F9B45F-61E5-7FA4-4041-BE57BCF23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063EBA-DD7F-8E54-B90F-C5232FCF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19</a:t>
            </a:fld>
            <a:r>
              <a:rPr lang="en-US" altLang="zh-CN" dirty="0"/>
              <a:t>/22</a:t>
            </a:r>
            <a:endParaRPr lang="en-US" dirty="0"/>
          </a:p>
        </p:txBody>
      </p:sp>
      <p:sp>
        <p:nvSpPr>
          <p:cNvPr id="6" name="Line 35">
            <a:extLst>
              <a:ext uri="{FF2B5EF4-FFF2-40B4-BE49-F238E27FC236}">
                <a16:creationId xmlns:a16="http://schemas.microsoft.com/office/drawing/2014/main" id="{4FC71506-159F-CC01-E909-704082280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4692" y="2562226"/>
            <a:ext cx="252413" cy="0"/>
          </a:xfrm>
          <a:prstGeom prst="line">
            <a:avLst/>
          </a:prstGeom>
          <a:noFill/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35">
            <a:extLst>
              <a:ext uri="{FF2B5EF4-FFF2-40B4-BE49-F238E27FC236}">
                <a16:creationId xmlns:a16="http://schemas.microsoft.com/office/drawing/2014/main" id="{4892E174-75A0-1AC1-5C48-9F1996689F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8503" y="3043212"/>
            <a:ext cx="252413" cy="0"/>
          </a:xfrm>
          <a:prstGeom prst="line">
            <a:avLst/>
          </a:prstGeom>
          <a:noFill/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26">
            <a:extLst>
              <a:ext uri="{FF2B5EF4-FFF2-40B4-BE49-F238E27FC236}">
                <a16:creationId xmlns:a16="http://schemas.microsoft.com/office/drawing/2014/main" id="{A48F7E8D-2FE3-DED3-1716-E5EAC80A51C0}"/>
              </a:ext>
            </a:extLst>
          </p:cNvPr>
          <p:cNvGrpSpPr>
            <a:grpSpLocks/>
          </p:cNvGrpSpPr>
          <p:nvPr/>
        </p:nvGrpSpPr>
        <p:grpSpPr bwMode="auto">
          <a:xfrm>
            <a:off x="622300" y="4070353"/>
            <a:ext cx="1708150" cy="1136650"/>
            <a:chOff x="1531" y="1993"/>
            <a:chExt cx="1337" cy="889"/>
          </a:xfrm>
        </p:grpSpPr>
        <p:sp>
          <p:nvSpPr>
            <p:cNvPr id="9" name="Text Box 27">
              <a:extLst>
                <a:ext uri="{FF2B5EF4-FFF2-40B4-BE49-F238E27FC236}">
                  <a16:creationId xmlns:a16="http://schemas.microsoft.com/office/drawing/2014/main" id="{77170DB4-75F3-24C2-8441-0FC3D347FF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2667"/>
              <a:ext cx="128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C</a:t>
              </a:r>
              <a:endParaRPr kumimoji="1" lang="en-US" altLang="zh-CN" sz="2000" baseline="-25000">
                <a:ea typeface="楷体_GB2312" pitchFamily="49" charset="-122"/>
              </a:endParaRPr>
            </a:p>
          </p:txBody>
        </p:sp>
        <p:sp>
          <p:nvSpPr>
            <p:cNvPr id="10" name="Line 28">
              <a:extLst>
                <a:ext uri="{FF2B5EF4-FFF2-40B4-BE49-F238E27FC236}">
                  <a16:creationId xmlns:a16="http://schemas.microsoft.com/office/drawing/2014/main" id="{5045623A-BAB9-2521-6F99-D2B24FBDB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3" y="2398"/>
              <a:ext cx="1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29">
              <a:extLst>
                <a:ext uri="{FF2B5EF4-FFF2-40B4-BE49-F238E27FC236}">
                  <a16:creationId xmlns:a16="http://schemas.microsoft.com/office/drawing/2014/main" id="{6BD09BDD-3425-18A9-A933-EB19BF0EC2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2" y="2415"/>
              <a:ext cx="1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30">
              <a:extLst>
                <a:ext uri="{FF2B5EF4-FFF2-40B4-BE49-F238E27FC236}">
                  <a16:creationId xmlns:a16="http://schemas.microsoft.com/office/drawing/2014/main" id="{6E7EF6F3-D705-9E06-5819-5440E3C351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8" y="1993"/>
              <a:ext cx="1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31">
              <a:extLst>
                <a:ext uri="{FF2B5EF4-FFF2-40B4-BE49-F238E27FC236}">
                  <a16:creationId xmlns:a16="http://schemas.microsoft.com/office/drawing/2014/main" id="{C42AD313-9581-9EB0-652F-4168A7B4B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0" y="2180"/>
              <a:ext cx="82" cy="8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" name="Text Box 32">
              <a:extLst>
                <a:ext uri="{FF2B5EF4-FFF2-40B4-BE49-F238E27FC236}">
                  <a16:creationId xmlns:a16="http://schemas.microsoft.com/office/drawing/2014/main" id="{98EE0543-8EB8-86D1-661B-3EFD67F937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1" y="2263"/>
              <a:ext cx="422" cy="31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dirty="0"/>
                <a:t>TG</a:t>
              </a:r>
            </a:p>
          </p:txBody>
        </p:sp>
        <p:sp>
          <p:nvSpPr>
            <p:cNvPr id="15" name="Line 33">
              <a:extLst>
                <a:ext uri="{FF2B5EF4-FFF2-40B4-BE49-F238E27FC236}">
                  <a16:creationId xmlns:a16="http://schemas.microsoft.com/office/drawing/2014/main" id="{A341ADF1-0262-015B-4FA7-FB79784BC7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4" y="2582"/>
              <a:ext cx="0" cy="1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34">
              <a:extLst>
                <a:ext uri="{FF2B5EF4-FFF2-40B4-BE49-F238E27FC236}">
                  <a16:creationId xmlns:a16="http://schemas.microsoft.com/office/drawing/2014/main" id="{0AC100ED-695E-49E4-CB70-422CA2E98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7" y="1998"/>
              <a:ext cx="0" cy="1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Box 35">
              <a:extLst>
                <a:ext uri="{FF2B5EF4-FFF2-40B4-BE49-F238E27FC236}">
                  <a16:creationId xmlns:a16="http://schemas.microsoft.com/office/drawing/2014/main" id="{C7DF1362-B9A3-17DC-53C6-FA3482BBC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2010"/>
              <a:ext cx="128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C</a:t>
              </a:r>
              <a:endParaRPr kumimoji="1" lang="en-US" altLang="zh-CN" sz="2000" baseline="-25000">
                <a:ea typeface="楷体_GB2312" pitchFamily="49" charset="-122"/>
              </a:endParaRPr>
            </a:p>
          </p:txBody>
        </p:sp>
        <p:sp>
          <p:nvSpPr>
            <p:cNvPr id="18" name="Text Box 36">
              <a:extLst>
                <a:ext uri="{FF2B5EF4-FFF2-40B4-BE49-F238E27FC236}">
                  <a16:creationId xmlns:a16="http://schemas.microsoft.com/office/drawing/2014/main" id="{FD8B7DFD-3ED0-0D6A-49DE-E6E4F8AB14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1" y="2301"/>
              <a:ext cx="31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X</a:t>
              </a:r>
              <a:r>
                <a:rPr kumimoji="1" lang="en-US" altLang="zh-CN" sz="1200"/>
                <a:t> </a:t>
              </a:r>
              <a:endParaRPr kumimoji="1" lang="en-US" altLang="zh-CN" sz="1600"/>
            </a:p>
          </p:txBody>
        </p:sp>
        <p:sp>
          <p:nvSpPr>
            <p:cNvPr id="19" name="Text Box 37">
              <a:extLst>
                <a:ext uri="{FF2B5EF4-FFF2-40B4-BE49-F238E27FC236}">
                  <a16:creationId xmlns:a16="http://schemas.microsoft.com/office/drawing/2014/main" id="{E549A881-1BA3-E73A-167F-9E542DDD2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0" y="2272"/>
              <a:ext cx="288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Y</a:t>
              </a:r>
            </a:p>
          </p:txBody>
        </p:sp>
      </p:grpSp>
      <p:grpSp>
        <p:nvGrpSpPr>
          <p:cNvPr id="20" name="Group 38">
            <a:extLst>
              <a:ext uri="{FF2B5EF4-FFF2-40B4-BE49-F238E27FC236}">
                <a16:creationId xmlns:a16="http://schemas.microsoft.com/office/drawing/2014/main" id="{A3BCC64D-239E-5B82-8442-B571570A7734}"/>
              </a:ext>
            </a:extLst>
          </p:cNvPr>
          <p:cNvGrpSpPr>
            <a:grpSpLocks/>
          </p:cNvGrpSpPr>
          <p:nvPr/>
        </p:nvGrpSpPr>
        <p:grpSpPr bwMode="auto">
          <a:xfrm>
            <a:off x="2530475" y="4070353"/>
            <a:ext cx="1708150" cy="1136650"/>
            <a:chOff x="1531" y="3001"/>
            <a:chExt cx="1337" cy="889"/>
          </a:xfrm>
        </p:grpSpPr>
        <p:sp>
          <p:nvSpPr>
            <p:cNvPr id="21" name="Text Box 39">
              <a:extLst>
                <a:ext uri="{FF2B5EF4-FFF2-40B4-BE49-F238E27FC236}">
                  <a16:creationId xmlns:a16="http://schemas.microsoft.com/office/drawing/2014/main" id="{F10CFF42-3A57-F7EF-0324-B956D91CDB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3675"/>
              <a:ext cx="128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C</a:t>
              </a:r>
              <a:endParaRPr kumimoji="1" lang="en-US" altLang="zh-CN" sz="2000" baseline="-25000">
                <a:ea typeface="楷体_GB2312" pitchFamily="49" charset="-122"/>
              </a:endParaRPr>
            </a:p>
          </p:txBody>
        </p:sp>
        <p:sp>
          <p:nvSpPr>
            <p:cNvPr id="22" name="Line 40">
              <a:extLst>
                <a:ext uri="{FF2B5EF4-FFF2-40B4-BE49-F238E27FC236}">
                  <a16:creationId xmlns:a16="http://schemas.microsoft.com/office/drawing/2014/main" id="{6AAA3E6E-184C-0919-9557-00A9475E3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4" y="3423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41">
              <a:extLst>
                <a:ext uri="{FF2B5EF4-FFF2-40B4-BE49-F238E27FC236}">
                  <a16:creationId xmlns:a16="http://schemas.microsoft.com/office/drawing/2014/main" id="{B5755E06-4407-2D7C-BFAA-BF7B975AE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9" y="3423"/>
              <a:ext cx="2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42">
              <a:extLst>
                <a:ext uri="{FF2B5EF4-FFF2-40B4-BE49-F238E27FC236}">
                  <a16:creationId xmlns:a16="http://schemas.microsoft.com/office/drawing/2014/main" id="{CB626768-D714-C975-CDCC-ADC321DE65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8" y="3001"/>
              <a:ext cx="1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43">
              <a:extLst>
                <a:ext uri="{FF2B5EF4-FFF2-40B4-BE49-F238E27FC236}">
                  <a16:creationId xmlns:a16="http://schemas.microsoft.com/office/drawing/2014/main" id="{9F844C0C-A3E2-9352-6358-CCCAFE232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0" y="3249"/>
              <a:ext cx="90" cy="9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6" name="Line 44">
              <a:extLst>
                <a:ext uri="{FF2B5EF4-FFF2-40B4-BE49-F238E27FC236}">
                  <a16:creationId xmlns:a16="http://schemas.microsoft.com/office/drawing/2014/main" id="{14DE2B5F-F381-F2BA-7405-544A1EB07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4" y="3507"/>
              <a:ext cx="0" cy="2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45">
              <a:extLst>
                <a:ext uri="{FF2B5EF4-FFF2-40B4-BE49-F238E27FC236}">
                  <a16:creationId xmlns:a16="http://schemas.microsoft.com/office/drawing/2014/main" id="{23312220-74EE-7B83-4F2D-34D58B878D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5" y="3067"/>
              <a:ext cx="0" cy="1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 Box 46">
              <a:extLst>
                <a:ext uri="{FF2B5EF4-FFF2-40B4-BE49-F238E27FC236}">
                  <a16:creationId xmlns:a16="http://schemas.microsoft.com/office/drawing/2014/main" id="{02316494-5172-E96A-E384-36B06D9454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3018"/>
              <a:ext cx="128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C</a:t>
              </a:r>
              <a:endParaRPr kumimoji="1" lang="en-US" altLang="zh-CN" sz="2000" baseline="-25000">
                <a:ea typeface="楷体_GB2312" pitchFamily="49" charset="-122"/>
              </a:endParaRPr>
            </a:p>
          </p:txBody>
        </p:sp>
        <p:sp>
          <p:nvSpPr>
            <p:cNvPr id="29" name="Text Box 47">
              <a:extLst>
                <a:ext uri="{FF2B5EF4-FFF2-40B4-BE49-F238E27FC236}">
                  <a16:creationId xmlns:a16="http://schemas.microsoft.com/office/drawing/2014/main" id="{32A3F213-35AA-DB7A-12D7-180D968DB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1" y="3309"/>
              <a:ext cx="31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X</a:t>
              </a:r>
              <a:r>
                <a:rPr kumimoji="1" lang="en-US" altLang="zh-CN" sz="1200"/>
                <a:t> </a:t>
              </a:r>
              <a:endParaRPr kumimoji="1" lang="en-US" altLang="zh-CN" sz="1600"/>
            </a:p>
          </p:txBody>
        </p:sp>
        <p:sp>
          <p:nvSpPr>
            <p:cNvPr id="30" name="Text Box 48">
              <a:extLst>
                <a:ext uri="{FF2B5EF4-FFF2-40B4-BE49-F238E27FC236}">
                  <a16:creationId xmlns:a16="http://schemas.microsoft.com/office/drawing/2014/main" id="{3BD2245E-D8F3-A987-EF39-6A956EB251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0" y="3280"/>
              <a:ext cx="288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Y</a:t>
              </a:r>
            </a:p>
          </p:txBody>
        </p:sp>
        <p:sp>
          <p:nvSpPr>
            <p:cNvPr id="31" name="AutoShape 49">
              <a:extLst>
                <a:ext uri="{FF2B5EF4-FFF2-40B4-BE49-F238E27FC236}">
                  <a16:creationId xmlns:a16="http://schemas.microsoft.com/office/drawing/2014/main" id="{33ABC88B-AF73-7097-D46E-19B4C6E488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999" y="3231"/>
              <a:ext cx="330" cy="385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2" name="AutoShape 50">
              <a:extLst>
                <a:ext uri="{FF2B5EF4-FFF2-40B4-BE49-F238E27FC236}">
                  <a16:creationId xmlns:a16="http://schemas.microsoft.com/office/drawing/2014/main" id="{B05B8520-7432-E93C-8DA8-FF9A946C8BC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022" y="3231"/>
              <a:ext cx="330" cy="385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33" name="Object 4">
            <a:extLst>
              <a:ext uri="{FF2B5EF4-FFF2-40B4-BE49-F238E27FC236}">
                <a16:creationId xmlns:a16="http://schemas.microsoft.com/office/drawing/2014/main" id="{0BE15250-DDD7-0F47-520E-0ED1059ED7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172300"/>
              </p:ext>
            </p:extLst>
          </p:nvPr>
        </p:nvGraphicFramePr>
        <p:xfrm>
          <a:off x="4915629" y="2051205"/>
          <a:ext cx="4168049" cy="421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2362200" imgH="2247900" progId="Word.Picture.8">
                  <p:embed/>
                </p:oleObj>
              </mc:Choice>
              <mc:Fallback>
                <p:oleObj name="图片" r:id="rId2" imgW="2362200" imgH="2247900" progId="Word.Picture.8">
                  <p:embed/>
                  <p:pic>
                    <p:nvPicPr>
                      <p:cNvPr id="3379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5629" y="2051205"/>
                        <a:ext cx="4168049" cy="421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Group 5">
            <a:extLst>
              <a:ext uri="{FF2B5EF4-FFF2-40B4-BE49-F238E27FC236}">
                <a16:creationId xmlns:a16="http://schemas.microsoft.com/office/drawing/2014/main" id="{9BE00DCF-F8DC-4CAA-9C2C-705DC9BE3FA2}"/>
              </a:ext>
            </a:extLst>
          </p:cNvPr>
          <p:cNvGrpSpPr>
            <a:grpSpLocks/>
          </p:cNvGrpSpPr>
          <p:nvPr/>
        </p:nvGrpSpPr>
        <p:grpSpPr bwMode="auto">
          <a:xfrm>
            <a:off x="4938716" y="482064"/>
            <a:ext cx="4144962" cy="1239838"/>
            <a:chOff x="2877" y="962"/>
            <a:chExt cx="2611" cy="781"/>
          </a:xfrm>
        </p:grpSpPr>
        <p:sp>
          <p:nvSpPr>
            <p:cNvPr id="35" name="Line 6">
              <a:extLst>
                <a:ext uri="{FF2B5EF4-FFF2-40B4-BE49-F238E27FC236}">
                  <a16:creationId xmlns:a16="http://schemas.microsoft.com/office/drawing/2014/main" id="{6A960BD3-0EBA-37F6-73FB-333A2DFEFE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" y="1574"/>
              <a:ext cx="17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6" name="Group 7">
              <a:extLst>
                <a:ext uri="{FF2B5EF4-FFF2-40B4-BE49-F238E27FC236}">
                  <a16:creationId xmlns:a16="http://schemas.microsoft.com/office/drawing/2014/main" id="{248F6993-8CC7-8D2E-338B-5BD70CF882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1" y="1413"/>
              <a:ext cx="321" cy="330"/>
              <a:chOff x="4422" y="1277"/>
              <a:chExt cx="364" cy="330"/>
            </a:xfrm>
          </p:grpSpPr>
          <p:sp>
            <p:nvSpPr>
              <p:cNvPr id="53" name="AutoShape 8">
                <a:extLst>
                  <a:ext uri="{FF2B5EF4-FFF2-40B4-BE49-F238E27FC236}">
                    <a16:creationId xmlns:a16="http://schemas.microsoft.com/office/drawing/2014/main" id="{AADA5118-F31F-95B3-EDD8-A80CC9912F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413" y="1286"/>
                <a:ext cx="330" cy="311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54" name="Oval 9">
                <a:extLst>
                  <a:ext uri="{FF2B5EF4-FFF2-40B4-BE49-F238E27FC236}">
                    <a16:creationId xmlns:a16="http://schemas.microsoft.com/office/drawing/2014/main" id="{8AE7E4FB-9FF7-F0E2-DD36-1523F9790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1397"/>
                <a:ext cx="82" cy="8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7" name="Line 10">
              <a:extLst>
                <a:ext uri="{FF2B5EF4-FFF2-40B4-BE49-F238E27FC236}">
                  <a16:creationId xmlns:a16="http://schemas.microsoft.com/office/drawing/2014/main" id="{0FD80C5E-989A-AA9B-2B24-8F5A296486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5" y="1208"/>
              <a:ext cx="0" cy="3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11">
              <a:extLst>
                <a:ext uri="{FF2B5EF4-FFF2-40B4-BE49-F238E27FC236}">
                  <a16:creationId xmlns:a16="http://schemas.microsoft.com/office/drawing/2014/main" id="{1B335B5E-B09F-1046-0128-176DCF61F3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5" y="1208"/>
              <a:ext cx="5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12">
              <a:extLst>
                <a:ext uri="{FF2B5EF4-FFF2-40B4-BE49-F238E27FC236}">
                  <a16:creationId xmlns:a16="http://schemas.microsoft.com/office/drawing/2014/main" id="{D1813C66-E991-E011-39BB-3AF332D098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3" y="1208"/>
              <a:ext cx="0" cy="3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 Box 13">
              <a:extLst>
                <a:ext uri="{FF2B5EF4-FFF2-40B4-BE49-F238E27FC236}">
                  <a16:creationId xmlns:a16="http://schemas.microsoft.com/office/drawing/2014/main" id="{A0E51C46-E10B-5C35-FCB0-E7387D90C5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9" y="1457"/>
              <a:ext cx="14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Q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grpSp>
          <p:nvGrpSpPr>
            <p:cNvPr id="41" name="Group 14">
              <a:extLst>
                <a:ext uri="{FF2B5EF4-FFF2-40B4-BE49-F238E27FC236}">
                  <a16:creationId xmlns:a16="http://schemas.microsoft.com/office/drawing/2014/main" id="{826F1BDE-19E8-4012-7D7C-C0F546B7EA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7" y="1413"/>
              <a:ext cx="322" cy="330"/>
              <a:chOff x="3651" y="1277"/>
              <a:chExt cx="364" cy="330"/>
            </a:xfrm>
          </p:grpSpPr>
          <p:sp>
            <p:nvSpPr>
              <p:cNvPr id="51" name="AutoShape 15">
                <a:extLst>
                  <a:ext uri="{FF2B5EF4-FFF2-40B4-BE49-F238E27FC236}">
                    <a16:creationId xmlns:a16="http://schemas.microsoft.com/office/drawing/2014/main" id="{5B77D6C4-5AD4-3F70-5AF0-475DCEB15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642" y="1286"/>
                <a:ext cx="330" cy="311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52" name="Oval 16">
                <a:extLst>
                  <a:ext uri="{FF2B5EF4-FFF2-40B4-BE49-F238E27FC236}">
                    <a16:creationId xmlns:a16="http://schemas.microsoft.com/office/drawing/2014/main" id="{EA7A75A4-91A4-D443-5B56-4AF9223D71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3" y="1397"/>
                <a:ext cx="82" cy="8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2" name="Oval 17">
              <a:extLst>
                <a:ext uri="{FF2B5EF4-FFF2-40B4-BE49-F238E27FC236}">
                  <a16:creationId xmlns:a16="http://schemas.microsoft.com/office/drawing/2014/main" id="{A5D126ED-1F61-6E8C-4E08-6B209B251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6" y="1548"/>
              <a:ext cx="45" cy="4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3" name="Oval 18">
              <a:extLst>
                <a:ext uri="{FF2B5EF4-FFF2-40B4-BE49-F238E27FC236}">
                  <a16:creationId xmlns:a16="http://schemas.microsoft.com/office/drawing/2014/main" id="{F783E34F-893B-21C4-7FD1-3A95BF51B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" y="1548"/>
              <a:ext cx="45" cy="4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4" name="Line 19">
              <a:extLst>
                <a:ext uri="{FF2B5EF4-FFF2-40B4-BE49-F238E27FC236}">
                  <a16:creationId xmlns:a16="http://schemas.microsoft.com/office/drawing/2014/main" id="{14E078EB-09CB-0D19-7FA1-7FFFE8E0E6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1" y="1453"/>
              <a:ext cx="204" cy="1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20">
              <a:extLst>
                <a:ext uri="{FF2B5EF4-FFF2-40B4-BE49-F238E27FC236}">
                  <a16:creationId xmlns:a16="http://schemas.microsoft.com/office/drawing/2014/main" id="{97B1814F-D5A8-A51F-FC9F-7DBC11B6B7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4" y="1571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21">
              <a:extLst>
                <a:ext uri="{FF2B5EF4-FFF2-40B4-BE49-F238E27FC236}">
                  <a16:creationId xmlns:a16="http://schemas.microsoft.com/office/drawing/2014/main" id="{5CA7D7E9-4A40-C137-529F-8AE5CE772B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1208"/>
              <a:ext cx="59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22">
              <a:extLst>
                <a:ext uri="{FF2B5EF4-FFF2-40B4-BE49-F238E27FC236}">
                  <a16:creationId xmlns:a16="http://schemas.microsoft.com/office/drawing/2014/main" id="{C8616A2E-205C-485C-0EFC-F2C7D6F8A4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9" y="1094"/>
              <a:ext cx="204" cy="1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 Box 23">
              <a:extLst>
                <a:ext uri="{FF2B5EF4-FFF2-40B4-BE49-F238E27FC236}">
                  <a16:creationId xmlns:a16="http://schemas.microsoft.com/office/drawing/2014/main" id="{1FDBF026-B210-F6DD-78F7-87D4415091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7" y="1454"/>
              <a:ext cx="13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D</a:t>
              </a:r>
              <a:endParaRPr kumimoji="1" lang="en-US" altLang="zh-CN" sz="1600">
                <a:ea typeface="楷体_GB2312" pitchFamily="49" charset="-122"/>
              </a:endParaRPr>
            </a:p>
          </p:txBody>
        </p:sp>
        <p:sp>
          <p:nvSpPr>
            <p:cNvPr id="49" name="Text Box 24">
              <a:extLst>
                <a:ext uri="{FF2B5EF4-FFF2-40B4-BE49-F238E27FC236}">
                  <a16:creationId xmlns:a16="http://schemas.microsoft.com/office/drawing/2014/main" id="{C3300AD5-9E26-DFC9-AFF5-4DEB59DE47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9" y="1249"/>
              <a:ext cx="1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dirty="0">
                  <a:ea typeface="楷体_GB2312" pitchFamily="49" charset="-122"/>
                </a:rPr>
                <a:t>S</a:t>
              </a:r>
              <a:r>
                <a:rPr kumimoji="1" lang="en-US" altLang="zh-CN" sz="2000" dirty="0">
                  <a:ea typeface="楷体_GB2312" pitchFamily="49" charset="-122"/>
                </a:rPr>
                <a:t>1</a:t>
              </a:r>
              <a:endParaRPr kumimoji="1" lang="en-US" altLang="zh-CN" sz="1400" dirty="0">
                <a:ea typeface="楷体_GB2312" pitchFamily="49" charset="-122"/>
              </a:endParaRPr>
            </a:p>
          </p:txBody>
        </p:sp>
        <p:sp>
          <p:nvSpPr>
            <p:cNvPr id="50" name="Text Box 25">
              <a:extLst>
                <a:ext uri="{FF2B5EF4-FFF2-40B4-BE49-F238E27FC236}">
                  <a16:creationId xmlns:a16="http://schemas.microsoft.com/office/drawing/2014/main" id="{C9DF54B8-3CD4-67DB-C64C-528164930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1" y="962"/>
              <a:ext cx="1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dirty="0">
                  <a:ea typeface="楷体_GB2312" pitchFamily="49" charset="-122"/>
                </a:rPr>
                <a:t>S</a:t>
              </a:r>
              <a:r>
                <a:rPr kumimoji="1" lang="en-US" altLang="zh-CN" sz="2000" dirty="0">
                  <a:ea typeface="楷体_GB2312" pitchFamily="49" charset="-122"/>
                </a:rPr>
                <a:t>2</a:t>
              </a:r>
              <a:endParaRPr kumimoji="1" lang="en-US" altLang="zh-CN" sz="1400" dirty="0">
                <a:ea typeface="楷体_GB2312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2455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C372E-D1C8-CDB6-CE52-E89ECEE54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动态特性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0231655-E197-AE5D-F776-A445FACAC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41652B-7F89-1AE8-8373-935863096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20</a:t>
            </a:fld>
            <a:r>
              <a:rPr lang="en-US" altLang="zh-CN" dirty="0"/>
              <a:t>/22</a:t>
            </a:r>
            <a:endParaRPr 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772B4E-6596-7233-3630-2E0C198B47BF}"/>
              </a:ext>
            </a:extLst>
          </p:cNvPr>
          <p:cNvSpPr txBox="1"/>
          <p:nvPr/>
        </p:nvSpPr>
        <p:spPr>
          <a:xfrm>
            <a:off x="526296" y="695622"/>
            <a:ext cx="88534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000" b="1" dirty="0">
                <a:latin typeface="+mj-ea"/>
                <a:ea typeface="+mj-ea"/>
              </a:rPr>
              <a:t>时序图</a:t>
            </a:r>
            <a:r>
              <a:rPr lang="en-US" altLang="zh-CN" sz="2000" dirty="0">
                <a:latin typeface="+mj-ea"/>
                <a:ea typeface="+mj-ea"/>
              </a:rPr>
              <a:t>:</a:t>
            </a:r>
          </a:p>
          <a:p>
            <a:pPr eaLnBrk="1" hangingPunct="1"/>
            <a:r>
              <a:rPr lang="zh-CN" altLang="en-US" sz="2000" dirty="0">
                <a:latin typeface="+mj-ea"/>
                <a:ea typeface="+mj-ea"/>
              </a:rPr>
              <a:t>电路动作过程中，对各输入信号的时间要求以及输出对输入信号的响应时间。</a:t>
            </a:r>
            <a:r>
              <a:rPr lang="zh-CN" altLang="en-US" sz="2000" b="0" dirty="0">
                <a:latin typeface="+mj-ea"/>
                <a:ea typeface="+mj-ea"/>
              </a:rPr>
              <a:t> </a:t>
            </a: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06704FA1-6BEB-819C-90EE-654E5784ED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6378083"/>
              </p:ext>
            </p:extLst>
          </p:nvPr>
        </p:nvGraphicFramePr>
        <p:xfrm>
          <a:off x="1861625" y="1588491"/>
          <a:ext cx="5613595" cy="2848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2487594" imgH="1233907" progId="Word.Picture.8">
                  <p:embed/>
                </p:oleObj>
              </mc:Choice>
              <mc:Fallback>
                <p:oleObj name="图片" r:id="rId2" imgW="2487594" imgH="1233907" progId="Word.Picture.8">
                  <p:embed/>
                  <p:pic>
                    <p:nvPicPr>
                      <p:cNvPr id="13" name="Object 5">
                        <a:extLst>
                          <a:ext uri="{FF2B5EF4-FFF2-40B4-BE49-F238E27FC236}">
                            <a16:creationId xmlns:a16="http://schemas.microsoft.com/office/drawing/2014/main" id="{1EC9FD71-DF50-4768-0E1D-620C974174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1625" y="1588491"/>
                        <a:ext cx="5613595" cy="2848101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12700">
                        <a:solidFill>
                          <a:srgbClr val="3399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DCB2BE08-467B-43CE-76A7-5F0A0906DE8D}"/>
              </a:ext>
            </a:extLst>
          </p:cNvPr>
          <p:cNvSpPr txBox="1"/>
          <p:nvPr/>
        </p:nvSpPr>
        <p:spPr>
          <a:xfrm>
            <a:off x="1861625" y="4588981"/>
            <a:ext cx="561359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SU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setup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建立时间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hold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保持时间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width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脉冲宽度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p(pd): propagation delay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传输延迟（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L: low, H: high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6512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819A86-BA72-8748-E1B4-98E979ADC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sz="2900" dirty="0"/>
              <a:t>动态特性</a:t>
            </a:r>
            <a:endParaRPr lang="zh-CN" altLang="en-US" sz="29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590C9A7-7BC4-F50F-8856-C1CD85D59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87D1F2-0B5E-DE7C-8186-7511E04C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21</a:t>
            </a:fld>
            <a:r>
              <a:rPr lang="en-US" altLang="zh-CN" dirty="0"/>
              <a:t>/22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F3F1092-53B4-7050-3897-5757ECDB2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254" y="1087056"/>
            <a:ext cx="74574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0" i="1" dirty="0" err="1">
                <a:latin typeface="NEU-BZ-S92"/>
                <a:ea typeface="方正书宋_GBK"/>
                <a:cs typeface="Times New Roman" panose="02020603050405020304" pitchFamily="18" charset="0"/>
              </a:rPr>
              <a:t>t</a:t>
            </a:r>
            <a:r>
              <a:rPr lang="en-US" altLang="zh-CN" sz="2400" b="0" baseline="-25000" dirty="0" err="1">
                <a:latin typeface="NEU-BZ-S92"/>
                <a:ea typeface="方正书宋_GBK"/>
                <a:cs typeface="Times New Roman" panose="02020603050405020304" pitchFamily="18" charset="0"/>
              </a:rPr>
              <a:t>SU</a:t>
            </a:r>
            <a:r>
              <a:rPr lang="zh-CN" altLang="zh-CN" sz="2400" b="0" dirty="0">
                <a:latin typeface="NEU-BZ-S92"/>
                <a:ea typeface="方正书宋_GBK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 err="1">
                <a:latin typeface="NEU-BZ-S92"/>
                <a:ea typeface="方正书宋_GBK"/>
                <a:cs typeface="Times New Roman" panose="02020603050405020304" pitchFamily="18" charset="0"/>
              </a:rPr>
              <a:t>t</a:t>
            </a:r>
            <a:r>
              <a:rPr lang="en-US" altLang="zh-CN" sz="2400" b="0" baseline="-25000" dirty="0" err="1">
                <a:latin typeface="NEU-BZ-S92"/>
                <a:ea typeface="方正书宋_GBK"/>
                <a:cs typeface="Times New Roman" panose="02020603050405020304" pitchFamily="18" charset="0"/>
              </a:rPr>
              <a:t>H</a:t>
            </a:r>
            <a:r>
              <a:rPr lang="zh-CN" altLang="zh-CN" sz="2400" b="0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400" b="0" i="1" dirty="0" err="1">
                <a:latin typeface="NEU-BZ-S92"/>
                <a:ea typeface="方正书宋_GBK"/>
                <a:cs typeface="Times New Roman" panose="02020603050405020304" pitchFamily="18" charset="0"/>
              </a:rPr>
              <a:t>t</a:t>
            </a:r>
            <a:r>
              <a:rPr lang="en-US" altLang="zh-CN" sz="2400" b="0" baseline="-25000" dirty="0" err="1">
                <a:latin typeface="NEU-BZ-S92"/>
                <a:ea typeface="方正书宋_GBK"/>
                <a:cs typeface="Times New Roman" panose="02020603050405020304" pitchFamily="18" charset="0"/>
              </a:rPr>
              <a:t>w</a:t>
            </a:r>
            <a:r>
              <a:rPr lang="zh-CN" altLang="zh-CN" sz="2400" b="0" dirty="0">
                <a:latin typeface="楷体_GB2312" pitchFamily="49" charset="-122"/>
                <a:ea typeface="楷体_GB2312" pitchFamily="49" charset="-122"/>
              </a:rPr>
              <a:t>达不到要求</a:t>
            </a:r>
            <a:r>
              <a:rPr lang="zh-CN" altLang="en-US" sz="2400" b="0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zh-CN" sz="2400" b="0" dirty="0">
                <a:latin typeface="楷体_GB2312" pitchFamily="49" charset="-122"/>
                <a:ea typeface="楷体_GB2312" pitchFamily="49" charset="-122"/>
              </a:rPr>
              <a:t>可能导致不确定的逻辑输出</a:t>
            </a:r>
            <a:r>
              <a:rPr lang="zh-CN" altLang="en-US" sz="2400" b="0" dirty="0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05C6C6A-3C0A-B64E-AD99-689252E883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44836" y="1945017"/>
            <a:ext cx="8177154" cy="256409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EE33058-E61A-1FF1-26BF-38A7CC2A6729}"/>
              </a:ext>
            </a:extLst>
          </p:cNvPr>
          <p:cNvSpPr txBox="1"/>
          <p:nvPr/>
        </p:nvSpPr>
        <p:spPr>
          <a:xfrm>
            <a:off x="956353" y="5043292"/>
            <a:ext cx="8350395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核心问题：电路的“反应速度”跟不上信号变化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endParaRPr kumimoji="1" lang="en-US" altLang="zh-CN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现代集成电路的发展就是要在控制功耗的前提下追求“反应速度”，以保证系统能适应更快的外部信号变化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DD567E6-7CFA-1730-8B91-551246D36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8142" y="4187238"/>
            <a:ext cx="7572053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 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zh-CN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 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 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t'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CN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94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92BC4-F3C4-3AEF-EC86-F47B0BED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作业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2D1469-A401-31ED-3543-D565F3B08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电子技术基础</a:t>
            </a: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数字部分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latin typeface="Times New Roman" panose="02020603050405020304" pitchFamily="18" charset="0"/>
              </a:rPr>
              <a:t>P250-251</a:t>
            </a:r>
            <a:r>
              <a:rPr lang="zh-CN" altLang="en-US" sz="2800" kern="0" dirty="0">
                <a:latin typeface="Times New Roman" panose="02020603050405020304" pitchFamily="18" charset="0"/>
              </a:rPr>
              <a:t>：</a:t>
            </a:r>
            <a:endParaRPr lang="en-US" altLang="zh-CN" sz="2800" kern="0" dirty="0">
              <a:latin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400" kern="0" dirty="0">
                <a:latin typeface="Times New Roman" panose="02020603050405020304" pitchFamily="18" charset="0"/>
              </a:rPr>
              <a:t>5.2.2</a:t>
            </a:r>
            <a:r>
              <a:rPr lang="zh-CN" altLang="en-US" sz="2400" kern="0" dirty="0">
                <a:latin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</a:rPr>
              <a:t>5.2.3</a:t>
            </a:r>
            <a:r>
              <a:rPr lang="zh-CN" altLang="en-US" sz="2400" kern="0" dirty="0">
                <a:latin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</a:rPr>
              <a:t>5.2.6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400" kern="0" dirty="0">
                <a:latin typeface="Times New Roman" panose="02020603050405020304" pitchFamily="18" charset="0"/>
              </a:rPr>
              <a:t>5.3.1</a:t>
            </a:r>
            <a:r>
              <a:rPr lang="zh-CN" altLang="en-US" sz="2400" kern="0" dirty="0">
                <a:latin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</a:rPr>
              <a:t>5.3.3</a:t>
            </a:r>
            <a:r>
              <a:rPr lang="zh-CN" altLang="en-US" sz="2400" kern="0" dirty="0">
                <a:latin typeface="Times New Roman" panose="02020603050405020304" pitchFamily="18" charset="0"/>
              </a:rPr>
              <a:t>，</a:t>
            </a:r>
            <a:r>
              <a:rPr lang="en-US" altLang="zh-CN" sz="2400" kern="0" dirty="0">
                <a:latin typeface="Times New Roman" panose="02020603050405020304" pitchFamily="18" charset="0"/>
              </a:rPr>
              <a:t>5.3.5</a:t>
            </a: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latin typeface="Times New Roman" panose="02020603050405020304" pitchFamily="18" charset="0"/>
              </a:rPr>
              <a:t>P130-131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400" kern="0" dirty="0">
                <a:latin typeface="Times New Roman" panose="02020603050405020304" pitchFamily="18" charset="0"/>
              </a:rPr>
              <a:t>3.2.2</a:t>
            </a:r>
          </a:p>
          <a:p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1EBEAF-E105-3D6B-A44A-1A805B92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440A33-A646-F11A-EF20-5480EA52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22</a:t>
            </a:fld>
            <a:r>
              <a:rPr lang="en-US" altLang="zh-CN" dirty="0"/>
              <a:t>/22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91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093ADA-742C-C777-6BC9-EEC516CC9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期中考试范围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8240190B-8AF1-ABE0-B79F-D4A0463CB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548372"/>
            <a:ext cx="4295906" cy="5946775"/>
          </a:xfr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307A0C-F8E4-1E9E-0877-29A91ED1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11. </a:t>
            </a:r>
            <a:r>
              <a:rPr lang="zh-CN" altLang="en-US"/>
              <a:t>锁存器和触发器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C879D9-6EC6-09D3-3AB9-4FC20DA09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23</a:t>
            </a:fld>
            <a:r>
              <a:rPr lang="en-US" altLang="zh-CN"/>
              <a:t>/</a:t>
            </a:r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1FF60E-BA3C-E16D-D326-14D1B42AB698}"/>
              </a:ext>
            </a:extLst>
          </p:cNvPr>
          <p:cNvSpPr txBox="1"/>
          <p:nvPr/>
        </p:nvSpPr>
        <p:spPr>
          <a:xfrm>
            <a:off x="4255770" y="1066800"/>
            <a:ext cx="55308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PPT01-08</a:t>
            </a:r>
            <a:r>
              <a:rPr kumimoji="1" lang="zh-CN" altLang="en-US" dirty="0"/>
              <a:t>，</a:t>
            </a:r>
            <a:r>
              <a:rPr kumimoji="1" lang="en-US" altLang="zh-CN" dirty="0"/>
              <a:t>10-14</a:t>
            </a:r>
            <a:r>
              <a:rPr kumimoji="1" lang="zh-CN" altLang="en-US" dirty="0"/>
              <a:t>（已全部上传</a:t>
            </a:r>
            <a:r>
              <a:rPr kumimoji="1" lang="en-US" altLang="zh-CN" dirty="0"/>
              <a:t>BB</a:t>
            </a:r>
            <a:r>
              <a:rPr kumimoji="1" lang="zh-CN" altLang="en-US" dirty="0"/>
              <a:t>系统）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PPT14</a:t>
            </a:r>
            <a:r>
              <a:rPr kumimoji="1" lang="zh-CN" altLang="en-US" dirty="0"/>
              <a:t>上完作业写过之后将组织第二次答疑，然后考试（具体时间待定，预计</a:t>
            </a:r>
            <a:r>
              <a:rPr kumimoji="1" lang="en-US" altLang="zh-CN" dirty="0"/>
              <a:t>11</a:t>
            </a:r>
            <a:r>
              <a:rPr kumimoji="1" lang="zh-CN" altLang="en-US" dirty="0"/>
              <a:t>月中上旬）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开卷考试</a:t>
            </a:r>
          </a:p>
        </p:txBody>
      </p:sp>
    </p:spTree>
    <p:extLst>
      <p:ext uri="{BB962C8B-B14F-4D97-AF65-F5344CB8AC3E}">
        <p14:creationId xmlns:p14="http://schemas.microsoft.com/office/powerpoint/2010/main" val="2282283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19257</TotalTime>
  <Words>2092</Words>
  <Application>Microsoft Macintosh PowerPoint</Application>
  <PresentationFormat>A4 纸张(210x297 毫米)</PresentationFormat>
  <Paragraphs>517</Paragraphs>
  <Slides>23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等线</vt:lpstr>
      <vt:lpstr>黑体</vt:lpstr>
      <vt:lpstr>楷体_GB2312</vt:lpstr>
      <vt:lpstr>宋体</vt:lpstr>
      <vt:lpstr>Microsoft YaHei</vt:lpstr>
      <vt:lpstr>Microsoft YaHei</vt:lpstr>
      <vt:lpstr>NEU-BZ-S92</vt:lpstr>
      <vt:lpstr>Arial</vt:lpstr>
      <vt:lpstr>Arial Black</vt:lpstr>
      <vt:lpstr>Times New Roman</vt:lpstr>
      <vt:lpstr>Office-Design</vt:lpstr>
      <vt:lpstr>公式</vt:lpstr>
      <vt:lpstr>图片</vt:lpstr>
      <vt:lpstr>  模拟与数字电路 Analog and Digital Circuits</vt:lpstr>
      <vt:lpstr>内容提纲</vt:lpstr>
      <vt:lpstr>时序逻辑电路</vt:lpstr>
      <vt:lpstr>时钟信号</vt:lpstr>
      <vt:lpstr>锁存器和触发器</vt:lpstr>
      <vt:lpstr>基本SR锁存器(Latch)</vt:lpstr>
      <vt:lpstr>基本SR锁存器工作原理</vt:lpstr>
      <vt:lpstr>基本SR锁存器工作原理 (续1)</vt:lpstr>
      <vt:lpstr>基本SR锁存器工作原理 (续2)</vt:lpstr>
      <vt:lpstr>基本SR锁存器特性</vt:lpstr>
      <vt:lpstr>基本SR锁存器特性(续)</vt:lpstr>
      <vt:lpstr>示例：基本SR锁存器波形图</vt:lpstr>
      <vt:lpstr>示例：基本SR锁存器应用</vt:lpstr>
      <vt:lpstr>门控SR锁存器</vt:lpstr>
      <vt:lpstr>门控SR锁存器特性</vt:lpstr>
      <vt:lpstr>示例：门控SR锁存器波形图</vt:lpstr>
      <vt:lpstr>D锁存器</vt:lpstr>
      <vt:lpstr>示例：D锁存器波形图</vt:lpstr>
      <vt:lpstr>D锁存器的传输门实现</vt:lpstr>
      <vt:lpstr>动态特性</vt:lpstr>
      <vt:lpstr>动态特性</vt:lpstr>
      <vt:lpstr>作业</vt:lpstr>
      <vt:lpstr>期中考试范围</vt:lpstr>
    </vt:vector>
  </TitlesOfParts>
  <Company>DFKI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从本科到硕士到博士</dc:title>
  <dc:creator>jingyuan cheng</dc:creator>
  <cp:lastModifiedBy>Microsoft Office User</cp:lastModifiedBy>
  <cp:revision>2538</cp:revision>
  <cp:lastPrinted>2020-05-26T13:24:01Z</cp:lastPrinted>
  <dcterms:created xsi:type="dcterms:W3CDTF">2020-04-07T12:23:01Z</dcterms:created>
  <dcterms:modified xsi:type="dcterms:W3CDTF">2024-10-09T23:44:32Z</dcterms:modified>
</cp:coreProperties>
</file>