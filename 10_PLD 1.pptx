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44" r:id="rId3"/>
    <p:sldId id="512" r:id="rId4"/>
    <p:sldId id="521" r:id="rId5"/>
    <p:sldId id="513" r:id="rId6"/>
    <p:sldId id="514" r:id="rId7"/>
    <p:sldId id="515" r:id="rId8"/>
    <p:sldId id="516" r:id="rId9"/>
    <p:sldId id="517" r:id="rId10"/>
    <p:sldId id="518" r:id="rId11"/>
    <p:sldId id="519" r:id="rId12"/>
    <p:sldId id="520" r:id="rId13"/>
    <p:sldId id="511" r:id="rId14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/>
    <p:restoredTop sz="85535"/>
  </p:normalViewPr>
  <p:slideViewPr>
    <p:cSldViewPr snapToGrid="0" snapToObjects="1">
      <p:cViewPr varScale="1">
        <p:scale>
          <a:sx n="88" d="100"/>
          <a:sy n="88" d="100"/>
        </p:scale>
        <p:origin x="2072" y="192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/>
              <a:t>PLD</a:t>
            </a:r>
            <a:r>
              <a:rPr kumimoji="1" lang="zh-CN" altLang="en-US" dirty="0"/>
              <a:t>是</a:t>
            </a:r>
            <a:r>
              <a:rPr kumimoji="1" lang="en-US" altLang="zh-CN" dirty="0"/>
              <a:t>70</a:t>
            </a:r>
            <a:r>
              <a:rPr kumimoji="1" lang="zh-CN" altLang="en-US" dirty="0"/>
              <a:t>年代发展起来的新型逻辑器件，相继出现了</a:t>
            </a:r>
            <a:r>
              <a:rPr kumimoji="1" lang="en-US" altLang="zh-CN" dirty="0"/>
              <a:t>PROM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PLA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PAL</a:t>
            </a:r>
            <a:r>
              <a:rPr kumimoji="1" lang="zh-CN" altLang="en-US" dirty="0"/>
              <a:t>、</a:t>
            </a:r>
            <a:r>
              <a:rPr kumimoji="1" lang="en-US" altLang="zh-CN" dirty="0"/>
              <a:t>GAL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CPLD</a:t>
            </a:r>
            <a:r>
              <a:rPr kumimoji="1" lang="zh-CN" altLang="en-US" dirty="0"/>
              <a:t>和</a:t>
            </a:r>
            <a:r>
              <a:rPr kumimoji="1" lang="en-US" altLang="zh-CN" dirty="0"/>
              <a:t>FPGA</a:t>
            </a:r>
            <a:r>
              <a:rPr kumimoji="1" lang="zh-CN" altLang="en-US" dirty="0"/>
              <a:t>等。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70</a:t>
            </a:r>
            <a:r>
              <a:rPr lang="zh-CN" altLang="en-US" dirty="0">
                <a:solidFill>
                  <a:srgbClr val="0000FF"/>
                </a:solidFill>
              </a:rPr>
              <a:t>年代初期</a:t>
            </a:r>
            <a:r>
              <a:rPr lang="zh-CN" altLang="en-US" dirty="0"/>
              <a:t>主要是可编程只读存储器</a:t>
            </a:r>
            <a:r>
              <a:rPr lang="en-US" altLang="zh-CN" dirty="0"/>
              <a:t>(PROM)</a:t>
            </a:r>
            <a:r>
              <a:rPr lang="zh-CN" altLang="en-US" dirty="0"/>
              <a:t>和可编程逻辑阵列</a:t>
            </a:r>
            <a:r>
              <a:rPr lang="en-US" altLang="zh-CN" dirty="0"/>
              <a:t>(PLA)</a:t>
            </a:r>
            <a:r>
              <a:rPr lang="zh-CN" altLang="en-US" dirty="0"/>
              <a:t>。在</a:t>
            </a:r>
            <a:r>
              <a:rPr lang="en-US" altLang="zh-CN" dirty="0"/>
              <a:t>PROM</a:t>
            </a:r>
            <a:r>
              <a:rPr lang="zh-CN" altLang="en-US" dirty="0"/>
              <a:t>中，与门阵列是固定的，或门阵列是可编程的；器件采用熔断丝工艺，一次性编程使用。</a:t>
            </a: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70</a:t>
            </a:r>
            <a:r>
              <a:rPr lang="zh-CN" altLang="en-US" dirty="0">
                <a:solidFill>
                  <a:srgbClr val="0000FF"/>
                </a:solidFill>
              </a:rPr>
              <a:t>年代末期</a:t>
            </a:r>
            <a:r>
              <a:rPr lang="zh-CN" altLang="en-US" dirty="0"/>
              <a:t>出现了可编程阵列逻辑</a:t>
            </a:r>
            <a:r>
              <a:rPr lang="en-US" altLang="zh-CN" dirty="0"/>
              <a:t>(PAL)</a:t>
            </a:r>
            <a:r>
              <a:rPr lang="zh-CN" altLang="en-US" dirty="0"/>
              <a:t>器件。在</a:t>
            </a:r>
            <a:r>
              <a:rPr lang="en-US" altLang="zh-CN" dirty="0"/>
              <a:t>PAL</a:t>
            </a:r>
            <a:r>
              <a:rPr lang="zh-CN" altLang="en-US" dirty="0"/>
              <a:t>器件中，与门阵列是可编程的，或门阵列是固定连接的，它有多种输出和反馈结构，为数字逻辑设计带来了一定的灵活性。但</a:t>
            </a:r>
            <a:r>
              <a:rPr lang="en-US" altLang="zh-CN" dirty="0"/>
              <a:t>PAL</a:t>
            </a:r>
            <a:r>
              <a:rPr lang="zh-CN" altLang="en-US" dirty="0"/>
              <a:t>仍采用熔断丝工艺，一次性编程使用。</a:t>
            </a:r>
            <a:endParaRPr lang="en-US" altLang="zh-CN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80</a:t>
            </a:r>
            <a:r>
              <a:rPr lang="zh-CN" altLang="en-US" dirty="0">
                <a:solidFill>
                  <a:srgbClr val="0000FF"/>
                </a:solidFill>
              </a:rPr>
              <a:t>年代中期</a:t>
            </a:r>
            <a:r>
              <a:rPr lang="zh-CN" altLang="en-US" dirty="0"/>
              <a:t>通用阵列逻辑</a:t>
            </a:r>
            <a:r>
              <a:rPr lang="en-US" altLang="zh-CN" dirty="0"/>
              <a:t>(GAL)</a:t>
            </a:r>
            <a:r>
              <a:rPr lang="zh-CN" altLang="en-US" dirty="0"/>
              <a:t>器件问世，并取代了</a:t>
            </a:r>
            <a:r>
              <a:rPr lang="en-US" altLang="zh-CN" dirty="0"/>
              <a:t>PAL</a:t>
            </a:r>
            <a:r>
              <a:rPr lang="zh-CN" altLang="en-US" dirty="0"/>
              <a:t>。</a:t>
            </a:r>
            <a:r>
              <a:rPr lang="en-US" altLang="zh-CN" dirty="0"/>
              <a:t>GAL</a:t>
            </a:r>
            <a:r>
              <a:rPr lang="zh-CN" altLang="en-US" dirty="0"/>
              <a:t>器件是在</a:t>
            </a:r>
            <a:r>
              <a:rPr lang="en-US" altLang="zh-CN" dirty="0"/>
              <a:t>PAL</a:t>
            </a:r>
            <a:r>
              <a:rPr lang="zh-CN" altLang="en-US" dirty="0"/>
              <a:t>器件基础上发展起来的新一代器件。和</a:t>
            </a:r>
            <a:r>
              <a:rPr lang="en-US" altLang="zh-CN" dirty="0"/>
              <a:t>PAL</a:t>
            </a:r>
            <a:r>
              <a:rPr lang="zh-CN" altLang="en-US" dirty="0"/>
              <a:t>一样，它的与门阵列是可编程的，或门阵列是固定的。但由于采用了高速电可擦</a:t>
            </a:r>
            <a:r>
              <a:rPr lang="en-US" altLang="zh-CN" dirty="0"/>
              <a:t>CMOS</a:t>
            </a:r>
            <a:r>
              <a:rPr lang="zh-CN" altLang="en-US" dirty="0"/>
              <a:t>工艺，可以反复擦除和改写，很适宜于样机的研制。它具有</a:t>
            </a:r>
            <a:r>
              <a:rPr lang="en-US" altLang="zh-CN" dirty="0"/>
              <a:t>CMOS</a:t>
            </a:r>
            <a:r>
              <a:rPr lang="zh-CN" altLang="en-US" dirty="0"/>
              <a:t>低功耗特性，且速度可以与</a:t>
            </a:r>
            <a:r>
              <a:rPr lang="en-US" altLang="zh-CN" dirty="0"/>
              <a:t>TTL</a:t>
            </a:r>
            <a:r>
              <a:rPr lang="zh-CN" altLang="en-US" dirty="0"/>
              <a:t>可编程器件相比。特别是在结构上采用了“输出逻辑宏单元”电路，为用户提供了逻辑设计和使用上的较大灵活性。</a:t>
            </a:r>
          </a:p>
          <a:p>
            <a:pPr eaLnBrk="1" hangingPunct="1"/>
            <a:r>
              <a:rPr lang="en-US" altLang="zh-CN" dirty="0"/>
              <a:t>80</a:t>
            </a:r>
            <a:r>
              <a:rPr lang="zh-CN" altLang="en-US" dirty="0"/>
              <a:t>年代后期问世的</a:t>
            </a:r>
            <a:r>
              <a:rPr lang="en-US" altLang="zh-CN" dirty="0"/>
              <a:t>CPLD</a:t>
            </a:r>
            <a:r>
              <a:rPr lang="zh-CN" altLang="en-US" dirty="0"/>
              <a:t>（复杂可编程逻辑器件）和</a:t>
            </a:r>
            <a:r>
              <a:rPr lang="en-US" altLang="zh-CN" dirty="0"/>
              <a:t>FPGA(</a:t>
            </a:r>
            <a:r>
              <a:rPr lang="zh-CN" altLang="en-US" dirty="0"/>
              <a:t>现场可编程门阵列</a:t>
            </a:r>
            <a:r>
              <a:rPr lang="en-US" altLang="zh-CN" dirty="0"/>
              <a:t>)</a:t>
            </a:r>
            <a:r>
              <a:rPr lang="zh-CN" altLang="en-US" dirty="0"/>
              <a:t>器件属于较高密度的</a:t>
            </a:r>
            <a:r>
              <a:rPr lang="en-US" altLang="zh-CN" dirty="0"/>
              <a:t>PLD</a:t>
            </a:r>
            <a:r>
              <a:rPr lang="zh-CN" altLang="en-US" dirty="0"/>
              <a:t>器件。</a:t>
            </a:r>
            <a:endParaRPr lang="zh-CN" altLang="en-US" b="1" dirty="0">
              <a:solidFill>
                <a:srgbClr val="FFFF00"/>
              </a:solidFill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集成度在</a:t>
            </a:r>
            <a:r>
              <a:rPr lang="en-US" altLang="zh-CN" dirty="0"/>
              <a:t>1000</a:t>
            </a:r>
            <a:r>
              <a:rPr lang="zh-CN" altLang="en-US" dirty="0"/>
              <a:t>门</a:t>
            </a:r>
            <a:r>
              <a:rPr lang="en-US" altLang="zh-CN" dirty="0"/>
              <a:t>/</a:t>
            </a:r>
            <a:r>
              <a:rPr lang="zh-CN" altLang="en-US" dirty="0"/>
              <a:t>片以下的</a:t>
            </a:r>
            <a:r>
              <a:rPr lang="en-US" altLang="zh-CN" dirty="0"/>
              <a:t>PLD</a:t>
            </a:r>
            <a:r>
              <a:rPr lang="zh-CN" altLang="en-US" dirty="0"/>
              <a:t>称为低密度</a:t>
            </a:r>
            <a:r>
              <a:rPr lang="en-US" altLang="zh-CN" dirty="0"/>
              <a:t>PLD</a:t>
            </a:r>
            <a:r>
              <a:rPr lang="zh-CN" altLang="en-US" dirty="0"/>
              <a:t>，如</a:t>
            </a:r>
            <a:r>
              <a:rPr lang="en-US" altLang="zh-CN" dirty="0"/>
              <a:t>PROM</a:t>
            </a:r>
            <a:r>
              <a:rPr lang="zh-CN" altLang="en-US" dirty="0"/>
              <a:t>、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PAL</a:t>
            </a:r>
            <a:r>
              <a:rPr lang="zh-CN" altLang="en-US" dirty="0"/>
              <a:t>和</a:t>
            </a:r>
            <a:r>
              <a:rPr lang="en-US" altLang="zh-CN" dirty="0"/>
              <a:t>GAL</a:t>
            </a:r>
            <a:r>
              <a:rPr lang="zh-CN" altLang="en-US" dirty="0"/>
              <a:t>等。</a:t>
            </a:r>
          </a:p>
          <a:p>
            <a:pPr eaLnBrk="1" hangingPunct="1"/>
            <a:r>
              <a:rPr lang="zh-CN" altLang="en-US" dirty="0"/>
              <a:t>高密度</a:t>
            </a:r>
            <a:r>
              <a:rPr lang="en-US" altLang="zh-CN" dirty="0"/>
              <a:t>PLD</a:t>
            </a:r>
            <a:r>
              <a:rPr lang="zh-CN" altLang="en-US" dirty="0"/>
              <a:t>是指集成度在</a:t>
            </a:r>
            <a:r>
              <a:rPr lang="en-US" altLang="zh-CN" dirty="0"/>
              <a:t>1000</a:t>
            </a:r>
            <a:r>
              <a:rPr lang="zh-CN" altLang="en-US" dirty="0"/>
              <a:t>门</a:t>
            </a:r>
            <a:r>
              <a:rPr lang="en-US" altLang="zh-CN" dirty="0"/>
              <a:t>/</a:t>
            </a:r>
            <a:r>
              <a:rPr lang="zh-CN" altLang="en-US" dirty="0"/>
              <a:t>片以上的</a:t>
            </a:r>
            <a:r>
              <a:rPr lang="en-US" altLang="zh-CN" dirty="0"/>
              <a:t>PLD</a:t>
            </a:r>
            <a:r>
              <a:rPr lang="zh-CN" altLang="en-US" dirty="0"/>
              <a:t>，如</a:t>
            </a:r>
            <a:r>
              <a:rPr lang="en-US" altLang="zh-CN" dirty="0"/>
              <a:t>EPLD</a:t>
            </a:r>
            <a:r>
              <a:rPr lang="zh-CN" altLang="en-US" dirty="0"/>
              <a:t>、</a:t>
            </a:r>
            <a:r>
              <a:rPr lang="en-US" altLang="zh-CN" dirty="0"/>
              <a:t>CPLD</a:t>
            </a:r>
            <a:r>
              <a:rPr lang="zh-CN" altLang="en-US" dirty="0"/>
              <a:t>和</a:t>
            </a:r>
            <a:r>
              <a:rPr lang="en-US" altLang="zh-CN" dirty="0"/>
              <a:t>FPGA</a:t>
            </a:r>
            <a:r>
              <a:rPr lang="zh-CN" altLang="en-US" dirty="0"/>
              <a:t>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75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66"/>
                </a:solidFill>
              </a:rPr>
              <a:t>可由或阵列直接输出，构成组合输出；通过寄存器输出，构成时序方式输出。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375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/>
              <a:t>Programmable Read Only Memory</a:t>
            </a:r>
            <a:r>
              <a:rPr lang="zh-CN" altLang="en-US" sz="1200" dirty="0"/>
              <a:t>，可编程只读存储器</a:t>
            </a:r>
          </a:p>
          <a:p>
            <a:pPr eaLnBrk="1" hangingPunct="1"/>
            <a:r>
              <a:rPr lang="zh-CN" altLang="en-US" sz="1200" dirty="0"/>
              <a:t>固定的全译码的与阵列，可编程的或阵列</a:t>
            </a:r>
          </a:p>
          <a:p>
            <a:pPr eaLnBrk="1" hangingPunct="1"/>
            <a:r>
              <a:rPr lang="zh-CN" altLang="en-US" sz="1200" dirty="0"/>
              <a:t>器件规模将随着输入信号数量增加成指数级增长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Logic Array，</a:t>
            </a:r>
            <a:r>
              <a:rPr lang="zh-CN" altLang="en-US" sz="1200" dirty="0"/>
              <a:t>可编程逻辑阵列</a:t>
            </a:r>
          </a:p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由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的与阵列和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的或阵列组成。与</a:t>
            </a:r>
            <a:r>
              <a:rPr lang="en-US" altLang="zh-CN" dirty="0">
                <a:solidFill>
                  <a:srgbClr val="FFFF00"/>
                </a:solidFill>
              </a:rPr>
              <a:t>PROM</a:t>
            </a:r>
            <a:r>
              <a:rPr lang="zh-CN" altLang="en-US" dirty="0">
                <a:solidFill>
                  <a:srgbClr val="FFFF00"/>
                </a:solidFill>
              </a:rPr>
              <a:t>相比，阵列规模有了很大的减小，提高了芯片的利用率。</a:t>
            </a:r>
          </a:p>
          <a:p>
            <a:pPr eaLnBrk="1" hangingPunct="1"/>
            <a:r>
              <a:rPr lang="zh-CN" altLang="en-US" dirty="0">
                <a:solidFill>
                  <a:srgbClr val="FF9900"/>
                </a:solidFill>
              </a:rPr>
              <a:t>由于编程复杂，支持</a:t>
            </a:r>
            <a:r>
              <a:rPr lang="en-US" altLang="zh-CN" dirty="0">
                <a:solidFill>
                  <a:srgbClr val="FF9900"/>
                </a:solidFill>
              </a:rPr>
              <a:t>PLA</a:t>
            </a:r>
            <a:r>
              <a:rPr lang="zh-CN" altLang="en-US" dirty="0">
                <a:solidFill>
                  <a:srgbClr val="FF9900"/>
                </a:solidFill>
              </a:rPr>
              <a:t>的开发软件存在一定的难度，因此这种器件没有得到广泛的应用。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Array Logic</a:t>
            </a:r>
            <a:r>
              <a:rPr lang="zh-CN" altLang="en-US" sz="1200" dirty="0"/>
              <a:t>，可编程阵列逻辑</a:t>
            </a:r>
          </a:p>
          <a:p>
            <a:pPr eaLnBrk="1" hangingPunct="1"/>
            <a:r>
              <a:rPr lang="zh-CN" altLang="en-US" sz="1200" dirty="0"/>
              <a:t>与阵列可编程使输入项选择灵活（相对于</a:t>
            </a:r>
            <a:r>
              <a:rPr lang="en-US" altLang="zh-CN" sz="1200" dirty="0"/>
              <a:t>PROM</a:t>
            </a:r>
            <a:r>
              <a:rPr lang="zh-CN" altLang="en-US" sz="1200" dirty="0"/>
              <a:t>），或阵列固定使器件简化（相对于</a:t>
            </a:r>
            <a:r>
              <a:rPr lang="en-US" altLang="zh-CN" sz="1200" dirty="0"/>
              <a:t>PLA</a:t>
            </a:r>
            <a:r>
              <a:rPr lang="zh-CN" altLang="en-US" sz="1200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03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【证明】</a:t>
            </a:r>
            <a:r>
              <a:rPr lang="en-US" altLang="zh-CN" dirty="0"/>
              <a:t>Co=AB+ (A</a:t>
            </a:r>
            <a:r>
              <a:rPr lang="zh-CN" altLang="zh-CN" dirty="0"/>
              <a:t>⊕</a:t>
            </a:r>
            <a:r>
              <a:rPr lang="en-US" altLang="zh-CN" dirty="0"/>
              <a:t>B)Ci = </a:t>
            </a:r>
            <a:r>
              <a:rPr lang="en-US" altLang="zh-CN" dirty="0" err="1"/>
              <a:t>AB+ACi+BCi</a:t>
            </a:r>
            <a:endParaRPr lang="zh-CN" altLang="zh-CN" dirty="0"/>
          </a:p>
          <a:p>
            <a:r>
              <a:rPr lang="en-US" altLang="zh-CN" dirty="0"/>
              <a:t>Co=AB+ (A</a:t>
            </a:r>
            <a:r>
              <a:rPr lang="zh-CN" altLang="zh-CN" dirty="0"/>
              <a:t>⊕</a:t>
            </a:r>
            <a:r>
              <a:rPr lang="en-US" altLang="zh-CN" dirty="0"/>
              <a:t>B)Ci = </a:t>
            </a:r>
            <a:r>
              <a:rPr lang="en-US" altLang="zh-CN" dirty="0" err="1"/>
              <a:t>AB+ABCi+ABCi</a:t>
            </a:r>
            <a:r>
              <a:rPr lang="en-US" altLang="zh-CN" dirty="0"/>
              <a:t> (</a:t>
            </a:r>
            <a:r>
              <a:rPr lang="zh-CN" altLang="zh-CN" dirty="0"/>
              <a:t>吸收率，加入两项</a:t>
            </a:r>
            <a:r>
              <a:rPr lang="en-US" altLang="zh-CN" dirty="0" err="1"/>
              <a:t>ABCi</a:t>
            </a:r>
            <a:r>
              <a:rPr lang="en-US" altLang="zh-CN" dirty="0"/>
              <a:t>)+ (/AB+A/B)*Ci (</a:t>
            </a:r>
            <a:r>
              <a:rPr lang="zh-CN" altLang="zh-CN" dirty="0"/>
              <a:t>展开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en-US" altLang="zh-CN" dirty="0"/>
              <a:t>  = AB + (</a:t>
            </a:r>
            <a:r>
              <a:rPr lang="en-US" altLang="zh-CN" dirty="0" err="1"/>
              <a:t>ABCi</a:t>
            </a:r>
            <a:r>
              <a:rPr lang="en-US" altLang="zh-CN" dirty="0"/>
              <a:t> + /</a:t>
            </a:r>
            <a:r>
              <a:rPr lang="en-US" altLang="zh-CN" dirty="0" err="1"/>
              <a:t>ABCi</a:t>
            </a:r>
            <a:r>
              <a:rPr lang="en-US" altLang="zh-CN" dirty="0"/>
              <a:t>) + (ABC + A/</a:t>
            </a:r>
            <a:r>
              <a:rPr lang="en-US" altLang="zh-CN" dirty="0" err="1"/>
              <a:t>BCi</a:t>
            </a:r>
            <a:r>
              <a:rPr lang="en-US" altLang="zh-CN" dirty="0"/>
              <a:t>) = AB + </a:t>
            </a:r>
            <a:r>
              <a:rPr lang="en-US" altLang="zh-CN" dirty="0" err="1"/>
              <a:t>BCi</a:t>
            </a:r>
            <a:r>
              <a:rPr lang="en-US" altLang="zh-CN" dirty="0"/>
              <a:t> + </a:t>
            </a:r>
            <a:r>
              <a:rPr lang="en-US" altLang="zh-CN" dirty="0" err="1"/>
              <a:t>ACi</a:t>
            </a:r>
            <a:r>
              <a:rPr lang="en-US" altLang="zh-CN" dirty="0"/>
              <a:t> </a:t>
            </a:r>
            <a:r>
              <a:rPr lang="zh-CN" altLang="zh-CN" dirty="0"/>
              <a:t>（</a:t>
            </a:r>
            <a:r>
              <a:rPr lang="en-US" altLang="zh-CN" dirty="0"/>
              <a:t>A+/A=1,</a:t>
            </a:r>
            <a:r>
              <a:rPr lang="zh-CN" altLang="zh-CN" dirty="0"/>
              <a:t>证毕）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zh-CN" altLang="en-US" dirty="0"/>
              <a:t>的证明参见</a:t>
            </a:r>
            <a:r>
              <a:rPr lang="en-US" altLang="zh-CN" dirty="0"/>
              <a:t>PPT08 page11</a:t>
            </a:r>
            <a:endParaRPr lang="zh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063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请注意</a:t>
            </a:r>
            <a:r>
              <a:rPr kumimoji="1" lang="en-US" altLang="zh-CN" dirty="0"/>
              <a:t>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L2</a:t>
            </a:r>
            <a:r>
              <a:rPr kumimoji="1" lang="zh-CN" altLang="en-US" dirty="0"/>
              <a:t>，全为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的两个与门必须要接，否则出现输入为“高阻不确定态”，导致输出为“不确定态”</a:t>
            </a:r>
          </a:p>
          <a:p>
            <a:r>
              <a:rPr kumimoji="1" lang="zh-CN" altLang="en-US" dirty="0"/>
              <a:t>这里在与门中画</a:t>
            </a:r>
            <a:r>
              <a:rPr kumimoji="1" lang="en-US" altLang="zh-CN" dirty="0"/>
              <a:t>X</a:t>
            </a:r>
            <a:r>
              <a:rPr kumimoji="1" lang="zh-CN" altLang="en-US" dirty="0"/>
              <a:t>表示从</a:t>
            </a:r>
            <a:r>
              <a:rPr kumimoji="1" lang="en-US" altLang="zh-CN" dirty="0"/>
              <a:t>1-10</a:t>
            </a:r>
            <a:r>
              <a:rPr kumimoji="1" lang="zh-CN" altLang="en-US" dirty="0"/>
              <a:t>全部都接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745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10_PLD(1)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P189-195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PLD</a:t>
            </a:r>
          </a:p>
          <a:p>
            <a:pPr lvl="1"/>
            <a:r>
              <a:rPr lang="zh-CN" altLang="en-US" dirty="0"/>
              <a:t>基本结构</a:t>
            </a:r>
          </a:p>
          <a:p>
            <a:pPr lvl="1"/>
            <a:r>
              <a:rPr lang="zh-CN" altLang="en-US" dirty="0"/>
              <a:t>实现组合逻辑电路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8C176-119F-5533-A671-BE75984B6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可编程逻辑器件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E8A11-A394-BB68-81C0-7E254EFB6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261687" cy="5947119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dirty="0"/>
              <a:t>可编程逻辑器件（</a:t>
            </a:r>
            <a:r>
              <a:rPr lang="en-US" altLang="zh-CN" dirty="0"/>
              <a:t>Programmable Logic Device</a:t>
            </a:r>
            <a:r>
              <a:rPr lang="zh-CN" altLang="en-US" dirty="0"/>
              <a:t>，简称</a:t>
            </a:r>
            <a:r>
              <a:rPr lang="en-US" altLang="zh-CN" dirty="0"/>
              <a:t>PLD</a:t>
            </a:r>
            <a:r>
              <a:rPr lang="zh-CN" altLang="en-US" dirty="0"/>
              <a:t>）是一种可以由用户定义和设置逻辑功能的器件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与中小规模通用逻辑器件相比，具有集成度高、速度快、功耗低、可靠性高等优点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与其他专用集成电路相比，具有产品开发周期短、用户投资风险小、小批量生产成本低等优势</a:t>
            </a:r>
          </a:p>
          <a:p>
            <a:pPr>
              <a:lnSpc>
                <a:spcPct val="105000"/>
              </a:lnSpc>
            </a:pPr>
            <a:endParaRPr lang="en-US" altLang="zh-CN" dirty="0"/>
          </a:p>
          <a:p>
            <a:pPr>
              <a:lnSpc>
                <a:spcPct val="105000"/>
              </a:lnSpc>
            </a:pPr>
            <a:r>
              <a:rPr lang="zh-CN" altLang="en-US" dirty="0"/>
              <a:t>按集成度</a:t>
            </a:r>
            <a:r>
              <a:rPr lang="en-US" altLang="zh-CN" dirty="0"/>
              <a:t>PLD</a:t>
            </a:r>
            <a:r>
              <a:rPr lang="zh-CN" altLang="en-US" dirty="0"/>
              <a:t>可分为</a:t>
            </a:r>
          </a:p>
          <a:p>
            <a:pPr lvl="1">
              <a:lnSpc>
                <a:spcPct val="105000"/>
              </a:lnSpc>
            </a:pPr>
            <a:r>
              <a:rPr lang="zh-CN" altLang="en-US" dirty="0"/>
              <a:t>低密度</a:t>
            </a:r>
            <a:r>
              <a:rPr lang="en-US" altLang="zh-CN" dirty="0"/>
              <a:t>PLD</a:t>
            </a:r>
            <a:r>
              <a:rPr lang="zh-CN" altLang="en-US" dirty="0"/>
              <a:t>：</a:t>
            </a:r>
            <a:r>
              <a:rPr lang="en-US" altLang="zh-CN" dirty="0"/>
              <a:t>PROM</a:t>
            </a:r>
            <a:r>
              <a:rPr lang="zh-CN" altLang="en-US" dirty="0"/>
              <a:t>、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PAL</a:t>
            </a:r>
            <a:r>
              <a:rPr lang="zh-CN" altLang="en-US" dirty="0"/>
              <a:t>、</a:t>
            </a:r>
            <a:r>
              <a:rPr lang="en-US" altLang="zh-CN" dirty="0"/>
              <a:t>GAL</a:t>
            </a:r>
            <a:endParaRPr lang="zh-CN" altLang="en-US" dirty="0"/>
          </a:p>
          <a:p>
            <a:pPr lvl="1">
              <a:lnSpc>
                <a:spcPct val="105000"/>
              </a:lnSpc>
            </a:pPr>
            <a:r>
              <a:rPr lang="zh-CN" altLang="en-US" dirty="0"/>
              <a:t>高密度</a:t>
            </a:r>
            <a:r>
              <a:rPr lang="en-US" altLang="zh-CN" dirty="0"/>
              <a:t>PLD</a:t>
            </a:r>
            <a:r>
              <a:rPr lang="zh-CN" altLang="en-US" dirty="0"/>
              <a:t>：</a:t>
            </a:r>
            <a:r>
              <a:rPr lang="en-US" altLang="zh-CN" dirty="0"/>
              <a:t>CPLD</a:t>
            </a:r>
            <a:r>
              <a:rPr lang="zh-CN" altLang="en-US" dirty="0"/>
              <a:t>、</a:t>
            </a:r>
            <a:r>
              <a:rPr lang="en-US" altLang="zh-CN" dirty="0"/>
              <a:t>FPGA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CE40FA-BDE3-86BF-A6C8-0E2B127F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C14AC0-C564-655A-C3F3-0AEC7123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472F8C-4AE5-2536-F2C3-396FB49442E3}"/>
              </a:ext>
            </a:extLst>
          </p:cNvPr>
          <p:cNvSpPr txBox="1"/>
          <p:nvPr/>
        </p:nvSpPr>
        <p:spPr>
          <a:xfrm>
            <a:off x="6521450" y="5791201"/>
            <a:ext cx="295486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j-ea"/>
                <a:ea typeface="+mj-ea"/>
              </a:rPr>
              <a:t>为什么要 硬件设计软件化？</a:t>
            </a:r>
          </a:p>
        </p:txBody>
      </p:sp>
    </p:spTree>
    <p:extLst>
      <p:ext uri="{BB962C8B-B14F-4D97-AF65-F5344CB8AC3E}">
        <p14:creationId xmlns:p14="http://schemas.microsoft.com/office/powerpoint/2010/main" val="153961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6C0F5-26E8-AA98-307F-7044245E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可编程逻辑器件（</a:t>
            </a:r>
            <a:r>
              <a:rPr lang="en-US" altLang="zh-CN" dirty="0"/>
              <a:t>PLD</a:t>
            </a:r>
            <a:r>
              <a:rPr lang="zh-CN" altLang="en-US" dirty="0"/>
              <a:t>）基本结构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911B90-D5A0-AE04-6AEB-ED0B656D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6A3239-4D45-4BCD-4EE6-6B5DA121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BC5DE93-87DE-84EF-B750-0341AA282D1F}"/>
              </a:ext>
            </a:extLst>
          </p:cNvPr>
          <p:cNvSpPr txBox="1">
            <a:spLocks noChangeArrowheads="1"/>
          </p:cNvSpPr>
          <p:nvPr/>
        </p:nvSpPr>
        <p:spPr>
          <a:xfrm>
            <a:off x="749517" y="3152189"/>
            <a:ext cx="3698844" cy="271462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输入电路</a:t>
            </a:r>
          </a:p>
          <a:p>
            <a:pPr lvl="1"/>
            <a:r>
              <a:rPr lang="zh-CN" altLang="en-US" dirty="0"/>
              <a:t>提供互补输入变量</a:t>
            </a:r>
            <a:r>
              <a:rPr lang="en-US" altLang="zh-CN" dirty="0"/>
              <a:t>(</a:t>
            </a:r>
            <a:r>
              <a:rPr lang="zh-CN" altLang="en-US" dirty="0"/>
              <a:t>原变量和反变量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与阵列</a:t>
            </a:r>
          </a:p>
          <a:p>
            <a:pPr lvl="1"/>
            <a:r>
              <a:rPr lang="zh-CN" altLang="en-US" dirty="0"/>
              <a:t>产生逻辑函数所需的乘积项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EE29C8C-A529-7EDA-2475-0AC9DA1A1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517" y="3152189"/>
            <a:ext cx="4272657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或阵列</a:t>
            </a:r>
          </a:p>
          <a:p>
            <a:pPr lvl="1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选择乘积项，形成与或式，实现逻辑函数</a:t>
            </a:r>
          </a:p>
          <a:p>
            <a:r>
              <a:rPr lang="zh-CN" altLang="en-US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输出电路</a:t>
            </a:r>
          </a:p>
          <a:p>
            <a:pPr lvl="1"/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提供不同的输出方式</a:t>
            </a: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AA33D41A-ABF6-239D-ED18-F38E19689C89}"/>
              </a:ext>
            </a:extLst>
          </p:cNvPr>
          <p:cNvGrpSpPr>
            <a:grpSpLocks/>
          </p:cNvGrpSpPr>
          <p:nvPr/>
        </p:nvGrpSpPr>
        <p:grpSpPr bwMode="auto">
          <a:xfrm>
            <a:off x="1287647" y="1186864"/>
            <a:ext cx="7483475" cy="1547812"/>
            <a:chOff x="570" y="2863"/>
            <a:chExt cx="4714" cy="975"/>
          </a:xfrm>
        </p:grpSpPr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EFEC1B0B-F9D1-E3CA-4EBB-285B47482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" y="3087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B9D0278A-5329-1F94-269E-2971AD901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" y="295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输入</a:t>
              </a: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1A074AEA-E11E-883A-428F-E490FBD52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4" y="2954"/>
              <a:ext cx="45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输出</a:t>
              </a:r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F3B53634-F093-3CBF-3A88-59482652C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2863"/>
              <a:ext cx="544" cy="7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与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阵列</a:t>
              </a:r>
            </a:p>
          </p:txBody>
        </p:sp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241E87EB-280A-38DE-8F4F-839AE84A5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2865"/>
              <a:ext cx="544" cy="7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或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阵列</a:t>
              </a:r>
            </a:p>
          </p:txBody>
        </p: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2F966611-E233-4C87-2EB1-F0033AC97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2863"/>
              <a:ext cx="544" cy="7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输入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>
                  <a:latin typeface="Arial" panose="020B0604020202020204" pitchFamily="34" charset="0"/>
                </a:rPr>
                <a:t>电路</a:t>
              </a: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E641C60B-7F7A-74A5-D183-B4760723F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" y="2864"/>
              <a:ext cx="544" cy="7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dirty="0">
                  <a:latin typeface="Arial" panose="020B0604020202020204" pitchFamily="34" charset="0"/>
                </a:rPr>
                <a:t>输出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dirty="0">
                  <a:latin typeface="Arial" panose="020B0604020202020204" pitchFamily="34" charset="0"/>
                </a:rPr>
                <a:t>电路</a:t>
              </a:r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685B35B3-CEB5-37CD-F994-FFE915B07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3249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E0A2E14E-34FA-4D1E-E65F-49C616E74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" y="3249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7A06F408-1E2A-09D6-BD4A-BB8752DA7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2" y="3249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CF608BEA-D1B9-7B3D-8760-489508C90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4" y="3087"/>
              <a:ext cx="3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E00B91F7-FC11-005A-D71D-184AA25BF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3835"/>
              <a:ext cx="35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" name="Group 18">
              <a:extLst>
                <a:ext uri="{FF2B5EF4-FFF2-40B4-BE49-F238E27FC236}">
                  <a16:creationId xmlns:a16="http://schemas.microsoft.com/office/drawing/2014/main" id="{6F9048F4-00B5-6A45-75BD-4FF80A931F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3" y="3430"/>
              <a:ext cx="3571" cy="408"/>
              <a:chOff x="1133" y="3498"/>
              <a:chExt cx="3571" cy="340"/>
            </a:xfrm>
          </p:grpSpPr>
          <p:sp>
            <p:nvSpPr>
              <p:cNvPr id="26" name="Line 19">
                <a:extLst>
                  <a:ext uri="{FF2B5EF4-FFF2-40B4-BE49-F238E27FC236}">
                    <a16:creationId xmlns:a16="http://schemas.microsoft.com/office/drawing/2014/main" id="{B9297EA4-FE83-4D34-AE42-D0CD19160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498"/>
                <a:ext cx="0" cy="3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20">
                <a:extLst>
                  <a:ext uri="{FF2B5EF4-FFF2-40B4-BE49-F238E27FC236}">
                    <a16:creationId xmlns:a16="http://schemas.microsoft.com/office/drawing/2014/main" id="{5BB64FFC-4DFA-7F9C-272A-0614B01D72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0" y="3498"/>
                <a:ext cx="21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21">
                <a:extLst>
                  <a:ext uri="{FF2B5EF4-FFF2-40B4-BE49-F238E27FC236}">
                    <a16:creationId xmlns:a16="http://schemas.microsoft.com/office/drawing/2014/main" id="{64EC379F-B1F9-33E5-F6F7-D2E68FE37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3" y="3498"/>
                <a:ext cx="0" cy="3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Line 22">
                <a:extLst>
                  <a:ext uri="{FF2B5EF4-FFF2-40B4-BE49-F238E27FC236}">
                    <a16:creationId xmlns:a16="http://schemas.microsoft.com/office/drawing/2014/main" id="{96C2FE9C-4562-75B4-198B-1A3A578A6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4" y="3498"/>
                <a:ext cx="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7F9247F-3902-4D97-6506-25BB62B40F41}"/>
              </a:ext>
            </a:extLst>
          </p:cNvPr>
          <p:cNvSpPr txBox="1"/>
          <p:nvPr/>
        </p:nvSpPr>
        <p:spPr>
          <a:xfrm>
            <a:off x="2637296" y="5857289"/>
            <a:ext cx="702255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j-ea"/>
                <a:ea typeface="+mj-ea"/>
              </a:rPr>
              <a:t>一个任意组合的与阵列：形成所有最小项</a:t>
            </a:r>
            <a:endParaRPr kumimoji="1" lang="en-US" altLang="zh-CN" dirty="0">
              <a:latin typeface="+mj-ea"/>
              <a:ea typeface="+mj-ea"/>
            </a:endParaRPr>
          </a:p>
          <a:p>
            <a:r>
              <a:rPr kumimoji="1" lang="zh-CN" altLang="en-US" dirty="0">
                <a:latin typeface="+mj-ea"/>
                <a:ea typeface="+mj-ea"/>
              </a:rPr>
              <a:t>一个任意组合的或阵列：任意逻辑函数可以表示为若干最小项的和</a:t>
            </a:r>
          </a:p>
        </p:txBody>
      </p:sp>
    </p:spTree>
    <p:extLst>
      <p:ext uri="{BB962C8B-B14F-4D97-AF65-F5344CB8AC3E}">
        <p14:creationId xmlns:p14="http://schemas.microsoft.com/office/powerpoint/2010/main" val="52228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1875E-7BD7-B97A-BD64-E9ECE2CE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PLD</a:t>
            </a:r>
            <a:r>
              <a:rPr lang="zh-CN" altLang="en-US" dirty="0"/>
              <a:t>中逻辑符号表示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734FC3-8EB1-F719-BBF1-657FD403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6CA939-2997-9184-3C3D-57A7916C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B2CE83-362F-5D71-79F7-26B876119E52}"/>
              </a:ext>
            </a:extLst>
          </p:cNvPr>
          <p:cNvSpPr txBox="1">
            <a:spLocks noChangeArrowheads="1"/>
          </p:cNvSpPr>
          <p:nvPr/>
        </p:nvSpPr>
        <p:spPr>
          <a:xfrm>
            <a:off x="455612" y="1317403"/>
            <a:ext cx="1990725" cy="7143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与门：</a:t>
            </a:r>
            <a:endParaRPr kumimoji="1" lang="zh-CN" altLang="en-US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5EE2F78-7911-E7CB-6ACE-A54D30BA168D}"/>
              </a:ext>
            </a:extLst>
          </p:cNvPr>
          <p:cNvGrpSpPr>
            <a:grpSpLocks/>
          </p:cNvGrpSpPr>
          <p:nvPr/>
        </p:nvGrpSpPr>
        <p:grpSpPr bwMode="auto">
          <a:xfrm>
            <a:off x="2481262" y="5097241"/>
            <a:ext cx="2376488" cy="862012"/>
            <a:chOff x="611" y="2989"/>
            <a:chExt cx="1906" cy="692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0C12FB8-6432-27C2-DCBB-E5FFA63FB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8" y="3283"/>
              <a:ext cx="42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336E02CE-5E42-5B99-F62A-CEA81BFB7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4" y="3122"/>
              <a:ext cx="607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D6EBF28-375B-D84F-BD62-7D8C042FD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469"/>
              <a:ext cx="43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91106537-8FC5-767B-4286-27A7623A9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406"/>
              <a:ext cx="112" cy="113"/>
            </a:xfrm>
            <a:prstGeom prst="ellips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2722E08A-2273-7739-1034-0BD80CAF48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246" y="3086"/>
              <a:ext cx="459" cy="400"/>
            </a:xfrm>
            <a:prstGeom prst="triangle">
              <a:avLst>
                <a:gd name="adj" fmla="val 50000"/>
              </a:avLst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9A78D3D-D57C-19CA-2D84-44FEE2ABA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3171"/>
              <a:ext cx="189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0D1E6FBF-32CB-B82C-4B80-9C0483094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8" y="3494"/>
              <a:ext cx="18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endParaRPr lang="en-US" altLang="zh-CN" sz="2400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5FCCE99B-1859-C076-7E49-4D196898F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7" y="2989"/>
              <a:ext cx="189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2C0F738C-50A3-AB74-74AA-8A8BCC65F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3352"/>
              <a:ext cx="189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45A87519-5DF2-6073-D4A7-D5D929862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7" y="337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39465FFA-DF2C-3869-3E26-E1C2FF10AB32}"/>
              </a:ext>
            </a:extLst>
          </p:cNvPr>
          <p:cNvGrpSpPr>
            <a:grpSpLocks/>
          </p:cNvGrpSpPr>
          <p:nvPr/>
        </p:nvGrpSpPr>
        <p:grpSpPr bwMode="auto">
          <a:xfrm>
            <a:off x="5856287" y="5286153"/>
            <a:ext cx="209550" cy="206375"/>
            <a:chOff x="927" y="1713"/>
            <a:chExt cx="84" cy="82"/>
          </a:xfrm>
        </p:grpSpPr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5E8C6372-1B19-A384-22DD-07772BBC9C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7" y="1713"/>
              <a:ext cx="79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7E12C9F-7853-52F8-0263-CEBFB1BCF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1715"/>
              <a:ext cx="8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Oval 18">
            <a:extLst>
              <a:ext uri="{FF2B5EF4-FFF2-40B4-BE49-F238E27FC236}">
                <a16:creationId xmlns:a16="http://schemas.microsoft.com/office/drawing/2014/main" id="{D21DA756-4A28-C667-1BD8-77CC96E9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212" y="4897216"/>
            <a:ext cx="127000" cy="1270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9D4295B6-8552-C0A5-FFCE-E6A810E16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0" y="4284441"/>
            <a:ext cx="2443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标记     连接方式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9793129E-E993-88A0-D41D-F0D0D8339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7" y="514327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编程连接</a:t>
            </a: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9EFE7FF4-9BA9-3E42-085E-2900625E4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2737" y="4711478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固定连接</a:t>
            </a: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E8E3F067-E744-3FF1-3D5C-36AFE5FDF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25" y="5589366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未连接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594B3BC8-466E-BE29-7260-3E663DBB9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462" y="5571903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>
                <a:latin typeface="Arial" panose="020B0604020202020204" pitchFamily="34" charset="0"/>
              </a:rPr>
              <a:t>空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E17FE7F1-0BFC-1101-B7C2-7A99E180C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2" y="4268566"/>
            <a:ext cx="2665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728701D7-669F-18CE-BD77-A043EBF12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2" y="4749578"/>
            <a:ext cx="2665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DA77DCF5-D100-CAB8-146A-3FABE101F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2" y="6068791"/>
            <a:ext cx="2665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CAFAB864-BF5B-31F1-343F-86E4A7A177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225" y="4268566"/>
            <a:ext cx="0" cy="180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8ADC0C19-42F5-F74E-746E-723DBE9AD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2" y="5194078"/>
            <a:ext cx="2665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273B5361-9099-EC5D-A3C3-50DBC6F9E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2" y="5605241"/>
            <a:ext cx="26654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" name="Group 30">
            <a:extLst>
              <a:ext uri="{FF2B5EF4-FFF2-40B4-BE49-F238E27FC236}">
                <a16:creationId xmlns:a16="http://schemas.microsoft.com/office/drawing/2014/main" id="{2FEB8352-1D6E-B2FF-ACD0-90675A0B509D}"/>
              </a:ext>
            </a:extLst>
          </p:cNvPr>
          <p:cNvGrpSpPr>
            <a:grpSpLocks/>
          </p:cNvGrpSpPr>
          <p:nvPr/>
        </p:nvGrpSpPr>
        <p:grpSpPr bwMode="auto">
          <a:xfrm>
            <a:off x="2538412" y="3366866"/>
            <a:ext cx="2414588" cy="757237"/>
            <a:chOff x="1406" y="2183"/>
            <a:chExt cx="1521" cy="477"/>
          </a:xfrm>
        </p:grpSpPr>
        <p:grpSp>
          <p:nvGrpSpPr>
            <p:cNvPr id="34" name="Group 31">
              <a:extLst>
                <a:ext uri="{FF2B5EF4-FFF2-40B4-BE49-F238E27FC236}">
                  <a16:creationId xmlns:a16="http://schemas.microsoft.com/office/drawing/2014/main" id="{EE359C93-A5DB-0218-E61D-F8AAF149F5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5" y="2183"/>
              <a:ext cx="403" cy="348"/>
              <a:chOff x="711" y="1321"/>
              <a:chExt cx="526" cy="816"/>
            </a:xfrm>
          </p:grpSpPr>
          <p:sp>
            <p:nvSpPr>
              <p:cNvPr id="45" name="Line 32">
                <a:extLst>
                  <a:ext uri="{FF2B5EF4-FFF2-40B4-BE49-F238E27FC236}">
                    <a16:creationId xmlns:a16="http://schemas.microsoft.com/office/drawing/2014/main" id="{BBBF49F1-BDF9-9553-6966-16CC83581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7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Line 33">
                <a:extLst>
                  <a:ext uri="{FF2B5EF4-FFF2-40B4-BE49-F238E27FC236}">
                    <a16:creationId xmlns:a16="http://schemas.microsoft.com/office/drawing/2014/main" id="{D53D78F4-9C09-8FD8-1B42-2E1927C14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9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7" name="Line 34">
                <a:extLst>
                  <a:ext uri="{FF2B5EF4-FFF2-40B4-BE49-F238E27FC236}">
                    <a16:creationId xmlns:a16="http://schemas.microsoft.com/office/drawing/2014/main" id="{CD057D76-55F5-E9CA-C83D-1DDBAE38DA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35" name="Oval 35">
              <a:extLst>
                <a:ext uri="{FF2B5EF4-FFF2-40B4-BE49-F238E27FC236}">
                  <a16:creationId xmlns:a16="http://schemas.microsoft.com/office/drawing/2014/main" id="{A3C8916E-30D9-1D08-4A0D-AF0E75395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2323"/>
              <a:ext cx="64" cy="6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36" name="Group 36">
              <a:extLst>
                <a:ext uri="{FF2B5EF4-FFF2-40B4-BE49-F238E27FC236}">
                  <a16:creationId xmlns:a16="http://schemas.microsoft.com/office/drawing/2014/main" id="{EDC708B5-E1D6-B5D1-DAA6-A0EDD7E355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2311"/>
              <a:ext cx="107" cy="104"/>
              <a:chOff x="927" y="1713"/>
              <a:chExt cx="84" cy="82"/>
            </a:xfrm>
          </p:grpSpPr>
          <p:sp>
            <p:nvSpPr>
              <p:cNvPr id="43" name="Line 37">
                <a:extLst>
                  <a:ext uri="{FF2B5EF4-FFF2-40B4-BE49-F238E27FC236}">
                    <a16:creationId xmlns:a16="http://schemas.microsoft.com/office/drawing/2014/main" id="{E016508D-90B7-3E26-C52D-966E1E49A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38">
                <a:extLst>
                  <a:ext uri="{FF2B5EF4-FFF2-40B4-BE49-F238E27FC236}">
                    <a16:creationId xmlns:a16="http://schemas.microsoft.com/office/drawing/2014/main" id="{A7C585E1-AE52-C927-F8A3-4EA0EE670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Rectangle 39">
              <a:extLst>
                <a:ext uri="{FF2B5EF4-FFF2-40B4-BE49-F238E27FC236}">
                  <a16:creationId xmlns:a16="http://schemas.microsoft.com/office/drawing/2014/main" id="{C1D60C91-EBB1-0A01-B697-62F5007E1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3" y="2500"/>
              <a:ext cx="17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X</a:t>
              </a:r>
            </a:p>
          </p:txBody>
        </p:sp>
        <p:sp>
          <p:nvSpPr>
            <p:cNvPr id="38" name="Rectangle 40">
              <a:extLst>
                <a:ext uri="{FF2B5EF4-FFF2-40B4-BE49-F238E27FC236}">
                  <a16:creationId xmlns:a16="http://schemas.microsoft.com/office/drawing/2014/main" id="{6EA7789F-949D-CAC9-060C-45C3C0D62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2513"/>
              <a:ext cx="1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Y</a:t>
              </a:r>
            </a:p>
          </p:txBody>
        </p:sp>
        <p:sp>
          <p:nvSpPr>
            <p:cNvPr id="39" name="Rectangle 41">
              <a:extLst>
                <a:ext uri="{FF2B5EF4-FFF2-40B4-BE49-F238E27FC236}">
                  <a16:creationId xmlns:a16="http://schemas.microsoft.com/office/drawing/2014/main" id="{F58E9249-C5E3-C033-38A7-36FFB9B50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0" y="2513"/>
              <a:ext cx="1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Z</a:t>
              </a: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58E7E0D4-997E-5AD3-5852-10114FB5E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270"/>
              <a:ext cx="138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F</a:t>
              </a:r>
            </a:p>
          </p:txBody>
        </p:sp>
        <p:sp>
          <p:nvSpPr>
            <p:cNvPr id="41" name="Line 43">
              <a:extLst>
                <a:ext uri="{FF2B5EF4-FFF2-40B4-BE49-F238E27FC236}">
                  <a16:creationId xmlns:a16="http://schemas.microsoft.com/office/drawing/2014/main" id="{372712A8-2469-2346-D386-0C3F384E9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6" y="2365"/>
              <a:ext cx="1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AutoShape 44">
              <a:extLst>
                <a:ext uri="{FF2B5EF4-FFF2-40B4-BE49-F238E27FC236}">
                  <a16:creationId xmlns:a16="http://schemas.microsoft.com/office/drawing/2014/main" id="{05D1CF4D-D522-EC92-C988-A11504E2CC8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43" y="2195"/>
              <a:ext cx="332" cy="331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62BDCBB0-CC22-92E1-4895-9B426CBFA79E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1280891"/>
            <a:ext cx="2378075" cy="758825"/>
            <a:chOff x="1429" y="867"/>
            <a:chExt cx="1498" cy="478"/>
          </a:xfrm>
        </p:grpSpPr>
        <p:grpSp>
          <p:nvGrpSpPr>
            <p:cNvPr id="49" name="Group 46">
              <a:extLst>
                <a:ext uri="{FF2B5EF4-FFF2-40B4-BE49-F238E27FC236}">
                  <a16:creationId xmlns:a16="http://schemas.microsoft.com/office/drawing/2014/main" id="{AB12749E-8D5C-C1BA-E057-4952746053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3" y="867"/>
              <a:ext cx="404" cy="348"/>
              <a:chOff x="711" y="1321"/>
              <a:chExt cx="526" cy="816"/>
            </a:xfrm>
          </p:grpSpPr>
          <p:sp>
            <p:nvSpPr>
              <p:cNvPr id="60" name="Line 47">
                <a:extLst>
                  <a:ext uri="{FF2B5EF4-FFF2-40B4-BE49-F238E27FC236}">
                    <a16:creationId xmlns:a16="http://schemas.microsoft.com/office/drawing/2014/main" id="{4B5B1F0E-B18D-97FC-328A-79C12F2C0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7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" name="Line 48">
                <a:extLst>
                  <a:ext uri="{FF2B5EF4-FFF2-40B4-BE49-F238E27FC236}">
                    <a16:creationId xmlns:a16="http://schemas.microsoft.com/office/drawing/2014/main" id="{CFE8D593-B7C4-B6F7-001D-8FB0DB958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0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2" name="Line 49">
                <a:extLst>
                  <a:ext uri="{FF2B5EF4-FFF2-40B4-BE49-F238E27FC236}">
                    <a16:creationId xmlns:a16="http://schemas.microsoft.com/office/drawing/2014/main" id="{CC36A116-E42C-83AE-BA2B-3DB2D6880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50" name="Oval 50">
              <a:extLst>
                <a:ext uri="{FF2B5EF4-FFF2-40B4-BE49-F238E27FC236}">
                  <a16:creationId xmlns:a16="http://schemas.microsoft.com/office/drawing/2014/main" id="{04F091D6-C93D-DA71-1482-5AA60D6EE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" y="1010"/>
              <a:ext cx="65" cy="6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9CB9E2BB-3651-DA12-EEBC-09446C65A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1" y="989"/>
              <a:ext cx="107" cy="104"/>
              <a:chOff x="927" y="1713"/>
              <a:chExt cx="84" cy="82"/>
            </a:xfrm>
          </p:grpSpPr>
          <p:sp>
            <p:nvSpPr>
              <p:cNvPr id="58" name="Line 52">
                <a:extLst>
                  <a:ext uri="{FF2B5EF4-FFF2-40B4-BE49-F238E27FC236}">
                    <a16:creationId xmlns:a16="http://schemas.microsoft.com/office/drawing/2014/main" id="{78FFE4DD-428D-48D9-B263-409A690FF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53">
                <a:extLst>
                  <a:ext uri="{FF2B5EF4-FFF2-40B4-BE49-F238E27FC236}">
                    <a16:creationId xmlns:a16="http://schemas.microsoft.com/office/drawing/2014/main" id="{F64666FB-64AB-F58D-F971-8EE193131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" name="Rectangle 54">
              <a:extLst>
                <a:ext uri="{FF2B5EF4-FFF2-40B4-BE49-F238E27FC236}">
                  <a16:creationId xmlns:a16="http://schemas.microsoft.com/office/drawing/2014/main" id="{4B29B97D-07CF-1FFC-B966-24E5281ED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185"/>
              <a:ext cx="17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53" name="Rectangle 55">
              <a:extLst>
                <a:ext uri="{FF2B5EF4-FFF2-40B4-BE49-F238E27FC236}">
                  <a16:creationId xmlns:a16="http://schemas.microsoft.com/office/drawing/2014/main" id="{2B47EEF9-C1F0-717D-E78D-C61BEE621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198"/>
              <a:ext cx="128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54" name="Rectangle 56">
              <a:extLst>
                <a:ext uri="{FF2B5EF4-FFF2-40B4-BE49-F238E27FC236}">
                  <a16:creationId xmlns:a16="http://schemas.microsoft.com/office/drawing/2014/main" id="{01648D65-EF6E-4E7D-363A-279284DAC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1198"/>
              <a:ext cx="129" cy="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C</a:t>
              </a:r>
            </a:p>
          </p:txBody>
        </p:sp>
        <p:sp>
          <p:nvSpPr>
            <p:cNvPr id="55" name="Rectangle 57">
              <a:extLst>
                <a:ext uri="{FF2B5EF4-FFF2-40B4-BE49-F238E27FC236}">
                  <a16:creationId xmlns:a16="http://schemas.microsoft.com/office/drawing/2014/main" id="{0DC75E17-28D0-A1F3-E456-867E6F7ED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935"/>
              <a:ext cx="138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56" name="Line 58">
              <a:extLst>
                <a:ext uri="{FF2B5EF4-FFF2-40B4-BE49-F238E27FC236}">
                  <a16:creationId xmlns:a16="http://schemas.microsoft.com/office/drawing/2014/main" id="{7DB9ECFF-083E-607A-CAB5-3B0A46C7E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1036"/>
              <a:ext cx="1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AutoShape 59">
              <a:extLst>
                <a:ext uri="{FF2B5EF4-FFF2-40B4-BE49-F238E27FC236}">
                  <a16:creationId xmlns:a16="http://schemas.microsoft.com/office/drawing/2014/main" id="{48DE5612-827A-EEB0-CDB5-D8F2F8D9A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896"/>
              <a:ext cx="312" cy="295"/>
            </a:xfrm>
            <a:prstGeom prst="flowChartDelay">
              <a:avLst/>
            </a:prstGeom>
            <a:solidFill>
              <a:schemeClr val="bg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9900FF"/>
                </a:solidFill>
              </a:endParaRPr>
            </a:p>
          </p:txBody>
        </p:sp>
      </p:grpSp>
      <p:sp>
        <p:nvSpPr>
          <p:cNvPr id="63" name="Rectangle 60">
            <a:extLst>
              <a:ext uri="{FF2B5EF4-FFF2-40B4-BE49-F238E27FC236}">
                <a16:creationId xmlns:a16="http://schemas.microsoft.com/office/drawing/2014/main" id="{933A9E37-2597-DC5F-0C65-31AE80504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650" y="1209453"/>
            <a:ext cx="31908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Aft>
                <a:spcPct val="0"/>
              </a:spcAft>
              <a:buFontTx/>
              <a:buNone/>
            </a:pPr>
            <a:r>
              <a:rPr lang="en-US" altLang="zh-CN" sz="4400"/>
              <a:t>=</a:t>
            </a:r>
          </a:p>
        </p:txBody>
      </p:sp>
      <p:sp>
        <p:nvSpPr>
          <p:cNvPr id="64" name="Rectangle 61">
            <a:extLst>
              <a:ext uri="{FF2B5EF4-FFF2-40B4-BE49-F238E27FC236}">
                <a16:creationId xmlns:a16="http://schemas.microsoft.com/office/drawing/2014/main" id="{C93E5DB6-7F5F-80FC-B08C-FC46406E9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650" y="3293841"/>
            <a:ext cx="31908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Aft>
                <a:spcPct val="0"/>
              </a:spcAft>
              <a:buFontTx/>
              <a:buNone/>
            </a:pPr>
            <a:r>
              <a:rPr lang="en-US" altLang="zh-CN" sz="4400"/>
              <a:t>=</a:t>
            </a:r>
          </a:p>
        </p:txBody>
      </p:sp>
      <p:grpSp>
        <p:nvGrpSpPr>
          <p:cNvPr id="65" name="Group 62">
            <a:extLst>
              <a:ext uri="{FF2B5EF4-FFF2-40B4-BE49-F238E27FC236}">
                <a16:creationId xmlns:a16="http://schemas.microsoft.com/office/drawing/2014/main" id="{48D84908-544A-E967-1D44-38B0203ED37A}"/>
              </a:ext>
            </a:extLst>
          </p:cNvPr>
          <p:cNvGrpSpPr>
            <a:grpSpLocks/>
          </p:cNvGrpSpPr>
          <p:nvPr/>
        </p:nvGrpSpPr>
        <p:grpSpPr bwMode="auto">
          <a:xfrm>
            <a:off x="6391275" y="1172941"/>
            <a:ext cx="1887537" cy="622300"/>
            <a:chOff x="3833" y="799"/>
            <a:chExt cx="1189" cy="392"/>
          </a:xfrm>
        </p:grpSpPr>
        <p:sp>
          <p:nvSpPr>
            <p:cNvPr id="66" name="Rectangle 63">
              <a:extLst>
                <a:ext uri="{FF2B5EF4-FFF2-40B4-BE49-F238E27FC236}">
                  <a16:creationId xmlns:a16="http://schemas.microsoft.com/office/drawing/2014/main" id="{524493E4-D7E6-24A5-37ED-08F66E878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799"/>
              <a:ext cx="1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A</a:t>
              </a:r>
            </a:p>
          </p:txBody>
        </p:sp>
        <p:sp>
          <p:nvSpPr>
            <p:cNvPr id="67" name="Rectangle 64">
              <a:extLst>
                <a:ext uri="{FF2B5EF4-FFF2-40B4-BE49-F238E27FC236}">
                  <a16:creationId xmlns:a16="http://schemas.microsoft.com/office/drawing/2014/main" id="{2C77CB39-D8E6-38D8-87FF-5BB44B01F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990"/>
              <a:ext cx="12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B</a:t>
              </a:r>
            </a:p>
          </p:txBody>
        </p:sp>
        <p:sp>
          <p:nvSpPr>
            <p:cNvPr id="68" name="Rectangle 65">
              <a:extLst>
                <a:ext uri="{FF2B5EF4-FFF2-40B4-BE49-F238E27FC236}">
                  <a16:creationId xmlns:a16="http://schemas.microsoft.com/office/drawing/2014/main" id="{11A2E06E-5425-6C17-79D2-0C62C2559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949"/>
              <a:ext cx="13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69" name="AutoShape 66">
              <a:extLst>
                <a:ext uri="{FF2B5EF4-FFF2-40B4-BE49-F238E27FC236}">
                  <a16:creationId xmlns:a16="http://schemas.microsoft.com/office/drawing/2014/main" id="{B496F750-6ED6-922E-B222-DBA1469CD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" y="862"/>
              <a:ext cx="311" cy="329"/>
            </a:xfrm>
            <a:prstGeom prst="flowChartDelay">
              <a:avLst/>
            </a:prstGeom>
            <a:solidFill>
              <a:schemeClr val="bg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9900FF"/>
                </a:solidFill>
              </a:endParaRPr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CECC6CC2-E026-D10A-8F56-3AFECF84A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0" y="1037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D2DD9181-FBD0-071C-B9EA-458BD2FAC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94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5E6D1ED7-2D4E-AE4A-D9B0-165E264840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105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3" name="Group 70">
            <a:extLst>
              <a:ext uri="{FF2B5EF4-FFF2-40B4-BE49-F238E27FC236}">
                <a16:creationId xmlns:a16="http://schemas.microsoft.com/office/drawing/2014/main" id="{9B60FBBD-C079-5C1E-ECFC-4B52D3269F98}"/>
              </a:ext>
            </a:extLst>
          </p:cNvPr>
          <p:cNvGrpSpPr>
            <a:grpSpLocks/>
          </p:cNvGrpSpPr>
          <p:nvPr/>
        </p:nvGrpSpPr>
        <p:grpSpPr bwMode="auto">
          <a:xfrm>
            <a:off x="6426200" y="3298603"/>
            <a:ext cx="1847850" cy="608013"/>
            <a:chOff x="3855" y="2137"/>
            <a:chExt cx="1164" cy="383"/>
          </a:xfrm>
        </p:grpSpPr>
        <p:sp>
          <p:nvSpPr>
            <p:cNvPr id="74" name="Rectangle 71">
              <a:extLst>
                <a:ext uri="{FF2B5EF4-FFF2-40B4-BE49-F238E27FC236}">
                  <a16:creationId xmlns:a16="http://schemas.microsoft.com/office/drawing/2014/main" id="{02DDA31D-E88B-7CBB-F848-E3FAF80E0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" y="2137"/>
              <a:ext cx="15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X</a:t>
              </a:r>
            </a:p>
          </p:txBody>
        </p:sp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id="{3666BEE1-D69A-D0A0-95F0-E41F9B13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2328"/>
              <a:ext cx="12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Z</a:t>
              </a:r>
            </a:p>
          </p:txBody>
        </p:sp>
        <p:sp>
          <p:nvSpPr>
            <p:cNvPr id="76" name="Rectangle 73">
              <a:extLst>
                <a:ext uri="{FF2B5EF4-FFF2-40B4-BE49-F238E27FC236}">
                  <a16:creationId xmlns:a16="http://schemas.microsoft.com/office/drawing/2014/main" id="{51BADFCC-E593-65A1-0584-621436B2C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2250"/>
              <a:ext cx="14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F</a:t>
              </a:r>
            </a:p>
          </p:txBody>
        </p:sp>
        <p:sp>
          <p:nvSpPr>
            <p:cNvPr id="77" name="AutoShape 74">
              <a:extLst>
                <a:ext uri="{FF2B5EF4-FFF2-40B4-BE49-F238E27FC236}">
                  <a16:creationId xmlns:a16="http://schemas.microsoft.com/office/drawing/2014/main" id="{F600402E-6062-B24F-CD57-A687D8B377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18" y="2183"/>
              <a:ext cx="333" cy="331"/>
            </a:xfrm>
            <a:prstGeom prst="moon">
              <a:avLst>
                <a:gd name="adj" fmla="val 87500"/>
              </a:avLst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7A160A4C-61F7-8871-15F1-3044D77A5D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9" y="2355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77C735E1-87EA-15EA-3E06-40D88E68EF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8" y="2268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0D06FEC2-912B-C1BA-76F2-036D1E926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8" y="2425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1" name="Group 78">
            <a:extLst>
              <a:ext uri="{FF2B5EF4-FFF2-40B4-BE49-F238E27FC236}">
                <a16:creationId xmlns:a16="http://schemas.microsoft.com/office/drawing/2014/main" id="{F1A5B0EE-1BFA-158D-59C5-6E848C433589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2433416"/>
            <a:ext cx="2043112" cy="552450"/>
            <a:chOff x="3719" y="1571"/>
            <a:chExt cx="1287" cy="348"/>
          </a:xfrm>
        </p:grpSpPr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814A37F0-49AA-3150-7DCB-855666F5DB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9" y="1740"/>
              <a:ext cx="1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" name="Group 80">
              <a:extLst>
                <a:ext uri="{FF2B5EF4-FFF2-40B4-BE49-F238E27FC236}">
                  <a16:creationId xmlns:a16="http://schemas.microsoft.com/office/drawing/2014/main" id="{F8817E28-5507-8421-FA2E-32D777FE78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2" y="1571"/>
              <a:ext cx="404" cy="348"/>
              <a:chOff x="711" y="1321"/>
              <a:chExt cx="526" cy="816"/>
            </a:xfrm>
          </p:grpSpPr>
          <p:sp>
            <p:nvSpPr>
              <p:cNvPr id="94" name="Line 81">
                <a:extLst>
                  <a:ext uri="{FF2B5EF4-FFF2-40B4-BE49-F238E27FC236}">
                    <a16:creationId xmlns:a16="http://schemas.microsoft.com/office/drawing/2014/main" id="{9896DAED-9D34-F407-F269-C9680ADC6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7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5" name="Line 82">
                <a:extLst>
                  <a:ext uri="{FF2B5EF4-FFF2-40B4-BE49-F238E27FC236}">
                    <a16:creationId xmlns:a16="http://schemas.microsoft.com/office/drawing/2014/main" id="{1AC2575B-A3EA-B6E5-DB5D-EC1CC6F82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0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6" name="Line 83">
                <a:extLst>
                  <a:ext uri="{FF2B5EF4-FFF2-40B4-BE49-F238E27FC236}">
                    <a16:creationId xmlns:a16="http://schemas.microsoft.com/office/drawing/2014/main" id="{F2F492B3-2D41-4054-BFDC-2E77F8748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84" name="Group 84">
              <a:extLst>
                <a:ext uri="{FF2B5EF4-FFF2-40B4-BE49-F238E27FC236}">
                  <a16:creationId xmlns:a16="http://schemas.microsoft.com/office/drawing/2014/main" id="{713EF737-CCE1-9578-B573-AF5EBCA32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9" y="1693"/>
              <a:ext cx="107" cy="104"/>
              <a:chOff x="927" y="1713"/>
              <a:chExt cx="84" cy="82"/>
            </a:xfrm>
          </p:grpSpPr>
          <p:sp>
            <p:nvSpPr>
              <p:cNvPr id="92" name="Line 85">
                <a:extLst>
                  <a:ext uri="{FF2B5EF4-FFF2-40B4-BE49-F238E27FC236}">
                    <a16:creationId xmlns:a16="http://schemas.microsoft.com/office/drawing/2014/main" id="{8A694C52-2C87-9539-9ADB-9D75EBAD7B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86">
                <a:extLst>
                  <a:ext uri="{FF2B5EF4-FFF2-40B4-BE49-F238E27FC236}">
                    <a16:creationId xmlns:a16="http://schemas.microsoft.com/office/drawing/2014/main" id="{AED1BE8F-5D52-608A-3905-46BE746632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5" name="AutoShape 87">
              <a:extLst>
                <a:ext uri="{FF2B5EF4-FFF2-40B4-BE49-F238E27FC236}">
                  <a16:creationId xmlns:a16="http://schemas.microsoft.com/office/drawing/2014/main" id="{53B186FB-C599-E0BF-4BF6-5BC05ADF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" y="1600"/>
              <a:ext cx="312" cy="295"/>
            </a:xfrm>
            <a:prstGeom prst="flowChartDelay">
              <a:avLst/>
            </a:prstGeom>
            <a:solidFill>
              <a:schemeClr val="bg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9900FF"/>
                </a:solidFill>
              </a:endParaRPr>
            </a:p>
          </p:txBody>
        </p:sp>
        <p:grpSp>
          <p:nvGrpSpPr>
            <p:cNvPr id="86" name="Group 88">
              <a:extLst>
                <a:ext uri="{FF2B5EF4-FFF2-40B4-BE49-F238E27FC236}">
                  <a16:creationId xmlns:a16="http://schemas.microsoft.com/office/drawing/2014/main" id="{1EC2D843-2127-FE1F-F525-57D1793ECA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" y="1684"/>
              <a:ext cx="107" cy="104"/>
              <a:chOff x="927" y="1713"/>
              <a:chExt cx="84" cy="82"/>
            </a:xfrm>
          </p:grpSpPr>
          <p:sp>
            <p:nvSpPr>
              <p:cNvPr id="90" name="Line 89">
                <a:extLst>
                  <a:ext uri="{FF2B5EF4-FFF2-40B4-BE49-F238E27FC236}">
                    <a16:creationId xmlns:a16="http://schemas.microsoft.com/office/drawing/2014/main" id="{B89F3B27-E822-B361-1A17-027DD8ACA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90">
                <a:extLst>
                  <a:ext uri="{FF2B5EF4-FFF2-40B4-BE49-F238E27FC236}">
                    <a16:creationId xmlns:a16="http://schemas.microsoft.com/office/drawing/2014/main" id="{74208C1A-DDD9-2366-6551-68B36713D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7" name="Group 91">
              <a:extLst>
                <a:ext uri="{FF2B5EF4-FFF2-40B4-BE49-F238E27FC236}">
                  <a16:creationId xmlns:a16="http://schemas.microsoft.com/office/drawing/2014/main" id="{CDFF9A3F-EC6C-897B-2DCD-EDEA3C48F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7" y="1684"/>
              <a:ext cx="107" cy="104"/>
              <a:chOff x="927" y="1713"/>
              <a:chExt cx="84" cy="82"/>
            </a:xfrm>
          </p:grpSpPr>
          <p:sp>
            <p:nvSpPr>
              <p:cNvPr id="88" name="Line 92">
                <a:extLst>
                  <a:ext uri="{FF2B5EF4-FFF2-40B4-BE49-F238E27FC236}">
                    <a16:creationId xmlns:a16="http://schemas.microsoft.com/office/drawing/2014/main" id="{63014302-5C4D-FD4A-F248-1CBC84E9B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93">
                <a:extLst>
                  <a:ext uri="{FF2B5EF4-FFF2-40B4-BE49-F238E27FC236}">
                    <a16:creationId xmlns:a16="http://schemas.microsoft.com/office/drawing/2014/main" id="{FD71718B-7B45-FA76-9F10-ECD9F7408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7" name="Group 94">
            <a:extLst>
              <a:ext uri="{FF2B5EF4-FFF2-40B4-BE49-F238E27FC236}">
                <a16:creationId xmlns:a16="http://schemas.microsoft.com/office/drawing/2014/main" id="{5957C942-99BC-C8D1-4C15-1A6C61903925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2411191"/>
            <a:ext cx="2043112" cy="552450"/>
            <a:chOff x="1429" y="1557"/>
            <a:chExt cx="1287" cy="348"/>
          </a:xfrm>
        </p:grpSpPr>
        <p:sp>
          <p:nvSpPr>
            <p:cNvPr id="98" name="Line 95">
              <a:extLst>
                <a:ext uri="{FF2B5EF4-FFF2-40B4-BE49-F238E27FC236}">
                  <a16:creationId xmlns:a16="http://schemas.microsoft.com/office/drawing/2014/main" id="{6832A4F8-C789-C5BE-2634-835C05177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1726"/>
              <a:ext cx="1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9" name="Group 96">
              <a:extLst>
                <a:ext uri="{FF2B5EF4-FFF2-40B4-BE49-F238E27FC236}">
                  <a16:creationId xmlns:a16="http://schemas.microsoft.com/office/drawing/2014/main" id="{8E2C05B5-8F46-8F27-3095-880D99CBA7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3" y="1557"/>
              <a:ext cx="404" cy="348"/>
              <a:chOff x="711" y="1321"/>
              <a:chExt cx="526" cy="816"/>
            </a:xfrm>
          </p:grpSpPr>
          <p:sp>
            <p:nvSpPr>
              <p:cNvPr id="104" name="Line 97">
                <a:extLst>
                  <a:ext uri="{FF2B5EF4-FFF2-40B4-BE49-F238E27FC236}">
                    <a16:creationId xmlns:a16="http://schemas.microsoft.com/office/drawing/2014/main" id="{BE3D562D-FA1E-617F-4F5C-5CF9E2775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7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5" name="Line 98">
                <a:extLst>
                  <a:ext uri="{FF2B5EF4-FFF2-40B4-BE49-F238E27FC236}">
                    <a16:creationId xmlns:a16="http://schemas.microsoft.com/office/drawing/2014/main" id="{860322AC-ECD5-15BE-AD4E-175217E1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0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6" name="Line 99">
                <a:extLst>
                  <a:ext uri="{FF2B5EF4-FFF2-40B4-BE49-F238E27FC236}">
                    <a16:creationId xmlns:a16="http://schemas.microsoft.com/office/drawing/2014/main" id="{CC6305EE-78A2-F578-A7B3-EB5CD1A97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" y="1321"/>
                <a:ext cx="0" cy="81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00" name="AutoShape 100">
              <a:extLst>
                <a:ext uri="{FF2B5EF4-FFF2-40B4-BE49-F238E27FC236}">
                  <a16:creationId xmlns:a16="http://schemas.microsoft.com/office/drawing/2014/main" id="{9ACDDF27-84E8-EEC9-0E96-19AE2C1DA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1586"/>
              <a:ext cx="312" cy="295"/>
            </a:xfrm>
            <a:prstGeom prst="flowChartDelay">
              <a:avLst/>
            </a:prstGeom>
            <a:solidFill>
              <a:schemeClr val="bg1"/>
            </a:solidFill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9900FF"/>
                </a:solidFill>
              </a:endParaRPr>
            </a:p>
          </p:txBody>
        </p:sp>
        <p:grpSp>
          <p:nvGrpSpPr>
            <p:cNvPr id="101" name="Group 101">
              <a:extLst>
                <a:ext uri="{FF2B5EF4-FFF2-40B4-BE49-F238E27FC236}">
                  <a16:creationId xmlns:a16="http://schemas.microsoft.com/office/drawing/2014/main" id="{9EF46B69-91C6-4F8A-E0D0-166CB4559E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1630"/>
              <a:ext cx="204" cy="198"/>
              <a:chOff x="927" y="1713"/>
              <a:chExt cx="84" cy="82"/>
            </a:xfrm>
          </p:grpSpPr>
          <p:sp>
            <p:nvSpPr>
              <p:cNvPr id="102" name="Line 102">
                <a:extLst>
                  <a:ext uri="{FF2B5EF4-FFF2-40B4-BE49-F238E27FC236}">
                    <a16:creationId xmlns:a16="http://schemas.microsoft.com/office/drawing/2014/main" id="{88853801-6241-B999-CF85-4B62AC40B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27" y="1713"/>
                <a:ext cx="79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103">
                <a:extLst>
                  <a:ext uri="{FF2B5EF4-FFF2-40B4-BE49-F238E27FC236}">
                    <a16:creationId xmlns:a16="http://schemas.microsoft.com/office/drawing/2014/main" id="{4984BE50-1011-9BC9-5D7E-B6E77F878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1" y="1715"/>
                <a:ext cx="8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7" name="Rectangle 104">
            <a:extLst>
              <a:ext uri="{FF2B5EF4-FFF2-40B4-BE49-F238E27FC236}">
                <a16:creationId xmlns:a16="http://schemas.microsoft.com/office/drawing/2014/main" id="{6F19124E-FC48-862B-95F4-83A269870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650" y="2338166"/>
            <a:ext cx="31908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Aft>
                <a:spcPct val="0"/>
              </a:spcAft>
              <a:buFontTx/>
              <a:buNone/>
            </a:pPr>
            <a:r>
              <a:rPr lang="en-US" altLang="zh-CN" sz="4400"/>
              <a:t>=</a:t>
            </a:r>
          </a:p>
        </p:txBody>
      </p:sp>
      <p:sp>
        <p:nvSpPr>
          <p:cNvPr id="108" name="Rectangle 105">
            <a:extLst>
              <a:ext uri="{FF2B5EF4-FFF2-40B4-BE49-F238E27FC236}">
                <a16:creationId xmlns:a16="http://schemas.microsoft.com/office/drawing/2014/main" id="{852A91D9-A1A0-EF63-46B7-9D1ADAEEB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" y="3330353"/>
            <a:ext cx="1800225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或门：</a:t>
            </a:r>
            <a:endParaRPr kumimoji="1" lang="zh-CN" altLang="en-US"/>
          </a:p>
        </p:txBody>
      </p:sp>
      <p:sp>
        <p:nvSpPr>
          <p:cNvPr id="109" name="Rectangle 106">
            <a:extLst>
              <a:ext uri="{FF2B5EF4-FFF2-40B4-BE49-F238E27FC236}">
                <a16:creationId xmlns:a16="http://schemas.microsoft.com/office/drawing/2014/main" id="{48284042-9CB8-1971-B1AC-086A5B926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" y="4376516"/>
            <a:ext cx="44640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/>
              <a:t>互补输入缓冲器：</a:t>
            </a:r>
          </a:p>
        </p:txBody>
      </p:sp>
    </p:spTree>
    <p:extLst>
      <p:ext uri="{BB962C8B-B14F-4D97-AF65-F5344CB8AC3E}">
        <p14:creationId xmlns:p14="http://schemas.microsoft.com/office/powerpoint/2010/main" val="64187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B09F7-9609-454D-173C-DF5B586B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200" dirty="0"/>
              <a:t>低密度</a:t>
            </a:r>
            <a:r>
              <a:rPr lang="en-US" altLang="zh-CN" sz="3200" dirty="0"/>
              <a:t>PLD</a:t>
            </a:r>
            <a:r>
              <a:rPr lang="zh-CN" altLang="en-US" sz="3200" dirty="0"/>
              <a:t>的与、或阵列结构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1F90C-D3C9-5290-DED0-568394CA5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0000"/>
              </a:spcAft>
            </a:pPr>
            <a:r>
              <a:rPr lang="en-US" altLang="zh-CN" sz="2000" dirty="0">
                <a:latin typeface="Arial Narrow" panose="020B0606020202030204" pitchFamily="34" charset="0"/>
              </a:rPr>
              <a:t>PROM: Programmable Read Only Memory, </a:t>
            </a:r>
            <a:r>
              <a:rPr lang="zh-CN" altLang="en-US" sz="2000" dirty="0">
                <a:latin typeface="Arial Narrow" panose="020B0606020202030204" pitchFamily="34" charset="0"/>
              </a:rPr>
              <a:t>可编程只读存储器</a:t>
            </a:r>
          </a:p>
          <a:p>
            <a:pPr>
              <a:spcAft>
                <a:spcPct val="10000"/>
              </a:spcAft>
            </a:pPr>
            <a:r>
              <a:rPr lang="en-US" altLang="zh-CN" sz="2000" dirty="0">
                <a:latin typeface="Arial Narrow" panose="020B0606020202030204" pitchFamily="34" charset="0"/>
              </a:rPr>
              <a:t>PLA: Programmable Logic Array, </a:t>
            </a:r>
            <a:r>
              <a:rPr lang="zh-CN" altLang="en-US" sz="2000" dirty="0">
                <a:latin typeface="Arial Narrow" panose="020B0606020202030204" pitchFamily="34" charset="0"/>
              </a:rPr>
              <a:t>可编程逻辑阵列</a:t>
            </a:r>
          </a:p>
          <a:p>
            <a:pPr>
              <a:spcAft>
                <a:spcPct val="10000"/>
              </a:spcAft>
            </a:pPr>
            <a:r>
              <a:rPr lang="en-US" altLang="zh-CN" sz="2000" dirty="0">
                <a:latin typeface="Arial Narrow" panose="020B0606020202030204" pitchFamily="34" charset="0"/>
              </a:rPr>
              <a:t>PAL: Programmable Array Logic, </a:t>
            </a:r>
            <a:r>
              <a:rPr lang="zh-CN" altLang="en-US" sz="2000" dirty="0">
                <a:latin typeface="Arial Narrow" panose="020B0606020202030204" pitchFamily="34" charset="0"/>
              </a:rPr>
              <a:t>可编程阵列逻辑</a:t>
            </a:r>
          </a:p>
          <a:p>
            <a:pPr>
              <a:spcAft>
                <a:spcPct val="10000"/>
              </a:spcAft>
            </a:pPr>
            <a:r>
              <a:rPr lang="en-US" altLang="zh-CN" sz="2000" dirty="0">
                <a:latin typeface="Arial Narrow" panose="020B0606020202030204" pitchFamily="34" charset="0"/>
              </a:rPr>
              <a:t>GAL: Gate Array Logic, </a:t>
            </a:r>
            <a:r>
              <a:rPr lang="zh-CN" altLang="en-US" sz="2000" dirty="0">
                <a:latin typeface="Arial Narrow" panose="020B0606020202030204" pitchFamily="34" charset="0"/>
              </a:rPr>
              <a:t>门阵列逻辑</a:t>
            </a:r>
            <a:endParaRPr lang="en-US" altLang="zh-CN" sz="2000" dirty="0">
              <a:latin typeface="Arial Narrow" panose="020B060602020203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E30E7D-93BE-A048-5768-F14D28D79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D3E310-C017-A141-2988-BCC2ADD9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/13</a:t>
            </a:r>
            <a:endParaRPr lang="en-US" dirty="0"/>
          </a:p>
        </p:txBody>
      </p:sp>
      <p:graphicFrame>
        <p:nvGraphicFramePr>
          <p:cNvPr id="6" name="Group 31">
            <a:extLst>
              <a:ext uri="{FF2B5EF4-FFF2-40B4-BE49-F238E27FC236}">
                <a16:creationId xmlns:a16="http://schemas.microsoft.com/office/drawing/2014/main" id="{A586BC77-2D5F-57FE-8A47-8D51F56EC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066439"/>
              </p:ext>
            </p:extLst>
          </p:nvPr>
        </p:nvGraphicFramePr>
        <p:xfrm>
          <a:off x="838200" y="2340751"/>
          <a:ext cx="8229600" cy="3697287"/>
        </p:xfrm>
        <a:graphic>
          <a:graphicData uri="http://schemas.openxmlformats.org/drawingml/2006/table">
            <a:tbl>
              <a:tblPr/>
              <a:tblGrid>
                <a:gridCol w="2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PROM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PLA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PAL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GAL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8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E06511E9-79A5-5197-337C-C741615E1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518699"/>
              </p:ext>
            </p:extLst>
          </p:nvPr>
        </p:nvGraphicFramePr>
        <p:xfrm>
          <a:off x="693737" y="2764613"/>
          <a:ext cx="2884488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1430176" imgH="1924652" progId="Word.Picture.8">
                  <p:embed/>
                </p:oleObj>
              </mc:Choice>
              <mc:Fallback>
                <p:oleObj name="图片" r:id="rId3" imgW="1430176" imgH="1924652" progId="Word.Picture.8">
                  <p:embed/>
                  <p:pic>
                    <p:nvPicPr>
                      <p:cNvPr id="1435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7" y="2764613"/>
                        <a:ext cx="2884488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B916DA75-B439-9942-9599-B354691DB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056144"/>
              </p:ext>
            </p:extLst>
          </p:nvPr>
        </p:nvGraphicFramePr>
        <p:xfrm>
          <a:off x="3502025" y="2764613"/>
          <a:ext cx="2884487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5" imgW="1430176" imgH="1924652" progId="Word.Picture.8">
                  <p:embed/>
                </p:oleObj>
              </mc:Choice>
              <mc:Fallback>
                <p:oleObj name="图片" r:id="rId5" imgW="1430176" imgH="1924652" progId="Word.Picture.8">
                  <p:embed/>
                  <p:pic>
                    <p:nvPicPr>
                      <p:cNvPr id="1435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2764613"/>
                        <a:ext cx="2884487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24AC3B2D-55AD-1AD0-A5A2-7F9B8A0C1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404589"/>
              </p:ext>
            </p:extLst>
          </p:nvPr>
        </p:nvGraphicFramePr>
        <p:xfrm>
          <a:off x="6346825" y="2764613"/>
          <a:ext cx="2884487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7" imgW="1430176" imgH="1924652" progId="Word.Picture.8">
                  <p:embed/>
                </p:oleObj>
              </mc:Choice>
              <mc:Fallback>
                <p:oleObj name="图片" r:id="rId7" imgW="1430176" imgH="1924652" progId="Word.Picture.8">
                  <p:embed/>
                  <p:pic>
                    <p:nvPicPr>
                      <p:cNvPr id="1435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2764613"/>
                        <a:ext cx="2884487" cy="321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54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5BF5C-C571-303B-B8BE-E1C5D05A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/>
              <a:t>PROM</a:t>
            </a:r>
            <a:r>
              <a:rPr lang="zh-CN" altLang="en-US" dirty="0"/>
              <a:t>实现组合逻辑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22F0EC-D6C1-9AEA-C88D-1ADCAE81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F1CB67-B0F8-314A-0E42-F3818A6B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/13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A6ED0E2-5A70-4F4F-9886-26E2838D5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10" y="1678195"/>
            <a:ext cx="3959225" cy="37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4">
            <a:extLst>
              <a:ext uri="{FF2B5EF4-FFF2-40B4-BE49-F238E27FC236}">
                <a16:creationId xmlns:a16="http://schemas.microsoft.com/office/drawing/2014/main" id="{1A0661B2-EB15-E5D1-7176-B563E38772C2}"/>
              </a:ext>
            </a:extLst>
          </p:cNvPr>
          <p:cNvGrpSpPr>
            <a:grpSpLocks/>
          </p:cNvGrpSpPr>
          <p:nvPr/>
        </p:nvGrpSpPr>
        <p:grpSpPr bwMode="auto">
          <a:xfrm>
            <a:off x="1428935" y="1101933"/>
            <a:ext cx="2447925" cy="427037"/>
            <a:chOff x="340" y="3612"/>
            <a:chExt cx="1542" cy="269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F6D09C3B-22AE-8604-B3F1-9139F15F6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3612"/>
              <a:ext cx="15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dirty="0"/>
                <a:t>F1 = A·B +A</a:t>
              </a:r>
              <a:r>
                <a:rPr kumimoji="1" lang="en-US" altLang="zh-CN" dirty="0">
                  <a:latin typeface="Arial" panose="020B0604020202020204" pitchFamily="34" charset="0"/>
                </a:rPr>
                <a:t>·</a:t>
              </a:r>
              <a:r>
                <a:rPr kumimoji="1" lang="en-US" altLang="zh-CN" dirty="0"/>
                <a:t>B</a:t>
              </a:r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D7C1DDDD-2BC7-CF9C-B252-96D107BE2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634"/>
              <a:ext cx="13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AF63D3C5-3487-314B-3F6A-5CF60D2DA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3634"/>
              <a:ext cx="13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" name="Text Box 8">
            <a:extLst>
              <a:ext uri="{FF2B5EF4-FFF2-40B4-BE49-F238E27FC236}">
                <a16:creationId xmlns:a16="http://schemas.microsoft.com/office/drawing/2014/main" id="{89F2C0BA-3829-D277-93EA-EC2477D49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047" y="1101933"/>
            <a:ext cx="14747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/>
              <a:t>F3 = A·B</a:t>
            </a:r>
          </a:p>
        </p:txBody>
      </p:sp>
      <p:grpSp>
        <p:nvGrpSpPr>
          <p:cNvPr id="13" name="Group 9">
            <a:extLst>
              <a:ext uri="{FF2B5EF4-FFF2-40B4-BE49-F238E27FC236}">
                <a16:creationId xmlns:a16="http://schemas.microsoft.com/office/drawing/2014/main" id="{59768C49-94E9-BBC5-E9F8-62A094DB23E1}"/>
              </a:ext>
            </a:extLst>
          </p:cNvPr>
          <p:cNvGrpSpPr>
            <a:grpSpLocks/>
          </p:cNvGrpSpPr>
          <p:nvPr/>
        </p:nvGrpSpPr>
        <p:grpSpPr bwMode="auto">
          <a:xfrm>
            <a:off x="4129272" y="1101933"/>
            <a:ext cx="2447925" cy="427037"/>
            <a:chOff x="2245" y="3612"/>
            <a:chExt cx="1542" cy="269"/>
          </a:xfrm>
        </p:grpSpPr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18AA4716-8799-7D4E-9CF6-FEEEDB67B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612"/>
              <a:ext cx="15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/>
                <a:t>F2 = A·B +A</a:t>
              </a:r>
              <a:r>
                <a:rPr kumimoji="1" lang="en-US" altLang="zh-CN">
                  <a:latin typeface="Arial" panose="020B0604020202020204" pitchFamily="34" charset="0"/>
                </a:rPr>
                <a:t>·</a:t>
              </a:r>
              <a:r>
                <a:rPr kumimoji="1" lang="en-US" altLang="zh-CN"/>
                <a:t>B</a:t>
              </a:r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6050B11D-A310-2784-A094-106A3BDA5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3634"/>
              <a:ext cx="13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C74C61A5-BC2A-BB9D-EF48-2E5958583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3634"/>
              <a:ext cx="137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" name="Rectangle 13">
            <a:extLst>
              <a:ext uri="{FF2B5EF4-FFF2-40B4-BE49-F238E27FC236}">
                <a16:creationId xmlns:a16="http://schemas.microsoft.com/office/drawing/2014/main" id="{01A9EAF3-D83A-A0AD-270E-7D838E581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335" y="5494545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>
                <a:latin typeface="Arial" panose="020B0604020202020204" pitchFamily="34" charset="0"/>
              </a:rPr>
              <a:t>逻辑图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3FA4F9B7-A23E-166A-6C6D-7E4015CB4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222" y="481033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与阵列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4765EE3B-E7DA-8C99-B001-F6C2EE258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2072" y="2038558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或阵列</a:t>
            </a:r>
          </a:p>
        </p:txBody>
      </p:sp>
      <p:grpSp>
        <p:nvGrpSpPr>
          <p:cNvPr id="20" name="Group 16">
            <a:extLst>
              <a:ext uri="{FF2B5EF4-FFF2-40B4-BE49-F238E27FC236}">
                <a16:creationId xmlns:a16="http://schemas.microsoft.com/office/drawing/2014/main" id="{206B6ACA-0312-1B01-63F6-58C9620B14E0}"/>
              </a:ext>
            </a:extLst>
          </p:cNvPr>
          <p:cNvGrpSpPr>
            <a:grpSpLocks/>
          </p:cNvGrpSpPr>
          <p:nvPr/>
        </p:nvGrpSpPr>
        <p:grpSpPr bwMode="auto">
          <a:xfrm>
            <a:off x="5818372" y="2038558"/>
            <a:ext cx="2916238" cy="3913187"/>
            <a:chOff x="3424" y="1457"/>
            <a:chExt cx="1837" cy="2465"/>
          </a:xfrm>
        </p:grpSpPr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CD00AD4F-4D65-511B-2221-63320E9F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3634"/>
              <a:ext cx="10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Arial" panose="020B0604020202020204" pitchFamily="34" charset="0"/>
                </a:rPr>
                <a:t>简化逻辑图</a:t>
              </a:r>
            </a:p>
          </p:txBody>
        </p:sp>
        <p:pic>
          <p:nvPicPr>
            <p:cNvPr id="22" name="Picture 18">
              <a:extLst>
                <a:ext uri="{FF2B5EF4-FFF2-40B4-BE49-F238E27FC236}">
                  <a16:creationId xmlns:a16="http://schemas.microsoft.com/office/drawing/2014/main" id="{210DEBF9-A2E1-3224-3229-E5B1927F8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4" y="1891"/>
              <a:ext cx="1837" cy="1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ECCD3CFF-E253-307C-60C0-E0E2FEA2F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3" y="1457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与阵列</a:t>
              </a: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70BC336B-54A1-9C5F-6EAE-8DF381532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3" y="1457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或阵列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646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5206D-7D98-81C1-61BC-6A3DDD595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/>
              <a:t>PLA</a:t>
            </a:r>
            <a:r>
              <a:rPr lang="zh-CN" altLang="en-US" dirty="0"/>
              <a:t>实现一位全加器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C4F995-508A-F52A-2291-205041B0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19AF93-AF6E-580B-8963-13C43B73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/13</a:t>
            </a:r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B7FA9970-744D-29F4-5CCE-EF15F9D8B9CE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49360083"/>
              </p:ext>
            </p:extLst>
          </p:nvPr>
        </p:nvGraphicFramePr>
        <p:xfrm>
          <a:off x="1743371" y="4649995"/>
          <a:ext cx="26431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67893" imgH="215806" progId="Equation.3">
                  <p:embed/>
                </p:oleObj>
              </mc:Choice>
              <mc:Fallback>
                <p:oleObj name="公式" r:id="rId3" imgW="1167893" imgH="215806" progId="Equation.3">
                  <p:embed/>
                  <p:pic>
                    <p:nvPicPr>
                      <p:cNvPr id="174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371" y="4649995"/>
                        <a:ext cx="26431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>
            <a:extLst>
              <a:ext uri="{FF2B5EF4-FFF2-40B4-BE49-F238E27FC236}">
                <a16:creationId xmlns:a16="http://schemas.microsoft.com/office/drawing/2014/main" id="{4A12A160-21FA-1D7E-1F65-72E33375F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684" y="1120983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与阵列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C1BD9AB-40E5-E660-E8A7-2107C8A57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4596" y="114162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或阵列</a:t>
            </a:r>
          </a:p>
        </p:txBody>
      </p:sp>
      <p:graphicFrame>
        <p:nvGraphicFramePr>
          <p:cNvPr id="9" name="Group 6">
            <a:extLst>
              <a:ext uri="{FF2B5EF4-FFF2-40B4-BE49-F238E27FC236}">
                <a16:creationId xmlns:a16="http://schemas.microsoft.com/office/drawing/2014/main" id="{6018AB5F-B2A7-F322-CBC1-021D60DC81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0391758"/>
              </p:ext>
            </p:extLst>
          </p:nvPr>
        </p:nvGraphicFramePr>
        <p:xfrm>
          <a:off x="5164434" y="1773445"/>
          <a:ext cx="3565525" cy="2520952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128">
            <a:extLst>
              <a:ext uri="{FF2B5EF4-FFF2-40B4-BE49-F238E27FC236}">
                <a16:creationId xmlns:a16="http://schemas.microsoft.com/office/drawing/2014/main" id="{7752E655-C27D-9B9A-4528-F03C32C2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946" y="4391233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A</a:t>
            </a:r>
            <a:endParaRPr lang="en-US" altLang="zh-CN" sz="2400" baseline="-15000"/>
          </a:p>
        </p:txBody>
      </p:sp>
      <p:sp>
        <p:nvSpPr>
          <p:cNvPr id="11" name="Rectangle 129">
            <a:extLst>
              <a:ext uri="{FF2B5EF4-FFF2-40B4-BE49-F238E27FC236}">
                <a16:creationId xmlns:a16="http://schemas.microsoft.com/office/drawing/2014/main" id="{0AC330D7-921B-0F82-99D3-2DC8B0C1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546" y="4391233"/>
            <a:ext cx="2206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A</a:t>
            </a:r>
            <a:endParaRPr lang="en-US" altLang="zh-CN" sz="2400" baseline="-15000"/>
          </a:p>
        </p:txBody>
      </p:sp>
      <p:sp>
        <p:nvSpPr>
          <p:cNvPr id="12" name="Line 130">
            <a:extLst>
              <a:ext uri="{FF2B5EF4-FFF2-40B4-BE49-F238E27FC236}">
                <a16:creationId xmlns:a16="http://schemas.microsoft.com/office/drawing/2014/main" id="{77FBEA24-EDAE-62F5-133D-6622E612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546" y="4407108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31">
            <a:extLst>
              <a:ext uri="{FF2B5EF4-FFF2-40B4-BE49-F238E27FC236}">
                <a16:creationId xmlns:a16="http://schemas.microsoft.com/office/drawing/2014/main" id="{3359C846-7E6F-2CCB-7B06-4D64972DF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671" y="4407108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B</a:t>
            </a:r>
            <a:endParaRPr lang="en-US" altLang="zh-CN" sz="2400" baseline="-15000"/>
          </a:p>
        </p:txBody>
      </p:sp>
      <p:sp>
        <p:nvSpPr>
          <p:cNvPr id="14" name="Rectangle 132">
            <a:extLst>
              <a:ext uri="{FF2B5EF4-FFF2-40B4-BE49-F238E27FC236}">
                <a16:creationId xmlns:a16="http://schemas.microsoft.com/office/drawing/2014/main" id="{E3146791-6F49-128F-3A2F-4C844015D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746" y="4407108"/>
            <a:ext cx="20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B</a:t>
            </a:r>
            <a:endParaRPr lang="en-US" altLang="zh-CN" sz="2400" baseline="-15000"/>
          </a:p>
        </p:txBody>
      </p:sp>
      <p:sp>
        <p:nvSpPr>
          <p:cNvPr id="15" name="Line 133">
            <a:extLst>
              <a:ext uri="{FF2B5EF4-FFF2-40B4-BE49-F238E27FC236}">
                <a16:creationId xmlns:a16="http://schemas.microsoft.com/office/drawing/2014/main" id="{DC95B307-29D7-A38E-FB25-DAFADEBF8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8396" y="4422983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34">
            <a:extLst>
              <a:ext uri="{FF2B5EF4-FFF2-40B4-BE49-F238E27FC236}">
                <a16:creationId xmlns:a16="http://schemas.microsoft.com/office/drawing/2014/main" id="{7875CA1A-1D4D-C2B6-9340-C6220CEF2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221" y="4407108"/>
            <a:ext cx="2873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C</a:t>
            </a:r>
            <a:r>
              <a:rPr lang="en-US" altLang="zh-CN" baseline="-15000"/>
              <a:t>i</a:t>
            </a:r>
          </a:p>
        </p:txBody>
      </p:sp>
      <p:sp>
        <p:nvSpPr>
          <p:cNvPr id="17" name="Rectangle 135">
            <a:extLst>
              <a:ext uri="{FF2B5EF4-FFF2-40B4-BE49-F238E27FC236}">
                <a16:creationId xmlns:a16="http://schemas.microsoft.com/office/drawing/2014/main" id="{2AD24181-D419-A21C-B3CB-6130AAA0E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446" y="4407108"/>
            <a:ext cx="2873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400"/>
              <a:t>C</a:t>
            </a:r>
            <a:r>
              <a:rPr lang="en-US" altLang="zh-CN" baseline="-15000"/>
              <a:t>i</a:t>
            </a:r>
          </a:p>
        </p:txBody>
      </p:sp>
      <p:sp>
        <p:nvSpPr>
          <p:cNvPr id="18" name="Line 136">
            <a:extLst>
              <a:ext uri="{FF2B5EF4-FFF2-40B4-BE49-F238E27FC236}">
                <a16:creationId xmlns:a16="http://schemas.microsoft.com/office/drawing/2014/main" id="{D764D265-E2FF-95F3-6755-DBB107EE2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5796" y="4422983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37">
            <a:extLst>
              <a:ext uri="{FF2B5EF4-FFF2-40B4-BE49-F238E27FC236}">
                <a16:creationId xmlns:a16="http://schemas.microsoft.com/office/drawing/2014/main" id="{988150B1-55D6-F71C-2490-4BE320DB7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6646" y="1706770"/>
            <a:ext cx="0" cy="25558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" name="Object 138">
            <a:extLst>
              <a:ext uri="{FF2B5EF4-FFF2-40B4-BE49-F238E27FC236}">
                <a16:creationId xmlns:a16="http://schemas.microsoft.com/office/drawing/2014/main" id="{2B9CC522-272E-AB3B-7A68-542E132DF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860102"/>
              </p:ext>
            </p:extLst>
          </p:nvPr>
        </p:nvGraphicFramePr>
        <p:xfrm>
          <a:off x="1175046" y="5418345"/>
          <a:ext cx="2159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15559" imgH="215806" progId="Equation.3">
                  <p:embed/>
                </p:oleObj>
              </mc:Choice>
              <mc:Fallback>
                <p:oleObj name="公式" r:id="rId5" imgW="1015559" imgH="215806" progId="Equation.3">
                  <p:embed/>
                  <p:pic>
                    <p:nvPicPr>
                      <p:cNvPr id="17515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046" y="5418345"/>
                        <a:ext cx="2159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9">
            <a:extLst>
              <a:ext uri="{FF2B5EF4-FFF2-40B4-BE49-F238E27FC236}">
                <a16:creationId xmlns:a16="http://schemas.microsoft.com/office/drawing/2014/main" id="{1D6698B7-0180-5849-577D-8C893E208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000078"/>
              </p:ext>
            </p:extLst>
          </p:nvPr>
        </p:nvGraphicFramePr>
        <p:xfrm>
          <a:off x="1205209" y="4053095"/>
          <a:ext cx="32400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346200" imgH="228600" progId="Equation.3">
                  <p:embed/>
                </p:oleObj>
              </mc:Choice>
              <mc:Fallback>
                <p:oleObj name="公式" r:id="rId7" imgW="1346200" imgH="228600" progId="Equation.3">
                  <p:embed/>
                  <p:pic>
                    <p:nvPicPr>
                      <p:cNvPr id="17516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209" y="4053095"/>
                        <a:ext cx="32400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41">
            <a:extLst>
              <a:ext uri="{FF2B5EF4-FFF2-40B4-BE49-F238E27FC236}">
                <a16:creationId xmlns:a16="http://schemas.microsoft.com/office/drawing/2014/main" id="{6E6D8BCB-AA40-3149-A0C5-B934257C9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509" y="1921083"/>
            <a:ext cx="1193800" cy="1549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3" name="Line 142">
            <a:extLst>
              <a:ext uri="{FF2B5EF4-FFF2-40B4-BE49-F238E27FC236}">
                <a16:creationId xmlns:a16="http://schemas.microsoft.com/office/drawing/2014/main" id="{E9DACFA2-485B-6727-7FC4-FFC98B31C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1309" y="227033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3">
            <a:extLst>
              <a:ext uri="{FF2B5EF4-FFF2-40B4-BE49-F238E27FC236}">
                <a16:creationId xmlns:a16="http://schemas.microsoft.com/office/drawing/2014/main" id="{30CC3E46-FB7C-5BD4-5F52-FDAD2B020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1309" y="269419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144">
            <a:extLst>
              <a:ext uri="{FF2B5EF4-FFF2-40B4-BE49-F238E27FC236}">
                <a16:creationId xmlns:a16="http://schemas.microsoft.com/office/drawing/2014/main" id="{B604163E-93C7-1EC6-2CC0-DD70EF2BE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34" y="227033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5">
            <a:extLst>
              <a:ext uri="{FF2B5EF4-FFF2-40B4-BE49-F238E27FC236}">
                <a16:creationId xmlns:a16="http://schemas.microsoft.com/office/drawing/2014/main" id="{1F733FC6-2657-77CB-DD97-B730CCDEC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834" y="315139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146">
            <a:extLst>
              <a:ext uri="{FF2B5EF4-FFF2-40B4-BE49-F238E27FC236}">
                <a16:creationId xmlns:a16="http://schemas.microsoft.com/office/drawing/2014/main" id="{AAB007A9-63C9-B74A-06CC-D39E41961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3746" y="2006808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A</a:t>
            </a:r>
          </a:p>
        </p:txBody>
      </p:sp>
      <p:sp>
        <p:nvSpPr>
          <p:cNvPr id="28" name="Text Box 147">
            <a:extLst>
              <a:ext uri="{FF2B5EF4-FFF2-40B4-BE49-F238E27FC236}">
                <a16:creationId xmlns:a16="http://schemas.microsoft.com/office/drawing/2014/main" id="{C94AC4AD-C8D1-CCC5-C1A0-66D66640B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621" y="244019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B</a:t>
            </a:r>
          </a:p>
        </p:txBody>
      </p:sp>
      <p:sp>
        <p:nvSpPr>
          <p:cNvPr id="29" name="Text Box 148">
            <a:extLst>
              <a:ext uri="{FF2B5EF4-FFF2-40B4-BE49-F238E27FC236}">
                <a16:creationId xmlns:a16="http://schemas.microsoft.com/office/drawing/2014/main" id="{B85003D6-3597-25FC-24FD-00A8A792A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434" y="206554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S</a:t>
            </a:r>
          </a:p>
        </p:txBody>
      </p:sp>
      <p:sp>
        <p:nvSpPr>
          <p:cNvPr id="30" name="Text Box 149">
            <a:extLst>
              <a:ext uri="{FF2B5EF4-FFF2-40B4-BE49-F238E27FC236}">
                <a16:creationId xmlns:a16="http://schemas.microsoft.com/office/drawing/2014/main" id="{3E127F72-928B-8BC9-455B-DE17FDEF4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746" y="2929145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Co</a:t>
            </a:r>
          </a:p>
        </p:txBody>
      </p:sp>
      <p:sp>
        <p:nvSpPr>
          <p:cNvPr id="31" name="Text Box 150">
            <a:extLst>
              <a:ext uri="{FF2B5EF4-FFF2-40B4-BE49-F238E27FC236}">
                <a16:creationId xmlns:a16="http://schemas.microsoft.com/office/drawing/2014/main" id="{63CD901E-6F54-F4FB-B6CF-19ABAC0AB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684" y="1957595"/>
            <a:ext cx="357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/>
              <a:t>Σ</a:t>
            </a:r>
          </a:p>
        </p:txBody>
      </p:sp>
      <p:sp>
        <p:nvSpPr>
          <p:cNvPr id="32" name="Line 151">
            <a:extLst>
              <a:ext uri="{FF2B5EF4-FFF2-40B4-BE49-F238E27FC236}">
                <a16:creationId xmlns:a16="http://schemas.microsoft.com/office/drawing/2014/main" id="{31627EFB-4327-249D-B65C-945698C70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0196" y="3165683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152">
            <a:extLst>
              <a:ext uri="{FF2B5EF4-FFF2-40B4-BE49-F238E27FC236}">
                <a16:creationId xmlns:a16="http://schemas.microsoft.com/office/drawing/2014/main" id="{D78AEA77-29DB-E83D-1135-8ACF34813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509" y="2929145"/>
            <a:ext cx="474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  <a:r>
              <a:rPr kumimoji="1" lang="en-US" altLang="zh-CN" sz="2000">
                <a:ea typeface="楷体_GB2312" pitchFamily="49" charset="-122"/>
              </a:rPr>
              <a:t>i</a:t>
            </a:r>
          </a:p>
        </p:txBody>
      </p:sp>
      <p:graphicFrame>
        <p:nvGraphicFramePr>
          <p:cNvPr id="34" name="Object 154">
            <a:extLst>
              <a:ext uri="{FF2B5EF4-FFF2-40B4-BE49-F238E27FC236}">
                <a16:creationId xmlns:a16="http://schemas.microsoft.com/office/drawing/2014/main" id="{2E45766D-2FF5-4CCF-5061-CE2F1A4C70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393999"/>
              </p:ext>
            </p:extLst>
          </p:nvPr>
        </p:nvGraphicFramePr>
        <p:xfrm>
          <a:off x="3402309" y="5380245"/>
          <a:ext cx="457041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057400" imgH="241300" progId="Equation.3">
                  <p:embed/>
                </p:oleObj>
              </mc:Choice>
              <mc:Fallback>
                <p:oleObj name="公式" r:id="rId9" imgW="2057400" imgH="241300" progId="Equation.3">
                  <p:embed/>
                  <p:pic>
                    <p:nvPicPr>
                      <p:cNvPr id="17529" name="Object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309" y="5380245"/>
                        <a:ext cx="457041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155">
            <a:extLst>
              <a:ext uri="{FF2B5EF4-FFF2-40B4-BE49-F238E27FC236}">
                <a16:creationId xmlns:a16="http://schemas.microsoft.com/office/drawing/2014/main" id="{C3C4DD32-CB68-6AF2-C007-6F1C10566594}"/>
              </a:ext>
            </a:extLst>
          </p:cNvPr>
          <p:cNvGrpSpPr>
            <a:grpSpLocks/>
          </p:cNvGrpSpPr>
          <p:nvPr/>
        </p:nvGrpSpPr>
        <p:grpSpPr bwMode="auto">
          <a:xfrm>
            <a:off x="5358109" y="1884570"/>
            <a:ext cx="2778125" cy="2906713"/>
            <a:chOff x="3047" y="1342"/>
            <a:chExt cx="1750" cy="1831"/>
          </a:xfrm>
        </p:grpSpPr>
        <p:sp>
          <p:nvSpPr>
            <p:cNvPr id="36" name="Rectangle 156">
              <a:extLst>
                <a:ext uri="{FF2B5EF4-FFF2-40B4-BE49-F238E27FC236}">
                  <a16:creationId xmlns:a16="http://schemas.microsoft.com/office/drawing/2014/main" id="{77C560D4-0EE9-7C77-0A12-AEBA76FE6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943"/>
              <a:ext cx="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endParaRPr lang="en-US" altLang="zh-CN" sz="2400" baseline="-15000"/>
            </a:p>
          </p:txBody>
        </p:sp>
        <p:grpSp>
          <p:nvGrpSpPr>
            <p:cNvPr id="37" name="Group 157">
              <a:extLst>
                <a:ext uri="{FF2B5EF4-FFF2-40B4-BE49-F238E27FC236}">
                  <a16:creationId xmlns:a16="http://schemas.microsoft.com/office/drawing/2014/main" id="{1E807A4F-8D67-67EB-4100-FC973762FA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7" y="1342"/>
              <a:ext cx="1750" cy="732"/>
              <a:chOff x="3047" y="1342"/>
              <a:chExt cx="1750" cy="732"/>
            </a:xfrm>
          </p:grpSpPr>
          <p:grpSp>
            <p:nvGrpSpPr>
              <p:cNvPr id="38" name="Group 158">
                <a:extLst>
                  <a:ext uri="{FF2B5EF4-FFF2-40B4-BE49-F238E27FC236}">
                    <a16:creationId xmlns:a16="http://schemas.microsoft.com/office/drawing/2014/main" id="{458DAE7B-B00E-A351-6216-33617BD4D9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4" y="1342"/>
                <a:ext cx="91" cy="91"/>
                <a:chOff x="2358" y="3475"/>
                <a:chExt cx="182" cy="182"/>
              </a:xfrm>
            </p:grpSpPr>
            <p:sp>
              <p:nvSpPr>
                <p:cNvPr id="84" name="Line 159">
                  <a:extLst>
                    <a:ext uri="{FF2B5EF4-FFF2-40B4-BE49-F238E27FC236}">
                      <a16:creationId xmlns:a16="http://schemas.microsoft.com/office/drawing/2014/main" id="{00E810EA-1746-FCE3-4091-62391755FC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5" name="Line 160">
                  <a:extLst>
                    <a:ext uri="{FF2B5EF4-FFF2-40B4-BE49-F238E27FC236}">
                      <a16:creationId xmlns:a16="http://schemas.microsoft.com/office/drawing/2014/main" id="{964AE004-0218-1647-291E-870971F4D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Group 161">
                <a:extLst>
                  <a:ext uri="{FF2B5EF4-FFF2-40B4-BE49-F238E27FC236}">
                    <a16:creationId xmlns:a16="http://schemas.microsoft.com/office/drawing/2014/main" id="{7BF27488-F34F-7AFB-AF56-8B70F02C5C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8" y="1342"/>
                <a:ext cx="91" cy="91"/>
                <a:chOff x="2358" y="3475"/>
                <a:chExt cx="182" cy="182"/>
              </a:xfrm>
            </p:grpSpPr>
            <p:sp>
              <p:nvSpPr>
                <p:cNvPr id="82" name="Line 162">
                  <a:extLst>
                    <a:ext uri="{FF2B5EF4-FFF2-40B4-BE49-F238E27FC236}">
                      <a16:creationId xmlns:a16="http://schemas.microsoft.com/office/drawing/2014/main" id="{D61BF95A-9AAC-D984-3C9D-18F6DC87B1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Line 163">
                  <a:extLst>
                    <a:ext uri="{FF2B5EF4-FFF2-40B4-BE49-F238E27FC236}">
                      <a16:creationId xmlns:a16="http://schemas.microsoft.com/office/drawing/2014/main" id="{1403E77D-9CA0-B34B-104F-8267A8696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Group 164">
                <a:extLst>
                  <a:ext uri="{FF2B5EF4-FFF2-40B4-BE49-F238E27FC236}">
                    <a16:creationId xmlns:a16="http://schemas.microsoft.com/office/drawing/2014/main" id="{5460C1EB-324C-671D-0940-DCF1B396C9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" y="1342"/>
                <a:ext cx="91" cy="91"/>
                <a:chOff x="2358" y="3475"/>
                <a:chExt cx="182" cy="182"/>
              </a:xfrm>
            </p:grpSpPr>
            <p:sp>
              <p:nvSpPr>
                <p:cNvPr id="80" name="Line 165">
                  <a:extLst>
                    <a:ext uri="{FF2B5EF4-FFF2-40B4-BE49-F238E27FC236}">
                      <a16:creationId xmlns:a16="http://schemas.microsoft.com/office/drawing/2014/main" id="{D33F8209-E4E7-F192-D0AF-3CA42A0FEF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1" name="Line 166">
                  <a:extLst>
                    <a:ext uri="{FF2B5EF4-FFF2-40B4-BE49-F238E27FC236}">
                      <a16:creationId xmlns:a16="http://schemas.microsoft.com/office/drawing/2014/main" id="{473A63EE-79AC-BF46-A55E-3F75C9AF46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" name="Group 167">
                <a:extLst>
                  <a:ext uri="{FF2B5EF4-FFF2-40B4-BE49-F238E27FC236}">
                    <a16:creationId xmlns:a16="http://schemas.microsoft.com/office/drawing/2014/main" id="{A29C3C6C-3F16-7347-B485-35D1A2F5BA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74" y="1546"/>
                <a:ext cx="91" cy="91"/>
                <a:chOff x="2358" y="3475"/>
                <a:chExt cx="182" cy="182"/>
              </a:xfrm>
            </p:grpSpPr>
            <p:sp>
              <p:nvSpPr>
                <p:cNvPr id="78" name="Line 168">
                  <a:extLst>
                    <a:ext uri="{FF2B5EF4-FFF2-40B4-BE49-F238E27FC236}">
                      <a16:creationId xmlns:a16="http://schemas.microsoft.com/office/drawing/2014/main" id="{96A13169-8626-40C1-4D53-74D03A01F4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169">
                  <a:extLst>
                    <a:ext uri="{FF2B5EF4-FFF2-40B4-BE49-F238E27FC236}">
                      <a16:creationId xmlns:a16="http://schemas.microsoft.com/office/drawing/2014/main" id="{B827890E-7FBC-7333-167F-39434CA70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Group 170">
                <a:extLst>
                  <a:ext uri="{FF2B5EF4-FFF2-40B4-BE49-F238E27FC236}">
                    <a16:creationId xmlns:a16="http://schemas.microsoft.com/office/drawing/2014/main" id="{E5944D42-988A-1835-4300-0A25F43308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1" y="1546"/>
                <a:ext cx="91" cy="91"/>
                <a:chOff x="2358" y="3475"/>
                <a:chExt cx="182" cy="182"/>
              </a:xfrm>
            </p:grpSpPr>
            <p:sp>
              <p:nvSpPr>
                <p:cNvPr id="76" name="Line 171">
                  <a:extLst>
                    <a:ext uri="{FF2B5EF4-FFF2-40B4-BE49-F238E27FC236}">
                      <a16:creationId xmlns:a16="http://schemas.microsoft.com/office/drawing/2014/main" id="{1D91AEB8-D91D-30B3-4EF5-F7D4F1B053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" name="Line 172">
                  <a:extLst>
                    <a:ext uri="{FF2B5EF4-FFF2-40B4-BE49-F238E27FC236}">
                      <a16:creationId xmlns:a16="http://schemas.microsoft.com/office/drawing/2014/main" id="{AD8CB2E8-B76D-37FE-E087-31B904863F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Group 173">
                <a:extLst>
                  <a:ext uri="{FF2B5EF4-FFF2-40B4-BE49-F238E27FC236}">
                    <a16:creationId xmlns:a16="http://schemas.microsoft.com/office/drawing/2014/main" id="{2BDD2A09-A0C1-76BB-9DD6-C84E909CED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04" y="1546"/>
                <a:ext cx="91" cy="91"/>
                <a:chOff x="2358" y="3475"/>
                <a:chExt cx="182" cy="182"/>
              </a:xfrm>
            </p:grpSpPr>
            <p:sp>
              <p:nvSpPr>
                <p:cNvPr id="74" name="Line 174">
                  <a:extLst>
                    <a:ext uri="{FF2B5EF4-FFF2-40B4-BE49-F238E27FC236}">
                      <a16:creationId xmlns:a16="http://schemas.microsoft.com/office/drawing/2014/main" id="{4B59E740-C122-37EB-2E5E-35D1A29D4A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" name="Line 175">
                  <a:extLst>
                    <a:ext uri="{FF2B5EF4-FFF2-40B4-BE49-F238E27FC236}">
                      <a16:creationId xmlns:a16="http://schemas.microsoft.com/office/drawing/2014/main" id="{51382AFD-7EEF-4937-F54D-D9BD2D136D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Group 176">
                <a:extLst>
                  <a:ext uri="{FF2B5EF4-FFF2-40B4-BE49-F238E27FC236}">
                    <a16:creationId xmlns:a16="http://schemas.microsoft.com/office/drawing/2014/main" id="{EACD46E1-B26B-3C8A-B0BA-04B16CF75D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7" y="1773"/>
                <a:ext cx="91" cy="91"/>
                <a:chOff x="2358" y="3475"/>
                <a:chExt cx="182" cy="182"/>
              </a:xfrm>
            </p:grpSpPr>
            <p:sp>
              <p:nvSpPr>
                <p:cNvPr id="72" name="Line 177">
                  <a:extLst>
                    <a:ext uri="{FF2B5EF4-FFF2-40B4-BE49-F238E27FC236}">
                      <a16:creationId xmlns:a16="http://schemas.microsoft.com/office/drawing/2014/main" id="{CD73B051-3315-9112-5D30-44A808A17F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" name="Line 178">
                  <a:extLst>
                    <a:ext uri="{FF2B5EF4-FFF2-40B4-BE49-F238E27FC236}">
                      <a16:creationId xmlns:a16="http://schemas.microsoft.com/office/drawing/2014/main" id="{FC2327AC-4EA1-371D-886E-A6BF38942D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" name="Group 179">
                <a:extLst>
                  <a:ext uri="{FF2B5EF4-FFF2-40B4-BE49-F238E27FC236}">
                    <a16:creationId xmlns:a16="http://schemas.microsoft.com/office/drawing/2014/main" id="{D34D55F0-B5E7-A290-0768-624E861A0F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8" y="1773"/>
                <a:ext cx="91" cy="91"/>
                <a:chOff x="2358" y="3475"/>
                <a:chExt cx="182" cy="182"/>
              </a:xfrm>
            </p:grpSpPr>
            <p:sp>
              <p:nvSpPr>
                <p:cNvPr id="70" name="Line 180">
                  <a:extLst>
                    <a:ext uri="{FF2B5EF4-FFF2-40B4-BE49-F238E27FC236}">
                      <a16:creationId xmlns:a16="http://schemas.microsoft.com/office/drawing/2014/main" id="{02C1044C-E2AC-2C16-53D0-049814E0D8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Line 181">
                  <a:extLst>
                    <a:ext uri="{FF2B5EF4-FFF2-40B4-BE49-F238E27FC236}">
                      <a16:creationId xmlns:a16="http://schemas.microsoft.com/office/drawing/2014/main" id="{7D837813-D408-E075-A8DD-AC64871B9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Group 182">
                <a:extLst>
                  <a:ext uri="{FF2B5EF4-FFF2-40B4-BE49-F238E27FC236}">
                    <a16:creationId xmlns:a16="http://schemas.microsoft.com/office/drawing/2014/main" id="{0BBCC978-C160-25CC-2BAE-F7A4EB0387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04" y="1773"/>
                <a:ext cx="91" cy="91"/>
                <a:chOff x="2358" y="3475"/>
                <a:chExt cx="182" cy="182"/>
              </a:xfrm>
            </p:grpSpPr>
            <p:sp>
              <p:nvSpPr>
                <p:cNvPr id="68" name="Line 183">
                  <a:extLst>
                    <a:ext uri="{FF2B5EF4-FFF2-40B4-BE49-F238E27FC236}">
                      <a16:creationId xmlns:a16="http://schemas.microsoft.com/office/drawing/2014/main" id="{35471905-B281-6B7B-7F7D-5EF7EE0DFD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Line 184">
                  <a:extLst>
                    <a:ext uri="{FF2B5EF4-FFF2-40B4-BE49-F238E27FC236}">
                      <a16:creationId xmlns:a16="http://schemas.microsoft.com/office/drawing/2014/main" id="{ECBF1F52-9669-110B-4569-3A4D7B1C5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" name="Group 185">
                <a:extLst>
                  <a:ext uri="{FF2B5EF4-FFF2-40B4-BE49-F238E27FC236}">
                    <a16:creationId xmlns:a16="http://schemas.microsoft.com/office/drawing/2014/main" id="{ACE764D8-3350-6250-4536-DFBAEBEB51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7" y="1977"/>
                <a:ext cx="91" cy="91"/>
                <a:chOff x="2358" y="3475"/>
                <a:chExt cx="182" cy="182"/>
              </a:xfrm>
            </p:grpSpPr>
            <p:sp>
              <p:nvSpPr>
                <p:cNvPr id="66" name="Line 186">
                  <a:extLst>
                    <a:ext uri="{FF2B5EF4-FFF2-40B4-BE49-F238E27FC236}">
                      <a16:creationId xmlns:a16="http://schemas.microsoft.com/office/drawing/2014/main" id="{A9A31EA8-28DB-6D85-3D3C-06C69B17EA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Line 187">
                  <a:extLst>
                    <a:ext uri="{FF2B5EF4-FFF2-40B4-BE49-F238E27FC236}">
                      <a16:creationId xmlns:a16="http://schemas.microsoft.com/office/drawing/2014/main" id="{4D0C8EE7-C697-27BB-9449-BFB0E81400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Group 188">
                <a:extLst>
                  <a:ext uri="{FF2B5EF4-FFF2-40B4-BE49-F238E27FC236}">
                    <a16:creationId xmlns:a16="http://schemas.microsoft.com/office/drawing/2014/main" id="{EA981E76-2559-0DE8-9110-5995BA2078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01" y="1977"/>
                <a:ext cx="91" cy="91"/>
                <a:chOff x="2358" y="3475"/>
                <a:chExt cx="182" cy="182"/>
              </a:xfrm>
            </p:grpSpPr>
            <p:sp>
              <p:nvSpPr>
                <p:cNvPr id="64" name="Line 189">
                  <a:extLst>
                    <a:ext uri="{FF2B5EF4-FFF2-40B4-BE49-F238E27FC236}">
                      <a16:creationId xmlns:a16="http://schemas.microsoft.com/office/drawing/2014/main" id="{1353303A-51F4-7423-DB8A-FD497A65E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Line 190">
                  <a:extLst>
                    <a:ext uri="{FF2B5EF4-FFF2-40B4-BE49-F238E27FC236}">
                      <a16:creationId xmlns:a16="http://schemas.microsoft.com/office/drawing/2014/main" id="{BFF86DDD-3224-D6C8-736D-2033F1A8B0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Group 191">
                <a:extLst>
                  <a:ext uri="{FF2B5EF4-FFF2-40B4-BE49-F238E27FC236}">
                    <a16:creationId xmlns:a16="http://schemas.microsoft.com/office/drawing/2014/main" id="{3649DC71-CA1A-C277-20E0-C385C10CE3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" y="1977"/>
                <a:ext cx="91" cy="91"/>
                <a:chOff x="2358" y="3475"/>
                <a:chExt cx="182" cy="182"/>
              </a:xfrm>
            </p:grpSpPr>
            <p:sp>
              <p:nvSpPr>
                <p:cNvPr id="62" name="Line 192">
                  <a:extLst>
                    <a:ext uri="{FF2B5EF4-FFF2-40B4-BE49-F238E27FC236}">
                      <a16:creationId xmlns:a16="http://schemas.microsoft.com/office/drawing/2014/main" id="{26514245-14FA-E51E-1DFE-91505EB8DD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" name="Line 193">
                  <a:extLst>
                    <a:ext uri="{FF2B5EF4-FFF2-40B4-BE49-F238E27FC236}">
                      <a16:creationId xmlns:a16="http://schemas.microsoft.com/office/drawing/2014/main" id="{384D9FC8-43C4-11B1-4A2F-E8B625A31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Group 194">
                <a:extLst>
                  <a:ext uri="{FF2B5EF4-FFF2-40B4-BE49-F238E27FC236}">
                    <a16:creationId xmlns:a16="http://schemas.microsoft.com/office/drawing/2014/main" id="{B212ECC9-3CF7-F9F8-4324-9AC6549CAE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6" y="1344"/>
                <a:ext cx="91" cy="91"/>
                <a:chOff x="2358" y="3475"/>
                <a:chExt cx="182" cy="182"/>
              </a:xfrm>
            </p:grpSpPr>
            <p:sp>
              <p:nvSpPr>
                <p:cNvPr id="60" name="Line 195">
                  <a:extLst>
                    <a:ext uri="{FF2B5EF4-FFF2-40B4-BE49-F238E27FC236}">
                      <a16:creationId xmlns:a16="http://schemas.microsoft.com/office/drawing/2014/main" id="{25AD7D21-E353-3204-8AB3-16EC69CA62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96">
                  <a:extLst>
                    <a:ext uri="{FF2B5EF4-FFF2-40B4-BE49-F238E27FC236}">
                      <a16:creationId xmlns:a16="http://schemas.microsoft.com/office/drawing/2014/main" id="{60A28229-EBCE-1A19-C503-3E4215127A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" name="Group 197">
                <a:extLst>
                  <a:ext uri="{FF2B5EF4-FFF2-40B4-BE49-F238E27FC236}">
                    <a16:creationId xmlns:a16="http://schemas.microsoft.com/office/drawing/2014/main" id="{43B93A98-BE84-A549-938A-60F3AD577E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6" y="1553"/>
                <a:ext cx="91" cy="91"/>
                <a:chOff x="2358" y="3475"/>
                <a:chExt cx="182" cy="182"/>
              </a:xfrm>
            </p:grpSpPr>
            <p:sp>
              <p:nvSpPr>
                <p:cNvPr id="58" name="Line 198">
                  <a:extLst>
                    <a:ext uri="{FF2B5EF4-FFF2-40B4-BE49-F238E27FC236}">
                      <a16:creationId xmlns:a16="http://schemas.microsoft.com/office/drawing/2014/main" id="{70F50712-1569-8DC6-4931-B792824302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Line 199">
                  <a:extLst>
                    <a:ext uri="{FF2B5EF4-FFF2-40B4-BE49-F238E27FC236}">
                      <a16:creationId xmlns:a16="http://schemas.microsoft.com/office/drawing/2014/main" id="{7CDAF504-0AED-6DCE-7957-F532B75A72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Group 200">
                <a:extLst>
                  <a:ext uri="{FF2B5EF4-FFF2-40B4-BE49-F238E27FC236}">
                    <a16:creationId xmlns:a16="http://schemas.microsoft.com/office/drawing/2014/main" id="{F39144CC-526A-1496-1A4A-D414845AF3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6" y="1768"/>
                <a:ext cx="91" cy="91"/>
                <a:chOff x="2358" y="3475"/>
                <a:chExt cx="182" cy="182"/>
              </a:xfrm>
            </p:grpSpPr>
            <p:sp>
              <p:nvSpPr>
                <p:cNvPr id="56" name="Line 201">
                  <a:extLst>
                    <a:ext uri="{FF2B5EF4-FFF2-40B4-BE49-F238E27FC236}">
                      <a16:creationId xmlns:a16="http://schemas.microsoft.com/office/drawing/2014/main" id="{8D9EDF0B-B445-ED29-8A40-D3DB46A79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Line 202">
                  <a:extLst>
                    <a:ext uri="{FF2B5EF4-FFF2-40B4-BE49-F238E27FC236}">
                      <a16:creationId xmlns:a16="http://schemas.microsoft.com/office/drawing/2014/main" id="{56331427-11F5-F8B5-12FF-BE33BBB3A4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3" name="Group 203">
                <a:extLst>
                  <a:ext uri="{FF2B5EF4-FFF2-40B4-BE49-F238E27FC236}">
                    <a16:creationId xmlns:a16="http://schemas.microsoft.com/office/drawing/2014/main" id="{04094D5D-81D9-D657-8669-280EBFDD06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06" y="1983"/>
                <a:ext cx="91" cy="91"/>
                <a:chOff x="2358" y="3475"/>
                <a:chExt cx="182" cy="182"/>
              </a:xfrm>
            </p:grpSpPr>
            <p:sp>
              <p:nvSpPr>
                <p:cNvPr id="54" name="Line 204">
                  <a:extLst>
                    <a:ext uri="{FF2B5EF4-FFF2-40B4-BE49-F238E27FC236}">
                      <a16:creationId xmlns:a16="http://schemas.microsoft.com/office/drawing/2014/main" id="{221575D6-2019-5356-4A03-1538EBFC17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Line 205">
                  <a:extLst>
                    <a:ext uri="{FF2B5EF4-FFF2-40B4-BE49-F238E27FC236}">
                      <a16:creationId xmlns:a16="http://schemas.microsoft.com/office/drawing/2014/main" id="{B30ED795-AB75-8100-E35C-E4BD99EA8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58" y="3475"/>
                  <a:ext cx="182" cy="18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6" name="Group 206">
            <a:extLst>
              <a:ext uri="{FF2B5EF4-FFF2-40B4-BE49-F238E27FC236}">
                <a16:creationId xmlns:a16="http://schemas.microsoft.com/office/drawing/2014/main" id="{47A8FBDB-335D-3FB0-D509-3F279386DF56}"/>
              </a:ext>
            </a:extLst>
          </p:cNvPr>
          <p:cNvGrpSpPr>
            <a:grpSpLocks/>
          </p:cNvGrpSpPr>
          <p:nvPr/>
        </p:nvGrpSpPr>
        <p:grpSpPr bwMode="auto">
          <a:xfrm>
            <a:off x="5358109" y="3252995"/>
            <a:ext cx="3365500" cy="1538288"/>
            <a:chOff x="3047" y="2204"/>
            <a:chExt cx="2120" cy="969"/>
          </a:xfrm>
        </p:grpSpPr>
        <p:sp>
          <p:nvSpPr>
            <p:cNvPr id="87" name="Rectangle 207">
              <a:extLst>
                <a:ext uri="{FF2B5EF4-FFF2-40B4-BE49-F238E27FC236}">
                  <a16:creationId xmlns:a16="http://schemas.microsoft.com/office/drawing/2014/main" id="{591FFDBC-9422-8816-2ECA-7B501E43A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" y="2943"/>
              <a:ext cx="21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C</a:t>
              </a:r>
              <a:r>
                <a:rPr lang="en-US" altLang="zh-CN" baseline="-15000"/>
                <a:t>o</a:t>
              </a:r>
            </a:p>
          </p:txBody>
        </p:sp>
        <p:grpSp>
          <p:nvGrpSpPr>
            <p:cNvPr id="88" name="Group 208">
              <a:extLst>
                <a:ext uri="{FF2B5EF4-FFF2-40B4-BE49-F238E27FC236}">
                  <a16:creationId xmlns:a16="http://schemas.microsoft.com/office/drawing/2014/main" id="{6092AC41-A410-4D50-B858-FF88D41D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7" y="2204"/>
              <a:ext cx="91" cy="91"/>
              <a:chOff x="2358" y="3475"/>
              <a:chExt cx="182" cy="182"/>
            </a:xfrm>
          </p:grpSpPr>
          <p:sp>
            <p:nvSpPr>
              <p:cNvPr id="113" name="Line 209">
                <a:extLst>
                  <a:ext uri="{FF2B5EF4-FFF2-40B4-BE49-F238E27FC236}">
                    <a16:creationId xmlns:a16="http://schemas.microsoft.com/office/drawing/2014/main" id="{28793FBB-6DA8-2D23-578D-55AE2730D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210">
                <a:extLst>
                  <a:ext uri="{FF2B5EF4-FFF2-40B4-BE49-F238E27FC236}">
                    <a16:creationId xmlns:a16="http://schemas.microsoft.com/office/drawing/2014/main" id="{6869355C-0ECB-C499-C83A-B5C65F18F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9" name="Group 211">
              <a:extLst>
                <a:ext uri="{FF2B5EF4-FFF2-40B4-BE49-F238E27FC236}">
                  <a16:creationId xmlns:a16="http://schemas.microsoft.com/office/drawing/2014/main" id="{68A30224-C3D7-7454-C71D-FED3054BC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1" y="2204"/>
              <a:ext cx="91" cy="91"/>
              <a:chOff x="2358" y="3475"/>
              <a:chExt cx="182" cy="182"/>
            </a:xfrm>
          </p:grpSpPr>
          <p:sp>
            <p:nvSpPr>
              <p:cNvPr id="111" name="Line 212">
                <a:extLst>
                  <a:ext uri="{FF2B5EF4-FFF2-40B4-BE49-F238E27FC236}">
                    <a16:creationId xmlns:a16="http://schemas.microsoft.com/office/drawing/2014/main" id="{28B1452E-59D5-9DE7-F115-54E9DC9C9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213">
                <a:extLst>
                  <a:ext uri="{FF2B5EF4-FFF2-40B4-BE49-F238E27FC236}">
                    <a16:creationId xmlns:a16="http://schemas.microsoft.com/office/drawing/2014/main" id="{74B2A013-3063-10D0-6DEB-DDB83D09E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0" name="Group 214">
              <a:extLst>
                <a:ext uri="{FF2B5EF4-FFF2-40B4-BE49-F238E27FC236}">
                  <a16:creationId xmlns:a16="http://schemas.microsoft.com/office/drawing/2014/main" id="{021EF23C-F054-5BE7-C2BF-DB4B715156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7" y="2409"/>
              <a:ext cx="91" cy="91"/>
              <a:chOff x="2358" y="3475"/>
              <a:chExt cx="182" cy="182"/>
            </a:xfrm>
          </p:grpSpPr>
          <p:sp>
            <p:nvSpPr>
              <p:cNvPr id="109" name="Line 215">
                <a:extLst>
                  <a:ext uri="{FF2B5EF4-FFF2-40B4-BE49-F238E27FC236}">
                    <a16:creationId xmlns:a16="http://schemas.microsoft.com/office/drawing/2014/main" id="{EDC03E2E-AC86-3AC1-102E-5698070530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216">
                <a:extLst>
                  <a:ext uri="{FF2B5EF4-FFF2-40B4-BE49-F238E27FC236}">
                    <a16:creationId xmlns:a16="http://schemas.microsoft.com/office/drawing/2014/main" id="{33ACBE78-601C-043F-A0C6-308EE5311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1" name="Group 217">
              <a:extLst>
                <a:ext uri="{FF2B5EF4-FFF2-40B4-BE49-F238E27FC236}">
                  <a16:creationId xmlns:a16="http://schemas.microsoft.com/office/drawing/2014/main" id="{3F4B2E74-D088-2E0E-086C-7DA527221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4" y="2409"/>
              <a:ext cx="91" cy="91"/>
              <a:chOff x="2358" y="3475"/>
              <a:chExt cx="182" cy="182"/>
            </a:xfrm>
          </p:grpSpPr>
          <p:sp>
            <p:nvSpPr>
              <p:cNvPr id="107" name="Line 218">
                <a:extLst>
                  <a:ext uri="{FF2B5EF4-FFF2-40B4-BE49-F238E27FC236}">
                    <a16:creationId xmlns:a16="http://schemas.microsoft.com/office/drawing/2014/main" id="{F98CBF60-5BA3-D35E-E4CF-45817378A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219">
                <a:extLst>
                  <a:ext uri="{FF2B5EF4-FFF2-40B4-BE49-F238E27FC236}">
                    <a16:creationId xmlns:a16="http://schemas.microsoft.com/office/drawing/2014/main" id="{EB147DD8-A526-E6F9-28E8-7B0FE37554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" name="Group 220">
              <a:extLst>
                <a:ext uri="{FF2B5EF4-FFF2-40B4-BE49-F238E27FC236}">
                  <a16:creationId xmlns:a16="http://schemas.microsoft.com/office/drawing/2014/main" id="{F5A2BB95-7455-51F4-5777-C39FD20F3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1" y="2636"/>
              <a:ext cx="91" cy="91"/>
              <a:chOff x="2358" y="3475"/>
              <a:chExt cx="182" cy="182"/>
            </a:xfrm>
          </p:grpSpPr>
          <p:sp>
            <p:nvSpPr>
              <p:cNvPr id="105" name="Line 221">
                <a:extLst>
                  <a:ext uri="{FF2B5EF4-FFF2-40B4-BE49-F238E27FC236}">
                    <a16:creationId xmlns:a16="http://schemas.microsoft.com/office/drawing/2014/main" id="{22C4CFB9-9468-7DC9-39B9-AF4E4FECFB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22">
                <a:extLst>
                  <a:ext uri="{FF2B5EF4-FFF2-40B4-BE49-F238E27FC236}">
                    <a16:creationId xmlns:a16="http://schemas.microsoft.com/office/drawing/2014/main" id="{8740C477-7BFA-2CDA-E1BA-50BD95F5F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3" name="Group 223">
              <a:extLst>
                <a:ext uri="{FF2B5EF4-FFF2-40B4-BE49-F238E27FC236}">
                  <a16:creationId xmlns:a16="http://schemas.microsoft.com/office/drawing/2014/main" id="{4C79124A-99A3-CD9F-85EB-675A0ECA8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" y="2636"/>
              <a:ext cx="91" cy="91"/>
              <a:chOff x="2358" y="3475"/>
              <a:chExt cx="182" cy="182"/>
            </a:xfrm>
          </p:grpSpPr>
          <p:sp>
            <p:nvSpPr>
              <p:cNvPr id="103" name="Line 224">
                <a:extLst>
                  <a:ext uri="{FF2B5EF4-FFF2-40B4-BE49-F238E27FC236}">
                    <a16:creationId xmlns:a16="http://schemas.microsoft.com/office/drawing/2014/main" id="{09C9E737-D7A8-CBC9-61FF-10415ECED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25">
                <a:extLst>
                  <a:ext uri="{FF2B5EF4-FFF2-40B4-BE49-F238E27FC236}">
                    <a16:creationId xmlns:a16="http://schemas.microsoft.com/office/drawing/2014/main" id="{E906D02A-ACE5-2850-28E4-600170551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" name="Group 226">
              <a:extLst>
                <a:ext uri="{FF2B5EF4-FFF2-40B4-BE49-F238E27FC236}">
                  <a16:creationId xmlns:a16="http://schemas.microsoft.com/office/drawing/2014/main" id="{CA677212-A6F4-DF27-9D0C-407C45A810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3" y="2420"/>
              <a:ext cx="91" cy="91"/>
              <a:chOff x="2358" y="3475"/>
              <a:chExt cx="182" cy="182"/>
            </a:xfrm>
          </p:grpSpPr>
          <p:sp>
            <p:nvSpPr>
              <p:cNvPr id="101" name="Line 227">
                <a:extLst>
                  <a:ext uri="{FF2B5EF4-FFF2-40B4-BE49-F238E27FC236}">
                    <a16:creationId xmlns:a16="http://schemas.microsoft.com/office/drawing/2014/main" id="{A6051CEB-9703-FECE-34EC-517D08A9B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28">
                <a:extLst>
                  <a:ext uri="{FF2B5EF4-FFF2-40B4-BE49-F238E27FC236}">
                    <a16:creationId xmlns:a16="http://schemas.microsoft.com/office/drawing/2014/main" id="{9C0A4AA4-F3DA-681B-BD1B-72F2E20BD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5" name="Group 229">
              <a:extLst>
                <a:ext uri="{FF2B5EF4-FFF2-40B4-BE49-F238E27FC236}">
                  <a16:creationId xmlns:a16="http://schemas.microsoft.com/office/drawing/2014/main" id="{C7F2EED0-4C90-6C54-5337-49979119E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4" y="2635"/>
              <a:ext cx="91" cy="91"/>
              <a:chOff x="2358" y="3475"/>
              <a:chExt cx="182" cy="182"/>
            </a:xfrm>
          </p:grpSpPr>
          <p:sp>
            <p:nvSpPr>
              <p:cNvPr id="99" name="Line 230">
                <a:extLst>
                  <a:ext uri="{FF2B5EF4-FFF2-40B4-BE49-F238E27FC236}">
                    <a16:creationId xmlns:a16="http://schemas.microsoft.com/office/drawing/2014/main" id="{1E77E329-FD59-4FA3-E3C2-0D13983A4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31">
                <a:extLst>
                  <a:ext uri="{FF2B5EF4-FFF2-40B4-BE49-F238E27FC236}">
                    <a16:creationId xmlns:a16="http://schemas.microsoft.com/office/drawing/2014/main" id="{B3609F8C-D842-037C-DB12-6A9713A3B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" name="Group 232">
              <a:extLst>
                <a:ext uri="{FF2B5EF4-FFF2-40B4-BE49-F238E27FC236}">
                  <a16:creationId xmlns:a16="http://schemas.microsoft.com/office/drawing/2014/main" id="{753F8E7C-7DAB-6FBF-5955-7922F87D5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3" y="2205"/>
              <a:ext cx="91" cy="91"/>
              <a:chOff x="2358" y="3475"/>
              <a:chExt cx="182" cy="182"/>
            </a:xfrm>
          </p:grpSpPr>
          <p:sp>
            <p:nvSpPr>
              <p:cNvPr id="97" name="Line 233">
                <a:extLst>
                  <a:ext uri="{FF2B5EF4-FFF2-40B4-BE49-F238E27FC236}">
                    <a16:creationId xmlns:a16="http://schemas.microsoft.com/office/drawing/2014/main" id="{F688B09D-70AC-A116-D5DF-36DF95295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34">
                <a:extLst>
                  <a:ext uri="{FF2B5EF4-FFF2-40B4-BE49-F238E27FC236}">
                    <a16:creationId xmlns:a16="http://schemas.microsoft.com/office/drawing/2014/main" id="{3F74BF7C-B707-3988-788D-9AA020FAAB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58" y="3475"/>
                <a:ext cx="182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781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8F117-800E-2701-9B71-35DABDDD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/>
              <a:t>PAL</a:t>
            </a:r>
            <a:r>
              <a:rPr lang="zh-CN" altLang="en-US" dirty="0"/>
              <a:t>实现组合逻辑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6A07C3-B3CA-7E6D-FA71-CCBCD838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163C55-FF33-31C4-EB91-EDC13094D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/13</a:t>
            </a:r>
            <a:endParaRPr lang="en-US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DADCE399-5244-E834-5A3B-3F40C7214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615676"/>
              </p:ext>
            </p:extLst>
          </p:nvPr>
        </p:nvGraphicFramePr>
        <p:xfrm>
          <a:off x="852488" y="1354931"/>
          <a:ext cx="3065462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29810" imgH="253890" progId="Equation.3">
                  <p:embed/>
                </p:oleObj>
              </mc:Choice>
              <mc:Fallback>
                <p:oleObj name="公式" r:id="rId3" imgW="1129810" imgH="253890" progId="Equation.3">
                  <p:embed/>
                  <p:pic>
                    <p:nvPicPr>
                      <p:cNvPr id="1946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354931"/>
                        <a:ext cx="3065462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8729A8E0-2C6F-3A2F-633E-A314C5BAE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909097"/>
              </p:ext>
            </p:extLst>
          </p:nvPr>
        </p:nvGraphicFramePr>
        <p:xfrm>
          <a:off x="852488" y="3140868"/>
          <a:ext cx="2619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17600" imgH="241300" progId="Equation.3">
                  <p:embed/>
                </p:oleObj>
              </mc:Choice>
              <mc:Fallback>
                <p:oleObj name="公式" r:id="rId5" imgW="1117600" imgH="241300" progId="Equation.3">
                  <p:embed/>
                  <p:pic>
                    <p:nvPicPr>
                      <p:cNvPr id="1946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3140868"/>
                        <a:ext cx="26193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870137EF-C233-B3E3-1D60-9646B15CA2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752546"/>
              </p:ext>
            </p:extLst>
          </p:nvPr>
        </p:nvGraphicFramePr>
        <p:xfrm>
          <a:off x="852488" y="3972718"/>
          <a:ext cx="33115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09088" imgH="253890" progId="Equation.3">
                  <p:embed/>
                </p:oleObj>
              </mc:Choice>
              <mc:Fallback>
                <p:oleObj name="公式" r:id="rId7" imgW="1409088" imgH="253890" progId="Equation.3">
                  <p:embed/>
                  <p:pic>
                    <p:nvPicPr>
                      <p:cNvPr id="1946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3972718"/>
                        <a:ext cx="33115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422AF729-C450-CF80-F766-79D24F0AF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530212"/>
              </p:ext>
            </p:extLst>
          </p:nvPr>
        </p:nvGraphicFramePr>
        <p:xfrm>
          <a:off x="852488" y="2250281"/>
          <a:ext cx="342106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74800" imgH="241300" progId="Equation.3">
                  <p:embed/>
                </p:oleObj>
              </mc:Choice>
              <mc:Fallback>
                <p:oleObj name="公式" r:id="rId9" imgW="1574800" imgH="241300" progId="Equation.3">
                  <p:embed/>
                  <p:pic>
                    <p:nvPicPr>
                      <p:cNvPr id="1946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250281"/>
                        <a:ext cx="3421062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3A7F3057-657B-61F5-98F6-CAB126D15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649950"/>
              </p:ext>
            </p:extLst>
          </p:nvPr>
        </p:nvGraphicFramePr>
        <p:xfrm>
          <a:off x="889000" y="4655343"/>
          <a:ext cx="35639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828800" imgH="215900" progId="Equation.3">
                  <p:embed/>
                </p:oleObj>
              </mc:Choice>
              <mc:Fallback>
                <p:oleObj name="公式" r:id="rId11" imgW="1828800" imgH="215900" progId="Equation.3">
                  <p:embed/>
                  <p:pic>
                    <p:nvPicPr>
                      <p:cNvPr id="1946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4655343"/>
                        <a:ext cx="35639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715056EE-948D-EC1C-91F5-69DE7D674C70}"/>
              </a:ext>
            </a:extLst>
          </p:cNvPr>
          <p:cNvSpPr/>
          <p:nvPr/>
        </p:nvSpPr>
        <p:spPr>
          <a:xfrm>
            <a:off x="5019095" y="1626558"/>
            <a:ext cx="3218688" cy="2266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68782D-1B88-8146-A81C-C702C8C74AFA}"/>
              </a:ext>
            </a:extLst>
          </p:cNvPr>
          <p:cNvSpPr txBox="1"/>
          <p:nvPr/>
        </p:nvSpPr>
        <p:spPr>
          <a:xfrm>
            <a:off x="5019095" y="13230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？</a:t>
            </a:r>
          </a:p>
        </p:txBody>
      </p:sp>
      <p:graphicFrame>
        <p:nvGraphicFramePr>
          <p:cNvPr id="14" name="Object 3">
            <a:extLst>
              <a:ext uri="{FF2B5EF4-FFF2-40B4-BE49-F238E27FC236}">
                <a16:creationId xmlns:a16="http://schemas.microsoft.com/office/drawing/2014/main" id="{F2E8B025-A065-FC44-BEA0-D4E422AC3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796288"/>
              </p:ext>
            </p:extLst>
          </p:nvPr>
        </p:nvGraphicFramePr>
        <p:xfrm>
          <a:off x="4605336" y="743479"/>
          <a:ext cx="4792662" cy="521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13" imgW="2401824" imgH="2779776" progId="Word.Picture.8">
                  <p:embed/>
                </p:oleObj>
              </mc:Choice>
              <mc:Fallback>
                <p:oleObj name="图片" r:id="rId13" imgW="2401824" imgH="2779776" progId="Word.Picture.8">
                  <p:embed/>
                  <p:pic>
                    <p:nvPicPr>
                      <p:cNvPr id="1946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24" r="-543"/>
                      <a:stretch>
                        <a:fillRect/>
                      </a:stretch>
                    </p:blipFill>
                    <p:spPr bwMode="auto">
                      <a:xfrm>
                        <a:off x="4605336" y="743479"/>
                        <a:ext cx="4792662" cy="521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>
                                <a:alpha val="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916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07E75-84CB-39E5-B0D8-DE5B0178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能用在哪？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DCC394-79B2-FBF6-7827-549032C2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CF93D8-CAD9-8847-8668-A59E2C51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2DDA6462-C985-7ECA-50B9-5D0E4A5B7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62" y="4252765"/>
            <a:ext cx="2116137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FPGA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特点：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endParaRPr lang="en-US" altLang="zh-CN" sz="18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并行处理</a:t>
            </a:r>
            <a:endParaRPr lang="en-US" altLang="zh-CN" sz="18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灵活架构</a:t>
            </a:r>
            <a:endParaRPr lang="en-US" altLang="zh-CN" sz="18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大量处理资源</a:t>
            </a:r>
            <a:endParaRPr lang="en-US" altLang="zh-CN" sz="18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大量接口资源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22E7CF8E-7730-F81A-0188-D61FCD5ADC97}"/>
              </a:ext>
            </a:extLst>
          </p:cNvPr>
          <p:cNvSpPr/>
          <p:nvPr/>
        </p:nvSpPr>
        <p:spPr>
          <a:xfrm>
            <a:off x="2881499" y="4967140"/>
            <a:ext cx="574675" cy="3778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4">
            <a:extLst>
              <a:ext uri="{FF2B5EF4-FFF2-40B4-BE49-F238E27FC236}">
                <a16:creationId xmlns:a16="http://schemas.microsoft.com/office/drawing/2014/main" id="{FA81BFE9-7D5D-A9B4-FA34-9C858AAC7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368" y="3400839"/>
            <a:ext cx="5913438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A251FF-1FCC-2A18-43F7-11717D43CF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8"/>
          <a:stretch/>
        </p:blipFill>
        <p:spPr>
          <a:xfrm>
            <a:off x="268194" y="564836"/>
            <a:ext cx="9637806" cy="283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73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BD882-A199-0FB7-29DE-7C8EF605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能用在哪？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B96315-D826-BDAC-3BCB-310EBD7D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5B756A-5CA2-29B1-5251-567D8B6D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/13</a:t>
            </a:r>
            <a:endParaRPr lang="en-US" dirty="0"/>
          </a:p>
        </p:txBody>
      </p:sp>
      <p:pic>
        <p:nvPicPr>
          <p:cNvPr id="6" name="图片 2">
            <a:extLst>
              <a:ext uri="{FF2B5EF4-FFF2-40B4-BE49-F238E27FC236}">
                <a16:creationId xmlns:a16="http://schemas.microsoft.com/office/drawing/2014/main" id="{89E41B23-5D67-A662-807F-ACB9A5EEB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0313"/>
            <a:ext cx="9906000" cy="476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4334888-B79E-BA9E-B949-2080A044CBC8}"/>
              </a:ext>
            </a:extLst>
          </p:cNvPr>
          <p:cNvSpPr/>
          <p:nvPr/>
        </p:nvSpPr>
        <p:spPr>
          <a:xfrm>
            <a:off x="2403475" y="4104721"/>
            <a:ext cx="1962150" cy="3190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137567-8212-6FA4-E6C7-04BF3A173D54}"/>
              </a:ext>
            </a:extLst>
          </p:cNvPr>
          <p:cNvSpPr/>
          <p:nvPr/>
        </p:nvSpPr>
        <p:spPr>
          <a:xfrm>
            <a:off x="2403475" y="2533128"/>
            <a:ext cx="1962150" cy="319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21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ABCFE-9C3D-184A-0133-2FB05208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如果</a:t>
            </a:r>
            <a:r>
              <a:rPr lang="en-US" altLang="zh-CN" dirty="0"/>
              <a:t>FPGA</a:t>
            </a:r>
            <a:r>
              <a:rPr lang="zh-CN" altLang="en-US" dirty="0"/>
              <a:t>禁运了</a:t>
            </a:r>
            <a:r>
              <a:rPr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E32422-FB70-F0EB-E4A5-DD64CAFB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C39F3B-B329-B115-79FE-8923D52A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/13</a:t>
            </a:r>
            <a:endParaRPr lang="en-US" dirty="0"/>
          </a:p>
        </p:txBody>
      </p:sp>
      <p:pic>
        <p:nvPicPr>
          <p:cNvPr id="6" name="图片 6">
            <a:extLst>
              <a:ext uri="{FF2B5EF4-FFF2-40B4-BE49-F238E27FC236}">
                <a16:creationId xmlns:a16="http://schemas.microsoft.com/office/drawing/2014/main" id="{D3552A75-5109-BDAF-5F12-2DA3D4826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347788"/>
            <a:ext cx="8696325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7">
            <a:extLst>
              <a:ext uri="{FF2B5EF4-FFF2-40B4-BE49-F238E27FC236}">
                <a16:creationId xmlns:a16="http://schemas.microsoft.com/office/drawing/2014/main" id="{283AE1AB-CA76-DDAD-3CC9-C0F281914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803" y="5831801"/>
            <a:ext cx="49563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如果你是美国，要对中国进行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FPGA</a:t>
            </a:r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禁运吗</a:t>
            </a:r>
            <a:r>
              <a:rPr lang="en-US" altLang="zh-CN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?</a:t>
            </a:r>
            <a:endParaRPr lang="zh-CN" altLang="en-US" sz="18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270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Times New Roman" panose="02020603050405020304" pitchFamily="18" charset="0"/>
              </a:rPr>
              <a:t>P215-216</a:t>
            </a:r>
            <a:r>
              <a:rPr lang="zh-CN" altLang="en-US" sz="2800" kern="0" dirty="0">
                <a:latin typeface="Times New Roman" panose="02020603050405020304" pitchFamily="18" charset="0"/>
              </a:rPr>
              <a:t>：</a:t>
            </a:r>
            <a:endParaRPr lang="en-US" altLang="zh-CN" sz="2800" kern="0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sz="2400" dirty="0"/>
              <a:t>4.5.1</a:t>
            </a:r>
            <a:r>
              <a:rPr lang="zh-CN" altLang="en-US" sz="2400" dirty="0"/>
              <a:t>，</a:t>
            </a:r>
            <a:r>
              <a:rPr lang="en-US" altLang="zh-CN" sz="2400" dirty="0"/>
              <a:t>4.5.2</a:t>
            </a:r>
            <a:r>
              <a:rPr lang="zh-CN" altLang="en-US" sz="2400" dirty="0"/>
              <a:t>，</a:t>
            </a:r>
            <a:r>
              <a:rPr lang="en-US" altLang="zh-CN" sz="2400" dirty="0"/>
              <a:t>4.5.4</a:t>
            </a:r>
            <a:endParaRPr lang="zh-CN" altLang="en-US" sz="2400" dirty="0"/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10. PLD 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19070</TotalTime>
  <Words>1238</Words>
  <Application>Microsoft Macintosh PowerPoint</Application>
  <PresentationFormat>A4 纸张(210x297 毫米)</PresentationFormat>
  <Paragraphs>175</Paragraphs>
  <Slides>13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Arial Narrow</vt:lpstr>
      <vt:lpstr>Times New Roman</vt:lpstr>
      <vt:lpstr>Office-Design</vt:lpstr>
      <vt:lpstr>图片</vt:lpstr>
      <vt:lpstr>公式</vt:lpstr>
      <vt:lpstr>  模拟与数字电路 Analog and Digital Circuits</vt:lpstr>
      <vt:lpstr>内容提纲</vt:lpstr>
      <vt:lpstr>可编程逻辑器件</vt:lpstr>
      <vt:lpstr>可编程逻辑器件（PLD）基本结构</vt:lpstr>
      <vt:lpstr>PLD中逻辑符号表示</vt:lpstr>
      <vt:lpstr>低密度PLD的与、或阵列结构</vt:lpstr>
      <vt:lpstr>示例：PROM实现组合逻辑</vt:lpstr>
      <vt:lpstr>示例：PLA实现一位全加器</vt:lpstr>
      <vt:lpstr>示例：PAL实现组合逻辑</vt:lpstr>
      <vt:lpstr>FPGA能用在哪？</vt:lpstr>
      <vt:lpstr>FPGA能用在哪？</vt:lpstr>
      <vt:lpstr>如果FPGA禁运了……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2514</cp:revision>
  <cp:lastPrinted>2020-05-26T13:24:01Z</cp:lastPrinted>
  <dcterms:created xsi:type="dcterms:W3CDTF">2020-04-07T12:23:01Z</dcterms:created>
  <dcterms:modified xsi:type="dcterms:W3CDTF">2024-09-26T04:55:50Z</dcterms:modified>
</cp:coreProperties>
</file>