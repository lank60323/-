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handoutMasterIdLst>
    <p:handoutMasterId r:id="rId36"/>
  </p:handoutMasterIdLst>
  <p:sldIdLst>
    <p:sldId id="256" r:id="rId2"/>
    <p:sldId id="444" r:id="rId3"/>
    <p:sldId id="512" r:id="rId4"/>
    <p:sldId id="513" r:id="rId5"/>
    <p:sldId id="514" r:id="rId6"/>
    <p:sldId id="515" r:id="rId7"/>
    <p:sldId id="516" r:id="rId8"/>
    <p:sldId id="554" r:id="rId9"/>
    <p:sldId id="517" r:id="rId10"/>
    <p:sldId id="519" r:id="rId11"/>
    <p:sldId id="553" r:id="rId12"/>
    <p:sldId id="518" r:id="rId13"/>
    <p:sldId id="520" r:id="rId14"/>
    <p:sldId id="521" r:id="rId15"/>
    <p:sldId id="522" r:id="rId16"/>
    <p:sldId id="523" r:id="rId17"/>
    <p:sldId id="524" r:id="rId18"/>
    <p:sldId id="525" r:id="rId19"/>
    <p:sldId id="526" r:id="rId20"/>
    <p:sldId id="511" r:id="rId21"/>
    <p:sldId id="538" r:id="rId22"/>
    <p:sldId id="539" r:id="rId23"/>
    <p:sldId id="540" r:id="rId24"/>
    <p:sldId id="546" r:id="rId25"/>
    <p:sldId id="541" r:id="rId26"/>
    <p:sldId id="547" r:id="rId27"/>
    <p:sldId id="548" r:id="rId28"/>
    <p:sldId id="549" r:id="rId29"/>
    <p:sldId id="550" r:id="rId30"/>
    <p:sldId id="551" r:id="rId31"/>
    <p:sldId id="552" r:id="rId32"/>
    <p:sldId id="543" r:id="rId33"/>
    <p:sldId id="542" r:id="rId34"/>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582"/>
    <p:restoredTop sz="76820"/>
  </p:normalViewPr>
  <p:slideViewPr>
    <p:cSldViewPr snapToGrid="0" snapToObjects="1">
      <p:cViewPr>
        <p:scale>
          <a:sx n="124" d="100"/>
          <a:sy n="124" d="100"/>
        </p:scale>
        <p:origin x="184" y="-832"/>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2024/11/21</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2024/11/21</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The transistor is considered by many to be one of the greatest inventions of the twentieth century. It is the fundamental building block of modern electronic devices, and is ubiquitous in modern electronic systems. Today, some transistors are packaged individually, but many more are found embedded in integrated circuits. Although several companies each produce over a billion individually packaged (known as </a:t>
            </a:r>
            <a:r>
              <a:rPr lang="en-US" altLang="zh-CN" i="1" dirty="0"/>
              <a:t>discrete</a:t>
            </a:r>
            <a:r>
              <a:rPr lang="en-US" altLang="zh-CN" dirty="0"/>
              <a:t>) transistors every year,[10] the vast majority of transistors now produced are in integrated circuits (often shortened to </a:t>
            </a:r>
            <a:r>
              <a:rPr lang="en-US" altLang="zh-CN" i="1" dirty="0"/>
              <a:t>IC</a:t>
            </a:r>
            <a:r>
              <a:rPr lang="en-US" altLang="zh-CN" dirty="0"/>
              <a:t>, </a:t>
            </a:r>
            <a:r>
              <a:rPr lang="en-US" altLang="zh-CN" i="1" dirty="0"/>
              <a:t>microchips</a:t>
            </a:r>
            <a:r>
              <a:rPr lang="en-US" altLang="zh-CN" dirty="0"/>
              <a:t> or simply </a:t>
            </a:r>
            <a:r>
              <a:rPr lang="en-US" altLang="zh-CN" i="1" dirty="0"/>
              <a:t>chips</a:t>
            </a:r>
            <a:r>
              <a:rPr lang="en-US" altLang="zh-CN" dirty="0"/>
              <a:t>), along with diodes, resistors, capacitors and other electronic components, to produce complete electronic circuits. A logic gate consists of up to about twenty transistors whereas an advanced microprocessor, as of 2011, can use as many as 3 billion transistors (MOSFETs).</a:t>
            </a:r>
          </a:p>
          <a:p>
            <a:pPr eaLnBrk="1" hangingPunct="1"/>
            <a:endParaRPr lang="zh-CN" altLang="en-US" dirty="0"/>
          </a:p>
          <a:p>
            <a:pPr eaLnBrk="1" hangingPunct="1"/>
            <a:r>
              <a:rPr lang="en-US" altLang="zh-CN" dirty="0"/>
              <a:t>The essential usefulness of a transistor comes from its ability to use a small signal applied between one pair of its terminals to control a much larger signal at another pair of terminals. A transistor can control its output in proportion to the input signal; that is, it can act as an amplifier. Alternatively, the transistor can be used to turn current on or off in a circuit as an electrically controlled switch.</a:t>
            </a:r>
          </a:p>
          <a:p>
            <a:pPr eaLnBrk="1" hangingPunct="1"/>
            <a:endParaRPr lang="en-US" altLang="zh-CN" dirty="0"/>
          </a:p>
          <a:p>
            <a:pPr eaLnBrk="1" hangingPunct="1"/>
            <a:r>
              <a:rPr lang="en-US" altLang="zh-CN" dirty="0"/>
              <a:t>Transistors are categorized by:</a:t>
            </a:r>
          </a:p>
          <a:p>
            <a:pPr lvl="1" eaLnBrk="1" hangingPunct="1">
              <a:buFontTx/>
              <a:buChar char="•"/>
            </a:pPr>
            <a:r>
              <a:rPr lang="en-US" altLang="zh-CN" dirty="0"/>
              <a:t>Semiconductor material: germanium, silicon, gallium arsenide, silicon carbide, etc. </a:t>
            </a:r>
          </a:p>
          <a:p>
            <a:pPr lvl="1" eaLnBrk="1" hangingPunct="1">
              <a:buFontTx/>
              <a:buChar char="•"/>
            </a:pPr>
            <a:r>
              <a:rPr lang="en-US" altLang="zh-CN" dirty="0"/>
              <a:t>Structure: BJT, JFET, IGFET (MOSFET), IGBT, "other types" </a:t>
            </a:r>
          </a:p>
          <a:p>
            <a:pPr lvl="1" eaLnBrk="1" hangingPunct="1">
              <a:buFontTx/>
              <a:buChar char="•"/>
            </a:pPr>
            <a:r>
              <a:rPr lang="en-US" altLang="zh-CN" dirty="0"/>
              <a:t>Polarity: NPN, PNP (BJTs); N-channel, P-channel (FETs) </a:t>
            </a:r>
          </a:p>
          <a:p>
            <a:pPr lvl="1" eaLnBrk="1" hangingPunct="1">
              <a:buFontTx/>
              <a:buChar char="•"/>
            </a:pPr>
            <a:r>
              <a:rPr lang="en-US" altLang="zh-CN" dirty="0"/>
              <a:t>Maximum power rating: low, medium, high </a:t>
            </a:r>
          </a:p>
          <a:p>
            <a:pPr lvl="1" eaLnBrk="1" hangingPunct="1">
              <a:buFontTx/>
              <a:buChar char="•"/>
            </a:pPr>
            <a:r>
              <a:rPr lang="en-US" altLang="zh-CN" dirty="0"/>
              <a:t>Maximum operating frequency: low, medium, high, radio frequency (RF), microwave (The maximum effective frequency of a transistor is denoted by the term </a:t>
            </a:r>
            <a:r>
              <a:rPr lang="en-US" altLang="zh-CN" dirty="0" err="1"/>
              <a:t>fT</a:t>
            </a:r>
            <a:r>
              <a:rPr lang="en-US" altLang="zh-CN" dirty="0"/>
              <a:t>, an abbreviation for "frequency of transition". The frequency of transition is the frequency at which the transistor yields unity gain). </a:t>
            </a:r>
          </a:p>
          <a:p>
            <a:pPr lvl="1" eaLnBrk="1" hangingPunct="1">
              <a:buFontTx/>
              <a:buChar char="•"/>
            </a:pPr>
            <a:r>
              <a:rPr lang="en-US" altLang="zh-CN" dirty="0"/>
              <a:t>Application: switch, general purpose, audio, high voltage, super-beta, matched pair </a:t>
            </a:r>
          </a:p>
          <a:p>
            <a:pPr lvl="1" eaLnBrk="1" hangingPunct="1">
              <a:buFontTx/>
              <a:buChar char="•"/>
            </a:pPr>
            <a:r>
              <a:rPr lang="en-US" altLang="zh-CN" dirty="0"/>
              <a:t>Physical packaging: through hole metal, through hole plastic, surface mount, ball grid array, power modules </a:t>
            </a:r>
          </a:p>
          <a:p>
            <a:pPr lvl="1" eaLnBrk="1" hangingPunct="1">
              <a:buFontTx/>
              <a:buChar char="•"/>
            </a:pPr>
            <a:r>
              <a:rPr lang="en-US" altLang="zh-CN" dirty="0"/>
              <a:t>Amplification factor </a:t>
            </a:r>
            <a:r>
              <a:rPr lang="en-US" altLang="zh-CN" dirty="0" err="1"/>
              <a:t>hfe</a:t>
            </a:r>
            <a:r>
              <a:rPr lang="en-US" altLang="zh-CN" dirty="0"/>
              <a:t> (transistor beta)[14] </a:t>
            </a:r>
          </a:p>
          <a:p>
            <a:pPr eaLnBrk="1" hangingPunct="1"/>
            <a:r>
              <a:rPr lang="en-US" altLang="zh-CN" dirty="0"/>
              <a:t>Thus, a particular transistor may be described as silicon, surface mount, BJT, NPN, low power, high frequency switch.</a:t>
            </a:r>
          </a:p>
          <a:p>
            <a:pPr eaLnBrk="1" hangingPunct="1"/>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126431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具有电流放大作用的三极管，其内部结构的特点是：</a:t>
            </a:r>
          </a:p>
          <a:p>
            <a:pPr eaLnBrk="1" hangingPunct="1"/>
            <a:r>
              <a:rPr kumimoji="1" lang="zh-CN" altLang="en-US" dirty="0">
                <a:solidFill>
                  <a:srgbClr val="000000"/>
                </a:solidFill>
              </a:rPr>
              <a:t>    ① 发射区的掺杂溶度远高于基区和集电区的掺杂溶度；</a:t>
            </a:r>
          </a:p>
          <a:p>
            <a:pPr eaLnBrk="1" hangingPunct="1"/>
            <a:r>
              <a:rPr kumimoji="1" lang="zh-CN" altLang="en-US" dirty="0">
                <a:solidFill>
                  <a:srgbClr val="000000"/>
                </a:solidFill>
              </a:rPr>
              <a:t>    ③ 基区掺杂浓度最低且很薄；</a:t>
            </a:r>
          </a:p>
          <a:p>
            <a:pPr eaLnBrk="1" hangingPunct="1"/>
            <a:r>
              <a:rPr kumimoji="1" lang="zh-CN" altLang="en-US" dirty="0">
                <a:solidFill>
                  <a:srgbClr val="000000"/>
                </a:solidFill>
              </a:rPr>
              <a:t>    ② 集电结的面积比发射结的面积大。</a:t>
            </a:r>
          </a:p>
          <a:p>
            <a:pPr eaLnBrk="1" hangingPunct="1"/>
            <a:r>
              <a:rPr kumimoji="1" lang="zh-CN" altLang="en-US" dirty="0">
                <a:solidFill>
                  <a:srgbClr val="000000"/>
                </a:solidFill>
              </a:rPr>
              <a:t>这种结构上的特点是三极管具有放大作用的基础与内部条件。</a:t>
            </a:r>
          </a:p>
          <a:p>
            <a:pPr eaLnBrk="1" hangingPunct="1"/>
            <a:r>
              <a:rPr kumimoji="1" lang="zh-CN" altLang="en-US" dirty="0">
                <a:solidFill>
                  <a:srgbClr val="000000"/>
                </a:solidFill>
              </a:rPr>
              <a:t>三极管工作时发射结加正向电压，集电结加反向电压称为具有放大用的外部条件。 </a:t>
            </a:r>
          </a:p>
          <a:p>
            <a:pPr eaLnBrk="1" hangingPunct="1"/>
            <a:r>
              <a:rPr kumimoji="1" lang="zh-CN" altLang="en-US" dirty="0">
                <a:solidFill>
                  <a:srgbClr val="000000"/>
                </a:solidFill>
              </a:rPr>
              <a:t>因此，在应用时，集电极（</a:t>
            </a:r>
            <a:r>
              <a:rPr kumimoji="1" lang="en-US" altLang="zh-CN" dirty="0">
                <a:solidFill>
                  <a:srgbClr val="000000"/>
                </a:solidFill>
              </a:rPr>
              <a:t>c</a:t>
            </a:r>
            <a:r>
              <a:rPr kumimoji="1" lang="zh-CN" altLang="en-US" dirty="0">
                <a:solidFill>
                  <a:srgbClr val="000000"/>
                </a:solidFill>
              </a:rPr>
              <a:t>）和发射极（</a:t>
            </a:r>
            <a:r>
              <a:rPr kumimoji="1" lang="en-US" altLang="zh-CN" dirty="0">
                <a:solidFill>
                  <a:srgbClr val="000000"/>
                </a:solidFill>
              </a:rPr>
              <a:t>e</a:t>
            </a:r>
            <a:r>
              <a:rPr kumimoji="1" lang="zh-CN" altLang="en-US" dirty="0">
                <a:solidFill>
                  <a:srgbClr val="000000"/>
                </a:solidFill>
              </a:rPr>
              <a:t>）是不能随意互换的。</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4</a:t>
            </a:fld>
            <a:endParaRPr lang="zh-CN" altLang="en-US"/>
          </a:p>
        </p:txBody>
      </p:sp>
    </p:spTree>
    <p:extLst>
      <p:ext uri="{BB962C8B-B14F-4D97-AF65-F5344CB8AC3E}">
        <p14:creationId xmlns:p14="http://schemas.microsoft.com/office/powerpoint/2010/main" val="2602987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en-US" altLang="zh-CN" dirty="0"/>
              <a:t> </a:t>
            </a:r>
            <a:r>
              <a:rPr kumimoji="1" lang="zh-CN" altLang="en-US" dirty="0"/>
              <a:t>参见模电　</a:t>
            </a:r>
            <a:r>
              <a:rPr kumimoji="1" lang="en-US" altLang="zh-CN" dirty="0"/>
              <a:t>P160-161</a:t>
            </a:r>
          </a:p>
          <a:p>
            <a:pPr eaLnBrk="1" hangingPunct="1"/>
            <a:endParaRPr kumimoji="1" lang="en-US" altLang="zh-CN" dirty="0"/>
          </a:p>
          <a:p>
            <a:pPr eaLnBrk="1" hangingPunct="1"/>
            <a:r>
              <a:rPr kumimoji="1" lang="zh-CN" altLang="en-US" dirty="0"/>
              <a:t>发射区多子电子向基区扩散形成电流</a:t>
            </a:r>
            <a:r>
              <a:rPr kumimoji="1" lang="en-US" altLang="zh-CN" dirty="0"/>
              <a:t>IEN</a:t>
            </a:r>
            <a:r>
              <a:rPr kumimoji="1" lang="zh-CN" altLang="en-US" dirty="0"/>
              <a:t>，在基区被复合的电子形成电流</a:t>
            </a:r>
            <a:r>
              <a:rPr kumimoji="1" lang="en-US" altLang="zh-CN" dirty="0"/>
              <a:t>IBN</a:t>
            </a:r>
            <a:r>
              <a:rPr kumimoji="1" lang="zh-CN" altLang="en-US" dirty="0"/>
              <a:t>，余下电子向集电区漂移形成电流</a:t>
            </a:r>
            <a:r>
              <a:rPr kumimoji="1" lang="en-US" altLang="zh-CN" dirty="0"/>
              <a:t>ICN</a:t>
            </a:r>
            <a:r>
              <a:rPr kumimoji="1" lang="zh-CN" altLang="en-US" dirty="0"/>
              <a:t>。</a:t>
            </a:r>
          </a:p>
          <a:p>
            <a:pPr eaLnBrk="1" hangingPunct="1"/>
            <a:r>
              <a:rPr kumimoji="1" lang="zh-CN" altLang="en-US" dirty="0">
                <a:latin typeface="Times New Roman" panose="02020603050405020304" pitchFamily="18" charset="0"/>
              </a:rPr>
              <a:t>基区多子空穴向发射区扩散形成电流</a:t>
            </a:r>
            <a:r>
              <a:rPr kumimoji="1" lang="en-US" altLang="zh-CN" dirty="0">
                <a:latin typeface="Times New Roman" panose="02020603050405020304" pitchFamily="18" charset="0"/>
              </a:rPr>
              <a:t>I</a:t>
            </a:r>
            <a:r>
              <a:rPr kumimoji="1" lang="en-US" altLang="zh-CN" sz="900" dirty="0">
                <a:latin typeface="Times New Roman" panose="02020603050405020304" pitchFamily="18" charset="0"/>
              </a:rPr>
              <a:t>EP</a:t>
            </a:r>
            <a:r>
              <a:rPr kumimoji="1" lang="zh-CN" altLang="en-US" sz="900" dirty="0">
                <a:latin typeface="Times New Roman" panose="02020603050405020304" pitchFamily="18" charset="0"/>
              </a:rPr>
              <a:t>。</a:t>
            </a:r>
            <a:r>
              <a:rPr kumimoji="1" lang="zh-CN" altLang="en-US" dirty="0">
                <a:latin typeface="Times New Roman" panose="02020603050405020304" pitchFamily="18" charset="0"/>
              </a:rPr>
              <a:t>集电结区两侧少子形成漂移电流</a:t>
            </a:r>
            <a:r>
              <a:rPr kumimoji="1" lang="en-US" altLang="zh-CN" dirty="0">
                <a:latin typeface="Times New Roman" panose="02020603050405020304" pitchFamily="18" charset="0"/>
              </a:rPr>
              <a:t>I</a:t>
            </a:r>
            <a:r>
              <a:rPr kumimoji="1" lang="en-US" altLang="zh-CN" sz="900" dirty="0">
                <a:latin typeface="Times New Roman" panose="02020603050405020304" pitchFamily="18" charset="0"/>
              </a:rPr>
              <a:t>CBO</a:t>
            </a:r>
            <a:r>
              <a:rPr kumimoji="1" lang="zh-CN" altLang="en-US" sz="900" dirty="0">
                <a:latin typeface="Times New Roman" panose="02020603050405020304" pitchFamily="18" charset="0"/>
              </a:rPr>
              <a:t>。</a:t>
            </a:r>
          </a:p>
          <a:p>
            <a:pPr eaLnBrk="1" hangingPunct="1"/>
            <a:endParaRPr kumimoji="1" lang="en-US" altLang="zh-CN" sz="900" dirty="0">
              <a:latin typeface="Times New Roman" panose="02020603050405020304" pitchFamily="18" charset="0"/>
            </a:endParaRPr>
          </a:p>
          <a:p>
            <a:pPr eaLnBrk="1" hangingPunct="1"/>
            <a:r>
              <a:rPr kumimoji="1" lang="el-GR" altLang="zh-CN" dirty="0"/>
              <a:t>α</a:t>
            </a:r>
            <a:r>
              <a:rPr kumimoji="1" lang="zh-CN" altLang="en-US" dirty="0"/>
              <a:t>为电流放大系数。它仅与管子的结构尺寸和掺杂浓度有关，与外加电压无关。一般</a:t>
            </a:r>
            <a:r>
              <a:rPr kumimoji="1" lang="el-GR" altLang="zh-CN" dirty="0"/>
              <a:t>α</a:t>
            </a:r>
            <a:r>
              <a:rPr kumimoji="1" lang="zh-CN" altLang="en-US" dirty="0"/>
              <a:t> </a:t>
            </a:r>
            <a:r>
              <a:rPr kumimoji="1" lang="en-US" altLang="zh-CN" dirty="0"/>
              <a:t>= 0.9</a:t>
            </a:r>
            <a:r>
              <a:rPr kumimoji="1" lang="zh-CN" altLang="en-US" dirty="0"/>
              <a:t>～</a:t>
            </a:r>
            <a:r>
              <a:rPr kumimoji="1" lang="en-US" altLang="zh-CN" dirty="0"/>
              <a:t>0.99</a:t>
            </a:r>
            <a:r>
              <a:rPr kumimoji="1" lang="zh-CN" altLang="en-US" dirty="0"/>
              <a:t>。</a:t>
            </a:r>
          </a:p>
          <a:p>
            <a:pPr eaLnBrk="1" hangingPunct="1"/>
            <a:r>
              <a:rPr kumimoji="1" lang="el-GR" altLang="zh-CN" dirty="0"/>
              <a:t>β</a:t>
            </a:r>
            <a:r>
              <a:rPr kumimoji="1" lang="zh-CN" altLang="en-US" dirty="0"/>
              <a:t>是另一个电流放大系数。同样，它仅与管子的结构尺寸和掺杂浓度有关，与外加电压无关。一般</a:t>
            </a:r>
            <a:r>
              <a:rPr kumimoji="1" lang="el-GR" altLang="zh-CN" dirty="0"/>
              <a:t>β</a:t>
            </a:r>
            <a:r>
              <a:rPr kumimoji="1" lang="zh-CN" altLang="en-US" dirty="0"/>
              <a:t> </a:t>
            </a:r>
            <a:r>
              <a:rPr kumimoji="1" lang="en-US" altLang="zh-CN" dirty="0"/>
              <a:t>&gt;&gt;1</a:t>
            </a:r>
            <a:r>
              <a:rPr kumimoji="1" lang="zh-CN" altLang="en-US" dirty="0"/>
              <a:t>。</a:t>
            </a:r>
            <a:endParaRPr kumimoji="1" lang="en-US" altLang="zh-CN" sz="900" dirty="0">
              <a:latin typeface="Times New Roman" panose="02020603050405020304" pitchFamily="18" charset="0"/>
            </a:endParaRPr>
          </a:p>
          <a:p>
            <a:pPr eaLnBrk="1" hangingPunct="1"/>
            <a:endParaRPr kumimoji="1" lang="zh-CN" altLang="en-US" sz="900" dirty="0">
              <a:latin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1358255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dirty="0">
                <a:solidFill>
                  <a:srgbClr val="000000"/>
                </a:solidFill>
                <a:latin typeface="幼圆" panose="02010509060101010101" pitchFamily="49" charset="-122"/>
                <a:ea typeface="幼圆" panose="02010509060101010101" pitchFamily="49" charset="-122"/>
              </a:rPr>
              <a:t>发射区向基区</a:t>
            </a:r>
            <a:r>
              <a:rPr lang="zh-CN" altLang="en-US" sz="1200" dirty="0">
                <a:solidFill>
                  <a:srgbClr val="FF0000"/>
                </a:solidFill>
                <a:latin typeface="幼圆" panose="02010509060101010101" pitchFamily="49" charset="-122"/>
                <a:ea typeface="幼圆" panose="02010509060101010101" pitchFamily="49" charset="-122"/>
              </a:rPr>
              <a:t>注入</a:t>
            </a:r>
            <a:r>
              <a:rPr lang="zh-CN" altLang="en-US" sz="1200" dirty="0">
                <a:solidFill>
                  <a:srgbClr val="000000"/>
                </a:solidFill>
                <a:latin typeface="幼圆" panose="02010509060101010101" pitchFamily="49" charset="-122"/>
                <a:ea typeface="幼圆" panose="02010509060101010101" pitchFamily="49" charset="-122"/>
              </a:rPr>
              <a:t>载流子；</a:t>
            </a:r>
          </a:p>
          <a:p>
            <a:pPr eaLnBrk="1" hangingPunct="1">
              <a:lnSpc>
                <a:spcPct val="120000"/>
              </a:lnSpc>
            </a:pPr>
            <a:r>
              <a:rPr lang="zh-CN" altLang="en-US" sz="1200" dirty="0">
                <a:solidFill>
                  <a:srgbClr val="000000"/>
                </a:solidFill>
                <a:latin typeface="幼圆" panose="02010509060101010101" pitchFamily="49" charset="-122"/>
                <a:ea typeface="幼圆" panose="02010509060101010101" pitchFamily="49" charset="-122"/>
              </a:rPr>
              <a:t>基区</a:t>
            </a:r>
            <a:r>
              <a:rPr lang="zh-CN" altLang="en-US" sz="1200" dirty="0">
                <a:solidFill>
                  <a:srgbClr val="FF0000"/>
                </a:solidFill>
                <a:latin typeface="幼圆" panose="02010509060101010101" pitchFamily="49" charset="-122"/>
                <a:ea typeface="幼圆" panose="02010509060101010101" pitchFamily="49" charset="-122"/>
              </a:rPr>
              <a:t>传输和控制</a:t>
            </a:r>
            <a:r>
              <a:rPr lang="zh-CN" altLang="en-US" sz="1200" dirty="0">
                <a:solidFill>
                  <a:srgbClr val="000000"/>
                </a:solidFill>
                <a:latin typeface="幼圆" panose="02010509060101010101" pitchFamily="49" charset="-122"/>
                <a:ea typeface="幼圆" panose="02010509060101010101" pitchFamily="49" charset="-122"/>
              </a:rPr>
              <a:t>载流子；</a:t>
            </a:r>
          </a:p>
          <a:p>
            <a:pPr eaLnBrk="1" hangingPunct="1">
              <a:lnSpc>
                <a:spcPct val="120000"/>
              </a:lnSpc>
            </a:pPr>
            <a:r>
              <a:rPr lang="zh-CN" altLang="en-US" sz="1200" dirty="0">
                <a:solidFill>
                  <a:srgbClr val="000000"/>
                </a:solidFill>
                <a:latin typeface="幼圆" panose="02010509060101010101" pitchFamily="49" charset="-122"/>
                <a:ea typeface="幼圆" panose="02010509060101010101" pitchFamily="49" charset="-122"/>
              </a:rPr>
              <a:t>集电区</a:t>
            </a:r>
            <a:r>
              <a:rPr lang="zh-CN" altLang="en-US" sz="1200" dirty="0">
                <a:solidFill>
                  <a:srgbClr val="FF0000"/>
                </a:solidFill>
                <a:latin typeface="幼圆" panose="02010509060101010101" pitchFamily="49" charset="-122"/>
                <a:ea typeface="幼圆" panose="02010509060101010101" pitchFamily="49" charset="-122"/>
              </a:rPr>
              <a:t>收集</a:t>
            </a:r>
            <a:r>
              <a:rPr lang="zh-CN" altLang="en-US" sz="1200" dirty="0">
                <a:solidFill>
                  <a:srgbClr val="000000"/>
                </a:solidFill>
                <a:latin typeface="幼圆" panose="02010509060101010101" pitchFamily="49" charset="-122"/>
                <a:ea typeface="幼圆" panose="02010509060101010101" pitchFamily="49" charset="-122"/>
              </a:rPr>
              <a:t>载流子．</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6</a:t>
            </a:fld>
            <a:endParaRPr lang="zh-CN" altLang="en-US"/>
          </a:p>
        </p:txBody>
      </p:sp>
    </p:spTree>
    <p:extLst>
      <p:ext uri="{BB962C8B-B14F-4D97-AF65-F5344CB8AC3E}">
        <p14:creationId xmlns:p14="http://schemas.microsoft.com/office/powerpoint/2010/main" val="2736366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en-US" altLang="zh-CN" i="1" dirty="0">
                <a:solidFill>
                  <a:srgbClr val="000000"/>
                </a:solidFill>
              </a:rPr>
              <a:t>I</a:t>
            </a:r>
            <a:r>
              <a:rPr kumimoji="1" lang="en-US" altLang="zh-CN" dirty="0">
                <a:solidFill>
                  <a:srgbClr val="000000"/>
                </a:solidFill>
              </a:rPr>
              <a:t>CBO</a:t>
            </a:r>
            <a:r>
              <a:rPr kumimoji="1" lang="zh-CN" altLang="en-US" dirty="0">
                <a:solidFill>
                  <a:srgbClr val="000000"/>
                </a:solidFill>
              </a:rPr>
              <a:t>：</a:t>
            </a:r>
            <a:r>
              <a:rPr kumimoji="1" lang="zh-CN" altLang="en-US" dirty="0">
                <a:solidFill>
                  <a:schemeClr val="bg1"/>
                </a:solidFill>
              </a:rPr>
              <a:t>集电极—基极间反向饱和电流，</a:t>
            </a:r>
            <a:r>
              <a:rPr kumimoji="1" lang="zh-CN" altLang="en-US" dirty="0">
                <a:solidFill>
                  <a:srgbClr val="000000"/>
                </a:solidFill>
              </a:rPr>
              <a:t>为发射极开路时，集电结反向饱和电流。</a:t>
            </a:r>
          </a:p>
          <a:p>
            <a:pPr eaLnBrk="1" hangingPunct="1"/>
            <a:r>
              <a:rPr kumimoji="1" lang="en-US" altLang="zh-CN" i="1" dirty="0">
                <a:solidFill>
                  <a:srgbClr val="000000"/>
                </a:solidFill>
              </a:rPr>
              <a:t>I</a:t>
            </a:r>
            <a:r>
              <a:rPr kumimoji="1" lang="en-US" altLang="zh-CN" dirty="0">
                <a:solidFill>
                  <a:srgbClr val="000000"/>
                </a:solidFill>
              </a:rPr>
              <a:t>CEO</a:t>
            </a:r>
            <a:r>
              <a:rPr kumimoji="1" lang="zh-CN" altLang="en-US" dirty="0">
                <a:solidFill>
                  <a:srgbClr val="000000"/>
                </a:solidFill>
              </a:rPr>
              <a:t>：</a:t>
            </a:r>
            <a:r>
              <a:rPr kumimoji="1" lang="zh-CN" altLang="en-US" dirty="0">
                <a:solidFill>
                  <a:schemeClr val="bg1"/>
                </a:solidFill>
              </a:rPr>
              <a:t>集电极—发射极间反向饱和电流，又称为</a:t>
            </a:r>
            <a:r>
              <a:rPr kumimoji="1" lang="zh-CN" altLang="en-US" dirty="0"/>
              <a:t>集</a:t>
            </a:r>
            <a:r>
              <a:rPr kumimoji="1" lang="en-US" altLang="zh-CN" dirty="0"/>
              <a:t>-</a:t>
            </a:r>
            <a:r>
              <a:rPr kumimoji="1" lang="zh-CN" altLang="en-US" dirty="0"/>
              <a:t>射间穿透电流</a:t>
            </a:r>
            <a:r>
              <a:rPr kumimoji="1" lang="zh-CN" altLang="en-US" dirty="0">
                <a:solidFill>
                  <a:schemeClr val="bg1"/>
                </a:solidFill>
              </a:rPr>
              <a:t>，是</a:t>
            </a:r>
            <a:r>
              <a:rPr kumimoji="1" lang="zh-CN" altLang="en-US" dirty="0">
                <a:solidFill>
                  <a:srgbClr val="000000"/>
                </a:solidFill>
              </a:rPr>
              <a:t>基极开路时集电结反向饱和电流。</a:t>
            </a:r>
          </a:p>
          <a:p>
            <a:pPr eaLnBrk="1" hangingPunct="1"/>
            <a:r>
              <a:rPr kumimoji="1" lang="en-US" altLang="zh-CN" dirty="0"/>
              <a:t> </a:t>
            </a:r>
            <a:r>
              <a:rPr kumimoji="1" lang="el-GR" altLang="zh-CN" dirty="0">
                <a:latin typeface="Times New Roman" panose="02020603050405020304" pitchFamily="18" charset="0"/>
              </a:rPr>
              <a:t>α</a:t>
            </a:r>
            <a:r>
              <a:rPr kumimoji="1" lang="en-US" altLang="zh-CN" dirty="0"/>
              <a:t> </a:t>
            </a:r>
            <a:r>
              <a:rPr kumimoji="1" lang="zh-CN" altLang="en-US" dirty="0"/>
              <a:t>， </a:t>
            </a:r>
            <a:r>
              <a:rPr kumimoji="1" lang="el-GR" altLang="zh-CN" dirty="0">
                <a:latin typeface="Times New Roman" panose="02020603050405020304" pitchFamily="18" charset="0"/>
              </a:rPr>
              <a:t>β</a:t>
            </a:r>
            <a:r>
              <a:rPr kumimoji="1" lang="zh-CN" altLang="en-US" dirty="0"/>
              <a:t>为电流放大系数，只与管子结构尺寸和掺杂浓度有关，与外加电压无关。</a:t>
            </a:r>
          </a:p>
          <a:p>
            <a:pPr eaLnBrk="1" hangingPunct="1"/>
            <a:r>
              <a:rPr kumimoji="1" lang="zh-CN" altLang="en-US" dirty="0"/>
              <a:t>一般情况 </a:t>
            </a:r>
            <a:r>
              <a:rPr kumimoji="1" lang="el-GR" altLang="zh-CN" dirty="0">
                <a:latin typeface="Times New Roman" panose="02020603050405020304" pitchFamily="18" charset="0"/>
              </a:rPr>
              <a:t>α</a:t>
            </a:r>
            <a:r>
              <a:rPr kumimoji="1" lang="en-US" altLang="zh-CN" dirty="0"/>
              <a:t> =0.9</a:t>
            </a:r>
            <a:r>
              <a:rPr kumimoji="1" lang="zh-CN" altLang="en-US" dirty="0"/>
              <a:t>～</a:t>
            </a:r>
            <a:r>
              <a:rPr kumimoji="1" lang="en-US" altLang="zh-CN" dirty="0"/>
              <a:t>0.995</a:t>
            </a:r>
            <a:r>
              <a:rPr kumimoji="1" lang="zh-CN" altLang="en-US" dirty="0"/>
              <a:t>， </a:t>
            </a:r>
            <a:r>
              <a:rPr kumimoji="1" lang="el-GR" altLang="zh-CN" dirty="0">
                <a:latin typeface="Times New Roman" panose="02020603050405020304" pitchFamily="18" charset="0"/>
              </a:rPr>
              <a:t>β</a:t>
            </a:r>
            <a:r>
              <a:rPr kumimoji="1" lang="en-US" altLang="zh-CN" dirty="0"/>
              <a:t> =20</a:t>
            </a:r>
            <a:r>
              <a:rPr kumimoji="1" lang="zh-CN" altLang="en-US" dirty="0"/>
              <a:t>～</a:t>
            </a:r>
            <a:r>
              <a:rPr kumimoji="1" lang="en-US" altLang="zh-CN" dirty="0"/>
              <a:t>200</a:t>
            </a:r>
            <a:r>
              <a:rPr kumimoji="1" lang="zh-CN" altLang="en-US" dirty="0"/>
              <a:t>。</a:t>
            </a:r>
          </a:p>
          <a:p>
            <a:pPr eaLnBrk="1" hangingPunct="1"/>
            <a:r>
              <a:rPr kumimoji="1" lang="en-US" altLang="zh-CN" dirty="0">
                <a:solidFill>
                  <a:srgbClr val="000000"/>
                </a:solidFill>
              </a:rPr>
              <a:t>α</a:t>
            </a:r>
            <a:r>
              <a:rPr kumimoji="1" lang="zh-CN" altLang="en-US" dirty="0">
                <a:solidFill>
                  <a:srgbClr val="000000"/>
                </a:solidFill>
              </a:rPr>
              <a:t>称共基极电流放大系数</a:t>
            </a:r>
            <a:r>
              <a:rPr kumimoji="1" lang="en-US" altLang="zh-CN" dirty="0">
                <a:solidFill>
                  <a:srgbClr val="000000"/>
                </a:solidFill>
              </a:rPr>
              <a:t>, α</a:t>
            </a:r>
            <a:r>
              <a:rPr kumimoji="1" lang="zh-CN" altLang="en-US" dirty="0">
                <a:solidFill>
                  <a:srgbClr val="000000"/>
                </a:solidFill>
              </a:rPr>
              <a:t>是小于</a:t>
            </a:r>
            <a:r>
              <a:rPr kumimoji="1" lang="en-US" altLang="zh-CN" dirty="0">
                <a:solidFill>
                  <a:srgbClr val="000000"/>
                </a:solidFill>
              </a:rPr>
              <a:t>1</a:t>
            </a:r>
            <a:r>
              <a:rPr kumimoji="1" lang="zh-CN" altLang="en-US" dirty="0">
                <a:solidFill>
                  <a:srgbClr val="000000"/>
                </a:solidFill>
              </a:rPr>
              <a:t>且接近于</a:t>
            </a:r>
            <a:r>
              <a:rPr kumimoji="1" lang="en-US" altLang="zh-CN" dirty="0">
                <a:solidFill>
                  <a:srgbClr val="000000"/>
                </a:solidFill>
              </a:rPr>
              <a:t>1</a:t>
            </a:r>
            <a:r>
              <a:rPr kumimoji="1" lang="zh-CN" altLang="en-US" dirty="0">
                <a:solidFill>
                  <a:srgbClr val="000000"/>
                </a:solidFill>
              </a:rPr>
              <a:t>的值。</a:t>
            </a:r>
            <a:endParaRPr kumimoji="1" lang="en-US" altLang="zh-CN" dirty="0">
              <a:solidFill>
                <a:schemeClr val="bg1"/>
              </a:solidFill>
            </a:endParaRPr>
          </a:p>
          <a:p>
            <a:pPr eaLnBrk="1" hangingPunct="1"/>
            <a:r>
              <a:rPr kumimoji="1" lang="en-US" altLang="zh-CN" dirty="0">
                <a:solidFill>
                  <a:srgbClr val="000000"/>
                </a:solidFill>
              </a:rPr>
              <a:t>β</a:t>
            </a:r>
            <a:r>
              <a:rPr kumimoji="1" lang="zh-CN" altLang="en-US" dirty="0">
                <a:solidFill>
                  <a:srgbClr val="000000"/>
                </a:solidFill>
              </a:rPr>
              <a:t>称为共发射极电流放大系数。</a:t>
            </a:r>
            <a:endParaRPr kumimoji="1" lang="en-US" altLang="zh-CN" dirty="0">
              <a:solidFill>
                <a:srgbClr val="000000"/>
              </a:solidFill>
            </a:endParaRPr>
          </a:p>
          <a:p>
            <a:pPr eaLnBrk="1" hangingPunct="1"/>
            <a:endParaRPr kumimoji="1" lang="en-US" altLang="zh-CN" dirty="0">
              <a:solidFill>
                <a:srgbClr val="000000"/>
              </a:solidFill>
            </a:endParaRPr>
          </a:p>
          <a:p>
            <a:pPr eaLnBrk="1" hangingPunct="1"/>
            <a:endParaRPr kumimoji="1" lang="en-US" altLang="zh-CN" dirty="0">
              <a:solidFill>
                <a:srgbClr val="000000"/>
              </a:solidFill>
            </a:endParaRPr>
          </a:p>
          <a:p>
            <a:pPr eaLnBrk="1" hangingPunct="1"/>
            <a:r>
              <a:rPr kumimoji="1" lang="zh-CN" altLang="en-US" dirty="0">
                <a:solidFill>
                  <a:srgbClr val="000000"/>
                </a:solidFill>
              </a:rPr>
              <a:t>推导过程：</a:t>
            </a:r>
            <a:r>
              <a:rPr kumimoji="1" lang="en-US" altLang="zh-CN" dirty="0">
                <a:solidFill>
                  <a:srgbClr val="000000"/>
                </a:solidFill>
              </a:rPr>
              <a:t>I_C= I_CN+I_CBO = alfa * I_EN + I_CBO = alfa *(I_E-I_EP) + I_CBO -&gt;(I_EP</a:t>
            </a:r>
            <a:r>
              <a:rPr kumimoji="1" lang="zh-CN" altLang="en-US" dirty="0">
                <a:solidFill>
                  <a:srgbClr val="000000"/>
                </a:solidFill>
              </a:rPr>
              <a:t>很小）</a:t>
            </a:r>
            <a:r>
              <a:rPr kumimoji="1" lang="en-US" altLang="zh-CN" dirty="0">
                <a:solidFill>
                  <a:srgbClr val="000000"/>
                </a:solidFill>
              </a:rPr>
              <a:t> alfa * I_E + I_CBO -&gt;(I_CBO</a:t>
            </a:r>
            <a:r>
              <a:rPr kumimoji="1" lang="zh-CN" altLang="en-US" dirty="0">
                <a:solidFill>
                  <a:srgbClr val="000000"/>
                </a:solidFill>
              </a:rPr>
              <a:t>很小</a:t>
            </a:r>
            <a:r>
              <a:rPr kumimoji="1" lang="en-US" altLang="zh-CN" dirty="0">
                <a:solidFill>
                  <a:srgbClr val="000000"/>
                </a:solidFill>
              </a:rPr>
              <a:t>) alfa * IE</a:t>
            </a:r>
            <a:r>
              <a:rPr kumimoji="1" lang="zh-CN" altLang="en-US" dirty="0">
                <a:solidFill>
                  <a:srgbClr val="000000"/>
                </a:solidFill>
              </a:rPr>
              <a:t>；</a:t>
            </a:r>
            <a:r>
              <a:rPr kumimoji="1" lang="en-US" altLang="zh-CN" dirty="0">
                <a:solidFill>
                  <a:srgbClr val="000000"/>
                </a:solidFill>
              </a:rPr>
              <a:t> </a:t>
            </a:r>
            <a:r>
              <a:rPr kumimoji="1" lang="zh-CN" altLang="en-US" dirty="0">
                <a:solidFill>
                  <a:srgbClr val="000000"/>
                </a:solidFill>
              </a:rPr>
              <a:t>即</a:t>
            </a:r>
            <a:r>
              <a:rPr kumimoji="1" lang="en-US" altLang="zh-CN" dirty="0">
                <a:solidFill>
                  <a:srgbClr val="000000"/>
                </a:solidFill>
              </a:rPr>
              <a:t> I_C ~= alfa * I_E</a:t>
            </a:r>
          </a:p>
          <a:p>
            <a:pPr eaLnBrk="1" hangingPunct="1"/>
            <a:endParaRPr kumimoji="1" lang="en-US" altLang="zh-CN" dirty="0">
              <a:solidFill>
                <a:srgbClr val="000000"/>
              </a:solidFill>
            </a:endParaRPr>
          </a:p>
          <a:p>
            <a:pPr eaLnBrk="1" hangingPunct="1"/>
            <a:r>
              <a:rPr kumimoji="1" lang="zh-CN" altLang="en-US" dirty="0">
                <a:solidFill>
                  <a:srgbClr val="000000"/>
                </a:solidFill>
              </a:rPr>
              <a:t>由于</a:t>
            </a:r>
            <a:r>
              <a:rPr kumimoji="1" lang="en-US" altLang="zh-CN" dirty="0">
                <a:solidFill>
                  <a:srgbClr val="000000"/>
                </a:solidFill>
              </a:rPr>
              <a:t>I_E= I_C + I_B</a:t>
            </a:r>
          </a:p>
          <a:p>
            <a:pPr eaLnBrk="1" hangingPunct="1"/>
            <a:r>
              <a:rPr kumimoji="1" lang="zh-CN" altLang="en-US" dirty="0">
                <a:solidFill>
                  <a:srgbClr val="000000"/>
                </a:solidFill>
              </a:rPr>
              <a:t>因此：</a:t>
            </a:r>
            <a:r>
              <a:rPr kumimoji="1" lang="en-US" altLang="zh-CN" dirty="0">
                <a:solidFill>
                  <a:srgbClr val="000000"/>
                </a:solidFill>
              </a:rPr>
              <a:t>I_C/alfa = I_C + I_B</a:t>
            </a:r>
          </a:p>
          <a:p>
            <a:pPr eaLnBrk="1" hangingPunct="1"/>
            <a:r>
              <a:rPr kumimoji="1" lang="zh-CN" altLang="en-US" dirty="0">
                <a:solidFill>
                  <a:srgbClr val="000000"/>
                </a:solidFill>
              </a:rPr>
              <a:t>得到</a:t>
            </a:r>
            <a:r>
              <a:rPr kumimoji="1" lang="en-US" altLang="zh-CN" dirty="0">
                <a:solidFill>
                  <a:srgbClr val="000000"/>
                </a:solidFill>
                <a:sym typeface="Wingdings" panose="05000000000000000000" pitchFamily="2" charset="2"/>
              </a:rPr>
              <a:t>(1/alfa -1) * I_C = I_B </a:t>
            </a:r>
          </a:p>
          <a:p>
            <a:pPr eaLnBrk="1" hangingPunct="1"/>
            <a:r>
              <a:rPr kumimoji="1" lang="zh-CN" altLang="en-US" dirty="0">
                <a:solidFill>
                  <a:srgbClr val="000000"/>
                </a:solidFill>
                <a:sym typeface="Wingdings" panose="05000000000000000000" pitchFamily="2" charset="2"/>
              </a:rPr>
              <a:t>整理得到</a:t>
            </a:r>
            <a:r>
              <a:rPr kumimoji="1" lang="en-US" altLang="zh-CN" dirty="0">
                <a:solidFill>
                  <a:srgbClr val="000000"/>
                </a:solidFill>
                <a:sym typeface="Wingdings" panose="05000000000000000000" pitchFamily="2" charset="2"/>
              </a:rPr>
              <a:t> I_C = I_B /(1/alfa -1) = alfa/(1-alfa)*I_B = beta * I_B; </a:t>
            </a:r>
            <a:r>
              <a:rPr kumimoji="1" lang="zh-CN" altLang="en-US" dirty="0">
                <a:solidFill>
                  <a:srgbClr val="000000"/>
                </a:solidFill>
                <a:sym typeface="Wingdings" panose="05000000000000000000" pitchFamily="2" charset="2"/>
              </a:rPr>
              <a:t>即</a:t>
            </a:r>
            <a:r>
              <a:rPr kumimoji="1" lang="en-US" altLang="zh-CN" dirty="0">
                <a:solidFill>
                  <a:srgbClr val="000000"/>
                </a:solidFill>
                <a:sym typeface="Wingdings" panose="05000000000000000000" pitchFamily="2" charset="2"/>
              </a:rPr>
              <a:t>I_C = beta* I_B</a:t>
            </a:r>
          </a:p>
          <a:p>
            <a:pPr eaLnBrk="1" hangingPunct="1"/>
            <a:endParaRPr kumimoji="1" lang="en-US" altLang="zh-CN" dirty="0">
              <a:solidFill>
                <a:srgbClr val="000000"/>
              </a:solidFill>
              <a:sym typeface="Wingdings" panose="05000000000000000000" pitchFamily="2" charset="2"/>
            </a:endParaRPr>
          </a:p>
          <a:p>
            <a:pPr eaLnBrk="1" hangingPunct="1"/>
            <a:r>
              <a:rPr kumimoji="1" lang="zh-CN" altLang="en-US" dirty="0">
                <a:solidFill>
                  <a:srgbClr val="000000"/>
                </a:solidFill>
                <a:sym typeface="Wingdings" panose="05000000000000000000" pitchFamily="2" charset="2"/>
              </a:rPr>
              <a:t>所以</a:t>
            </a:r>
            <a:r>
              <a:rPr kumimoji="1" lang="en-US" altLang="zh-CN" dirty="0">
                <a:solidFill>
                  <a:srgbClr val="000000"/>
                </a:solidFill>
                <a:sym typeface="Wingdings" panose="05000000000000000000" pitchFamily="2" charset="2"/>
              </a:rPr>
              <a:t> I_E=I_C+I_B=beta*I_B + I_B = (1+beta) * I_B</a:t>
            </a:r>
            <a:endParaRPr kumimoji="1" lang="en-US" altLang="zh-CN" dirty="0">
              <a:solidFill>
                <a:srgbClr val="000000"/>
              </a:solidFill>
            </a:endParaRPr>
          </a:p>
          <a:p>
            <a:pPr eaLnBrk="1" hangingPunct="1"/>
            <a:endParaRPr kumimoji="1" lang="en-US" altLang="zh-CN" i="1" dirty="0">
              <a:solidFill>
                <a:srgbClr val="000000"/>
              </a:solidFill>
            </a:endParaRPr>
          </a:p>
          <a:p>
            <a:pPr eaLnBrk="1" hangingPunct="1"/>
            <a:r>
              <a:rPr lang="zh-CN" altLang="en-US" dirty="0"/>
              <a:t>！</a:t>
            </a:r>
            <a:r>
              <a:rPr lang="en-US" altLang="zh-CN" dirty="0"/>
              <a:t>! </a:t>
            </a:r>
            <a:r>
              <a:rPr lang="en-US" altLang="ja-JP" dirty="0"/>
              <a:t>alfa</a:t>
            </a:r>
            <a:r>
              <a:rPr lang="zh-CN" altLang="en-US" dirty="0"/>
              <a:t>和模电书</a:t>
            </a:r>
            <a:r>
              <a:rPr lang="en-US" altLang="ja-JP" dirty="0"/>
              <a:t>P162</a:t>
            </a:r>
            <a:r>
              <a:rPr lang="zh-CN" altLang="en-US" dirty="0"/>
              <a:t>定义不同，但如果忽略比较小的漂移少子造成的电流则一致。</a:t>
            </a:r>
            <a:endParaRPr kumimoji="1" lang="en-US" altLang="zh-CN" i="1" dirty="0">
              <a:solidFill>
                <a:srgbClr val="000000"/>
              </a:solidFill>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1389636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4242068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dirty="0">
                <a:latin typeface="Times New Roman" panose="02020603050405020304" pitchFamily="18" charset="0"/>
              </a:rPr>
              <a:t>共发射极接法的输入特性曲线其中</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CE</a:t>
            </a:r>
            <a:r>
              <a:rPr lang="en-US" altLang="zh-CN" sz="1200" dirty="0">
                <a:latin typeface="Times New Roman" panose="02020603050405020304" pitchFamily="18" charset="0"/>
              </a:rPr>
              <a:t>=0V</a:t>
            </a:r>
            <a:r>
              <a:rPr lang="zh-CN" altLang="en-US" sz="1200" dirty="0">
                <a:latin typeface="Times New Roman" panose="02020603050405020304" pitchFamily="18" charset="0"/>
              </a:rPr>
              <a:t>的那一条相当于发射结的正向特性曲线，当</a:t>
            </a:r>
            <a:r>
              <a:rPr lang="en-US" altLang="zh-CN" sz="1200" i="1" dirty="0">
                <a:latin typeface="Times New Roman" panose="02020603050405020304" pitchFamily="18" charset="0"/>
              </a:rPr>
              <a:t>v</a:t>
            </a:r>
            <a:r>
              <a:rPr lang="en-US" altLang="zh-CN" sz="1200" baseline="-25000" dirty="0">
                <a:latin typeface="Times New Roman" panose="02020603050405020304" pitchFamily="18" charset="0"/>
              </a:rPr>
              <a:t>CE</a:t>
            </a:r>
            <a:r>
              <a:rPr lang="en-US" altLang="zh-CN" sz="1200" dirty="0">
                <a:latin typeface="Times New Roman" panose="02020603050405020304" pitchFamily="18" charset="0"/>
              </a:rPr>
              <a:t>≥1V</a:t>
            </a:r>
            <a:r>
              <a:rPr lang="zh-CN" altLang="en-US" sz="1200" dirty="0">
                <a:latin typeface="Times New Roman" panose="02020603050405020304" pitchFamily="18" charset="0"/>
              </a:rPr>
              <a:t>时， </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CB</a:t>
            </a:r>
            <a:r>
              <a:rPr lang="en-US" altLang="zh-CN" sz="1200" dirty="0">
                <a:latin typeface="Times New Roman" panose="02020603050405020304" pitchFamily="18" charset="0"/>
              </a:rPr>
              <a:t>= </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CE</a:t>
            </a:r>
            <a:r>
              <a:rPr lang="en-US" altLang="zh-CN" sz="1200" dirty="0">
                <a:latin typeface="Times New Roman" panose="02020603050405020304" pitchFamily="18" charset="0"/>
              </a:rPr>
              <a:t> </a:t>
            </a:r>
            <a:r>
              <a:rPr lang="en-US" altLang="zh-CN" sz="1200" dirty="0">
                <a:latin typeface="宋体" panose="02010600030101010101" pitchFamily="2" charset="-122"/>
              </a:rPr>
              <a:t>- </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BE</a:t>
            </a:r>
            <a:r>
              <a:rPr lang="en-US" altLang="zh-CN" sz="1200" dirty="0">
                <a:latin typeface="Times New Roman" panose="02020603050405020304" pitchFamily="18" charset="0"/>
              </a:rPr>
              <a:t>&gt;0</a:t>
            </a:r>
            <a:r>
              <a:rPr lang="zh-CN" altLang="en-US" sz="1200" dirty="0">
                <a:latin typeface="Times New Roman" panose="02020603050405020304" pitchFamily="18" charset="0"/>
              </a:rPr>
              <a:t>，集电结已进入反偏状态，开始收集电子，且基区复合减少， </a:t>
            </a:r>
            <a:r>
              <a:rPr lang="en-US" altLang="zh-CN" sz="1200" i="1" dirty="0">
                <a:latin typeface="Times New Roman" panose="02020603050405020304" pitchFamily="18" charset="0"/>
              </a:rPr>
              <a:t>I</a:t>
            </a:r>
            <a:r>
              <a:rPr lang="en-US" altLang="zh-CN" sz="1200" baseline="-25000" dirty="0">
                <a:latin typeface="Times New Roman" panose="02020603050405020304" pitchFamily="18" charset="0"/>
              </a:rPr>
              <a:t>C </a:t>
            </a:r>
            <a:r>
              <a:rPr lang="en-US" altLang="zh-CN" sz="1200" dirty="0">
                <a:latin typeface="Times New Roman" panose="02020603050405020304" pitchFamily="18" charset="0"/>
              </a:rPr>
              <a:t>/ </a:t>
            </a:r>
            <a:r>
              <a:rPr lang="en-US" altLang="zh-CN" sz="1200" i="1" dirty="0">
                <a:latin typeface="Times New Roman" panose="02020603050405020304" pitchFamily="18" charset="0"/>
              </a:rPr>
              <a:t>I</a:t>
            </a:r>
            <a:r>
              <a:rPr lang="en-US" altLang="zh-CN" sz="1200" baseline="-25000" dirty="0">
                <a:latin typeface="Times New Roman" panose="02020603050405020304" pitchFamily="18" charset="0"/>
              </a:rPr>
              <a:t>B</a:t>
            </a:r>
            <a:r>
              <a:rPr lang="en-US" altLang="zh-CN" sz="1200" dirty="0">
                <a:latin typeface="Times New Roman" panose="02020603050405020304" pitchFamily="18" charset="0"/>
              </a:rPr>
              <a:t> </a:t>
            </a:r>
            <a:r>
              <a:rPr lang="zh-CN" altLang="en-US" sz="1200" dirty="0">
                <a:latin typeface="Times New Roman" panose="02020603050405020304" pitchFamily="18" charset="0"/>
              </a:rPr>
              <a:t>增大，特性曲线将向右稍微移动一些。但</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CE</a:t>
            </a:r>
            <a:r>
              <a:rPr lang="zh-CN" altLang="en-US" sz="1200" dirty="0">
                <a:latin typeface="Times New Roman" panose="02020603050405020304" pitchFamily="18" charset="0"/>
              </a:rPr>
              <a:t>再增加时，曲线右移很不明显。</a:t>
            </a:r>
          </a:p>
          <a:p>
            <a:pPr eaLnBrk="1" hangingPunct="1"/>
            <a:r>
              <a:rPr kumimoji="1" lang="zh-CN" altLang="en-US" dirty="0">
                <a:sym typeface="Symbol" panose="05050102010706020507" pitchFamily="18" charset="2"/>
              </a:rPr>
              <a:t>当</a:t>
            </a:r>
            <a:r>
              <a:rPr kumimoji="1" lang="en-US" altLang="zh-CN" dirty="0" err="1">
                <a:sym typeface="Symbol" panose="05050102010706020507" pitchFamily="18" charset="2"/>
              </a:rPr>
              <a:t>uBE</a:t>
            </a:r>
            <a:r>
              <a:rPr kumimoji="1" lang="zh-CN" altLang="en-US" dirty="0">
                <a:sym typeface="Symbol" panose="05050102010706020507" pitchFamily="18" charset="2"/>
              </a:rPr>
              <a:t>不变，</a:t>
            </a:r>
            <a:r>
              <a:rPr kumimoji="1" lang="en-US" altLang="zh-CN" dirty="0" err="1">
                <a:sym typeface="Symbol" panose="05050102010706020507" pitchFamily="18" charset="2"/>
              </a:rPr>
              <a:t>uCE</a:t>
            </a:r>
            <a:r>
              <a:rPr kumimoji="1" lang="zh-CN" altLang="en-US" dirty="0">
                <a:sym typeface="Symbol" panose="05050102010706020507" pitchFamily="18" charset="2"/>
              </a:rPr>
              <a:t>从零增大时，</a:t>
            </a:r>
            <a:r>
              <a:rPr kumimoji="1" lang="en-US" altLang="zh-CN" dirty="0" err="1">
                <a:sym typeface="Symbol" panose="05050102010706020507" pitchFamily="18" charset="2"/>
              </a:rPr>
              <a:t>iB</a:t>
            </a:r>
            <a:r>
              <a:rPr kumimoji="1" lang="zh-CN" altLang="en-US" dirty="0">
                <a:sym typeface="Symbol" panose="05050102010706020507" pitchFamily="18" charset="2"/>
              </a:rPr>
              <a:t>将减小</a:t>
            </a:r>
          </a:p>
          <a:p>
            <a:pPr eaLnBrk="1" hangingPunct="1"/>
            <a:r>
              <a:rPr kumimoji="1" lang="zh-CN" altLang="en-US" dirty="0">
                <a:sym typeface="Symbol" panose="05050102010706020507" pitchFamily="18" charset="2"/>
              </a:rPr>
              <a:t>当</a:t>
            </a:r>
            <a:r>
              <a:rPr kumimoji="1" lang="en-US" altLang="zh-CN" dirty="0">
                <a:sym typeface="Symbol" panose="05050102010706020507" pitchFamily="18" charset="2"/>
              </a:rPr>
              <a:t>uCE≥1V</a:t>
            </a:r>
            <a:r>
              <a:rPr kumimoji="1" lang="zh-CN" altLang="en-US" dirty="0">
                <a:sym typeface="Symbol" panose="05050102010706020507" pitchFamily="18" charset="2"/>
              </a:rPr>
              <a:t>，输入特性曲线几乎重合在一起，即</a:t>
            </a:r>
            <a:r>
              <a:rPr kumimoji="1" lang="en-US" altLang="zh-CN" dirty="0" err="1">
                <a:sym typeface="Symbol" panose="05050102010706020507" pitchFamily="18" charset="2"/>
              </a:rPr>
              <a:t>uCE</a:t>
            </a:r>
            <a:r>
              <a:rPr kumimoji="1" lang="zh-CN" altLang="en-US" dirty="0">
                <a:sym typeface="Symbol" panose="05050102010706020507" pitchFamily="18" charset="2"/>
              </a:rPr>
              <a:t>对输入特性几乎无影响</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12</a:t>
            </a:fld>
            <a:endParaRPr lang="zh-CN" altLang="en-US"/>
          </a:p>
        </p:txBody>
      </p:sp>
    </p:spTree>
    <p:extLst>
      <p:ext uri="{BB962C8B-B14F-4D97-AF65-F5344CB8AC3E}">
        <p14:creationId xmlns:p14="http://schemas.microsoft.com/office/powerpoint/2010/main" val="3266528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在</a:t>
            </a:r>
            <a:r>
              <a:rPr kumimoji="1" lang="en-US" altLang="zh-CN" dirty="0" err="1"/>
              <a:t>vCE</a:t>
            </a:r>
            <a:r>
              <a:rPr kumimoji="1" lang="en-US" altLang="zh-CN" dirty="0"/>
              <a:t>&lt;1V,</a:t>
            </a:r>
            <a:r>
              <a:rPr kumimoji="1" lang="zh-CN" altLang="en-US" dirty="0"/>
              <a:t>上升很陡，由于反向电压</a:t>
            </a:r>
            <a:r>
              <a:rPr kumimoji="1" lang="en-US" altLang="zh-CN" dirty="0" err="1"/>
              <a:t>vCE</a:t>
            </a:r>
            <a:r>
              <a:rPr kumimoji="1" lang="zh-CN" altLang="en-US" dirty="0"/>
              <a:t>将电子拉入</a:t>
            </a:r>
            <a:r>
              <a:rPr kumimoji="1" lang="en-US" altLang="zh-CN" dirty="0" err="1"/>
              <a:t>iC</a:t>
            </a:r>
            <a:r>
              <a:rPr kumimoji="1" lang="zh-CN" altLang="en-US" dirty="0"/>
              <a:t>的能力在增强</a:t>
            </a:r>
            <a:r>
              <a:rPr kumimoji="1" lang="en-US" altLang="zh-CN" dirty="0"/>
              <a:t>;</a:t>
            </a:r>
          </a:p>
          <a:p>
            <a:pPr eaLnBrk="1" hangingPunct="1"/>
            <a:r>
              <a:rPr kumimoji="1" lang="zh-CN" altLang="en-US" dirty="0"/>
              <a:t>在</a:t>
            </a:r>
            <a:r>
              <a:rPr kumimoji="1" lang="en-US" altLang="zh-CN" dirty="0" err="1"/>
              <a:t>vCE</a:t>
            </a:r>
            <a:r>
              <a:rPr kumimoji="1" lang="en-US" altLang="zh-CN" dirty="0"/>
              <a:t>&gt;1V</a:t>
            </a:r>
            <a:r>
              <a:rPr kumimoji="1" lang="zh-CN" altLang="en-US" dirty="0"/>
              <a:t>后，平坦上升，是由于集电极电场已经足够强，将发射极的大部分电子拉出</a:t>
            </a:r>
            <a:r>
              <a:rPr kumimoji="1" lang="en-US" altLang="zh-CN" dirty="0"/>
              <a:t>;</a:t>
            </a:r>
          </a:p>
          <a:p>
            <a:pPr eaLnBrk="1" hangingPunct="1"/>
            <a:r>
              <a:rPr kumimoji="1" lang="zh-CN" altLang="en-US" dirty="0"/>
              <a:t>上升倾斜的原因是由于随</a:t>
            </a:r>
            <a:r>
              <a:rPr kumimoji="1" lang="en-US" altLang="zh-CN" dirty="0" err="1"/>
              <a:t>vCE</a:t>
            </a:r>
            <a:r>
              <a:rPr kumimoji="1" lang="en-US" altLang="zh-CN" dirty="0"/>
              <a:t> </a:t>
            </a:r>
            <a:r>
              <a:rPr kumimoji="1" lang="zh-CN" altLang="en-US" dirty="0"/>
              <a:t>变大，集电极的厚度加宽，致使基区的有效宽度减少，这样基区内电子复合机会减少，即电流放大倍数</a:t>
            </a:r>
            <a:r>
              <a:rPr kumimoji="1" lang="en-US" altLang="zh-CN" dirty="0"/>
              <a:t>β</a:t>
            </a:r>
            <a:r>
              <a:rPr kumimoji="1" lang="zh-CN" altLang="en-US" dirty="0"/>
              <a:t>也相对变大，因此</a:t>
            </a:r>
            <a:r>
              <a:rPr kumimoji="1" lang="en-US" altLang="zh-CN" dirty="0" err="1"/>
              <a:t>iC</a:t>
            </a:r>
            <a:r>
              <a:rPr kumimoji="1" lang="zh-CN" altLang="en-US" dirty="0"/>
              <a:t>在</a:t>
            </a:r>
            <a:r>
              <a:rPr kumimoji="1" lang="en-US" altLang="zh-CN" dirty="0" err="1"/>
              <a:t>vCE</a:t>
            </a:r>
            <a:r>
              <a:rPr kumimoji="1" lang="zh-CN" altLang="en-US" dirty="0"/>
              <a:t>增大时仍有上升</a:t>
            </a:r>
            <a:r>
              <a:rPr kumimoji="1" lang="en-US" altLang="zh-CN" dirty="0"/>
              <a:t>– </a:t>
            </a:r>
            <a:r>
              <a:rPr kumimoji="1" lang="zh-CN" altLang="en-US" dirty="0"/>
              <a:t>基区宽度调制效应</a:t>
            </a:r>
          </a:p>
          <a:p>
            <a:pPr eaLnBrk="1" hangingPunct="1"/>
            <a:endParaRPr kumimoji="1" lang="zh-CN" altLang="en-US" dirty="0"/>
          </a:p>
          <a:p>
            <a:pPr eaLnBrk="1" hangingPunct="1"/>
            <a:r>
              <a:rPr kumimoji="1" lang="zh-CN" altLang="en-US" dirty="0"/>
              <a:t>饱和区： </a:t>
            </a:r>
            <a:r>
              <a:rPr kumimoji="1" lang="en-US" altLang="zh-CN" dirty="0">
                <a:sym typeface="Symbol" panose="05050102010706020507" pitchFamily="18" charset="2"/>
              </a:rPr>
              <a:t>IC</a:t>
            </a:r>
            <a:r>
              <a:rPr kumimoji="1" lang="zh-CN" altLang="en-US" dirty="0"/>
              <a:t>达饱和， </a:t>
            </a:r>
            <a:r>
              <a:rPr kumimoji="1" lang="en-US" altLang="zh-CN" dirty="0">
                <a:sym typeface="Symbol" panose="05050102010706020507" pitchFamily="18" charset="2"/>
              </a:rPr>
              <a:t>IC</a:t>
            </a:r>
            <a:r>
              <a:rPr kumimoji="1" lang="zh-CN" altLang="en-US" dirty="0"/>
              <a:t>与</a:t>
            </a:r>
            <a:r>
              <a:rPr kumimoji="1" lang="en-US" altLang="zh-CN" dirty="0">
                <a:sym typeface="Symbol" panose="05050102010706020507" pitchFamily="18" charset="2"/>
              </a:rPr>
              <a:t>IB</a:t>
            </a:r>
            <a:r>
              <a:rPr kumimoji="1" lang="zh-CN" altLang="en-US" dirty="0"/>
              <a:t>不是</a:t>
            </a:r>
            <a:r>
              <a:rPr kumimoji="1" lang="zh-CN" altLang="en-US" dirty="0">
                <a:sym typeface="Symbol" panose="05050102010706020507" pitchFamily="18" charset="2"/>
              </a:rPr>
              <a:t>倍</a:t>
            </a:r>
            <a:r>
              <a:rPr kumimoji="1" lang="zh-CN" altLang="en-US" dirty="0"/>
              <a:t>的关系， </a:t>
            </a:r>
            <a:r>
              <a:rPr kumimoji="1" lang="zh-CN" altLang="en-US" dirty="0">
                <a:sym typeface="Symbol" panose="05050102010706020507" pitchFamily="18" charset="2"/>
              </a:rPr>
              <a:t></a:t>
            </a:r>
            <a:r>
              <a:rPr kumimoji="1" lang="en-US" altLang="zh-CN" dirty="0">
                <a:sym typeface="Symbol" panose="05050102010706020507" pitchFamily="18" charset="2"/>
              </a:rPr>
              <a:t>IB&gt;IC</a:t>
            </a:r>
            <a:r>
              <a:rPr kumimoji="1" lang="en-US" altLang="zh-CN" dirty="0"/>
              <a:t> </a:t>
            </a:r>
            <a:r>
              <a:rPr kumimoji="1" lang="zh-CN" altLang="en-US" dirty="0"/>
              <a:t>。</a:t>
            </a:r>
            <a:r>
              <a:rPr kumimoji="1" lang="en-US" altLang="zh-CN" dirty="0"/>
              <a:t>BE</a:t>
            </a:r>
            <a:r>
              <a:rPr kumimoji="1" lang="zh-CN" altLang="en-US" dirty="0"/>
              <a:t>结正偏，</a:t>
            </a:r>
            <a:r>
              <a:rPr kumimoji="1" lang="en-US" altLang="zh-CN" dirty="0"/>
              <a:t>BC</a:t>
            </a:r>
            <a:r>
              <a:rPr kumimoji="1" lang="zh-CN" altLang="en-US" dirty="0"/>
              <a:t>结正偏 ，即</a:t>
            </a:r>
            <a:r>
              <a:rPr kumimoji="1" lang="en-US" altLang="zh-CN" dirty="0"/>
              <a:t>UCE</a:t>
            </a:r>
            <a:r>
              <a:rPr kumimoji="1" lang="en-US" altLang="zh-CN" dirty="0">
                <a:sym typeface="Symbol" panose="05050102010706020507" pitchFamily="18" charset="2"/>
              </a:rPr>
              <a:t>UBE</a:t>
            </a:r>
            <a:r>
              <a:rPr kumimoji="1" lang="en-US" altLang="zh-CN" dirty="0"/>
              <a:t> </a:t>
            </a:r>
            <a:r>
              <a:rPr kumimoji="1" lang="zh-CN" altLang="en-US" dirty="0">
                <a:sym typeface="Symbol" panose="05050102010706020507" pitchFamily="18" charset="2"/>
              </a:rPr>
              <a:t>（</a:t>
            </a:r>
            <a:r>
              <a:rPr kumimoji="1" lang="en-US" altLang="zh-CN" dirty="0">
                <a:sym typeface="Symbol" panose="05050102010706020507" pitchFamily="18" charset="2"/>
              </a:rPr>
              <a:t>UCE0.3V</a:t>
            </a:r>
            <a:r>
              <a:rPr kumimoji="1" lang="en-US" altLang="zh-CN" dirty="0"/>
              <a:t> </a:t>
            </a:r>
            <a:r>
              <a:rPr kumimoji="1" lang="zh-CN" altLang="en-US" dirty="0"/>
              <a:t>，</a:t>
            </a:r>
            <a:r>
              <a:rPr kumimoji="1" lang="en-US" altLang="zh-CN" dirty="0">
                <a:sym typeface="Symbol" panose="05050102010706020507" pitchFamily="18" charset="2"/>
              </a:rPr>
              <a:t>UBE0.7V</a:t>
            </a:r>
            <a:r>
              <a:rPr kumimoji="1" lang="zh-CN" altLang="en-US" dirty="0">
                <a:sym typeface="Symbol" panose="05050102010706020507" pitchFamily="18" charset="2"/>
              </a:rPr>
              <a:t>）。</a:t>
            </a:r>
            <a:endParaRPr kumimoji="1" lang="zh-CN" altLang="en-US" dirty="0"/>
          </a:p>
          <a:p>
            <a:pPr eaLnBrk="1" hangingPunct="1"/>
            <a:r>
              <a:rPr kumimoji="1" lang="zh-CN" altLang="en-US" dirty="0"/>
              <a:t>截止区：  </a:t>
            </a:r>
            <a:r>
              <a:rPr kumimoji="1" lang="en-US" altLang="zh-CN" dirty="0"/>
              <a:t>UBE&lt; </a:t>
            </a:r>
            <a:r>
              <a:rPr kumimoji="1" lang="zh-CN" altLang="en-US" dirty="0"/>
              <a:t>死区电压， </a:t>
            </a:r>
            <a:r>
              <a:rPr kumimoji="1" lang="en-US" altLang="zh-CN" dirty="0"/>
              <a:t>IB=0 </a:t>
            </a:r>
            <a:r>
              <a:rPr kumimoji="1" lang="zh-CN" altLang="en-US" dirty="0"/>
              <a:t>， </a:t>
            </a:r>
            <a:r>
              <a:rPr kumimoji="1" lang="en-US" altLang="zh-CN" dirty="0"/>
              <a:t>IC=ICEO </a:t>
            </a:r>
            <a:r>
              <a:rPr kumimoji="1" lang="en-US" altLang="zh-CN" dirty="0">
                <a:sym typeface="Symbol" panose="05050102010706020507" pitchFamily="18" charset="2"/>
              </a:rPr>
              <a:t>0</a:t>
            </a:r>
            <a:r>
              <a:rPr kumimoji="1" lang="zh-CN" altLang="en-US" dirty="0">
                <a:sym typeface="Symbol" panose="05050102010706020507" pitchFamily="18" charset="2"/>
              </a:rPr>
              <a:t>，（ </a:t>
            </a:r>
            <a:r>
              <a:rPr kumimoji="1" lang="en-US" altLang="zh-CN" dirty="0"/>
              <a:t>ICEO</a:t>
            </a:r>
            <a:r>
              <a:rPr kumimoji="1" lang="zh-CN" altLang="en-US" dirty="0">
                <a:sym typeface="Symbol" panose="05050102010706020507" pitchFamily="18" charset="2"/>
              </a:rPr>
              <a:t>穿透电流，很小， </a:t>
            </a:r>
            <a:r>
              <a:rPr kumimoji="1" lang="en-US" altLang="zh-CN" dirty="0">
                <a:sym typeface="Symbol" panose="05050102010706020507" pitchFamily="18" charset="2"/>
              </a:rPr>
              <a:t>A </a:t>
            </a:r>
            <a:r>
              <a:rPr kumimoji="1" lang="zh-CN" altLang="en-US" dirty="0">
                <a:sym typeface="Symbol" panose="05050102010706020507" pitchFamily="18" charset="2"/>
              </a:rPr>
              <a:t>级）。</a:t>
            </a:r>
            <a:endParaRPr kumimoji="1" lang="en-US" altLang="zh-CN" dirty="0">
              <a:sym typeface="Symbol" panose="05050102010706020507" pitchFamily="18" charset="2"/>
            </a:endParaRPr>
          </a:p>
          <a:p>
            <a:pPr eaLnBrk="1" hangingPunct="1"/>
            <a:endParaRPr kumimoji="1" lang="en-US" altLang="zh-CN" dirty="0">
              <a:sym typeface="Symbol" panose="05050102010706020507" pitchFamily="18" charset="2"/>
            </a:endParaRPr>
          </a:p>
          <a:p>
            <a:pPr eaLnBrk="1" hangingPunct="1"/>
            <a:endParaRPr kumimoji="1" lang="en-US" altLang="zh-CN" dirty="0">
              <a:sym typeface="Symbol" panose="05050102010706020507" pitchFamily="18" charset="2"/>
            </a:endParaRPr>
          </a:p>
          <a:p>
            <a:pPr eaLnBrk="1" hangingPunct="1"/>
            <a:r>
              <a:rPr lang="zh-CN" altLang="en-US" dirty="0"/>
              <a:t>第四种情况：发射结反偏，集电结正偏，此时</a:t>
            </a:r>
            <a:r>
              <a:rPr lang="en-US" altLang="zh-CN" dirty="0"/>
              <a:t>BJT</a:t>
            </a:r>
            <a:r>
              <a:rPr lang="zh-CN" altLang="en-US" dirty="0"/>
              <a:t>三极管不能正常工作，一般不考虑。</a:t>
            </a:r>
            <a:endParaRPr kumimoji="1" lang="zh-CN" altLang="en-US" dirty="0">
              <a:sym typeface="Symbol" panose="05050102010706020507" pitchFamily="18" charset="2"/>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13</a:t>
            </a:fld>
            <a:endParaRPr lang="zh-CN" altLang="en-US"/>
          </a:p>
        </p:txBody>
      </p:sp>
    </p:spTree>
    <p:extLst>
      <p:ext uri="{BB962C8B-B14F-4D97-AF65-F5344CB8AC3E}">
        <p14:creationId xmlns:p14="http://schemas.microsoft.com/office/powerpoint/2010/main" val="3919242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14</a:t>
            </a:fld>
            <a:endParaRPr lang="zh-CN" altLang="en-US"/>
          </a:p>
        </p:txBody>
      </p:sp>
    </p:spTree>
    <p:extLst>
      <p:ext uri="{BB962C8B-B14F-4D97-AF65-F5344CB8AC3E}">
        <p14:creationId xmlns:p14="http://schemas.microsoft.com/office/powerpoint/2010/main" val="3028634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根据信号输入和输出回路的公共电极</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15</a:t>
            </a:fld>
            <a:endParaRPr lang="zh-CN" altLang="en-US"/>
          </a:p>
        </p:txBody>
      </p:sp>
    </p:spTree>
    <p:extLst>
      <p:ext uri="{BB962C8B-B14F-4D97-AF65-F5344CB8AC3E}">
        <p14:creationId xmlns:p14="http://schemas.microsoft.com/office/powerpoint/2010/main" val="3884867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en-US" altLang="zh-CN" i="1" dirty="0">
                <a:solidFill>
                  <a:srgbClr val="000000"/>
                </a:solidFill>
              </a:rPr>
              <a:t>I</a:t>
            </a:r>
            <a:r>
              <a:rPr kumimoji="1" lang="en-US" altLang="zh-CN" dirty="0">
                <a:solidFill>
                  <a:srgbClr val="000000"/>
                </a:solidFill>
              </a:rPr>
              <a:t>CBO</a:t>
            </a:r>
            <a:r>
              <a:rPr kumimoji="1" lang="zh-CN" altLang="en-US" dirty="0">
                <a:solidFill>
                  <a:srgbClr val="000000"/>
                </a:solidFill>
              </a:rPr>
              <a:t>：</a:t>
            </a:r>
            <a:r>
              <a:rPr kumimoji="1" lang="zh-CN" altLang="en-US" dirty="0">
                <a:solidFill>
                  <a:schemeClr val="bg1"/>
                </a:solidFill>
              </a:rPr>
              <a:t>集电极—基极间反向饱和电流，</a:t>
            </a:r>
            <a:r>
              <a:rPr kumimoji="1" lang="zh-CN" altLang="en-US" dirty="0">
                <a:solidFill>
                  <a:srgbClr val="000000"/>
                </a:solidFill>
              </a:rPr>
              <a:t>为发射极开路时，集电结反向饱和电流。</a:t>
            </a:r>
          </a:p>
          <a:p>
            <a:pPr eaLnBrk="1" hangingPunct="1"/>
            <a:r>
              <a:rPr kumimoji="1" lang="en-US" altLang="zh-CN" i="1" dirty="0"/>
              <a:t>I</a:t>
            </a:r>
            <a:r>
              <a:rPr kumimoji="1" lang="en-US" altLang="zh-CN" dirty="0"/>
              <a:t>CBO</a:t>
            </a:r>
            <a:r>
              <a:rPr kumimoji="1" lang="zh-CN" altLang="en-US" dirty="0"/>
              <a:t>的下标</a:t>
            </a:r>
            <a:r>
              <a:rPr kumimoji="1" lang="en-US" altLang="zh-CN" dirty="0"/>
              <a:t>CB</a:t>
            </a:r>
            <a:r>
              <a:rPr kumimoji="1" lang="zh-CN" altLang="en-US" dirty="0"/>
              <a:t>代表集电极和基极，</a:t>
            </a:r>
            <a:r>
              <a:rPr kumimoji="1" lang="en-US" altLang="zh-CN" dirty="0"/>
              <a:t>O</a:t>
            </a:r>
            <a:r>
              <a:rPr kumimoji="1" lang="zh-CN" altLang="en-US" dirty="0"/>
              <a:t>是</a:t>
            </a:r>
            <a:r>
              <a:rPr kumimoji="1" lang="en-US" altLang="zh-CN" dirty="0"/>
              <a:t>Open</a:t>
            </a:r>
            <a:r>
              <a:rPr kumimoji="1" lang="zh-CN" altLang="en-US" dirty="0"/>
              <a:t>的字头，代表第三个电极</a:t>
            </a:r>
            <a:r>
              <a:rPr kumimoji="1" lang="en-US" altLang="zh-CN" dirty="0"/>
              <a:t>E</a:t>
            </a:r>
            <a:r>
              <a:rPr kumimoji="1" lang="zh-CN" altLang="en-US" dirty="0"/>
              <a:t>开路。它相当于集电结的反向饱和电流。</a:t>
            </a:r>
            <a:endParaRPr kumimoji="1" lang="en-US" altLang="zh-CN" i="1" dirty="0">
              <a:solidFill>
                <a:srgbClr val="000000"/>
              </a:solidFill>
            </a:endParaRPr>
          </a:p>
          <a:p>
            <a:pPr eaLnBrk="1" hangingPunct="1"/>
            <a:r>
              <a:rPr kumimoji="1" lang="en-US" altLang="zh-CN" i="1" dirty="0">
                <a:solidFill>
                  <a:srgbClr val="000000"/>
                </a:solidFill>
              </a:rPr>
              <a:t>I</a:t>
            </a:r>
            <a:r>
              <a:rPr kumimoji="1" lang="en-US" altLang="zh-CN" dirty="0">
                <a:solidFill>
                  <a:srgbClr val="000000"/>
                </a:solidFill>
              </a:rPr>
              <a:t>CEO</a:t>
            </a:r>
            <a:r>
              <a:rPr kumimoji="1" lang="zh-CN" altLang="en-US" dirty="0">
                <a:solidFill>
                  <a:srgbClr val="000000"/>
                </a:solidFill>
              </a:rPr>
              <a:t>：</a:t>
            </a:r>
            <a:r>
              <a:rPr kumimoji="1" lang="zh-CN" altLang="en-US" dirty="0">
                <a:solidFill>
                  <a:schemeClr val="bg1"/>
                </a:solidFill>
              </a:rPr>
              <a:t>集电极—发射极间反向饱和电流，又称为</a:t>
            </a:r>
            <a:r>
              <a:rPr kumimoji="1" lang="zh-CN" altLang="en-US" dirty="0"/>
              <a:t>集</a:t>
            </a:r>
            <a:r>
              <a:rPr kumimoji="1" lang="en-US" altLang="zh-CN" dirty="0"/>
              <a:t>-</a:t>
            </a:r>
            <a:r>
              <a:rPr kumimoji="1" lang="zh-CN" altLang="en-US" dirty="0"/>
              <a:t>射间穿透电流</a:t>
            </a:r>
            <a:r>
              <a:rPr kumimoji="1" lang="zh-CN" altLang="en-US" dirty="0">
                <a:solidFill>
                  <a:schemeClr val="bg1"/>
                </a:solidFill>
              </a:rPr>
              <a:t>，</a:t>
            </a:r>
            <a:r>
              <a:rPr kumimoji="1" lang="zh-CN" altLang="en-US" dirty="0"/>
              <a:t>相当基极开路时，集电极和发射极间的反向饱和电流，即输出特性曲线</a:t>
            </a:r>
            <a:r>
              <a:rPr kumimoji="1" lang="en-US" altLang="zh-CN" i="1" dirty="0"/>
              <a:t>I</a:t>
            </a:r>
            <a:r>
              <a:rPr kumimoji="1" lang="en-US" altLang="zh-CN" dirty="0"/>
              <a:t>B=0</a:t>
            </a:r>
            <a:r>
              <a:rPr kumimoji="1" lang="zh-CN" altLang="en-US" dirty="0"/>
              <a:t>那条曲线所对应的</a:t>
            </a:r>
            <a:r>
              <a:rPr kumimoji="1" lang="en-US" altLang="zh-CN" i="1" dirty="0"/>
              <a:t>Y</a:t>
            </a:r>
            <a:r>
              <a:rPr kumimoji="1" lang="zh-CN" altLang="en-US" dirty="0"/>
              <a:t>坐标的数值。</a:t>
            </a:r>
            <a:endParaRPr kumimoji="1" lang="en-US" altLang="zh-CN" dirty="0">
              <a:solidFill>
                <a:srgbClr val="000000"/>
              </a:solidFill>
            </a:endParaRPr>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1888980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反向击穿电压表示三极管电极间承受反向电压的能力</a:t>
            </a:r>
          </a:p>
          <a:p>
            <a:pPr eaLnBrk="1" hangingPunct="1"/>
            <a:r>
              <a:rPr kumimoji="1" lang="zh-CN" altLang="en-US" dirty="0"/>
              <a:t>下标</a:t>
            </a:r>
            <a:r>
              <a:rPr kumimoji="1" lang="en-US" altLang="zh-CN" dirty="0"/>
              <a:t>BR</a:t>
            </a:r>
            <a:r>
              <a:rPr kumimoji="1" lang="zh-CN" altLang="en-US" dirty="0"/>
              <a:t>代表击穿之意，是</a:t>
            </a:r>
            <a:r>
              <a:rPr kumimoji="1" lang="en-US" altLang="zh-CN" dirty="0"/>
              <a:t>Breakdown</a:t>
            </a:r>
            <a:r>
              <a:rPr kumimoji="1" lang="zh-CN" altLang="en-US" dirty="0"/>
              <a:t>的字头，</a:t>
            </a:r>
            <a:r>
              <a:rPr kumimoji="1" lang="en-US" altLang="zh-CN" dirty="0"/>
              <a:t>C</a:t>
            </a:r>
            <a:r>
              <a:rPr kumimoji="1" lang="zh-CN" altLang="en-US" dirty="0"/>
              <a:t>、</a:t>
            </a:r>
            <a:r>
              <a:rPr kumimoji="1" lang="en-US" altLang="zh-CN" dirty="0"/>
              <a:t>B</a:t>
            </a:r>
            <a:r>
              <a:rPr kumimoji="1" lang="zh-CN" altLang="en-US" dirty="0"/>
              <a:t>代表集电极和基极，</a:t>
            </a:r>
            <a:r>
              <a:rPr kumimoji="1" lang="en-US" altLang="zh-CN" dirty="0"/>
              <a:t>O</a:t>
            </a:r>
            <a:r>
              <a:rPr kumimoji="1" lang="zh-CN" altLang="en-US" dirty="0"/>
              <a:t>代表第三个电极</a:t>
            </a:r>
            <a:r>
              <a:rPr kumimoji="1" lang="en-US" altLang="zh-CN" dirty="0"/>
              <a:t>E</a:t>
            </a:r>
            <a:r>
              <a:rPr kumimoji="1" lang="zh-CN" altLang="en-US" dirty="0"/>
              <a:t>开路。</a:t>
            </a:r>
          </a:p>
          <a:p>
            <a:pPr eaLnBrk="1" hangingPunct="1">
              <a:spcBef>
                <a:spcPct val="0"/>
              </a:spcBef>
            </a:pPr>
            <a:r>
              <a:rPr kumimoji="1" lang="zh-CN" altLang="en-US" dirty="0"/>
              <a:t>集电极电流</a:t>
            </a:r>
            <a:r>
              <a:rPr kumimoji="1" lang="en-US" altLang="zh-CN" i="1" dirty="0"/>
              <a:t>IC</a:t>
            </a:r>
            <a:r>
              <a:rPr kumimoji="1" lang="zh-CN" altLang="en-US" dirty="0"/>
              <a:t>上升会导致三极管的</a:t>
            </a:r>
            <a:r>
              <a:rPr kumimoji="1" lang="zh-CN" altLang="en-US" dirty="0">
                <a:sym typeface="Symbol" panose="05050102010706020507" pitchFamily="18" charset="2"/>
              </a:rPr>
              <a:t>值的下降，当值下降到正常值的三分之二时的集电极电流即为</a:t>
            </a:r>
            <a:r>
              <a:rPr kumimoji="1" lang="en-US" altLang="zh-CN" i="1" dirty="0">
                <a:sym typeface="Symbol" panose="05050102010706020507" pitchFamily="18" charset="2"/>
              </a:rPr>
              <a:t>ICM</a:t>
            </a:r>
            <a:r>
              <a:rPr kumimoji="1" lang="zh-CN" altLang="en-US" dirty="0">
                <a:sym typeface="Symbol" panose="05050102010706020507" pitchFamily="18" charset="2"/>
              </a:rPr>
              <a:t>。</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18</a:t>
            </a:fld>
            <a:endParaRPr lang="zh-CN" altLang="en-US"/>
          </a:p>
        </p:txBody>
      </p:sp>
    </p:spTree>
    <p:extLst>
      <p:ext uri="{BB962C8B-B14F-4D97-AF65-F5344CB8AC3E}">
        <p14:creationId xmlns:p14="http://schemas.microsoft.com/office/powerpoint/2010/main" val="1532773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dirty="0">
                <a:latin typeface="Times New Roman" panose="02020603050405020304" pitchFamily="18" charset="0"/>
              </a:rPr>
              <a:t>共发射极接法的输入特性曲线其中</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CE</a:t>
            </a:r>
            <a:r>
              <a:rPr lang="en-US" altLang="zh-CN" sz="1200" dirty="0">
                <a:latin typeface="Times New Roman" panose="02020603050405020304" pitchFamily="18" charset="0"/>
              </a:rPr>
              <a:t>=0V</a:t>
            </a:r>
            <a:r>
              <a:rPr lang="zh-CN" altLang="en-US" sz="1200" dirty="0">
                <a:latin typeface="Times New Roman" panose="02020603050405020304" pitchFamily="18" charset="0"/>
              </a:rPr>
              <a:t>的那一条相当于发射结的正向特性曲线，当</a:t>
            </a:r>
            <a:r>
              <a:rPr lang="en-US" altLang="zh-CN" sz="1200" i="1" dirty="0">
                <a:latin typeface="Times New Roman" panose="02020603050405020304" pitchFamily="18" charset="0"/>
              </a:rPr>
              <a:t>v</a:t>
            </a:r>
            <a:r>
              <a:rPr lang="en-US" altLang="zh-CN" sz="1200" baseline="-25000" dirty="0">
                <a:latin typeface="Times New Roman" panose="02020603050405020304" pitchFamily="18" charset="0"/>
              </a:rPr>
              <a:t>CE</a:t>
            </a:r>
            <a:r>
              <a:rPr lang="en-US" altLang="zh-CN" sz="1200" dirty="0">
                <a:latin typeface="Times New Roman" panose="02020603050405020304" pitchFamily="18" charset="0"/>
              </a:rPr>
              <a:t>≥1V</a:t>
            </a:r>
            <a:r>
              <a:rPr lang="zh-CN" altLang="en-US" sz="1200" dirty="0">
                <a:latin typeface="Times New Roman" panose="02020603050405020304" pitchFamily="18" charset="0"/>
              </a:rPr>
              <a:t>时， </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CB</a:t>
            </a:r>
            <a:r>
              <a:rPr lang="en-US" altLang="zh-CN" sz="1200" dirty="0">
                <a:latin typeface="Times New Roman" panose="02020603050405020304" pitchFamily="18" charset="0"/>
              </a:rPr>
              <a:t>= </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CE</a:t>
            </a:r>
            <a:r>
              <a:rPr lang="en-US" altLang="zh-CN" sz="1200" dirty="0">
                <a:latin typeface="Times New Roman" panose="02020603050405020304" pitchFamily="18" charset="0"/>
              </a:rPr>
              <a:t> </a:t>
            </a:r>
            <a:r>
              <a:rPr lang="en-US" altLang="zh-CN" sz="1200" dirty="0">
                <a:latin typeface="宋体" panose="02010600030101010101" pitchFamily="2" charset="-122"/>
              </a:rPr>
              <a:t>- </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BE</a:t>
            </a:r>
            <a:r>
              <a:rPr lang="en-US" altLang="zh-CN" sz="1200" dirty="0">
                <a:latin typeface="Times New Roman" panose="02020603050405020304" pitchFamily="18" charset="0"/>
              </a:rPr>
              <a:t>&gt;0</a:t>
            </a:r>
            <a:r>
              <a:rPr lang="zh-CN" altLang="en-US" sz="1200" dirty="0">
                <a:latin typeface="Times New Roman" panose="02020603050405020304" pitchFamily="18" charset="0"/>
              </a:rPr>
              <a:t>，集电结已进入反偏状态，开始收集电子，且基区复合减少， </a:t>
            </a:r>
            <a:r>
              <a:rPr lang="en-US" altLang="zh-CN" sz="1200" i="1" dirty="0">
                <a:latin typeface="Times New Roman" panose="02020603050405020304" pitchFamily="18" charset="0"/>
              </a:rPr>
              <a:t>I</a:t>
            </a:r>
            <a:r>
              <a:rPr lang="en-US" altLang="zh-CN" sz="1200" baseline="-25000" dirty="0">
                <a:latin typeface="Times New Roman" panose="02020603050405020304" pitchFamily="18" charset="0"/>
              </a:rPr>
              <a:t>C </a:t>
            </a:r>
            <a:r>
              <a:rPr lang="en-US" altLang="zh-CN" sz="1200" dirty="0">
                <a:latin typeface="Times New Roman" panose="02020603050405020304" pitchFamily="18" charset="0"/>
              </a:rPr>
              <a:t>/ </a:t>
            </a:r>
            <a:r>
              <a:rPr lang="en-US" altLang="zh-CN" sz="1200" i="1" dirty="0">
                <a:latin typeface="Times New Roman" panose="02020603050405020304" pitchFamily="18" charset="0"/>
              </a:rPr>
              <a:t>I</a:t>
            </a:r>
            <a:r>
              <a:rPr lang="en-US" altLang="zh-CN" sz="1200" baseline="-25000" dirty="0">
                <a:latin typeface="Times New Roman" panose="02020603050405020304" pitchFamily="18" charset="0"/>
              </a:rPr>
              <a:t>B</a:t>
            </a:r>
            <a:r>
              <a:rPr lang="en-US" altLang="zh-CN" sz="1200" dirty="0">
                <a:latin typeface="Times New Roman" panose="02020603050405020304" pitchFamily="18" charset="0"/>
              </a:rPr>
              <a:t> </a:t>
            </a:r>
            <a:r>
              <a:rPr lang="zh-CN" altLang="en-US" sz="1200" dirty="0">
                <a:latin typeface="Times New Roman" panose="02020603050405020304" pitchFamily="18" charset="0"/>
              </a:rPr>
              <a:t>增大，特性曲线将向右稍微移动一些。但</a:t>
            </a:r>
            <a:r>
              <a:rPr lang="en-US" altLang="zh-CN" sz="1200" i="1" dirty="0" err="1">
                <a:latin typeface="Times New Roman" panose="02020603050405020304" pitchFamily="18" charset="0"/>
              </a:rPr>
              <a:t>v</a:t>
            </a:r>
            <a:r>
              <a:rPr lang="en-US" altLang="zh-CN" sz="1200" baseline="-25000" dirty="0" err="1">
                <a:latin typeface="Times New Roman" panose="02020603050405020304" pitchFamily="18" charset="0"/>
              </a:rPr>
              <a:t>CE</a:t>
            </a:r>
            <a:r>
              <a:rPr lang="zh-CN" altLang="en-US" sz="1200" dirty="0">
                <a:latin typeface="Times New Roman" panose="02020603050405020304" pitchFamily="18" charset="0"/>
              </a:rPr>
              <a:t>再增加时，曲线右移很不明显。</a:t>
            </a:r>
          </a:p>
          <a:p>
            <a:pPr eaLnBrk="1" hangingPunct="1"/>
            <a:r>
              <a:rPr kumimoji="1" lang="zh-CN" altLang="en-US" dirty="0">
                <a:sym typeface="Symbol" panose="05050102010706020507" pitchFamily="18" charset="2"/>
              </a:rPr>
              <a:t>当</a:t>
            </a:r>
            <a:r>
              <a:rPr kumimoji="1" lang="en-US" altLang="zh-CN" dirty="0" err="1">
                <a:sym typeface="Symbol" panose="05050102010706020507" pitchFamily="18" charset="2"/>
              </a:rPr>
              <a:t>uBE</a:t>
            </a:r>
            <a:r>
              <a:rPr kumimoji="1" lang="zh-CN" altLang="en-US" dirty="0">
                <a:sym typeface="Symbol" panose="05050102010706020507" pitchFamily="18" charset="2"/>
              </a:rPr>
              <a:t>不变，</a:t>
            </a:r>
            <a:r>
              <a:rPr kumimoji="1" lang="en-US" altLang="zh-CN" dirty="0" err="1">
                <a:sym typeface="Symbol" panose="05050102010706020507" pitchFamily="18" charset="2"/>
              </a:rPr>
              <a:t>uCE</a:t>
            </a:r>
            <a:r>
              <a:rPr kumimoji="1" lang="zh-CN" altLang="en-US" dirty="0">
                <a:sym typeface="Symbol" panose="05050102010706020507" pitchFamily="18" charset="2"/>
              </a:rPr>
              <a:t>从零增大时，</a:t>
            </a:r>
            <a:r>
              <a:rPr kumimoji="1" lang="en-US" altLang="zh-CN" dirty="0" err="1">
                <a:sym typeface="Symbol" panose="05050102010706020507" pitchFamily="18" charset="2"/>
              </a:rPr>
              <a:t>iB</a:t>
            </a:r>
            <a:r>
              <a:rPr kumimoji="1" lang="zh-CN" altLang="en-US" dirty="0">
                <a:sym typeface="Symbol" panose="05050102010706020507" pitchFamily="18" charset="2"/>
              </a:rPr>
              <a:t>将减小</a:t>
            </a:r>
          </a:p>
          <a:p>
            <a:pPr eaLnBrk="1" hangingPunct="1"/>
            <a:r>
              <a:rPr kumimoji="1" lang="zh-CN" altLang="en-US" dirty="0">
                <a:sym typeface="Symbol" panose="05050102010706020507" pitchFamily="18" charset="2"/>
              </a:rPr>
              <a:t>当</a:t>
            </a:r>
            <a:r>
              <a:rPr kumimoji="1" lang="en-US" altLang="zh-CN" dirty="0">
                <a:sym typeface="Symbol" panose="05050102010706020507" pitchFamily="18" charset="2"/>
              </a:rPr>
              <a:t>uCE≥1V</a:t>
            </a:r>
            <a:r>
              <a:rPr kumimoji="1" lang="zh-CN" altLang="en-US" dirty="0">
                <a:sym typeface="Symbol" panose="05050102010706020507" pitchFamily="18" charset="2"/>
              </a:rPr>
              <a:t>，输入特性曲线几乎重合在一起，即</a:t>
            </a:r>
            <a:r>
              <a:rPr kumimoji="1" lang="en-US" altLang="zh-CN" dirty="0" err="1">
                <a:sym typeface="Symbol" panose="05050102010706020507" pitchFamily="18" charset="2"/>
              </a:rPr>
              <a:t>uCE</a:t>
            </a:r>
            <a:r>
              <a:rPr kumimoji="1" lang="zh-CN" altLang="en-US" dirty="0">
                <a:sym typeface="Symbol" panose="05050102010706020507" pitchFamily="18" charset="2"/>
              </a:rPr>
              <a:t>对输入特性几乎无影响</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3746475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24. </a:t>
            </a:r>
            <a:r>
              <a:rPr lang="zh-CN" altLang="en-US"/>
              <a:t>三极管</a:t>
            </a:r>
            <a:r>
              <a:rPr lang="en-US" altLang="zh-CN"/>
              <a:t>2</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24. </a:t>
            </a:r>
            <a:r>
              <a:rPr lang="zh-CN" altLang="en-US"/>
              <a:t>三极管</a:t>
            </a:r>
            <a:r>
              <a:rPr lang="en-US" altLang="zh-CN"/>
              <a:t>2</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wmf"/><Relationship Id="rId11" Type="http://schemas.openxmlformats.org/officeDocument/2006/relationships/image" Target="../media/image6.png"/><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2.wmf"/><Relationship Id="rId3" Type="http://schemas.openxmlformats.org/officeDocument/2006/relationships/oleObject" Target="../embeddings/oleObject5.bin"/><Relationship Id="rId7" Type="http://schemas.openxmlformats.org/officeDocument/2006/relationships/image" Target="../media/image9.wmf"/><Relationship Id="rId12"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11.wmf"/><Relationship Id="rId5" Type="http://schemas.openxmlformats.org/officeDocument/2006/relationships/image" Target="../media/image8.png"/><Relationship Id="rId15" Type="http://schemas.openxmlformats.org/officeDocument/2006/relationships/image" Target="../media/image13.wmf"/><Relationship Id="rId10" Type="http://schemas.openxmlformats.org/officeDocument/2006/relationships/oleObject" Target="../embeddings/oleObject8.bin"/><Relationship Id="rId4" Type="http://schemas.openxmlformats.org/officeDocument/2006/relationships/image" Target="../media/image7.wmf"/><Relationship Id="rId9" Type="http://schemas.openxmlformats.org/officeDocument/2006/relationships/image" Target="../media/image10.wmf"/><Relationship Id="rId1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24_</a:t>
            </a:r>
            <a:r>
              <a:rPr lang="zh-CN" altLang="en-US" sz="3600" b="1" dirty="0">
                <a:solidFill>
                  <a:schemeClr val="tx1"/>
                </a:solidFill>
                <a:latin typeface="Microsoft YaHei" panose="020B0503020204020204" pitchFamily="34" charset="-122"/>
                <a:ea typeface="Microsoft YaHei" panose="020B0503020204020204" pitchFamily="34" charset="-122"/>
              </a:rPr>
              <a:t>三极管（</a:t>
            </a:r>
            <a:r>
              <a:rPr lang="en-US" altLang="zh-CN" sz="3600" b="1" dirty="0">
                <a:solidFill>
                  <a:schemeClr val="tx1"/>
                </a:solidFill>
                <a:latin typeface="Microsoft YaHei" panose="020B0503020204020204" pitchFamily="34" charset="-122"/>
                <a:ea typeface="Microsoft YaHei" panose="020B0503020204020204" pitchFamily="34" charset="-122"/>
              </a:rPr>
              <a:t>2</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（模电</a:t>
            </a:r>
            <a:r>
              <a:rPr lang="en-US" altLang="zh-CN" sz="2000" dirty="0">
                <a:solidFill>
                  <a:schemeClr val="tx1"/>
                </a:solidFill>
                <a:latin typeface="Microsoft YaHei" panose="020B0503020204020204" pitchFamily="34" charset="-122"/>
                <a:ea typeface="Microsoft YaHei" panose="020B0503020204020204" pitchFamily="34" charset="-122"/>
              </a:rPr>
              <a:t>P152-162</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pPr eaLnBrk="1" hangingPunct="1">
              <a:lnSpc>
                <a:spcPct val="120000"/>
              </a:lnSpc>
            </a:pPr>
            <a:r>
              <a:rPr lang="zh-CN" altLang="en-US" dirty="0">
                <a:solidFill>
                  <a:srgbClr val="080808"/>
                </a:solidFill>
              </a:rPr>
              <a:t>三极管的</a:t>
            </a:r>
            <a:r>
              <a:rPr lang="zh-CN" altLang="en-US" dirty="0"/>
              <a:t>结构类型</a:t>
            </a:r>
            <a:endParaRPr lang="zh-CN" altLang="en-US" dirty="0">
              <a:solidFill>
                <a:srgbClr val="080808"/>
              </a:solidFill>
            </a:endParaRPr>
          </a:p>
          <a:p>
            <a:pPr eaLnBrk="1" hangingPunct="1">
              <a:lnSpc>
                <a:spcPct val="120000"/>
              </a:lnSpc>
            </a:pPr>
            <a:r>
              <a:rPr lang="zh-CN" altLang="en-US" dirty="0">
                <a:solidFill>
                  <a:srgbClr val="080808"/>
                </a:solidFill>
              </a:rPr>
              <a:t>三极管的工作原理</a:t>
            </a:r>
          </a:p>
          <a:p>
            <a:pPr eaLnBrk="1" hangingPunct="1">
              <a:lnSpc>
                <a:spcPct val="120000"/>
              </a:lnSpc>
            </a:pPr>
            <a:r>
              <a:rPr lang="zh-CN" altLang="en-US" dirty="0">
                <a:solidFill>
                  <a:srgbClr val="080808"/>
                </a:solidFill>
              </a:rPr>
              <a:t>三极管的特性曲线</a:t>
            </a:r>
          </a:p>
          <a:p>
            <a:pPr eaLnBrk="1" hangingPunct="1">
              <a:lnSpc>
                <a:spcPct val="120000"/>
              </a:lnSpc>
            </a:pPr>
            <a:r>
              <a:rPr lang="zh-CN" altLang="en-US" dirty="0">
                <a:solidFill>
                  <a:srgbClr val="080808"/>
                </a:solidFill>
              </a:rPr>
              <a:t>三极管的主要参数</a:t>
            </a:r>
            <a:endParaRPr kumimoji="1" lang="en-US" altLang="zh-CN" sz="1600" dirty="0">
              <a:solidFill>
                <a:schemeClr val="tx1">
                  <a:lumMod val="50000"/>
                  <a:lumOff val="50000"/>
                </a:schemeClr>
              </a:solidFill>
            </a:endParaRPr>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/33</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66CF1B-FBA0-3AFA-9ED6-AA7CE7140B07}"/>
              </a:ext>
            </a:extLst>
          </p:cNvPr>
          <p:cNvSpPr>
            <a:spLocks noGrp="1"/>
          </p:cNvSpPr>
          <p:nvPr>
            <p:ph type="title"/>
          </p:nvPr>
        </p:nvSpPr>
        <p:spPr/>
        <p:txBody>
          <a:bodyPr>
            <a:normAutofit fontScale="90000"/>
          </a:bodyPr>
          <a:lstStyle/>
          <a:p>
            <a:r>
              <a:rPr kumimoji="1" lang="zh-CN" altLang="en-US" dirty="0"/>
              <a:t>三极管分类</a:t>
            </a:r>
          </a:p>
        </p:txBody>
      </p:sp>
      <p:sp>
        <p:nvSpPr>
          <p:cNvPr id="3" name="内容占位符 2">
            <a:extLst>
              <a:ext uri="{FF2B5EF4-FFF2-40B4-BE49-F238E27FC236}">
                <a16:creationId xmlns:a16="http://schemas.microsoft.com/office/drawing/2014/main" id="{894F5B3B-CB8A-2A7E-94EF-78DE5940542C}"/>
              </a:ext>
            </a:extLst>
          </p:cNvPr>
          <p:cNvSpPr>
            <a:spLocks noGrp="1"/>
          </p:cNvSpPr>
          <p:nvPr>
            <p:ph idx="1"/>
          </p:nvPr>
        </p:nvSpPr>
        <p:spPr/>
        <p:txBody>
          <a:bodyPr/>
          <a:lstStyle/>
          <a:p>
            <a:r>
              <a:rPr kumimoji="1" lang="zh-CN" altLang="en-US" dirty="0"/>
              <a:t>按结构分类</a:t>
            </a:r>
          </a:p>
        </p:txBody>
      </p:sp>
      <p:sp>
        <p:nvSpPr>
          <p:cNvPr id="4" name="页脚占位符 3">
            <a:extLst>
              <a:ext uri="{FF2B5EF4-FFF2-40B4-BE49-F238E27FC236}">
                <a16:creationId xmlns:a16="http://schemas.microsoft.com/office/drawing/2014/main" id="{9E7D0FE3-F0AE-E02D-E533-F29EA281CED8}"/>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53BAC9-D3AC-F5E1-6E36-745771FB8DCB}"/>
              </a:ext>
            </a:extLst>
          </p:cNvPr>
          <p:cNvSpPr>
            <a:spLocks noGrp="1"/>
          </p:cNvSpPr>
          <p:nvPr>
            <p:ph type="sldNum" sz="quarter" idx="12"/>
          </p:nvPr>
        </p:nvSpPr>
        <p:spPr/>
        <p:txBody>
          <a:bodyPr/>
          <a:lstStyle/>
          <a:p>
            <a:fld id="{9E260BC5-5BF3-8746-862B-DC45E9CAA88B}" type="slidenum">
              <a:rPr lang="en-US" smtClean="0"/>
              <a:pPr/>
              <a:t>3</a:t>
            </a:fld>
            <a:r>
              <a:rPr lang="en-US" altLang="zh-CN" dirty="0"/>
              <a:t>/33</a:t>
            </a:r>
            <a:endParaRPr lang="en-US" dirty="0"/>
          </a:p>
        </p:txBody>
      </p:sp>
      <p:sp>
        <p:nvSpPr>
          <p:cNvPr id="6" name="Rectangle 4">
            <a:extLst>
              <a:ext uri="{FF2B5EF4-FFF2-40B4-BE49-F238E27FC236}">
                <a16:creationId xmlns:a16="http://schemas.microsoft.com/office/drawing/2014/main" id="{888CA779-4FF5-7F5C-B247-D378DCB85C28}"/>
              </a:ext>
            </a:extLst>
          </p:cNvPr>
          <p:cNvSpPr>
            <a:spLocks noChangeArrowheads="1"/>
          </p:cNvSpPr>
          <p:nvPr/>
        </p:nvSpPr>
        <p:spPr bwMode="auto">
          <a:xfrm>
            <a:off x="920750" y="1945447"/>
            <a:ext cx="2700337" cy="647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 typeface="Times New Roman" panose="02020603050405020304" pitchFamily="18" charset="0"/>
              <a:buNone/>
            </a:pPr>
            <a:r>
              <a:rPr lang="zh-CN" altLang="en-US" sz="2800" u="sng" dirty="0">
                <a:solidFill>
                  <a:srgbClr val="0000FF"/>
                </a:solidFill>
                <a:latin typeface="Times New Roman" panose="02020603050405020304" pitchFamily="18" charset="0"/>
              </a:rPr>
              <a:t>双极结型三极管</a:t>
            </a:r>
            <a:endParaRPr lang="en-US" altLang="zh-CN" sz="2800" u="sng" dirty="0">
              <a:solidFill>
                <a:srgbClr val="0000FF"/>
              </a:solidFill>
              <a:latin typeface="Times New Roman" panose="02020603050405020304" pitchFamily="18" charset="0"/>
            </a:endParaRPr>
          </a:p>
        </p:txBody>
      </p:sp>
      <p:sp>
        <p:nvSpPr>
          <p:cNvPr id="7" name="AutoShape 21">
            <a:extLst>
              <a:ext uri="{FF2B5EF4-FFF2-40B4-BE49-F238E27FC236}">
                <a16:creationId xmlns:a16="http://schemas.microsoft.com/office/drawing/2014/main" id="{0ADF53DA-AF3A-29F4-B3C3-83182572D81B}"/>
              </a:ext>
            </a:extLst>
          </p:cNvPr>
          <p:cNvSpPr>
            <a:spLocks/>
          </p:cNvSpPr>
          <p:nvPr/>
        </p:nvSpPr>
        <p:spPr bwMode="auto">
          <a:xfrm>
            <a:off x="3729037" y="1785110"/>
            <a:ext cx="215900" cy="901700"/>
          </a:xfrm>
          <a:prstGeom prst="leftBrace">
            <a:avLst>
              <a:gd name="adj1" fmla="val 34804"/>
              <a:gd name="adj2" fmla="val 50000"/>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 name="Rectangle 22">
            <a:extLst>
              <a:ext uri="{FF2B5EF4-FFF2-40B4-BE49-F238E27FC236}">
                <a16:creationId xmlns:a16="http://schemas.microsoft.com/office/drawing/2014/main" id="{1A3E8C39-F602-909B-685E-44810AEBFB2D}"/>
              </a:ext>
            </a:extLst>
          </p:cNvPr>
          <p:cNvSpPr>
            <a:spLocks noChangeArrowheads="1"/>
          </p:cNvSpPr>
          <p:nvPr/>
        </p:nvSpPr>
        <p:spPr bwMode="auto">
          <a:xfrm>
            <a:off x="3944937" y="1662872"/>
            <a:ext cx="1008063"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a:latin typeface="Times New Roman" panose="02020603050405020304" pitchFamily="18" charset="0"/>
              </a:rPr>
              <a:t>NPN</a:t>
            </a:r>
            <a:endParaRPr kumimoji="1" lang="zh-CN" altLang="en-US" sz="2800">
              <a:latin typeface="Times New Roman" panose="02020603050405020304" pitchFamily="18" charset="0"/>
            </a:endParaRPr>
          </a:p>
        </p:txBody>
      </p:sp>
      <p:sp>
        <p:nvSpPr>
          <p:cNvPr id="9" name="Rectangle 23">
            <a:extLst>
              <a:ext uri="{FF2B5EF4-FFF2-40B4-BE49-F238E27FC236}">
                <a16:creationId xmlns:a16="http://schemas.microsoft.com/office/drawing/2014/main" id="{21409F35-BAB3-9563-9FEB-5085DDF3650E}"/>
              </a:ext>
            </a:extLst>
          </p:cNvPr>
          <p:cNvSpPr>
            <a:spLocks noChangeArrowheads="1"/>
          </p:cNvSpPr>
          <p:nvPr/>
        </p:nvSpPr>
        <p:spPr bwMode="auto">
          <a:xfrm>
            <a:off x="3944937" y="2253422"/>
            <a:ext cx="935038"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PNP</a:t>
            </a:r>
          </a:p>
        </p:txBody>
      </p:sp>
      <p:sp>
        <p:nvSpPr>
          <p:cNvPr id="10" name="Rectangle 5">
            <a:extLst>
              <a:ext uri="{FF2B5EF4-FFF2-40B4-BE49-F238E27FC236}">
                <a16:creationId xmlns:a16="http://schemas.microsoft.com/office/drawing/2014/main" id="{3459AF68-7953-377A-1177-459F884BBD4C}"/>
              </a:ext>
            </a:extLst>
          </p:cNvPr>
          <p:cNvSpPr>
            <a:spLocks noChangeArrowheads="1"/>
          </p:cNvSpPr>
          <p:nvPr/>
        </p:nvSpPr>
        <p:spPr bwMode="auto">
          <a:xfrm>
            <a:off x="5276850" y="2909060"/>
            <a:ext cx="1189037"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N</a:t>
            </a:r>
            <a:r>
              <a:rPr kumimoji="1" lang="zh-CN" altLang="en-US" sz="2800">
                <a:latin typeface="Times New Roman" panose="02020603050405020304" pitchFamily="18" charset="0"/>
              </a:rPr>
              <a:t>沟道</a:t>
            </a:r>
          </a:p>
        </p:txBody>
      </p:sp>
      <p:sp>
        <p:nvSpPr>
          <p:cNvPr id="11" name="Rectangle 6">
            <a:extLst>
              <a:ext uri="{FF2B5EF4-FFF2-40B4-BE49-F238E27FC236}">
                <a16:creationId xmlns:a16="http://schemas.microsoft.com/office/drawing/2014/main" id="{1481FC73-AD04-25A4-8E7D-FC9AE26ABF08}"/>
              </a:ext>
            </a:extLst>
          </p:cNvPr>
          <p:cNvSpPr>
            <a:spLocks noChangeArrowheads="1"/>
          </p:cNvSpPr>
          <p:nvPr/>
        </p:nvSpPr>
        <p:spPr bwMode="auto">
          <a:xfrm>
            <a:off x="5276850" y="3931410"/>
            <a:ext cx="1189037"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P</a:t>
            </a:r>
            <a:r>
              <a:rPr kumimoji="1" lang="zh-CN" altLang="en-US" sz="2800">
                <a:latin typeface="Times New Roman" panose="02020603050405020304" pitchFamily="18" charset="0"/>
              </a:rPr>
              <a:t>沟道</a:t>
            </a:r>
          </a:p>
        </p:txBody>
      </p:sp>
      <p:sp>
        <p:nvSpPr>
          <p:cNvPr id="12" name="Rectangle 7">
            <a:extLst>
              <a:ext uri="{FF2B5EF4-FFF2-40B4-BE49-F238E27FC236}">
                <a16:creationId xmlns:a16="http://schemas.microsoft.com/office/drawing/2014/main" id="{74849484-0C53-C51A-B20C-081E86E8F455}"/>
              </a:ext>
            </a:extLst>
          </p:cNvPr>
          <p:cNvSpPr>
            <a:spLocks noChangeArrowheads="1"/>
          </p:cNvSpPr>
          <p:nvPr/>
        </p:nvSpPr>
        <p:spPr bwMode="auto">
          <a:xfrm>
            <a:off x="3549650" y="4825172"/>
            <a:ext cx="1006475"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a:latin typeface="Times New Roman" panose="02020603050405020304" pitchFamily="18" charset="0"/>
              </a:rPr>
              <a:t>结型</a:t>
            </a:r>
          </a:p>
        </p:txBody>
      </p:sp>
      <p:sp>
        <p:nvSpPr>
          <p:cNvPr id="13" name="Rectangle 8">
            <a:extLst>
              <a:ext uri="{FF2B5EF4-FFF2-40B4-BE49-F238E27FC236}">
                <a16:creationId xmlns:a16="http://schemas.microsoft.com/office/drawing/2014/main" id="{71087DB3-7B46-BA90-85C8-B2EC4CDE970E}"/>
              </a:ext>
            </a:extLst>
          </p:cNvPr>
          <p:cNvSpPr>
            <a:spLocks noChangeArrowheads="1"/>
          </p:cNvSpPr>
          <p:nvPr/>
        </p:nvSpPr>
        <p:spPr bwMode="auto">
          <a:xfrm>
            <a:off x="3560762" y="3450397"/>
            <a:ext cx="1362874"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dirty="0">
                <a:solidFill>
                  <a:srgbClr val="00B050"/>
                </a:solidFill>
                <a:latin typeface="Times New Roman" panose="02020603050405020304" pitchFamily="18" charset="0"/>
              </a:rPr>
              <a:t>MOS</a:t>
            </a:r>
            <a:r>
              <a:rPr lang="zh-CN" altLang="en-US" sz="2800" dirty="0">
                <a:solidFill>
                  <a:srgbClr val="00B050"/>
                </a:solidFill>
                <a:latin typeface="Times New Roman" panose="02020603050405020304" pitchFamily="18" charset="0"/>
              </a:rPr>
              <a:t>型</a:t>
            </a:r>
          </a:p>
        </p:txBody>
      </p:sp>
      <p:sp>
        <p:nvSpPr>
          <p:cNvPr id="14" name="Rectangle 9">
            <a:extLst>
              <a:ext uri="{FF2B5EF4-FFF2-40B4-BE49-F238E27FC236}">
                <a16:creationId xmlns:a16="http://schemas.microsoft.com/office/drawing/2014/main" id="{47DA455C-1BD5-AD9E-3190-1394B0F11AE3}"/>
              </a:ext>
            </a:extLst>
          </p:cNvPr>
          <p:cNvSpPr>
            <a:spLocks noChangeArrowheads="1"/>
          </p:cNvSpPr>
          <p:nvPr/>
        </p:nvSpPr>
        <p:spPr bwMode="auto">
          <a:xfrm>
            <a:off x="920750" y="4112385"/>
            <a:ext cx="23177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800">
                <a:latin typeface="Times New Roman" panose="02020603050405020304" pitchFamily="18" charset="0"/>
              </a:rPr>
              <a:t>场效应三极管</a:t>
            </a:r>
          </a:p>
        </p:txBody>
      </p:sp>
      <p:sp>
        <p:nvSpPr>
          <p:cNvPr id="15" name="AutoShape 10">
            <a:extLst>
              <a:ext uri="{FF2B5EF4-FFF2-40B4-BE49-F238E27FC236}">
                <a16:creationId xmlns:a16="http://schemas.microsoft.com/office/drawing/2014/main" id="{FE9E9894-A6DC-CB55-3D0A-1CCEFE54A72C}"/>
              </a:ext>
            </a:extLst>
          </p:cNvPr>
          <p:cNvSpPr>
            <a:spLocks/>
          </p:cNvSpPr>
          <p:nvPr/>
        </p:nvSpPr>
        <p:spPr bwMode="auto">
          <a:xfrm>
            <a:off x="3295650" y="3555172"/>
            <a:ext cx="252412" cy="1778000"/>
          </a:xfrm>
          <a:prstGeom prst="leftBrace">
            <a:avLst>
              <a:gd name="adj1" fmla="val 58700"/>
              <a:gd name="adj2" fmla="val 50000"/>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6" name="AutoShape 11">
            <a:extLst>
              <a:ext uri="{FF2B5EF4-FFF2-40B4-BE49-F238E27FC236}">
                <a16:creationId xmlns:a16="http://schemas.microsoft.com/office/drawing/2014/main" id="{161F9DC6-F0B9-DE60-B913-B6E982871391}"/>
              </a:ext>
            </a:extLst>
          </p:cNvPr>
          <p:cNvSpPr>
            <a:spLocks/>
          </p:cNvSpPr>
          <p:nvPr/>
        </p:nvSpPr>
        <p:spPr bwMode="auto">
          <a:xfrm>
            <a:off x="5024437" y="3066222"/>
            <a:ext cx="217488" cy="1393825"/>
          </a:xfrm>
          <a:prstGeom prst="leftBrace">
            <a:avLst>
              <a:gd name="adj1" fmla="val 53406"/>
              <a:gd name="adj2" fmla="val 50000"/>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7" name="AutoShape 15">
            <a:extLst>
              <a:ext uri="{FF2B5EF4-FFF2-40B4-BE49-F238E27FC236}">
                <a16:creationId xmlns:a16="http://schemas.microsoft.com/office/drawing/2014/main" id="{8963EE60-43D2-76D5-BF68-B5B72A4FAC2B}"/>
              </a:ext>
            </a:extLst>
          </p:cNvPr>
          <p:cNvSpPr>
            <a:spLocks/>
          </p:cNvSpPr>
          <p:nvPr/>
        </p:nvSpPr>
        <p:spPr bwMode="auto">
          <a:xfrm>
            <a:off x="6572250" y="2807460"/>
            <a:ext cx="252412" cy="774700"/>
          </a:xfrm>
          <a:prstGeom prst="leftBrace">
            <a:avLst>
              <a:gd name="adj1" fmla="val 25577"/>
              <a:gd name="adj2" fmla="val 50000"/>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8" name="Rectangle 16">
            <a:extLst>
              <a:ext uri="{FF2B5EF4-FFF2-40B4-BE49-F238E27FC236}">
                <a16:creationId xmlns:a16="http://schemas.microsoft.com/office/drawing/2014/main" id="{E7A68BA7-699B-B05C-BBB5-AEAEEBF08ED6}"/>
              </a:ext>
            </a:extLst>
          </p:cNvPr>
          <p:cNvSpPr>
            <a:spLocks noChangeArrowheads="1"/>
          </p:cNvSpPr>
          <p:nvPr/>
        </p:nvSpPr>
        <p:spPr bwMode="auto">
          <a:xfrm>
            <a:off x="6896100" y="2591560"/>
            <a:ext cx="133350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a:latin typeface="Times New Roman" panose="02020603050405020304" pitchFamily="18" charset="0"/>
              </a:rPr>
              <a:t>增强型</a:t>
            </a:r>
          </a:p>
        </p:txBody>
      </p:sp>
      <p:sp>
        <p:nvSpPr>
          <p:cNvPr id="19" name="Rectangle 17">
            <a:extLst>
              <a:ext uri="{FF2B5EF4-FFF2-40B4-BE49-F238E27FC236}">
                <a16:creationId xmlns:a16="http://schemas.microsoft.com/office/drawing/2014/main" id="{3ACA90B9-CF36-5660-630C-7D9B1ACCC9B0}"/>
              </a:ext>
            </a:extLst>
          </p:cNvPr>
          <p:cNvSpPr>
            <a:spLocks noChangeArrowheads="1"/>
          </p:cNvSpPr>
          <p:nvPr/>
        </p:nvSpPr>
        <p:spPr bwMode="auto">
          <a:xfrm>
            <a:off x="6932612" y="3118610"/>
            <a:ext cx="1368425"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a:latin typeface="Times New Roman" panose="02020603050405020304" pitchFamily="18" charset="0"/>
              </a:rPr>
              <a:t>耗尽型</a:t>
            </a:r>
          </a:p>
        </p:txBody>
      </p:sp>
      <p:sp>
        <p:nvSpPr>
          <p:cNvPr id="20" name="AutoShape 18">
            <a:extLst>
              <a:ext uri="{FF2B5EF4-FFF2-40B4-BE49-F238E27FC236}">
                <a16:creationId xmlns:a16="http://schemas.microsoft.com/office/drawing/2014/main" id="{A17932A5-48EB-8B66-F3AD-B16248B75931}"/>
              </a:ext>
            </a:extLst>
          </p:cNvPr>
          <p:cNvSpPr>
            <a:spLocks/>
          </p:cNvSpPr>
          <p:nvPr/>
        </p:nvSpPr>
        <p:spPr bwMode="auto">
          <a:xfrm>
            <a:off x="6572250" y="3894897"/>
            <a:ext cx="252412" cy="776288"/>
          </a:xfrm>
          <a:prstGeom prst="leftBrace">
            <a:avLst>
              <a:gd name="adj1" fmla="val 25629"/>
              <a:gd name="adj2" fmla="val 50000"/>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Rectangle 19">
            <a:extLst>
              <a:ext uri="{FF2B5EF4-FFF2-40B4-BE49-F238E27FC236}">
                <a16:creationId xmlns:a16="http://schemas.microsoft.com/office/drawing/2014/main" id="{915C9436-5DD3-4DBB-8253-CFDCDD84649C}"/>
              </a:ext>
            </a:extLst>
          </p:cNvPr>
          <p:cNvSpPr>
            <a:spLocks noChangeArrowheads="1"/>
          </p:cNvSpPr>
          <p:nvPr/>
        </p:nvSpPr>
        <p:spPr bwMode="auto">
          <a:xfrm>
            <a:off x="6896100" y="3720272"/>
            <a:ext cx="1333500" cy="517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a:latin typeface="Times New Roman" panose="02020603050405020304" pitchFamily="18" charset="0"/>
              </a:rPr>
              <a:t>增强型</a:t>
            </a:r>
          </a:p>
        </p:txBody>
      </p:sp>
      <p:sp>
        <p:nvSpPr>
          <p:cNvPr id="22" name="Rectangle 20">
            <a:extLst>
              <a:ext uri="{FF2B5EF4-FFF2-40B4-BE49-F238E27FC236}">
                <a16:creationId xmlns:a16="http://schemas.microsoft.com/office/drawing/2014/main" id="{88798611-67B2-6DD8-3727-1997B9F757C4}"/>
              </a:ext>
            </a:extLst>
          </p:cNvPr>
          <p:cNvSpPr>
            <a:spLocks noChangeArrowheads="1"/>
          </p:cNvSpPr>
          <p:nvPr/>
        </p:nvSpPr>
        <p:spPr bwMode="auto">
          <a:xfrm>
            <a:off x="6932612" y="4185410"/>
            <a:ext cx="1368425"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a:latin typeface="Times New Roman" panose="02020603050405020304" pitchFamily="18" charset="0"/>
              </a:rPr>
              <a:t>耗尽型</a:t>
            </a:r>
          </a:p>
        </p:txBody>
      </p:sp>
      <p:sp>
        <p:nvSpPr>
          <p:cNvPr id="23" name="AutoShape 24">
            <a:extLst>
              <a:ext uri="{FF2B5EF4-FFF2-40B4-BE49-F238E27FC236}">
                <a16:creationId xmlns:a16="http://schemas.microsoft.com/office/drawing/2014/main" id="{F8EBD3AE-8D77-B17E-DBE9-75419062CF46}"/>
              </a:ext>
            </a:extLst>
          </p:cNvPr>
          <p:cNvSpPr>
            <a:spLocks/>
          </p:cNvSpPr>
          <p:nvPr/>
        </p:nvSpPr>
        <p:spPr bwMode="auto">
          <a:xfrm>
            <a:off x="4521200" y="4814060"/>
            <a:ext cx="252412" cy="774700"/>
          </a:xfrm>
          <a:prstGeom prst="leftBrace">
            <a:avLst>
              <a:gd name="adj1" fmla="val 25577"/>
              <a:gd name="adj2" fmla="val 50000"/>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4" name="Rectangle 25">
            <a:extLst>
              <a:ext uri="{FF2B5EF4-FFF2-40B4-BE49-F238E27FC236}">
                <a16:creationId xmlns:a16="http://schemas.microsoft.com/office/drawing/2014/main" id="{0A682FDC-8E69-BD83-3059-EC293C285E12}"/>
              </a:ext>
            </a:extLst>
          </p:cNvPr>
          <p:cNvSpPr>
            <a:spLocks noChangeArrowheads="1"/>
          </p:cNvSpPr>
          <p:nvPr/>
        </p:nvSpPr>
        <p:spPr bwMode="auto">
          <a:xfrm>
            <a:off x="4843462" y="4647372"/>
            <a:ext cx="1296988"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a:latin typeface="Times New Roman" panose="02020603050405020304" pitchFamily="18" charset="0"/>
              </a:rPr>
              <a:t>N</a:t>
            </a:r>
            <a:r>
              <a:rPr kumimoji="1" lang="zh-CN" altLang="en-US" sz="2800">
                <a:latin typeface="Times New Roman" panose="02020603050405020304" pitchFamily="18" charset="0"/>
              </a:rPr>
              <a:t>沟道</a:t>
            </a:r>
          </a:p>
        </p:txBody>
      </p:sp>
      <p:sp>
        <p:nvSpPr>
          <p:cNvPr id="25" name="Rectangle 26">
            <a:extLst>
              <a:ext uri="{FF2B5EF4-FFF2-40B4-BE49-F238E27FC236}">
                <a16:creationId xmlns:a16="http://schemas.microsoft.com/office/drawing/2014/main" id="{061642C7-4A4E-82F0-F2F0-153EC1715B97}"/>
              </a:ext>
            </a:extLst>
          </p:cNvPr>
          <p:cNvSpPr>
            <a:spLocks noChangeArrowheads="1"/>
          </p:cNvSpPr>
          <p:nvPr/>
        </p:nvSpPr>
        <p:spPr bwMode="auto">
          <a:xfrm>
            <a:off x="4879975" y="5131560"/>
            <a:ext cx="1260475"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P</a:t>
            </a:r>
            <a:r>
              <a:rPr kumimoji="1" lang="zh-CN" altLang="en-US" sz="2800">
                <a:latin typeface="Times New Roman" panose="02020603050405020304" pitchFamily="18" charset="0"/>
              </a:rPr>
              <a:t>沟道</a:t>
            </a:r>
            <a:endParaRPr kumimoji="1" lang="en-US" altLang="zh-CN" sz="2800">
              <a:latin typeface="Times New Roman" panose="02020603050405020304" pitchFamily="18" charset="0"/>
            </a:endParaRPr>
          </a:p>
        </p:txBody>
      </p:sp>
      <p:sp>
        <p:nvSpPr>
          <p:cNvPr id="26" name="圆角矩形 25">
            <a:extLst>
              <a:ext uri="{FF2B5EF4-FFF2-40B4-BE49-F238E27FC236}">
                <a16:creationId xmlns:a16="http://schemas.microsoft.com/office/drawing/2014/main" id="{9E9D0E6A-098D-E0C9-B67E-6B8DEBB3CB42}"/>
              </a:ext>
            </a:extLst>
          </p:cNvPr>
          <p:cNvSpPr/>
          <p:nvPr/>
        </p:nvSpPr>
        <p:spPr>
          <a:xfrm>
            <a:off x="677863" y="1575559"/>
            <a:ext cx="4541837" cy="1246188"/>
          </a:xfrm>
          <a:prstGeom prst="roundRect">
            <a:avLst>
              <a:gd name="adj" fmla="val 9533"/>
            </a:avLst>
          </a:prstGeom>
          <a:noFill/>
          <a:ln>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8370E3D3-7A3B-C70C-3DC3-BC994A98A7B6}"/>
              </a:ext>
            </a:extLst>
          </p:cNvPr>
          <p:cNvSpPr txBox="1"/>
          <p:nvPr/>
        </p:nvSpPr>
        <p:spPr>
          <a:xfrm>
            <a:off x="4184255" y="1155944"/>
            <a:ext cx="1440656"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本节内容</a:t>
            </a:r>
          </a:p>
        </p:txBody>
      </p:sp>
    </p:spTree>
    <p:extLst>
      <p:ext uri="{BB962C8B-B14F-4D97-AF65-F5344CB8AC3E}">
        <p14:creationId xmlns:p14="http://schemas.microsoft.com/office/powerpoint/2010/main" val="158979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439A6A-EFDF-F681-8044-69F67D002FD5}"/>
              </a:ext>
            </a:extLst>
          </p:cNvPr>
          <p:cNvSpPr>
            <a:spLocks noGrp="1"/>
          </p:cNvSpPr>
          <p:nvPr>
            <p:ph type="title"/>
          </p:nvPr>
        </p:nvSpPr>
        <p:spPr/>
        <p:txBody>
          <a:bodyPr>
            <a:normAutofit fontScale="90000"/>
          </a:bodyPr>
          <a:lstStyle/>
          <a:p>
            <a:r>
              <a:rPr lang="zh-CN" altLang="en-US" dirty="0"/>
              <a:t>双极结型三极管</a:t>
            </a:r>
            <a:endParaRPr kumimoji="1" lang="zh-CN" altLang="en-US" dirty="0"/>
          </a:p>
        </p:txBody>
      </p:sp>
      <p:sp>
        <p:nvSpPr>
          <p:cNvPr id="3" name="内容占位符 2">
            <a:extLst>
              <a:ext uri="{FF2B5EF4-FFF2-40B4-BE49-F238E27FC236}">
                <a16:creationId xmlns:a16="http://schemas.microsoft.com/office/drawing/2014/main" id="{41A5F13A-9ED6-837F-7BA5-60494DB7109D}"/>
              </a:ext>
            </a:extLst>
          </p:cNvPr>
          <p:cNvSpPr>
            <a:spLocks noGrp="1"/>
          </p:cNvSpPr>
          <p:nvPr>
            <p:ph idx="1"/>
          </p:nvPr>
        </p:nvSpPr>
        <p:spPr/>
        <p:txBody>
          <a:bodyPr/>
          <a:lstStyle/>
          <a:p>
            <a:r>
              <a:rPr lang="zh-CN" altLang="en-US" sz="2800" dirty="0"/>
              <a:t>内部结构特点</a:t>
            </a:r>
          </a:p>
          <a:p>
            <a:pPr lvl="1"/>
            <a:r>
              <a:rPr lang="zh-CN" altLang="en-US" sz="2400" dirty="0"/>
              <a:t>发射区掺杂浓度很高</a:t>
            </a:r>
          </a:p>
          <a:p>
            <a:pPr lvl="1"/>
            <a:r>
              <a:rPr lang="zh-CN" altLang="en-US" sz="2400" dirty="0"/>
              <a:t>基区很薄且掺杂浓度很低</a:t>
            </a:r>
          </a:p>
          <a:p>
            <a:pPr lvl="1"/>
            <a:r>
              <a:rPr lang="zh-CN" altLang="en-US" sz="2400" dirty="0"/>
              <a:t>集电区面积很大</a:t>
            </a:r>
          </a:p>
          <a:p>
            <a:endParaRPr kumimoji="1" lang="zh-CN" altLang="en-US" dirty="0"/>
          </a:p>
        </p:txBody>
      </p:sp>
      <p:sp>
        <p:nvSpPr>
          <p:cNvPr id="4" name="页脚占位符 3">
            <a:extLst>
              <a:ext uri="{FF2B5EF4-FFF2-40B4-BE49-F238E27FC236}">
                <a16:creationId xmlns:a16="http://schemas.microsoft.com/office/drawing/2014/main" id="{F4626515-1AD2-759E-9F05-CBBBEA062E59}"/>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A2E42BFC-50D3-90CA-22D3-B2D9ACA3EA98}"/>
              </a:ext>
            </a:extLst>
          </p:cNvPr>
          <p:cNvSpPr>
            <a:spLocks noGrp="1"/>
          </p:cNvSpPr>
          <p:nvPr>
            <p:ph type="sldNum" sz="quarter" idx="12"/>
          </p:nvPr>
        </p:nvSpPr>
        <p:spPr/>
        <p:txBody>
          <a:bodyPr/>
          <a:lstStyle/>
          <a:p>
            <a:fld id="{9E260BC5-5BF3-8746-862B-DC45E9CAA88B}" type="slidenum">
              <a:rPr lang="en-US" smtClean="0"/>
              <a:pPr/>
              <a:t>4</a:t>
            </a:fld>
            <a:r>
              <a:rPr lang="en-US" altLang="zh-CN" dirty="0"/>
              <a:t>/33</a:t>
            </a:r>
            <a:endParaRPr lang="en-US" dirty="0"/>
          </a:p>
        </p:txBody>
      </p:sp>
      <p:sp>
        <p:nvSpPr>
          <p:cNvPr id="6" name="Rectangle 68">
            <a:extLst>
              <a:ext uri="{FF2B5EF4-FFF2-40B4-BE49-F238E27FC236}">
                <a16:creationId xmlns:a16="http://schemas.microsoft.com/office/drawing/2014/main" id="{B342EA08-E87E-0335-150A-95E6E54D4A1B}"/>
              </a:ext>
            </a:extLst>
          </p:cNvPr>
          <p:cNvSpPr>
            <a:spLocks noChangeArrowheads="1"/>
          </p:cNvSpPr>
          <p:nvPr/>
        </p:nvSpPr>
        <p:spPr bwMode="auto">
          <a:xfrm>
            <a:off x="1081087" y="5533159"/>
            <a:ext cx="19796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b="0">
                <a:latin typeface="楷体_GB2312" pitchFamily="49" charset="-122"/>
              </a:rPr>
              <a:t>电路符号</a:t>
            </a:r>
          </a:p>
        </p:txBody>
      </p:sp>
      <p:grpSp>
        <p:nvGrpSpPr>
          <p:cNvPr id="7" name="Group 103">
            <a:extLst>
              <a:ext uri="{FF2B5EF4-FFF2-40B4-BE49-F238E27FC236}">
                <a16:creationId xmlns:a16="http://schemas.microsoft.com/office/drawing/2014/main" id="{35E4ECB1-E092-D56A-1878-0D0A86C69866}"/>
              </a:ext>
            </a:extLst>
          </p:cNvPr>
          <p:cNvGrpSpPr>
            <a:grpSpLocks/>
          </p:cNvGrpSpPr>
          <p:nvPr/>
        </p:nvGrpSpPr>
        <p:grpSpPr bwMode="auto">
          <a:xfrm>
            <a:off x="412750" y="3380509"/>
            <a:ext cx="1387475" cy="2143125"/>
            <a:chOff x="577" y="2343"/>
            <a:chExt cx="874" cy="1350"/>
          </a:xfrm>
        </p:grpSpPr>
        <p:grpSp>
          <p:nvGrpSpPr>
            <p:cNvPr id="8" name="Group 36">
              <a:extLst>
                <a:ext uri="{FF2B5EF4-FFF2-40B4-BE49-F238E27FC236}">
                  <a16:creationId xmlns:a16="http://schemas.microsoft.com/office/drawing/2014/main" id="{F6F73477-553A-7333-8EEA-4599A60C1E73}"/>
                </a:ext>
              </a:extLst>
            </p:cNvPr>
            <p:cNvGrpSpPr>
              <a:grpSpLocks/>
            </p:cNvGrpSpPr>
            <p:nvPr/>
          </p:nvGrpSpPr>
          <p:grpSpPr bwMode="auto">
            <a:xfrm>
              <a:off x="577" y="2343"/>
              <a:ext cx="874" cy="1160"/>
              <a:chOff x="499" y="2863"/>
              <a:chExt cx="874" cy="1160"/>
            </a:xfrm>
          </p:grpSpPr>
          <p:grpSp>
            <p:nvGrpSpPr>
              <p:cNvPr id="10" name="Group 37">
                <a:extLst>
                  <a:ext uri="{FF2B5EF4-FFF2-40B4-BE49-F238E27FC236}">
                    <a16:creationId xmlns:a16="http://schemas.microsoft.com/office/drawing/2014/main" id="{5ADB78C9-DF72-8A09-C6E5-BB0051E81A30}"/>
                  </a:ext>
                </a:extLst>
              </p:cNvPr>
              <p:cNvGrpSpPr>
                <a:grpSpLocks/>
              </p:cNvGrpSpPr>
              <p:nvPr/>
            </p:nvGrpSpPr>
            <p:grpSpPr bwMode="auto">
              <a:xfrm>
                <a:off x="635" y="2863"/>
                <a:ext cx="738" cy="1116"/>
                <a:chOff x="932" y="2319"/>
                <a:chExt cx="841" cy="1271"/>
              </a:xfrm>
            </p:grpSpPr>
            <p:sp>
              <p:nvSpPr>
                <p:cNvPr id="12" name="Line 38">
                  <a:extLst>
                    <a:ext uri="{FF2B5EF4-FFF2-40B4-BE49-F238E27FC236}">
                      <a16:creationId xmlns:a16="http://schemas.microsoft.com/office/drawing/2014/main" id="{D0F3FBB5-9F8C-CF68-9E91-A5F415EE2055}"/>
                    </a:ext>
                  </a:extLst>
                </p:cNvPr>
                <p:cNvSpPr>
                  <a:spLocks noChangeShapeType="1"/>
                </p:cNvSpPr>
                <p:nvPr/>
              </p:nvSpPr>
              <p:spPr bwMode="auto">
                <a:xfrm>
                  <a:off x="1334" y="2772"/>
                  <a:ext cx="0" cy="40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 name="Line 39">
                  <a:extLst>
                    <a:ext uri="{FF2B5EF4-FFF2-40B4-BE49-F238E27FC236}">
                      <a16:creationId xmlns:a16="http://schemas.microsoft.com/office/drawing/2014/main" id="{657FDBF3-CFD5-5332-2795-333B4B0583B1}"/>
                    </a:ext>
                  </a:extLst>
                </p:cNvPr>
                <p:cNvSpPr>
                  <a:spLocks noChangeShapeType="1"/>
                </p:cNvSpPr>
                <p:nvPr/>
              </p:nvSpPr>
              <p:spPr bwMode="auto">
                <a:xfrm flipH="1">
                  <a:off x="1022" y="2976"/>
                  <a:ext cx="3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40">
                  <a:extLst>
                    <a:ext uri="{FF2B5EF4-FFF2-40B4-BE49-F238E27FC236}">
                      <a16:creationId xmlns:a16="http://schemas.microsoft.com/office/drawing/2014/main" id="{162AE1E8-D379-74D3-9B65-8BDFC53E0630}"/>
                    </a:ext>
                  </a:extLst>
                </p:cNvPr>
                <p:cNvSpPr>
                  <a:spLocks noChangeShapeType="1"/>
                </p:cNvSpPr>
                <p:nvPr/>
              </p:nvSpPr>
              <p:spPr bwMode="auto">
                <a:xfrm flipV="1">
                  <a:off x="1331" y="2769"/>
                  <a:ext cx="220" cy="139"/>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Line 41">
                  <a:extLst>
                    <a:ext uri="{FF2B5EF4-FFF2-40B4-BE49-F238E27FC236}">
                      <a16:creationId xmlns:a16="http://schemas.microsoft.com/office/drawing/2014/main" id="{0105D355-A49A-8FDE-4714-C391050DAFAC}"/>
                    </a:ext>
                  </a:extLst>
                </p:cNvPr>
                <p:cNvSpPr>
                  <a:spLocks noChangeShapeType="1"/>
                </p:cNvSpPr>
                <p:nvPr/>
              </p:nvSpPr>
              <p:spPr bwMode="auto">
                <a:xfrm>
                  <a:off x="1334" y="3046"/>
                  <a:ext cx="210" cy="131"/>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16" name="Line 42">
                  <a:extLst>
                    <a:ext uri="{FF2B5EF4-FFF2-40B4-BE49-F238E27FC236}">
                      <a16:creationId xmlns:a16="http://schemas.microsoft.com/office/drawing/2014/main" id="{AA0F84FE-C350-011D-7D9A-7E6E7D73DD94}"/>
                    </a:ext>
                  </a:extLst>
                </p:cNvPr>
                <p:cNvSpPr>
                  <a:spLocks noChangeShapeType="1"/>
                </p:cNvSpPr>
                <p:nvPr/>
              </p:nvSpPr>
              <p:spPr bwMode="auto">
                <a:xfrm flipV="1">
                  <a:off x="1544" y="2510"/>
                  <a:ext cx="0" cy="26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 name="Line 43">
                  <a:extLst>
                    <a:ext uri="{FF2B5EF4-FFF2-40B4-BE49-F238E27FC236}">
                      <a16:creationId xmlns:a16="http://schemas.microsoft.com/office/drawing/2014/main" id="{6CA6BDA6-D81A-35A7-5B8E-F3813031F327}"/>
                    </a:ext>
                  </a:extLst>
                </p:cNvPr>
                <p:cNvSpPr>
                  <a:spLocks noChangeShapeType="1"/>
                </p:cNvSpPr>
                <p:nvPr/>
              </p:nvSpPr>
              <p:spPr bwMode="auto">
                <a:xfrm>
                  <a:off x="1544" y="3177"/>
                  <a:ext cx="0" cy="253"/>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 name="Oval 44">
                  <a:extLst>
                    <a:ext uri="{FF2B5EF4-FFF2-40B4-BE49-F238E27FC236}">
                      <a16:creationId xmlns:a16="http://schemas.microsoft.com/office/drawing/2014/main" id="{302348AE-059C-2C58-C25A-CFD82473A2B9}"/>
                    </a:ext>
                  </a:extLst>
                </p:cNvPr>
                <p:cNvSpPr>
                  <a:spLocks noChangeArrowheads="1"/>
                </p:cNvSpPr>
                <p:nvPr/>
              </p:nvSpPr>
              <p:spPr bwMode="auto">
                <a:xfrm>
                  <a:off x="937" y="292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Oval 45">
                  <a:extLst>
                    <a:ext uri="{FF2B5EF4-FFF2-40B4-BE49-F238E27FC236}">
                      <a16:creationId xmlns:a16="http://schemas.microsoft.com/office/drawing/2014/main" id="{9E14F66D-F2C9-F9E9-126E-86970EF9E19B}"/>
                    </a:ext>
                  </a:extLst>
                </p:cNvPr>
                <p:cNvSpPr>
                  <a:spLocks noChangeArrowheads="1"/>
                </p:cNvSpPr>
                <p:nvPr/>
              </p:nvSpPr>
              <p:spPr bwMode="auto">
                <a:xfrm>
                  <a:off x="1495" y="241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Oval 46">
                  <a:extLst>
                    <a:ext uri="{FF2B5EF4-FFF2-40B4-BE49-F238E27FC236}">
                      <a16:creationId xmlns:a16="http://schemas.microsoft.com/office/drawing/2014/main" id="{1ADDC91D-B6E2-868B-23A1-841B98E0F3FE}"/>
                    </a:ext>
                  </a:extLst>
                </p:cNvPr>
                <p:cNvSpPr>
                  <a:spLocks noChangeArrowheads="1"/>
                </p:cNvSpPr>
                <p:nvPr/>
              </p:nvSpPr>
              <p:spPr bwMode="auto">
                <a:xfrm>
                  <a:off x="1495" y="3420"/>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1" name="Group 47">
                  <a:extLst>
                    <a:ext uri="{FF2B5EF4-FFF2-40B4-BE49-F238E27FC236}">
                      <a16:creationId xmlns:a16="http://schemas.microsoft.com/office/drawing/2014/main" id="{01A5C416-8030-5EE0-F9DE-BBA3D31C4FE4}"/>
                    </a:ext>
                  </a:extLst>
                </p:cNvPr>
                <p:cNvGrpSpPr>
                  <a:grpSpLocks/>
                </p:cNvGrpSpPr>
                <p:nvPr/>
              </p:nvGrpSpPr>
              <p:grpSpPr bwMode="auto">
                <a:xfrm>
                  <a:off x="932" y="2319"/>
                  <a:ext cx="841" cy="1271"/>
                  <a:chOff x="4520" y="351"/>
                  <a:chExt cx="841" cy="1271"/>
                </a:xfrm>
              </p:grpSpPr>
              <p:sp>
                <p:nvSpPr>
                  <p:cNvPr id="22" name="Rectangle 48">
                    <a:extLst>
                      <a:ext uri="{FF2B5EF4-FFF2-40B4-BE49-F238E27FC236}">
                        <a16:creationId xmlns:a16="http://schemas.microsoft.com/office/drawing/2014/main" id="{EEACC465-61DC-974F-4B28-BD76614439FD}"/>
                      </a:ext>
                    </a:extLst>
                  </p:cNvPr>
                  <p:cNvSpPr>
                    <a:spLocks noChangeArrowheads="1"/>
                  </p:cNvSpPr>
                  <p:nvPr/>
                </p:nvSpPr>
                <p:spPr bwMode="auto">
                  <a:xfrm flipH="1">
                    <a:off x="5258" y="351"/>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c</a:t>
                    </a:r>
                  </a:p>
                </p:txBody>
              </p:sp>
              <p:sp>
                <p:nvSpPr>
                  <p:cNvPr id="23" name="Rectangle 49">
                    <a:extLst>
                      <a:ext uri="{FF2B5EF4-FFF2-40B4-BE49-F238E27FC236}">
                        <a16:creationId xmlns:a16="http://schemas.microsoft.com/office/drawing/2014/main" id="{D2F8C432-9C40-BCEE-F490-4948D20BDADC}"/>
                      </a:ext>
                    </a:extLst>
                  </p:cNvPr>
                  <p:cNvSpPr>
                    <a:spLocks noChangeArrowheads="1"/>
                  </p:cNvSpPr>
                  <p:nvPr/>
                </p:nvSpPr>
                <p:spPr bwMode="auto">
                  <a:xfrm flipH="1">
                    <a:off x="4520" y="684"/>
                    <a:ext cx="122"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sp>
                <p:nvSpPr>
                  <p:cNvPr id="24" name="Rectangle 50">
                    <a:extLst>
                      <a:ext uri="{FF2B5EF4-FFF2-40B4-BE49-F238E27FC236}">
                        <a16:creationId xmlns:a16="http://schemas.microsoft.com/office/drawing/2014/main" id="{6A48C06A-0B95-2733-7A7D-982FCA4AE265}"/>
                      </a:ext>
                    </a:extLst>
                  </p:cNvPr>
                  <p:cNvSpPr>
                    <a:spLocks noChangeArrowheads="1"/>
                  </p:cNvSpPr>
                  <p:nvPr/>
                </p:nvSpPr>
                <p:spPr bwMode="auto">
                  <a:xfrm flipH="1">
                    <a:off x="5264" y="1360"/>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e</a:t>
                    </a:r>
                  </a:p>
                </p:txBody>
              </p:sp>
            </p:grpSp>
          </p:grpSp>
          <p:sp>
            <p:nvSpPr>
              <p:cNvPr id="11" name="Rectangle 51">
                <a:extLst>
                  <a:ext uri="{FF2B5EF4-FFF2-40B4-BE49-F238E27FC236}">
                    <a16:creationId xmlns:a16="http://schemas.microsoft.com/office/drawing/2014/main" id="{320ACC63-489F-C471-ED5D-6B3D81F2DF2C}"/>
                  </a:ext>
                </a:extLst>
              </p:cNvPr>
              <p:cNvSpPr>
                <a:spLocks noChangeArrowheads="1"/>
              </p:cNvSpPr>
              <p:nvPr/>
            </p:nvSpPr>
            <p:spPr bwMode="auto">
              <a:xfrm>
                <a:off x="499" y="3735"/>
                <a:ext cx="11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kumimoji="1" lang="zh-CN" altLang="en-US" sz="2400" b="0">
                  <a:latin typeface="Times New Roman" panose="02020603050405020304" pitchFamily="18" charset="0"/>
                </a:endParaRPr>
              </a:p>
            </p:txBody>
          </p:sp>
        </p:grpSp>
        <p:sp>
          <p:nvSpPr>
            <p:cNvPr id="9" name="Rectangle 69">
              <a:extLst>
                <a:ext uri="{FF2B5EF4-FFF2-40B4-BE49-F238E27FC236}">
                  <a16:creationId xmlns:a16="http://schemas.microsoft.com/office/drawing/2014/main" id="{49A9F2DD-229F-AB29-12DC-F37B08957485}"/>
                </a:ext>
              </a:extLst>
            </p:cNvPr>
            <p:cNvSpPr>
              <a:spLocks noChangeArrowheads="1"/>
            </p:cNvSpPr>
            <p:nvPr/>
          </p:nvSpPr>
          <p:spPr bwMode="auto">
            <a:xfrm>
              <a:off x="860" y="3405"/>
              <a:ext cx="511"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NPN</a:t>
              </a:r>
              <a:endParaRPr lang="zh-CN" altLang="en-US" sz="2400">
                <a:latin typeface="Times New Roman" panose="02020603050405020304" pitchFamily="18" charset="0"/>
              </a:endParaRPr>
            </a:p>
          </p:txBody>
        </p:sp>
      </p:grpSp>
      <p:grpSp>
        <p:nvGrpSpPr>
          <p:cNvPr id="25" name="Group 104">
            <a:extLst>
              <a:ext uri="{FF2B5EF4-FFF2-40B4-BE49-F238E27FC236}">
                <a16:creationId xmlns:a16="http://schemas.microsoft.com/office/drawing/2014/main" id="{1A392BB9-B0A7-B798-BAE8-DA3B7000AA2A}"/>
              </a:ext>
            </a:extLst>
          </p:cNvPr>
          <p:cNvGrpSpPr>
            <a:grpSpLocks/>
          </p:cNvGrpSpPr>
          <p:nvPr/>
        </p:nvGrpSpPr>
        <p:grpSpPr bwMode="auto">
          <a:xfrm>
            <a:off x="2105025" y="3380509"/>
            <a:ext cx="1279525" cy="2143125"/>
            <a:chOff x="1643" y="2343"/>
            <a:chExt cx="806" cy="1350"/>
          </a:xfrm>
        </p:grpSpPr>
        <p:grpSp>
          <p:nvGrpSpPr>
            <p:cNvPr id="26" name="Group 52">
              <a:extLst>
                <a:ext uri="{FF2B5EF4-FFF2-40B4-BE49-F238E27FC236}">
                  <a16:creationId xmlns:a16="http://schemas.microsoft.com/office/drawing/2014/main" id="{C23F96D1-9821-6744-63F3-4B67D7DF9ED9}"/>
                </a:ext>
              </a:extLst>
            </p:cNvPr>
            <p:cNvGrpSpPr>
              <a:grpSpLocks/>
            </p:cNvGrpSpPr>
            <p:nvPr/>
          </p:nvGrpSpPr>
          <p:grpSpPr bwMode="auto">
            <a:xfrm>
              <a:off x="1643" y="2343"/>
              <a:ext cx="806" cy="1142"/>
              <a:chOff x="1552" y="2881"/>
              <a:chExt cx="806" cy="1142"/>
            </a:xfrm>
          </p:grpSpPr>
          <p:grpSp>
            <p:nvGrpSpPr>
              <p:cNvPr id="28" name="Group 53">
                <a:extLst>
                  <a:ext uri="{FF2B5EF4-FFF2-40B4-BE49-F238E27FC236}">
                    <a16:creationId xmlns:a16="http://schemas.microsoft.com/office/drawing/2014/main" id="{E69F079A-8A9C-3B0A-4D11-AED6F8A96AF7}"/>
                  </a:ext>
                </a:extLst>
              </p:cNvPr>
              <p:cNvGrpSpPr>
                <a:grpSpLocks/>
              </p:cNvGrpSpPr>
              <p:nvPr/>
            </p:nvGrpSpPr>
            <p:grpSpPr bwMode="auto">
              <a:xfrm>
                <a:off x="1620" y="2881"/>
                <a:ext cx="738" cy="1116"/>
                <a:chOff x="1620" y="2881"/>
                <a:chExt cx="738" cy="1116"/>
              </a:xfrm>
            </p:grpSpPr>
            <p:sp>
              <p:nvSpPr>
                <p:cNvPr id="30" name="Line 54">
                  <a:extLst>
                    <a:ext uri="{FF2B5EF4-FFF2-40B4-BE49-F238E27FC236}">
                      <a16:creationId xmlns:a16="http://schemas.microsoft.com/office/drawing/2014/main" id="{CA284201-B911-4E12-3449-17256B825AE8}"/>
                    </a:ext>
                  </a:extLst>
                </p:cNvPr>
                <p:cNvSpPr>
                  <a:spLocks noChangeShapeType="1"/>
                </p:cNvSpPr>
                <p:nvPr/>
              </p:nvSpPr>
              <p:spPr bwMode="auto">
                <a:xfrm>
                  <a:off x="1973" y="3279"/>
                  <a:ext cx="0" cy="35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1" name="Line 55">
                  <a:extLst>
                    <a:ext uri="{FF2B5EF4-FFF2-40B4-BE49-F238E27FC236}">
                      <a16:creationId xmlns:a16="http://schemas.microsoft.com/office/drawing/2014/main" id="{A3319EAF-04B8-9508-A036-8CE2476EB1FF}"/>
                    </a:ext>
                  </a:extLst>
                </p:cNvPr>
                <p:cNvSpPr>
                  <a:spLocks noChangeShapeType="1"/>
                </p:cNvSpPr>
                <p:nvPr/>
              </p:nvSpPr>
              <p:spPr bwMode="auto">
                <a:xfrm flipH="1">
                  <a:off x="1699" y="3458"/>
                  <a:ext cx="274"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2" name="Line 56">
                  <a:extLst>
                    <a:ext uri="{FF2B5EF4-FFF2-40B4-BE49-F238E27FC236}">
                      <a16:creationId xmlns:a16="http://schemas.microsoft.com/office/drawing/2014/main" id="{F319F23F-DD49-E2DB-7E6E-749BCF80628F}"/>
                    </a:ext>
                  </a:extLst>
                </p:cNvPr>
                <p:cNvSpPr>
                  <a:spLocks noChangeShapeType="1"/>
                </p:cNvSpPr>
                <p:nvPr/>
              </p:nvSpPr>
              <p:spPr bwMode="auto">
                <a:xfrm flipV="1">
                  <a:off x="1970" y="3276"/>
                  <a:ext cx="193" cy="12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3" name="Line 57">
                  <a:extLst>
                    <a:ext uri="{FF2B5EF4-FFF2-40B4-BE49-F238E27FC236}">
                      <a16:creationId xmlns:a16="http://schemas.microsoft.com/office/drawing/2014/main" id="{BC741345-6432-D0F4-951B-4E6F6E8866EB}"/>
                    </a:ext>
                  </a:extLst>
                </p:cNvPr>
                <p:cNvSpPr>
                  <a:spLocks noChangeShapeType="1"/>
                </p:cNvSpPr>
                <p:nvPr/>
              </p:nvSpPr>
              <p:spPr bwMode="auto">
                <a:xfrm>
                  <a:off x="1973" y="3519"/>
                  <a:ext cx="184" cy="115"/>
                </a:xfrm>
                <a:prstGeom prst="line">
                  <a:avLst/>
                </a:prstGeom>
                <a:noFill/>
                <a:ln w="38100">
                  <a:solidFill>
                    <a:schemeClr val="tx1"/>
                  </a:solidFill>
                  <a:round/>
                  <a:headEnd type="triangle" w="med" len="lg"/>
                  <a:tailEnd/>
                </a:ln>
                <a:extLst>
                  <a:ext uri="{909E8E84-426E-40dd-AFC4-6F175D3DCCD1}">
                    <a14:hiddenFill xmlns="" xmlns:a14="http://schemas.microsoft.com/office/drawing/2010/main">
                      <a:noFill/>
                    </a14:hiddenFill>
                  </a:ext>
                </a:extLst>
              </p:spPr>
              <p:txBody>
                <a:bodyPr/>
                <a:lstStyle/>
                <a:p>
                  <a:endParaRPr lang="zh-CN" altLang="en-US"/>
                </a:p>
              </p:txBody>
            </p:sp>
            <p:sp>
              <p:nvSpPr>
                <p:cNvPr id="34" name="Line 58">
                  <a:extLst>
                    <a:ext uri="{FF2B5EF4-FFF2-40B4-BE49-F238E27FC236}">
                      <a16:creationId xmlns:a16="http://schemas.microsoft.com/office/drawing/2014/main" id="{78208340-F357-A47A-0B9E-0E05F812FE86}"/>
                    </a:ext>
                  </a:extLst>
                </p:cNvPr>
                <p:cNvSpPr>
                  <a:spLocks noChangeShapeType="1"/>
                </p:cNvSpPr>
                <p:nvPr/>
              </p:nvSpPr>
              <p:spPr bwMode="auto">
                <a:xfrm flipV="1">
                  <a:off x="2157" y="3049"/>
                  <a:ext cx="0" cy="234"/>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5" name="Line 59">
                  <a:extLst>
                    <a:ext uri="{FF2B5EF4-FFF2-40B4-BE49-F238E27FC236}">
                      <a16:creationId xmlns:a16="http://schemas.microsoft.com/office/drawing/2014/main" id="{816BC3BD-297E-E074-9A45-286844E41AC6}"/>
                    </a:ext>
                  </a:extLst>
                </p:cNvPr>
                <p:cNvSpPr>
                  <a:spLocks noChangeShapeType="1"/>
                </p:cNvSpPr>
                <p:nvPr/>
              </p:nvSpPr>
              <p:spPr bwMode="auto">
                <a:xfrm>
                  <a:off x="2157" y="3634"/>
                  <a:ext cx="0" cy="223"/>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6" name="Oval 60">
                  <a:extLst>
                    <a:ext uri="{FF2B5EF4-FFF2-40B4-BE49-F238E27FC236}">
                      <a16:creationId xmlns:a16="http://schemas.microsoft.com/office/drawing/2014/main" id="{34E9AE33-D8F0-C793-1586-7E2B2794D59B}"/>
                    </a:ext>
                  </a:extLst>
                </p:cNvPr>
                <p:cNvSpPr>
                  <a:spLocks noChangeArrowheads="1"/>
                </p:cNvSpPr>
                <p:nvPr/>
              </p:nvSpPr>
              <p:spPr bwMode="auto">
                <a:xfrm>
                  <a:off x="1624" y="3413"/>
                  <a:ext cx="80" cy="80"/>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7" name="Oval 61">
                  <a:extLst>
                    <a:ext uri="{FF2B5EF4-FFF2-40B4-BE49-F238E27FC236}">
                      <a16:creationId xmlns:a16="http://schemas.microsoft.com/office/drawing/2014/main" id="{379B9BA6-DBFA-BF58-88AD-AE09DB62739D}"/>
                    </a:ext>
                  </a:extLst>
                </p:cNvPr>
                <p:cNvSpPr>
                  <a:spLocks noChangeArrowheads="1"/>
                </p:cNvSpPr>
                <p:nvPr/>
              </p:nvSpPr>
              <p:spPr bwMode="auto">
                <a:xfrm>
                  <a:off x="2114" y="2965"/>
                  <a:ext cx="80" cy="80"/>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Oval 62">
                  <a:extLst>
                    <a:ext uri="{FF2B5EF4-FFF2-40B4-BE49-F238E27FC236}">
                      <a16:creationId xmlns:a16="http://schemas.microsoft.com/office/drawing/2014/main" id="{A1E55F7C-C0FB-DF33-C7D7-A07E7034ADA3}"/>
                    </a:ext>
                  </a:extLst>
                </p:cNvPr>
                <p:cNvSpPr>
                  <a:spLocks noChangeArrowheads="1"/>
                </p:cNvSpPr>
                <p:nvPr/>
              </p:nvSpPr>
              <p:spPr bwMode="auto">
                <a:xfrm>
                  <a:off x="2114" y="3848"/>
                  <a:ext cx="80" cy="80"/>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39" name="Group 63">
                  <a:extLst>
                    <a:ext uri="{FF2B5EF4-FFF2-40B4-BE49-F238E27FC236}">
                      <a16:creationId xmlns:a16="http://schemas.microsoft.com/office/drawing/2014/main" id="{BF8349FB-13EA-38BC-8F0F-815DC69CB33E}"/>
                    </a:ext>
                  </a:extLst>
                </p:cNvPr>
                <p:cNvGrpSpPr>
                  <a:grpSpLocks/>
                </p:cNvGrpSpPr>
                <p:nvPr/>
              </p:nvGrpSpPr>
              <p:grpSpPr bwMode="auto">
                <a:xfrm>
                  <a:off x="1620" y="2881"/>
                  <a:ext cx="738" cy="1116"/>
                  <a:chOff x="4520" y="351"/>
                  <a:chExt cx="841" cy="1271"/>
                </a:xfrm>
              </p:grpSpPr>
              <p:sp>
                <p:nvSpPr>
                  <p:cNvPr id="40" name="Rectangle 64">
                    <a:extLst>
                      <a:ext uri="{FF2B5EF4-FFF2-40B4-BE49-F238E27FC236}">
                        <a16:creationId xmlns:a16="http://schemas.microsoft.com/office/drawing/2014/main" id="{DC96C49E-9592-462B-9E64-B341EF0BDBE4}"/>
                      </a:ext>
                    </a:extLst>
                  </p:cNvPr>
                  <p:cNvSpPr>
                    <a:spLocks noChangeArrowheads="1"/>
                  </p:cNvSpPr>
                  <p:nvPr/>
                </p:nvSpPr>
                <p:spPr bwMode="auto">
                  <a:xfrm flipH="1">
                    <a:off x="5258" y="351"/>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c</a:t>
                    </a:r>
                  </a:p>
                </p:txBody>
              </p:sp>
              <p:sp>
                <p:nvSpPr>
                  <p:cNvPr id="41" name="Rectangle 65">
                    <a:extLst>
                      <a:ext uri="{FF2B5EF4-FFF2-40B4-BE49-F238E27FC236}">
                        <a16:creationId xmlns:a16="http://schemas.microsoft.com/office/drawing/2014/main" id="{B4C7EFFA-4B15-94C3-8962-E84B2B1C3AF3}"/>
                      </a:ext>
                    </a:extLst>
                  </p:cNvPr>
                  <p:cNvSpPr>
                    <a:spLocks noChangeArrowheads="1"/>
                  </p:cNvSpPr>
                  <p:nvPr/>
                </p:nvSpPr>
                <p:spPr bwMode="auto">
                  <a:xfrm flipH="1">
                    <a:off x="4520" y="684"/>
                    <a:ext cx="122"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sp>
                <p:nvSpPr>
                  <p:cNvPr id="42" name="Rectangle 66">
                    <a:extLst>
                      <a:ext uri="{FF2B5EF4-FFF2-40B4-BE49-F238E27FC236}">
                        <a16:creationId xmlns:a16="http://schemas.microsoft.com/office/drawing/2014/main" id="{2321FD18-D957-66D0-4160-E0578E61FF55}"/>
                      </a:ext>
                    </a:extLst>
                  </p:cNvPr>
                  <p:cNvSpPr>
                    <a:spLocks noChangeArrowheads="1"/>
                  </p:cNvSpPr>
                  <p:nvPr/>
                </p:nvSpPr>
                <p:spPr bwMode="auto">
                  <a:xfrm flipH="1">
                    <a:off x="5264" y="1360"/>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e</a:t>
                    </a:r>
                  </a:p>
                </p:txBody>
              </p:sp>
            </p:grpSp>
          </p:grpSp>
          <p:sp>
            <p:nvSpPr>
              <p:cNvPr id="29" name="Rectangle 67">
                <a:extLst>
                  <a:ext uri="{FF2B5EF4-FFF2-40B4-BE49-F238E27FC236}">
                    <a16:creationId xmlns:a16="http://schemas.microsoft.com/office/drawing/2014/main" id="{458148CA-4E36-42F8-0CAB-8B45BB5910A0}"/>
                  </a:ext>
                </a:extLst>
              </p:cNvPr>
              <p:cNvSpPr>
                <a:spLocks noChangeArrowheads="1"/>
              </p:cNvSpPr>
              <p:nvPr/>
            </p:nvSpPr>
            <p:spPr bwMode="auto">
              <a:xfrm>
                <a:off x="1552" y="3735"/>
                <a:ext cx="11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kumimoji="1" lang="zh-CN" altLang="en-US" sz="2400" b="0">
                  <a:latin typeface="Times New Roman" panose="02020603050405020304" pitchFamily="18" charset="0"/>
                </a:endParaRPr>
              </a:p>
            </p:txBody>
          </p:sp>
        </p:grpSp>
        <p:sp>
          <p:nvSpPr>
            <p:cNvPr id="27" name="Rectangle 70">
              <a:extLst>
                <a:ext uri="{FF2B5EF4-FFF2-40B4-BE49-F238E27FC236}">
                  <a16:creationId xmlns:a16="http://schemas.microsoft.com/office/drawing/2014/main" id="{19F43E0A-DEB6-4C70-3FD2-4072EEFDB156}"/>
                </a:ext>
              </a:extLst>
            </p:cNvPr>
            <p:cNvSpPr>
              <a:spLocks noChangeArrowheads="1"/>
            </p:cNvSpPr>
            <p:nvPr/>
          </p:nvSpPr>
          <p:spPr bwMode="auto">
            <a:xfrm>
              <a:off x="1880" y="3405"/>
              <a:ext cx="48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Times New Roman" panose="02020603050405020304" pitchFamily="18" charset="0"/>
                </a:rPr>
                <a:t>PNP</a:t>
              </a:r>
              <a:endParaRPr lang="zh-CN" altLang="en-US" sz="2400">
                <a:latin typeface="Times New Roman" panose="02020603050405020304" pitchFamily="18" charset="0"/>
              </a:endParaRPr>
            </a:p>
          </p:txBody>
        </p:sp>
      </p:grpSp>
      <p:sp>
        <p:nvSpPr>
          <p:cNvPr id="43" name="Text Box 4">
            <a:extLst>
              <a:ext uri="{FF2B5EF4-FFF2-40B4-BE49-F238E27FC236}">
                <a16:creationId xmlns:a16="http://schemas.microsoft.com/office/drawing/2014/main" id="{A6BCC599-93E8-F13B-5A0E-C970BDF63805}"/>
              </a:ext>
            </a:extLst>
          </p:cNvPr>
          <p:cNvSpPr txBox="1">
            <a:spLocks noChangeArrowheads="1"/>
          </p:cNvSpPr>
          <p:nvPr/>
        </p:nvSpPr>
        <p:spPr bwMode="auto">
          <a:xfrm>
            <a:off x="6286500" y="5815040"/>
            <a:ext cx="1708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Times New Roman" panose="02020603050405020304" pitchFamily="18" charset="0"/>
              </a:rPr>
              <a:t>NPN</a:t>
            </a:r>
            <a:r>
              <a:rPr lang="zh-CN" altLang="en-US" sz="2400" b="0">
                <a:latin typeface="Times New Roman" panose="02020603050405020304" pitchFamily="18" charset="0"/>
              </a:rPr>
              <a:t>截面图</a:t>
            </a:r>
            <a:endParaRPr lang="en-US" altLang="zh-CN" sz="2400" b="0">
              <a:latin typeface="Times New Roman" panose="02020603050405020304" pitchFamily="18" charset="0"/>
            </a:endParaRPr>
          </a:p>
        </p:txBody>
      </p:sp>
      <p:sp>
        <p:nvSpPr>
          <p:cNvPr id="44" name="Rectangle 5">
            <a:extLst>
              <a:ext uri="{FF2B5EF4-FFF2-40B4-BE49-F238E27FC236}">
                <a16:creationId xmlns:a16="http://schemas.microsoft.com/office/drawing/2014/main" id="{CDABEA1B-A370-542D-91F8-113D47646061}"/>
              </a:ext>
            </a:extLst>
          </p:cNvPr>
          <p:cNvSpPr>
            <a:spLocks noChangeArrowheads="1"/>
          </p:cNvSpPr>
          <p:nvPr/>
        </p:nvSpPr>
        <p:spPr bwMode="auto">
          <a:xfrm>
            <a:off x="5516562" y="2854352"/>
            <a:ext cx="3062288" cy="1655763"/>
          </a:xfrm>
          <a:prstGeom prst="rect">
            <a:avLst/>
          </a:prstGeom>
          <a:solidFill>
            <a:srgbClr val="FFCCFF">
              <a:alpha val="58038"/>
            </a:srgbClr>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5" name="Rectangle 6">
            <a:extLst>
              <a:ext uri="{FF2B5EF4-FFF2-40B4-BE49-F238E27FC236}">
                <a16:creationId xmlns:a16="http://schemas.microsoft.com/office/drawing/2014/main" id="{412204DA-B41F-3048-4AA3-205E09648795}"/>
              </a:ext>
            </a:extLst>
          </p:cNvPr>
          <p:cNvSpPr>
            <a:spLocks noChangeArrowheads="1"/>
          </p:cNvSpPr>
          <p:nvPr/>
        </p:nvSpPr>
        <p:spPr bwMode="auto">
          <a:xfrm>
            <a:off x="6237287" y="2854352"/>
            <a:ext cx="1662113" cy="1008063"/>
          </a:xfrm>
          <a:prstGeom prst="rect">
            <a:avLst/>
          </a:prstGeom>
          <a:solidFill>
            <a:srgbClr val="FFFF99"/>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6" name="Rectangle 7">
            <a:extLst>
              <a:ext uri="{FF2B5EF4-FFF2-40B4-BE49-F238E27FC236}">
                <a16:creationId xmlns:a16="http://schemas.microsoft.com/office/drawing/2014/main" id="{3BDC8C99-5593-2532-7CAF-2CE443B1CE2E}"/>
              </a:ext>
            </a:extLst>
          </p:cNvPr>
          <p:cNvSpPr>
            <a:spLocks noChangeArrowheads="1"/>
          </p:cNvSpPr>
          <p:nvPr/>
        </p:nvSpPr>
        <p:spPr bwMode="auto">
          <a:xfrm>
            <a:off x="6705600" y="2854352"/>
            <a:ext cx="720725" cy="576263"/>
          </a:xfrm>
          <a:prstGeom prst="rect">
            <a:avLst/>
          </a:prstGeom>
          <a:solidFill>
            <a:srgbClr val="FF99FF"/>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kumimoji="1" lang="zh-CN" altLang="en-US">
              <a:latin typeface="Times New Roman" panose="02020603050405020304" pitchFamily="18" charset="0"/>
              <a:ea typeface="楷体_GB2312" pitchFamily="49" charset="-122"/>
            </a:endParaRPr>
          </a:p>
        </p:txBody>
      </p:sp>
      <p:sp>
        <p:nvSpPr>
          <p:cNvPr id="47" name="Text Box 9">
            <a:extLst>
              <a:ext uri="{FF2B5EF4-FFF2-40B4-BE49-F238E27FC236}">
                <a16:creationId xmlns:a16="http://schemas.microsoft.com/office/drawing/2014/main" id="{61140155-7A8C-6CE0-FC37-B81D5B52783D}"/>
              </a:ext>
            </a:extLst>
          </p:cNvPr>
          <p:cNvSpPr txBox="1">
            <a:spLocks noChangeArrowheads="1"/>
          </p:cNvSpPr>
          <p:nvPr/>
        </p:nvSpPr>
        <p:spPr bwMode="auto">
          <a:xfrm>
            <a:off x="5713412" y="4006877"/>
            <a:ext cx="919163"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t>集电区</a:t>
            </a:r>
            <a:endParaRPr kumimoji="1" lang="en-US" altLang="zh-CN" sz="2400"/>
          </a:p>
        </p:txBody>
      </p:sp>
      <p:sp>
        <p:nvSpPr>
          <p:cNvPr id="48" name="Text Box 10">
            <a:extLst>
              <a:ext uri="{FF2B5EF4-FFF2-40B4-BE49-F238E27FC236}">
                <a16:creationId xmlns:a16="http://schemas.microsoft.com/office/drawing/2014/main" id="{9E050CB9-40C6-67DB-B7F6-01ABE5A66D95}"/>
              </a:ext>
            </a:extLst>
          </p:cNvPr>
          <p:cNvSpPr txBox="1">
            <a:spLocks noChangeArrowheads="1"/>
          </p:cNvSpPr>
          <p:nvPr/>
        </p:nvSpPr>
        <p:spPr bwMode="auto">
          <a:xfrm>
            <a:off x="6308725" y="3025802"/>
            <a:ext cx="304800" cy="657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Aft>
                <a:spcPct val="0"/>
              </a:spcAft>
              <a:buFontTx/>
              <a:buNone/>
            </a:pPr>
            <a:r>
              <a:rPr kumimoji="1" lang="zh-CN" altLang="en-US" sz="2400"/>
              <a:t>基</a:t>
            </a:r>
          </a:p>
          <a:p>
            <a:pPr eaLnBrk="1" hangingPunct="1">
              <a:lnSpc>
                <a:spcPct val="90000"/>
              </a:lnSpc>
              <a:spcAft>
                <a:spcPct val="0"/>
              </a:spcAft>
              <a:buFontTx/>
              <a:buNone/>
            </a:pPr>
            <a:r>
              <a:rPr kumimoji="1" lang="zh-CN" altLang="en-US" sz="2400"/>
              <a:t>区</a:t>
            </a:r>
            <a:endParaRPr kumimoji="1" lang="en-US" altLang="zh-CN" sz="2400"/>
          </a:p>
        </p:txBody>
      </p:sp>
      <p:sp>
        <p:nvSpPr>
          <p:cNvPr id="49" name="Text Box 11">
            <a:extLst>
              <a:ext uri="{FF2B5EF4-FFF2-40B4-BE49-F238E27FC236}">
                <a16:creationId xmlns:a16="http://schemas.microsoft.com/office/drawing/2014/main" id="{E825FE0A-C1D8-5896-B743-43258C276166}"/>
              </a:ext>
            </a:extLst>
          </p:cNvPr>
          <p:cNvSpPr txBox="1">
            <a:spLocks noChangeArrowheads="1"/>
          </p:cNvSpPr>
          <p:nvPr/>
        </p:nvSpPr>
        <p:spPr bwMode="auto">
          <a:xfrm>
            <a:off x="6958012" y="4041802"/>
            <a:ext cx="220663"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N</a:t>
            </a:r>
          </a:p>
        </p:txBody>
      </p:sp>
      <p:sp>
        <p:nvSpPr>
          <p:cNvPr id="50" name="Text Box 12">
            <a:extLst>
              <a:ext uri="{FF2B5EF4-FFF2-40B4-BE49-F238E27FC236}">
                <a16:creationId xmlns:a16="http://schemas.microsoft.com/office/drawing/2014/main" id="{FBF8AAC3-9E89-EF2A-2E81-83F18AAF31BD}"/>
              </a:ext>
            </a:extLst>
          </p:cNvPr>
          <p:cNvSpPr txBox="1">
            <a:spLocks noChangeArrowheads="1"/>
          </p:cNvSpPr>
          <p:nvPr/>
        </p:nvSpPr>
        <p:spPr bwMode="auto">
          <a:xfrm>
            <a:off x="6953250" y="2957540"/>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N</a:t>
            </a:r>
          </a:p>
        </p:txBody>
      </p:sp>
      <p:sp>
        <p:nvSpPr>
          <p:cNvPr id="51" name="Text Box 13">
            <a:extLst>
              <a:ext uri="{FF2B5EF4-FFF2-40B4-BE49-F238E27FC236}">
                <a16:creationId xmlns:a16="http://schemas.microsoft.com/office/drawing/2014/main" id="{2E251301-B009-87A0-5F9A-8C66A466CA59}"/>
              </a:ext>
            </a:extLst>
          </p:cNvPr>
          <p:cNvSpPr txBox="1">
            <a:spLocks noChangeArrowheads="1"/>
          </p:cNvSpPr>
          <p:nvPr/>
        </p:nvSpPr>
        <p:spPr bwMode="auto">
          <a:xfrm>
            <a:off x="6970712" y="3468715"/>
            <a:ext cx="18573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P</a:t>
            </a:r>
          </a:p>
        </p:txBody>
      </p:sp>
      <p:grpSp>
        <p:nvGrpSpPr>
          <p:cNvPr id="52" name="Group 110">
            <a:extLst>
              <a:ext uri="{FF2B5EF4-FFF2-40B4-BE49-F238E27FC236}">
                <a16:creationId xmlns:a16="http://schemas.microsoft.com/office/drawing/2014/main" id="{A866958A-EFF9-888E-FD0F-12C6D32917C3}"/>
              </a:ext>
            </a:extLst>
          </p:cNvPr>
          <p:cNvGrpSpPr>
            <a:grpSpLocks/>
          </p:cNvGrpSpPr>
          <p:nvPr/>
        </p:nvGrpSpPr>
        <p:grpSpPr bwMode="auto">
          <a:xfrm>
            <a:off x="5659437" y="1890740"/>
            <a:ext cx="1289050" cy="1133475"/>
            <a:chOff x="3066" y="1026"/>
            <a:chExt cx="812" cy="714"/>
          </a:xfrm>
        </p:grpSpPr>
        <p:sp>
          <p:nvSpPr>
            <p:cNvPr id="53" name="Text Box 8">
              <a:extLst>
                <a:ext uri="{FF2B5EF4-FFF2-40B4-BE49-F238E27FC236}">
                  <a16:creationId xmlns:a16="http://schemas.microsoft.com/office/drawing/2014/main" id="{FF8AD57C-7010-491F-08BE-A0834CEA187E}"/>
                </a:ext>
              </a:extLst>
            </p:cNvPr>
            <p:cNvSpPr txBox="1">
              <a:spLocks noChangeArrowheads="1"/>
            </p:cNvSpPr>
            <p:nvPr/>
          </p:nvSpPr>
          <p:spPr bwMode="auto">
            <a:xfrm>
              <a:off x="3066" y="1026"/>
              <a:ext cx="623" cy="2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t>发射区</a:t>
              </a:r>
              <a:endParaRPr lang="en-US" altLang="zh-CN" sz="2400" b="0"/>
            </a:p>
          </p:txBody>
        </p:sp>
        <p:sp>
          <p:nvSpPr>
            <p:cNvPr id="54" name="Line 73">
              <a:extLst>
                <a:ext uri="{FF2B5EF4-FFF2-40B4-BE49-F238E27FC236}">
                  <a16:creationId xmlns:a16="http://schemas.microsoft.com/office/drawing/2014/main" id="{5BA9DD9C-C776-BD2C-55ED-B6794522FBEB}"/>
                </a:ext>
              </a:extLst>
            </p:cNvPr>
            <p:cNvSpPr>
              <a:spLocks noChangeShapeType="1"/>
            </p:cNvSpPr>
            <p:nvPr/>
          </p:nvSpPr>
          <p:spPr bwMode="auto">
            <a:xfrm>
              <a:off x="3395" y="1321"/>
              <a:ext cx="483" cy="419"/>
            </a:xfrm>
            <a:prstGeom prst="line">
              <a:avLst/>
            </a:prstGeom>
            <a:noFill/>
            <a:ln w="19050">
              <a:solidFill>
                <a:schemeClr val="tx1"/>
              </a:solidFill>
              <a:round/>
              <a:headEnd/>
              <a:tailEnd type="stealth" w="lg" len="lg"/>
            </a:ln>
            <a:extLst>
              <a:ext uri="{909E8E84-426E-40dd-AFC4-6F175D3DCCD1}">
                <a14:hiddenFill xmlns="" xmlns:a14="http://schemas.microsoft.com/office/drawing/2010/main">
                  <a:noFill/>
                </a14:hiddenFill>
              </a:ext>
            </a:extLst>
          </p:spPr>
          <p:txBody>
            <a:bodyPr/>
            <a:lstStyle/>
            <a:p>
              <a:endParaRPr lang="zh-CN" altLang="en-US"/>
            </a:p>
          </p:txBody>
        </p:sp>
      </p:grpSp>
      <p:sp>
        <p:nvSpPr>
          <p:cNvPr id="55" name="Text Box 78">
            <a:extLst>
              <a:ext uri="{FF2B5EF4-FFF2-40B4-BE49-F238E27FC236}">
                <a16:creationId xmlns:a16="http://schemas.microsoft.com/office/drawing/2014/main" id="{FCF636CD-3F94-7CDE-D116-735A3D55F883}"/>
              </a:ext>
            </a:extLst>
          </p:cNvPr>
          <p:cNvSpPr txBox="1">
            <a:spLocks noChangeArrowheads="1"/>
          </p:cNvSpPr>
          <p:nvPr/>
        </p:nvSpPr>
        <p:spPr bwMode="auto">
          <a:xfrm>
            <a:off x="5360987" y="4986365"/>
            <a:ext cx="3968750" cy="8874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10000"/>
              </a:spcAft>
              <a:buFontTx/>
              <a:buNone/>
            </a:pPr>
            <a:r>
              <a:rPr kumimoji="1" lang="en-US" altLang="zh-CN" sz="2200" b="0">
                <a:latin typeface="Times New Roman" panose="02020603050405020304" pitchFamily="18" charset="0"/>
              </a:rPr>
              <a:t>e: </a:t>
            </a:r>
            <a:r>
              <a:rPr kumimoji="1" lang="zh-CN" altLang="en-US" sz="2200" b="0">
                <a:latin typeface="Times New Roman" panose="02020603050405020304" pitchFamily="18" charset="0"/>
              </a:rPr>
              <a:t>发射极 </a:t>
            </a:r>
            <a:r>
              <a:rPr kumimoji="1" lang="en-US" altLang="zh-CN" sz="2200" b="0">
                <a:latin typeface="Times New Roman" panose="02020603050405020304" pitchFamily="18" charset="0"/>
              </a:rPr>
              <a:t>(emitter) </a:t>
            </a:r>
            <a:r>
              <a:rPr lang="en-US" altLang="zh-CN" sz="2200" b="0">
                <a:latin typeface="Times New Roman" panose="02020603050405020304" pitchFamily="18" charset="0"/>
              </a:rPr>
              <a:t>b: </a:t>
            </a:r>
            <a:r>
              <a:rPr lang="zh-CN" altLang="en-US" sz="2200" b="0">
                <a:latin typeface="Times New Roman" panose="02020603050405020304" pitchFamily="18" charset="0"/>
              </a:rPr>
              <a:t>基极 </a:t>
            </a:r>
            <a:r>
              <a:rPr lang="en-US" altLang="zh-CN" sz="2200" b="0">
                <a:latin typeface="Times New Roman" panose="02020603050405020304" pitchFamily="18" charset="0"/>
              </a:rPr>
              <a:t>(base)</a:t>
            </a:r>
          </a:p>
          <a:p>
            <a:pPr eaLnBrk="1" hangingPunct="1">
              <a:spcAft>
                <a:spcPct val="10000"/>
              </a:spcAft>
              <a:buFontTx/>
              <a:buNone/>
            </a:pPr>
            <a:r>
              <a:rPr lang="en-US" altLang="zh-CN" sz="2200" b="0">
                <a:latin typeface="Times New Roman" panose="02020603050405020304" pitchFamily="18" charset="0"/>
              </a:rPr>
              <a:t>c: </a:t>
            </a:r>
            <a:r>
              <a:rPr lang="zh-CN" altLang="en-US" sz="2200" b="0">
                <a:latin typeface="Times New Roman" panose="02020603050405020304" pitchFamily="18" charset="0"/>
              </a:rPr>
              <a:t>集电极 </a:t>
            </a:r>
            <a:r>
              <a:rPr lang="en-US" altLang="zh-CN" sz="2200" b="0">
                <a:latin typeface="Times New Roman" panose="02020603050405020304" pitchFamily="18" charset="0"/>
              </a:rPr>
              <a:t>(collector)</a:t>
            </a:r>
          </a:p>
        </p:txBody>
      </p:sp>
      <p:grpSp>
        <p:nvGrpSpPr>
          <p:cNvPr id="56" name="Group 94">
            <a:extLst>
              <a:ext uri="{FF2B5EF4-FFF2-40B4-BE49-F238E27FC236}">
                <a16:creationId xmlns:a16="http://schemas.microsoft.com/office/drawing/2014/main" id="{D7E59023-F1CB-50EC-270D-664CC999481E}"/>
              </a:ext>
            </a:extLst>
          </p:cNvPr>
          <p:cNvGrpSpPr>
            <a:grpSpLocks/>
          </p:cNvGrpSpPr>
          <p:nvPr/>
        </p:nvGrpSpPr>
        <p:grpSpPr bwMode="auto">
          <a:xfrm>
            <a:off x="6958012" y="1776440"/>
            <a:ext cx="215900" cy="1085850"/>
            <a:chOff x="3884" y="890"/>
            <a:chExt cx="136" cy="684"/>
          </a:xfrm>
        </p:grpSpPr>
        <p:sp>
          <p:nvSpPr>
            <p:cNvPr id="57" name="Text Box 14">
              <a:extLst>
                <a:ext uri="{FF2B5EF4-FFF2-40B4-BE49-F238E27FC236}">
                  <a16:creationId xmlns:a16="http://schemas.microsoft.com/office/drawing/2014/main" id="{94975224-3F9C-4A72-AB4F-E8D81754F0DB}"/>
                </a:ext>
              </a:extLst>
            </p:cNvPr>
            <p:cNvSpPr txBox="1">
              <a:spLocks noChangeArrowheads="1"/>
            </p:cNvSpPr>
            <p:nvPr/>
          </p:nvSpPr>
          <p:spPr bwMode="auto">
            <a:xfrm>
              <a:off x="3904" y="890"/>
              <a:ext cx="99" cy="2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e</a:t>
              </a:r>
            </a:p>
          </p:txBody>
        </p:sp>
        <p:sp>
          <p:nvSpPr>
            <p:cNvPr id="58" name="Line 19">
              <a:extLst>
                <a:ext uri="{FF2B5EF4-FFF2-40B4-BE49-F238E27FC236}">
                  <a16:creationId xmlns:a16="http://schemas.microsoft.com/office/drawing/2014/main" id="{573BF3B6-E5B9-685E-7196-30B673BEE4D4}"/>
                </a:ext>
              </a:extLst>
            </p:cNvPr>
            <p:cNvSpPr>
              <a:spLocks noChangeShapeType="1"/>
            </p:cNvSpPr>
            <p:nvPr/>
          </p:nvSpPr>
          <p:spPr bwMode="auto">
            <a:xfrm flipV="1">
              <a:off x="3951" y="1274"/>
              <a:ext cx="0" cy="30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59" name="Oval 22">
              <a:extLst>
                <a:ext uri="{FF2B5EF4-FFF2-40B4-BE49-F238E27FC236}">
                  <a16:creationId xmlns:a16="http://schemas.microsoft.com/office/drawing/2014/main" id="{5B5AC85D-5154-D667-3A46-8EB6AB204BEF}"/>
                </a:ext>
              </a:extLst>
            </p:cNvPr>
            <p:cNvSpPr>
              <a:spLocks noChangeArrowheads="1"/>
            </p:cNvSpPr>
            <p:nvPr/>
          </p:nvSpPr>
          <p:spPr bwMode="auto">
            <a:xfrm>
              <a:off x="3906" y="1183"/>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0" name="Rectangle 80">
              <a:extLst>
                <a:ext uri="{FF2B5EF4-FFF2-40B4-BE49-F238E27FC236}">
                  <a16:creationId xmlns:a16="http://schemas.microsoft.com/office/drawing/2014/main" id="{0E9761F4-7FBC-D63B-2227-2C4D01AE5F91}"/>
                </a:ext>
              </a:extLst>
            </p:cNvPr>
            <p:cNvSpPr>
              <a:spLocks noChangeArrowheads="1"/>
            </p:cNvSpPr>
            <p:nvPr/>
          </p:nvSpPr>
          <p:spPr bwMode="auto">
            <a:xfrm>
              <a:off x="3884" y="1480"/>
              <a:ext cx="136" cy="90"/>
            </a:xfrm>
            <a:prstGeom prst="rect">
              <a:avLst/>
            </a:prstGeom>
            <a:solidFill>
              <a:schemeClr val="tx1"/>
            </a:solidFill>
            <a:ln w="952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61" name="Group 93">
            <a:extLst>
              <a:ext uri="{FF2B5EF4-FFF2-40B4-BE49-F238E27FC236}">
                <a16:creationId xmlns:a16="http://schemas.microsoft.com/office/drawing/2014/main" id="{9E019D3C-CDAB-73C6-1C30-E5BD711BFA25}"/>
              </a:ext>
            </a:extLst>
          </p:cNvPr>
          <p:cNvGrpSpPr>
            <a:grpSpLocks/>
          </p:cNvGrpSpPr>
          <p:nvPr/>
        </p:nvGrpSpPr>
        <p:grpSpPr bwMode="auto">
          <a:xfrm>
            <a:off x="7561262" y="1776440"/>
            <a:ext cx="215900" cy="1085850"/>
            <a:chOff x="3507" y="890"/>
            <a:chExt cx="136" cy="684"/>
          </a:xfrm>
        </p:grpSpPr>
        <p:sp>
          <p:nvSpPr>
            <p:cNvPr id="62" name="Text Box 15">
              <a:extLst>
                <a:ext uri="{FF2B5EF4-FFF2-40B4-BE49-F238E27FC236}">
                  <a16:creationId xmlns:a16="http://schemas.microsoft.com/office/drawing/2014/main" id="{0124B218-BBFD-A817-2F9E-C5373897DE39}"/>
                </a:ext>
              </a:extLst>
            </p:cNvPr>
            <p:cNvSpPr txBox="1">
              <a:spLocks noChangeArrowheads="1"/>
            </p:cNvSpPr>
            <p:nvPr/>
          </p:nvSpPr>
          <p:spPr bwMode="auto">
            <a:xfrm>
              <a:off x="3508" y="890"/>
              <a:ext cx="125" cy="2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b</a:t>
              </a:r>
            </a:p>
          </p:txBody>
        </p:sp>
        <p:sp>
          <p:nvSpPr>
            <p:cNvPr id="63" name="Line 20">
              <a:extLst>
                <a:ext uri="{FF2B5EF4-FFF2-40B4-BE49-F238E27FC236}">
                  <a16:creationId xmlns:a16="http://schemas.microsoft.com/office/drawing/2014/main" id="{64ABA49A-F206-38E7-78F1-2ABE0F368F7D}"/>
                </a:ext>
              </a:extLst>
            </p:cNvPr>
            <p:cNvSpPr>
              <a:spLocks noChangeShapeType="1"/>
            </p:cNvSpPr>
            <p:nvPr/>
          </p:nvSpPr>
          <p:spPr bwMode="auto">
            <a:xfrm flipV="1">
              <a:off x="3575" y="1274"/>
              <a:ext cx="0" cy="30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64" name="Oval 23">
              <a:extLst>
                <a:ext uri="{FF2B5EF4-FFF2-40B4-BE49-F238E27FC236}">
                  <a16:creationId xmlns:a16="http://schemas.microsoft.com/office/drawing/2014/main" id="{A74FAB14-533A-3769-DC14-3C0268429B97}"/>
                </a:ext>
              </a:extLst>
            </p:cNvPr>
            <p:cNvSpPr>
              <a:spLocks noChangeArrowheads="1"/>
            </p:cNvSpPr>
            <p:nvPr/>
          </p:nvSpPr>
          <p:spPr bwMode="auto">
            <a:xfrm>
              <a:off x="3530" y="1183"/>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5" name="Rectangle 81">
              <a:extLst>
                <a:ext uri="{FF2B5EF4-FFF2-40B4-BE49-F238E27FC236}">
                  <a16:creationId xmlns:a16="http://schemas.microsoft.com/office/drawing/2014/main" id="{EDD211C3-AED9-2D2D-F9DF-3F0B7D7F1D56}"/>
                </a:ext>
              </a:extLst>
            </p:cNvPr>
            <p:cNvSpPr>
              <a:spLocks noChangeArrowheads="1"/>
            </p:cNvSpPr>
            <p:nvPr/>
          </p:nvSpPr>
          <p:spPr bwMode="auto">
            <a:xfrm>
              <a:off x="3507" y="1480"/>
              <a:ext cx="136" cy="90"/>
            </a:xfrm>
            <a:prstGeom prst="rect">
              <a:avLst/>
            </a:prstGeom>
            <a:solidFill>
              <a:schemeClr val="tx1"/>
            </a:solidFill>
            <a:ln w="952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66" name="Group 100">
            <a:extLst>
              <a:ext uri="{FF2B5EF4-FFF2-40B4-BE49-F238E27FC236}">
                <a16:creationId xmlns:a16="http://schemas.microsoft.com/office/drawing/2014/main" id="{FA3C0750-D580-0980-1DDE-52DF796C83CA}"/>
              </a:ext>
            </a:extLst>
          </p:cNvPr>
          <p:cNvGrpSpPr>
            <a:grpSpLocks/>
          </p:cNvGrpSpPr>
          <p:nvPr/>
        </p:nvGrpSpPr>
        <p:grpSpPr bwMode="auto">
          <a:xfrm>
            <a:off x="6213475" y="2857527"/>
            <a:ext cx="3071812" cy="2019300"/>
            <a:chOff x="3415" y="1564"/>
            <a:chExt cx="1935" cy="1272"/>
          </a:xfrm>
        </p:grpSpPr>
        <p:grpSp>
          <p:nvGrpSpPr>
            <p:cNvPr id="67" name="Group 96">
              <a:extLst>
                <a:ext uri="{FF2B5EF4-FFF2-40B4-BE49-F238E27FC236}">
                  <a16:creationId xmlns:a16="http://schemas.microsoft.com/office/drawing/2014/main" id="{985FD863-6A3D-ADC4-004A-4BA1580EAC3F}"/>
                </a:ext>
              </a:extLst>
            </p:cNvPr>
            <p:cNvGrpSpPr>
              <a:grpSpLocks/>
            </p:cNvGrpSpPr>
            <p:nvPr/>
          </p:nvGrpSpPr>
          <p:grpSpPr bwMode="auto">
            <a:xfrm>
              <a:off x="4471" y="2205"/>
              <a:ext cx="879" cy="631"/>
              <a:chOff x="4471" y="2205"/>
              <a:chExt cx="879" cy="631"/>
            </a:xfrm>
          </p:grpSpPr>
          <p:sp>
            <p:nvSpPr>
              <p:cNvPr id="72" name="Text Box 34">
                <a:extLst>
                  <a:ext uri="{FF2B5EF4-FFF2-40B4-BE49-F238E27FC236}">
                    <a16:creationId xmlns:a16="http://schemas.microsoft.com/office/drawing/2014/main" id="{36DB859A-9581-C391-BB79-0E27E6AB3A2E}"/>
                  </a:ext>
                </a:extLst>
              </p:cNvPr>
              <p:cNvSpPr txBox="1">
                <a:spLocks noChangeArrowheads="1"/>
              </p:cNvSpPr>
              <p:nvPr/>
            </p:nvSpPr>
            <p:spPr bwMode="auto">
              <a:xfrm>
                <a:off x="5041" y="2226"/>
                <a:ext cx="309" cy="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lang="zh-CN" altLang="en-US" sz="2400"/>
                  <a:t>集</a:t>
                </a:r>
              </a:p>
              <a:p>
                <a:pPr eaLnBrk="1" hangingPunct="1">
                  <a:lnSpc>
                    <a:spcPct val="80000"/>
                  </a:lnSpc>
                  <a:spcAft>
                    <a:spcPct val="0"/>
                  </a:spcAft>
                  <a:buFontTx/>
                  <a:buNone/>
                </a:pPr>
                <a:r>
                  <a:rPr lang="zh-CN" altLang="en-US" sz="2400"/>
                  <a:t>电</a:t>
                </a:r>
              </a:p>
              <a:p>
                <a:pPr eaLnBrk="1" hangingPunct="1">
                  <a:lnSpc>
                    <a:spcPct val="80000"/>
                  </a:lnSpc>
                  <a:spcAft>
                    <a:spcPct val="0"/>
                  </a:spcAft>
                  <a:buFontTx/>
                  <a:buNone/>
                </a:pPr>
                <a:r>
                  <a:rPr lang="zh-CN" altLang="en-US" sz="2400"/>
                  <a:t>结</a:t>
                </a:r>
              </a:p>
            </p:txBody>
          </p:sp>
          <p:sp>
            <p:nvSpPr>
              <p:cNvPr id="73" name="Line 35">
                <a:extLst>
                  <a:ext uri="{FF2B5EF4-FFF2-40B4-BE49-F238E27FC236}">
                    <a16:creationId xmlns:a16="http://schemas.microsoft.com/office/drawing/2014/main" id="{14A796B4-3976-CF06-A9AE-DBBFAC728C44}"/>
                  </a:ext>
                </a:extLst>
              </p:cNvPr>
              <p:cNvSpPr>
                <a:spLocks noChangeShapeType="1"/>
              </p:cNvSpPr>
              <p:nvPr/>
            </p:nvSpPr>
            <p:spPr bwMode="auto">
              <a:xfrm flipH="1" flipV="1">
                <a:off x="4471" y="2205"/>
                <a:ext cx="577" cy="296"/>
              </a:xfrm>
              <a:prstGeom prst="line">
                <a:avLst/>
              </a:prstGeom>
              <a:noFill/>
              <a:ln w="19050">
                <a:solidFill>
                  <a:schemeClr val="tx1"/>
                </a:solidFill>
                <a:round/>
                <a:headEnd/>
                <a:tailEnd type="stealth" w="lg" len="lg"/>
              </a:ln>
              <a:extLst>
                <a:ext uri="{909E8E84-426E-40dd-AFC4-6F175D3DCCD1}">
                  <a14:hiddenFill xmlns="" xmlns:a14="http://schemas.microsoft.com/office/drawing/2010/main">
                    <a:noFill/>
                  </a14:hiddenFill>
                </a:ext>
              </a:extLst>
            </p:spPr>
            <p:txBody>
              <a:bodyPr/>
              <a:lstStyle/>
              <a:p>
                <a:endParaRPr lang="zh-CN" altLang="en-US"/>
              </a:p>
            </p:txBody>
          </p:sp>
        </p:grpSp>
        <p:grpSp>
          <p:nvGrpSpPr>
            <p:cNvPr id="68" name="Group 92">
              <a:extLst>
                <a:ext uri="{FF2B5EF4-FFF2-40B4-BE49-F238E27FC236}">
                  <a16:creationId xmlns:a16="http://schemas.microsoft.com/office/drawing/2014/main" id="{47484F04-B386-E31E-A7D5-9C32A9D782EA}"/>
                </a:ext>
              </a:extLst>
            </p:cNvPr>
            <p:cNvGrpSpPr>
              <a:grpSpLocks/>
            </p:cNvGrpSpPr>
            <p:nvPr/>
          </p:nvGrpSpPr>
          <p:grpSpPr bwMode="auto">
            <a:xfrm>
              <a:off x="3415" y="1564"/>
              <a:ext cx="1053" cy="641"/>
              <a:chOff x="3349" y="1564"/>
              <a:chExt cx="1053" cy="641"/>
            </a:xfrm>
          </p:grpSpPr>
          <p:sp>
            <p:nvSpPr>
              <p:cNvPr id="69" name="Line 84">
                <a:extLst>
                  <a:ext uri="{FF2B5EF4-FFF2-40B4-BE49-F238E27FC236}">
                    <a16:creationId xmlns:a16="http://schemas.microsoft.com/office/drawing/2014/main" id="{64A5EFA7-C15E-8B0E-E1B4-AC3D9825EE76}"/>
                  </a:ext>
                </a:extLst>
              </p:cNvPr>
              <p:cNvSpPr>
                <a:spLocks noChangeShapeType="1"/>
              </p:cNvSpPr>
              <p:nvPr/>
            </p:nvSpPr>
            <p:spPr bwMode="auto">
              <a:xfrm>
                <a:off x="3357" y="1572"/>
                <a:ext cx="0" cy="633"/>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0" name="Line 85">
                <a:extLst>
                  <a:ext uri="{FF2B5EF4-FFF2-40B4-BE49-F238E27FC236}">
                    <a16:creationId xmlns:a16="http://schemas.microsoft.com/office/drawing/2014/main" id="{70616F44-A30A-EF99-ED82-241B9D53626A}"/>
                  </a:ext>
                </a:extLst>
              </p:cNvPr>
              <p:cNvSpPr>
                <a:spLocks noChangeShapeType="1"/>
              </p:cNvSpPr>
              <p:nvPr/>
            </p:nvSpPr>
            <p:spPr bwMode="auto">
              <a:xfrm>
                <a:off x="4402" y="1564"/>
                <a:ext cx="0" cy="633"/>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1" name="Line 87">
                <a:extLst>
                  <a:ext uri="{FF2B5EF4-FFF2-40B4-BE49-F238E27FC236}">
                    <a16:creationId xmlns:a16="http://schemas.microsoft.com/office/drawing/2014/main" id="{D95272C5-A2CD-468D-C545-2B7422D3D6F3}"/>
                  </a:ext>
                </a:extLst>
              </p:cNvPr>
              <p:cNvSpPr>
                <a:spLocks noChangeShapeType="1"/>
              </p:cNvSpPr>
              <p:nvPr/>
            </p:nvSpPr>
            <p:spPr bwMode="auto">
              <a:xfrm>
                <a:off x="3349" y="2197"/>
                <a:ext cx="1053" cy="0"/>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grpSp>
        <p:nvGrpSpPr>
          <p:cNvPr id="74" name="Group 102">
            <a:extLst>
              <a:ext uri="{FF2B5EF4-FFF2-40B4-BE49-F238E27FC236}">
                <a16:creationId xmlns:a16="http://schemas.microsoft.com/office/drawing/2014/main" id="{46D553F1-D526-082E-F634-F1D075AD8CC7}"/>
              </a:ext>
            </a:extLst>
          </p:cNvPr>
          <p:cNvGrpSpPr>
            <a:grpSpLocks/>
          </p:cNvGrpSpPr>
          <p:nvPr/>
        </p:nvGrpSpPr>
        <p:grpSpPr bwMode="auto">
          <a:xfrm>
            <a:off x="6708775" y="2646390"/>
            <a:ext cx="2586037" cy="968375"/>
            <a:chOff x="3719" y="1430"/>
            <a:chExt cx="1629" cy="610"/>
          </a:xfrm>
        </p:grpSpPr>
        <p:grpSp>
          <p:nvGrpSpPr>
            <p:cNvPr id="75" name="Group 97">
              <a:extLst>
                <a:ext uri="{FF2B5EF4-FFF2-40B4-BE49-F238E27FC236}">
                  <a16:creationId xmlns:a16="http://schemas.microsoft.com/office/drawing/2014/main" id="{A2B00CBD-47E6-18F2-3F81-EE8C55617795}"/>
                </a:ext>
              </a:extLst>
            </p:cNvPr>
            <p:cNvGrpSpPr>
              <a:grpSpLocks/>
            </p:cNvGrpSpPr>
            <p:nvPr/>
          </p:nvGrpSpPr>
          <p:grpSpPr bwMode="auto">
            <a:xfrm>
              <a:off x="4193" y="1430"/>
              <a:ext cx="1155" cy="610"/>
              <a:chOff x="4193" y="1430"/>
              <a:chExt cx="1155" cy="610"/>
            </a:xfrm>
          </p:grpSpPr>
          <p:sp>
            <p:nvSpPr>
              <p:cNvPr id="80" name="Text Box 31">
                <a:extLst>
                  <a:ext uri="{FF2B5EF4-FFF2-40B4-BE49-F238E27FC236}">
                    <a16:creationId xmlns:a16="http://schemas.microsoft.com/office/drawing/2014/main" id="{FC9D73B0-C9FA-5329-6785-D96B6CAD0831}"/>
                  </a:ext>
                </a:extLst>
              </p:cNvPr>
              <p:cNvSpPr txBox="1">
                <a:spLocks noChangeArrowheads="1"/>
              </p:cNvSpPr>
              <p:nvPr/>
            </p:nvSpPr>
            <p:spPr bwMode="auto">
              <a:xfrm>
                <a:off x="5040" y="1430"/>
                <a:ext cx="308" cy="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Aft>
                    <a:spcPct val="0"/>
                  </a:spcAft>
                  <a:buFontTx/>
                  <a:buNone/>
                </a:pPr>
                <a:r>
                  <a:rPr lang="zh-CN" altLang="en-US" sz="2400"/>
                  <a:t>发</a:t>
                </a:r>
              </a:p>
              <a:p>
                <a:pPr eaLnBrk="1" hangingPunct="1">
                  <a:lnSpc>
                    <a:spcPct val="80000"/>
                  </a:lnSpc>
                  <a:spcAft>
                    <a:spcPct val="0"/>
                  </a:spcAft>
                  <a:buFontTx/>
                  <a:buNone/>
                </a:pPr>
                <a:r>
                  <a:rPr lang="zh-CN" altLang="en-US" sz="2400"/>
                  <a:t>射</a:t>
                </a:r>
              </a:p>
              <a:p>
                <a:pPr eaLnBrk="1" hangingPunct="1">
                  <a:lnSpc>
                    <a:spcPct val="80000"/>
                  </a:lnSpc>
                  <a:spcAft>
                    <a:spcPct val="0"/>
                  </a:spcAft>
                  <a:buFontTx/>
                  <a:buNone/>
                </a:pPr>
                <a:r>
                  <a:rPr lang="zh-CN" altLang="en-US" sz="2400"/>
                  <a:t>结</a:t>
                </a:r>
              </a:p>
            </p:txBody>
          </p:sp>
          <p:sp>
            <p:nvSpPr>
              <p:cNvPr id="81" name="Line 32">
                <a:extLst>
                  <a:ext uri="{FF2B5EF4-FFF2-40B4-BE49-F238E27FC236}">
                    <a16:creationId xmlns:a16="http://schemas.microsoft.com/office/drawing/2014/main" id="{67590A97-1437-E83F-C36E-48EA8C6352D1}"/>
                  </a:ext>
                </a:extLst>
              </p:cNvPr>
              <p:cNvSpPr>
                <a:spLocks noChangeShapeType="1"/>
              </p:cNvSpPr>
              <p:nvPr/>
            </p:nvSpPr>
            <p:spPr bwMode="auto">
              <a:xfrm flipH="1" flipV="1">
                <a:off x="4193" y="1743"/>
                <a:ext cx="792" cy="2"/>
              </a:xfrm>
              <a:prstGeom prst="line">
                <a:avLst/>
              </a:prstGeom>
              <a:noFill/>
              <a:ln w="19050">
                <a:solidFill>
                  <a:schemeClr val="tx1"/>
                </a:solidFill>
                <a:round/>
                <a:headEnd/>
                <a:tailEnd type="stealth" w="lg" len="lg"/>
              </a:ln>
              <a:extLst>
                <a:ext uri="{909E8E84-426E-40dd-AFC4-6F175D3DCCD1}">
                  <a14:hiddenFill xmlns="" xmlns:a14="http://schemas.microsoft.com/office/drawing/2010/main">
                    <a:noFill/>
                  </a14:hiddenFill>
                </a:ext>
              </a:extLst>
            </p:spPr>
            <p:txBody>
              <a:bodyPr/>
              <a:lstStyle/>
              <a:p>
                <a:endParaRPr lang="zh-CN" altLang="en-US"/>
              </a:p>
            </p:txBody>
          </p:sp>
        </p:grpSp>
        <p:grpSp>
          <p:nvGrpSpPr>
            <p:cNvPr id="76" name="Group 91">
              <a:extLst>
                <a:ext uri="{FF2B5EF4-FFF2-40B4-BE49-F238E27FC236}">
                  <a16:creationId xmlns:a16="http://schemas.microsoft.com/office/drawing/2014/main" id="{7AB9D67A-F5BA-22E9-5D79-A8F0FFF5B65A}"/>
                </a:ext>
              </a:extLst>
            </p:cNvPr>
            <p:cNvGrpSpPr>
              <a:grpSpLocks/>
            </p:cNvGrpSpPr>
            <p:nvPr/>
          </p:nvGrpSpPr>
          <p:grpSpPr bwMode="auto">
            <a:xfrm>
              <a:off x="3719" y="1569"/>
              <a:ext cx="460" cy="357"/>
              <a:chOff x="4567" y="494"/>
              <a:chExt cx="1053" cy="641"/>
            </a:xfrm>
          </p:grpSpPr>
          <p:sp>
            <p:nvSpPr>
              <p:cNvPr id="77" name="Line 88">
                <a:extLst>
                  <a:ext uri="{FF2B5EF4-FFF2-40B4-BE49-F238E27FC236}">
                    <a16:creationId xmlns:a16="http://schemas.microsoft.com/office/drawing/2014/main" id="{618F1B43-2341-3693-066E-1E78BAD81989}"/>
                  </a:ext>
                </a:extLst>
              </p:cNvPr>
              <p:cNvSpPr>
                <a:spLocks noChangeShapeType="1"/>
              </p:cNvSpPr>
              <p:nvPr/>
            </p:nvSpPr>
            <p:spPr bwMode="auto">
              <a:xfrm>
                <a:off x="4575" y="502"/>
                <a:ext cx="0" cy="633"/>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8" name="Line 89">
                <a:extLst>
                  <a:ext uri="{FF2B5EF4-FFF2-40B4-BE49-F238E27FC236}">
                    <a16:creationId xmlns:a16="http://schemas.microsoft.com/office/drawing/2014/main" id="{64EFA2E5-4073-E7A0-62E2-834E4BC1A2F4}"/>
                  </a:ext>
                </a:extLst>
              </p:cNvPr>
              <p:cNvSpPr>
                <a:spLocks noChangeShapeType="1"/>
              </p:cNvSpPr>
              <p:nvPr/>
            </p:nvSpPr>
            <p:spPr bwMode="auto">
              <a:xfrm>
                <a:off x="5620" y="494"/>
                <a:ext cx="0" cy="633"/>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9" name="Line 90">
                <a:extLst>
                  <a:ext uri="{FF2B5EF4-FFF2-40B4-BE49-F238E27FC236}">
                    <a16:creationId xmlns:a16="http://schemas.microsoft.com/office/drawing/2014/main" id="{7BAB2334-D1CD-3591-E413-F61C32DE0754}"/>
                  </a:ext>
                </a:extLst>
              </p:cNvPr>
              <p:cNvSpPr>
                <a:spLocks noChangeShapeType="1"/>
              </p:cNvSpPr>
              <p:nvPr/>
            </p:nvSpPr>
            <p:spPr bwMode="auto">
              <a:xfrm>
                <a:off x="4567" y="1127"/>
                <a:ext cx="1053" cy="0"/>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grpSp>
        <p:nvGrpSpPr>
          <p:cNvPr id="82" name="Group 105">
            <a:extLst>
              <a:ext uri="{FF2B5EF4-FFF2-40B4-BE49-F238E27FC236}">
                <a16:creationId xmlns:a16="http://schemas.microsoft.com/office/drawing/2014/main" id="{38FCC744-FA3C-9382-B41B-4C533B74F7E5}"/>
              </a:ext>
            </a:extLst>
          </p:cNvPr>
          <p:cNvGrpSpPr>
            <a:grpSpLocks/>
          </p:cNvGrpSpPr>
          <p:nvPr/>
        </p:nvGrpSpPr>
        <p:grpSpPr bwMode="auto">
          <a:xfrm>
            <a:off x="8135937" y="1782790"/>
            <a:ext cx="215900" cy="1085850"/>
            <a:chOff x="3507" y="890"/>
            <a:chExt cx="136" cy="684"/>
          </a:xfrm>
        </p:grpSpPr>
        <p:sp>
          <p:nvSpPr>
            <p:cNvPr id="83" name="Text Box 106">
              <a:extLst>
                <a:ext uri="{FF2B5EF4-FFF2-40B4-BE49-F238E27FC236}">
                  <a16:creationId xmlns:a16="http://schemas.microsoft.com/office/drawing/2014/main" id="{EE2F936E-BD6B-7EA6-9AC3-BBCE87617E6B}"/>
                </a:ext>
              </a:extLst>
            </p:cNvPr>
            <p:cNvSpPr txBox="1">
              <a:spLocks noChangeArrowheads="1"/>
            </p:cNvSpPr>
            <p:nvPr/>
          </p:nvSpPr>
          <p:spPr bwMode="auto">
            <a:xfrm>
              <a:off x="3508" y="890"/>
              <a:ext cx="99" cy="2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c</a:t>
              </a:r>
            </a:p>
          </p:txBody>
        </p:sp>
        <p:sp>
          <p:nvSpPr>
            <p:cNvPr id="84" name="Line 107">
              <a:extLst>
                <a:ext uri="{FF2B5EF4-FFF2-40B4-BE49-F238E27FC236}">
                  <a16:creationId xmlns:a16="http://schemas.microsoft.com/office/drawing/2014/main" id="{FD77F7B1-BA73-B275-7C61-9309034A662D}"/>
                </a:ext>
              </a:extLst>
            </p:cNvPr>
            <p:cNvSpPr>
              <a:spLocks noChangeShapeType="1"/>
            </p:cNvSpPr>
            <p:nvPr/>
          </p:nvSpPr>
          <p:spPr bwMode="auto">
            <a:xfrm flipV="1">
              <a:off x="3575" y="1274"/>
              <a:ext cx="0" cy="30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85" name="Oval 108">
              <a:extLst>
                <a:ext uri="{FF2B5EF4-FFF2-40B4-BE49-F238E27FC236}">
                  <a16:creationId xmlns:a16="http://schemas.microsoft.com/office/drawing/2014/main" id="{C8323563-C7F1-5632-85E1-A64C467B28C2}"/>
                </a:ext>
              </a:extLst>
            </p:cNvPr>
            <p:cNvSpPr>
              <a:spLocks noChangeArrowheads="1"/>
            </p:cNvSpPr>
            <p:nvPr/>
          </p:nvSpPr>
          <p:spPr bwMode="auto">
            <a:xfrm>
              <a:off x="3530" y="1183"/>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6" name="Rectangle 109">
              <a:extLst>
                <a:ext uri="{FF2B5EF4-FFF2-40B4-BE49-F238E27FC236}">
                  <a16:creationId xmlns:a16="http://schemas.microsoft.com/office/drawing/2014/main" id="{6AFA91FA-049C-1AB2-82CD-22B2676F2ABE}"/>
                </a:ext>
              </a:extLst>
            </p:cNvPr>
            <p:cNvSpPr>
              <a:spLocks noChangeArrowheads="1"/>
            </p:cNvSpPr>
            <p:nvPr/>
          </p:nvSpPr>
          <p:spPr bwMode="auto">
            <a:xfrm>
              <a:off x="3507" y="1480"/>
              <a:ext cx="136" cy="90"/>
            </a:xfrm>
            <a:prstGeom prst="rect">
              <a:avLst/>
            </a:prstGeom>
            <a:solidFill>
              <a:schemeClr val="tx1"/>
            </a:solidFill>
            <a:ln w="952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87" name="Rectangle 111">
            <a:extLst>
              <a:ext uri="{FF2B5EF4-FFF2-40B4-BE49-F238E27FC236}">
                <a16:creationId xmlns:a16="http://schemas.microsoft.com/office/drawing/2014/main" id="{7BF1E260-C6C5-A0FE-7CBD-32B066DC556B}"/>
              </a:ext>
            </a:extLst>
          </p:cNvPr>
          <p:cNvSpPr>
            <a:spLocks noChangeArrowheads="1"/>
          </p:cNvSpPr>
          <p:nvPr/>
        </p:nvSpPr>
        <p:spPr bwMode="auto">
          <a:xfrm>
            <a:off x="4787900" y="1268440"/>
            <a:ext cx="4689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solidFill>
                  <a:srgbClr val="000000"/>
                </a:solidFill>
                <a:latin typeface="Times New Roman" panose="02020603050405020304" pitchFamily="18" charset="0"/>
              </a:rPr>
              <a:t>Bipolar Junction Transistor</a:t>
            </a:r>
            <a:r>
              <a:rPr kumimoji="1" lang="zh-CN" altLang="en-US" sz="2400">
                <a:solidFill>
                  <a:srgbClr val="000000"/>
                </a:solidFill>
                <a:latin typeface="Times New Roman" panose="02020603050405020304" pitchFamily="18" charset="0"/>
              </a:rPr>
              <a:t>，</a:t>
            </a:r>
            <a:r>
              <a:rPr kumimoji="1" lang="en-US" altLang="zh-CN" sz="2400">
                <a:solidFill>
                  <a:srgbClr val="000000"/>
                </a:solidFill>
                <a:latin typeface="Times New Roman" panose="02020603050405020304" pitchFamily="18" charset="0"/>
              </a:rPr>
              <a:t>BJT</a:t>
            </a:r>
            <a:endParaRPr kumimoji="1" lang="zh-CN" alt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12556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blinds(horizontal)">
                                      <p:cBhvr>
                                        <p:cTn id="33" dur="500"/>
                                        <p:tgtEl>
                                          <p:spTgt spid="4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blinds(horizontal)">
                                      <p:cBhvr>
                                        <p:cTn id="38" dur="500"/>
                                        <p:tgtEl>
                                          <p:spTgt spid="4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blinds(horizontal)">
                                      <p:cBhvr>
                                        <p:cTn id="43" dur="500"/>
                                        <p:tgtEl>
                                          <p:spTgt spid="74"/>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blinds(horizontal)">
                                      <p:cBhvr>
                                        <p:cTn id="48" dur="500"/>
                                        <p:tgtEl>
                                          <p:spTgt spid="66"/>
                                        </p:tgtEl>
                                      </p:cBhvr>
                                    </p:animEffect>
                                  </p:childTnLst>
                                </p:cTn>
                              </p:par>
                              <p:par>
                                <p:cTn id="49" presetID="1" presetClass="entr" presetSubtype="0" fill="hold"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p:bldP spid="48" grpId="0"/>
      <p:bldP spid="50" grpId="0"/>
      <p:bldP spid="51" grpId="0"/>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9800B2-7CA4-6F33-F70A-85A5F1FE398A}"/>
              </a:ext>
            </a:extLst>
          </p:cNvPr>
          <p:cNvSpPr>
            <a:spLocks noGrp="1"/>
          </p:cNvSpPr>
          <p:nvPr>
            <p:ph type="title"/>
          </p:nvPr>
        </p:nvSpPr>
        <p:spPr/>
        <p:txBody>
          <a:bodyPr>
            <a:normAutofit fontScale="90000"/>
          </a:bodyPr>
          <a:lstStyle/>
          <a:p>
            <a:r>
              <a:rPr kumimoji="1" lang="en-US" altLang="zh-CN" dirty="0"/>
              <a:t>BJT</a:t>
            </a:r>
            <a:r>
              <a:rPr lang="zh-CN" altLang="en-US" dirty="0"/>
              <a:t>放大原理</a:t>
            </a:r>
            <a:endParaRPr kumimoji="1" lang="zh-CN" altLang="en-US" dirty="0"/>
          </a:p>
        </p:txBody>
      </p:sp>
      <p:sp>
        <p:nvSpPr>
          <p:cNvPr id="3" name="内容占位符 2">
            <a:extLst>
              <a:ext uri="{FF2B5EF4-FFF2-40B4-BE49-F238E27FC236}">
                <a16:creationId xmlns:a16="http://schemas.microsoft.com/office/drawing/2014/main" id="{3D3F4F28-7107-34B2-175D-B394CCF2D8C3}"/>
              </a:ext>
            </a:extLst>
          </p:cNvPr>
          <p:cNvSpPr>
            <a:spLocks noGrp="1"/>
          </p:cNvSpPr>
          <p:nvPr>
            <p:ph idx="1"/>
          </p:nvPr>
        </p:nvSpPr>
        <p:spPr/>
        <p:txBody>
          <a:bodyPr/>
          <a:lstStyle/>
          <a:p>
            <a:r>
              <a:rPr lang="zh-CN" altLang="en-US" dirty="0"/>
              <a:t>放大的本质</a:t>
            </a:r>
          </a:p>
          <a:p>
            <a:pPr lvl="1"/>
            <a:r>
              <a:rPr lang="zh-CN" altLang="en-US" dirty="0"/>
              <a:t>利用小的基极电流，控制大的发射极和集电极电流</a:t>
            </a:r>
          </a:p>
          <a:p>
            <a:pPr marL="0" indent="0">
              <a:buNone/>
            </a:pPr>
            <a:endParaRPr kumimoji="1" lang="en-US" altLang="zh-CN" dirty="0"/>
          </a:p>
          <a:p>
            <a:r>
              <a:rPr lang="zh-CN" altLang="en-US" dirty="0"/>
              <a:t>放大的条件</a:t>
            </a:r>
          </a:p>
          <a:p>
            <a:pPr lvl="1"/>
            <a:r>
              <a:rPr lang="zh-CN" altLang="en-US" dirty="0"/>
              <a:t>内部条件：内部独特的结构</a:t>
            </a:r>
            <a:endParaRPr lang="en-US" altLang="zh-CN" dirty="0"/>
          </a:p>
          <a:p>
            <a:pPr lvl="1"/>
            <a:r>
              <a:rPr lang="zh-CN" altLang="en-US" dirty="0"/>
              <a:t>外部条件：发射结正偏，集电结反偏</a:t>
            </a:r>
            <a:endParaRPr kumimoji="1" lang="zh-CN" altLang="en-US" dirty="0"/>
          </a:p>
        </p:txBody>
      </p:sp>
      <p:sp>
        <p:nvSpPr>
          <p:cNvPr id="4" name="页脚占位符 3">
            <a:extLst>
              <a:ext uri="{FF2B5EF4-FFF2-40B4-BE49-F238E27FC236}">
                <a16:creationId xmlns:a16="http://schemas.microsoft.com/office/drawing/2014/main" id="{4FFF1803-FA2E-98BD-331D-94BD434A5555}"/>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1EC70D91-C294-BE4B-E99A-AA25CC012BB5}"/>
              </a:ext>
            </a:extLst>
          </p:cNvPr>
          <p:cNvSpPr>
            <a:spLocks noGrp="1"/>
          </p:cNvSpPr>
          <p:nvPr>
            <p:ph type="sldNum" sz="quarter" idx="12"/>
          </p:nvPr>
        </p:nvSpPr>
        <p:spPr/>
        <p:txBody>
          <a:bodyPr/>
          <a:lstStyle/>
          <a:p>
            <a:fld id="{9E260BC5-5BF3-8746-862B-DC45E9CAA88B}" type="slidenum">
              <a:rPr lang="en-US" smtClean="0"/>
              <a:pPr/>
              <a:t>5</a:t>
            </a:fld>
            <a:r>
              <a:rPr lang="en-US" altLang="zh-CN" dirty="0"/>
              <a:t>/33</a:t>
            </a:r>
            <a:endParaRPr lang="en-US" dirty="0"/>
          </a:p>
        </p:txBody>
      </p:sp>
      <p:sp>
        <p:nvSpPr>
          <p:cNvPr id="6" name="Rectangle 77">
            <a:extLst>
              <a:ext uri="{FF2B5EF4-FFF2-40B4-BE49-F238E27FC236}">
                <a16:creationId xmlns:a16="http://schemas.microsoft.com/office/drawing/2014/main" id="{B172688A-387C-D96B-E637-C263AF761180}"/>
              </a:ext>
            </a:extLst>
          </p:cNvPr>
          <p:cNvSpPr>
            <a:spLocks noChangeArrowheads="1"/>
          </p:cNvSpPr>
          <p:nvPr/>
        </p:nvSpPr>
        <p:spPr bwMode="auto">
          <a:xfrm>
            <a:off x="848519" y="1549545"/>
            <a:ext cx="2941637" cy="427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i="1" dirty="0">
                <a:latin typeface="Times New Roman" panose="02020603050405020304" pitchFamily="18" charset="0"/>
              </a:rPr>
              <a:t>I</a:t>
            </a:r>
            <a:r>
              <a:rPr kumimoji="1" lang="en-US" altLang="zh-CN" sz="2800" baseline="-20000" dirty="0">
                <a:latin typeface="Times New Roman" panose="02020603050405020304" pitchFamily="18" charset="0"/>
              </a:rPr>
              <a:t>C</a:t>
            </a:r>
            <a:r>
              <a:rPr kumimoji="1" lang="en-US" altLang="zh-CN" sz="2800" baseline="-25000" dirty="0">
                <a:latin typeface="Times New Roman" panose="02020603050405020304" pitchFamily="18" charset="0"/>
              </a:rPr>
              <a:t> </a:t>
            </a:r>
            <a:r>
              <a:rPr kumimoji="1" lang="en-US" altLang="zh-CN" sz="2800" dirty="0">
                <a:latin typeface="Times New Roman" panose="02020603050405020304" pitchFamily="18" charset="0"/>
              </a:rPr>
              <a:t>=</a:t>
            </a:r>
            <a:r>
              <a:rPr kumimoji="1" lang="el-GR" altLang="zh-CN" sz="2800" dirty="0">
                <a:latin typeface="Times New Roman" panose="02020603050405020304" pitchFamily="18" charset="0"/>
              </a:rPr>
              <a:t>β</a:t>
            </a:r>
            <a:r>
              <a:rPr kumimoji="1" lang="en-US" altLang="zh-CN" sz="2800" i="1" dirty="0">
                <a:latin typeface="Times New Roman" panose="02020603050405020304" pitchFamily="18" charset="0"/>
              </a:rPr>
              <a:t>I</a:t>
            </a:r>
            <a:r>
              <a:rPr kumimoji="1" lang="en-US" altLang="zh-CN" sz="2800" baseline="-20000" dirty="0">
                <a:latin typeface="Times New Roman" panose="02020603050405020304" pitchFamily="18" charset="0"/>
              </a:rPr>
              <a:t>B</a:t>
            </a:r>
            <a:r>
              <a:rPr kumimoji="1" lang="en-US" altLang="zh-CN" sz="2800" dirty="0">
                <a:latin typeface="Times New Roman" panose="02020603050405020304" pitchFamily="18" charset="0"/>
              </a:rPr>
              <a:t> </a:t>
            </a:r>
            <a:r>
              <a:rPr kumimoji="1" lang="zh-CN" altLang="en-US" sz="2800" dirty="0">
                <a:latin typeface="Times New Roman" panose="02020603050405020304" pitchFamily="18" charset="0"/>
              </a:rPr>
              <a:t>，</a:t>
            </a:r>
            <a:r>
              <a:rPr kumimoji="1" lang="en-US" altLang="zh-CN" sz="2800" dirty="0">
                <a:latin typeface="Times New Roman" panose="02020603050405020304" pitchFamily="18" charset="0"/>
              </a:rPr>
              <a:t>(</a:t>
            </a:r>
            <a:r>
              <a:rPr kumimoji="1" lang="el-GR" altLang="zh-CN" sz="2800" dirty="0">
                <a:latin typeface="Times New Roman" panose="02020603050405020304" pitchFamily="18" charset="0"/>
              </a:rPr>
              <a:t>β</a:t>
            </a:r>
            <a:r>
              <a:rPr kumimoji="1" lang="en-US" altLang="zh-CN" sz="2800" dirty="0">
                <a:latin typeface="Times New Roman" panose="02020603050405020304" pitchFamily="18" charset="0"/>
              </a:rPr>
              <a:t>&gt;&gt; 1)</a:t>
            </a:r>
          </a:p>
        </p:txBody>
      </p:sp>
      <p:sp>
        <p:nvSpPr>
          <p:cNvPr id="7" name="Rectangle 78">
            <a:extLst>
              <a:ext uri="{FF2B5EF4-FFF2-40B4-BE49-F238E27FC236}">
                <a16:creationId xmlns:a16="http://schemas.microsoft.com/office/drawing/2014/main" id="{11F78E95-C06D-0B4F-14F5-F108B695C178}"/>
              </a:ext>
            </a:extLst>
          </p:cNvPr>
          <p:cNvSpPr>
            <a:spLocks noChangeArrowheads="1"/>
          </p:cNvSpPr>
          <p:nvPr/>
        </p:nvSpPr>
        <p:spPr bwMode="auto">
          <a:xfrm>
            <a:off x="3898828" y="1549545"/>
            <a:ext cx="2376487" cy="427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i="1" dirty="0">
                <a:latin typeface="Times New Roman" panose="02020603050405020304" pitchFamily="18" charset="0"/>
              </a:rPr>
              <a:t>I</a:t>
            </a:r>
            <a:r>
              <a:rPr kumimoji="1" lang="en-US" altLang="zh-CN" sz="2800" baseline="-20000" dirty="0">
                <a:latin typeface="Times New Roman" panose="02020603050405020304" pitchFamily="18" charset="0"/>
              </a:rPr>
              <a:t>E</a:t>
            </a:r>
            <a:r>
              <a:rPr kumimoji="1" lang="en-US" altLang="zh-CN" sz="2800" baseline="-25000" dirty="0">
                <a:latin typeface="Times New Roman" panose="02020603050405020304" pitchFamily="18" charset="0"/>
              </a:rPr>
              <a:t> </a:t>
            </a:r>
            <a:r>
              <a:rPr kumimoji="1" lang="en-US" altLang="zh-CN" sz="2800" dirty="0">
                <a:latin typeface="Times New Roman" panose="02020603050405020304" pitchFamily="18" charset="0"/>
              </a:rPr>
              <a:t>= (1+</a:t>
            </a:r>
            <a:r>
              <a:rPr kumimoji="1" lang="el-GR" altLang="zh-CN" sz="2800" dirty="0">
                <a:latin typeface="Times New Roman" panose="02020603050405020304" pitchFamily="18" charset="0"/>
              </a:rPr>
              <a:t>β</a:t>
            </a:r>
            <a:r>
              <a:rPr kumimoji="1" lang="en-US" altLang="zh-CN" sz="2800" dirty="0">
                <a:latin typeface="Times New Roman" panose="02020603050405020304" pitchFamily="18" charset="0"/>
              </a:rPr>
              <a:t>)</a:t>
            </a:r>
            <a:r>
              <a:rPr kumimoji="1" lang="zh-CN" altLang="en-US" sz="2800" dirty="0">
                <a:latin typeface="Times New Roman" panose="02020603050405020304" pitchFamily="18" charset="0"/>
              </a:rPr>
              <a:t> </a:t>
            </a:r>
            <a:r>
              <a:rPr kumimoji="1" lang="en-US" altLang="zh-CN" sz="2800" i="1" dirty="0">
                <a:latin typeface="Times New Roman" panose="02020603050405020304" pitchFamily="18" charset="0"/>
              </a:rPr>
              <a:t>I</a:t>
            </a:r>
            <a:r>
              <a:rPr kumimoji="1" lang="en-US" altLang="zh-CN" sz="2800" baseline="-20000" dirty="0">
                <a:latin typeface="Times New Roman" panose="02020603050405020304" pitchFamily="18" charset="0"/>
              </a:rPr>
              <a:t>B</a:t>
            </a:r>
            <a:endParaRPr kumimoji="1" lang="zh-CN" altLang="en-US" sz="2800" baseline="-20000" dirty="0">
              <a:latin typeface="Times New Roman" panose="02020603050405020304" pitchFamily="18" charset="0"/>
            </a:endParaRPr>
          </a:p>
        </p:txBody>
      </p:sp>
      <p:sp>
        <p:nvSpPr>
          <p:cNvPr id="8" name="Line 64">
            <a:extLst>
              <a:ext uri="{FF2B5EF4-FFF2-40B4-BE49-F238E27FC236}">
                <a16:creationId xmlns:a16="http://schemas.microsoft.com/office/drawing/2014/main" id="{8E85C695-C8EA-0864-A359-067774267FCE}"/>
              </a:ext>
            </a:extLst>
          </p:cNvPr>
          <p:cNvSpPr>
            <a:spLocks noChangeShapeType="1"/>
          </p:cNvSpPr>
          <p:nvPr/>
        </p:nvSpPr>
        <p:spPr bwMode="auto">
          <a:xfrm>
            <a:off x="2933845" y="4695680"/>
            <a:ext cx="0" cy="61277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 name="Rectangle 37">
            <a:extLst>
              <a:ext uri="{FF2B5EF4-FFF2-40B4-BE49-F238E27FC236}">
                <a16:creationId xmlns:a16="http://schemas.microsoft.com/office/drawing/2014/main" id="{B5D23CDB-F3CE-E959-E845-6024F31FC497}"/>
              </a:ext>
            </a:extLst>
          </p:cNvPr>
          <p:cNvSpPr>
            <a:spLocks noChangeArrowheads="1"/>
          </p:cNvSpPr>
          <p:nvPr/>
        </p:nvSpPr>
        <p:spPr bwMode="auto">
          <a:xfrm>
            <a:off x="3764107" y="4387705"/>
            <a:ext cx="6477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c</a:t>
            </a:r>
            <a:endParaRPr kumimoji="1" lang="en-US" altLang="zh-CN" sz="2000">
              <a:latin typeface="Times New Roman" panose="02020603050405020304" pitchFamily="18" charset="0"/>
            </a:endParaRPr>
          </a:p>
        </p:txBody>
      </p:sp>
      <p:sp>
        <p:nvSpPr>
          <p:cNvPr id="10" name="Rectangle 25">
            <a:extLst>
              <a:ext uri="{FF2B5EF4-FFF2-40B4-BE49-F238E27FC236}">
                <a16:creationId xmlns:a16="http://schemas.microsoft.com/office/drawing/2014/main" id="{C29E7A9D-B217-BFB2-94CC-941DEBAACB69}"/>
              </a:ext>
            </a:extLst>
          </p:cNvPr>
          <p:cNvSpPr>
            <a:spLocks noChangeArrowheads="1"/>
          </p:cNvSpPr>
          <p:nvPr/>
        </p:nvSpPr>
        <p:spPr bwMode="auto">
          <a:xfrm>
            <a:off x="2960832" y="4821093"/>
            <a:ext cx="3540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b</a:t>
            </a:r>
            <a:endParaRPr kumimoji="1" lang="en-US" altLang="zh-CN" sz="2000">
              <a:latin typeface="Times New Roman" panose="02020603050405020304" pitchFamily="18" charset="0"/>
            </a:endParaRPr>
          </a:p>
        </p:txBody>
      </p:sp>
      <p:sp>
        <p:nvSpPr>
          <p:cNvPr id="11" name="Rectangle 26">
            <a:extLst>
              <a:ext uri="{FF2B5EF4-FFF2-40B4-BE49-F238E27FC236}">
                <a16:creationId xmlns:a16="http://schemas.microsoft.com/office/drawing/2014/main" id="{5B7D4B25-77C8-7B4C-607F-34A7E7C56AA5}"/>
              </a:ext>
            </a:extLst>
          </p:cNvPr>
          <p:cNvSpPr>
            <a:spLocks noChangeArrowheads="1"/>
          </p:cNvSpPr>
          <p:nvPr/>
        </p:nvSpPr>
        <p:spPr bwMode="auto">
          <a:xfrm>
            <a:off x="1424132" y="4362305"/>
            <a:ext cx="719138"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e</a:t>
            </a:r>
            <a:endParaRPr kumimoji="1" lang="en-US" altLang="zh-CN" sz="2000">
              <a:latin typeface="Times New Roman" panose="02020603050405020304" pitchFamily="18" charset="0"/>
            </a:endParaRPr>
          </a:p>
        </p:txBody>
      </p:sp>
      <p:sp>
        <p:nvSpPr>
          <p:cNvPr id="12" name="Line 28">
            <a:extLst>
              <a:ext uri="{FF2B5EF4-FFF2-40B4-BE49-F238E27FC236}">
                <a16:creationId xmlns:a16="http://schemas.microsoft.com/office/drawing/2014/main" id="{4D6BD90C-5D1A-75F0-8655-8B8E3D678AC8}"/>
              </a:ext>
            </a:extLst>
          </p:cNvPr>
          <p:cNvSpPr>
            <a:spLocks noChangeShapeType="1"/>
          </p:cNvSpPr>
          <p:nvPr/>
        </p:nvSpPr>
        <p:spPr bwMode="auto">
          <a:xfrm rot="-5400000">
            <a:off x="4069701" y="4064649"/>
            <a:ext cx="0" cy="68421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 name="Line 31">
            <a:extLst>
              <a:ext uri="{FF2B5EF4-FFF2-40B4-BE49-F238E27FC236}">
                <a16:creationId xmlns:a16="http://schemas.microsoft.com/office/drawing/2014/main" id="{B0D8B4E2-70F6-0B87-BCEE-036DB5EB6409}"/>
              </a:ext>
            </a:extLst>
          </p:cNvPr>
          <p:cNvSpPr>
            <a:spLocks noChangeShapeType="1"/>
          </p:cNvSpPr>
          <p:nvPr/>
        </p:nvSpPr>
        <p:spPr bwMode="auto">
          <a:xfrm rot="-5400000">
            <a:off x="1764651" y="4045599"/>
            <a:ext cx="0" cy="68421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nvGrpSpPr>
          <p:cNvPr id="14" name="Group 40">
            <a:extLst>
              <a:ext uri="{FF2B5EF4-FFF2-40B4-BE49-F238E27FC236}">
                <a16:creationId xmlns:a16="http://schemas.microsoft.com/office/drawing/2014/main" id="{F2D6429B-A008-DDE8-F385-6EC6C05B47A3}"/>
              </a:ext>
            </a:extLst>
          </p:cNvPr>
          <p:cNvGrpSpPr>
            <a:grpSpLocks/>
          </p:cNvGrpSpPr>
          <p:nvPr/>
        </p:nvGrpSpPr>
        <p:grpSpPr bwMode="auto">
          <a:xfrm>
            <a:off x="2106757" y="4047980"/>
            <a:ext cx="1620838" cy="652463"/>
            <a:chOff x="2892" y="1853"/>
            <a:chExt cx="1723" cy="453"/>
          </a:xfrm>
        </p:grpSpPr>
        <p:sp>
          <p:nvSpPr>
            <p:cNvPr id="15" name="Rectangle 29">
              <a:extLst>
                <a:ext uri="{FF2B5EF4-FFF2-40B4-BE49-F238E27FC236}">
                  <a16:creationId xmlns:a16="http://schemas.microsoft.com/office/drawing/2014/main" id="{51FF686E-C3D7-ED9B-A172-99860411485C}"/>
                </a:ext>
              </a:extLst>
            </p:cNvPr>
            <p:cNvSpPr>
              <a:spLocks noChangeArrowheads="1"/>
            </p:cNvSpPr>
            <p:nvPr/>
          </p:nvSpPr>
          <p:spPr bwMode="auto">
            <a:xfrm>
              <a:off x="2892" y="1853"/>
              <a:ext cx="635" cy="453"/>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nchorCtr="1"/>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N</a:t>
              </a:r>
            </a:p>
          </p:txBody>
        </p:sp>
        <p:sp>
          <p:nvSpPr>
            <p:cNvPr id="16" name="Rectangle 35">
              <a:extLst>
                <a:ext uri="{FF2B5EF4-FFF2-40B4-BE49-F238E27FC236}">
                  <a16:creationId xmlns:a16="http://schemas.microsoft.com/office/drawing/2014/main" id="{3A2A8301-2777-3332-7927-D0EDFB165A91}"/>
                </a:ext>
              </a:extLst>
            </p:cNvPr>
            <p:cNvSpPr>
              <a:spLocks noChangeArrowheads="1"/>
            </p:cNvSpPr>
            <p:nvPr/>
          </p:nvSpPr>
          <p:spPr bwMode="auto">
            <a:xfrm>
              <a:off x="3980" y="1853"/>
              <a:ext cx="635" cy="453"/>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nchorCtr="1"/>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N</a:t>
              </a:r>
            </a:p>
          </p:txBody>
        </p:sp>
        <p:sp>
          <p:nvSpPr>
            <p:cNvPr id="17" name="Rectangle 36">
              <a:extLst>
                <a:ext uri="{FF2B5EF4-FFF2-40B4-BE49-F238E27FC236}">
                  <a16:creationId xmlns:a16="http://schemas.microsoft.com/office/drawing/2014/main" id="{37AEA888-9B96-9D29-C797-FE94F4F6DF3B}"/>
                </a:ext>
              </a:extLst>
            </p:cNvPr>
            <p:cNvSpPr>
              <a:spLocks noChangeArrowheads="1"/>
            </p:cNvSpPr>
            <p:nvPr/>
          </p:nvSpPr>
          <p:spPr bwMode="auto">
            <a:xfrm>
              <a:off x="3527" y="1853"/>
              <a:ext cx="453" cy="453"/>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nchorCtr="1"/>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P</a:t>
              </a:r>
            </a:p>
          </p:txBody>
        </p:sp>
      </p:grpSp>
      <p:grpSp>
        <p:nvGrpSpPr>
          <p:cNvPr id="18" name="Group 75">
            <a:extLst>
              <a:ext uri="{FF2B5EF4-FFF2-40B4-BE49-F238E27FC236}">
                <a16:creationId xmlns:a16="http://schemas.microsoft.com/office/drawing/2014/main" id="{A5C672A1-A19D-9EC0-0C9F-18936F07E5CD}"/>
              </a:ext>
            </a:extLst>
          </p:cNvPr>
          <p:cNvGrpSpPr>
            <a:grpSpLocks/>
          </p:cNvGrpSpPr>
          <p:nvPr/>
        </p:nvGrpSpPr>
        <p:grpSpPr bwMode="auto">
          <a:xfrm>
            <a:off x="792307" y="4387705"/>
            <a:ext cx="2141538" cy="1728788"/>
            <a:chOff x="2778" y="1739"/>
            <a:chExt cx="1349" cy="1089"/>
          </a:xfrm>
        </p:grpSpPr>
        <p:sp>
          <p:nvSpPr>
            <p:cNvPr id="19" name="Line 42">
              <a:extLst>
                <a:ext uri="{FF2B5EF4-FFF2-40B4-BE49-F238E27FC236}">
                  <a16:creationId xmlns:a16="http://schemas.microsoft.com/office/drawing/2014/main" id="{07178F0A-D8FC-6F01-AEC6-276411DB62A3}"/>
                </a:ext>
              </a:extLst>
            </p:cNvPr>
            <p:cNvSpPr>
              <a:spLocks noChangeShapeType="1"/>
            </p:cNvSpPr>
            <p:nvPr/>
          </p:nvSpPr>
          <p:spPr bwMode="auto">
            <a:xfrm>
              <a:off x="4127" y="1943"/>
              <a:ext cx="0" cy="739"/>
            </a:xfrm>
            <a:prstGeom prst="line">
              <a:avLst/>
            </a:prstGeom>
            <a:noFill/>
            <a:ln w="38100">
              <a:solidFill>
                <a:schemeClr val="tx1"/>
              </a:solidFill>
              <a:round/>
              <a:headEnd/>
              <a:tailEnd type="oval" w="med" len="med"/>
            </a:ln>
            <a:extLst>
              <a:ext uri="{909E8E84-426E-40dd-AFC4-6F175D3DCCD1}">
                <a14:hiddenFill xmlns="" xmlns:a14="http://schemas.microsoft.com/office/drawing/2010/main">
                  <a:noFill/>
                </a14:hiddenFill>
              </a:ext>
            </a:extLst>
          </p:spPr>
          <p:txBody>
            <a:bodyPr/>
            <a:lstStyle/>
            <a:p>
              <a:endParaRPr lang="zh-CN" altLang="en-US"/>
            </a:p>
          </p:txBody>
        </p:sp>
        <p:grpSp>
          <p:nvGrpSpPr>
            <p:cNvPr id="20" name="Group 74">
              <a:extLst>
                <a:ext uri="{FF2B5EF4-FFF2-40B4-BE49-F238E27FC236}">
                  <a16:creationId xmlns:a16="http://schemas.microsoft.com/office/drawing/2014/main" id="{3938125F-1F4E-6B49-720F-34474A990026}"/>
                </a:ext>
              </a:extLst>
            </p:cNvPr>
            <p:cNvGrpSpPr>
              <a:grpSpLocks/>
            </p:cNvGrpSpPr>
            <p:nvPr/>
          </p:nvGrpSpPr>
          <p:grpSpPr bwMode="auto">
            <a:xfrm>
              <a:off x="2778" y="1739"/>
              <a:ext cx="1349" cy="1089"/>
              <a:chOff x="2778" y="1739"/>
              <a:chExt cx="1349" cy="1089"/>
            </a:xfrm>
          </p:grpSpPr>
          <p:sp>
            <p:nvSpPr>
              <p:cNvPr id="21" name="Line 50">
                <a:extLst>
                  <a:ext uri="{FF2B5EF4-FFF2-40B4-BE49-F238E27FC236}">
                    <a16:creationId xmlns:a16="http://schemas.microsoft.com/office/drawing/2014/main" id="{F8A12F02-0453-FD62-ECF4-327AFE9C8C14}"/>
                  </a:ext>
                </a:extLst>
              </p:cNvPr>
              <p:cNvSpPr>
                <a:spLocks noChangeShapeType="1"/>
              </p:cNvSpPr>
              <p:nvPr/>
            </p:nvSpPr>
            <p:spPr bwMode="auto">
              <a:xfrm rot="-5400000">
                <a:off x="3377" y="2480"/>
                <a:ext cx="0" cy="404"/>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51">
                <a:extLst>
                  <a:ext uri="{FF2B5EF4-FFF2-40B4-BE49-F238E27FC236}">
                    <a16:creationId xmlns:a16="http://schemas.microsoft.com/office/drawing/2014/main" id="{C109067F-3424-61B0-4572-6F5BBB1FD6D7}"/>
                  </a:ext>
                </a:extLst>
              </p:cNvPr>
              <p:cNvSpPr>
                <a:spLocks noChangeShapeType="1"/>
              </p:cNvSpPr>
              <p:nvPr/>
            </p:nvSpPr>
            <p:spPr bwMode="auto">
              <a:xfrm rot="-5400000">
                <a:off x="3901" y="2455"/>
                <a:ext cx="0" cy="453"/>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3" name="Line 52">
                <a:extLst>
                  <a:ext uri="{FF2B5EF4-FFF2-40B4-BE49-F238E27FC236}">
                    <a16:creationId xmlns:a16="http://schemas.microsoft.com/office/drawing/2014/main" id="{C92BBFED-1E96-38A9-3D82-1CBE074A9D88}"/>
                  </a:ext>
                </a:extLst>
              </p:cNvPr>
              <p:cNvSpPr>
                <a:spLocks noChangeShapeType="1"/>
              </p:cNvSpPr>
              <p:nvPr/>
            </p:nvSpPr>
            <p:spPr bwMode="auto">
              <a:xfrm>
                <a:off x="3176" y="1739"/>
                <a:ext cx="0" cy="94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nvGrpSpPr>
              <p:cNvPr id="24" name="Group 70">
                <a:extLst>
                  <a:ext uri="{FF2B5EF4-FFF2-40B4-BE49-F238E27FC236}">
                    <a16:creationId xmlns:a16="http://schemas.microsoft.com/office/drawing/2014/main" id="{CA09F036-9DB9-442E-18B6-7F72E1127757}"/>
                  </a:ext>
                </a:extLst>
              </p:cNvPr>
              <p:cNvGrpSpPr>
                <a:grpSpLocks/>
              </p:cNvGrpSpPr>
              <p:nvPr/>
            </p:nvGrpSpPr>
            <p:grpSpPr bwMode="auto">
              <a:xfrm>
                <a:off x="2778" y="2076"/>
                <a:ext cx="456" cy="321"/>
                <a:chOff x="2778" y="2076"/>
                <a:chExt cx="456" cy="321"/>
              </a:xfrm>
            </p:grpSpPr>
            <p:sp>
              <p:nvSpPr>
                <p:cNvPr id="29" name="Rectangle 53">
                  <a:extLst>
                    <a:ext uri="{FF2B5EF4-FFF2-40B4-BE49-F238E27FC236}">
                      <a16:creationId xmlns:a16="http://schemas.microsoft.com/office/drawing/2014/main" id="{54F8D3D9-A003-3EBC-4876-F77E941690FB}"/>
                    </a:ext>
                  </a:extLst>
                </p:cNvPr>
                <p:cNvSpPr>
                  <a:spLocks noChangeArrowheads="1"/>
                </p:cNvSpPr>
                <p:nvPr/>
              </p:nvSpPr>
              <p:spPr bwMode="auto">
                <a:xfrm>
                  <a:off x="3107" y="2076"/>
                  <a:ext cx="127" cy="321"/>
                </a:xfrm>
                <a:prstGeom prst="rect">
                  <a:avLst/>
                </a:prstGeom>
                <a:solidFill>
                  <a:schemeClr val="bg1"/>
                </a:solidFill>
                <a:ln w="38100">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Text Box 54">
                  <a:extLst>
                    <a:ext uri="{FF2B5EF4-FFF2-40B4-BE49-F238E27FC236}">
                      <a16:creationId xmlns:a16="http://schemas.microsoft.com/office/drawing/2014/main" id="{54A561E2-7F35-5184-6D24-DCD9A7FE545A}"/>
                    </a:ext>
                  </a:extLst>
                </p:cNvPr>
                <p:cNvSpPr txBox="1">
                  <a:spLocks noChangeArrowheads="1"/>
                </p:cNvSpPr>
                <p:nvPr/>
              </p:nvSpPr>
              <p:spPr bwMode="auto">
                <a:xfrm>
                  <a:off x="2778" y="2099"/>
                  <a:ext cx="32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a:latin typeface="Times New Roman" panose="02020603050405020304" pitchFamily="18" charset="0"/>
                    </a:rPr>
                    <a:t>R</a:t>
                  </a:r>
                  <a:r>
                    <a:rPr lang="en-US" altLang="zh-CN" sz="2400" b="0" baseline="-10000">
                      <a:latin typeface="Times New Roman" panose="02020603050405020304" pitchFamily="18" charset="0"/>
                    </a:rPr>
                    <a:t>B</a:t>
                  </a:r>
                </a:p>
              </p:txBody>
            </p:sp>
          </p:grpSp>
          <p:grpSp>
            <p:nvGrpSpPr>
              <p:cNvPr id="25" name="Group 69">
                <a:extLst>
                  <a:ext uri="{FF2B5EF4-FFF2-40B4-BE49-F238E27FC236}">
                    <a16:creationId xmlns:a16="http://schemas.microsoft.com/office/drawing/2014/main" id="{A91F6286-5CBD-14E2-DDDD-2E5AC4342105}"/>
                  </a:ext>
                </a:extLst>
              </p:cNvPr>
              <p:cNvGrpSpPr>
                <a:grpSpLocks/>
              </p:cNvGrpSpPr>
              <p:nvPr/>
            </p:nvGrpSpPr>
            <p:grpSpPr bwMode="auto">
              <a:xfrm>
                <a:off x="3340" y="2228"/>
                <a:ext cx="403" cy="600"/>
                <a:chOff x="3340" y="2228"/>
                <a:chExt cx="403" cy="600"/>
              </a:xfrm>
            </p:grpSpPr>
            <p:sp>
              <p:nvSpPr>
                <p:cNvPr id="26" name="Line 46">
                  <a:extLst>
                    <a:ext uri="{FF2B5EF4-FFF2-40B4-BE49-F238E27FC236}">
                      <a16:creationId xmlns:a16="http://schemas.microsoft.com/office/drawing/2014/main" id="{9E1E04BC-3576-3AB6-27FE-5B717BC5AA85}"/>
                    </a:ext>
                  </a:extLst>
                </p:cNvPr>
                <p:cNvSpPr>
                  <a:spLocks noChangeShapeType="1"/>
                </p:cNvSpPr>
                <p:nvPr/>
              </p:nvSpPr>
              <p:spPr bwMode="auto">
                <a:xfrm>
                  <a:off x="3590" y="2607"/>
                  <a:ext cx="0" cy="162"/>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7" name="Line 47">
                  <a:extLst>
                    <a:ext uri="{FF2B5EF4-FFF2-40B4-BE49-F238E27FC236}">
                      <a16:creationId xmlns:a16="http://schemas.microsoft.com/office/drawing/2014/main" id="{01787F42-6750-4C07-5F12-B50A2DE53DA0}"/>
                    </a:ext>
                  </a:extLst>
                </p:cNvPr>
                <p:cNvSpPr>
                  <a:spLocks noChangeShapeType="1"/>
                </p:cNvSpPr>
                <p:nvPr/>
              </p:nvSpPr>
              <p:spPr bwMode="auto">
                <a:xfrm>
                  <a:off x="3674" y="2539"/>
                  <a:ext cx="0" cy="289"/>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8" name="Text Box 56">
                  <a:extLst>
                    <a:ext uri="{FF2B5EF4-FFF2-40B4-BE49-F238E27FC236}">
                      <a16:creationId xmlns:a16="http://schemas.microsoft.com/office/drawing/2014/main" id="{F98C7918-088B-1C80-B378-7B93F70BCDB5}"/>
                    </a:ext>
                  </a:extLst>
                </p:cNvPr>
                <p:cNvSpPr txBox="1">
                  <a:spLocks noChangeArrowheads="1"/>
                </p:cNvSpPr>
                <p:nvPr/>
              </p:nvSpPr>
              <p:spPr bwMode="auto">
                <a:xfrm>
                  <a:off x="3340" y="2228"/>
                  <a:ext cx="40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V</a:t>
                  </a:r>
                  <a:r>
                    <a:rPr lang="en-US" altLang="zh-CN" sz="2400" b="0" baseline="-10000">
                      <a:latin typeface="Times New Roman" panose="02020603050405020304" pitchFamily="18" charset="0"/>
                    </a:rPr>
                    <a:t>BB</a:t>
                  </a:r>
                </a:p>
              </p:txBody>
            </p:sp>
          </p:grpSp>
        </p:grpSp>
      </p:grpSp>
      <p:grpSp>
        <p:nvGrpSpPr>
          <p:cNvPr id="31" name="Group 67">
            <a:extLst>
              <a:ext uri="{FF2B5EF4-FFF2-40B4-BE49-F238E27FC236}">
                <a16:creationId xmlns:a16="http://schemas.microsoft.com/office/drawing/2014/main" id="{1B479221-B611-5737-3F07-26D37CFAFB49}"/>
              </a:ext>
            </a:extLst>
          </p:cNvPr>
          <p:cNvGrpSpPr>
            <a:grpSpLocks/>
          </p:cNvGrpSpPr>
          <p:nvPr/>
        </p:nvGrpSpPr>
        <p:grpSpPr bwMode="auto">
          <a:xfrm>
            <a:off x="2262332" y="4876655"/>
            <a:ext cx="457200" cy="539750"/>
            <a:chOff x="3704" y="2079"/>
            <a:chExt cx="288" cy="340"/>
          </a:xfrm>
        </p:grpSpPr>
        <p:sp>
          <p:nvSpPr>
            <p:cNvPr id="32" name="Text Box 59">
              <a:extLst>
                <a:ext uri="{FF2B5EF4-FFF2-40B4-BE49-F238E27FC236}">
                  <a16:creationId xmlns:a16="http://schemas.microsoft.com/office/drawing/2014/main" id="{8EB75B62-306C-E8CF-38B0-C78510AACF10}"/>
                </a:ext>
              </a:extLst>
            </p:cNvPr>
            <p:cNvSpPr txBox="1">
              <a:spLocks noChangeArrowheads="1"/>
            </p:cNvSpPr>
            <p:nvPr/>
          </p:nvSpPr>
          <p:spPr bwMode="auto">
            <a:xfrm>
              <a:off x="3704" y="2125"/>
              <a:ext cx="26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B</a:t>
              </a:r>
            </a:p>
          </p:txBody>
        </p:sp>
        <p:sp>
          <p:nvSpPr>
            <p:cNvPr id="33" name="Line 58">
              <a:extLst>
                <a:ext uri="{FF2B5EF4-FFF2-40B4-BE49-F238E27FC236}">
                  <a16:creationId xmlns:a16="http://schemas.microsoft.com/office/drawing/2014/main" id="{33091462-C865-AD4A-0EFC-4CAFEE78EC79}"/>
                </a:ext>
              </a:extLst>
            </p:cNvPr>
            <p:cNvSpPr>
              <a:spLocks noChangeShapeType="1"/>
            </p:cNvSpPr>
            <p:nvPr/>
          </p:nvSpPr>
          <p:spPr bwMode="auto">
            <a:xfrm flipV="1">
              <a:off x="3992" y="2079"/>
              <a:ext cx="0" cy="34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grpSp>
      <p:grpSp>
        <p:nvGrpSpPr>
          <p:cNvPr id="34" name="Group 65">
            <a:extLst>
              <a:ext uri="{FF2B5EF4-FFF2-40B4-BE49-F238E27FC236}">
                <a16:creationId xmlns:a16="http://schemas.microsoft.com/office/drawing/2014/main" id="{D6BC0A65-E3C4-3785-001F-C1AD7EDBABFA}"/>
              </a:ext>
            </a:extLst>
          </p:cNvPr>
          <p:cNvGrpSpPr>
            <a:grpSpLocks/>
          </p:cNvGrpSpPr>
          <p:nvPr/>
        </p:nvGrpSpPr>
        <p:grpSpPr bwMode="auto">
          <a:xfrm>
            <a:off x="1387620" y="3774930"/>
            <a:ext cx="552450" cy="468313"/>
            <a:chOff x="3153" y="1353"/>
            <a:chExt cx="348" cy="295"/>
          </a:xfrm>
        </p:grpSpPr>
        <p:sp>
          <p:nvSpPr>
            <p:cNvPr id="35" name="Text Box 61">
              <a:extLst>
                <a:ext uri="{FF2B5EF4-FFF2-40B4-BE49-F238E27FC236}">
                  <a16:creationId xmlns:a16="http://schemas.microsoft.com/office/drawing/2014/main" id="{E2482E2A-098D-8530-6E71-C678AC8640C6}"/>
                </a:ext>
              </a:extLst>
            </p:cNvPr>
            <p:cNvSpPr txBox="1">
              <a:spLocks noChangeArrowheads="1"/>
            </p:cNvSpPr>
            <p:nvPr/>
          </p:nvSpPr>
          <p:spPr bwMode="auto">
            <a:xfrm>
              <a:off x="3243" y="1353"/>
              <a:ext cx="25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E</a:t>
              </a:r>
            </a:p>
          </p:txBody>
        </p:sp>
        <p:sp>
          <p:nvSpPr>
            <p:cNvPr id="36" name="Line 60">
              <a:extLst>
                <a:ext uri="{FF2B5EF4-FFF2-40B4-BE49-F238E27FC236}">
                  <a16:creationId xmlns:a16="http://schemas.microsoft.com/office/drawing/2014/main" id="{0BEC5D45-27F9-2CA0-DE6B-7432689D7F1C}"/>
                </a:ext>
              </a:extLst>
            </p:cNvPr>
            <p:cNvSpPr>
              <a:spLocks noChangeShapeType="1"/>
            </p:cNvSpPr>
            <p:nvPr/>
          </p:nvSpPr>
          <p:spPr bwMode="auto">
            <a:xfrm flipH="1" flipV="1">
              <a:off x="3153" y="1648"/>
              <a:ext cx="340"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grpSp>
      <p:grpSp>
        <p:nvGrpSpPr>
          <p:cNvPr id="37" name="Group 66">
            <a:extLst>
              <a:ext uri="{FF2B5EF4-FFF2-40B4-BE49-F238E27FC236}">
                <a16:creationId xmlns:a16="http://schemas.microsoft.com/office/drawing/2014/main" id="{C3F0907C-3C3C-DAE1-5214-8B24A55DD6A9}"/>
              </a:ext>
            </a:extLst>
          </p:cNvPr>
          <p:cNvGrpSpPr>
            <a:grpSpLocks/>
          </p:cNvGrpSpPr>
          <p:nvPr/>
        </p:nvGrpSpPr>
        <p:grpSpPr bwMode="auto">
          <a:xfrm>
            <a:off x="3811732" y="3811443"/>
            <a:ext cx="563563" cy="468312"/>
            <a:chOff x="4680" y="1376"/>
            <a:chExt cx="355" cy="295"/>
          </a:xfrm>
        </p:grpSpPr>
        <p:sp>
          <p:nvSpPr>
            <p:cNvPr id="38" name="Text Box 62">
              <a:extLst>
                <a:ext uri="{FF2B5EF4-FFF2-40B4-BE49-F238E27FC236}">
                  <a16:creationId xmlns:a16="http://schemas.microsoft.com/office/drawing/2014/main" id="{17A0FBD9-ADAF-7214-AEFB-1AA01CEB7666}"/>
                </a:ext>
              </a:extLst>
            </p:cNvPr>
            <p:cNvSpPr txBox="1">
              <a:spLocks noChangeArrowheads="1"/>
            </p:cNvSpPr>
            <p:nvPr/>
          </p:nvSpPr>
          <p:spPr bwMode="auto">
            <a:xfrm>
              <a:off x="4770" y="1376"/>
              <a:ext cx="26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C</a:t>
              </a:r>
            </a:p>
          </p:txBody>
        </p:sp>
        <p:sp>
          <p:nvSpPr>
            <p:cNvPr id="39" name="Line 63">
              <a:extLst>
                <a:ext uri="{FF2B5EF4-FFF2-40B4-BE49-F238E27FC236}">
                  <a16:creationId xmlns:a16="http://schemas.microsoft.com/office/drawing/2014/main" id="{F64D0395-CA40-3734-59EC-A1CC52DDEF88}"/>
                </a:ext>
              </a:extLst>
            </p:cNvPr>
            <p:cNvSpPr>
              <a:spLocks noChangeShapeType="1"/>
            </p:cNvSpPr>
            <p:nvPr/>
          </p:nvSpPr>
          <p:spPr bwMode="auto">
            <a:xfrm flipH="1" flipV="1">
              <a:off x="4680" y="1671"/>
              <a:ext cx="340"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grpSp>
      <p:grpSp>
        <p:nvGrpSpPr>
          <p:cNvPr id="40" name="Group 73">
            <a:extLst>
              <a:ext uri="{FF2B5EF4-FFF2-40B4-BE49-F238E27FC236}">
                <a16:creationId xmlns:a16="http://schemas.microsoft.com/office/drawing/2014/main" id="{E1DF3130-107F-DC1E-C643-CD136D82F251}"/>
              </a:ext>
            </a:extLst>
          </p:cNvPr>
          <p:cNvGrpSpPr>
            <a:grpSpLocks/>
          </p:cNvGrpSpPr>
          <p:nvPr/>
        </p:nvGrpSpPr>
        <p:grpSpPr bwMode="auto">
          <a:xfrm>
            <a:off x="2970357" y="4403580"/>
            <a:ext cx="2071688" cy="1703388"/>
            <a:chOff x="4150" y="1749"/>
            <a:chExt cx="1305" cy="1073"/>
          </a:xfrm>
        </p:grpSpPr>
        <p:sp>
          <p:nvSpPr>
            <p:cNvPr id="41" name="Line 30">
              <a:extLst>
                <a:ext uri="{FF2B5EF4-FFF2-40B4-BE49-F238E27FC236}">
                  <a16:creationId xmlns:a16="http://schemas.microsoft.com/office/drawing/2014/main" id="{163C3943-916F-F920-BE7D-3037B7CF862E}"/>
                </a:ext>
              </a:extLst>
            </p:cNvPr>
            <p:cNvSpPr>
              <a:spLocks noChangeShapeType="1"/>
            </p:cNvSpPr>
            <p:nvPr/>
          </p:nvSpPr>
          <p:spPr bwMode="auto">
            <a:xfrm>
              <a:off x="5058" y="1749"/>
              <a:ext cx="0" cy="94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2" name="Line 45">
              <a:extLst>
                <a:ext uri="{FF2B5EF4-FFF2-40B4-BE49-F238E27FC236}">
                  <a16:creationId xmlns:a16="http://schemas.microsoft.com/office/drawing/2014/main" id="{949416D6-0889-8961-32E0-6C1D22D0BCD1}"/>
                </a:ext>
              </a:extLst>
            </p:cNvPr>
            <p:cNvSpPr>
              <a:spLocks noChangeShapeType="1"/>
            </p:cNvSpPr>
            <p:nvPr/>
          </p:nvSpPr>
          <p:spPr bwMode="auto">
            <a:xfrm rot="-5400000">
              <a:off x="4880" y="2503"/>
              <a:ext cx="0" cy="35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nvGrpSpPr>
            <p:cNvPr id="43" name="Group 72">
              <a:extLst>
                <a:ext uri="{FF2B5EF4-FFF2-40B4-BE49-F238E27FC236}">
                  <a16:creationId xmlns:a16="http://schemas.microsoft.com/office/drawing/2014/main" id="{2A5DC79D-6C10-15E5-4F88-2D99DDB9BFC0}"/>
                </a:ext>
              </a:extLst>
            </p:cNvPr>
            <p:cNvGrpSpPr>
              <a:grpSpLocks/>
            </p:cNvGrpSpPr>
            <p:nvPr/>
          </p:nvGrpSpPr>
          <p:grpSpPr bwMode="auto">
            <a:xfrm>
              <a:off x="4999" y="2098"/>
              <a:ext cx="456" cy="321"/>
              <a:chOff x="4999" y="2098"/>
              <a:chExt cx="456" cy="321"/>
            </a:xfrm>
          </p:grpSpPr>
          <p:sp>
            <p:nvSpPr>
              <p:cNvPr id="51" name="Rectangle 41">
                <a:extLst>
                  <a:ext uri="{FF2B5EF4-FFF2-40B4-BE49-F238E27FC236}">
                    <a16:creationId xmlns:a16="http://schemas.microsoft.com/office/drawing/2014/main" id="{9818959E-63AB-1D94-AE27-1B97EDC5DCA0}"/>
                  </a:ext>
                </a:extLst>
              </p:cNvPr>
              <p:cNvSpPr>
                <a:spLocks noChangeArrowheads="1"/>
              </p:cNvSpPr>
              <p:nvPr/>
            </p:nvSpPr>
            <p:spPr bwMode="auto">
              <a:xfrm>
                <a:off x="4999" y="2098"/>
                <a:ext cx="127" cy="321"/>
              </a:xfrm>
              <a:prstGeom prst="rect">
                <a:avLst/>
              </a:prstGeom>
              <a:solidFill>
                <a:schemeClr val="bg1"/>
              </a:solidFill>
              <a:ln w="38100">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2" name="Text Box 55">
                <a:extLst>
                  <a:ext uri="{FF2B5EF4-FFF2-40B4-BE49-F238E27FC236}">
                    <a16:creationId xmlns:a16="http://schemas.microsoft.com/office/drawing/2014/main" id="{E8E0E711-C461-3DCE-7381-7D605446A432}"/>
                  </a:ext>
                </a:extLst>
              </p:cNvPr>
              <p:cNvSpPr txBox="1">
                <a:spLocks noChangeArrowheads="1"/>
              </p:cNvSpPr>
              <p:nvPr/>
            </p:nvSpPr>
            <p:spPr bwMode="auto">
              <a:xfrm>
                <a:off x="5126" y="2099"/>
                <a:ext cx="32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a:latin typeface="Times New Roman" panose="02020603050405020304" pitchFamily="18" charset="0"/>
                  </a:rPr>
                  <a:t>R</a:t>
                </a:r>
                <a:r>
                  <a:rPr lang="en-US" altLang="zh-CN" sz="2400" b="0" baseline="-10000">
                    <a:latin typeface="Times New Roman" panose="02020603050405020304" pitchFamily="18" charset="0"/>
                  </a:rPr>
                  <a:t>C</a:t>
                </a:r>
              </a:p>
            </p:txBody>
          </p:sp>
        </p:grpSp>
        <p:grpSp>
          <p:nvGrpSpPr>
            <p:cNvPr id="44" name="Group 71">
              <a:extLst>
                <a:ext uri="{FF2B5EF4-FFF2-40B4-BE49-F238E27FC236}">
                  <a16:creationId xmlns:a16="http://schemas.microsoft.com/office/drawing/2014/main" id="{ECF4AF66-17A0-E67E-459B-A593BFB3F8C9}"/>
                </a:ext>
              </a:extLst>
            </p:cNvPr>
            <p:cNvGrpSpPr>
              <a:grpSpLocks/>
            </p:cNvGrpSpPr>
            <p:nvPr/>
          </p:nvGrpSpPr>
          <p:grpSpPr bwMode="auto">
            <a:xfrm>
              <a:off x="4422" y="2228"/>
              <a:ext cx="403" cy="594"/>
              <a:chOff x="4422" y="2228"/>
              <a:chExt cx="403" cy="594"/>
            </a:xfrm>
          </p:grpSpPr>
          <p:sp>
            <p:nvSpPr>
              <p:cNvPr id="46" name="Line 43">
                <a:extLst>
                  <a:ext uri="{FF2B5EF4-FFF2-40B4-BE49-F238E27FC236}">
                    <a16:creationId xmlns:a16="http://schemas.microsoft.com/office/drawing/2014/main" id="{F7A6E7CC-D384-91FF-2872-E53E2D43115E}"/>
                  </a:ext>
                </a:extLst>
              </p:cNvPr>
              <p:cNvSpPr>
                <a:spLocks noChangeShapeType="1"/>
              </p:cNvSpPr>
              <p:nvPr/>
            </p:nvSpPr>
            <p:spPr bwMode="auto">
              <a:xfrm>
                <a:off x="4601" y="2601"/>
                <a:ext cx="0" cy="162"/>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7" name="Line 44">
                <a:extLst>
                  <a:ext uri="{FF2B5EF4-FFF2-40B4-BE49-F238E27FC236}">
                    <a16:creationId xmlns:a16="http://schemas.microsoft.com/office/drawing/2014/main" id="{AEAD03DB-FBF1-2EBC-2B5D-9568EBB6B15B}"/>
                  </a:ext>
                </a:extLst>
              </p:cNvPr>
              <p:cNvSpPr>
                <a:spLocks noChangeShapeType="1"/>
              </p:cNvSpPr>
              <p:nvPr/>
            </p:nvSpPr>
            <p:spPr bwMode="auto">
              <a:xfrm>
                <a:off x="4685" y="2533"/>
                <a:ext cx="0" cy="289"/>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8" name="Line 48">
                <a:extLst>
                  <a:ext uri="{FF2B5EF4-FFF2-40B4-BE49-F238E27FC236}">
                    <a16:creationId xmlns:a16="http://schemas.microsoft.com/office/drawing/2014/main" id="{5C282C61-DE45-028A-9BD5-89AC48455309}"/>
                  </a:ext>
                </a:extLst>
              </p:cNvPr>
              <p:cNvSpPr>
                <a:spLocks noChangeShapeType="1"/>
              </p:cNvSpPr>
              <p:nvPr/>
            </p:nvSpPr>
            <p:spPr bwMode="auto">
              <a:xfrm>
                <a:off x="4423" y="2601"/>
                <a:ext cx="0" cy="162"/>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9" name="Line 49">
                <a:extLst>
                  <a:ext uri="{FF2B5EF4-FFF2-40B4-BE49-F238E27FC236}">
                    <a16:creationId xmlns:a16="http://schemas.microsoft.com/office/drawing/2014/main" id="{0C13D1AA-5DA5-31AD-E276-5E5250D4F0D4}"/>
                  </a:ext>
                </a:extLst>
              </p:cNvPr>
              <p:cNvSpPr>
                <a:spLocks noChangeShapeType="1"/>
              </p:cNvSpPr>
              <p:nvPr/>
            </p:nvSpPr>
            <p:spPr bwMode="auto">
              <a:xfrm>
                <a:off x="4507" y="2533"/>
                <a:ext cx="0" cy="289"/>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0" name="Text Box 57">
                <a:extLst>
                  <a:ext uri="{FF2B5EF4-FFF2-40B4-BE49-F238E27FC236}">
                    <a16:creationId xmlns:a16="http://schemas.microsoft.com/office/drawing/2014/main" id="{44631040-C8F5-47AA-0E52-70CA4C51EF8F}"/>
                  </a:ext>
                </a:extLst>
              </p:cNvPr>
              <p:cNvSpPr txBox="1">
                <a:spLocks noChangeArrowheads="1"/>
              </p:cNvSpPr>
              <p:nvPr/>
            </p:nvSpPr>
            <p:spPr bwMode="auto">
              <a:xfrm>
                <a:off x="4422" y="2228"/>
                <a:ext cx="40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V</a:t>
                </a:r>
                <a:r>
                  <a:rPr lang="en-US" altLang="zh-CN" sz="2400" b="0" baseline="-10000">
                    <a:latin typeface="Times New Roman" panose="02020603050405020304" pitchFamily="18" charset="0"/>
                  </a:rPr>
                  <a:t>CC</a:t>
                </a:r>
              </a:p>
            </p:txBody>
          </p:sp>
        </p:grpSp>
        <p:sp>
          <p:nvSpPr>
            <p:cNvPr id="45" name="Line 68">
              <a:extLst>
                <a:ext uri="{FF2B5EF4-FFF2-40B4-BE49-F238E27FC236}">
                  <a16:creationId xmlns:a16="http://schemas.microsoft.com/office/drawing/2014/main" id="{F15C7A0F-6675-1B44-B4CC-D6BD069D0DD4}"/>
                </a:ext>
              </a:extLst>
            </p:cNvPr>
            <p:cNvSpPr>
              <a:spLocks noChangeShapeType="1"/>
            </p:cNvSpPr>
            <p:nvPr/>
          </p:nvSpPr>
          <p:spPr bwMode="auto">
            <a:xfrm rot="-5400000">
              <a:off x="4286" y="2546"/>
              <a:ext cx="0" cy="27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344431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5FDEA5-ED1C-9FB0-E932-93B6B1A596B4}"/>
              </a:ext>
            </a:extLst>
          </p:cNvPr>
          <p:cNvSpPr>
            <a:spLocks noGrp="1"/>
          </p:cNvSpPr>
          <p:nvPr>
            <p:ph type="title"/>
          </p:nvPr>
        </p:nvSpPr>
        <p:spPr/>
        <p:txBody>
          <a:bodyPr>
            <a:normAutofit fontScale="90000"/>
          </a:bodyPr>
          <a:lstStyle/>
          <a:p>
            <a:r>
              <a:rPr kumimoji="1" lang="en-US" altLang="zh-CN" dirty="0"/>
              <a:t>BJT</a:t>
            </a:r>
            <a:r>
              <a:rPr lang="zh-CN" altLang="en-US" dirty="0"/>
              <a:t>电流分配关系（</a:t>
            </a:r>
            <a:r>
              <a:rPr lang="en-US" altLang="zh-CN" dirty="0"/>
              <a:t>NPN</a:t>
            </a:r>
            <a:r>
              <a:rPr lang="zh-CN" altLang="en-US" dirty="0"/>
              <a:t>）</a:t>
            </a:r>
            <a:endParaRPr kumimoji="1" lang="zh-CN" altLang="en-US" dirty="0"/>
          </a:p>
        </p:txBody>
      </p:sp>
      <p:sp>
        <p:nvSpPr>
          <p:cNvPr id="3" name="内容占位符 2">
            <a:extLst>
              <a:ext uri="{FF2B5EF4-FFF2-40B4-BE49-F238E27FC236}">
                <a16:creationId xmlns:a16="http://schemas.microsoft.com/office/drawing/2014/main" id="{CB87B208-FEED-8A13-08C3-55D111DCCA90}"/>
              </a:ext>
            </a:extLst>
          </p:cNvPr>
          <p:cNvSpPr>
            <a:spLocks noGrp="1"/>
          </p:cNvSpPr>
          <p:nvPr>
            <p:ph idx="1"/>
          </p:nvPr>
        </p:nvSpPr>
        <p:spPr/>
        <p:txBody>
          <a:bodyPr/>
          <a:lstStyle/>
          <a:p>
            <a:r>
              <a:rPr kumimoji="1" lang="zh-CN" altLang="en-US" sz="2800" dirty="0">
                <a:latin typeface="Times New Roman" panose="02020603050405020304" pitchFamily="18" charset="0"/>
              </a:rPr>
              <a:t>发射区多子电子向基区扩散形成电流</a:t>
            </a:r>
            <a:r>
              <a:rPr kumimoji="1" lang="en-US" altLang="zh-CN" sz="2800" dirty="0">
                <a:latin typeface="Times New Roman" panose="02020603050405020304" pitchFamily="18" charset="0"/>
              </a:rPr>
              <a:t>I</a:t>
            </a:r>
            <a:r>
              <a:rPr kumimoji="1" lang="en-US" altLang="zh-CN" sz="2000" dirty="0">
                <a:latin typeface="Times New Roman" panose="02020603050405020304" pitchFamily="18" charset="0"/>
              </a:rPr>
              <a:t>EN</a:t>
            </a:r>
          </a:p>
          <a:p>
            <a:pPr lvl="1"/>
            <a:r>
              <a:rPr kumimoji="1" lang="zh-CN" altLang="en-US" sz="2400" dirty="0">
                <a:latin typeface="Times New Roman" panose="02020603050405020304" pitchFamily="18" charset="0"/>
              </a:rPr>
              <a:t>在基区被复合的电子形成电流</a:t>
            </a:r>
            <a:r>
              <a:rPr kumimoji="1" lang="en-US" altLang="zh-CN" sz="2400" dirty="0">
                <a:latin typeface="Times New Roman" panose="02020603050405020304" pitchFamily="18" charset="0"/>
              </a:rPr>
              <a:t>I</a:t>
            </a:r>
            <a:r>
              <a:rPr kumimoji="1" lang="en-US" altLang="zh-CN" sz="1800" dirty="0">
                <a:latin typeface="Times New Roman" panose="02020603050405020304" pitchFamily="18" charset="0"/>
              </a:rPr>
              <a:t>BN</a:t>
            </a:r>
          </a:p>
          <a:p>
            <a:pPr lvl="1"/>
            <a:r>
              <a:rPr kumimoji="1" lang="zh-CN" altLang="en-US" sz="2400" dirty="0">
                <a:latin typeface="Times New Roman" panose="02020603050405020304" pitchFamily="18" charset="0"/>
              </a:rPr>
              <a:t>余下电子向集电区漂移形成电流</a:t>
            </a:r>
            <a:r>
              <a:rPr kumimoji="1" lang="en-US" altLang="zh-CN" sz="2400" dirty="0">
                <a:latin typeface="Times New Roman" panose="02020603050405020304" pitchFamily="18" charset="0"/>
              </a:rPr>
              <a:t>I</a:t>
            </a:r>
            <a:r>
              <a:rPr kumimoji="1" lang="en-US" altLang="zh-CN" sz="1800" dirty="0">
                <a:latin typeface="Times New Roman" panose="02020603050405020304" pitchFamily="18" charset="0"/>
              </a:rPr>
              <a:t>CN</a:t>
            </a:r>
            <a:endParaRPr kumimoji="1" lang="zh-CN" altLang="en-US" sz="1800" dirty="0">
              <a:latin typeface="Times New Roman" panose="02020603050405020304" pitchFamily="18" charset="0"/>
            </a:endParaRPr>
          </a:p>
          <a:p>
            <a:r>
              <a:rPr kumimoji="1" lang="zh-CN" altLang="en-US" sz="2800" dirty="0">
                <a:latin typeface="Times New Roman" panose="02020603050405020304" pitchFamily="18" charset="0"/>
              </a:rPr>
              <a:t>基区多子空穴向发射区扩散形成电流</a:t>
            </a:r>
            <a:r>
              <a:rPr kumimoji="1" lang="en-US" altLang="zh-CN" sz="2800" dirty="0">
                <a:latin typeface="Times New Roman" panose="02020603050405020304" pitchFamily="18" charset="0"/>
              </a:rPr>
              <a:t>I</a:t>
            </a:r>
            <a:r>
              <a:rPr kumimoji="1" lang="en-US" altLang="zh-CN" sz="2000" dirty="0">
                <a:latin typeface="Times New Roman" panose="02020603050405020304" pitchFamily="18" charset="0"/>
              </a:rPr>
              <a:t>EP</a:t>
            </a:r>
          </a:p>
          <a:p>
            <a:r>
              <a:rPr kumimoji="1" lang="zh-CN" altLang="en-US" sz="2800" dirty="0">
                <a:latin typeface="Times New Roman" panose="02020603050405020304" pitchFamily="18" charset="0"/>
              </a:rPr>
              <a:t>集电结两侧少子形成漂移电流</a:t>
            </a:r>
            <a:r>
              <a:rPr kumimoji="1" lang="en-US" altLang="zh-CN" sz="2800" dirty="0">
                <a:latin typeface="Times New Roman" panose="02020603050405020304" pitchFamily="18" charset="0"/>
              </a:rPr>
              <a:t>I</a:t>
            </a:r>
            <a:r>
              <a:rPr kumimoji="1" lang="en-US" altLang="zh-CN" sz="2000" dirty="0">
                <a:latin typeface="Times New Roman" panose="02020603050405020304" pitchFamily="18" charset="0"/>
              </a:rPr>
              <a:t>CBO</a:t>
            </a:r>
            <a:endParaRPr kumimoji="1" lang="zh-CN" altLang="en-US" sz="2000" dirty="0">
              <a:latin typeface="Times New Roman" panose="02020603050405020304" pitchFamily="18" charset="0"/>
            </a:endParaRPr>
          </a:p>
          <a:p>
            <a:endParaRPr kumimoji="1" lang="zh-CN" altLang="en-US" dirty="0"/>
          </a:p>
        </p:txBody>
      </p:sp>
      <p:sp>
        <p:nvSpPr>
          <p:cNvPr id="4" name="页脚占位符 3">
            <a:extLst>
              <a:ext uri="{FF2B5EF4-FFF2-40B4-BE49-F238E27FC236}">
                <a16:creationId xmlns:a16="http://schemas.microsoft.com/office/drawing/2014/main" id="{EBF0FC20-9471-C9ED-EDD3-879039DDC36A}"/>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D18C663A-DC4D-B647-FF09-5F73B40B558D}"/>
              </a:ext>
            </a:extLst>
          </p:cNvPr>
          <p:cNvSpPr>
            <a:spLocks noGrp="1"/>
          </p:cNvSpPr>
          <p:nvPr>
            <p:ph type="sldNum" sz="quarter" idx="12"/>
          </p:nvPr>
        </p:nvSpPr>
        <p:spPr/>
        <p:txBody>
          <a:bodyPr/>
          <a:lstStyle/>
          <a:p>
            <a:fld id="{9E260BC5-5BF3-8746-862B-DC45E9CAA88B}" type="slidenum">
              <a:rPr lang="en-US" smtClean="0"/>
              <a:pPr/>
              <a:t>6</a:t>
            </a:fld>
            <a:r>
              <a:rPr lang="en-US" altLang="zh-CN" dirty="0"/>
              <a:t>/33</a:t>
            </a:r>
            <a:endParaRPr lang="en-US" dirty="0"/>
          </a:p>
        </p:txBody>
      </p:sp>
      <p:graphicFrame>
        <p:nvGraphicFramePr>
          <p:cNvPr id="6" name="Object 5">
            <a:extLst>
              <a:ext uri="{FF2B5EF4-FFF2-40B4-BE49-F238E27FC236}">
                <a16:creationId xmlns:a16="http://schemas.microsoft.com/office/drawing/2014/main" id="{92EDBA8A-137E-8303-2A65-7062767EF297}"/>
              </a:ext>
            </a:extLst>
          </p:cNvPr>
          <p:cNvGraphicFramePr>
            <a:graphicFrameLocks noChangeAspect="1"/>
          </p:cNvGraphicFramePr>
          <p:nvPr>
            <p:extLst>
              <p:ext uri="{D42A27DB-BD31-4B8C-83A1-F6EECF244321}">
                <p14:modId xmlns:p14="http://schemas.microsoft.com/office/powerpoint/2010/main" val="1552170733"/>
              </p:ext>
            </p:extLst>
          </p:nvPr>
        </p:nvGraphicFramePr>
        <p:xfrm>
          <a:off x="909927" y="3473450"/>
          <a:ext cx="1758950" cy="458787"/>
        </p:xfrm>
        <a:graphic>
          <a:graphicData uri="http://schemas.openxmlformats.org/presentationml/2006/ole">
            <mc:AlternateContent xmlns:mc="http://schemas.openxmlformats.org/markup-compatibility/2006">
              <mc:Choice xmlns:v="urn:schemas-microsoft-com:vml" Requires="v">
                <p:oleObj name="公式" r:id="rId3" imgW="939800" imgH="228600" progId="Equation.3">
                  <p:embed/>
                </p:oleObj>
              </mc:Choice>
              <mc:Fallback>
                <p:oleObj name="公式" r:id="rId3" imgW="939800" imgH="228600" progId="Equation.3">
                  <p:embed/>
                  <p:pic>
                    <p:nvPicPr>
                      <p:cNvPr id="16391" name="Object 5"/>
                      <p:cNvPicPr>
                        <a:picLocks noChangeAspect="1" noChangeArrowheads="1"/>
                      </p:cNvPicPr>
                      <p:nvPr/>
                    </p:nvPicPr>
                    <p:blipFill>
                      <a:blip r:embed="rId4">
                        <a:lum contrast="12000"/>
                        <a:grayscl/>
                        <a:biLevel thresh="50000"/>
                        <a:extLst>
                          <a:ext uri="{28A0092B-C50C-407E-A947-70E740481C1C}">
                            <a14:useLocalDpi xmlns:a14="http://schemas.microsoft.com/office/drawing/2010/main" val="0"/>
                          </a:ext>
                        </a:extLst>
                      </a:blip>
                      <a:srcRect/>
                      <a:stretch>
                        <a:fillRect/>
                      </a:stretch>
                    </p:blipFill>
                    <p:spPr bwMode="auto">
                      <a:xfrm>
                        <a:off x="909927" y="3473450"/>
                        <a:ext cx="1758950" cy="4587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Object 6">
            <a:extLst>
              <a:ext uri="{FF2B5EF4-FFF2-40B4-BE49-F238E27FC236}">
                <a16:creationId xmlns:a16="http://schemas.microsoft.com/office/drawing/2014/main" id="{06E63E6D-A501-A14D-6931-37770A7C17DF}"/>
              </a:ext>
            </a:extLst>
          </p:cNvPr>
          <p:cNvGraphicFramePr>
            <a:graphicFrameLocks noChangeAspect="1"/>
          </p:cNvGraphicFramePr>
          <p:nvPr>
            <p:extLst>
              <p:ext uri="{D42A27DB-BD31-4B8C-83A1-F6EECF244321}">
                <p14:modId xmlns:p14="http://schemas.microsoft.com/office/powerpoint/2010/main" val="1700522293"/>
              </p:ext>
            </p:extLst>
          </p:nvPr>
        </p:nvGraphicFramePr>
        <p:xfrm>
          <a:off x="905164" y="4733925"/>
          <a:ext cx="1733550" cy="458787"/>
        </p:xfrm>
        <a:graphic>
          <a:graphicData uri="http://schemas.openxmlformats.org/presentationml/2006/ole">
            <mc:AlternateContent xmlns:mc="http://schemas.openxmlformats.org/markup-compatibility/2006">
              <mc:Choice xmlns:v="urn:schemas-microsoft-com:vml" Requires="v">
                <p:oleObj name="公式" r:id="rId5" imgW="927100" imgH="228600" progId="Equation.3">
                  <p:embed/>
                </p:oleObj>
              </mc:Choice>
              <mc:Fallback>
                <p:oleObj name="公式" r:id="rId5" imgW="927100" imgH="228600" progId="Equation.3">
                  <p:embed/>
                  <p:pic>
                    <p:nvPicPr>
                      <p:cNvPr id="16392" name="Object 6"/>
                      <p:cNvPicPr>
                        <a:picLocks noChangeAspect="1" noChangeArrowheads="1"/>
                      </p:cNvPicPr>
                      <p:nvPr/>
                    </p:nvPicPr>
                    <p:blipFill>
                      <a:blip r:embed="rId6">
                        <a:lum contrast="12000"/>
                        <a:grayscl/>
                        <a:biLevel thresh="50000"/>
                        <a:extLst>
                          <a:ext uri="{28A0092B-C50C-407E-A947-70E740481C1C}">
                            <a14:useLocalDpi xmlns:a14="http://schemas.microsoft.com/office/drawing/2010/main" val="0"/>
                          </a:ext>
                        </a:extLst>
                      </a:blip>
                      <a:srcRect/>
                      <a:stretch>
                        <a:fillRect/>
                      </a:stretch>
                    </p:blipFill>
                    <p:spPr bwMode="auto">
                      <a:xfrm>
                        <a:off x="905164" y="4733925"/>
                        <a:ext cx="1733550" cy="4587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7">
            <a:extLst>
              <a:ext uri="{FF2B5EF4-FFF2-40B4-BE49-F238E27FC236}">
                <a16:creationId xmlns:a16="http://schemas.microsoft.com/office/drawing/2014/main" id="{84F25BCE-F333-18B7-AB57-088113703373}"/>
              </a:ext>
            </a:extLst>
          </p:cNvPr>
          <p:cNvGraphicFramePr>
            <a:graphicFrameLocks noChangeAspect="1"/>
          </p:cNvGraphicFramePr>
          <p:nvPr>
            <p:extLst>
              <p:ext uri="{D42A27DB-BD31-4B8C-83A1-F6EECF244321}">
                <p14:modId xmlns:p14="http://schemas.microsoft.com/office/powerpoint/2010/main" val="1701039881"/>
              </p:ext>
            </p:extLst>
          </p:nvPr>
        </p:nvGraphicFramePr>
        <p:xfrm>
          <a:off x="905164" y="4122737"/>
          <a:ext cx="1590675" cy="458788"/>
        </p:xfrm>
        <a:graphic>
          <a:graphicData uri="http://schemas.openxmlformats.org/presentationml/2006/ole">
            <mc:AlternateContent xmlns:mc="http://schemas.openxmlformats.org/markup-compatibility/2006">
              <mc:Choice xmlns:v="urn:schemas-microsoft-com:vml" Requires="v">
                <p:oleObj name="公式" r:id="rId7" imgW="850900" imgH="228600" progId="Equation.3">
                  <p:embed/>
                </p:oleObj>
              </mc:Choice>
              <mc:Fallback>
                <p:oleObj name="公式" r:id="rId7" imgW="850900" imgH="228600" progId="Equation.3">
                  <p:embed/>
                  <p:pic>
                    <p:nvPicPr>
                      <p:cNvPr id="16393" name="Object 7"/>
                      <p:cNvPicPr>
                        <a:picLocks noChangeAspect="1" noChangeArrowheads="1"/>
                      </p:cNvPicPr>
                      <p:nvPr/>
                    </p:nvPicPr>
                    <p:blipFill>
                      <a:blip r:embed="rId8">
                        <a:lum contrast="12000"/>
                        <a:grayscl/>
                        <a:biLevel thresh="50000"/>
                        <a:extLst>
                          <a:ext uri="{28A0092B-C50C-407E-A947-70E740481C1C}">
                            <a14:useLocalDpi xmlns:a14="http://schemas.microsoft.com/office/drawing/2010/main" val="0"/>
                          </a:ext>
                        </a:extLst>
                      </a:blip>
                      <a:srcRect/>
                      <a:stretch>
                        <a:fillRect/>
                      </a:stretch>
                    </p:blipFill>
                    <p:spPr bwMode="auto">
                      <a:xfrm>
                        <a:off x="905164" y="4122737"/>
                        <a:ext cx="1590675" cy="4587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8">
            <a:extLst>
              <a:ext uri="{FF2B5EF4-FFF2-40B4-BE49-F238E27FC236}">
                <a16:creationId xmlns:a16="http://schemas.microsoft.com/office/drawing/2014/main" id="{2E7B766C-7DB8-4BB0-B4C3-804C6CD12779}"/>
              </a:ext>
            </a:extLst>
          </p:cNvPr>
          <p:cNvGraphicFramePr>
            <a:graphicFrameLocks noChangeAspect="1"/>
          </p:cNvGraphicFramePr>
          <p:nvPr>
            <p:extLst>
              <p:ext uri="{D42A27DB-BD31-4B8C-83A1-F6EECF244321}">
                <p14:modId xmlns:p14="http://schemas.microsoft.com/office/powerpoint/2010/main" val="151505287"/>
              </p:ext>
            </p:extLst>
          </p:nvPr>
        </p:nvGraphicFramePr>
        <p:xfrm>
          <a:off x="905164" y="5373687"/>
          <a:ext cx="1376363" cy="458788"/>
        </p:xfrm>
        <a:graphic>
          <a:graphicData uri="http://schemas.openxmlformats.org/presentationml/2006/ole">
            <mc:AlternateContent xmlns:mc="http://schemas.openxmlformats.org/markup-compatibility/2006">
              <mc:Choice xmlns:v="urn:schemas-microsoft-com:vml" Requires="v">
                <p:oleObj name="公式" r:id="rId9" imgW="736600" imgH="228600" progId="Equation.3">
                  <p:embed/>
                </p:oleObj>
              </mc:Choice>
              <mc:Fallback>
                <p:oleObj name="公式" r:id="rId9" imgW="736600" imgH="228600" progId="Equation.3">
                  <p:embed/>
                  <p:pic>
                    <p:nvPicPr>
                      <p:cNvPr id="16394" name="Object 8"/>
                      <p:cNvPicPr>
                        <a:picLocks noChangeAspect="1" noChangeArrowheads="1"/>
                      </p:cNvPicPr>
                      <p:nvPr/>
                    </p:nvPicPr>
                    <p:blipFill>
                      <a:blip r:embed="rId10">
                        <a:lum contrast="12000"/>
                        <a:grayscl/>
                        <a:biLevel thresh="50000"/>
                        <a:extLst>
                          <a:ext uri="{28A0092B-C50C-407E-A947-70E740481C1C}">
                            <a14:useLocalDpi xmlns:a14="http://schemas.microsoft.com/office/drawing/2010/main" val="0"/>
                          </a:ext>
                        </a:extLst>
                      </a:blip>
                      <a:srcRect/>
                      <a:stretch>
                        <a:fillRect/>
                      </a:stretch>
                    </p:blipFill>
                    <p:spPr bwMode="auto">
                      <a:xfrm>
                        <a:off x="905164" y="5373687"/>
                        <a:ext cx="1376363" cy="4587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0" name="Picture 9">
            <a:extLst>
              <a:ext uri="{FF2B5EF4-FFF2-40B4-BE49-F238E27FC236}">
                <a16:creationId xmlns:a16="http://schemas.microsoft.com/office/drawing/2014/main" id="{475E865C-D93E-8997-F6AF-75B7BEAFF5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7189" y="3429000"/>
            <a:ext cx="5441950" cy="2533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4195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7E152C-DAAA-4A54-ED1E-0B386BDABE79}"/>
              </a:ext>
            </a:extLst>
          </p:cNvPr>
          <p:cNvSpPr>
            <a:spLocks noGrp="1"/>
          </p:cNvSpPr>
          <p:nvPr>
            <p:ph type="title"/>
          </p:nvPr>
        </p:nvSpPr>
        <p:spPr/>
        <p:txBody>
          <a:bodyPr>
            <a:normAutofit fontScale="90000"/>
          </a:bodyPr>
          <a:lstStyle/>
          <a:p>
            <a:r>
              <a:rPr kumimoji="1" lang="en-US" altLang="zh-CN" dirty="0"/>
              <a:t>BJT</a:t>
            </a:r>
            <a:r>
              <a:rPr lang="zh-CN" altLang="en-US" dirty="0"/>
              <a:t>电流</a:t>
            </a:r>
            <a:r>
              <a:rPr lang="zh-CN" altLang="en-US" dirty="0">
                <a:latin typeface="Times New Roman" panose="02020603050405020304" pitchFamily="18" charset="0"/>
              </a:rPr>
              <a:t>分配关系 </a:t>
            </a:r>
            <a:r>
              <a:rPr lang="en-US" altLang="zh-CN" dirty="0">
                <a:latin typeface="Times New Roman" panose="02020603050405020304" pitchFamily="18" charset="0"/>
              </a:rPr>
              <a:t>(</a:t>
            </a:r>
            <a:r>
              <a:rPr lang="zh-CN" altLang="en-US" dirty="0">
                <a:latin typeface="Times New Roman" panose="02020603050405020304" pitchFamily="18" charset="0"/>
              </a:rPr>
              <a:t>续</a:t>
            </a:r>
            <a:r>
              <a:rPr lang="en-US" altLang="zh-CN" dirty="0">
                <a:latin typeface="Times New Roman" panose="02020603050405020304" pitchFamily="18" charset="0"/>
              </a:rPr>
              <a:t>)</a:t>
            </a:r>
            <a:endParaRPr kumimoji="1" lang="zh-CN" altLang="en-US" dirty="0"/>
          </a:p>
        </p:txBody>
      </p:sp>
      <p:sp>
        <p:nvSpPr>
          <p:cNvPr id="4" name="页脚占位符 3">
            <a:extLst>
              <a:ext uri="{FF2B5EF4-FFF2-40B4-BE49-F238E27FC236}">
                <a16:creationId xmlns:a16="http://schemas.microsoft.com/office/drawing/2014/main" id="{7F91ADB4-368C-6BC0-0108-2D21658EEC7A}"/>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7A331274-B1A3-FCD7-6F0F-1F31F0509376}"/>
              </a:ext>
            </a:extLst>
          </p:cNvPr>
          <p:cNvSpPr>
            <a:spLocks noGrp="1"/>
          </p:cNvSpPr>
          <p:nvPr>
            <p:ph type="sldNum" sz="quarter" idx="12"/>
          </p:nvPr>
        </p:nvSpPr>
        <p:spPr/>
        <p:txBody>
          <a:bodyPr/>
          <a:lstStyle/>
          <a:p>
            <a:fld id="{9E260BC5-5BF3-8746-862B-DC45E9CAA88B}" type="slidenum">
              <a:rPr lang="en-US" smtClean="0"/>
              <a:pPr/>
              <a:t>7</a:t>
            </a:fld>
            <a:r>
              <a:rPr lang="en-US" altLang="zh-CN" dirty="0"/>
              <a:t>/33</a:t>
            </a:r>
            <a:endParaRPr lang="en-US" dirty="0"/>
          </a:p>
        </p:txBody>
      </p:sp>
      <p:graphicFrame>
        <p:nvGraphicFramePr>
          <p:cNvPr id="6" name="Object 8">
            <a:extLst>
              <a:ext uri="{FF2B5EF4-FFF2-40B4-BE49-F238E27FC236}">
                <a16:creationId xmlns:a16="http://schemas.microsoft.com/office/drawing/2014/main" id="{93072554-5F0E-ED5B-6A92-E543A021A6E1}"/>
              </a:ext>
            </a:extLst>
          </p:cNvPr>
          <p:cNvGraphicFramePr>
            <a:graphicFrameLocks noChangeAspect="1"/>
          </p:cNvGraphicFramePr>
          <p:nvPr>
            <p:extLst>
              <p:ext uri="{D42A27DB-BD31-4B8C-83A1-F6EECF244321}">
                <p14:modId xmlns:p14="http://schemas.microsoft.com/office/powerpoint/2010/main" val="1634325445"/>
              </p:ext>
            </p:extLst>
          </p:nvPr>
        </p:nvGraphicFramePr>
        <p:xfrm>
          <a:off x="506269" y="510639"/>
          <a:ext cx="7245350" cy="952500"/>
        </p:xfrm>
        <a:graphic>
          <a:graphicData uri="http://schemas.openxmlformats.org/presentationml/2006/ole">
            <mc:AlternateContent xmlns:mc="http://schemas.openxmlformats.org/markup-compatibility/2006">
              <mc:Choice xmlns:v="urn:schemas-microsoft-com:vml" Requires="v">
                <p:oleObj name="公式" r:id="rId3" imgW="3200400" imgH="431800" progId="Equation.3">
                  <p:embed/>
                </p:oleObj>
              </mc:Choice>
              <mc:Fallback>
                <p:oleObj name="公式" r:id="rId3" imgW="3200400" imgH="431800" progId="Equation.3">
                  <p:embed/>
                  <p:pic>
                    <p:nvPicPr>
                      <p:cNvPr id="18443"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269" y="510639"/>
                        <a:ext cx="7245350" cy="9525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7" name="Picture 2">
            <a:extLst>
              <a:ext uri="{FF2B5EF4-FFF2-40B4-BE49-F238E27FC236}">
                <a16:creationId xmlns:a16="http://schemas.microsoft.com/office/drawing/2014/main" id="{202C4AD8-9864-713F-E1B1-C276FA4FD8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0383" y="1814086"/>
            <a:ext cx="5456237" cy="2454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B6D3E68A-D4D1-5AF7-C9C6-C6C69ADBD80F}"/>
              </a:ext>
            </a:extLst>
          </p:cNvPr>
          <p:cNvSpPr txBox="1">
            <a:spLocks noChangeArrowheads="1"/>
          </p:cNvSpPr>
          <p:nvPr/>
        </p:nvSpPr>
        <p:spPr>
          <a:xfrm>
            <a:off x="506269" y="3946892"/>
            <a:ext cx="7929562" cy="71913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accent1">
                    <a:lumMod val="50000"/>
                  </a:schemeClr>
                </a:solidFill>
                <a:latin typeface="+mj-ea"/>
                <a:ea typeface="+mj-ea"/>
                <a:cs typeface="+mn-cs"/>
              </a:defRPr>
            </a:lvl1pPr>
            <a:lvl2pPr marL="742950" indent="-285750" algn="l" defTabSz="457200" rtl="0" eaLnBrk="1" latinLnBrk="0" hangingPunct="1">
              <a:spcBef>
                <a:spcPct val="20000"/>
              </a:spcBef>
              <a:buFont typeface="Arial"/>
              <a:buChar char="–"/>
              <a:defRPr sz="2400" kern="1200">
                <a:solidFill>
                  <a:schemeClr val="accent1">
                    <a:lumMod val="75000"/>
                  </a:schemeClr>
                </a:solidFill>
                <a:latin typeface="+mj-ea"/>
                <a:ea typeface="+mj-ea"/>
                <a:cs typeface="+mn-cs"/>
              </a:defRPr>
            </a:lvl2pPr>
            <a:lvl3pPr marL="11430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3pPr>
            <a:lvl4pPr marL="16002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4pPr>
            <a:lvl5pPr marL="2057400" indent="-228600" algn="l" defTabSz="457200" rtl="0" eaLnBrk="1" latinLnBrk="0" hangingPunct="1">
              <a:spcBef>
                <a:spcPct val="20000"/>
              </a:spcBef>
              <a:buFont typeface="Arial"/>
              <a:buChar char="»"/>
              <a:defRPr sz="2000" kern="1200">
                <a:solidFill>
                  <a:schemeClr val="tx1">
                    <a:lumMod val="50000"/>
                    <a:lumOff val="50000"/>
                  </a:schemeClr>
                </a:solidFill>
                <a:latin typeface="+mj-ea"/>
                <a:ea typeface="+mj-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10000"/>
              </a:lnSpc>
              <a:spcAft>
                <a:spcPct val="0"/>
              </a:spcAft>
              <a:buFontTx/>
              <a:buNone/>
            </a:pPr>
            <a:r>
              <a:rPr kumimoji="1" lang="zh-CN" altLang="en-US" sz="2400">
                <a:latin typeface="Times New Roman" panose="02020603050405020304" pitchFamily="18" charset="0"/>
              </a:rPr>
              <a:t>一般</a:t>
            </a:r>
            <a:r>
              <a:rPr kumimoji="1" lang="zh-CN" altLang="en-US" sz="2000">
                <a:latin typeface="Times New Roman" panose="02020603050405020304" pitchFamily="18" charset="0"/>
              </a:rPr>
              <a:t> </a:t>
            </a:r>
            <a:r>
              <a:rPr kumimoji="1" lang="en-US" altLang="zh-CN" sz="2400" i="1">
                <a:latin typeface="Times New Roman" panose="02020603050405020304" pitchFamily="18" charset="0"/>
              </a:rPr>
              <a:t>I</a:t>
            </a:r>
            <a:r>
              <a:rPr kumimoji="1" lang="en-US" altLang="zh-CN" sz="2400" baseline="-25000">
                <a:latin typeface="Times New Roman" panose="02020603050405020304" pitchFamily="18" charset="0"/>
              </a:rPr>
              <a:t>CBO</a:t>
            </a:r>
            <a:r>
              <a:rPr kumimoji="1" lang="zh-CN" altLang="en-US" sz="2400">
                <a:latin typeface="Times New Roman" panose="02020603050405020304" pitchFamily="18" charset="0"/>
              </a:rPr>
              <a:t> </a:t>
            </a:r>
            <a:r>
              <a:rPr kumimoji="1" lang="en-US" altLang="zh-CN" sz="2400">
                <a:latin typeface="Times New Roman" panose="02020603050405020304" pitchFamily="18" charset="0"/>
              </a:rPr>
              <a:t>, </a:t>
            </a:r>
            <a:r>
              <a:rPr kumimoji="1" lang="en-US" altLang="zh-CN" sz="2400" i="1">
                <a:latin typeface="Times New Roman" panose="02020603050405020304" pitchFamily="18" charset="0"/>
              </a:rPr>
              <a:t>I</a:t>
            </a:r>
            <a:r>
              <a:rPr kumimoji="1" lang="en-US" altLang="zh-CN" sz="2400" baseline="-25000">
                <a:latin typeface="Times New Roman" panose="02020603050405020304" pitchFamily="18" charset="0"/>
              </a:rPr>
              <a:t>CEO</a:t>
            </a:r>
            <a:r>
              <a:rPr kumimoji="1" lang="zh-CN" altLang="en-US" sz="2400">
                <a:latin typeface="Times New Roman" panose="02020603050405020304" pitchFamily="18" charset="0"/>
              </a:rPr>
              <a:t>很小，所以有</a:t>
            </a:r>
          </a:p>
        </p:txBody>
      </p:sp>
      <p:graphicFrame>
        <p:nvGraphicFramePr>
          <p:cNvPr id="9" name="Object 5">
            <a:extLst>
              <a:ext uri="{FF2B5EF4-FFF2-40B4-BE49-F238E27FC236}">
                <a16:creationId xmlns:a16="http://schemas.microsoft.com/office/drawing/2014/main" id="{E381F226-A019-1775-1A65-CAD5FB33EDD9}"/>
              </a:ext>
            </a:extLst>
          </p:cNvPr>
          <p:cNvGraphicFramePr>
            <a:graphicFrameLocks noChangeAspect="1"/>
          </p:cNvGraphicFramePr>
          <p:nvPr>
            <p:extLst>
              <p:ext uri="{D42A27DB-BD31-4B8C-83A1-F6EECF244321}">
                <p14:modId xmlns:p14="http://schemas.microsoft.com/office/powerpoint/2010/main" val="1058644339"/>
              </p:ext>
            </p:extLst>
          </p:nvPr>
        </p:nvGraphicFramePr>
        <p:xfrm>
          <a:off x="942831" y="2219692"/>
          <a:ext cx="2176463" cy="503238"/>
        </p:xfrm>
        <a:graphic>
          <a:graphicData uri="http://schemas.openxmlformats.org/presentationml/2006/ole">
            <mc:AlternateContent xmlns:mc="http://schemas.openxmlformats.org/markup-compatibility/2006">
              <mc:Choice xmlns:v="urn:schemas-microsoft-com:vml" Requires="v">
                <p:oleObj name="公式" r:id="rId6" imgW="977900" imgH="228600" progId="Equation.3">
                  <p:embed/>
                </p:oleObj>
              </mc:Choice>
              <mc:Fallback>
                <p:oleObj name="公式" r:id="rId6" imgW="977900" imgH="228600" progId="Equation.3">
                  <p:embed/>
                  <p:pic>
                    <p:nvPicPr>
                      <p:cNvPr id="1844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2831" y="2219692"/>
                        <a:ext cx="2176463" cy="5032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6">
            <a:extLst>
              <a:ext uri="{FF2B5EF4-FFF2-40B4-BE49-F238E27FC236}">
                <a16:creationId xmlns:a16="http://schemas.microsoft.com/office/drawing/2014/main" id="{56DF6FBA-927C-EF95-C219-DCD72DF16208}"/>
              </a:ext>
            </a:extLst>
          </p:cNvPr>
          <p:cNvGraphicFramePr>
            <a:graphicFrameLocks noChangeAspect="1"/>
          </p:cNvGraphicFramePr>
          <p:nvPr>
            <p:extLst>
              <p:ext uri="{D42A27DB-BD31-4B8C-83A1-F6EECF244321}">
                <p14:modId xmlns:p14="http://schemas.microsoft.com/office/powerpoint/2010/main" val="826533851"/>
              </p:ext>
            </p:extLst>
          </p:nvPr>
        </p:nvGraphicFramePr>
        <p:xfrm>
          <a:off x="942831" y="2832467"/>
          <a:ext cx="2146300" cy="503238"/>
        </p:xfrm>
        <a:graphic>
          <a:graphicData uri="http://schemas.openxmlformats.org/presentationml/2006/ole">
            <mc:AlternateContent xmlns:mc="http://schemas.openxmlformats.org/markup-compatibility/2006">
              <mc:Choice xmlns:v="urn:schemas-microsoft-com:vml" Requires="v">
                <p:oleObj name="公式" r:id="rId8" imgW="965200" imgH="228600" progId="Equation.3">
                  <p:embed/>
                </p:oleObj>
              </mc:Choice>
              <mc:Fallback>
                <p:oleObj name="公式" r:id="rId8" imgW="965200" imgH="228600" progId="Equation.3">
                  <p:embed/>
                  <p:pic>
                    <p:nvPicPr>
                      <p:cNvPr id="18441"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2831" y="2832467"/>
                        <a:ext cx="2146300" cy="5032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7">
            <a:extLst>
              <a:ext uri="{FF2B5EF4-FFF2-40B4-BE49-F238E27FC236}">
                <a16:creationId xmlns:a16="http://schemas.microsoft.com/office/drawing/2014/main" id="{071B890B-674E-AF53-8C1F-F452E16ACE41}"/>
              </a:ext>
            </a:extLst>
          </p:cNvPr>
          <p:cNvGraphicFramePr>
            <a:graphicFrameLocks noChangeAspect="1"/>
          </p:cNvGraphicFramePr>
          <p:nvPr>
            <p:extLst>
              <p:ext uri="{D42A27DB-BD31-4B8C-83A1-F6EECF244321}">
                <p14:modId xmlns:p14="http://schemas.microsoft.com/office/powerpoint/2010/main" val="1543103690"/>
              </p:ext>
            </p:extLst>
          </p:nvPr>
        </p:nvGraphicFramePr>
        <p:xfrm>
          <a:off x="942831" y="3407142"/>
          <a:ext cx="2487613" cy="503238"/>
        </p:xfrm>
        <a:graphic>
          <a:graphicData uri="http://schemas.openxmlformats.org/presentationml/2006/ole">
            <mc:AlternateContent xmlns:mc="http://schemas.openxmlformats.org/markup-compatibility/2006">
              <mc:Choice xmlns:v="urn:schemas-microsoft-com:vml" Requires="v">
                <p:oleObj name="公式" r:id="rId10" imgW="1117600" imgH="228600" progId="Equation.3">
                  <p:embed/>
                </p:oleObj>
              </mc:Choice>
              <mc:Fallback>
                <p:oleObj name="公式" r:id="rId10" imgW="1117600" imgH="228600" progId="Equation.3">
                  <p:embed/>
                  <p:pic>
                    <p:nvPicPr>
                      <p:cNvPr id="18442"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2831" y="3407142"/>
                        <a:ext cx="2487613" cy="5032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Text Box 9">
            <a:extLst>
              <a:ext uri="{FF2B5EF4-FFF2-40B4-BE49-F238E27FC236}">
                <a16:creationId xmlns:a16="http://schemas.microsoft.com/office/drawing/2014/main" id="{DCBFC5C0-8224-A9F7-FA07-D2BB9E1BF04D}"/>
              </a:ext>
            </a:extLst>
          </p:cNvPr>
          <p:cNvSpPr txBox="1">
            <a:spLocks noChangeArrowheads="1"/>
          </p:cNvSpPr>
          <p:nvPr/>
        </p:nvSpPr>
        <p:spPr bwMode="auto">
          <a:xfrm>
            <a:off x="515794" y="1678355"/>
            <a:ext cx="104298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得：</a:t>
            </a:r>
          </a:p>
        </p:txBody>
      </p:sp>
      <p:graphicFrame>
        <p:nvGraphicFramePr>
          <p:cNvPr id="13" name="Object 10">
            <a:extLst>
              <a:ext uri="{FF2B5EF4-FFF2-40B4-BE49-F238E27FC236}">
                <a16:creationId xmlns:a16="http://schemas.microsoft.com/office/drawing/2014/main" id="{FA743646-B9D8-C5B5-A300-809E02BCB540}"/>
              </a:ext>
            </a:extLst>
          </p:cNvPr>
          <p:cNvGraphicFramePr>
            <a:graphicFrameLocks noChangeAspect="1"/>
          </p:cNvGraphicFramePr>
          <p:nvPr>
            <p:extLst>
              <p:ext uri="{D42A27DB-BD31-4B8C-83A1-F6EECF244321}">
                <p14:modId xmlns:p14="http://schemas.microsoft.com/office/powerpoint/2010/main" val="2494729591"/>
              </p:ext>
            </p:extLst>
          </p:nvPr>
        </p:nvGraphicFramePr>
        <p:xfrm>
          <a:off x="909494" y="4559667"/>
          <a:ext cx="2693987" cy="525463"/>
        </p:xfrm>
        <a:graphic>
          <a:graphicData uri="http://schemas.openxmlformats.org/presentationml/2006/ole">
            <mc:AlternateContent xmlns:mc="http://schemas.openxmlformats.org/markup-compatibility/2006">
              <mc:Choice xmlns:v="urn:schemas-microsoft-com:vml" Requires="v">
                <p:oleObj name="公式" r:id="rId12" imgW="977900" imgH="228600" progId="Equation.3">
                  <p:embed/>
                </p:oleObj>
              </mc:Choice>
              <mc:Fallback>
                <p:oleObj name="公式" r:id="rId12" imgW="977900" imgH="228600" progId="Equation.3">
                  <p:embed/>
                  <p:pic>
                    <p:nvPicPr>
                      <p:cNvPr id="18445"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9494" y="4559667"/>
                        <a:ext cx="2693987" cy="525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 name="Object 11">
            <a:extLst>
              <a:ext uri="{FF2B5EF4-FFF2-40B4-BE49-F238E27FC236}">
                <a16:creationId xmlns:a16="http://schemas.microsoft.com/office/drawing/2014/main" id="{BA69EF04-BB28-A5AD-4D01-FD3DD448930A}"/>
              </a:ext>
            </a:extLst>
          </p:cNvPr>
          <p:cNvGraphicFramePr>
            <a:graphicFrameLocks noChangeAspect="1"/>
          </p:cNvGraphicFramePr>
          <p:nvPr>
            <p:extLst>
              <p:ext uri="{D42A27DB-BD31-4B8C-83A1-F6EECF244321}">
                <p14:modId xmlns:p14="http://schemas.microsoft.com/office/powerpoint/2010/main" val="2134627439"/>
              </p:ext>
            </p:extLst>
          </p:nvPr>
        </p:nvGraphicFramePr>
        <p:xfrm>
          <a:off x="3665394" y="4573955"/>
          <a:ext cx="2698750" cy="495300"/>
        </p:xfrm>
        <a:graphic>
          <a:graphicData uri="http://schemas.openxmlformats.org/presentationml/2006/ole">
            <mc:AlternateContent xmlns:mc="http://schemas.openxmlformats.org/markup-compatibility/2006">
              <mc:Choice xmlns:v="urn:schemas-microsoft-com:vml" Requires="v">
                <p:oleObj name="公式" r:id="rId14" imgW="977476" imgH="215806" progId="Equation.3">
                  <p:embed/>
                </p:oleObj>
              </mc:Choice>
              <mc:Fallback>
                <p:oleObj name="公式" r:id="rId14" imgW="977476" imgH="215806" progId="Equation.3">
                  <p:embed/>
                  <p:pic>
                    <p:nvPicPr>
                      <p:cNvPr id="18446"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65394" y="4573955"/>
                        <a:ext cx="2698750" cy="4953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 name="Rectangle 13">
            <a:extLst>
              <a:ext uri="{FF2B5EF4-FFF2-40B4-BE49-F238E27FC236}">
                <a16:creationId xmlns:a16="http://schemas.microsoft.com/office/drawing/2014/main" id="{3CA8F13B-D575-76B6-7E88-F0C5396535BD}"/>
              </a:ext>
            </a:extLst>
          </p:cNvPr>
          <p:cNvSpPr>
            <a:spLocks noChangeArrowheads="1"/>
          </p:cNvSpPr>
          <p:nvPr/>
        </p:nvSpPr>
        <p:spPr bwMode="auto">
          <a:xfrm>
            <a:off x="552306" y="5135930"/>
            <a:ext cx="8172450"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l-GR" altLang="zh-CN" sz="2400">
                <a:latin typeface="宋体" panose="02010600030101010101" pitchFamily="2" charset="-122"/>
                <a:cs typeface="Arial" panose="020B0604020202020204" pitchFamily="34" charset="0"/>
              </a:rPr>
              <a:t>α</a:t>
            </a:r>
            <a:r>
              <a:rPr kumimoji="1" lang="zh-CN" altLang="en-US" sz="2400">
                <a:latin typeface="宋体" panose="02010600030101010101" pitchFamily="2" charset="-122"/>
                <a:cs typeface="Arial" panose="020B0604020202020204" pitchFamily="34" charset="0"/>
              </a:rPr>
              <a:t>、</a:t>
            </a:r>
            <a:r>
              <a:rPr kumimoji="1" lang="el-GR" altLang="zh-CN" sz="2400">
                <a:latin typeface="宋体" panose="02010600030101010101" pitchFamily="2" charset="-122"/>
                <a:cs typeface="Arial" panose="020B0604020202020204" pitchFamily="34" charset="0"/>
              </a:rPr>
              <a:t>β</a:t>
            </a:r>
            <a:r>
              <a:rPr kumimoji="1" lang="zh-CN" altLang="en-US" sz="2400">
                <a:latin typeface="宋体" panose="02010600030101010101" pitchFamily="2" charset="-122"/>
                <a:cs typeface="Arial" panose="020B0604020202020204" pitchFamily="34" charset="0"/>
              </a:rPr>
              <a:t>：电流放大系数，与管子结构尺寸和掺杂浓度有关，</a:t>
            </a:r>
          </a:p>
          <a:p>
            <a:pPr eaLnBrk="1" hangingPunct="1">
              <a:spcAft>
                <a:spcPct val="0"/>
              </a:spcAft>
              <a:buFontTx/>
              <a:buNone/>
            </a:pPr>
            <a:r>
              <a:rPr kumimoji="1" lang="zh-CN" altLang="en-US" sz="2400">
                <a:latin typeface="宋体" panose="02010600030101010101" pitchFamily="2" charset="-122"/>
                <a:cs typeface="Arial" panose="020B0604020202020204" pitchFamily="34" charset="0"/>
              </a:rPr>
              <a:t>        </a:t>
            </a:r>
            <a:r>
              <a:rPr kumimoji="1" lang="el-GR" altLang="zh-CN" sz="2400">
                <a:latin typeface="宋体" panose="02010600030101010101" pitchFamily="2" charset="-122"/>
                <a:cs typeface="Arial" panose="020B0604020202020204" pitchFamily="34" charset="0"/>
              </a:rPr>
              <a:t>α</a:t>
            </a:r>
            <a:r>
              <a:rPr kumimoji="1" lang="en-US" altLang="zh-CN" sz="2400">
                <a:latin typeface="宋体" panose="02010600030101010101" pitchFamily="2" charset="-122"/>
                <a:cs typeface="Arial" panose="020B0604020202020204" pitchFamily="34" charset="0"/>
              </a:rPr>
              <a:t>&lt;1 (</a:t>
            </a:r>
            <a:r>
              <a:rPr kumimoji="1" lang="zh-CN" altLang="en-US" sz="2400">
                <a:latin typeface="宋体" panose="02010600030101010101" pitchFamily="2" charset="-122"/>
                <a:cs typeface="Arial" panose="020B0604020202020204" pitchFamily="34" charset="0"/>
              </a:rPr>
              <a:t>接近</a:t>
            </a:r>
            <a:r>
              <a:rPr kumimoji="1" lang="en-US" altLang="zh-CN" sz="2400">
                <a:latin typeface="宋体" panose="02010600030101010101" pitchFamily="2" charset="-122"/>
                <a:cs typeface="Arial" panose="020B0604020202020204" pitchFamily="34" charset="0"/>
              </a:rPr>
              <a:t>1,</a:t>
            </a:r>
            <a:r>
              <a:rPr kumimoji="1" lang="zh-CN" altLang="en-US" sz="2400">
                <a:latin typeface="宋体" panose="02010600030101010101" pitchFamily="2" charset="-122"/>
                <a:cs typeface="Arial" panose="020B0604020202020204" pitchFamily="34" charset="0"/>
              </a:rPr>
              <a:t>一般在</a:t>
            </a:r>
            <a:r>
              <a:rPr kumimoji="1" lang="en-US" altLang="zh-CN" sz="2400">
                <a:latin typeface="宋体" panose="02010600030101010101" pitchFamily="2" charset="-122"/>
                <a:cs typeface="Arial" panose="020B0604020202020204" pitchFamily="34" charset="0"/>
              </a:rPr>
              <a:t>0.98</a:t>
            </a:r>
            <a:r>
              <a:rPr kumimoji="1" lang="zh-CN" altLang="en-US" sz="2400">
                <a:latin typeface="宋体" panose="02010600030101010101" pitchFamily="2" charset="-122"/>
                <a:cs typeface="Arial" panose="020B0604020202020204" pitchFamily="34" charset="0"/>
              </a:rPr>
              <a:t>以上</a:t>
            </a:r>
            <a:r>
              <a:rPr kumimoji="1" lang="en-US" altLang="zh-CN" sz="2400">
                <a:latin typeface="宋体" panose="02010600030101010101" pitchFamily="2" charset="-122"/>
                <a:cs typeface="Arial" panose="020B0604020202020204" pitchFamily="34" charset="0"/>
              </a:rPr>
              <a:t>)</a:t>
            </a:r>
            <a:r>
              <a:rPr kumimoji="1" lang="zh-CN" altLang="en-US" sz="2400">
                <a:latin typeface="宋体" panose="02010600030101010101" pitchFamily="2" charset="-122"/>
                <a:cs typeface="Arial" panose="020B0604020202020204" pitchFamily="34" charset="0"/>
              </a:rPr>
              <a:t>，</a:t>
            </a:r>
            <a:r>
              <a:rPr kumimoji="1" lang="el-GR" altLang="zh-CN" sz="2400">
                <a:latin typeface="宋体" panose="02010600030101010101" pitchFamily="2" charset="-122"/>
                <a:cs typeface="Arial" panose="020B0604020202020204" pitchFamily="34" charset="0"/>
              </a:rPr>
              <a:t>β</a:t>
            </a:r>
            <a:r>
              <a:rPr kumimoji="1" lang="en-US" altLang="zh-CN" sz="2400">
                <a:latin typeface="宋体" panose="02010600030101010101" pitchFamily="2" charset="-122"/>
                <a:cs typeface="Arial" panose="020B0604020202020204" pitchFamily="34" charset="0"/>
              </a:rPr>
              <a:t>&gt;&gt;1</a:t>
            </a:r>
            <a:endParaRPr kumimoji="1" lang="el-GR" altLang="zh-CN" sz="2400">
              <a:latin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2232961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A2E59-DA65-1F9F-DE43-0337B96F83CB}"/>
              </a:ext>
            </a:extLst>
          </p:cNvPr>
          <p:cNvSpPr>
            <a:spLocks noGrp="1"/>
          </p:cNvSpPr>
          <p:nvPr>
            <p:ph type="title"/>
          </p:nvPr>
        </p:nvSpPr>
        <p:spPr/>
        <p:txBody>
          <a:bodyPr>
            <a:normAutofit fontScale="90000"/>
          </a:bodyPr>
          <a:lstStyle/>
          <a:p>
            <a:r>
              <a:rPr kumimoji="1" lang="zh-CN" altLang="en-US" dirty="0"/>
              <a:t>第一次理解起来有点难</a:t>
            </a:r>
          </a:p>
        </p:txBody>
      </p:sp>
      <p:sp>
        <p:nvSpPr>
          <p:cNvPr id="3" name="内容占位符 2">
            <a:extLst>
              <a:ext uri="{FF2B5EF4-FFF2-40B4-BE49-F238E27FC236}">
                <a16:creationId xmlns:a16="http://schemas.microsoft.com/office/drawing/2014/main" id="{9943538F-7F84-5879-F5BA-4DD64D33B1D9}"/>
              </a:ext>
            </a:extLst>
          </p:cNvPr>
          <p:cNvSpPr>
            <a:spLocks noGrp="1"/>
          </p:cNvSpPr>
          <p:nvPr>
            <p:ph idx="1"/>
          </p:nvPr>
        </p:nvSpPr>
        <p:spPr/>
        <p:txBody>
          <a:bodyPr/>
          <a:lstStyle/>
          <a:p>
            <a:r>
              <a:rPr kumimoji="1" lang="zh-CN" altLang="en-US" dirty="0"/>
              <a:t>基本要求（为了考试）</a:t>
            </a:r>
            <a:endParaRPr kumimoji="1" lang="en-US" altLang="zh-CN" dirty="0"/>
          </a:p>
          <a:p>
            <a:pPr lvl="1"/>
            <a:r>
              <a:rPr kumimoji="1" lang="zh-CN" altLang="en-US" dirty="0"/>
              <a:t>记住三极管结构、电流关系、输入输出曲线</a:t>
            </a:r>
            <a:endParaRPr kumimoji="1" lang="en-US" altLang="zh-CN" dirty="0"/>
          </a:p>
          <a:p>
            <a:pPr lvl="1"/>
            <a:endParaRPr kumimoji="1" lang="en-US" altLang="zh-CN" dirty="0"/>
          </a:p>
          <a:p>
            <a:r>
              <a:rPr kumimoji="1" lang="zh-CN" altLang="en-US" dirty="0"/>
              <a:t>提高版要求（为了底层创新）</a:t>
            </a:r>
            <a:endParaRPr kumimoji="1" lang="en-US" altLang="zh-CN" dirty="0"/>
          </a:p>
          <a:p>
            <a:pPr lvl="1"/>
            <a:r>
              <a:rPr kumimoji="1" lang="zh-CN" altLang="en-US" dirty="0"/>
              <a:t>理解各工作区间、条件和三极管底层结构之间的关系</a:t>
            </a:r>
          </a:p>
        </p:txBody>
      </p:sp>
      <p:sp>
        <p:nvSpPr>
          <p:cNvPr id="4" name="页脚占位符 3">
            <a:extLst>
              <a:ext uri="{FF2B5EF4-FFF2-40B4-BE49-F238E27FC236}">
                <a16:creationId xmlns:a16="http://schemas.microsoft.com/office/drawing/2014/main" id="{4D375CE3-2D4E-9310-F9C0-4F8734717FDC}"/>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52903C07-E256-2749-3FE6-0D51824071AB}"/>
              </a:ext>
            </a:extLst>
          </p:cNvPr>
          <p:cNvSpPr>
            <a:spLocks noGrp="1"/>
          </p:cNvSpPr>
          <p:nvPr>
            <p:ph type="sldNum" sz="quarter" idx="12"/>
          </p:nvPr>
        </p:nvSpPr>
        <p:spPr/>
        <p:txBody>
          <a:bodyPr/>
          <a:lstStyle/>
          <a:p>
            <a:fld id="{9E260BC5-5BF3-8746-862B-DC45E9CAA88B}" type="slidenum">
              <a:rPr lang="en-US" smtClean="0"/>
              <a:pPr/>
              <a:t>8</a:t>
            </a:fld>
            <a:r>
              <a:rPr lang="en-US" altLang="zh-CN" dirty="0"/>
              <a:t>/33</a:t>
            </a:r>
            <a:endParaRPr lang="en-US" dirty="0"/>
          </a:p>
        </p:txBody>
      </p:sp>
    </p:spTree>
    <p:extLst>
      <p:ext uri="{BB962C8B-B14F-4D97-AF65-F5344CB8AC3E}">
        <p14:creationId xmlns:p14="http://schemas.microsoft.com/office/powerpoint/2010/main" val="250273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EB36DF-5D3F-F171-C9F7-0787B3661446}"/>
              </a:ext>
            </a:extLst>
          </p:cNvPr>
          <p:cNvSpPr>
            <a:spLocks noGrp="1"/>
          </p:cNvSpPr>
          <p:nvPr>
            <p:ph type="title"/>
          </p:nvPr>
        </p:nvSpPr>
        <p:spPr/>
        <p:txBody>
          <a:bodyPr>
            <a:normAutofit fontScale="90000"/>
          </a:bodyPr>
          <a:lstStyle/>
          <a:p>
            <a:r>
              <a:rPr kumimoji="1" lang="zh-CN" altLang="en-US" dirty="0"/>
              <a:t>为了帮助理解</a:t>
            </a:r>
          </a:p>
        </p:txBody>
      </p:sp>
      <p:sp>
        <p:nvSpPr>
          <p:cNvPr id="4" name="页脚占位符 3">
            <a:extLst>
              <a:ext uri="{FF2B5EF4-FFF2-40B4-BE49-F238E27FC236}">
                <a16:creationId xmlns:a16="http://schemas.microsoft.com/office/drawing/2014/main" id="{976793FE-32A5-390E-3CCE-D83759669EF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732E003E-2D2F-02A3-4411-93722994BEB0}"/>
              </a:ext>
            </a:extLst>
          </p:cNvPr>
          <p:cNvSpPr>
            <a:spLocks noGrp="1"/>
          </p:cNvSpPr>
          <p:nvPr>
            <p:ph type="sldNum" sz="quarter" idx="12"/>
          </p:nvPr>
        </p:nvSpPr>
        <p:spPr/>
        <p:txBody>
          <a:bodyPr/>
          <a:lstStyle/>
          <a:p>
            <a:fld id="{9E260BC5-5BF3-8746-862B-DC45E9CAA88B}" type="slidenum">
              <a:rPr lang="en-US" smtClean="0"/>
              <a:pPr/>
              <a:t>9</a:t>
            </a:fld>
            <a:r>
              <a:rPr lang="en-US" altLang="zh-CN" dirty="0"/>
              <a:t>/33</a:t>
            </a:r>
            <a:endParaRPr lang="en-US" dirty="0"/>
          </a:p>
        </p:txBody>
      </p:sp>
      <p:pic>
        <p:nvPicPr>
          <p:cNvPr id="6" name="Picture 4" descr="https://ss1.bdstatic.com/70cFvXSh_Q1YnxGkpoWK1HF6hhy/it/u=2976298621,1155128202&amp;fm=26&amp;gp=0.jpg">
            <a:extLst>
              <a:ext uri="{FF2B5EF4-FFF2-40B4-BE49-F238E27FC236}">
                <a16:creationId xmlns:a16="http://schemas.microsoft.com/office/drawing/2014/main" id="{1B08C2D3-09C7-A707-8DB3-30EE07CD4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882" y="2061259"/>
            <a:ext cx="3429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C3F8A7-6553-3AE8-08CA-8E484C79E029}"/>
              </a:ext>
            </a:extLst>
          </p:cNvPr>
          <p:cNvSpPr txBox="1"/>
          <p:nvPr/>
        </p:nvSpPr>
        <p:spPr>
          <a:xfrm>
            <a:off x="3100458" y="4976882"/>
            <a:ext cx="3816424" cy="646331"/>
          </a:xfrm>
          <a:prstGeom prst="rect">
            <a:avLst/>
          </a:prstGeom>
          <a:noFill/>
        </p:spPr>
        <p:txBody>
          <a:bodyPr wrap="square" rtlCol="0">
            <a:spAutoFit/>
          </a:bodyPr>
          <a:lstStyle/>
          <a:p>
            <a:pPr algn="ctr"/>
            <a:r>
              <a:rPr lang="zh-CN" altLang="en-US" sz="3600" dirty="0">
                <a:latin typeface="Microsoft YaHei" panose="020B0503020204020204" pitchFamily="34" charset="-122"/>
                <a:ea typeface="Microsoft YaHei" panose="020B0503020204020204" pitchFamily="34" charset="-122"/>
              </a:rPr>
              <a:t>来个漫画版</a:t>
            </a:r>
            <a:endParaRPr lang="en-US" sz="3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21982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E952DB-C800-29C3-FEFA-973687A45719}"/>
              </a:ext>
            </a:extLst>
          </p:cNvPr>
          <p:cNvSpPr>
            <a:spLocks noGrp="1"/>
          </p:cNvSpPr>
          <p:nvPr>
            <p:ph type="title"/>
          </p:nvPr>
        </p:nvSpPr>
        <p:spPr/>
        <p:txBody>
          <a:bodyPr>
            <a:normAutofit fontScale="90000"/>
          </a:bodyPr>
          <a:lstStyle/>
          <a:p>
            <a:r>
              <a:rPr kumimoji="1" lang="zh-CN" altLang="en-US" dirty="0"/>
              <a:t>极简版想象：电流变水流</a:t>
            </a:r>
          </a:p>
        </p:txBody>
      </p:sp>
      <p:sp>
        <p:nvSpPr>
          <p:cNvPr id="4" name="页脚占位符 3">
            <a:extLst>
              <a:ext uri="{FF2B5EF4-FFF2-40B4-BE49-F238E27FC236}">
                <a16:creationId xmlns:a16="http://schemas.microsoft.com/office/drawing/2014/main" id="{52A15E8D-A77B-CB51-9482-CD309DF05334}"/>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E5A3023B-7B24-EEAC-49A9-D9C58A0E09DA}"/>
              </a:ext>
            </a:extLst>
          </p:cNvPr>
          <p:cNvSpPr>
            <a:spLocks noGrp="1"/>
          </p:cNvSpPr>
          <p:nvPr>
            <p:ph type="sldNum" sz="quarter" idx="12"/>
          </p:nvPr>
        </p:nvSpPr>
        <p:spPr/>
        <p:txBody>
          <a:bodyPr/>
          <a:lstStyle/>
          <a:p>
            <a:fld id="{9E260BC5-5BF3-8746-862B-DC45E9CAA88B}" type="slidenum">
              <a:rPr lang="en-US" smtClean="0"/>
              <a:pPr/>
              <a:t>10</a:t>
            </a:fld>
            <a:r>
              <a:rPr lang="en-US" altLang="zh-CN" dirty="0"/>
              <a:t>/33</a:t>
            </a:r>
            <a:endParaRPr lang="en-US" dirty="0"/>
          </a:p>
        </p:txBody>
      </p:sp>
      <p:cxnSp>
        <p:nvCxnSpPr>
          <p:cNvPr id="7" name="直线连接符 6">
            <a:extLst>
              <a:ext uri="{FF2B5EF4-FFF2-40B4-BE49-F238E27FC236}">
                <a16:creationId xmlns:a16="http://schemas.microsoft.com/office/drawing/2014/main" id="{220F5664-ECE1-95A9-33A3-C51F81577B42}"/>
              </a:ext>
            </a:extLst>
          </p:cNvPr>
          <p:cNvCxnSpPr>
            <a:cxnSpLocks/>
          </p:cNvCxnSpPr>
          <p:nvPr/>
        </p:nvCxnSpPr>
        <p:spPr>
          <a:xfrm>
            <a:off x="246800" y="3104092"/>
            <a:ext cx="58449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直线连接符 8">
            <a:extLst>
              <a:ext uri="{FF2B5EF4-FFF2-40B4-BE49-F238E27FC236}">
                <a16:creationId xmlns:a16="http://schemas.microsoft.com/office/drawing/2014/main" id="{D2F660E8-3869-33EC-B6AF-5258F0121DAC}"/>
              </a:ext>
            </a:extLst>
          </p:cNvPr>
          <p:cNvCxnSpPr>
            <a:cxnSpLocks/>
          </p:cNvCxnSpPr>
          <p:nvPr/>
        </p:nvCxnSpPr>
        <p:spPr>
          <a:xfrm>
            <a:off x="246800" y="2203546"/>
            <a:ext cx="1955487"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28" name="组合 27">
            <a:extLst>
              <a:ext uri="{FF2B5EF4-FFF2-40B4-BE49-F238E27FC236}">
                <a16:creationId xmlns:a16="http://schemas.microsoft.com/office/drawing/2014/main" id="{280CF4CF-622D-DEB9-8D19-60FC4B832962}"/>
              </a:ext>
            </a:extLst>
          </p:cNvPr>
          <p:cNvGrpSpPr/>
          <p:nvPr/>
        </p:nvGrpSpPr>
        <p:grpSpPr>
          <a:xfrm>
            <a:off x="529640" y="2409406"/>
            <a:ext cx="312906" cy="369332"/>
            <a:chOff x="1535367" y="2343791"/>
            <a:chExt cx="312906" cy="369332"/>
          </a:xfrm>
        </p:grpSpPr>
        <p:sp>
          <p:nvSpPr>
            <p:cNvPr id="26" name="文本框 25">
              <a:extLst>
                <a:ext uri="{FF2B5EF4-FFF2-40B4-BE49-F238E27FC236}">
                  <a16:creationId xmlns:a16="http://schemas.microsoft.com/office/drawing/2014/main" id="{569B2960-00C1-9737-53DE-7DC2DED95935}"/>
                </a:ext>
              </a:extLst>
            </p:cNvPr>
            <p:cNvSpPr txBox="1"/>
            <p:nvPr/>
          </p:nvSpPr>
          <p:spPr>
            <a:xfrm>
              <a:off x="1535367" y="2343791"/>
              <a:ext cx="312906" cy="369332"/>
            </a:xfrm>
            <a:prstGeom prst="rect">
              <a:avLst/>
            </a:prstGeom>
            <a:noFill/>
          </p:spPr>
          <p:txBody>
            <a:bodyPr wrap="none" rtlCol="0">
              <a:spAutoFit/>
            </a:bodyPr>
            <a:lstStyle/>
            <a:p>
              <a:r>
                <a:rPr kumimoji="1" lang="en-US" altLang="zh-CN" dirty="0"/>
                <a:t>e</a:t>
              </a:r>
              <a:endParaRPr kumimoji="1" lang="zh-CN" altLang="en-US" dirty="0"/>
            </a:p>
          </p:txBody>
        </p:sp>
        <p:sp>
          <p:nvSpPr>
            <p:cNvPr id="27" name="椭圆 26">
              <a:extLst>
                <a:ext uri="{FF2B5EF4-FFF2-40B4-BE49-F238E27FC236}">
                  <a16:creationId xmlns:a16="http://schemas.microsoft.com/office/drawing/2014/main" id="{4777F23F-1C60-668C-7491-1C5055A66DC5}"/>
                </a:ext>
              </a:extLst>
            </p:cNvPr>
            <p:cNvSpPr/>
            <p:nvPr/>
          </p:nvSpPr>
          <p:spPr>
            <a:xfrm>
              <a:off x="1535367" y="2382982"/>
              <a:ext cx="299811" cy="29981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grpSp>
        <p:nvGrpSpPr>
          <p:cNvPr id="30" name="组合 29">
            <a:extLst>
              <a:ext uri="{FF2B5EF4-FFF2-40B4-BE49-F238E27FC236}">
                <a16:creationId xmlns:a16="http://schemas.microsoft.com/office/drawing/2014/main" id="{47A4F741-C83A-4257-A3CE-D58B733516C2}"/>
              </a:ext>
            </a:extLst>
          </p:cNvPr>
          <p:cNvGrpSpPr/>
          <p:nvPr/>
        </p:nvGrpSpPr>
        <p:grpSpPr>
          <a:xfrm>
            <a:off x="719003" y="2616130"/>
            <a:ext cx="312906" cy="369332"/>
            <a:chOff x="1535367" y="2343791"/>
            <a:chExt cx="312906" cy="369332"/>
          </a:xfrm>
        </p:grpSpPr>
        <p:sp>
          <p:nvSpPr>
            <p:cNvPr id="31" name="文本框 30">
              <a:extLst>
                <a:ext uri="{FF2B5EF4-FFF2-40B4-BE49-F238E27FC236}">
                  <a16:creationId xmlns:a16="http://schemas.microsoft.com/office/drawing/2014/main" id="{C506A49E-738F-6411-8F7C-01E5A73D26EE}"/>
                </a:ext>
              </a:extLst>
            </p:cNvPr>
            <p:cNvSpPr txBox="1"/>
            <p:nvPr/>
          </p:nvSpPr>
          <p:spPr>
            <a:xfrm>
              <a:off x="1535367" y="2343791"/>
              <a:ext cx="312906" cy="369332"/>
            </a:xfrm>
            <a:prstGeom prst="rect">
              <a:avLst/>
            </a:prstGeom>
            <a:noFill/>
          </p:spPr>
          <p:txBody>
            <a:bodyPr wrap="none" rtlCol="0">
              <a:spAutoFit/>
            </a:bodyPr>
            <a:lstStyle/>
            <a:p>
              <a:r>
                <a:rPr kumimoji="1" lang="en-US" altLang="zh-CN" dirty="0"/>
                <a:t>e</a:t>
              </a:r>
              <a:endParaRPr kumimoji="1" lang="zh-CN" altLang="en-US" dirty="0"/>
            </a:p>
          </p:txBody>
        </p:sp>
        <p:sp>
          <p:nvSpPr>
            <p:cNvPr id="32" name="椭圆 31">
              <a:extLst>
                <a:ext uri="{FF2B5EF4-FFF2-40B4-BE49-F238E27FC236}">
                  <a16:creationId xmlns:a16="http://schemas.microsoft.com/office/drawing/2014/main" id="{9FD44594-E6DB-ADE8-B443-8A5A44649000}"/>
                </a:ext>
              </a:extLst>
            </p:cNvPr>
            <p:cNvSpPr/>
            <p:nvPr/>
          </p:nvSpPr>
          <p:spPr>
            <a:xfrm>
              <a:off x="1535367" y="2382982"/>
              <a:ext cx="299811" cy="29981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grpSp>
        <p:nvGrpSpPr>
          <p:cNvPr id="33" name="组合 32">
            <a:extLst>
              <a:ext uri="{FF2B5EF4-FFF2-40B4-BE49-F238E27FC236}">
                <a16:creationId xmlns:a16="http://schemas.microsoft.com/office/drawing/2014/main" id="{44D8096D-6E9D-9953-058A-0BA28F54CA8B}"/>
              </a:ext>
            </a:extLst>
          </p:cNvPr>
          <p:cNvGrpSpPr/>
          <p:nvPr/>
        </p:nvGrpSpPr>
        <p:grpSpPr>
          <a:xfrm>
            <a:off x="999600" y="2242396"/>
            <a:ext cx="312906" cy="369332"/>
            <a:chOff x="1535367" y="2343791"/>
            <a:chExt cx="312906" cy="369332"/>
          </a:xfrm>
        </p:grpSpPr>
        <p:sp>
          <p:nvSpPr>
            <p:cNvPr id="34" name="文本框 33">
              <a:extLst>
                <a:ext uri="{FF2B5EF4-FFF2-40B4-BE49-F238E27FC236}">
                  <a16:creationId xmlns:a16="http://schemas.microsoft.com/office/drawing/2014/main" id="{9810590D-66DA-503E-6206-9AD8A8A8820F}"/>
                </a:ext>
              </a:extLst>
            </p:cNvPr>
            <p:cNvSpPr txBox="1"/>
            <p:nvPr/>
          </p:nvSpPr>
          <p:spPr>
            <a:xfrm>
              <a:off x="1535367" y="2343791"/>
              <a:ext cx="312906" cy="369332"/>
            </a:xfrm>
            <a:prstGeom prst="rect">
              <a:avLst/>
            </a:prstGeom>
            <a:noFill/>
          </p:spPr>
          <p:txBody>
            <a:bodyPr wrap="none" rtlCol="0">
              <a:spAutoFit/>
            </a:bodyPr>
            <a:lstStyle/>
            <a:p>
              <a:r>
                <a:rPr kumimoji="1" lang="en-US" altLang="zh-CN" dirty="0"/>
                <a:t>e</a:t>
              </a:r>
              <a:endParaRPr kumimoji="1" lang="zh-CN" altLang="en-US" dirty="0"/>
            </a:p>
          </p:txBody>
        </p:sp>
        <p:sp>
          <p:nvSpPr>
            <p:cNvPr id="35" name="椭圆 34">
              <a:extLst>
                <a:ext uri="{FF2B5EF4-FFF2-40B4-BE49-F238E27FC236}">
                  <a16:creationId xmlns:a16="http://schemas.microsoft.com/office/drawing/2014/main" id="{EA4611AF-70C2-665D-F7F0-4581259A687C}"/>
                </a:ext>
              </a:extLst>
            </p:cNvPr>
            <p:cNvSpPr/>
            <p:nvPr/>
          </p:nvSpPr>
          <p:spPr>
            <a:xfrm>
              <a:off x="1535367" y="2382982"/>
              <a:ext cx="299811" cy="29981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37" name="文本框 36">
            <a:extLst>
              <a:ext uri="{FF2B5EF4-FFF2-40B4-BE49-F238E27FC236}">
                <a16:creationId xmlns:a16="http://schemas.microsoft.com/office/drawing/2014/main" id="{32BB8126-3A62-95DF-1DA0-48C85DA54A11}"/>
              </a:ext>
            </a:extLst>
          </p:cNvPr>
          <p:cNvSpPr txBox="1"/>
          <p:nvPr/>
        </p:nvSpPr>
        <p:spPr>
          <a:xfrm>
            <a:off x="173846" y="3238211"/>
            <a:ext cx="1402948" cy="369332"/>
          </a:xfrm>
          <a:prstGeom prst="rect">
            <a:avLst/>
          </a:prstGeom>
          <a:noFill/>
        </p:spPr>
        <p:txBody>
          <a:bodyPr wrap="none" rtlCol="0">
            <a:spAutoFit/>
          </a:bodyPr>
          <a:lstStyle/>
          <a:p>
            <a:r>
              <a:rPr kumimoji="1" lang="zh-CN" altLang="en-US" dirty="0"/>
              <a:t>发射极</a:t>
            </a:r>
            <a:r>
              <a:rPr kumimoji="1" lang="en-US" altLang="zh-CN" dirty="0"/>
              <a:t>e</a:t>
            </a:r>
            <a:r>
              <a:rPr kumimoji="1" lang="zh-CN" altLang="en-US" dirty="0"/>
              <a:t>：</a:t>
            </a:r>
            <a:r>
              <a:rPr kumimoji="1" lang="en-US" altLang="zh-CN" dirty="0"/>
              <a:t>N</a:t>
            </a:r>
            <a:endParaRPr kumimoji="1" lang="zh-CN" altLang="en-US" dirty="0"/>
          </a:p>
        </p:txBody>
      </p:sp>
      <p:sp>
        <p:nvSpPr>
          <p:cNvPr id="39" name="文本框 38">
            <a:extLst>
              <a:ext uri="{FF2B5EF4-FFF2-40B4-BE49-F238E27FC236}">
                <a16:creationId xmlns:a16="http://schemas.microsoft.com/office/drawing/2014/main" id="{4C93E3B9-9333-EC16-F956-FCF96FA45159}"/>
              </a:ext>
            </a:extLst>
          </p:cNvPr>
          <p:cNvSpPr txBox="1"/>
          <p:nvPr/>
        </p:nvSpPr>
        <p:spPr>
          <a:xfrm>
            <a:off x="5112288" y="3257277"/>
            <a:ext cx="1390124" cy="369332"/>
          </a:xfrm>
          <a:prstGeom prst="rect">
            <a:avLst/>
          </a:prstGeom>
          <a:noFill/>
        </p:spPr>
        <p:txBody>
          <a:bodyPr wrap="none" rtlCol="0">
            <a:spAutoFit/>
          </a:bodyPr>
          <a:lstStyle/>
          <a:p>
            <a:r>
              <a:rPr kumimoji="1" lang="zh-CN" altLang="en-US" dirty="0"/>
              <a:t>集电极</a:t>
            </a:r>
            <a:r>
              <a:rPr kumimoji="1" lang="en-US" altLang="zh-CN" dirty="0"/>
              <a:t>c</a:t>
            </a:r>
            <a:r>
              <a:rPr kumimoji="1" lang="zh-CN" altLang="en-US" dirty="0"/>
              <a:t>：</a:t>
            </a:r>
            <a:r>
              <a:rPr kumimoji="1" lang="en-US" altLang="zh-CN" dirty="0"/>
              <a:t>N</a:t>
            </a:r>
            <a:endParaRPr kumimoji="1" lang="zh-CN" altLang="en-US" dirty="0"/>
          </a:p>
        </p:txBody>
      </p:sp>
      <p:grpSp>
        <p:nvGrpSpPr>
          <p:cNvPr id="40" name="Group 103">
            <a:extLst>
              <a:ext uri="{FF2B5EF4-FFF2-40B4-BE49-F238E27FC236}">
                <a16:creationId xmlns:a16="http://schemas.microsoft.com/office/drawing/2014/main" id="{37A6B102-EF12-D949-71E8-1E4818CF78E3}"/>
              </a:ext>
            </a:extLst>
          </p:cNvPr>
          <p:cNvGrpSpPr>
            <a:grpSpLocks/>
          </p:cNvGrpSpPr>
          <p:nvPr/>
        </p:nvGrpSpPr>
        <p:grpSpPr bwMode="auto">
          <a:xfrm rot="5400000">
            <a:off x="7848894" y="693740"/>
            <a:ext cx="1422401" cy="2262188"/>
            <a:chOff x="577" y="2078"/>
            <a:chExt cx="896" cy="1425"/>
          </a:xfrm>
        </p:grpSpPr>
        <p:grpSp>
          <p:nvGrpSpPr>
            <p:cNvPr id="41" name="Group 36">
              <a:extLst>
                <a:ext uri="{FF2B5EF4-FFF2-40B4-BE49-F238E27FC236}">
                  <a16:creationId xmlns:a16="http://schemas.microsoft.com/office/drawing/2014/main" id="{53010773-1915-4FB7-9816-078FE156C8C3}"/>
                </a:ext>
              </a:extLst>
            </p:cNvPr>
            <p:cNvGrpSpPr>
              <a:grpSpLocks/>
            </p:cNvGrpSpPr>
            <p:nvPr/>
          </p:nvGrpSpPr>
          <p:grpSpPr bwMode="auto">
            <a:xfrm>
              <a:off x="577" y="2427"/>
              <a:ext cx="896" cy="1076"/>
              <a:chOff x="499" y="2947"/>
              <a:chExt cx="896" cy="1076"/>
            </a:xfrm>
          </p:grpSpPr>
          <p:grpSp>
            <p:nvGrpSpPr>
              <p:cNvPr id="43" name="Group 37">
                <a:extLst>
                  <a:ext uri="{FF2B5EF4-FFF2-40B4-BE49-F238E27FC236}">
                    <a16:creationId xmlns:a16="http://schemas.microsoft.com/office/drawing/2014/main" id="{1CC834BE-74E1-01D9-30F6-1C7B2C313027}"/>
                  </a:ext>
                </a:extLst>
              </p:cNvPr>
              <p:cNvGrpSpPr>
                <a:grpSpLocks/>
              </p:cNvGrpSpPr>
              <p:nvPr/>
            </p:nvGrpSpPr>
            <p:grpSpPr bwMode="auto">
              <a:xfrm>
                <a:off x="573" y="2947"/>
                <a:ext cx="822" cy="962"/>
                <a:chOff x="861" y="2415"/>
                <a:chExt cx="940" cy="1096"/>
              </a:xfrm>
            </p:grpSpPr>
            <p:sp>
              <p:nvSpPr>
                <p:cNvPr id="45" name="Line 38">
                  <a:extLst>
                    <a:ext uri="{FF2B5EF4-FFF2-40B4-BE49-F238E27FC236}">
                      <a16:creationId xmlns:a16="http://schemas.microsoft.com/office/drawing/2014/main" id="{1FEC810F-8F3E-A683-2682-DB694F910EA4}"/>
                    </a:ext>
                  </a:extLst>
                </p:cNvPr>
                <p:cNvSpPr>
                  <a:spLocks noChangeShapeType="1"/>
                </p:cNvSpPr>
                <p:nvPr/>
              </p:nvSpPr>
              <p:spPr bwMode="auto">
                <a:xfrm>
                  <a:off x="1334" y="2772"/>
                  <a:ext cx="0" cy="40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6" name="Line 39">
                  <a:extLst>
                    <a:ext uri="{FF2B5EF4-FFF2-40B4-BE49-F238E27FC236}">
                      <a16:creationId xmlns:a16="http://schemas.microsoft.com/office/drawing/2014/main" id="{3001CD99-0AA0-7BE1-5F07-9D5A663D848E}"/>
                    </a:ext>
                  </a:extLst>
                </p:cNvPr>
                <p:cNvSpPr>
                  <a:spLocks noChangeShapeType="1"/>
                </p:cNvSpPr>
                <p:nvPr/>
              </p:nvSpPr>
              <p:spPr bwMode="auto">
                <a:xfrm flipH="1">
                  <a:off x="1022" y="2976"/>
                  <a:ext cx="3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7" name="Line 40">
                  <a:extLst>
                    <a:ext uri="{FF2B5EF4-FFF2-40B4-BE49-F238E27FC236}">
                      <a16:creationId xmlns:a16="http://schemas.microsoft.com/office/drawing/2014/main" id="{77482545-E241-66FA-6BA9-FAB45F7F4E1B}"/>
                    </a:ext>
                  </a:extLst>
                </p:cNvPr>
                <p:cNvSpPr>
                  <a:spLocks noChangeShapeType="1"/>
                </p:cNvSpPr>
                <p:nvPr/>
              </p:nvSpPr>
              <p:spPr bwMode="auto">
                <a:xfrm flipV="1">
                  <a:off x="1331" y="2769"/>
                  <a:ext cx="220" cy="139"/>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8" name="Line 41">
                  <a:extLst>
                    <a:ext uri="{FF2B5EF4-FFF2-40B4-BE49-F238E27FC236}">
                      <a16:creationId xmlns:a16="http://schemas.microsoft.com/office/drawing/2014/main" id="{B496A2DD-483E-2DCB-01AD-7374BBCD0EE1}"/>
                    </a:ext>
                  </a:extLst>
                </p:cNvPr>
                <p:cNvSpPr>
                  <a:spLocks noChangeShapeType="1"/>
                </p:cNvSpPr>
                <p:nvPr/>
              </p:nvSpPr>
              <p:spPr bwMode="auto">
                <a:xfrm>
                  <a:off x="1334" y="3046"/>
                  <a:ext cx="210" cy="131"/>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49" name="Line 42">
                  <a:extLst>
                    <a:ext uri="{FF2B5EF4-FFF2-40B4-BE49-F238E27FC236}">
                      <a16:creationId xmlns:a16="http://schemas.microsoft.com/office/drawing/2014/main" id="{ACF0B154-FDCE-3638-BE52-072D71DD24C4}"/>
                    </a:ext>
                  </a:extLst>
                </p:cNvPr>
                <p:cNvSpPr>
                  <a:spLocks noChangeShapeType="1"/>
                </p:cNvSpPr>
                <p:nvPr/>
              </p:nvSpPr>
              <p:spPr bwMode="auto">
                <a:xfrm flipV="1">
                  <a:off x="1544" y="2510"/>
                  <a:ext cx="0" cy="26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0" name="Line 43">
                  <a:extLst>
                    <a:ext uri="{FF2B5EF4-FFF2-40B4-BE49-F238E27FC236}">
                      <a16:creationId xmlns:a16="http://schemas.microsoft.com/office/drawing/2014/main" id="{66D4B7CC-264D-0CC5-A020-FDF953C03B2F}"/>
                    </a:ext>
                  </a:extLst>
                </p:cNvPr>
                <p:cNvSpPr>
                  <a:spLocks noChangeShapeType="1"/>
                </p:cNvSpPr>
                <p:nvPr/>
              </p:nvSpPr>
              <p:spPr bwMode="auto">
                <a:xfrm>
                  <a:off x="1544" y="3177"/>
                  <a:ext cx="0" cy="253"/>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1" name="Oval 44">
                  <a:extLst>
                    <a:ext uri="{FF2B5EF4-FFF2-40B4-BE49-F238E27FC236}">
                      <a16:creationId xmlns:a16="http://schemas.microsoft.com/office/drawing/2014/main" id="{6E864C1E-8AAC-0E8E-AB68-037C52259E95}"/>
                    </a:ext>
                  </a:extLst>
                </p:cNvPr>
                <p:cNvSpPr>
                  <a:spLocks noChangeArrowheads="1"/>
                </p:cNvSpPr>
                <p:nvPr/>
              </p:nvSpPr>
              <p:spPr bwMode="auto">
                <a:xfrm>
                  <a:off x="937" y="292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2" name="Oval 45">
                  <a:extLst>
                    <a:ext uri="{FF2B5EF4-FFF2-40B4-BE49-F238E27FC236}">
                      <a16:creationId xmlns:a16="http://schemas.microsoft.com/office/drawing/2014/main" id="{008EE4C8-D4C4-BAB5-AB70-0BD0C8F4731E}"/>
                    </a:ext>
                  </a:extLst>
                </p:cNvPr>
                <p:cNvSpPr>
                  <a:spLocks noChangeArrowheads="1"/>
                </p:cNvSpPr>
                <p:nvPr/>
              </p:nvSpPr>
              <p:spPr bwMode="auto">
                <a:xfrm>
                  <a:off x="1495" y="241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3" name="Oval 46">
                  <a:extLst>
                    <a:ext uri="{FF2B5EF4-FFF2-40B4-BE49-F238E27FC236}">
                      <a16:creationId xmlns:a16="http://schemas.microsoft.com/office/drawing/2014/main" id="{E79AA26D-8A08-933B-F12A-417FF2AB52A5}"/>
                    </a:ext>
                  </a:extLst>
                </p:cNvPr>
                <p:cNvSpPr>
                  <a:spLocks noChangeArrowheads="1"/>
                </p:cNvSpPr>
                <p:nvPr/>
              </p:nvSpPr>
              <p:spPr bwMode="auto">
                <a:xfrm>
                  <a:off x="1495" y="3420"/>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54" name="Group 47">
                  <a:extLst>
                    <a:ext uri="{FF2B5EF4-FFF2-40B4-BE49-F238E27FC236}">
                      <a16:creationId xmlns:a16="http://schemas.microsoft.com/office/drawing/2014/main" id="{5053C90A-A453-5273-4E5C-BA66300BA07E}"/>
                    </a:ext>
                  </a:extLst>
                </p:cNvPr>
                <p:cNvGrpSpPr>
                  <a:grpSpLocks/>
                </p:cNvGrpSpPr>
                <p:nvPr/>
              </p:nvGrpSpPr>
              <p:grpSpPr bwMode="auto">
                <a:xfrm>
                  <a:off x="861" y="2554"/>
                  <a:ext cx="940" cy="812"/>
                  <a:chOff x="4449" y="586"/>
                  <a:chExt cx="940" cy="812"/>
                </a:xfrm>
              </p:grpSpPr>
              <p:sp>
                <p:nvSpPr>
                  <p:cNvPr id="55" name="Rectangle 48">
                    <a:extLst>
                      <a:ext uri="{FF2B5EF4-FFF2-40B4-BE49-F238E27FC236}">
                        <a16:creationId xmlns:a16="http://schemas.microsoft.com/office/drawing/2014/main" id="{10A8D62A-08C5-340E-D50E-C98DDBB54F38}"/>
                      </a:ext>
                    </a:extLst>
                  </p:cNvPr>
                  <p:cNvSpPr>
                    <a:spLocks noChangeArrowheads="1"/>
                  </p:cNvSpPr>
                  <p:nvPr/>
                </p:nvSpPr>
                <p:spPr bwMode="auto">
                  <a:xfrm rot="16200000" flipH="1">
                    <a:off x="5204" y="503"/>
                    <a:ext cx="97"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c</a:t>
                    </a:r>
                  </a:p>
                </p:txBody>
              </p:sp>
              <p:sp>
                <p:nvSpPr>
                  <p:cNvPr id="56" name="Rectangle 49">
                    <a:extLst>
                      <a:ext uri="{FF2B5EF4-FFF2-40B4-BE49-F238E27FC236}">
                        <a16:creationId xmlns:a16="http://schemas.microsoft.com/office/drawing/2014/main" id="{97176718-1FA5-3AD6-7237-DDACFCABC619}"/>
                      </a:ext>
                    </a:extLst>
                  </p:cNvPr>
                  <p:cNvSpPr>
                    <a:spLocks noChangeArrowheads="1"/>
                  </p:cNvSpPr>
                  <p:nvPr/>
                </p:nvSpPr>
                <p:spPr bwMode="auto">
                  <a:xfrm rot="16200000" flipH="1">
                    <a:off x="4520" y="684"/>
                    <a:ext cx="122"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b</a:t>
                    </a:r>
                  </a:p>
                </p:txBody>
              </p:sp>
              <p:sp>
                <p:nvSpPr>
                  <p:cNvPr id="57" name="Rectangle 50">
                    <a:extLst>
                      <a:ext uri="{FF2B5EF4-FFF2-40B4-BE49-F238E27FC236}">
                        <a16:creationId xmlns:a16="http://schemas.microsoft.com/office/drawing/2014/main" id="{3224FF74-CE12-3264-71C8-3E6708C6BAC5}"/>
                      </a:ext>
                    </a:extLst>
                  </p:cNvPr>
                  <p:cNvSpPr>
                    <a:spLocks noChangeArrowheads="1"/>
                  </p:cNvSpPr>
                  <p:nvPr/>
                </p:nvSpPr>
                <p:spPr bwMode="auto">
                  <a:xfrm rot="16200000" flipH="1">
                    <a:off x="5209" y="1219"/>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e</a:t>
                    </a:r>
                  </a:p>
                </p:txBody>
              </p:sp>
            </p:grpSp>
          </p:grpSp>
          <p:sp>
            <p:nvSpPr>
              <p:cNvPr id="44" name="Rectangle 51">
                <a:extLst>
                  <a:ext uri="{FF2B5EF4-FFF2-40B4-BE49-F238E27FC236}">
                    <a16:creationId xmlns:a16="http://schemas.microsoft.com/office/drawing/2014/main" id="{22F0ABBA-C268-B7ED-F273-ABE95D970F5C}"/>
                  </a:ext>
                </a:extLst>
              </p:cNvPr>
              <p:cNvSpPr>
                <a:spLocks noChangeArrowheads="1"/>
              </p:cNvSpPr>
              <p:nvPr/>
            </p:nvSpPr>
            <p:spPr bwMode="auto">
              <a:xfrm>
                <a:off x="499" y="3735"/>
                <a:ext cx="11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kumimoji="1" lang="zh-CN" altLang="en-US" sz="2400" b="0">
                  <a:latin typeface="Times New Roman" panose="02020603050405020304" pitchFamily="18" charset="0"/>
                </a:endParaRPr>
              </a:p>
            </p:txBody>
          </p:sp>
        </p:grpSp>
        <p:sp>
          <p:nvSpPr>
            <p:cNvPr id="42" name="Rectangle 69">
              <a:extLst>
                <a:ext uri="{FF2B5EF4-FFF2-40B4-BE49-F238E27FC236}">
                  <a16:creationId xmlns:a16="http://schemas.microsoft.com/office/drawing/2014/main" id="{F1BD50CB-8DB9-7FA9-FD7B-B9DF2ADCE413}"/>
                </a:ext>
              </a:extLst>
            </p:cNvPr>
            <p:cNvSpPr>
              <a:spLocks noChangeArrowheads="1"/>
            </p:cNvSpPr>
            <p:nvPr/>
          </p:nvSpPr>
          <p:spPr bwMode="auto">
            <a:xfrm rot="16200000">
              <a:off x="529" y="2190"/>
              <a:ext cx="511"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dirty="0">
                  <a:latin typeface="Times New Roman" panose="02020603050405020304" pitchFamily="18" charset="0"/>
                </a:rPr>
                <a:t>NPN</a:t>
              </a:r>
              <a:endParaRPr lang="zh-CN" altLang="en-US" sz="2400" dirty="0">
                <a:latin typeface="Times New Roman" panose="02020603050405020304" pitchFamily="18" charset="0"/>
              </a:endParaRPr>
            </a:p>
          </p:txBody>
        </p:sp>
      </p:grpSp>
      <p:sp>
        <p:nvSpPr>
          <p:cNvPr id="59" name="右箭头 58">
            <a:extLst>
              <a:ext uri="{FF2B5EF4-FFF2-40B4-BE49-F238E27FC236}">
                <a16:creationId xmlns:a16="http://schemas.microsoft.com/office/drawing/2014/main" id="{55E88A37-F390-9608-4DB7-21A0E140C309}"/>
              </a:ext>
            </a:extLst>
          </p:cNvPr>
          <p:cNvSpPr/>
          <p:nvPr/>
        </p:nvSpPr>
        <p:spPr>
          <a:xfrm>
            <a:off x="2643261" y="2499099"/>
            <a:ext cx="1143046" cy="27328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60" name="文本框 59">
            <a:extLst>
              <a:ext uri="{FF2B5EF4-FFF2-40B4-BE49-F238E27FC236}">
                <a16:creationId xmlns:a16="http://schemas.microsoft.com/office/drawing/2014/main" id="{A256B5EB-68FD-E393-50E7-2F8527C17364}"/>
              </a:ext>
            </a:extLst>
          </p:cNvPr>
          <p:cNvSpPr txBox="1"/>
          <p:nvPr/>
        </p:nvSpPr>
        <p:spPr>
          <a:xfrm>
            <a:off x="328927" y="3698114"/>
            <a:ext cx="6186309" cy="369332"/>
          </a:xfrm>
          <a:prstGeom prst="rect">
            <a:avLst/>
          </a:prstGeom>
          <a:noFill/>
        </p:spPr>
        <p:txBody>
          <a:bodyPr wrap="none" rtlCol="0">
            <a:spAutoFit/>
          </a:bodyPr>
          <a:lstStyle/>
          <a:p>
            <a:r>
              <a:rPr kumimoji="1" lang="zh-CN" altLang="en-US" dirty="0">
                <a:solidFill>
                  <a:schemeClr val="accent1"/>
                </a:solidFill>
              </a:rPr>
              <a:t>目标：在基极的控制下，让电子有序地从发射极流到集电极</a:t>
            </a:r>
          </a:p>
        </p:txBody>
      </p:sp>
      <p:sp>
        <p:nvSpPr>
          <p:cNvPr id="61" name="文本框 60">
            <a:extLst>
              <a:ext uri="{FF2B5EF4-FFF2-40B4-BE49-F238E27FC236}">
                <a16:creationId xmlns:a16="http://schemas.microsoft.com/office/drawing/2014/main" id="{644790F6-395B-0165-48C0-57086752192F}"/>
              </a:ext>
            </a:extLst>
          </p:cNvPr>
          <p:cNvSpPr txBox="1"/>
          <p:nvPr/>
        </p:nvSpPr>
        <p:spPr>
          <a:xfrm>
            <a:off x="0" y="4453032"/>
            <a:ext cx="9905997" cy="1908215"/>
          </a:xfrm>
          <a:prstGeom prst="rect">
            <a:avLst/>
          </a:prstGeom>
          <a:noFill/>
        </p:spPr>
        <p:txBody>
          <a:bodyPr wrap="square" rtlCol="0">
            <a:spAutoFit/>
          </a:bodyPr>
          <a:lstStyle/>
          <a:p>
            <a:pPr marL="342900" indent="-342900" algn="just">
              <a:spcBef>
                <a:spcPts val="600"/>
              </a:spcBef>
              <a:buAutoNum type="arabicPeriod"/>
            </a:pPr>
            <a:r>
              <a:rPr kumimoji="1" lang="zh-CN" altLang="en-US" dirty="0">
                <a:latin typeface="Microsoft YaHei" panose="020B0503020204020204" pitchFamily="34" charset="-122"/>
                <a:ea typeface="Microsoft YaHei" panose="020B0503020204020204" pitchFamily="34" charset="-122"/>
              </a:rPr>
              <a:t>发射极的电子不是无穷的，因此需要外加一个电路，且提供电压，让电子能从发射极（</a:t>
            </a:r>
            <a:r>
              <a:rPr kumimoji="1" lang="en-US" altLang="zh-CN" dirty="0">
                <a:latin typeface="Microsoft YaHei" panose="020B0503020204020204" pitchFamily="34" charset="-122"/>
                <a:ea typeface="Microsoft YaHei" panose="020B0503020204020204" pitchFamily="34" charset="-122"/>
              </a:rPr>
              <a:t>e</a:t>
            </a:r>
            <a:r>
              <a:rPr kumimoji="1" lang="zh-CN" altLang="en-US" dirty="0">
                <a:latin typeface="Microsoft YaHei" panose="020B0503020204020204" pitchFamily="34" charset="-122"/>
                <a:ea typeface="Microsoft YaHei" panose="020B0503020204020204" pitchFamily="34" charset="-122"/>
              </a:rPr>
              <a:t>）移动到集电极（</a:t>
            </a:r>
            <a:r>
              <a:rPr kumimoji="1" lang="en-US" altLang="zh-CN" dirty="0">
                <a:latin typeface="Microsoft YaHei" panose="020B0503020204020204" pitchFamily="34" charset="-122"/>
                <a:ea typeface="Microsoft YaHei" panose="020B0503020204020204" pitchFamily="34" charset="-122"/>
              </a:rPr>
              <a:t>c</a:t>
            </a:r>
            <a:r>
              <a:rPr kumimoji="1" lang="zh-CN" altLang="en-US" dirty="0">
                <a:latin typeface="Microsoft YaHei" panose="020B0503020204020204" pitchFamily="34" charset="-122"/>
                <a:ea typeface="Microsoft YaHei" panose="020B0503020204020204" pitchFamily="34" charset="-122"/>
              </a:rPr>
              <a:t>）；由于</a:t>
            </a:r>
            <a:r>
              <a:rPr kumimoji="1" lang="en-US" altLang="zh-CN" dirty="0">
                <a:latin typeface="Microsoft YaHei" panose="020B0503020204020204" pitchFamily="34" charset="-122"/>
                <a:ea typeface="Microsoft YaHei" panose="020B0503020204020204" pitchFamily="34" charset="-122"/>
              </a:rPr>
              <a:t>NPN</a:t>
            </a:r>
            <a:r>
              <a:rPr kumimoji="1" lang="zh-CN" altLang="en-US" dirty="0">
                <a:latin typeface="Microsoft YaHei" panose="020B0503020204020204" pitchFamily="34" charset="-122"/>
                <a:ea typeface="Microsoft YaHei" panose="020B0503020204020204" pitchFamily="34" charset="-122"/>
              </a:rPr>
              <a:t>情况下，发射极（</a:t>
            </a:r>
            <a:r>
              <a:rPr kumimoji="1" lang="en-US" altLang="zh-CN" dirty="0">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）电子数目高于集电极，可以认为发射极“更</a:t>
            </a:r>
            <a:r>
              <a:rPr kumimoji="1" lang="en-US" altLang="zh-CN" dirty="0">
                <a:latin typeface="Microsoft YaHei" panose="020B0503020204020204" pitchFamily="34" charset="-122"/>
                <a:ea typeface="Microsoft YaHei" panose="020B0503020204020204" pitchFamily="34" charset="-122"/>
              </a:rPr>
              <a:t>N</a:t>
            </a:r>
            <a:r>
              <a:rPr kumimoji="1" lang="zh-CN" altLang="en-US" dirty="0">
                <a:latin typeface="Microsoft YaHei" panose="020B0503020204020204" pitchFamily="34" charset="-122"/>
                <a:ea typeface="Microsoft YaHei" panose="020B0503020204020204" pitchFamily="34" charset="-122"/>
              </a:rPr>
              <a:t>”一些，则集电极（</a:t>
            </a:r>
            <a:r>
              <a:rPr kumimoji="1" lang="en-US" altLang="zh-CN" dirty="0">
                <a:latin typeface="Microsoft YaHei" panose="020B0503020204020204" pitchFamily="34" charset="-122"/>
                <a:ea typeface="Microsoft YaHei" panose="020B0503020204020204" pitchFamily="34" charset="-122"/>
              </a:rPr>
              <a:t>c</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发射极（</a:t>
            </a:r>
            <a:r>
              <a:rPr kumimoji="1" lang="en-US" altLang="zh-CN" dirty="0">
                <a:latin typeface="Microsoft YaHei" panose="020B0503020204020204" pitchFamily="34" charset="-122"/>
                <a:ea typeface="Microsoft YaHei" panose="020B0503020204020204" pitchFamily="34" charset="-122"/>
              </a:rPr>
              <a:t>e</a:t>
            </a:r>
            <a:r>
              <a:rPr kumimoji="1" lang="zh-CN" altLang="en-US" dirty="0">
                <a:latin typeface="Microsoft YaHei" panose="020B0503020204020204" pitchFamily="34" charset="-122"/>
                <a:ea typeface="Microsoft YaHei" panose="020B0503020204020204" pitchFamily="34" charset="-122"/>
              </a:rPr>
              <a:t>）是</a:t>
            </a:r>
            <a:r>
              <a:rPr kumimoji="1" lang="en-US" altLang="zh-CN" dirty="0">
                <a:latin typeface="Microsoft YaHei" panose="020B0503020204020204" pitchFamily="34" charset="-122"/>
                <a:ea typeface="Microsoft YaHei" panose="020B0503020204020204" pitchFamily="34" charset="-122"/>
              </a:rPr>
              <a:t>P-N</a:t>
            </a:r>
            <a:r>
              <a:rPr kumimoji="1" lang="zh-CN" altLang="en-US" dirty="0">
                <a:latin typeface="Microsoft YaHei" panose="020B0503020204020204" pitchFamily="34" charset="-122"/>
                <a:ea typeface="Microsoft YaHei" panose="020B0503020204020204" pitchFamily="34" charset="-122"/>
              </a:rPr>
              <a:t>关系，正电平接到集电极（</a:t>
            </a:r>
            <a:r>
              <a:rPr kumimoji="1" lang="en-US" altLang="zh-CN" dirty="0">
                <a:latin typeface="Microsoft YaHei" panose="020B0503020204020204" pitchFamily="34" charset="-122"/>
                <a:ea typeface="Microsoft YaHei" panose="020B0503020204020204" pitchFamily="34" charset="-122"/>
              </a:rPr>
              <a:t>c</a:t>
            </a:r>
            <a:r>
              <a:rPr kumimoji="1" lang="zh-CN" altLang="en-US" dirty="0">
                <a:latin typeface="Microsoft YaHei" panose="020B0503020204020204" pitchFamily="34" charset="-122"/>
                <a:ea typeface="Microsoft YaHei" panose="020B0503020204020204" pitchFamily="34" charset="-122"/>
              </a:rPr>
              <a:t>）一端。</a:t>
            </a:r>
            <a:endParaRPr kumimoji="1" lang="en-US" altLang="zh-CN" dirty="0">
              <a:latin typeface="Microsoft YaHei" panose="020B0503020204020204" pitchFamily="34" charset="-122"/>
              <a:ea typeface="Microsoft YaHei" panose="020B0503020204020204" pitchFamily="34" charset="-122"/>
            </a:endParaRPr>
          </a:p>
          <a:p>
            <a:pPr marL="342900" indent="-342900" algn="just">
              <a:spcBef>
                <a:spcPts val="600"/>
              </a:spcBef>
              <a:buAutoNum type="arabicPeriod"/>
            </a:pPr>
            <a:r>
              <a:rPr kumimoji="1" lang="zh-CN" altLang="en-US" dirty="0">
                <a:latin typeface="Microsoft YaHei" panose="020B0503020204020204" pitchFamily="34" charset="-122"/>
                <a:ea typeface="Microsoft YaHei" panose="020B0503020204020204" pitchFamily="34" charset="-122"/>
              </a:rPr>
              <a:t>基极（</a:t>
            </a:r>
            <a:r>
              <a:rPr kumimoji="1" lang="en-US" altLang="zh-CN" dirty="0">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）需要打开通路，让电子能够过去；</a:t>
            </a:r>
            <a:r>
              <a:rPr kumimoji="1" lang="en-US" altLang="zh-CN" dirty="0">
                <a:latin typeface="Microsoft YaHei" panose="020B0503020204020204" pitchFamily="34" charset="-122"/>
                <a:ea typeface="Microsoft YaHei" panose="020B0503020204020204" pitchFamily="34" charset="-122"/>
              </a:rPr>
              <a:t>NPN</a:t>
            </a:r>
            <a:r>
              <a:rPr kumimoji="1" lang="zh-CN" altLang="en-US" dirty="0">
                <a:latin typeface="Microsoft YaHei" panose="020B0503020204020204" pitchFamily="34" charset="-122"/>
                <a:ea typeface="Microsoft YaHei" panose="020B0503020204020204" pitchFamily="34" charset="-122"/>
              </a:rPr>
              <a:t>情况下，基极（</a:t>
            </a:r>
            <a:r>
              <a:rPr kumimoji="1" lang="en-US" altLang="zh-CN" dirty="0">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发射极（</a:t>
            </a:r>
            <a:r>
              <a:rPr kumimoji="1" lang="en-US" altLang="zh-CN" dirty="0">
                <a:latin typeface="Microsoft YaHei" panose="020B0503020204020204" pitchFamily="34" charset="-122"/>
                <a:ea typeface="Microsoft YaHei" panose="020B0503020204020204" pitchFamily="34" charset="-122"/>
              </a:rPr>
              <a:t>e</a:t>
            </a:r>
            <a:r>
              <a:rPr kumimoji="1" lang="zh-CN" altLang="en-US" dirty="0">
                <a:latin typeface="Microsoft YaHei" panose="020B0503020204020204" pitchFamily="34" charset="-122"/>
                <a:ea typeface="Microsoft YaHei" panose="020B0503020204020204" pitchFamily="34" charset="-122"/>
              </a:rPr>
              <a:t>）是</a:t>
            </a:r>
            <a:r>
              <a:rPr kumimoji="1" lang="en-US" altLang="zh-CN" dirty="0">
                <a:latin typeface="Microsoft YaHei" panose="020B0503020204020204" pitchFamily="34" charset="-122"/>
                <a:ea typeface="Microsoft YaHei" panose="020B0503020204020204" pitchFamily="34" charset="-122"/>
              </a:rPr>
              <a:t>P-N</a:t>
            </a:r>
            <a:r>
              <a:rPr kumimoji="1" lang="zh-CN" altLang="en-US" dirty="0">
                <a:latin typeface="Microsoft YaHei" panose="020B0503020204020204" pitchFamily="34" charset="-122"/>
                <a:ea typeface="Microsoft YaHei" panose="020B0503020204020204" pitchFamily="34" charset="-122"/>
              </a:rPr>
              <a:t>关系，为了能让其通畅，则正电平接到基极（</a:t>
            </a:r>
            <a:r>
              <a:rPr kumimoji="1" lang="en-US" altLang="zh-CN" dirty="0">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）一端。</a:t>
            </a:r>
            <a:endParaRPr kumimoji="1" lang="en-US" altLang="zh-CN" dirty="0">
              <a:latin typeface="Microsoft YaHei" panose="020B0503020204020204" pitchFamily="34" charset="-122"/>
              <a:ea typeface="Microsoft YaHei" panose="020B0503020204020204" pitchFamily="34" charset="-122"/>
            </a:endParaRPr>
          </a:p>
          <a:p>
            <a:pPr marL="342900" indent="-342900" algn="just">
              <a:spcBef>
                <a:spcPts val="600"/>
              </a:spcBef>
              <a:buAutoNum type="arabicPeriod"/>
            </a:pPr>
            <a:r>
              <a:rPr kumimoji="1" lang="zh-CN" altLang="en-US" dirty="0">
                <a:latin typeface="Microsoft YaHei" panose="020B0503020204020204" pitchFamily="34" charset="-122"/>
                <a:ea typeface="Microsoft YaHei" panose="020B0503020204020204" pitchFamily="34" charset="-122"/>
              </a:rPr>
              <a:t>观察电压关系，其实就是：</a:t>
            </a:r>
            <a:r>
              <a:rPr kumimoji="1" lang="zh-CN" altLang="en-US" b="1" dirty="0">
                <a:solidFill>
                  <a:srgbClr val="0070C0"/>
                </a:solidFill>
                <a:latin typeface="Microsoft YaHei" panose="020B0503020204020204" pitchFamily="34" charset="-122"/>
                <a:ea typeface="Microsoft YaHei" panose="020B0503020204020204" pitchFamily="34" charset="-122"/>
              </a:rPr>
              <a:t>发射极（</a:t>
            </a:r>
            <a:r>
              <a:rPr kumimoji="1" lang="en-US" altLang="zh-CN" b="1" dirty="0">
                <a:solidFill>
                  <a:srgbClr val="0070C0"/>
                </a:solidFill>
                <a:latin typeface="Microsoft YaHei" panose="020B0503020204020204" pitchFamily="34" charset="-122"/>
                <a:ea typeface="Microsoft YaHei" panose="020B0503020204020204" pitchFamily="34" charset="-122"/>
              </a:rPr>
              <a:t>e</a:t>
            </a:r>
            <a:r>
              <a:rPr kumimoji="1" lang="zh-CN" altLang="en-US" b="1" dirty="0">
                <a:solidFill>
                  <a:srgbClr val="0070C0"/>
                </a:solidFill>
                <a:latin typeface="Microsoft YaHei" panose="020B0503020204020204" pitchFamily="34" charset="-122"/>
                <a:ea typeface="Microsoft YaHei" panose="020B0503020204020204" pitchFamily="34" charset="-122"/>
              </a:rPr>
              <a:t>）必被接，电压方向顺着它</a:t>
            </a:r>
          </a:p>
        </p:txBody>
      </p:sp>
      <p:grpSp>
        <p:nvGrpSpPr>
          <p:cNvPr id="111" name="组合 110">
            <a:extLst>
              <a:ext uri="{FF2B5EF4-FFF2-40B4-BE49-F238E27FC236}">
                <a16:creationId xmlns:a16="http://schemas.microsoft.com/office/drawing/2014/main" id="{32E5B955-6273-286D-3F2D-3FD0AB15F776}"/>
              </a:ext>
            </a:extLst>
          </p:cNvPr>
          <p:cNvGrpSpPr/>
          <p:nvPr/>
        </p:nvGrpSpPr>
        <p:grpSpPr>
          <a:xfrm>
            <a:off x="7657597" y="2177213"/>
            <a:ext cx="1418069" cy="1328067"/>
            <a:chOff x="7657597" y="2177213"/>
            <a:chExt cx="1418069" cy="1328067"/>
          </a:xfrm>
        </p:grpSpPr>
        <p:cxnSp>
          <p:nvCxnSpPr>
            <p:cNvPr id="69" name="直线连接符 68">
              <a:extLst>
                <a:ext uri="{FF2B5EF4-FFF2-40B4-BE49-F238E27FC236}">
                  <a16:creationId xmlns:a16="http://schemas.microsoft.com/office/drawing/2014/main" id="{BF015B14-E18C-6389-4E5E-E7F4566D41BC}"/>
                </a:ext>
              </a:extLst>
            </p:cNvPr>
            <p:cNvCxnSpPr/>
            <p:nvPr/>
          </p:nvCxnSpPr>
          <p:spPr>
            <a:xfrm>
              <a:off x="7657597" y="2177213"/>
              <a:ext cx="0" cy="10390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0" name="直线连接符 69">
              <a:extLst>
                <a:ext uri="{FF2B5EF4-FFF2-40B4-BE49-F238E27FC236}">
                  <a16:creationId xmlns:a16="http://schemas.microsoft.com/office/drawing/2014/main" id="{9C31F9C2-3775-C0AC-63FF-4E51777621D6}"/>
                </a:ext>
              </a:extLst>
            </p:cNvPr>
            <p:cNvCxnSpPr/>
            <p:nvPr/>
          </p:nvCxnSpPr>
          <p:spPr>
            <a:xfrm>
              <a:off x="9075666" y="2191841"/>
              <a:ext cx="0" cy="10390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1" name="直线连接符 70">
              <a:extLst>
                <a:ext uri="{FF2B5EF4-FFF2-40B4-BE49-F238E27FC236}">
                  <a16:creationId xmlns:a16="http://schemas.microsoft.com/office/drawing/2014/main" id="{905F522E-49BD-0BE2-8A78-E3343DF9D567}"/>
                </a:ext>
              </a:extLst>
            </p:cNvPr>
            <p:cNvCxnSpPr>
              <a:cxnSpLocks/>
            </p:cNvCxnSpPr>
            <p:nvPr/>
          </p:nvCxnSpPr>
          <p:spPr>
            <a:xfrm flipH="1">
              <a:off x="7657597" y="3216229"/>
              <a:ext cx="69710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5" name="直线连接符 74">
              <a:extLst>
                <a:ext uri="{FF2B5EF4-FFF2-40B4-BE49-F238E27FC236}">
                  <a16:creationId xmlns:a16="http://schemas.microsoft.com/office/drawing/2014/main" id="{B749DD5D-2B22-71F8-08E3-8AC148C4D5EA}"/>
                </a:ext>
              </a:extLst>
            </p:cNvPr>
            <p:cNvCxnSpPr>
              <a:cxnSpLocks/>
            </p:cNvCxnSpPr>
            <p:nvPr/>
          </p:nvCxnSpPr>
          <p:spPr>
            <a:xfrm flipV="1">
              <a:off x="8491685" y="2923837"/>
              <a:ext cx="0" cy="581443"/>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8" name="直线连接符 77">
              <a:extLst>
                <a:ext uri="{FF2B5EF4-FFF2-40B4-BE49-F238E27FC236}">
                  <a16:creationId xmlns:a16="http://schemas.microsoft.com/office/drawing/2014/main" id="{BF419EFA-7B3A-6550-9294-BB69669D0B16}"/>
                </a:ext>
              </a:extLst>
            </p:cNvPr>
            <p:cNvCxnSpPr>
              <a:cxnSpLocks/>
            </p:cNvCxnSpPr>
            <p:nvPr/>
          </p:nvCxnSpPr>
          <p:spPr>
            <a:xfrm flipV="1">
              <a:off x="8386445" y="3040878"/>
              <a:ext cx="0" cy="34690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直线连接符 81">
              <a:extLst>
                <a:ext uri="{FF2B5EF4-FFF2-40B4-BE49-F238E27FC236}">
                  <a16:creationId xmlns:a16="http://schemas.microsoft.com/office/drawing/2014/main" id="{219A81C5-CF47-E93B-2AEC-564DC5AFE3BC}"/>
                </a:ext>
              </a:extLst>
            </p:cNvPr>
            <p:cNvCxnSpPr>
              <a:cxnSpLocks/>
            </p:cNvCxnSpPr>
            <p:nvPr/>
          </p:nvCxnSpPr>
          <p:spPr>
            <a:xfrm flipH="1">
              <a:off x="8491685" y="3216229"/>
              <a:ext cx="583981"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12" name="组合 111">
            <a:extLst>
              <a:ext uri="{FF2B5EF4-FFF2-40B4-BE49-F238E27FC236}">
                <a16:creationId xmlns:a16="http://schemas.microsoft.com/office/drawing/2014/main" id="{5149B1C6-8CB4-CD82-073B-C294DB44B77C}"/>
              </a:ext>
            </a:extLst>
          </p:cNvPr>
          <p:cNvGrpSpPr/>
          <p:nvPr/>
        </p:nvGrpSpPr>
        <p:grpSpPr>
          <a:xfrm>
            <a:off x="7657596" y="794578"/>
            <a:ext cx="697106" cy="1329738"/>
            <a:chOff x="7657596" y="794578"/>
            <a:chExt cx="697106" cy="1329738"/>
          </a:xfrm>
        </p:grpSpPr>
        <p:cxnSp>
          <p:nvCxnSpPr>
            <p:cNvPr id="84" name="直线连接符 83">
              <a:extLst>
                <a:ext uri="{FF2B5EF4-FFF2-40B4-BE49-F238E27FC236}">
                  <a16:creationId xmlns:a16="http://schemas.microsoft.com/office/drawing/2014/main" id="{8DC9CCEA-F563-E23B-3CF9-B66CF6506F6A}"/>
                </a:ext>
              </a:extLst>
            </p:cNvPr>
            <p:cNvCxnSpPr/>
            <p:nvPr/>
          </p:nvCxnSpPr>
          <p:spPr>
            <a:xfrm>
              <a:off x="7657597" y="1085300"/>
              <a:ext cx="0" cy="10390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直线连接符 84">
              <a:extLst>
                <a:ext uri="{FF2B5EF4-FFF2-40B4-BE49-F238E27FC236}">
                  <a16:creationId xmlns:a16="http://schemas.microsoft.com/office/drawing/2014/main" id="{59F9D187-69C6-D5EA-B667-78D6F4E68550}"/>
                </a:ext>
              </a:extLst>
            </p:cNvPr>
            <p:cNvCxnSpPr>
              <a:cxnSpLocks/>
            </p:cNvCxnSpPr>
            <p:nvPr/>
          </p:nvCxnSpPr>
          <p:spPr>
            <a:xfrm>
              <a:off x="8354702" y="1113629"/>
              <a:ext cx="0" cy="24476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7" name="直线连接符 86">
              <a:extLst>
                <a:ext uri="{FF2B5EF4-FFF2-40B4-BE49-F238E27FC236}">
                  <a16:creationId xmlns:a16="http://schemas.microsoft.com/office/drawing/2014/main" id="{60E93E47-E400-374D-E41D-77ADCD13B56B}"/>
                </a:ext>
              </a:extLst>
            </p:cNvPr>
            <p:cNvCxnSpPr>
              <a:cxnSpLocks/>
            </p:cNvCxnSpPr>
            <p:nvPr/>
          </p:nvCxnSpPr>
          <p:spPr>
            <a:xfrm flipV="1">
              <a:off x="8074528" y="794578"/>
              <a:ext cx="0" cy="581443"/>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8" name="直线连接符 87">
              <a:extLst>
                <a:ext uri="{FF2B5EF4-FFF2-40B4-BE49-F238E27FC236}">
                  <a16:creationId xmlns:a16="http://schemas.microsoft.com/office/drawing/2014/main" id="{4E895C7B-4805-37F0-92C5-A96B2678BF68}"/>
                </a:ext>
              </a:extLst>
            </p:cNvPr>
            <p:cNvCxnSpPr>
              <a:cxnSpLocks/>
            </p:cNvCxnSpPr>
            <p:nvPr/>
          </p:nvCxnSpPr>
          <p:spPr>
            <a:xfrm flipV="1">
              <a:off x="7969288" y="911619"/>
              <a:ext cx="0" cy="34690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直线连接符 88">
              <a:extLst>
                <a:ext uri="{FF2B5EF4-FFF2-40B4-BE49-F238E27FC236}">
                  <a16:creationId xmlns:a16="http://schemas.microsoft.com/office/drawing/2014/main" id="{E15A34FD-24DF-2323-ABAE-45A6A4199FF5}"/>
                </a:ext>
              </a:extLst>
            </p:cNvPr>
            <p:cNvCxnSpPr>
              <a:cxnSpLocks/>
            </p:cNvCxnSpPr>
            <p:nvPr/>
          </p:nvCxnSpPr>
          <p:spPr>
            <a:xfrm flipH="1">
              <a:off x="7657596" y="1111261"/>
              <a:ext cx="311692"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1" name="直线连接符 90">
              <a:extLst>
                <a:ext uri="{FF2B5EF4-FFF2-40B4-BE49-F238E27FC236}">
                  <a16:creationId xmlns:a16="http://schemas.microsoft.com/office/drawing/2014/main" id="{3161FB55-546E-2360-A2A8-55C71C7117A8}"/>
                </a:ext>
              </a:extLst>
            </p:cNvPr>
            <p:cNvCxnSpPr>
              <a:cxnSpLocks/>
            </p:cNvCxnSpPr>
            <p:nvPr/>
          </p:nvCxnSpPr>
          <p:spPr>
            <a:xfrm flipH="1" flipV="1">
              <a:off x="8094454" y="1108893"/>
              <a:ext cx="260248" cy="2368"/>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93" name="文本框 92">
            <a:extLst>
              <a:ext uri="{FF2B5EF4-FFF2-40B4-BE49-F238E27FC236}">
                <a16:creationId xmlns:a16="http://schemas.microsoft.com/office/drawing/2014/main" id="{A450963A-8E2D-3B4E-D3D0-2E27F2F61F27}"/>
              </a:ext>
            </a:extLst>
          </p:cNvPr>
          <p:cNvSpPr txBox="1"/>
          <p:nvPr/>
        </p:nvSpPr>
        <p:spPr>
          <a:xfrm>
            <a:off x="3097309" y="1157789"/>
            <a:ext cx="4103087" cy="584775"/>
          </a:xfrm>
          <a:prstGeom prst="rect">
            <a:avLst/>
          </a:prstGeom>
          <a:noFill/>
        </p:spPr>
        <p:txBody>
          <a:bodyPr wrap="square" rtlCol="0">
            <a:spAutoFit/>
          </a:bodyPr>
          <a:lstStyle/>
          <a:p>
            <a:r>
              <a:rPr kumimoji="1" lang="zh-CN" altLang="en-US" sz="1600" dirty="0">
                <a:latin typeface="+mj-ea"/>
                <a:ea typeface="+mj-ea"/>
              </a:rPr>
              <a:t>阀门默认关闭，如支水管上有水流，连带阀门被向上推开，打开程度与水流大小相关</a:t>
            </a:r>
          </a:p>
        </p:txBody>
      </p:sp>
      <p:cxnSp>
        <p:nvCxnSpPr>
          <p:cNvPr id="96" name="直线连接符 95">
            <a:extLst>
              <a:ext uri="{FF2B5EF4-FFF2-40B4-BE49-F238E27FC236}">
                <a16:creationId xmlns:a16="http://schemas.microsoft.com/office/drawing/2014/main" id="{FEF0FFA8-1F3B-83E4-112E-E84EDF5F5EF6}"/>
              </a:ext>
            </a:extLst>
          </p:cNvPr>
          <p:cNvCxnSpPr/>
          <p:nvPr/>
        </p:nvCxnSpPr>
        <p:spPr>
          <a:xfrm>
            <a:off x="2202287" y="1085300"/>
            <a:ext cx="0" cy="1118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直线连接符 96">
            <a:extLst>
              <a:ext uri="{FF2B5EF4-FFF2-40B4-BE49-F238E27FC236}">
                <a16:creationId xmlns:a16="http://schemas.microsoft.com/office/drawing/2014/main" id="{C21C13B6-C539-BAC9-E575-1F96D87F9E97}"/>
              </a:ext>
            </a:extLst>
          </p:cNvPr>
          <p:cNvCxnSpPr/>
          <p:nvPr/>
        </p:nvCxnSpPr>
        <p:spPr>
          <a:xfrm>
            <a:off x="2483476" y="1085300"/>
            <a:ext cx="0" cy="1118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直线连接符 98">
            <a:extLst>
              <a:ext uri="{FF2B5EF4-FFF2-40B4-BE49-F238E27FC236}">
                <a16:creationId xmlns:a16="http://schemas.microsoft.com/office/drawing/2014/main" id="{0AA2E13F-7C64-3B55-4539-71F1EB901F0C}"/>
              </a:ext>
            </a:extLst>
          </p:cNvPr>
          <p:cNvCxnSpPr>
            <a:cxnSpLocks/>
          </p:cNvCxnSpPr>
          <p:nvPr/>
        </p:nvCxnSpPr>
        <p:spPr>
          <a:xfrm>
            <a:off x="2485496" y="2190953"/>
            <a:ext cx="3606211" cy="0"/>
          </a:xfrm>
          <a:prstGeom prst="line">
            <a:avLst/>
          </a:prstGeom>
        </p:spPr>
        <p:style>
          <a:lnRef idx="2">
            <a:schemeClr val="accent1"/>
          </a:lnRef>
          <a:fillRef idx="0">
            <a:schemeClr val="accent1"/>
          </a:fillRef>
          <a:effectRef idx="1">
            <a:schemeClr val="accent1"/>
          </a:effectRef>
          <a:fontRef idx="minor">
            <a:schemeClr val="tx1"/>
          </a:fontRef>
        </p:style>
      </p:cxnSp>
      <p:sp>
        <p:nvSpPr>
          <p:cNvPr id="101" name="文本框 100">
            <a:extLst>
              <a:ext uri="{FF2B5EF4-FFF2-40B4-BE49-F238E27FC236}">
                <a16:creationId xmlns:a16="http://schemas.microsoft.com/office/drawing/2014/main" id="{2EB7B33C-E3DB-6E26-83AD-82053FF8467D}"/>
              </a:ext>
            </a:extLst>
          </p:cNvPr>
          <p:cNvSpPr txBox="1"/>
          <p:nvPr/>
        </p:nvSpPr>
        <p:spPr>
          <a:xfrm>
            <a:off x="2525714" y="684787"/>
            <a:ext cx="1159292" cy="369332"/>
          </a:xfrm>
          <a:prstGeom prst="rect">
            <a:avLst/>
          </a:prstGeom>
          <a:noFill/>
        </p:spPr>
        <p:txBody>
          <a:bodyPr wrap="none" rtlCol="0">
            <a:spAutoFit/>
          </a:bodyPr>
          <a:lstStyle/>
          <a:p>
            <a:r>
              <a:rPr kumimoji="1" lang="zh-CN" altLang="en-US" dirty="0"/>
              <a:t>基极</a:t>
            </a:r>
            <a:r>
              <a:rPr kumimoji="1" lang="en-US" altLang="zh-CN" dirty="0"/>
              <a:t>b</a:t>
            </a:r>
            <a:r>
              <a:rPr kumimoji="1" lang="zh-CN" altLang="en-US" dirty="0"/>
              <a:t>：</a:t>
            </a:r>
            <a:r>
              <a:rPr kumimoji="1" lang="en-US" altLang="zh-CN" dirty="0"/>
              <a:t>P</a:t>
            </a:r>
            <a:endParaRPr kumimoji="1" lang="zh-CN" altLang="en-US" dirty="0"/>
          </a:p>
        </p:txBody>
      </p:sp>
      <p:sp>
        <p:nvSpPr>
          <p:cNvPr id="102" name="右箭头 101">
            <a:extLst>
              <a:ext uri="{FF2B5EF4-FFF2-40B4-BE49-F238E27FC236}">
                <a16:creationId xmlns:a16="http://schemas.microsoft.com/office/drawing/2014/main" id="{B1347D3F-E624-1997-725A-061DE8FFD452}"/>
              </a:ext>
            </a:extLst>
          </p:cNvPr>
          <p:cNvSpPr/>
          <p:nvPr/>
        </p:nvSpPr>
        <p:spPr>
          <a:xfrm rot="16200000" flipV="1">
            <a:off x="2137084" y="1776622"/>
            <a:ext cx="399519" cy="9145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nvGrpSpPr>
          <p:cNvPr id="110" name="组合 109">
            <a:extLst>
              <a:ext uri="{FF2B5EF4-FFF2-40B4-BE49-F238E27FC236}">
                <a16:creationId xmlns:a16="http://schemas.microsoft.com/office/drawing/2014/main" id="{41CC192E-0F89-C7F5-78DB-68E67CC70033}"/>
              </a:ext>
            </a:extLst>
          </p:cNvPr>
          <p:cNvGrpSpPr/>
          <p:nvPr/>
        </p:nvGrpSpPr>
        <p:grpSpPr>
          <a:xfrm>
            <a:off x="2321428" y="1396933"/>
            <a:ext cx="674975" cy="1730068"/>
            <a:chOff x="2321428" y="1396933"/>
            <a:chExt cx="674975" cy="1730068"/>
          </a:xfrm>
        </p:grpSpPr>
        <p:cxnSp>
          <p:nvCxnSpPr>
            <p:cNvPr id="10" name="直线连接符 9">
              <a:extLst>
                <a:ext uri="{FF2B5EF4-FFF2-40B4-BE49-F238E27FC236}">
                  <a16:creationId xmlns:a16="http://schemas.microsoft.com/office/drawing/2014/main" id="{816267E7-CFC5-2565-FC45-CD5D8A2CFDF7}"/>
                </a:ext>
              </a:extLst>
            </p:cNvPr>
            <p:cNvCxnSpPr>
              <a:cxnSpLocks/>
            </p:cNvCxnSpPr>
            <p:nvPr/>
          </p:nvCxnSpPr>
          <p:spPr>
            <a:xfrm>
              <a:off x="2321428" y="1420765"/>
              <a:ext cx="6749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4" name="图片 13">
              <a:extLst>
                <a:ext uri="{FF2B5EF4-FFF2-40B4-BE49-F238E27FC236}">
                  <a16:creationId xmlns:a16="http://schemas.microsoft.com/office/drawing/2014/main" id="{747F85D8-D46A-4DEE-3335-FEA5F0C3C4ED}"/>
                </a:ext>
              </a:extLst>
            </p:cNvPr>
            <p:cNvPicPr>
              <a:picLocks noChangeAspect="1"/>
            </p:cNvPicPr>
            <p:nvPr/>
          </p:nvPicPr>
          <p:blipFill>
            <a:blip r:embed="rId2"/>
            <a:stretch>
              <a:fillRect/>
            </a:stretch>
          </p:blipFill>
          <p:spPr>
            <a:xfrm rot="5400000">
              <a:off x="2367477" y="1704107"/>
              <a:ext cx="718800" cy="254893"/>
            </a:xfrm>
            <a:prstGeom prst="rect">
              <a:avLst/>
            </a:prstGeom>
          </p:spPr>
        </p:pic>
        <p:cxnSp>
          <p:nvCxnSpPr>
            <p:cNvPr id="104" name="直线连接符 103">
              <a:extLst>
                <a:ext uri="{FF2B5EF4-FFF2-40B4-BE49-F238E27FC236}">
                  <a16:creationId xmlns:a16="http://schemas.microsoft.com/office/drawing/2014/main" id="{35F5C7BC-719A-3E12-7151-0176D934A10B}"/>
                </a:ext>
              </a:extLst>
            </p:cNvPr>
            <p:cNvCxnSpPr>
              <a:cxnSpLocks/>
            </p:cNvCxnSpPr>
            <p:nvPr/>
          </p:nvCxnSpPr>
          <p:spPr>
            <a:xfrm flipH="1">
              <a:off x="2982710" y="1396933"/>
              <a:ext cx="9371" cy="173006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6657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93" grpId="0"/>
      <p:bldP spid="10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E952DB-C800-29C3-FEFA-973687A45719}"/>
              </a:ext>
            </a:extLst>
          </p:cNvPr>
          <p:cNvSpPr>
            <a:spLocks noGrp="1"/>
          </p:cNvSpPr>
          <p:nvPr>
            <p:ph type="title"/>
          </p:nvPr>
        </p:nvSpPr>
        <p:spPr/>
        <p:txBody>
          <a:bodyPr>
            <a:normAutofit fontScale="90000"/>
          </a:bodyPr>
          <a:lstStyle/>
          <a:p>
            <a:r>
              <a:rPr kumimoji="1" lang="zh-CN" altLang="en-US" dirty="0"/>
              <a:t>极简版想象：电流变水流</a:t>
            </a:r>
          </a:p>
        </p:txBody>
      </p:sp>
      <p:sp>
        <p:nvSpPr>
          <p:cNvPr id="4" name="页脚占位符 3">
            <a:extLst>
              <a:ext uri="{FF2B5EF4-FFF2-40B4-BE49-F238E27FC236}">
                <a16:creationId xmlns:a16="http://schemas.microsoft.com/office/drawing/2014/main" id="{52A15E8D-A77B-CB51-9482-CD309DF05334}"/>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E5A3023B-7B24-EEAC-49A9-D9C58A0E09DA}"/>
              </a:ext>
            </a:extLst>
          </p:cNvPr>
          <p:cNvSpPr>
            <a:spLocks noGrp="1"/>
          </p:cNvSpPr>
          <p:nvPr>
            <p:ph type="sldNum" sz="quarter" idx="12"/>
          </p:nvPr>
        </p:nvSpPr>
        <p:spPr/>
        <p:txBody>
          <a:bodyPr/>
          <a:lstStyle/>
          <a:p>
            <a:fld id="{9E260BC5-5BF3-8746-862B-DC45E9CAA88B}" type="slidenum">
              <a:rPr lang="en-US" smtClean="0"/>
              <a:pPr/>
              <a:t>11</a:t>
            </a:fld>
            <a:r>
              <a:rPr lang="en-US" altLang="zh-CN" dirty="0"/>
              <a:t>/33</a:t>
            </a:r>
            <a:endParaRPr lang="en-US" dirty="0"/>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644790F6-395B-0165-48C0-57086752192F}"/>
                  </a:ext>
                </a:extLst>
              </p:cNvPr>
              <p:cNvSpPr txBox="1"/>
              <p:nvPr/>
            </p:nvSpPr>
            <p:spPr>
              <a:xfrm>
                <a:off x="0" y="4513161"/>
                <a:ext cx="9906000" cy="1708160"/>
              </a:xfrm>
              <a:prstGeom prst="rect">
                <a:avLst/>
              </a:prstGeom>
              <a:noFill/>
            </p:spPr>
            <p:txBody>
              <a:bodyPr wrap="square" rtlCol="0">
                <a:spAutoFit/>
              </a:bodyPr>
              <a:lstStyle/>
              <a:p>
                <a:pPr marL="342900" indent="-342900" algn="just">
                  <a:spcBef>
                    <a:spcPts val="600"/>
                  </a:spcBef>
                  <a:buAutoNum type="arabicPeriod"/>
                </a:pPr>
                <a:r>
                  <a:rPr kumimoji="1" lang="zh-CN" altLang="en-US" dirty="0">
                    <a:latin typeface="Microsoft YaHei" panose="020B0503020204020204" pitchFamily="34" charset="-122"/>
                    <a:ea typeface="Microsoft YaHei" panose="020B0503020204020204" pitchFamily="34" charset="-122"/>
                  </a:rPr>
                  <a:t>当满足：</a:t>
                </a:r>
                <a:r>
                  <a:rPr kumimoji="1" lang="zh-CN" altLang="en-US" b="1" dirty="0">
                    <a:solidFill>
                      <a:srgbClr val="0070C0"/>
                    </a:solidFill>
                    <a:latin typeface="Microsoft YaHei" panose="020B0503020204020204" pitchFamily="34" charset="-122"/>
                    <a:ea typeface="Microsoft YaHei" panose="020B0503020204020204" pitchFamily="34" charset="-122"/>
                  </a:rPr>
                  <a:t>发射极（</a:t>
                </a:r>
                <a:r>
                  <a:rPr kumimoji="1" lang="en-US" altLang="zh-CN" b="1" dirty="0">
                    <a:solidFill>
                      <a:srgbClr val="0070C0"/>
                    </a:solidFill>
                    <a:latin typeface="Microsoft YaHei" panose="020B0503020204020204" pitchFamily="34" charset="-122"/>
                    <a:ea typeface="Microsoft YaHei" panose="020B0503020204020204" pitchFamily="34" charset="-122"/>
                  </a:rPr>
                  <a:t>e</a:t>
                </a:r>
                <a:r>
                  <a:rPr kumimoji="1" lang="zh-CN" altLang="en-US" b="1" dirty="0">
                    <a:solidFill>
                      <a:srgbClr val="0070C0"/>
                    </a:solidFill>
                    <a:latin typeface="Microsoft YaHei" panose="020B0503020204020204" pitchFamily="34" charset="-122"/>
                    <a:ea typeface="Microsoft YaHei" panose="020B0503020204020204" pitchFamily="34" charset="-122"/>
                  </a:rPr>
                  <a:t>）必被接，电压方向顺着它</a:t>
                </a:r>
                <a:endParaRPr kumimoji="1" lang="en-US" altLang="zh-CN" b="1" dirty="0">
                  <a:solidFill>
                    <a:srgbClr val="0070C0"/>
                  </a:solidFill>
                  <a:latin typeface="Microsoft YaHei" panose="020B0503020204020204" pitchFamily="34" charset="-122"/>
                  <a:ea typeface="Microsoft YaHei" panose="020B0503020204020204" pitchFamily="34" charset="-122"/>
                </a:endParaRPr>
              </a:p>
              <a:p>
                <a:pPr marL="342900" indent="-342900" algn="just">
                  <a:spcBef>
                    <a:spcPts val="600"/>
                  </a:spcBef>
                  <a:buAutoNum type="arabicPeriod"/>
                </a:pPr>
                <a:r>
                  <a:rPr kumimoji="1" lang="zh-CN" altLang="en-US" dirty="0">
                    <a:latin typeface="Microsoft YaHei" panose="020B0503020204020204" pitchFamily="34" charset="-122"/>
                    <a:ea typeface="Microsoft YaHei" panose="020B0503020204020204" pitchFamily="34" charset="-122"/>
                  </a:rPr>
                  <a:t>基极控制的阀门开关大小和基极（</a:t>
                </a:r>
                <a:r>
                  <a:rPr kumimoji="1" lang="en-US" altLang="zh-CN" dirty="0">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发射极（</a:t>
                </a:r>
                <a:r>
                  <a:rPr kumimoji="1" lang="en-US" altLang="zh-CN" dirty="0">
                    <a:latin typeface="Microsoft YaHei" panose="020B0503020204020204" pitchFamily="34" charset="-122"/>
                    <a:ea typeface="Microsoft YaHei" panose="020B0503020204020204" pitchFamily="34" charset="-122"/>
                  </a:rPr>
                  <a:t>e</a:t>
                </a:r>
                <a:r>
                  <a:rPr kumimoji="1" lang="zh-CN" altLang="en-US" dirty="0">
                    <a:latin typeface="Microsoft YaHei" panose="020B0503020204020204" pitchFamily="34" charset="-122"/>
                    <a:ea typeface="Microsoft YaHei" panose="020B0503020204020204" pitchFamily="34" charset="-122"/>
                  </a:rPr>
                  <a:t>）两端电压相关，反映到基极上的电流</a:t>
                </a:r>
                <a:r>
                  <a:rPr kumimoji="1" lang="en-US" altLang="zh-CN" dirty="0" err="1">
                    <a:latin typeface="Microsoft YaHei" panose="020B0503020204020204" pitchFamily="34" charset="-122"/>
                    <a:ea typeface="Microsoft YaHei" panose="020B0503020204020204" pitchFamily="34" charset="-122"/>
                  </a:rPr>
                  <a:t>I</a:t>
                </a:r>
                <a:r>
                  <a:rPr kumimoji="1" lang="en-US" altLang="zh-CN" baseline="-25000" dirty="0" err="1">
                    <a:latin typeface="Microsoft YaHei" panose="020B0503020204020204" pitchFamily="34" charset="-122"/>
                    <a:ea typeface="Microsoft YaHei" panose="020B0503020204020204" pitchFamily="34" charset="-122"/>
                  </a:rPr>
                  <a:t>b</a:t>
                </a:r>
                <a:endParaRPr kumimoji="1" lang="en-US" altLang="zh-CN" baseline="-25000" dirty="0">
                  <a:latin typeface="Microsoft YaHei" panose="020B0503020204020204" pitchFamily="34" charset="-122"/>
                  <a:ea typeface="Microsoft YaHei" panose="020B0503020204020204" pitchFamily="34" charset="-122"/>
                </a:endParaRPr>
              </a:p>
              <a:p>
                <a:pPr marL="342900" indent="-342900" algn="just">
                  <a:spcBef>
                    <a:spcPts val="600"/>
                  </a:spcBef>
                  <a:buFontTx/>
                  <a:buAutoNum type="arabicPeriod"/>
                </a:pPr>
                <a:r>
                  <a:rPr kumimoji="1" lang="zh-CN" altLang="en-US" dirty="0">
                    <a:latin typeface="Microsoft YaHei" panose="020B0503020204020204" pitchFamily="34" charset="-122"/>
                    <a:ea typeface="Microsoft YaHei" panose="020B0503020204020204" pitchFamily="34" charset="-122"/>
                  </a:rPr>
                  <a:t>当集电极（</a:t>
                </a:r>
                <a:r>
                  <a:rPr kumimoji="1" lang="en-US" altLang="zh-CN" dirty="0">
                    <a:latin typeface="Microsoft YaHei" panose="020B0503020204020204" pitchFamily="34" charset="-122"/>
                    <a:ea typeface="Microsoft YaHei" panose="020B0503020204020204" pitchFamily="34" charset="-122"/>
                  </a:rPr>
                  <a:t>c</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发射集（</a:t>
                </a:r>
                <a:r>
                  <a:rPr kumimoji="1" lang="en-US" altLang="zh-CN" dirty="0">
                    <a:latin typeface="Microsoft YaHei" panose="020B0503020204020204" pitchFamily="34" charset="-122"/>
                    <a:ea typeface="Microsoft YaHei" panose="020B0503020204020204" pitchFamily="34" charset="-122"/>
                  </a:rPr>
                  <a:t>e</a:t>
                </a:r>
                <a:r>
                  <a:rPr kumimoji="1" lang="zh-CN" altLang="en-US" dirty="0">
                    <a:latin typeface="Microsoft YaHei" panose="020B0503020204020204" pitchFamily="34" charset="-122"/>
                    <a:ea typeface="Microsoft YaHei" panose="020B0503020204020204" pitchFamily="34" charset="-122"/>
                  </a:rPr>
                  <a:t>）间的电压足够大，则集电极（</a:t>
                </a:r>
                <a:r>
                  <a:rPr kumimoji="1" lang="en-US" altLang="zh-CN" dirty="0">
                    <a:latin typeface="Microsoft YaHei" panose="020B0503020204020204" pitchFamily="34" charset="-122"/>
                    <a:ea typeface="Microsoft YaHei" panose="020B0503020204020204" pitchFamily="34" charset="-122"/>
                  </a:rPr>
                  <a:t>c</a:t>
                </a:r>
                <a:r>
                  <a:rPr kumimoji="1" lang="zh-CN" altLang="en-US" dirty="0">
                    <a:latin typeface="Microsoft YaHei" panose="020B0503020204020204" pitchFamily="34" charset="-122"/>
                    <a:ea typeface="Microsoft YaHei" panose="020B0503020204020204" pitchFamily="34" charset="-122"/>
                  </a:rPr>
                  <a:t>）上的电流</a:t>
                </a:r>
                <a:r>
                  <a:rPr kumimoji="1" lang="en-US" altLang="zh-CN" dirty="0" err="1">
                    <a:latin typeface="Microsoft YaHei" panose="020B0503020204020204" pitchFamily="34" charset="-122"/>
                    <a:ea typeface="Microsoft YaHei" panose="020B0503020204020204" pitchFamily="34" charset="-122"/>
                  </a:rPr>
                  <a:t>I</a:t>
                </a:r>
                <a:r>
                  <a:rPr kumimoji="1" lang="en-US" altLang="zh-CN" baseline="-25000" dirty="0" err="1">
                    <a:latin typeface="Microsoft YaHei" panose="020B0503020204020204" pitchFamily="34" charset="-122"/>
                    <a:ea typeface="Microsoft YaHei" panose="020B0503020204020204" pitchFamily="34" charset="-122"/>
                  </a:rPr>
                  <a:t>c</a:t>
                </a:r>
                <a:r>
                  <a:rPr kumimoji="1" lang="zh-CN" altLang="en-US" dirty="0">
                    <a:latin typeface="Microsoft YaHei" panose="020B0503020204020204" pitchFamily="34" charset="-122"/>
                    <a:ea typeface="Microsoft YaHei" panose="020B0503020204020204" pitchFamily="34" charset="-122"/>
                  </a:rPr>
                  <a:t>仅和阀门开关大小相关，后者和基极上的电流</a:t>
                </a:r>
                <a:r>
                  <a:rPr kumimoji="1" lang="en-US" altLang="zh-CN" dirty="0" err="1">
                    <a:latin typeface="Microsoft YaHei" panose="020B0503020204020204" pitchFamily="34" charset="-122"/>
                    <a:ea typeface="Microsoft YaHei" panose="020B0503020204020204" pitchFamily="34" charset="-122"/>
                  </a:rPr>
                  <a:t>I</a:t>
                </a:r>
                <a:r>
                  <a:rPr kumimoji="1" lang="en-US" altLang="zh-CN" baseline="-25000" dirty="0" err="1">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相关</a:t>
                </a:r>
                <a:endParaRPr kumimoji="1" lang="en-US" altLang="zh-CN" dirty="0">
                  <a:latin typeface="Microsoft YaHei" panose="020B0503020204020204" pitchFamily="34" charset="-122"/>
                  <a:ea typeface="Microsoft YaHei" panose="020B0503020204020204" pitchFamily="34" charset="-122"/>
                </a:endParaRPr>
              </a:p>
              <a:p>
                <a:pPr marL="342900" indent="-342900" algn="just">
                  <a:spcBef>
                    <a:spcPts val="600"/>
                  </a:spcBef>
                  <a:buFontTx/>
                  <a:buAutoNum type="arabicPeriod"/>
                </a:pPr>
                <a:r>
                  <a:rPr kumimoji="1" lang="zh-CN" altLang="en-US" dirty="0">
                    <a:latin typeface="Microsoft YaHei" panose="020B0503020204020204" pitchFamily="34" charset="-122"/>
                    <a:ea typeface="Microsoft YaHei" panose="020B0503020204020204" pitchFamily="34" charset="-122"/>
                  </a:rPr>
                  <a:t>因此在一定范围内，满足</a:t>
                </a:r>
                <a:r>
                  <a:rPr kumimoji="1" lang="en-US" altLang="zh-CN" dirty="0" err="1">
                    <a:latin typeface="Microsoft YaHei" panose="020B0503020204020204" pitchFamily="34" charset="-122"/>
                    <a:ea typeface="Microsoft YaHei" panose="020B0503020204020204" pitchFamily="34" charset="-122"/>
                  </a:rPr>
                  <a:t>I</a:t>
                </a:r>
                <a:r>
                  <a:rPr kumimoji="1" lang="en-US" altLang="zh-CN" baseline="-25000" dirty="0" err="1">
                    <a:latin typeface="Microsoft YaHei" panose="020B0503020204020204" pitchFamily="34" charset="-122"/>
                    <a:ea typeface="Microsoft YaHei" panose="020B0503020204020204" pitchFamily="34" charset="-122"/>
                  </a:rPr>
                  <a:t>e</a:t>
                </a:r>
                <a:r>
                  <a:rPr kumimoji="1" lang="zh-CN" altLang="en-US" dirty="0">
                    <a:latin typeface="Microsoft YaHei" panose="020B0503020204020204" pitchFamily="34" charset="-122"/>
                    <a:ea typeface="Microsoft YaHei" panose="020B0503020204020204" pitchFamily="34" charset="-122"/>
                  </a:rPr>
                  <a:t>和</a:t>
                </a:r>
                <a:r>
                  <a:rPr kumimoji="1" lang="en-US" altLang="zh-CN" dirty="0" err="1">
                    <a:latin typeface="Microsoft YaHei" panose="020B0503020204020204" pitchFamily="34" charset="-122"/>
                    <a:ea typeface="Microsoft YaHei" panose="020B0503020204020204" pitchFamily="34" charset="-122"/>
                  </a:rPr>
                  <a:t>I</a:t>
                </a:r>
                <a:r>
                  <a:rPr kumimoji="1" lang="en-US" altLang="zh-CN" baseline="-25000" dirty="0" err="1">
                    <a:latin typeface="Microsoft YaHei" panose="020B0503020204020204" pitchFamily="34" charset="-122"/>
                    <a:ea typeface="Microsoft YaHei" panose="020B0503020204020204" pitchFamily="34" charset="-122"/>
                  </a:rPr>
                  <a:t>b</a:t>
                </a:r>
                <a:r>
                  <a:rPr kumimoji="1" lang="zh-CN" altLang="en-US" dirty="0">
                    <a:latin typeface="Microsoft YaHei" panose="020B0503020204020204" pitchFamily="34" charset="-122"/>
                    <a:ea typeface="Microsoft YaHei" panose="020B0503020204020204" pitchFamily="34" charset="-122"/>
                  </a:rPr>
                  <a:t>有线性关系：</a:t>
                </a:r>
                <a14:m>
                  <m:oMath xmlns:m="http://schemas.openxmlformats.org/officeDocument/2006/math">
                    <m:sSub>
                      <m:sSubPr>
                        <m:ctrlPr>
                          <a:rPr kumimoji="1" lang="en-US" altLang="zh-CN" i="1" smtClean="0">
                            <a:latin typeface="Cambria Math" panose="02040503050406030204" pitchFamily="18" charset="0"/>
                            <a:ea typeface="Microsoft YaHei" panose="020B0503020204020204" pitchFamily="34" charset="-122"/>
                          </a:rPr>
                        </m:ctrlPr>
                      </m:sSubPr>
                      <m:e>
                        <m:r>
                          <m:rPr>
                            <m:sty m:val="p"/>
                          </m:rPr>
                          <a:rPr kumimoji="1" lang="en-US" altLang="zh-CN" i="1">
                            <a:latin typeface="Cambria Math" panose="02040503050406030204" pitchFamily="18" charset="0"/>
                            <a:ea typeface="Microsoft YaHei" panose="020B0503020204020204" pitchFamily="34" charset="-122"/>
                          </a:rPr>
                          <m:t>I</m:t>
                        </m:r>
                      </m:e>
                      <m:sub>
                        <m:r>
                          <m:rPr>
                            <m:sty m:val="p"/>
                          </m:rPr>
                          <a:rPr kumimoji="1" lang="en-US" altLang="zh-CN" i="1">
                            <a:latin typeface="Cambria Math" panose="02040503050406030204" pitchFamily="18" charset="0"/>
                            <a:ea typeface="Microsoft YaHei" panose="020B0503020204020204" pitchFamily="34" charset="-122"/>
                          </a:rPr>
                          <m:t>e</m:t>
                        </m:r>
                      </m:sub>
                    </m:sSub>
                    <m:r>
                      <a:rPr kumimoji="1" lang="en-US" altLang="zh-CN" b="0" i="1" smtClean="0">
                        <a:latin typeface="Cambria Math" panose="02040503050406030204" pitchFamily="18" charset="0"/>
                        <a:ea typeface="Microsoft YaHei" panose="020B0503020204020204" pitchFamily="34" charset="-122"/>
                      </a:rPr>
                      <m:t>=</m:t>
                    </m:r>
                    <m:sSub>
                      <m:sSubPr>
                        <m:ctrlPr>
                          <a:rPr kumimoji="1" lang="en-US" altLang="zh-CN" i="1">
                            <a:latin typeface="Cambria Math" panose="02040503050406030204" pitchFamily="18" charset="0"/>
                            <a:ea typeface="Microsoft YaHei" panose="020B0503020204020204" pitchFamily="34" charset="-122"/>
                          </a:rPr>
                        </m:ctrlPr>
                      </m:sSubPr>
                      <m:e>
                        <m:r>
                          <m:rPr>
                            <m:sty m:val="p"/>
                          </m:rPr>
                          <a:rPr kumimoji="1" lang="en-US" altLang="zh-CN" i="1">
                            <a:latin typeface="Cambria Math" panose="02040503050406030204" pitchFamily="18" charset="0"/>
                            <a:ea typeface="Microsoft YaHei" panose="020B0503020204020204" pitchFamily="34" charset="-122"/>
                          </a:rPr>
                          <m:t>I</m:t>
                        </m:r>
                      </m:e>
                      <m:sub>
                        <m:r>
                          <m:rPr>
                            <m:sty m:val="p"/>
                          </m:rPr>
                          <a:rPr kumimoji="1" lang="en-US" altLang="zh-CN" i="1">
                            <a:latin typeface="Cambria Math" panose="02040503050406030204" pitchFamily="18" charset="0"/>
                            <a:ea typeface="Microsoft YaHei" panose="020B0503020204020204" pitchFamily="34" charset="-122"/>
                          </a:rPr>
                          <m:t>c</m:t>
                        </m:r>
                      </m:sub>
                    </m:sSub>
                    <m:r>
                      <a:rPr kumimoji="1" lang="en-US" altLang="zh-CN" b="0" i="1" smtClean="0">
                        <a:latin typeface="Cambria Math" panose="02040503050406030204" pitchFamily="18" charset="0"/>
                        <a:ea typeface="Microsoft YaHei" panose="020B0503020204020204" pitchFamily="34" charset="-122"/>
                      </a:rPr>
                      <m:t>+</m:t>
                    </m:r>
                    <m:sSub>
                      <m:sSubPr>
                        <m:ctrlPr>
                          <a:rPr kumimoji="1" lang="en-US" altLang="zh-CN" i="1">
                            <a:latin typeface="Cambria Math" panose="02040503050406030204" pitchFamily="18" charset="0"/>
                            <a:ea typeface="Microsoft YaHei" panose="020B0503020204020204" pitchFamily="34" charset="-122"/>
                          </a:rPr>
                        </m:ctrlPr>
                      </m:sSubPr>
                      <m:e>
                        <m:r>
                          <m:rPr>
                            <m:sty m:val="p"/>
                          </m:rPr>
                          <a:rPr kumimoji="1" lang="en-US" altLang="zh-CN" i="1">
                            <a:latin typeface="Cambria Math" panose="02040503050406030204" pitchFamily="18" charset="0"/>
                            <a:ea typeface="Microsoft YaHei" panose="020B0503020204020204" pitchFamily="34" charset="-122"/>
                          </a:rPr>
                          <m:t>I</m:t>
                        </m:r>
                      </m:e>
                      <m:sub>
                        <m:r>
                          <m:rPr>
                            <m:sty m:val="p"/>
                          </m:rPr>
                          <a:rPr kumimoji="1" lang="en-US" altLang="zh-CN" i="1">
                            <a:latin typeface="Cambria Math" panose="02040503050406030204" pitchFamily="18" charset="0"/>
                            <a:ea typeface="Microsoft YaHei" panose="020B0503020204020204" pitchFamily="34" charset="-122"/>
                          </a:rPr>
                          <m:t>b</m:t>
                        </m:r>
                      </m:sub>
                    </m:sSub>
                    <m:r>
                      <a:rPr kumimoji="1" lang="en-US" altLang="zh-CN" b="0" i="1" smtClean="0">
                        <a:latin typeface="Cambria Math" panose="02040503050406030204" pitchFamily="18" charset="0"/>
                        <a:ea typeface="Microsoft YaHei" panose="020B0503020204020204" pitchFamily="34" charset="-122"/>
                      </a:rPr>
                      <m:t>=</m:t>
                    </m:r>
                    <m:r>
                      <a:rPr kumimoji="1" lang="zh-CN" altLang="en-US" b="0" i="1" smtClean="0">
                        <a:latin typeface="Cambria Math" panose="02040503050406030204" pitchFamily="18" charset="0"/>
                        <a:ea typeface="Microsoft YaHei" panose="020B0503020204020204" pitchFamily="34" charset="-122"/>
                      </a:rPr>
                      <m:t>（</m:t>
                    </m:r>
                    <m:r>
                      <a:rPr kumimoji="1" lang="zh-CN" altLang="en-US" b="0" i="1" smtClean="0">
                        <a:latin typeface="Cambria Math" panose="02040503050406030204" pitchFamily="18" charset="0"/>
                        <a:ea typeface="Microsoft YaHei" panose="020B0503020204020204" pitchFamily="34" charset="-122"/>
                      </a:rPr>
                      <m:t>𝛽</m:t>
                    </m:r>
                    <m:r>
                      <a:rPr kumimoji="1" lang="en-US" altLang="zh-CN" b="0" i="1" smtClean="0">
                        <a:latin typeface="Cambria Math" panose="02040503050406030204" pitchFamily="18" charset="0"/>
                        <a:ea typeface="Microsoft YaHei" panose="020B0503020204020204" pitchFamily="34" charset="-122"/>
                      </a:rPr>
                      <m:t>+1</m:t>
                    </m:r>
                    <m:r>
                      <a:rPr kumimoji="1" lang="zh-CN" altLang="en-US" b="0" i="1" smtClean="0">
                        <a:latin typeface="Cambria Math" panose="02040503050406030204" pitchFamily="18" charset="0"/>
                        <a:ea typeface="Microsoft YaHei" panose="020B0503020204020204" pitchFamily="34" charset="-122"/>
                      </a:rPr>
                      <m:t>）</m:t>
                    </m:r>
                    <m:sSub>
                      <m:sSubPr>
                        <m:ctrlPr>
                          <a:rPr kumimoji="1" lang="en-US" altLang="zh-CN" b="0" i="1" smtClean="0">
                            <a:latin typeface="Cambria Math" panose="02040503050406030204" pitchFamily="18" charset="0"/>
                            <a:ea typeface="Microsoft YaHei" panose="020B0503020204020204" pitchFamily="34" charset="-122"/>
                          </a:rPr>
                        </m:ctrlPr>
                      </m:sSubPr>
                      <m:e>
                        <m:r>
                          <m:rPr>
                            <m:sty m:val="p"/>
                          </m:rPr>
                          <a:rPr kumimoji="1" lang="en-US" altLang="zh-CN" i="1">
                            <a:latin typeface="Cambria Math" panose="02040503050406030204" pitchFamily="18" charset="0"/>
                            <a:ea typeface="Microsoft YaHei" panose="020B0503020204020204" pitchFamily="34" charset="-122"/>
                          </a:rPr>
                          <m:t>I</m:t>
                        </m:r>
                      </m:e>
                      <m:sub>
                        <m:r>
                          <m:rPr>
                            <m:sty m:val="p"/>
                          </m:rPr>
                          <a:rPr kumimoji="1" lang="en-US" altLang="zh-CN" i="1">
                            <a:latin typeface="Cambria Math" panose="02040503050406030204" pitchFamily="18" charset="0"/>
                            <a:ea typeface="Microsoft YaHei" panose="020B0503020204020204" pitchFamily="34" charset="-122"/>
                          </a:rPr>
                          <m:t>b</m:t>
                        </m:r>
                      </m:sub>
                    </m:sSub>
                  </m:oMath>
                </a14:m>
                <a:endParaRPr kumimoji="1" lang="en-US" altLang="zh-CN" dirty="0">
                  <a:latin typeface="Microsoft YaHei" panose="020B0503020204020204" pitchFamily="34" charset="-122"/>
                  <a:ea typeface="Microsoft YaHei" panose="020B0503020204020204" pitchFamily="34" charset="-122"/>
                </a:endParaRPr>
              </a:p>
            </p:txBody>
          </p:sp>
        </mc:Choice>
        <mc:Fallback xmlns="">
          <p:sp>
            <p:nvSpPr>
              <p:cNvPr id="61" name="文本框 60">
                <a:extLst>
                  <a:ext uri="{FF2B5EF4-FFF2-40B4-BE49-F238E27FC236}">
                    <a16:creationId xmlns:a16="http://schemas.microsoft.com/office/drawing/2014/main" id="{644790F6-395B-0165-48C0-57086752192F}"/>
                  </a:ext>
                </a:extLst>
              </p:cNvPr>
              <p:cNvSpPr txBox="1">
                <a:spLocks noRot="1" noChangeAspect="1" noMove="1" noResize="1" noEditPoints="1" noAdjustHandles="1" noChangeArrowheads="1" noChangeShapeType="1" noTextEdit="1"/>
              </p:cNvSpPr>
              <p:nvPr/>
            </p:nvSpPr>
            <p:spPr>
              <a:xfrm>
                <a:off x="0" y="4513161"/>
                <a:ext cx="9906000" cy="1708160"/>
              </a:xfrm>
              <a:prstGeom prst="rect">
                <a:avLst/>
              </a:prstGeom>
              <a:blipFill>
                <a:blip r:embed="rId3"/>
                <a:stretch>
                  <a:fillRect l="-641" t="-3676" r="-513" b="-5882"/>
                </a:stretch>
              </a:blipFill>
            </p:spPr>
            <p:txBody>
              <a:bodyPr/>
              <a:lstStyle/>
              <a:p>
                <a:r>
                  <a:rPr lang="zh-CN" altLang="en-US">
                    <a:noFill/>
                  </a:rPr>
                  <a:t> </a:t>
                </a:r>
              </a:p>
            </p:txBody>
          </p:sp>
        </mc:Fallback>
      </mc:AlternateContent>
      <p:cxnSp>
        <p:nvCxnSpPr>
          <p:cNvPr id="69" name="直线连接符 68">
            <a:extLst>
              <a:ext uri="{FF2B5EF4-FFF2-40B4-BE49-F238E27FC236}">
                <a16:creationId xmlns:a16="http://schemas.microsoft.com/office/drawing/2014/main" id="{BF015B14-E18C-6389-4E5E-E7F4566D41BC}"/>
              </a:ext>
            </a:extLst>
          </p:cNvPr>
          <p:cNvCxnSpPr/>
          <p:nvPr/>
        </p:nvCxnSpPr>
        <p:spPr>
          <a:xfrm>
            <a:off x="7657597" y="2177213"/>
            <a:ext cx="0" cy="10390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0" name="直线连接符 69">
            <a:extLst>
              <a:ext uri="{FF2B5EF4-FFF2-40B4-BE49-F238E27FC236}">
                <a16:creationId xmlns:a16="http://schemas.microsoft.com/office/drawing/2014/main" id="{9C31F9C2-3775-C0AC-63FF-4E51777621D6}"/>
              </a:ext>
            </a:extLst>
          </p:cNvPr>
          <p:cNvCxnSpPr/>
          <p:nvPr/>
        </p:nvCxnSpPr>
        <p:spPr>
          <a:xfrm>
            <a:off x="9075666" y="2191841"/>
            <a:ext cx="0" cy="10390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1" name="直线连接符 70">
            <a:extLst>
              <a:ext uri="{FF2B5EF4-FFF2-40B4-BE49-F238E27FC236}">
                <a16:creationId xmlns:a16="http://schemas.microsoft.com/office/drawing/2014/main" id="{905F522E-49BD-0BE2-8A78-E3343DF9D567}"/>
              </a:ext>
            </a:extLst>
          </p:cNvPr>
          <p:cNvCxnSpPr>
            <a:cxnSpLocks/>
          </p:cNvCxnSpPr>
          <p:nvPr/>
        </p:nvCxnSpPr>
        <p:spPr>
          <a:xfrm flipH="1">
            <a:off x="7657597" y="3216229"/>
            <a:ext cx="69710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5" name="直线连接符 74">
            <a:extLst>
              <a:ext uri="{FF2B5EF4-FFF2-40B4-BE49-F238E27FC236}">
                <a16:creationId xmlns:a16="http://schemas.microsoft.com/office/drawing/2014/main" id="{B749DD5D-2B22-71F8-08E3-8AC148C4D5EA}"/>
              </a:ext>
            </a:extLst>
          </p:cNvPr>
          <p:cNvCxnSpPr>
            <a:cxnSpLocks/>
          </p:cNvCxnSpPr>
          <p:nvPr/>
        </p:nvCxnSpPr>
        <p:spPr>
          <a:xfrm flipV="1">
            <a:off x="8491685" y="2923837"/>
            <a:ext cx="0" cy="581443"/>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8" name="直线连接符 77">
            <a:extLst>
              <a:ext uri="{FF2B5EF4-FFF2-40B4-BE49-F238E27FC236}">
                <a16:creationId xmlns:a16="http://schemas.microsoft.com/office/drawing/2014/main" id="{BF419EFA-7B3A-6550-9294-BB69669D0B16}"/>
              </a:ext>
            </a:extLst>
          </p:cNvPr>
          <p:cNvCxnSpPr>
            <a:cxnSpLocks/>
          </p:cNvCxnSpPr>
          <p:nvPr/>
        </p:nvCxnSpPr>
        <p:spPr>
          <a:xfrm flipV="1">
            <a:off x="8386445" y="3040878"/>
            <a:ext cx="0" cy="34690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直线连接符 81">
            <a:extLst>
              <a:ext uri="{FF2B5EF4-FFF2-40B4-BE49-F238E27FC236}">
                <a16:creationId xmlns:a16="http://schemas.microsoft.com/office/drawing/2014/main" id="{219A81C5-CF47-E93B-2AEC-564DC5AFE3BC}"/>
              </a:ext>
            </a:extLst>
          </p:cNvPr>
          <p:cNvCxnSpPr>
            <a:cxnSpLocks/>
          </p:cNvCxnSpPr>
          <p:nvPr/>
        </p:nvCxnSpPr>
        <p:spPr>
          <a:xfrm flipH="1">
            <a:off x="8491685" y="3216229"/>
            <a:ext cx="583981"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4" name="直线连接符 83">
            <a:extLst>
              <a:ext uri="{FF2B5EF4-FFF2-40B4-BE49-F238E27FC236}">
                <a16:creationId xmlns:a16="http://schemas.microsoft.com/office/drawing/2014/main" id="{8DC9CCEA-F563-E23B-3CF9-B66CF6506F6A}"/>
              </a:ext>
            </a:extLst>
          </p:cNvPr>
          <p:cNvCxnSpPr/>
          <p:nvPr/>
        </p:nvCxnSpPr>
        <p:spPr>
          <a:xfrm>
            <a:off x="7657597" y="1085300"/>
            <a:ext cx="0" cy="10390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直线连接符 84">
            <a:extLst>
              <a:ext uri="{FF2B5EF4-FFF2-40B4-BE49-F238E27FC236}">
                <a16:creationId xmlns:a16="http://schemas.microsoft.com/office/drawing/2014/main" id="{59F9D187-69C6-D5EA-B667-78D6F4E68550}"/>
              </a:ext>
            </a:extLst>
          </p:cNvPr>
          <p:cNvCxnSpPr>
            <a:cxnSpLocks/>
          </p:cNvCxnSpPr>
          <p:nvPr/>
        </p:nvCxnSpPr>
        <p:spPr>
          <a:xfrm>
            <a:off x="8354702" y="1113629"/>
            <a:ext cx="0" cy="24476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7" name="直线连接符 86">
            <a:extLst>
              <a:ext uri="{FF2B5EF4-FFF2-40B4-BE49-F238E27FC236}">
                <a16:creationId xmlns:a16="http://schemas.microsoft.com/office/drawing/2014/main" id="{60E93E47-E400-374D-E41D-77ADCD13B56B}"/>
              </a:ext>
            </a:extLst>
          </p:cNvPr>
          <p:cNvCxnSpPr>
            <a:cxnSpLocks/>
          </p:cNvCxnSpPr>
          <p:nvPr/>
        </p:nvCxnSpPr>
        <p:spPr>
          <a:xfrm flipV="1">
            <a:off x="8074528" y="794578"/>
            <a:ext cx="0" cy="581443"/>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8" name="直线连接符 87">
            <a:extLst>
              <a:ext uri="{FF2B5EF4-FFF2-40B4-BE49-F238E27FC236}">
                <a16:creationId xmlns:a16="http://schemas.microsoft.com/office/drawing/2014/main" id="{4E895C7B-4805-37F0-92C5-A96B2678BF68}"/>
              </a:ext>
            </a:extLst>
          </p:cNvPr>
          <p:cNvCxnSpPr>
            <a:cxnSpLocks/>
          </p:cNvCxnSpPr>
          <p:nvPr/>
        </p:nvCxnSpPr>
        <p:spPr>
          <a:xfrm flipV="1">
            <a:off x="7969288" y="911619"/>
            <a:ext cx="0" cy="34690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直线连接符 88">
            <a:extLst>
              <a:ext uri="{FF2B5EF4-FFF2-40B4-BE49-F238E27FC236}">
                <a16:creationId xmlns:a16="http://schemas.microsoft.com/office/drawing/2014/main" id="{E15A34FD-24DF-2323-ABAE-45A6A4199FF5}"/>
              </a:ext>
            </a:extLst>
          </p:cNvPr>
          <p:cNvCxnSpPr>
            <a:cxnSpLocks/>
          </p:cNvCxnSpPr>
          <p:nvPr/>
        </p:nvCxnSpPr>
        <p:spPr>
          <a:xfrm flipH="1">
            <a:off x="7657596" y="1111261"/>
            <a:ext cx="311692"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1" name="直线连接符 90">
            <a:extLst>
              <a:ext uri="{FF2B5EF4-FFF2-40B4-BE49-F238E27FC236}">
                <a16:creationId xmlns:a16="http://schemas.microsoft.com/office/drawing/2014/main" id="{3161FB55-546E-2360-A2A8-55C71C7117A8}"/>
              </a:ext>
            </a:extLst>
          </p:cNvPr>
          <p:cNvCxnSpPr>
            <a:cxnSpLocks/>
          </p:cNvCxnSpPr>
          <p:nvPr/>
        </p:nvCxnSpPr>
        <p:spPr>
          <a:xfrm flipH="1" flipV="1">
            <a:off x="8094454" y="1108893"/>
            <a:ext cx="260248" cy="236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02" name="直线连接符 101">
            <a:extLst>
              <a:ext uri="{FF2B5EF4-FFF2-40B4-BE49-F238E27FC236}">
                <a16:creationId xmlns:a16="http://schemas.microsoft.com/office/drawing/2014/main" id="{37BAC2A4-4D67-05EB-4D47-399B3544D1B8}"/>
              </a:ext>
            </a:extLst>
          </p:cNvPr>
          <p:cNvCxnSpPr>
            <a:cxnSpLocks/>
          </p:cNvCxnSpPr>
          <p:nvPr/>
        </p:nvCxnSpPr>
        <p:spPr>
          <a:xfrm>
            <a:off x="246800" y="3104092"/>
            <a:ext cx="58449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直线连接符 102">
            <a:extLst>
              <a:ext uri="{FF2B5EF4-FFF2-40B4-BE49-F238E27FC236}">
                <a16:creationId xmlns:a16="http://schemas.microsoft.com/office/drawing/2014/main" id="{CE45C1EC-3F63-5C0D-FC4B-CFE76C337BBD}"/>
              </a:ext>
            </a:extLst>
          </p:cNvPr>
          <p:cNvCxnSpPr>
            <a:cxnSpLocks/>
          </p:cNvCxnSpPr>
          <p:nvPr/>
        </p:nvCxnSpPr>
        <p:spPr>
          <a:xfrm>
            <a:off x="246800" y="2203546"/>
            <a:ext cx="1955487"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104" name="组合 103">
            <a:extLst>
              <a:ext uri="{FF2B5EF4-FFF2-40B4-BE49-F238E27FC236}">
                <a16:creationId xmlns:a16="http://schemas.microsoft.com/office/drawing/2014/main" id="{C2B00832-227E-6981-625D-C37B0ACE4FC2}"/>
              </a:ext>
            </a:extLst>
          </p:cNvPr>
          <p:cNvGrpSpPr/>
          <p:nvPr/>
        </p:nvGrpSpPr>
        <p:grpSpPr>
          <a:xfrm>
            <a:off x="529640" y="2409406"/>
            <a:ext cx="312906" cy="369332"/>
            <a:chOff x="1535367" y="2343791"/>
            <a:chExt cx="312906" cy="369332"/>
          </a:xfrm>
        </p:grpSpPr>
        <p:sp>
          <p:nvSpPr>
            <p:cNvPr id="105" name="文本框 104">
              <a:extLst>
                <a:ext uri="{FF2B5EF4-FFF2-40B4-BE49-F238E27FC236}">
                  <a16:creationId xmlns:a16="http://schemas.microsoft.com/office/drawing/2014/main" id="{7BB7AC04-33D6-2162-8897-C4FA476B1D9A}"/>
                </a:ext>
              </a:extLst>
            </p:cNvPr>
            <p:cNvSpPr txBox="1"/>
            <p:nvPr/>
          </p:nvSpPr>
          <p:spPr>
            <a:xfrm>
              <a:off x="1535367" y="2343791"/>
              <a:ext cx="312906" cy="369332"/>
            </a:xfrm>
            <a:prstGeom prst="rect">
              <a:avLst/>
            </a:prstGeom>
            <a:noFill/>
          </p:spPr>
          <p:txBody>
            <a:bodyPr wrap="none" rtlCol="0">
              <a:spAutoFit/>
            </a:bodyPr>
            <a:lstStyle/>
            <a:p>
              <a:r>
                <a:rPr kumimoji="1" lang="en-US" altLang="zh-CN" dirty="0"/>
                <a:t>e</a:t>
              </a:r>
              <a:endParaRPr kumimoji="1" lang="zh-CN" altLang="en-US" dirty="0"/>
            </a:p>
          </p:txBody>
        </p:sp>
        <p:sp>
          <p:nvSpPr>
            <p:cNvPr id="106" name="椭圆 105">
              <a:extLst>
                <a:ext uri="{FF2B5EF4-FFF2-40B4-BE49-F238E27FC236}">
                  <a16:creationId xmlns:a16="http://schemas.microsoft.com/office/drawing/2014/main" id="{DB6F7952-63E6-F04B-AB11-AB0EF787B83C}"/>
                </a:ext>
              </a:extLst>
            </p:cNvPr>
            <p:cNvSpPr/>
            <p:nvPr/>
          </p:nvSpPr>
          <p:spPr>
            <a:xfrm>
              <a:off x="1535367" y="2382982"/>
              <a:ext cx="299811" cy="29981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grpSp>
        <p:nvGrpSpPr>
          <p:cNvPr id="107" name="组合 106">
            <a:extLst>
              <a:ext uri="{FF2B5EF4-FFF2-40B4-BE49-F238E27FC236}">
                <a16:creationId xmlns:a16="http://schemas.microsoft.com/office/drawing/2014/main" id="{252A28E1-5017-0E8C-3C2A-F1E5D2D65F4B}"/>
              </a:ext>
            </a:extLst>
          </p:cNvPr>
          <p:cNvGrpSpPr/>
          <p:nvPr/>
        </p:nvGrpSpPr>
        <p:grpSpPr>
          <a:xfrm>
            <a:off x="719003" y="2616130"/>
            <a:ext cx="312906" cy="369332"/>
            <a:chOff x="1535367" y="2343791"/>
            <a:chExt cx="312906" cy="369332"/>
          </a:xfrm>
        </p:grpSpPr>
        <p:sp>
          <p:nvSpPr>
            <p:cNvPr id="108" name="文本框 107">
              <a:extLst>
                <a:ext uri="{FF2B5EF4-FFF2-40B4-BE49-F238E27FC236}">
                  <a16:creationId xmlns:a16="http://schemas.microsoft.com/office/drawing/2014/main" id="{04666CE1-FDC1-2C11-7550-2081179BB632}"/>
                </a:ext>
              </a:extLst>
            </p:cNvPr>
            <p:cNvSpPr txBox="1"/>
            <p:nvPr/>
          </p:nvSpPr>
          <p:spPr>
            <a:xfrm>
              <a:off x="1535367" y="2343791"/>
              <a:ext cx="312906" cy="369332"/>
            </a:xfrm>
            <a:prstGeom prst="rect">
              <a:avLst/>
            </a:prstGeom>
            <a:noFill/>
          </p:spPr>
          <p:txBody>
            <a:bodyPr wrap="none" rtlCol="0">
              <a:spAutoFit/>
            </a:bodyPr>
            <a:lstStyle/>
            <a:p>
              <a:r>
                <a:rPr kumimoji="1" lang="en-US" altLang="zh-CN" dirty="0"/>
                <a:t>e</a:t>
              </a:r>
              <a:endParaRPr kumimoji="1" lang="zh-CN" altLang="en-US" dirty="0"/>
            </a:p>
          </p:txBody>
        </p:sp>
        <p:sp>
          <p:nvSpPr>
            <p:cNvPr id="109" name="椭圆 108">
              <a:extLst>
                <a:ext uri="{FF2B5EF4-FFF2-40B4-BE49-F238E27FC236}">
                  <a16:creationId xmlns:a16="http://schemas.microsoft.com/office/drawing/2014/main" id="{DF6CA6C5-0043-79F9-B36E-B5BD19BAF97D}"/>
                </a:ext>
              </a:extLst>
            </p:cNvPr>
            <p:cNvSpPr/>
            <p:nvPr/>
          </p:nvSpPr>
          <p:spPr>
            <a:xfrm>
              <a:off x="1535367" y="2382982"/>
              <a:ext cx="299811" cy="29981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grpSp>
        <p:nvGrpSpPr>
          <p:cNvPr id="110" name="组合 109">
            <a:extLst>
              <a:ext uri="{FF2B5EF4-FFF2-40B4-BE49-F238E27FC236}">
                <a16:creationId xmlns:a16="http://schemas.microsoft.com/office/drawing/2014/main" id="{EDBDA790-C42A-30BD-0EA6-85D27FBF6111}"/>
              </a:ext>
            </a:extLst>
          </p:cNvPr>
          <p:cNvGrpSpPr/>
          <p:nvPr/>
        </p:nvGrpSpPr>
        <p:grpSpPr>
          <a:xfrm>
            <a:off x="999600" y="2242396"/>
            <a:ext cx="312906" cy="369332"/>
            <a:chOff x="1535367" y="2343791"/>
            <a:chExt cx="312906" cy="369332"/>
          </a:xfrm>
        </p:grpSpPr>
        <p:sp>
          <p:nvSpPr>
            <p:cNvPr id="111" name="文本框 110">
              <a:extLst>
                <a:ext uri="{FF2B5EF4-FFF2-40B4-BE49-F238E27FC236}">
                  <a16:creationId xmlns:a16="http://schemas.microsoft.com/office/drawing/2014/main" id="{A63391E9-F53F-2671-CB3A-F1A3ACFBA04D}"/>
                </a:ext>
              </a:extLst>
            </p:cNvPr>
            <p:cNvSpPr txBox="1"/>
            <p:nvPr/>
          </p:nvSpPr>
          <p:spPr>
            <a:xfrm>
              <a:off x="1535367" y="2343791"/>
              <a:ext cx="312906" cy="369332"/>
            </a:xfrm>
            <a:prstGeom prst="rect">
              <a:avLst/>
            </a:prstGeom>
            <a:noFill/>
          </p:spPr>
          <p:txBody>
            <a:bodyPr wrap="none" rtlCol="0">
              <a:spAutoFit/>
            </a:bodyPr>
            <a:lstStyle/>
            <a:p>
              <a:r>
                <a:rPr kumimoji="1" lang="en-US" altLang="zh-CN" dirty="0"/>
                <a:t>e</a:t>
              </a:r>
              <a:endParaRPr kumimoji="1" lang="zh-CN" altLang="en-US" dirty="0"/>
            </a:p>
          </p:txBody>
        </p:sp>
        <p:sp>
          <p:nvSpPr>
            <p:cNvPr id="112" name="椭圆 111">
              <a:extLst>
                <a:ext uri="{FF2B5EF4-FFF2-40B4-BE49-F238E27FC236}">
                  <a16:creationId xmlns:a16="http://schemas.microsoft.com/office/drawing/2014/main" id="{154430B5-4567-4907-EBA6-89029D8EDE05}"/>
                </a:ext>
              </a:extLst>
            </p:cNvPr>
            <p:cNvSpPr/>
            <p:nvPr/>
          </p:nvSpPr>
          <p:spPr>
            <a:xfrm>
              <a:off x="1535367" y="2382982"/>
              <a:ext cx="299811" cy="29981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113" name="文本框 112">
            <a:extLst>
              <a:ext uri="{FF2B5EF4-FFF2-40B4-BE49-F238E27FC236}">
                <a16:creationId xmlns:a16="http://schemas.microsoft.com/office/drawing/2014/main" id="{B60F2CF9-C7FD-548F-5A59-D0D881E2A80E}"/>
              </a:ext>
            </a:extLst>
          </p:cNvPr>
          <p:cNvSpPr txBox="1"/>
          <p:nvPr/>
        </p:nvSpPr>
        <p:spPr>
          <a:xfrm>
            <a:off x="173846" y="3238211"/>
            <a:ext cx="1402948" cy="369332"/>
          </a:xfrm>
          <a:prstGeom prst="rect">
            <a:avLst/>
          </a:prstGeom>
          <a:noFill/>
        </p:spPr>
        <p:txBody>
          <a:bodyPr wrap="none" rtlCol="0">
            <a:spAutoFit/>
          </a:bodyPr>
          <a:lstStyle/>
          <a:p>
            <a:r>
              <a:rPr kumimoji="1" lang="zh-CN" altLang="en-US" dirty="0"/>
              <a:t>发射极</a:t>
            </a:r>
            <a:r>
              <a:rPr kumimoji="1" lang="en-US" altLang="zh-CN" dirty="0"/>
              <a:t>e</a:t>
            </a:r>
            <a:r>
              <a:rPr kumimoji="1" lang="zh-CN" altLang="en-US" dirty="0"/>
              <a:t>：</a:t>
            </a:r>
            <a:r>
              <a:rPr kumimoji="1" lang="en-US" altLang="zh-CN" dirty="0"/>
              <a:t>N</a:t>
            </a:r>
            <a:endParaRPr kumimoji="1" lang="zh-CN" altLang="en-US" dirty="0"/>
          </a:p>
        </p:txBody>
      </p:sp>
      <p:sp>
        <p:nvSpPr>
          <p:cNvPr id="114" name="文本框 113">
            <a:extLst>
              <a:ext uri="{FF2B5EF4-FFF2-40B4-BE49-F238E27FC236}">
                <a16:creationId xmlns:a16="http://schemas.microsoft.com/office/drawing/2014/main" id="{B2A82B51-A996-9EA9-B21B-DB7B076BB08F}"/>
              </a:ext>
            </a:extLst>
          </p:cNvPr>
          <p:cNvSpPr txBox="1"/>
          <p:nvPr/>
        </p:nvSpPr>
        <p:spPr>
          <a:xfrm>
            <a:off x="5112288" y="3257277"/>
            <a:ext cx="1390124" cy="369332"/>
          </a:xfrm>
          <a:prstGeom prst="rect">
            <a:avLst/>
          </a:prstGeom>
          <a:noFill/>
        </p:spPr>
        <p:txBody>
          <a:bodyPr wrap="none" rtlCol="0">
            <a:spAutoFit/>
          </a:bodyPr>
          <a:lstStyle/>
          <a:p>
            <a:r>
              <a:rPr kumimoji="1" lang="zh-CN" altLang="en-US" dirty="0"/>
              <a:t>集电极</a:t>
            </a:r>
            <a:r>
              <a:rPr kumimoji="1" lang="en-US" altLang="zh-CN" dirty="0"/>
              <a:t>c</a:t>
            </a:r>
            <a:r>
              <a:rPr kumimoji="1" lang="zh-CN" altLang="en-US" dirty="0"/>
              <a:t>：</a:t>
            </a:r>
            <a:r>
              <a:rPr kumimoji="1" lang="en-US" altLang="zh-CN" dirty="0"/>
              <a:t>N</a:t>
            </a:r>
            <a:endParaRPr kumimoji="1" lang="zh-CN" altLang="en-US" dirty="0"/>
          </a:p>
        </p:txBody>
      </p:sp>
      <p:sp>
        <p:nvSpPr>
          <p:cNvPr id="115" name="右箭头 114">
            <a:extLst>
              <a:ext uri="{FF2B5EF4-FFF2-40B4-BE49-F238E27FC236}">
                <a16:creationId xmlns:a16="http://schemas.microsoft.com/office/drawing/2014/main" id="{D7222616-AF29-2E51-8978-B38784FF8E02}"/>
              </a:ext>
            </a:extLst>
          </p:cNvPr>
          <p:cNvSpPr/>
          <p:nvPr/>
        </p:nvSpPr>
        <p:spPr>
          <a:xfrm>
            <a:off x="2643261" y="2499099"/>
            <a:ext cx="1143046" cy="27328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16" name="文本框 115">
            <a:extLst>
              <a:ext uri="{FF2B5EF4-FFF2-40B4-BE49-F238E27FC236}">
                <a16:creationId xmlns:a16="http://schemas.microsoft.com/office/drawing/2014/main" id="{A19E2B0C-D0DF-3191-A940-6C3C72D00DC7}"/>
              </a:ext>
            </a:extLst>
          </p:cNvPr>
          <p:cNvSpPr txBox="1"/>
          <p:nvPr/>
        </p:nvSpPr>
        <p:spPr>
          <a:xfrm>
            <a:off x="328927" y="3698114"/>
            <a:ext cx="6186309" cy="369332"/>
          </a:xfrm>
          <a:prstGeom prst="rect">
            <a:avLst/>
          </a:prstGeom>
          <a:noFill/>
        </p:spPr>
        <p:txBody>
          <a:bodyPr wrap="none" rtlCol="0">
            <a:spAutoFit/>
          </a:bodyPr>
          <a:lstStyle/>
          <a:p>
            <a:r>
              <a:rPr kumimoji="1" lang="zh-CN" altLang="en-US" dirty="0">
                <a:solidFill>
                  <a:schemeClr val="accent1"/>
                </a:solidFill>
              </a:rPr>
              <a:t>目标：在基极的控制下，让电子有序地从发射极流到集电极</a:t>
            </a:r>
          </a:p>
        </p:txBody>
      </p:sp>
      <p:sp>
        <p:nvSpPr>
          <p:cNvPr id="117" name="文本框 116">
            <a:extLst>
              <a:ext uri="{FF2B5EF4-FFF2-40B4-BE49-F238E27FC236}">
                <a16:creationId xmlns:a16="http://schemas.microsoft.com/office/drawing/2014/main" id="{D456740D-1B72-0475-A54C-0A1C830F97F4}"/>
              </a:ext>
            </a:extLst>
          </p:cNvPr>
          <p:cNvSpPr txBox="1"/>
          <p:nvPr/>
        </p:nvSpPr>
        <p:spPr>
          <a:xfrm>
            <a:off x="3097309" y="1157789"/>
            <a:ext cx="4103087" cy="584775"/>
          </a:xfrm>
          <a:prstGeom prst="rect">
            <a:avLst/>
          </a:prstGeom>
          <a:noFill/>
        </p:spPr>
        <p:txBody>
          <a:bodyPr wrap="square" rtlCol="0">
            <a:spAutoFit/>
          </a:bodyPr>
          <a:lstStyle/>
          <a:p>
            <a:r>
              <a:rPr kumimoji="1" lang="zh-CN" altLang="en-US" sz="1600" dirty="0">
                <a:latin typeface="+mj-ea"/>
                <a:ea typeface="+mj-ea"/>
              </a:rPr>
              <a:t>阀门默认关闭，如支水管上有水流，连带阀门被向上推开，打开程度与水流大小相关</a:t>
            </a:r>
          </a:p>
        </p:txBody>
      </p:sp>
      <p:cxnSp>
        <p:nvCxnSpPr>
          <p:cNvPr id="118" name="直线连接符 117">
            <a:extLst>
              <a:ext uri="{FF2B5EF4-FFF2-40B4-BE49-F238E27FC236}">
                <a16:creationId xmlns:a16="http://schemas.microsoft.com/office/drawing/2014/main" id="{C087168F-1D72-0E1F-D9FE-0F2C0273CCC8}"/>
              </a:ext>
            </a:extLst>
          </p:cNvPr>
          <p:cNvCxnSpPr/>
          <p:nvPr/>
        </p:nvCxnSpPr>
        <p:spPr>
          <a:xfrm>
            <a:off x="2202287" y="1085300"/>
            <a:ext cx="0" cy="1118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直线连接符 118">
            <a:extLst>
              <a:ext uri="{FF2B5EF4-FFF2-40B4-BE49-F238E27FC236}">
                <a16:creationId xmlns:a16="http://schemas.microsoft.com/office/drawing/2014/main" id="{88CDFC3B-CB77-CBF0-5F4A-BE537288B72B}"/>
              </a:ext>
            </a:extLst>
          </p:cNvPr>
          <p:cNvCxnSpPr/>
          <p:nvPr/>
        </p:nvCxnSpPr>
        <p:spPr>
          <a:xfrm>
            <a:off x="2483476" y="1085300"/>
            <a:ext cx="0" cy="1118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直线连接符 119">
            <a:extLst>
              <a:ext uri="{FF2B5EF4-FFF2-40B4-BE49-F238E27FC236}">
                <a16:creationId xmlns:a16="http://schemas.microsoft.com/office/drawing/2014/main" id="{7931E526-5F74-6BD4-BEB4-4653A30A208E}"/>
              </a:ext>
            </a:extLst>
          </p:cNvPr>
          <p:cNvCxnSpPr>
            <a:cxnSpLocks/>
          </p:cNvCxnSpPr>
          <p:nvPr/>
        </p:nvCxnSpPr>
        <p:spPr>
          <a:xfrm>
            <a:off x="2485496" y="2190953"/>
            <a:ext cx="3606211" cy="0"/>
          </a:xfrm>
          <a:prstGeom prst="line">
            <a:avLst/>
          </a:prstGeom>
        </p:spPr>
        <p:style>
          <a:lnRef idx="2">
            <a:schemeClr val="accent1"/>
          </a:lnRef>
          <a:fillRef idx="0">
            <a:schemeClr val="accent1"/>
          </a:fillRef>
          <a:effectRef idx="1">
            <a:schemeClr val="accent1"/>
          </a:effectRef>
          <a:fontRef idx="minor">
            <a:schemeClr val="tx1"/>
          </a:fontRef>
        </p:style>
      </p:cxnSp>
      <p:sp>
        <p:nvSpPr>
          <p:cNvPr id="121" name="文本框 120">
            <a:extLst>
              <a:ext uri="{FF2B5EF4-FFF2-40B4-BE49-F238E27FC236}">
                <a16:creationId xmlns:a16="http://schemas.microsoft.com/office/drawing/2014/main" id="{44EB472D-BD38-0D43-80C6-9D583C71402E}"/>
              </a:ext>
            </a:extLst>
          </p:cNvPr>
          <p:cNvSpPr txBox="1"/>
          <p:nvPr/>
        </p:nvSpPr>
        <p:spPr>
          <a:xfrm>
            <a:off x="2525714" y="684787"/>
            <a:ext cx="1159292" cy="369332"/>
          </a:xfrm>
          <a:prstGeom prst="rect">
            <a:avLst/>
          </a:prstGeom>
          <a:noFill/>
        </p:spPr>
        <p:txBody>
          <a:bodyPr wrap="none" rtlCol="0">
            <a:spAutoFit/>
          </a:bodyPr>
          <a:lstStyle/>
          <a:p>
            <a:r>
              <a:rPr kumimoji="1" lang="zh-CN" altLang="en-US" dirty="0"/>
              <a:t>基极</a:t>
            </a:r>
            <a:r>
              <a:rPr kumimoji="1" lang="en-US" altLang="zh-CN" dirty="0"/>
              <a:t>b</a:t>
            </a:r>
            <a:r>
              <a:rPr kumimoji="1" lang="zh-CN" altLang="en-US" dirty="0"/>
              <a:t>：</a:t>
            </a:r>
            <a:r>
              <a:rPr kumimoji="1" lang="en-US" altLang="zh-CN" dirty="0"/>
              <a:t>P</a:t>
            </a:r>
            <a:endParaRPr kumimoji="1" lang="zh-CN" altLang="en-US" dirty="0"/>
          </a:p>
        </p:txBody>
      </p:sp>
      <p:sp>
        <p:nvSpPr>
          <p:cNvPr id="122" name="右箭头 121">
            <a:extLst>
              <a:ext uri="{FF2B5EF4-FFF2-40B4-BE49-F238E27FC236}">
                <a16:creationId xmlns:a16="http://schemas.microsoft.com/office/drawing/2014/main" id="{74D1CA33-DB10-A3A0-419A-71F0C6C10891}"/>
              </a:ext>
            </a:extLst>
          </p:cNvPr>
          <p:cNvSpPr/>
          <p:nvPr/>
        </p:nvSpPr>
        <p:spPr>
          <a:xfrm rot="16200000" flipV="1">
            <a:off x="2137084" y="1776622"/>
            <a:ext cx="399519" cy="9145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nvGrpSpPr>
          <p:cNvPr id="123" name="组合 122">
            <a:extLst>
              <a:ext uri="{FF2B5EF4-FFF2-40B4-BE49-F238E27FC236}">
                <a16:creationId xmlns:a16="http://schemas.microsoft.com/office/drawing/2014/main" id="{71A79B11-340D-9BE6-3279-4C96C3B3D511}"/>
              </a:ext>
            </a:extLst>
          </p:cNvPr>
          <p:cNvGrpSpPr/>
          <p:nvPr/>
        </p:nvGrpSpPr>
        <p:grpSpPr>
          <a:xfrm>
            <a:off x="2321428" y="1396933"/>
            <a:ext cx="674975" cy="1730068"/>
            <a:chOff x="2321428" y="1396933"/>
            <a:chExt cx="674975" cy="1730068"/>
          </a:xfrm>
        </p:grpSpPr>
        <p:cxnSp>
          <p:nvCxnSpPr>
            <p:cNvPr id="124" name="直线连接符 123">
              <a:extLst>
                <a:ext uri="{FF2B5EF4-FFF2-40B4-BE49-F238E27FC236}">
                  <a16:creationId xmlns:a16="http://schemas.microsoft.com/office/drawing/2014/main" id="{CEAC4929-DC60-EB51-42D2-2C0DE89C03B7}"/>
                </a:ext>
              </a:extLst>
            </p:cNvPr>
            <p:cNvCxnSpPr>
              <a:cxnSpLocks/>
            </p:cNvCxnSpPr>
            <p:nvPr/>
          </p:nvCxnSpPr>
          <p:spPr>
            <a:xfrm>
              <a:off x="2321428" y="1420765"/>
              <a:ext cx="6749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25" name="图片 124">
              <a:extLst>
                <a:ext uri="{FF2B5EF4-FFF2-40B4-BE49-F238E27FC236}">
                  <a16:creationId xmlns:a16="http://schemas.microsoft.com/office/drawing/2014/main" id="{D51E6F19-B4DE-969A-7EC3-1912C9E83BD0}"/>
                </a:ext>
              </a:extLst>
            </p:cNvPr>
            <p:cNvPicPr>
              <a:picLocks noChangeAspect="1"/>
            </p:cNvPicPr>
            <p:nvPr/>
          </p:nvPicPr>
          <p:blipFill>
            <a:blip r:embed="rId4"/>
            <a:stretch>
              <a:fillRect/>
            </a:stretch>
          </p:blipFill>
          <p:spPr>
            <a:xfrm rot="5400000">
              <a:off x="2367477" y="1704107"/>
              <a:ext cx="718800" cy="254893"/>
            </a:xfrm>
            <a:prstGeom prst="rect">
              <a:avLst/>
            </a:prstGeom>
          </p:spPr>
        </p:pic>
        <p:cxnSp>
          <p:nvCxnSpPr>
            <p:cNvPr id="126" name="直线连接符 125">
              <a:extLst>
                <a:ext uri="{FF2B5EF4-FFF2-40B4-BE49-F238E27FC236}">
                  <a16:creationId xmlns:a16="http://schemas.microsoft.com/office/drawing/2014/main" id="{5D69AA0C-4830-497B-5924-6B53685F896D}"/>
                </a:ext>
              </a:extLst>
            </p:cNvPr>
            <p:cNvCxnSpPr>
              <a:cxnSpLocks/>
            </p:cNvCxnSpPr>
            <p:nvPr/>
          </p:nvCxnSpPr>
          <p:spPr>
            <a:xfrm flipH="1">
              <a:off x="2982710" y="1396933"/>
              <a:ext cx="9371" cy="173006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27" name="Group 103">
            <a:extLst>
              <a:ext uri="{FF2B5EF4-FFF2-40B4-BE49-F238E27FC236}">
                <a16:creationId xmlns:a16="http://schemas.microsoft.com/office/drawing/2014/main" id="{FB9A62DA-1F9E-C401-55C0-2F147E9D931D}"/>
              </a:ext>
            </a:extLst>
          </p:cNvPr>
          <p:cNvGrpSpPr>
            <a:grpSpLocks/>
          </p:cNvGrpSpPr>
          <p:nvPr/>
        </p:nvGrpSpPr>
        <p:grpSpPr bwMode="auto">
          <a:xfrm rot="5400000">
            <a:off x="7848894" y="693740"/>
            <a:ext cx="1422401" cy="2262188"/>
            <a:chOff x="577" y="2078"/>
            <a:chExt cx="896" cy="1425"/>
          </a:xfrm>
        </p:grpSpPr>
        <p:grpSp>
          <p:nvGrpSpPr>
            <p:cNvPr id="128" name="Group 36">
              <a:extLst>
                <a:ext uri="{FF2B5EF4-FFF2-40B4-BE49-F238E27FC236}">
                  <a16:creationId xmlns:a16="http://schemas.microsoft.com/office/drawing/2014/main" id="{0B9D06A9-7A04-AC44-2016-B4CADF027DAE}"/>
                </a:ext>
              </a:extLst>
            </p:cNvPr>
            <p:cNvGrpSpPr>
              <a:grpSpLocks/>
            </p:cNvGrpSpPr>
            <p:nvPr/>
          </p:nvGrpSpPr>
          <p:grpSpPr bwMode="auto">
            <a:xfrm>
              <a:off x="577" y="2427"/>
              <a:ext cx="896" cy="1076"/>
              <a:chOff x="499" y="2947"/>
              <a:chExt cx="896" cy="1076"/>
            </a:xfrm>
          </p:grpSpPr>
          <p:grpSp>
            <p:nvGrpSpPr>
              <p:cNvPr id="130" name="Group 37">
                <a:extLst>
                  <a:ext uri="{FF2B5EF4-FFF2-40B4-BE49-F238E27FC236}">
                    <a16:creationId xmlns:a16="http://schemas.microsoft.com/office/drawing/2014/main" id="{85B804E8-913F-7E73-88C3-52853069E45A}"/>
                  </a:ext>
                </a:extLst>
              </p:cNvPr>
              <p:cNvGrpSpPr>
                <a:grpSpLocks/>
              </p:cNvGrpSpPr>
              <p:nvPr/>
            </p:nvGrpSpPr>
            <p:grpSpPr bwMode="auto">
              <a:xfrm>
                <a:off x="573" y="2947"/>
                <a:ext cx="822" cy="962"/>
                <a:chOff x="861" y="2415"/>
                <a:chExt cx="940" cy="1096"/>
              </a:xfrm>
            </p:grpSpPr>
            <p:sp>
              <p:nvSpPr>
                <p:cNvPr id="132" name="Line 38">
                  <a:extLst>
                    <a:ext uri="{FF2B5EF4-FFF2-40B4-BE49-F238E27FC236}">
                      <a16:creationId xmlns:a16="http://schemas.microsoft.com/office/drawing/2014/main" id="{E2E47FFF-6F89-4CED-A529-85B05AD9CDCB}"/>
                    </a:ext>
                  </a:extLst>
                </p:cNvPr>
                <p:cNvSpPr>
                  <a:spLocks noChangeShapeType="1"/>
                </p:cNvSpPr>
                <p:nvPr/>
              </p:nvSpPr>
              <p:spPr bwMode="auto">
                <a:xfrm>
                  <a:off x="1334" y="2772"/>
                  <a:ext cx="0" cy="40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3" name="Line 39">
                  <a:extLst>
                    <a:ext uri="{FF2B5EF4-FFF2-40B4-BE49-F238E27FC236}">
                      <a16:creationId xmlns:a16="http://schemas.microsoft.com/office/drawing/2014/main" id="{7DD5C87A-6ACA-6267-1AC9-EDD57A716419}"/>
                    </a:ext>
                  </a:extLst>
                </p:cNvPr>
                <p:cNvSpPr>
                  <a:spLocks noChangeShapeType="1"/>
                </p:cNvSpPr>
                <p:nvPr/>
              </p:nvSpPr>
              <p:spPr bwMode="auto">
                <a:xfrm flipH="1">
                  <a:off x="1022" y="2976"/>
                  <a:ext cx="3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4" name="Line 40">
                  <a:extLst>
                    <a:ext uri="{FF2B5EF4-FFF2-40B4-BE49-F238E27FC236}">
                      <a16:creationId xmlns:a16="http://schemas.microsoft.com/office/drawing/2014/main" id="{99E9CED9-00C6-73D5-D4DD-DD0FE3D66033}"/>
                    </a:ext>
                  </a:extLst>
                </p:cNvPr>
                <p:cNvSpPr>
                  <a:spLocks noChangeShapeType="1"/>
                </p:cNvSpPr>
                <p:nvPr/>
              </p:nvSpPr>
              <p:spPr bwMode="auto">
                <a:xfrm flipV="1">
                  <a:off x="1331" y="2769"/>
                  <a:ext cx="220" cy="139"/>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5" name="Line 41">
                  <a:extLst>
                    <a:ext uri="{FF2B5EF4-FFF2-40B4-BE49-F238E27FC236}">
                      <a16:creationId xmlns:a16="http://schemas.microsoft.com/office/drawing/2014/main" id="{A75A38FC-C28B-B3BD-7D37-4F094C3D69F1}"/>
                    </a:ext>
                  </a:extLst>
                </p:cNvPr>
                <p:cNvSpPr>
                  <a:spLocks noChangeShapeType="1"/>
                </p:cNvSpPr>
                <p:nvPr/>
              </p:nvSpPr>
              <p:spPr bwMode="auto">
                <a:xfrm>
                  <a:off x="1334" y="3046"/>
                  <a:ext cx="210" cy="131"/>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136" name="Line 42">
                  <a:extLst>
                    <a:ext uri="{FF2B5EF4-FFF2-40B4-BE49-F238E27FC236}">
                      <a16:creationId xmlns:a16="http://schemas.microsoft.com/office/drawing/2014/main" id="{305C85A1-4B10-0AF3-D622-C9B5300B280F}"/>
                    </a:ext>
                  </a:extLst>
                </p:cNvPr>
                <p:cNvSpPr>
                  <a:spLocks noChangeShapeType="1"/>
                </p:cNvSpPr>
                <p:nvPr/>
              </p:nvSpPr>
              <p:spPr bwMode="auto">
                <a:xfrm flipV="1">
                  <a:off x="1544" y="2510"/>
                  <a:ext cx="0" cy="26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7" name="Line 43">
                  <a:extLst>
                    <a:ext uri="{FF2B5EF4-FFF2-40B4-BE49-F238E27FC236}">
                      <a16:creationId xmlns:a16="http://schemas.microsoft.com/office/drawing/2014/main" id="{EC8BFDA1-CE7E-C015-59F6-52F5DA2D10DC}"/>
                    </a:ext>
                  </a:extLst>
                </p:cNvPr>
                <p:cNvSpPr>
                  <a:spLocks noChangeShapeType="1"/>
                </p:cNvSpPr>
                <p:nvPr/>
              </p:nvSpPr>
              <p:spPr bwMode="auto">
                <a:xfrm>
                  <a:off x="1544" y="3177"/>
                  <a:ext cx="0" cy="253"/>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8" name="Oval 44">
                  <a:extLst>
                    <a:ext uri="{FF2B5EF4-FFF2-40B4-BE49-F238E27FC236}">
                      <a16:creationId xmlns:a16="http://schemas.microsoft.com/office/drawing/2014/main" id="{9575904B-DD61-B864-F965-F27EE67323A9}"/>
                    </a:ext>
                  </a:extLst>
                </p:cNvPr>
                <p:cNvSpPr>
                  <a:spLocks noChangeArrowheads="1"/>
                </p:cNvSpPr>
                <p:nvPr/>
              </p:nvSpPr>
              <p:spPr bwMode="auto">
                <a:xfrm>
                  <a:off x="937" y="292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9" name="Oval 45">
                  <a:extLst>
                    <a:ext uri="{FF2B5EF4-FFF2-40B4-BE49-F238E27FC236}">
                      <a16:creationId xmlns:a16="http://schemas.microsoft.com/office/drawing/2014/main" id="{60918918-81E6-6465-7BBC-AAF5CDF18C12}"/>
                    </a:ext>
                  </a:extLst>
                </p:cNvPr>
                <p:cNvSpPr>
                  <a:spLocks noChangeArrowheads="1"/>
                </p:cNvSpPr>
                <p:nvPr/>
              </p:nvSpPr>
              <p:spPr bwMode="auto">
                <a:xfrm>
                  <a:off x="1495" y="241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0" name="Oval 46">
                  <a:extLst>
                    <a:ext uri="{FF2B5EF4-FFF2-40B4-BE49-F238E27FC236}">
                      <a16:creationId xmlns:a16="http://schemas.microsoft.com/office/drawing/2014/main" id="{4808CBF0-251F-7D48-339C-EAC191CB78CB}"/>
                    </a:ext>
                  </a:extLst>
                </p:cNvPr>
                <p:cNvSpPr>
                  <a:spLocks noChangeArrowheads="1"/>
                </p:cNvSpPr>
                <p:nvPr/>
              </p:nvSpPr>
              <p:spPr bwMode="auto">
                <a:xfrm>
                  <a:off x="1495" y="3420"/>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141" name="Group 47">
                  <a:extLst>
                    <a:ext uri="{FF2B5EF4-FFF2-40B4-BE49-F238E27FC236}">
                      <a16:creationId xmlns:a16="http://schemas.microsoft.com/office/drawing/2014/main" id="{773ECDB6-1992-C7DB-D0AF-90E727AF74C4}"/>
                    </a:ext>
                  </a:extLst>
                </p:cNvPr>
                <p:cNvGrpSpPr>
                  <a:grpSpLocks/>
                </p:cNvGrpSpPr>
                <p:nvPr/>
              </p:nvGrpSpPr>
              <p:grpSpPr bwMode="auto">
                <a:xfrm>
                  <a:off x="861" y="2554"/>
                  <a:ext cx="940" cy="812"/>
                  <a:chOff x="4449" y="586"/>
                  <a:chExt cx="940" cy="812"/>
                </a:xfrm>
              </p:grpSpPr>
              <p:sp>
                <p:nvSpPr>
                  <p:cNvPr id="142" name="Rectangle 48">
                    <a:extLst>
                      <a:ext uri="{FF2B5EF4-FFF2-40B4-BE49-F238E27FC236}">
                        <a16:creationId xmlns:a16="http://schemas.microsoft.com/office/drawing/2014/main" id="{307CAACB-BCD1-BB09-B170-0E5D247FA694}"/>
                      </a:ext>
                    </a:extLst>
                  </p:cNvPr>
                  <p:cNvSpPr>
                    <a:spLocks noChangeArrowheads="1"/>
                  </p:cNvSpPr>
                  <p:nvPr/>
                </p:nvSpPr>
                <p:spPr bwMode="auto">
                  <a:xfrm rot="16200000" flipH="1">
                    <a:off x="5204" y="503"/>
                    <a:ext cx="97"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c</a:t>
                    </a:r>
                  </a:p>
                </p:txBody>
              </p:sp>
              <p:sp>
                <p:nvSpPr>
                  <p:cNvPr id="143" name="Rectangle 49">
                    <a:extLst>
                      <a:ext uri="{FF2B5EF4-FFF2-40B4-BE49-F238E27FC236}">
                        <a16:creationId xmlns:a16="http://schemas.microsoft.com/office/drawing/2014/main" id="{872D6E9C-EB44-25F5-7178-1731623576B0}"/>
                      </a:ext>
                    </a:extLst>
                  </p:cNvPr>
                  <p:cNvSpPr>
                    <a:spLocks noChangeArrowheads="1"/>
                  </p:cNvSpPr>
                  <p:nvPr/>
                </p:nvSpPr>
                <p:spPr bwMode="auto">
                  <a:xfrm rot="16200000" flipH="1">
                    <a:off x="4520" y="684"/>
                    <a:ext cx="122"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b</a:t>
                    </a:r>
                  </a:p>
                </p:txBody>
              </p:sp>
              <p:sp>
                <p:nvSpPr>
                  <p:cNvPr id="144" name="Rectangle 50">
                    <a:extLst>
                      <a:ext uri="{FF2B5EF4-FFF2-40B4-BE49-F238E27FC236}">
                        <a16:creationId xmlns:a16="http://schemas.microsoft.com/office/drawing/2014/main" id="{69463786-00AB-9015-0A19-2C4626070D8C}"/>
                      </a:ext>
                    </a:extLst>
                  </p:cNvPr>
                  <p:cNvSpPr>
                    <a:spLocks noChangeArrowheads="1"/>
                  </p:cNvSpPr>
                  <p:nvPr/>
                </p:nvSpPr>
                <p:spPr bwMode="auto">
                  <a:xfrm rot="16200000" flipH="1">
                    <a:off x="5209" y="1219"/>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e</a:t>
                    </a:r>
                  </a:p>
                </p:txBody>
              </p:sp>
            </p:grpSp>
          </p:grpSp>
          <p:sp>
            <p:nvSpPr>
              <p:cNvPr id="131" name="Rectangle 51">
                <a:extLst>
                  <a:ext uri="{FF2B5EF4-FFF2-40B4-BE49-F238E27FC236}">
                    <a16:creationId xmlns:a16="http://schemas.microsoft.com/office/drawing/2014/main" id="{27CB4D1D-B909-98C8-38A5-52D702F6536E}"/>
                  </a:ext>
                </a:extLst>
              </p:cNvPr>
              <p:cNvSpPr>
                <a:spLocks noChangeArrowheads="1"/>
              </p:cNvSpPr>
              <p:nvPr/>
            </p:nvSpPr>
            <p:spPr bwMode="auto">
              <a:xfrm>
                <a:off x="499" y="3735"/>
                <a:ext cx="11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kumimoji="1" lang="zh-CN" altLang="en-US" sz="2400" b="0">
                  <a:latin typeface="Times New Roman" panose="02020603050405020304" pitchFamily="18" charset="0"/>
                </a:endParaRPr>
              </a:p>
            </p:txBody>
          </p:sp>
        </p:grpSp>
        <p:sp>
          <p:nvSpPr>
            <p:cNvPr id="129" name="Rectangle 69">
              <a:extLst>
                <a:ext uri="{FF2B5EF4-FFF2-40B4-BE49-F238E27FC236}">
                  <a16:creationId xmlns:a16="http://schemas.microsoft.com/office/drawing/2014/main" id="{B0ED7728-5775-FEFC-67AD-AE993C67B8D7}"/>
                </a:ext>
              </a:extLst>
            </p:cNvPr>
            <p:cNvSpPr>
              <a:spLocks noChangeArrowheads="1"/>
            </p:cNvSpPr>
            <p:nvPr/>
          </p:nvSpPr>
          <p:spPr bwMode="auto">
            <a:xfrm rot="16200000">
              <a:off x="529" y="2190"/>
              <a:ext cx="511"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dirty="0">
                  <a:latin typeface="Times New Roman" panose="02020603050405020304" pitchFamily="18" charset="0"/>
                </a:rPr>
                <a:t>NPN</a:t>
              </a:r>
              <a:endParaRPr lang="zh-CN" altLang="en-US" sz="2400" dirty="0">
                <a:latin typeface="Times New Roman" panose="02020603050405020304" pitchFamily="18" charset="0"/>
              </a:endParaRPr>
            </a:p>
          </p:txBody>
        </p:sp>
      </p:grpSp>
      <p:grpSp>
        <p:nvGrpSpPr>
          <p:cNvPr id="152" name="组合 151">
            <a:extLst>
              <a:ext uri="{FF2B5EF4-FFF2-40B4-BE49-F238E27FC236}">
                <a16:creationId xmlns:a16="http://schemas.microsoft.com/office/drawing/2014/main" id="{641BDB1B-E4FB-8734-2C77-11324658F6BC}"/>
              </a:ext>
            </a:extLst>
          </p:cNvPr>
          <p:cNvGrpSpPr/>
          <p:nvPr/>
        </p:nvGrpSpPr>
        <p:grpSpPr>
          <a:xfrm>
            <a:off x="1652923" y="1577254"/>
            <a:ext cx="5321508" cy="1268490"/>
            <a:chOff x="1652923" y="1577254"/>
            <a:chExt cx="5321508" cy="1268490"/>
          </a:xfrm>
        </p:grpSpPr>
        <p:sp>
          <p:nvSpPr>
            <p:cNvPr id="150" name="文本框 149">
              <a:extLst>
                <a:ext uri="{FF2B5EF4-FFF2-40B4-BE49-F238E27FC236}">
                  <a16:creationId xmlns:a16="http://schemas.microsoft.com/office/drawing/2014/main" id="{9B7B8221-28B6-2B0A-1D75-A378072FEEE6}"/>
                </a:ext>
              </a:extLst>
            </p:cNvPr>
            <p:cNvSpPr txBox="1"/>
            <p:nvPr/>
          </p:nvSpPr>
          <p:spPr>
            <a:xfrm>
              <a:off x="1886309" y="1577254"/>
              <a:ext cx="333746" cy="369332"/>
            </a:xfrm>
            <a:prstGeom prst="rect">
              <a:avLst/>
            </a:prstGeom>
            <a:noFill/>
          </p:spPr>
          <p:txBody>
            <a:bodyPr wrap="none" rtlCol="0">
              <a:spAutoFit/>
            </a:bodyPr>
            <a:lstStyle/>
            <a:p>
              <a:r>
                <a:rPr kumimoji="1" lang="en-US" altLang="zh-CN" dirty="0" err="1"/>
                <a:t>I</a:t>
              </a:r>
              <a:r>
                <a:rPr kumimoji="1" lang="en-US" altLang="zh-CN" baseline="-25000" dirty="0" err="1"/>
                <a:t>b</a:t>
              </a:r>
              <a:endParaRPr kumimoji="1" lang="zh-CN" altLang="en-US" baseline="-25000" dirty="0"/>
            </a:p>
          </p:txBody>
        </p:sp>
        <mc:AlternateContent xmlns:mc="http://schemas.openxmlformats.org/markup-compatibility/2006" xmlns:a14="http://schemas.microsoft.com/office/drawing/2010/main">
          <mc:Choice Requires="a14">
            <p:sp>
              <p:nvSpPr>
                <p:cNvPr id="151" name="文本框 150">
                  <a:extLst>
                    <a:ext uri="{FF2B5EF4-FFF2-40B4-BE49-F238E27FC236}">
                      <a16:creationId xmlns:a16="http://schemas.microsoft.com/office/drawing/2014/main" id="{862822B0-C4AA-0BB8-9CB8-A3FF805664F5}"/>
                    </a:ext>
                  </a:extLst>
                </p:cNvPr>
                <p:cNvSpPr txBox="1"/>
                <p:nvPr/>
              </p:nvSpPr>
              <p:spPr>
                <a:xfrm>
                  <a:off x="1652923" y="2476412"/>
                  <a:ext cx="532150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ea typeface="Microsoft YaHei" panose="020B0503020204020204" pitchFamily="34" charset="-122"/>
                              </a:rPr>
                            </m:ctrlPr>
                          </m:sSubPr>
                          <m:e>
                            <m:r>
                              <m:rPr>
                                <m:sty m:val="p"/>
                              </m:rPr>
                              <a:rPr kumimoji="1" lang="en-US" altLang="zh-CN" i="1">
                                <a:latin typeface="Cambria Math" panose="02040503050406030204" pitchFamily="18" charset="0"/>
                                <a:ea typeface="Microsoft YaHei" panose="020B0503020204020204" pitchFamily="34" charset="-122"/>
                              </a:rPr>
                              <m:t>I</m:t>
                            </m:r>
                          </m:e>
                          <m:sub>
                            <m:r>
                              <m:rPr>
                                <m:sty m:val="p"/>
                              </m:rPr>
                              <a:rPr kumimoji="1" lang="en-US" altLang="zh-CN" i="1">
                                <a:latin typeface="Cambria Math" panose="02040503050406030204" pitchFamily="18" charset="0"/>
                                <a:ea typeface="Microsoft YaHei" panose="020B0503020204020204" pitchFamily="34" charset="-122"/>
                              </a:rPr>
                              <m:t>c</m:t>
                            </m:r>
                          </m:sub>
                        </m:sSub>
                        <m:r>
                          <a:rPr kumimoji="1" lang="en-US" altLang="zh-CN" b="0" i="1" smtClean="0">
                            <a:latin typeface="Cambria Math" panose="02040503050406030204" pitchFamily="18" charset="0"/>
                            <a:ea typeface="Microsoft YaHei" panose="020B0503020204020204" pitchFamily="34" charset="-122"/>
                          </a:rPr>
                          <m:t>=</m:t>
                        </m:r>
                        <m:r>
                          <a:rPr kumimoji="1" lang="zh-CN" altLang="en-US" i="1">
                            <a:latin typeface="Cambria Math" panose="02040503050406030204" pitchFamily="18" charset="0"/>
                            <a:ea typeface="Microsoft YaHei" panose="020B0503020204020204" pitchFamily="34" charset="-122"/>
                          </a:rPr>
                          <m:t>𝛽</m:t>
                        </m:r>
                        <m:sSub>
                          <m:sSubPr>
                            <m:ctrlPr>
                              <a:rPr kumimoji="1" lang="en-US" altLang="zh-CN" b="0" i="1" smtClean="0">
                                <a:latin typeface="Cambria Math" panose="02040503050406030204" pitchFamily="18" charset="0"/>
                                <a:ea typeface="Microsoft YaHei" panose="020B0503020204020204" pitchFamily="34" charset="-122"/>
                              </a:rPr>
                            </m:ctrlPr>
                          </m:sSubPr>
                          <m:e>
                            <m:r>
                              <m:rPr>
                                <m:sty m:val="p"/>
                              </m:rPr>
                              <a:rPr kumimoji="1" lang="en-US" altLang="zh-CN" i="1">
                                <a:latin typeface="Cambria Math" panose="02040503050406030204" pitchFamily="18" charset="0"/>
                                <a:ea typeface="Microsoft YaHei" panose="020B0503020204020204" pitchFamily="34" charset="-122"/>
                              </a:rPr>
                              <m:t>I</m:t>
                            </m:r>
                          </m:e>
                          <m:sub>
                            <m:r>
                              <m:rPr>
                                <m:sty m:val="p"/>
                              </m:rPr>
                              <a:rPr kumimoji="1" lang="en-US" altLang="zh-CN" i="1">
                                <a:latin typeface="Cambria Math" panose="02040503050406030204" pitchFamily="18" charset="0"/>
                                <a:ea typeface="Microsoft YaHei" panose="020B0503020204020204" pitchFamily="34" charset="-122"/>
                              </a:rPr>
                              <m:t>b</m:t>
                            </m:r>
                          </m:sub>
                        </m:sSub>
                      </m:oMath>
                    </m:oMathPara>
                  </a14:m>
                  <a:endParaRPr lang="zh-CN" altLang="en-US" dirty="0"/>
                </a:p>
              </p:txBody>
            </p:sp>
          </mc:Choice>
          <mc:Fallback xmlns="">
            <p:sp>
              <p:nvSpPr>
                <p:cNvPr id="151" name="文本框 150">
                  <a:extLst>
                    <a:ext uri="{FF2B5EF4-FFF2-40B4-BE49-F238E27FC236}">
                      <a16:creationId xmlns:a16="http://schemas.microsoft.com/office/drawing/2014/main" id="{862822B0-C4AA-0BB8-9CB8-A3FF805664F5}"/>
                    </a:ext>
                  </a:extLst>
                </p:cNvPr>
                <p:cNvSpPr txBox="1">
                  <a:spLocks noRot="1" noChangeAspect="1" noMove="1" noResize="1" noEditPoints="1" noAdjustHandles="1" noChangeArrowheads="1" noChangeShapeType="1" noTextEdit="1"/>
                </p:cNvSpPr>
                <p:nvPr/>
              </p:nvSpPr>
              <p:spPr>
                <a:xfrm>
                  <a:off x="1652923" y="2476412"/>
                  <a:ext cx="5321508" cy="369332"/>
                </a:xfrm>
                <a:prstGeom prst="rect">
                  <a:avLst/>
                </a:prstGeom>
                <a:blipFill>
                  <a:blip r:embed="rId5"/>
                  <a:stretch>
                    <a:fillRect b="-1612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70391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1A173B-ADA4-8A35-2CEB-9FA9DE00023F}"/>
              </a:ext>
            </a:extLst>
          </p:cNvPr>
          <p:cNvSpPr>
            <a:spLocks noGrp="1"/>
          </p:cNvSpPr>
          <p:nvPr>
            <p:ph type="title"/>
          </p:nvPr>
        </p:nvSpPr>
        <p:spPr/>
        <p:txBody>
          <a:bodyPr>
            <a:normAutofit fontScale="90000"/>
          </a:bodyPr>
          <a:lstStyle/>
          <a:p>
            <a:r>
              <a:rPr lang="en-US" altLang="zh-CN" dirty="0"/>
              <a:t>BJT</a:t>
            </a:r>
            <a:r>
              <a:rPr lang="zh-CN" altLang="en-US" dirty="0"/>
              <a:t>输入特性</a:t>
            </a:r>
            <a:endParaRPr kumimoji="1" lang="zh-CN" altLang="en-US" dirty="0"/>
          </a:p>
        </p:txBody>
      </p:sp>
      <p:sp>
        <p:nvSpPr>
          <p:cNvPr id="3" name="内容占位符 2">
            <a:extLst>
              <a:ext uri="{FF2B5EF4-FFF2-40B4-BE49-F238E27FC236}">
                <a16:creationId xmlns:a16="http://schemas.microsoft.com/office/drawing/2014/main" id="{F4F40866-6A55-2419-44B8-056FD5AED74C}"/>
              </a:ext>
            </a:extLst>
          </p:cNvPr>
          <p:cNvSpPr>
            <a:spLocks noGrp="1"/>
          </p:cNvSpPr>
          <p:nvPr>
            <p:ph idx="1"/>
          </p:nvPr>
        </p:nvSpPr>
        <p:spPr>
          <a:xfrm>
            <a:off x="17780" y="585760"/>
            <a:ext cx="5183807" cy="5947119"/>
          </a:xfrm>
        </p:spPr>
        <p:txBody>
          <a:bodyPr/>
          <a:lstStyle/>
          <a:p>
            <a:pPr>
              <a:lnSpc>
                <a:spcPct val="120000"/>
              </a:lnSpc>
            </a:pPr>
            <a:r>
              <a:rPr lang="en-US" altLang="zh-CN" sz="2400" dirty="0">
                <a:latin typeface="Microsoft YaHei" panose="020B0503020204020204" pitchFamily="34" charset="-122"/>
                <a:ea typeface="Microsoft YaHei" panose="020B0503020204020204" pitchFamily="34" charset="-122"/>
              </a:rPr>
              <a:t>BJT</a:t>
            </a:r>
            <a:r>
              <a:rPr lang="zh-CN" altLang="en-US" sz="2400" dirty="0">
                <a:latin typeface="Microsoft YaHei" panose="020B0503020204020204" pitchFamily="34" charset="-122"/>
                <a:ea typeface="Microsoft YaHei" panose="020B0503020204020204" pitchFamily="34" charset="-122"/>
              </a:rPr>
              <a:t>输入特性：输入电压和输入电流之间的关系</a:t>
            </a:r>
            <a:endParaRPr lang="en-US" altLang="zh-CN" sz="2400" dirty="0">
              <a:latin typeface="Microsoft YaHei" panose="020B0503020204020204" pitchFamily="34" charset="-122"/>
              <a:ea typeface="Microsoft YaHei" panose="020B0503020204020204" pitchFamily="34" charset="-122"/>
            </a:endParaRPr>
          </a:p>
          <a:p>
            <a:pPr>
              <a:lnSpc>
                <a:spcPct val="120000"/>
              </a:lnSpc>
            </a:pPr>
            <a:endParaRPr lang="en-US" altLang="zh-CN" sz="2400" dirty="0">
              <a:latin typeface="Times New Roman" panose="02020603050405020304" pitchFamily="18" charset="0"/>
            </a:endParaRPr>
          </a:p>
          <a:p>
            <a:pPr>
              <a:lnSpc>
                <a:spcPct val="120000"/>
              </a:lnSpc>
            </a:pPr>
            <a:endParaRPr lang="en-US" altLang="zh-CN" sz="2400" dirty="0">
              <a:latin typeface="Times New Roman" panose="02020603050405020304" pitchFamily="18" charset="0"/>
            </a:endParaRPr>
          </a:p>
          <a:p>
            <a:pPr>
              <a:lnSpc>
                <a:spcPct val="120000"/>
              </a:lnSpc>
            </a:pPr>
            <a:r>
              <a:rPr lang="zh-CN" altLang="en-US" sz="2400" dirty="0">
                <a:latin typeface="Times New Roman" panose="02020603050405020304" pitchFamily="18" charset="0"/>
              </a:rPr>
              <a:t>类似于</a:t>
            </a:r>
            <a:r>
              <a:rPr lang="en-US" altLang="zh-CN" sz="2400" dirty="0">
                <a:latin typeface="Times New Roman" panose="02020603050405020304" pitchFamily="18" charset="0"/>
              </a:rPr>
              <a:t>PN</a:t>
            </a:r>
            <a:r>
              <a:rPr lang="zh-CN" altLang="en-US" sz="2400" dirty="0">
                <a:latin typeface="Times New Roman" panose="02020603050405020304" pitchFamily="18" charset="0"/>
              </a:rPr>
              <a:t>结的正向特性</a:t>
            </a:r>
          </a:p>
          <a:p>
            <a:pPr>
              <a:lnSpc>
                <a:spcPct val="120000"/>
              </a:lnSpc>
            </a:pPr>
            <a:r>
              <a:rPr lang="en-US" altLang="zh-CN" sz="2800" i="1" dirty="0" err="1">
                <a:latin typeface="Times New Roman" panose="02020603050405020304" pitchFamily="18" charset="0"/>
              </a:rPr>
              <a:t>v</a:t>
            </a:r>
            <a:r>
              <a:rPr lang="en-US" altLang="zh-CN" sz="2400" baseline="-25000" dirty="0" err="1">
                <a:latin typeface="Times New Roman" panose="02020603050405020304" pitchFamily="18" charset="0"/>
              </a:rPr>
              <a:t>CE</a:t>
            </a:r>
            <a:r>
              <a:rPr lang="zh-CN" altLang="en-US" sz="2400" dirty="0">
                <a:latin typeface="Times New Roman" panose="02020603050405020304" pitchFamily="18" charset="0"/>
              </a:rPr>
              <a:t>增大，特性曲线右移</a:t>
            </a:r>
          </a:p>
          <a:p>
            <a:pPr lvl="1">
              <a:lnSpc>
                <a:spcPct val="120000"/>
              </a:lnSpc>
            </a:pPr>
            <a:r>
              <a:rPr lang="zh-CN" altLang="en-US" sz="2000" dirty="0">
                <a:latin typeface="Times New Roman" panose="02020603050405020304" pitchFamily="18" charset="0"/>
              </a:rPr>
              <a:t>保持</a:t>
            </a:r>
            <a:r>
              <a:rPr lang="en-US" altLang="zh-CN" sz="2000" i="1" dirty="0" err="1">
                <a:latin typeface="Times New Roman" panose="02020603050405020304" pitchFamily="18" charset="0"/>
              </a:rPr>
              <a:t>v</a:t>
            </a:r>
            <a:r>
              <a:rPr lang="en-US" altLang="zh-CN" sz="2000" baseline="-25000" dirty="0" err="1">
                <a:latin typeface="Times New Roman" panose="02020603050405020304" pitchFamily="18" charset="0"/>
              </a:rPr>
              <a:t>BE</a:t>
            </a:r>
            <a:r>
              <a:rPr lang="zh-CN" altLang="en-US" sz="2000" dirty="0">
                <a:latin typeface="Times New Roman" panose="02020603050405020304" pitchFamily="18" charset="0"/>
              </a:rPr>
              <a:t>不变，</a:t>
            </a:r>
            <a:r>
              <a:rPr lang="zh-CN" altLang="en-US" sz="2000" i="1" dirty="0">
                <a:latin typeface="Times New Roman" panose="02020603050405020304" pitchFamily="18" charset="0"/>
              </a:rPr>
              <a:t> </a:t>
            </a:r>
            <a:r>
              <a:rPr lang="en-US" altLang="zh-CN" sz="2000" i="1" dirty="0" err="1">
                <a:latin typeface="Times New Roman" panose="02020603050405020304" pitchFamily="18" charset="0"/>
              </a:rPr>
              <a:t>v</a:t>
            </a:r>
            <a:r>
              <a:rPr lang="en-US" altLang="zh-CN" sz="2000" baseline="-25000" dirty="0" err="1">
                <a:latin typeface="Times New Roman" panose="02020603050405020304" pitchFamily="18" charset="0"/>
              </a:rPr>
              <a:t>CE</a:t>
            </a:r>
            <a:r>
              <a:rPr lang="zh-CN" altLang="en-US" sz="2000" dirty="0">
                <a:latin typeface="Times New Roman" panose="02020603050405020304" pitchFamily="18" charset="0"/>
              </a:rPr>
              <a:t>从零逐渐增大，集电结从正偏进入反偏，集电极收集电子，基区复合减少，</a:t>
            </a:r>
            <a:r>
              <a:rPr lang="en-US" altLang="zh-CN" sz="2000" i="1" dirty="0">
                <a:latin typeface="Times New Roman" panose="02020603050405020304" pitchFamily="18" charset="0"/>
              </a:rPr>
              <a:t>I</a:t>
            </a:r>
            <a:r>
              <a:rPr lang="en-US" altLang="zh-CN" sz="2000" baseline="-25000" dirty="0">
                <a:latin typeface="Times New Roman" panose="02020603050405020304" pitchFamily="18" charset="0"/>
              </a:rPr>
              <a:t>B</a:t>
            </a:r>
            <a:r>
              <a:rPr lang="zh-CN" altLang="en-US" sz="2000" dirty="0">
                <a:latin typeface="Times New Roman" panose="02020603050405020304" pitchFamily="18" charset="0"/>
              </a:rPr>
              <a:t>减小 </a:t>
            </a:r>
          </a:p>
          <a:p>
            <a:pPr lvl="1">
              <a:lnSpc>
                <a:spcPct val="120000"/>
              </a:lnSpc>
            </a:pPr>
            <a:r>
              <a:rPr lang="zh-CN" altLang="en-US" sz="2000" dirty="0">
                <a:latin typeface="Times New Roman" panose="02020603050405020304" pitchFamily="18" charset="0"/>
              </a:rPr>
              <a:t>当</a:t>
            </a:r>
            <a:r>
              <a:rPr lang="en-US" altLang="zh-CN" sz="2400" i="1" dirty="0">
                <a:latin typeface="Times New Roman" panose="02020603050405020304" pitchFamily="18" charset="0"/>
              </a:rPr>
              <a:t>v</a:t>
            </a:r>
            <a:r>
              <a:rPr lang="en-US" altLang="zh-CN" sz="2000" baseline="-25000" dirty="0">
                <a:latin typeface="Times New Roman" panose="02020603050405020304" pitchFamily="18" charset="0"/>
              </a:rPr>
              <a:t>CE</a:t>
            </a:r>
            <a:r>
              <a:rPr lang="en-US" altLang="zh-CN" sz="2000" dirty="0">
                <a:latin typeface="Times New Roman" panose="02020603050405020304" pitchFamily="18" charset="0"/>
              </a:rPr>
              <a:t>≥1V</a:t>
            </a:r>
            <a:r>
              <a:rPr lang="zh-CN" altLang="en-US" sz="2000" dirty="0">
                <a:latin typeface="Times New Roman" panose="02020603050405020304" pitchFamily="18" charset="0"/>
              </a:rPr>
              <a:t>时，特性曲线几乎重合在一起，即</a:t>
            </a:r>
            <a:r>
              <a:rPr lang="en-US" altLang="zh-CN" sz="2400" i="1" dirty="0" err="1">
                <a:latin typeface="Times New Roman" panose="02020603050405020304" pitchFamily="18" charset="0"/>
              </a:rPr>
              <a:t>v</a:t>
            </a:r>
            <a:r>
              <a:rPr lang="en-US" altLang="zh-CN" sz="2000" baseline="-25000" dirty="0" err="1">
                <a:latin typeface="Times New Roman" panose="02020603050405020304" pitchFamily="18" charset="0"/>
              </a:rPr>
              <a:t>CE</a:t>
            </a:r>
            <a:r>
              <a:rPr lang="zh-CN" altLang="en-US" sz="2000" dirty="0">
                <a:latin typeface="Times New Roman" panose="02020603050405020304" pitchFamily="18" charset="0"/>
              </a:rPr>
              <a:t>对输入特性几乎无影响</a:t>
            </a:r>
          </a:p>
          <a:p>
            <a:endParaRPr kumimoji="1" lang="zh-CN" altLang="en-US" dirty="0"/>
          </a:p>
        </p:txBody>
      </p:sp>
      <p:sp>
        <p:nvSpPr>
          <p:cNvPr id="4" name="页脚占位符 3">
            <a:extLst>
              <a:ext uri="{FF2B5EF4-FFF2-40B4-BE49-F238E27FC236}">
                <a16:creationId xmlns:a16="http://schemas.microsoft.com/office/drawing/2014/main" id="{FF32F87B-CED1-589B-186D-7735548B9063}"/>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26EB3B4F-CD80-C464-8734-88A634184686}"/>
              </a:ext>
            </a:extLst>
          </p:cNvPr>
          <p:cNvSpPr>
            <a:spLocks noGrp="1"/>
          </p:cNvSpPr>
          <p:nvPr>
            <p:ph type="sldNum" sz="quarter" idx="12"/>
          </p:nvPr>
        </p:nvSpPr>
        <p:spPr/>
        <p:txBody>
          <a:bodyPr/>
          <a:lstStyle/>
          <a:p>
            <a:fld id="{9E260BC5-5BF3-8746-862B-DC45E9CAA88B}" type="slidenum">
              <a:rPr lang="en-US" smtClean="0"/>
              <a:pPr/>
              <a:t>12</a:t>
            </a:fld>
            <a:r>
              <a:rPr lang="en-US" altLang="zh-CN" dirty="0"/>
              <a:t>/33</a:t>
            </a:r>
            <a:endParaRPr lang="en-US" dirty="0"/>
          </a:p>
        </p:txBody>
      </p:sp>
      <p:grpSp>
        <p:nvGrpSpPr>
          <p:cNvPr id="6" name="Group 29">
            <a:extLst>
              <a:ext uri="{FF2B5EF4-FFF2-40B4-BE49-F238E27FC236}">
                <a16:creationId xmlns:a16="http://schemas.microsoft.com/office/drawing/2014/main" id="{41541DB3-FCC3-DCA0-C683-2ACA1D2A5F09}"/>
              </a:ext>
            </a:extLst>
          </p:cNvPr>
          <p:cNvGrpSpPr>
            <a:grpSpLocks/>
          </p:cNvGrpSpPr>
          <p:nvPr/>
        </p:nvGrpSpPr>
        <p:grpSpPr bwMode="auto">
          <a:xfrm>
            <a:off x="5789326" y="1010652"/>
            <a:ext cx="2708275" cy="1943100"/>
            <a:chOff x="3175" y="2546"/>
            <a:chExt cx="1706" cy="1224"/>
          </a:xfrm>
        </p:grpSpPr>
        <p:sp>
          <p:nvSpPr>
            <p:cNvPr id="7" name="Line 30">
              <a:extLst>
                <a:ext uri="{FF2B5EF4-FFF2-40B4-BE49-F238E27FC236}">
                  <a16:creationId xmlns:a16="http://schemas.microsoft.com/office/drawing/2014/main" id="{3DC9DF3E-ACD8-7C1A-509E-B58B3981D814}"/>
                </a:ext>
              </a:extLst>
            </p:cNvPr>
            <p:cNvSpPr>
              <a:spLocks noChangeShapeType="1"/>
            </p:cNvSpPr>
            <p:nvPr/>
          </p:nvSpPr>
          <p:spPr bwMode="auto">
            <a:xfrm>
              <a:off x="3915" y="2980"/>
              <a:ext cx="0" cy="35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8" name="Line 31">
              <a:extLst>
                <a:ext uri="{FF2B5EF4-FFF2-40B4-BE49-F238E27FC236}">
                  <a16:creationId xmlns:a16="http://schemas.microsoft.com/office/drawing/2014/main" id="{2091848F-4DD5-99DB-C752-DB9743E9E01B}"/>
                </a:ext>
              </a:extLst>
            </p:cNvPr>
            <p:cNvSpPr>
              <a:spLocks noChangeShapeType="1"/>
            </p:cNvSpPr>
            <p:nvPr/>
          </p:nvSpPr>
          <p:spPr bwMode="auto">
            <a:xfrm flipH="1">
              <a:off x="3470" y="3159"/>
              <a:ext cx="445"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 name="Line 32">
              <a:extLst>
                <a:ext uri="{FF2B5EF4-FFF2-40B4-BE49-F238E27FC236}">
                  <a16:creationId xmlns:a16="http://schemas.microsoft.com/office/drawing/2014/main" id="{DD7B4C90-9E81-4505-8634-30FD7A938A9D}"/>
                </a:ext>
              </a:extLst>
            </p:cNvPr>
            <p:cNvSpPr>
              <a:spLocks noChangeShapeType="1"/>
            </p:cNvSpPr>
            <p:nvPr/>
          </p:nvSpPr>
          <p:spPr bwMode="auto">
            <a:xfrm flipV="1">
              <a:off x="3912" y="2977"/>
              <a:ext cx="193" cy="12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 name="Line 33">
              <a:extLst>
                <a:ext uri="{FF2B5EF4-FFF2-40B4-BE49-F238E27FC236}">
                  <a16:creationId xmlns:a16="http://schemas.microsoft.com/office/drawing/2014/main" id="{19157C61-6092-D10F-6907-07D9EF3D748A}"/>
                </a:ext>
              </a:extLst>
            </p:cNvPr>
            <p:cNvSpPr>
              <a:spLocks noChangeShapeType="1"/>
            </p:cNvSpPr>
            <p:nvPr/>
          </p:nvSpPr>
          <p:spPr bwMode="auto">
            <a:xfrm>
              <a:off x="3915" y="3220"/>
              <a:ext cx="212" cy="133"/>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11" name="Line 34">
              <a:extLst>
                <a:ext uri="{FF2B5EF4-FFF2-40B4-BE49-F238E27FC236}">
                  <a16:creationId xmlns:a16="http://schemas.microsoft.com/office/drawing/2014/main" id="{D82E6A3E-0361-13B8-6931-A74BE7D5F167}"/>
                </a:ext>
              </a:extLst>
            </p:cNvPr>
            <p:cNvSpPr>
              <a:spLocks noChangeShapeType="1"/>
            </p:cNvSpPr>
            <p:nvPr/>
          </p:nvSpPr>
          <p:spPr bwMode="auto">
            <a:xfrm flipV="1">
              <a:off x="4099" y="2682"/>
              <a:ext cx="0" cy="30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2" name="Line 35">
              <a:extLst>
                <a:ext uri="{FF2B5EF4-FFF2-40B4-BE49-F238E27FC236}">
                  <a16:creationId xmlns:a16="http://schemas.microsoft.com/office/drawing/2014/main" id="{42324715-6E03-1D9B-BD46-4C859BDC2CFB}"/>
                </a:ext>
              </a:extLst>
            </p:cNvPr>
            <p:cNvSpPr>
              <a:spLocks noChangeShapeType="1"/>
            </p:cNvSpPr>
            <p:nvPr/>
          </p:nvSpPr>
          <p:spPr bwMode="auto">
            <a:xfrm>
              <a:off x="4105" y="3335"/>
              <a:ext cx="0" cy="322"/>
            </a:xfrm>
            <a:prstGeom prst="line">
              <a:avLst/>
            </a:prstGeom>
            <a:noFill/>
            <a:ln w="38100">
              <a:solidFill>
                <a:schemeClr val="tx1"/>
              </a:solidFill>
              <a:round/>
              <a:headEnd/>
              <a:tailEnd type="oval" w="med" len="med"/>
            </a:ln>
            <a:extLst>
              <a:ext uri="{909E8E84-426E-40dd-AFC4-6F175D3DCCD1}">
                <a14:hiddenFill xmlns="" xmlns:a14="http://schemas.microsoft.com/office/drawing/2010/main">
                  <a:noFill/>
                </a14:hiddenFill>
              </a:ext>
            </a:extLst>
          </p:spPr>
          <p:txBody>
            <a:bodyPr/>
            <a:lstStyle/>
            <a:p>
              <a:endParaRPr lang="zh-CN" altLang="en-US"/>
            </a:p>
          </p:txBody>
        </p:sp>
        <p:sp>
          <p:nvSpPr>
            <p:cNvPr id="13" name="Line 36">
              <a:extLst>
                <a:ext uri="{FF2B5EF4-FFF2-40B4-BE49-F238E27FC236}">
                  <a16:creationId xmlns:a16="http://schemas.microsoft.com/office/drawing/2014/main" id="{6A090022-98F6-E446-7EA8-ED9C5C437465}"/>
                </a:ext>
              </a:extLst>
            </p:cNvPr>
            <p:cNvSpPr>
              <a:spLocks noChangeShapeType="1"/>
            </p:cNvSpPr>
            <p:nvPr/>
          </p:nvSpPr>
          <p:spPr bwMode="auto">
            <a:xfrm flipH="1">
              <a:off x="3469" y="3657"/>
              <a:ext cx="1067"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37">
              <a:extLst>
                <a:ext uri="{FF2B5EF4-FFF2-40B4-BE49-F238E27FC236}">
                  <a16:creationId xmlns:a16="http://schemas.microsoft.com/office/drawing/2014/main" id="{1B330F77-3AD7-DF93-FFB2-9F4215936604}"/>
                </a:ext>
              </a:extLst>
            </p:cNvPr>
            <p:cNvSpPr>
              <a:spLocks noChangeShapeType="1"/>
            </p:cNvSpPr>
            <p:nvPr/>
          </p:nvSpPr>
          <p:spPr bwMode="auto">
            <a:xfrm flipH="1">
              <a:off x="4103" y="2682"/>
              <a:ext cx="433"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Text Box 38">
              <a:extLst>
                <a:ext uri="{FF2B5EF4-FFF2-40B4-BE49-F238E27FC236}">
                  <a16:creationId xmlns:a16="http://schemas.microsoft.com/office/drawing/2014/main" id="{966306BD-C460-C4DD-6399-7E0D8F49DB4F}"/>
                </a:ext>
              </a:extLst>
            </p:cNvPr>
            <p:cNvSpPr txBox="1">
              <a:spLocks noChangeArrowheads="1"/>
            </p:cNvSpPr>
            <p:nvPr/>
          </p:nvSpPr>
          <p:spPr bwMode="auto">
            <a:xfrm>
              <a:off x="3560"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B</a:t>
              </a:r>
            </a:p>
          </p:txBody>
        </p:sp>
        <p:sp>
          <p:nvSpPr>
            <p:cNvPr id="16" name="Line 39">
              <a:extLst>
                <a:ext uri="{FF2B5EF4-FFF2-40B4-BE49-F238E27FC236}">
                  <a16:creationId xmlns:a16="http://schemas.microsoft.com/office/drawing/2014/main" id="{2E4C09E7-21BA-8E4B-E939-23DD67BE52BB}"/>
                </a:ext>
              </a:extLst>
            </p:cNvPr>
            <p:cNvSpPr>
              <a:spLocks noChangeShapeType="1"/>
            </p:cNvSpPr>
            <p:nvPr/>
          </p:nvSpPr>
          <p:spPr bwMode="auto">
            <a:xfrm flipH="1" flipV="1">
              <a:off x="3470" y="3067"/>
              <a:ext cx="340" cy="0"/>
            </a:xfrm>
            <a:prstGeom prst="line">
              <a:avLst/>
            </a:prstGeom>
            <a:noFill/>
            <a:ln w="28575">
              <a:solidFill>
                <a:schemeClr val="tx1"/>
              </a:solidFill>
              <a:round/>
              <a:headEnd type="triangle" w="med" len="lg"/>
              <a:tailEnd type="none" w="med" len="lg"/>
            </a:ln>
            <a:extLst>
              <a:ext uri="{909E8E84-426E-40dd-AFC4-6F175D3DCCD1}">
                <a14:hiddenFill xmlns="" xmlns:a14="http://schemas.microsoft.com/office/drawing/2010/main">
                  <a:noFill/>
                </a14:hiddenFill>
              </a:ext>
            </a:extLst>
          </p:spPr>
          <p:txBody>
            <a:bodyPr/>
            <a:lstStyle/>
            <a:p>
              <a:endParaRPr lang="zh-CN" altLang="en-US"/>
            </a:p>
          </p:txBody>
        </p:sp>
        <p:sp>
          <p:nvSpPr>
            <p:cNvPr id="17" name="Text Box 40">
              <a:extLst>
                <a:ext uri="{FF2B5EF4-FFF2-40B4-BE49-F238E27FC236}">
                  <a16:creationId xmlns:a16="http://schemas.microsoft.com/office/drawing/2014/main" id="{FA3CF797-3009-308D-1B3D-AF725DD5DB4A}"/>
                </a:ext>
              </a:extLst>
            </p:cNvPr>
            <p:cNvSpPr txBox="1">
              <a:spLocks noChangeArrowheads="1"/>
            </p:cNvSpPr>
            <p:nvPr/>
          </p:nvSpPr>
          <p:spPr bwMode="auto">
            <a:xfrm>
              <a:off x="4248"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C</a:t>
              </a:r>
            </a:p>
          </p:txBody>
        </p:sp>
        <p:sp>
          <p:nvSpPr>
            <p:cNvPr id="18" name="Line 41">
              <a:extLst>
                <a:ext uri="{FF2B5EF4-FFF2-40B4-BE49-F238E27FC236}">
                  <a16:creationId xmlns:a16="http://schemas.microsoft.com/office/drawing/2014/main" id="{E0C8A480-7761-8DC1-8354-927E101DFC41}"/>
                </a:ext>
              </a:extLst>
            </p:cNvPr>
            <p:cNvSpPr>
              <a:spLocks noChangeShapeType="1"/>
            </p:cNvSpPr>
            <p:nvPr/>
          </p:nvSpPr>
          <p:spPr bwMode="auto">
            <a:xfrm flipH="1" flipV="1">
              <a:off x="4173" y="2772"/>
              <a:ext cx="340"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19" name="Text Box 42">
              <a:extLst>
                <a:ext uri="{FF2B5EF4-FFF2-40B4-BE49-F238E27FC236}">
                  <a16:creationId xmlns:a16="http://schemas.microsoft.com/office/drawing/2014/main" id="{BD95E849-5B96-4F23-4CF6-1C4D3EC3F5C3}"/>
                </a:ext>
              </a:extLst>
            </p:cNvPr>
            <p:cNvSpPr txBox="1">
              <a:spLocks noChangeArrowheads="1"/>
            </p:cNvSpPr>
            <p:nvPr/>
          </p:nvSpPr>
          <p:spPr bwMode="auto">
            <a:xfrm>
              <a:off x="3198" y="3045"/>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20" name="Text Box 43">
              <a:extLst>
                <a:ext uri="{FF2B5EF4-FFF2-40B4-BE49-F238E27FC236}">
                  <a16:creationId xmlns:a16="http://schemas.microsoft.com/office/drawing/2014/main" id="{5F9A0430-8329-F52A-02A9-666928AABF03}"/>
                </a:ext>
              </a:extLst>
            </p:cNvPr>
            <p:cNvSpPr txBox="1">
              <a:spLocks noChangeArrowheads="1"/>
            </p:cNvSpPr>
            <p:nvPr/>
          </p:nvSpPr>
          <p:spPr bwMode="auto">
            <a:xfrm>
              <a:off x="3198" y="3520"/>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21" name="Text Box 44">
              <a:extLst>
                <a:ext uri="{FF2B5EF4-FFF2-40B4-BE49-F238E27FC236}">
                  <a16:creationId xmlns:a16="http://schemas.microsoft.com/office/drawing/2014/main" id="{0BD9B63A-E9E9-7179-23CC-8BE33CE6900C}"/>
                </a:ext>
              </a:extLst>
            </p:cNvPr>
            <p:cNvSpPr txBox="1">
              <a:spLocks noChangeArrowheads="1"/>
            </p:cNvSpPr>
            <p:nvPr/>
          </p:nvSpPr>
          <p:spPr bwMode="auto">
            <a:xfrm>
              <a:off x="3175" y="3201"/>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BE</a:t>
              </a:r>
            </a:p>
          </p:txBody>
        </p:sp>
        <p:sp>
          <p:nvSpPr>
            <p:cNvPr id="22" name="Text Box 45">
              <a:extLst>
                <a:ext uri="{FF2B5EF4-FFF2-40B4-BE49-F238E27FC236}">
                  <a16:creationId xmlns:a16="http://schemas.microsoft.com/office/drawing/2014/main" id="{0ACC2AB8-36CE-C960-AB97-767E4010D561}"/>
                </a:ext>
              </a:extLst>
            </p:cNvPr>
            <p:cNvSpPr txBox="1">
              <a:spLocks noChangeArrowheads="1"/>
            </p:cNvSpPr>
            <p:nvPr/>
          </p:nvSpPr>
          <p:spPr bwMode="auto">
            <a:xfrm>
              <a:off x="4503" y="2967"/>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CE</a:t>
              </a:r>
            </a:p>
          </p:txBody>
        </p:sp>
        <p:sp>
          <p:nvSpPr>
            <p:cNvPr id="23" name="Text Box 46">
              <a:extLst>
                <a:ext uri="{FF2B5EF4-FFF2-40B4-BE49-F238E27FC236}">
                  <a16:creationId xmlns:a16="http://schemas.microsoft.com/office/drawing/2014/main" id="{C72F4117-DAE4-10D8-50CD-3699FEABB8D6}"/>
                </a:ext>
              </a:extLst>
            </p:cNvPr>
            <p:cNvSpPr txBox="1">
              <a:spLocks noChangeArrowheads="1"/>
            </p:cNvSpPr>
            <p:nvPr/>
          </p:nvSpPr>
          <p:spPr bwMode="auto">
            <a:xfrm>
              <a:off x="4581" y="2546"/>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24" name="Text Box 47">
              <a:extLst>
                <a:ext uri="{FF2B5EF4-FFF2-40B4-BE49-F238E27FC236}">
                  <a16:creationId xmlns:a16="http://schemas.microsoft.com/office/drawing/2014/main" id="{99DA7132-410E-C8A1-B210-9870FB175B88}"/>
                </a:ext>
              </a:extLst>
            </p:cNvPr>
            <p:cNvSpPr txBox="1">
              <a:spLocks noChangeArrowheads="1"/>
            </p:cNvSpPr>
            <p:nvPr/>
          </p:nvSpPr>
          <p:spPr bwMode="auto">
            <a:xfrm>
              <a:off x="4603" y="3498"/>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pic>
        <p:nvPicPr>
          <p:cNvPr id="25" name="Picture 50">
            <a:extLst>
              <a:ext uri="{FF2B5EF4-FFF2-40B4-BE49-F238E27FC236}">
                <a16:creationId xmlns:a16="http://schemas.microsoft.com/office/drawing/2014/main" id="{A7F0878B-83B8-09E6-D2E2-2086B5546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5476" y="3242677"/>
            <a:ext cx="3543300" cy="2800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 name="Rectangle 26">
            <a:extLst>
              <a:ext uri="{FF2B5EF4-FFF2-40B4-BE49-F238E27FC236}">
                <a16:creationId xmlns:a16="http://schemas.microsoft.com/office/drawing/2014/main" id="{58C353CA-8D22-5FFD-9D19-EC50D81D4188}"/>
              </a:ext>
            </a:extLst>
          </p:cNvPr>
          <p:cNvSpPr>
            <a:spLocks noChangeArrowheads="1"/>
          </p:cNvSpPr>
          <p:nvPr/>
        </p:nvSpPr>
        <p:spPr bwMode="auto">
          <a:xfrm>
            <a:off x="760920" y="1538520"/>
            <a:ext cx="3276600" cy="676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Aft>
                <a:spcPct val="0"/>
              </a:spcAft>
              <a:buFontTx/>
              <a:buNone/>
            </a:pPr>
            <a:r>
              <a:rPr kumimoji="1" lang="en-US" altLang="zh-CN" sz="2800" i="1" dirty="0" err="1">
                <a:latin typeface="Times New Roman" panose="02020603050405020304" pitchFamily="18" charset="0"/>
                <a:ea typeface="黑体" panose="02010609060101010101" pitchFamily="49" charset="-122"/>
              </a:rPr>
              <a:t>i</a:t>
            </a:r>
            <a:r>
              <a:rPr kumimoji="1" lang="en-US" altLang="zh-CN" sz="2800" baseline="-25000" dirty="0" err="1">
                <a:latin typeface="Times New Roman" panose="02020603050405020304" pitchFamily="18" charset="0"/>
                <a:ea typeface="黑体" panose="02010609060101010101" pitchFamily="49" charset="-122"/>
              </a:rPr>
              <a:t>B</a:t>
            </a:r>
            <a:r>
              <a:rPr kumimoji="1" lang="en-US" altLang="zh-CN" sz="2800" baseline="-25000" dirty="0">
                <a:latin typeface="Times New Roman" panose="02020603050405020304" pitchFamily="18" charset="0"/>
                <a:ea typeface="黑体" panose="02010609060101010101" pitchFamily="49" charset="-122"/>
              </a:rPr>
              <a:t> </a:t>
            </a:r>
            <a:r>
              <a:rPr kumimoji="1" lang="en-US" altLang="zh-CN" sz="2800" dirty="0">
                <a:latin typeface="Times New Roman" panose="02020603050405020304" pitchFamily="18" charset="0"/>
                <a:ea typeface="黑体" panose="02010609060101010101" pitchFamily="49" charset="-122"/>
              </a:rPr>
              <a:t>= </a:t>
            </a:r>
            <a:r>
              <a:rPr kumimoji="1" lang="en-US" altLang="zh-CN" sz="2800" i="1" dirty="0">
                <a:latin typeface="Times New Roman" panose="02020603050405020304" pitchFamily="18" charset="0"/>
                <a:ea typeface="黑体" panose="02010609060101010101" pitchFamily="49" charset="-122"/>
              </a:rPr>
              <a:t>f </a:t>
            </a:r>
            <a:r>
              <a:rPr kumimoji="1" lang="en-US" altLang="zh-CN" sz="2800" dirty="0">
                <a:latin typeface="Times New Roman" panose="02020603050405020304" pitchFamily="18" charset="0"/>
                <a:ea typeface="黑体" panose="02010609060101010101" pitchFamily="49" charset="-122"/>
              </a:rPr>
              <a:t>(</a:t>
            </a:r>
            <a:r>
              <a:rPr kumimoji="1" lang="en-US" altLang="zh-CN" i="1" dirty="0" err="1">
                <a:latin typeface="Times New Roman" panose="02020603050405020304" pitchFamily="18" charset="0"/>
                <a:ea typeface="黑体" panose="02010609060101010101" pitchFamily="49" charset="-122"/>
              </a:rPr>
              <a:t>v</a:t>
            </a:r>
            <a:r>
              <a:rPr kumimoji="1" lang="en-US" altLang="zh-CN" sz="2800" baseline="-25000" dirty="0" err="1">
                <a:latin typeface="Times New Roman" panose="02020603050405020304" pitchFamily="18" charset="0"/>
                <a:ea typeface="黑体" panose="02010609060101010101" pitchFamily="49" charset="-122"/>
              </a:rPr>
              <a:t>BE</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000" baseline="-30000" dirty="0" err="1">
                <a:latin typeface="Times New Roman" panose="02020603050405020304" pitchFamily="18" charset="0"/>
                <a:ea typeface="黑体" panose="02010609060101010101" pitchFamily="49" charset="-122"/>
              </a:rPr>
              <a:t>CE</a:t>
            </a:r>
            <a:r>
              <a:rPr kumimoji="1" lang="en-US" altLang="zh-CN" sz="2800" baseline="-10000" dirty="0">
                <a:latin typeface="Times New Roman" panose="02020603050405020304" pitchFamily="18" charset="0"/>
                <a:ea typeface="黑体" panose="02010609060101010101" pitchFamily="49" charset="-122"/>
              </a:rPr>
              <a:t>=</a:t>
            </a:r>
            <a:r>
              <a:rPr kumimoji="1" lang="zh-CN" altLang="en-US" sz="2800" baseline="-10000" dirty="0">
                <a:latin typeface="Times New Roman" panose="02020603050405020304" pitchFamily="18" charset="0"/>
                <a:ea typeface="黑体" panose="02010609060101010101" pitchFamily="49" charset="-122"/>
              </a:rPr>
              <a:t>常数</a:t>
            </a:r>
          </a:p>
        </p:txBody>
      </p:sp>
    </p:spTree>
    <p:extLst>
      <p:ext uri="{BB962C8B-B14F-4D97-AF65-F5344CB8AC3E}">
        <p14:creationId xmlns:p14="http://schemas.microsoft.com/office/powerpoint/2010/main" val="119485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898D2E-25C1-5B9D-6E50-9318EE4DA910}"/>
              </a:ext>
            </a:extLst>
          </p:cNvPr>
          <p:cNvSpPr>
            <a:spLocks noGrp="1"/>
          </p:cNvSpPr>
          <p:nvPr>
            <p:ph type="title"/>
          </p:nvPr>
        </p:nvSpPr>
        <p:spPr/>
        <p:txBody>
          <a:bodyPr>
            <a:normAutofit fontScale="90000"/>
          </a:bodyPr>
          <a:lstStyle/>
          <a:p>
            <a:r>
              <a:rPr lang="en-US" altLang="zh-CN" dirty="0"/>
              <a:t>BJT</a:t>
            </a:r>
            <a:r>
              <a:rPr lang="zh-CN" altLang="en-US" dirty="0"/>
              <a:t>输出特性</a:t>
            </a:r>
            <a:endParaRPr kumimoji="1" lang="zh-CN" altLang="en-US" dirty="0"/>
          </a:p>
        </p:txBody>
      </p:sp>
      <p:sp>
        <p:nvSpPr>
          <p:cNvPr id="3" name="内容占位符 2">
            <a:extLst>
              <a:ext uri="{FF2B5EF4-FFF2-40B4-BE49-F238E27FC236}">
                <a16:creationId xmlns:a16="http://schemas.microsoft.com/office/drawing/2014/main" id="{FFD03C9D-E98B-53CB-7563-62315567673E}"/>
              </a:ext>
            </a:extLst>
          </p:cNvPr>
          <p:cNvSpPr>
            <a:spLocks noGrp="1"/>
          </p:cNvSpPr>
          <p:nvPr>
            <p:ph idx="1"/>
          </p:nvPr>
        </p:nvSpPr>
        <p:spPr>
          <a:xfrm>
            <a:off x="17780" y="585760"/>
            <a:ext cx="5560377" cy="5947119"/>
          </a:xfrm>
        </p:spPr>
        <p:txBody>
          <a:bodyPr/>
          <a:lstStyle/>
          <a:p>
            <a:r>
              <a:rPr lang="en-US" altLang="zh-CN" sz="2400" dirty="0">
                <a:latin typeface="Microsoft YaHei" panose="020B0503020204020204" pitchFamily="34" charset="-122"/>
                <a:ea typeface="Microsoft YaHei" panose="020B0503020204020204" pitchFamily="34" charset="-122"/>
              </a:rPr>
              <a:t>BJT</a:t>
            </a:r>
            <a:r>
              <a:rPr lang="zh-CN" altLang="en-US" sz="2400" dirty="0">
                <a:latin typeface="Microsoft YaHei" panose="020B0503020204020204" pitchFamily="34" charset="-122"/>
                <a:ea typeface="Microsoft YaHei" panose="020B0503020204020204" pitchFamily="34" charset="-122"/>
              </a:rPr>
              <a:t>输出特性：输出端加上的电压和输出端电流之间的关系</a:t>
            </a:r>
            <a:endParaRPr lang="en-US" altLang="zh-CN" sz="2400" dirty="0">
              <a:latin typeface="Microsoft YaHei" panose="020B0503020204020204" pitchFamily="34" charset="-122"/>
              <a:ea typeface="Microsoft YaHei" panose="020B0503020204020204" pitchFamily="34" charset="-122"/>
            </a:endParaRPr>
          </a:p>
          <a:p>
            <a:endParaRPr lang="en-US" altLang="zh-CN" sz="2800" dirty="0">
              <a:latin typeface="Microsoft YaHei" panose="020B0503020204020204" pitchFamily="34" charset="-122"/>
              <a:ea typeface="Microsoft YaHei" panose="020B0503020204020204" pitchFamily="34" charset="-122"/>
            </a:endParaRPr>
          </a:p>
          <a:p>
            <a:pPr>
              <a:lnSpc>
                <a:spcPct val="80000"/>
              </a:lnSpc>
            </a:pPr>
            <a:r>
              <a:rPr lang="zh-CN" altLang="en-US" sz="2400" dirty="0">
                <a:latin typeface="Microsoft YaHei" panose="020B0503020204020204" pitchFamily="34" charset="-122"/>
                <a:ea typeface="Microsoft YaHei" panose="020B0503020204020204" pitchFamily="34" charset="-122"/>
              </a:rPr>
              <a:t>截止区</a:t>
            </a:r>
          </a:p>
          <a:p>
            <a:pPr lvl="1">
              <a:lnSpc>
                <a:spcPct val="80000"/>
              </a:lnSpc>
            </a:pPr>
            <a:r>
              <a:rPr kumimoji="1" lang="zh-CN" altLang="en-US" dirty="0">
                <a:latin typeface="Microsoft YaHei" panose="020B0503020204020204" pitchFamily="34" charset="-122"/>
                <a:ea typeface="Microsoft YaHei" panose="020B0503020204020204" pitchFamily="34" charset="-122"/>
              </a:rPr>
              <a:t>发射结和集电结均为反偏</a:t>
            </a:r>
            <a:endParaRPr kumimoji="1" lang="en-US" altLang="zh-CN" dirty="0">
              <a:latin typeface="Microsoft YaHei" panose="020B0503020204020204" pitchFamily="34" charset="-122"/>
              <a:ea typeface="Microsoft YaHei" panose="020B0503020204020204" pitchFamily="34" charset="-122"/>
            </a:endParaRPr>
          </a:p>
          <a:p>
            <a:pPr lvl="1">
              <a:lnSpc>
                <a:spcPct val="80000"/>
              </a:lnSpc>
            </a:pPr>
            <a:r>
              <a:rPr lang="en-US" altLang="zh-CN" b="1" i="1" dirty="0">
                <a:latin typeface="Microsoft YaHei" panose="020B0503020204020204" pitchFamily="34" charset="-122"/>
                <a:ea typeface="Microsoft YaHei" panose="020B0503020204020204" pitchFamily="34" charset="-122"/>
              </a:rPr>
              <a:t>i</a:t>
            </a:r>
            <a:r>
              <a:rPr kumimoji="1" lang="en-US" altLang="zh-CN" b="1" baseline="-10000" dirty="0">
                <a:latin typeface="Microsoft YaHei" panose="020B0503020204020204" pitchFamily="34" charset="-122"/>
                <a:ea typeface="Microsoft YaHei" panose="020B0503020204020204" pitchFamily="34" charset="-122"/>
              </a:rPr>
              <a:t>B</a:t>
            </a:r>
            <a:r>
              <a:rPr kumimoji="1" lang="en-US" altLang="zh-CN" b="1" dirty="0">
                <a:latin typeface="Microsoft YaHei" panose="020B0503020204020204" pitchFamily="34" charset="-122"/>
                <a:ea typeface="Microsoft YaHei" panose="020B0503020204020204" pitchFamily="34" charset="-122"/>
              </a:rPr>
              <a:t>≈0</a:t>
            </a:r>
            <a:r>
              <a:rPr kumimoji="1" lang="zh-CN" altLang="en-US" b="1" dirty="0">
                <a:latin typeface="Microsoft YaHei" panose="020B0503020204020204" pitchFamily="34" charset="-122"/>
                <a:ea typeface="Microsoft YaHei" panose="020B0503020204020204" pitchFamily="34" charset="-122"/>
              </a:rPr>
              <a:t>， </a:t>
            </a:r>
            <a:r>
              <a:rPr lang="en-US" altLang="zh-CN" b="1" i="1" dirty="0">
                <a:latin typeface="Microsoft YaHei" panose="020B0503020204020204" pitchFamily="34" charset="-122"/>
                <a:ea typeface="Microsoft YaHei" panose="020B0503020204020204" pitchFamily="34" charset="-122"/>
              </a:rPr>
              <a:t>i</a:t>
            </a:r>
            <a:r>
              <a:rPr kumimoji="1" lang="en-US" altLang="zh-CN" b="1" baseline="-10000" dirty="0">
                <a:latin typeface="Microsoft YaHei" panose="020B0503020204020204" pitchFamily="34" charset="-122"/>
                <a:ea typeface="Microsoft YaHei" panose="020B0503020204020204" pitchFamily="34" charset="-122"/>
              </a:rPr>
              <a:t>C</a:t>
            </a:r>
            <a:r>
              <a:rPr kumimoji="1" lang="en-US" altLang="zh-CN" b="1" dirty="0">
                <a:latin typeface="Microsoft YaHei" panose="020B0503020204020204" pitchFamily="34" charset="-122"/>
                <a:ea typeface="Microsoft YaHei" panose="020B0503020204020204" pitchFamily="34" charset="-122"/>
              </a:rPr>
              <a:t>≈0</a:t>
            </a:r>
            <a:endParaRPr lang="zh-CN" altLang="en-US" dirty="0">
              <a:latin typeface="Microsoft YaHei" panose="020B0503020204020204" pitchFamily="34" charset="-122"/>
              <a:ea typeface="Microsoft YaHei" panose="020B0503020204020204" pitchFamily="34" charset="-122"/>
            </a:endParaRPr>
          </a:p>
          <a:p>
            <a:pPr>
              <a:lnSpc>
                <a:spcPct val="80000"/>
              </a:lnSpc>
            </a:pPr>
            <a:r>
              <a:rPr kumimoji="1" lang="zh-CN" altLang="en-US" sz="2400" dirty="0">
                <a:latin typeface="Microsoft YaHei" panose="020B0503020204020204" pitchFamily="34" charset="-122"/>
                <a:ea typeface="Microsoft YaHei" panose="020B0503020204020204" pitchFamily="34" charset="-122"/>
              </a:rPr>
              <a:t>饱和区</a:t>
            </a:r>
          </a:p>
          <a:p>
            <a:pPr lvl="1">
              <a:lnSpc>
                <a:spcPct val="80000"/>
              </a:lnSpc>
            </a:pPr>
            <a:r>
              <a:rPr kumimoji="1" lang="zh-CN" altLang="en-US" dirty="0">
                <a:latin typeface="Microsoft YaHei" panose="020B0503020204020204" pitchFamily="34" charset="-122"/>
                <a:ea typeface="Microsoft YaHei" panose="020B0503020204020204" pitchFamily="34" charset="-122"/>
              </a:rPr>
              <a:t>发射结正偏，集电结正偏</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弱反偏</a:t>
            </a:r>
          </a:p>
          <a:p>
            <a:pPr lvl="1">
              <a:lnSpc>
                <a:spcPct val="80000"/>
              </a:lnSpc>
            </a:pPr>
            <a:r>
              <a:rPr lang="en-US" altLang="zh-CN" b="1" i="1" dirty="0" err="1">
                <a:latin typeface="Microsoft YaHei" panose="020B0503020204020204" pitchFamily="34" charset="-122"/>
                <a:ea typeface="Microsoft YaHei" panose="020B0503020204020204" pitchFamily="34" charset="-122"/>
              </a:rPr>
              <a:t>i</a:t>
            </a:r>
            <a:r>
              <a:rPr kumimoji="1" lang="en-US" altLang="zh-CN" b="1" baseline="-10000" dirty="0" err="1">
                <a:latin typeface="Microsoft YaHei" panose="020B0503020204020204" pitchFamily="34" charset="-122"/>
                <a:ea typeface="Microsoft YaHei" panose="020B0503020204020204" pitchFamily="34" charset="-122"/>
              </a:rPr>
              <a:t>C</a:t>
            </a:r>
            <a:r>
              <a:rPr kumimoji="1" lang="en-US" altLang="zh-CN" i="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随</a:t>
            </a:r>
            <a:r>
              <a:rPr kumimoji="1" lang="en-US" altLang="zh-CN" b="1" i="1" dirty="0" err="1">
                <a:latin typeface="Microsoft YaHei" panose="020B0503020204020204" pitchFamily="34" charset="-122"/>
                <a:ea typeface="Microsoft YaHei" panose="020B0503020204020204" pitchFamily="34" charset="-122"/>
              </a:rPr>
              <a:t>v</a:t>
            </a:r>
            <a:r>
              <a:rPr kumimoji="1" lang="en-US" altLang="zh-CN" b="1" baseline="-25000" dirty="0" err="1">
                <a:latin typeface="Microsoft YaHei" panose="020B0503020204020204" pitchFamily="34" charset="-122"/>
                <a:ea typeface="Microsoft YaHei" panose="020B0503020204020204" pitchFamily="34" charset="-122"/>
              </a:rPr>
              <a:t>CE</a:t>
            </a:r>
            <a:r>
              <a:rPr kumimoji="1" lang="zh-CN" altLang="en-US" dirty="0">
                <a:latin typeface="Microsoft YaHei" panose="020B0503020204020204" pitchFamily="34" charset="-122"/>
                <a:ea typeface="Microsoft YaHei" panose="020B0503020204020204" pitchFamily="34" charset="-122"/>
              </a:rPr>
              <a:t>增大而增大</a:t>
            </a:r>
          </a:p>
          <a:p>
            <a:pPr lvl="1">
              <a:lnSpc>
                <a:spcPct val="80000"/>
              </a:lnSpc>
            </a:pPr>
            <a:r>
              <a:rPr lang="en-US" altLang="zh-CN" b="1" i="1" dirty="0" err="1">
                <a:latin typeface="Microsoft YaHei" panose="020B0503020204020204" pitchFamily="34" charset="-122"/>
                <a:ea typeface="Microsoft YaHei" panose="020B0503020204020204" pitchFamily="34" charset="-122"/>
              </a:rPr>
              <a:t>i</a:t>
            </a:r>
            <a:r>
              <a:rPr kumimoji="1" lang="en-US" altLang="zh-CN" b="1" baseline="-10000" dirty="0" err="1">
                <a:latin typeface="Microsoft YaHei" panose="020B0503020204020204" pitchFamily="34" charset="-122"/>
                <a:ea typeface="Microsoft YaHei" panose="020B0503020204020204" pitchFamily="34" charset="-122"/>
              </a:rPr>
              <a:t>C</a:t>
            </a:r>
            <a:r>
              <a:rPr kumimoji="1" lang="en-US" altLang="zh-CN" i="1" dirty="0">
                <a:latin typeface="Microsoft YaHei" panose="020B0503020204020204" pitchFamily="34" charset="-122"/>
                <a:ea typeface="Microsoft YaHei" panose="020B0503020204020204" pitchFamily="34" charset="-122"/>
              </a:rPr>
              <a:t> </a:t>
            </a:r>
            <a:r>
              <a:rPr kumimoji="1" lang="en-US" altLang="zh-CN" b="1" dirty="0">
                <a:latin typeface="Microsoft YaHei" panose="020B0503020204020204" pitchFamily="34" charset="-122"/>
                <a:ea typeface="Microsoft YaHei" panose="020B0503020204020204" pitchFamily="34" charset="-122"/>
              </a:rPr>
              <a:t>＜β</a:t>
            </a:r>
            <a:r>
              <a:rPr lang="en-US" altLang="zh-CN" b="1" i="1" dirty="0" err="1">
                <a:latin typeface="Microsoft YaHei" panose="020B0503020204020204" pitchFamily="34" charset="-122"/>
                <a:ea typeface="Microsoft YaHei" panose="020B0503020204020204" pitchFamily="34" charset="-122"/>
              </a:rPr>
              <a:t>i</a:t>
            </a:r>
            <a:r>
              <a:rPr kumimoji="1" lang="en-US" altLang="zh-CN" b="1" baseline="-10000" dirty="0" err="1">
                <a:latin typeface="Microsoft YaHei" panose="020B0503020204020204" pitchFamily="34" charset="-122"/>
                <a:ea typeface="Microsoft YaHei" panose="020B0503020204020204" pitchFamily="34" charset="-122"/>
              </a:rPr>
              <a:t>B</a:t>
            </a:r>
            <a:endParaRPr kumimoji="1" lang="en-US" altLang="zh-CN" b="1" baseline="-25000" dirty="0">
              <a:latin typeface="Microsoft YaHei" panose="020B0503020204020204" pitchFamily="34" charset="-122"/>
              <a:ea typeface="Microsoft YaHei" panose="020B0503020204020204" pitchFamily="34" charset="-122"/>
            </a:endParaRPr>
          </a:p>
          <a:p>
            <a:pPr>
              <a:lnSpc>
                <a:spcPct val="80000"/>
              </a:lnSpc>
            </a:pPr>
            <a:r>
              <a:rPr lang="zh-CN" altLang="en-US" sz="2400" dirty="0">
                <a:latin typeface="Microsoft YaHei" panose="020B0503020204020204" pitchFamily="34" charset="-122"/>
                <a:ea typeface="Microsoft YaHei" panose="020B0503020204020204" pitchFamily="34" charset="-122"/>
              </a:rPr>
              <a:t>放大区</a:t>
            </a:r>
          </a:p>
          <a:p>
            <a:pPr lvl="1">
              <a:lnSpc>
                <a:spcPct val="80000"/>
              </a:lnSpc>
            </a:pPr>
            <a:r>
              <a:rPr lang="zh-CN" altLang="en-US" dirty="0">
                <a:latin typeface="Microsoft YaHei" panose="020B0503020204020204" pitchFamily="34" charset="-122"/>
                <a:ea typeface="Microsoft YaHei" panose="020B0503020204020204" pitchFamily="34" charset="-122"/>
              </a:rPr>
              <a:t>发射结正偏，集电结反偏</a:t>
            </a:r>
          </a:p>
          <a:p>
            <a:pPr lvl="1">
              <a:lnSpc>
                <a:spcPct val="80000"/>
              </a:lnSpc>
            </a:pPr>
            <a:r>
              <a:rPr lang="en-US" altLang="zh-CN" b="1" i="1" dirty="0" err="1">
                <a:latin typeface="Microsoft YaHei" panose="020B0503020204020204" pitchFamily="34" charset="-122"/>
                <a:ea typeface="Microsoft YaHei" panose="020B0503020204020204" pitchFamily="34" charset="-122"/>
              </a:rPr>
              <a:t>i</a:t>
            </a:r>
            <a:r>
              <a:rPr kumimoji="1" lang="en-US" altLang="zh-CN" b="1" baseline="-10000" dirty="0" err="1">
                <a:latin typeface="Microsoft YaHei" panose="020B0503020204020204" pitchFamily="34" charset="-122"/>
                <a:ea typeface="Microsoft YaHei" panose="020B0503020204020204" pitchFamily="34" charset="-122"/>
              </a:rPr>
              <a:t>C</a:t>
            </a:r>
            <a:r>
              <a:rPr kumimoji="1" lang="en-US" altLang="zh-CN" b="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随着</a:t>
            </a:r>
            <a:r>
              <a:rPr kumimoji="1" lang="en-US" altLang="zh-CN" b="1" i="1" dirty="0" err="1">
                <a:latin typeface="Microsoft YaHei" panose="020B0503020204020204" pitchFamily="34" charset="-122"/>
                <a:ea typeface="Microsoft YaHei" panose="020B0503020204020204" pitchFamily="34" charset="-122"/>
              </a:rPr>
              <a:t>v</a:t>
            </a:r>
            <a:r>
              <a:rPr kumimoji="1" lang="en-US" altLang="zh-CN" b="1" baseline="-25000" dirty="0" err="1">
                <a:latin typeface="Microsoft YaHei" panose="020B0503020204020204" pitchFamily="34" charset="-122"/>
                <a:ea typeface="Microsoft YaHei" panose="020B0503020204020204" pitchFamily="34" charset="-122"/>
              </a:rPr>
              <a:t>CE</a:t>
            </a:r>
            <a:r>
              <a:rPr kumimoji="1" lang="zh-CN" altLang="en-US" dirty="0">
                <a:latin typeface="Microsoft YaHei" panose="020B0503020204020204" pitchFamily="34" charset="-122"/>
                <a:ea typeface="Microsoft YaHei" panose="020B0503020204020204" pitchFamily="34" charset="-122"/>
              </a:rPr>
              <a:t>增加只略有增加，几乎无关</a:t>
            </a:r>
            <a:endParaRPr kumimoji="1" lang="en-US" altLang="zh-CN" dirty="0">
              <a:latin typeface="Microsoft YaHei" panose="020B0503020204020204" pitchFamily="34" charset="-122"/>
              <a:ea typeface="Microsoft YaHei" panose="020B0503020204020204" pitchFamily="34" charset="-122"/>
            </a:endParaRPr>
          </a:p>
          <a:p>
            <a:pPr lvl="1">
              <a:lnSpc>
                <a:spcPct val="80000"/>
              </a:lnSpc>
            </a:pPr>
            <a:r>
              <a:rPr lang="en-US" altLang="zh-CN" b="1" i="1" dirty="0" err="1">
                <a:latin typeface="Microsoft YaHei" panose="020B0503020204020204" pitchFamily="34" charset="-122"/>
                <a:ea typeface="Microsoft YaHei" panose="020B0503020204020204" pitchFamily="34" charset="-122"/>
              </a:rPr>
              <a:t>i</a:t>
            </a:r>
            <a:r>
              <a:rPr kumimoji="1" lang="en-US" altLang="zh-CN" b="1" baseline="-10000" dirty="0" err="1">
                <a:latin typeface="Microsoft YaHei" panose="020B0503020204020204" pitchFamily="34" charset="-122"/>
                <a:ea typeface="Microsoft YaHei" panose="020B0503020204020204" pitchFamily="34" charset="-122"/>
              </a:rPr>
              <a:t>C</a:t>
            </a:r>
            <a:r>
              <a:rPr kumimoji="1" lang="en-US" altLang="zh-CN" i="1" dirty="0">
                <a:latin typeface="Microsoft YaHei" panose="020B0503020204020204" pitchFamily="34" charset="-122"/>
                <a:ea typeface="Microsoft YaHei" panose="020B0503020204020204" pitchFamily="34" charset="-122"/>
              </a:rPr>
              <a:t> </a:t>
            </a:r>
            <a:r>
              <a:rPr kumimoji="1" lang="en-US" altLang="zh-CN" b="1" dirty="0">
                <a:latin typeface="Microsoft YaHei" panose="020B0503020204020204" pitchFamily="34" charset="-122"/>
                <a:ea typeface="Microsoft YaHei" panose="020B0503020204020204" pitchFamily="34" charset="-122"/>
              </a:rPr>
              <a:t>=β</a:t>
            </a:r>
            <a:r>
              <a:rPr lang="en-US" altLang="zh-CN" b="1" i="1" dirty="0" err="1">
                <a:latin typeface="Microsoft YaHei" panose="020B0503020204020204" pitchFamily="34" charset="-122"/>
                <a:ea typeface="Microsoft YaHei" panose="020B0503020204020204" pitchFamily="34" charset="-122"/>
              </a:rPr>
              <a:t>i</a:t>
            </a:r>
            <a:r>
              <a:rPr kumimoji="1" lang="en-US" altLang="zh-CN" b="1" baseline="-10000" dirty="0" err="1">
                <a:latin typeface="Microsoft YaHei" panose="020B0503020204020204" pitchFamily="34" charset="-122"/>
                <a:ea typeface="Microsoft YaHei" panose="020B0503020204020204" pitchFamily="34" charset="-122"/>
              </a:rPr>
              <a:t>B</a:t>
            </a:r>
            <a:endParaRPr kumimoji="1" lang="en-US" altLang="zh-CN" b="1" baseline="-10000" dirty="0">
              <a:latin typeface="Microsoft YaHei" panose="020B0503020204020204" pitchFamily="34" charset="-122"/>
              <a:ea typeface="Microsoft YaHei" panose="020B0503020204020204" pitchFamily="34" charset="-122"/>
            </a:endParaRPr>
          </a:p>
          <a:p>
            <a:endParaRPr lang="en-US" altLang="zh-CN" sz="2800" dirty="0">
              <a:latin typeface="Microsoft YaHei" panose="020B0503020204020204" pitchFamily="34" charset="-122"/>
              <a:ea typeface="Microsoft YaHei" panose="020B0503020204020204" pitchFamily="34" charset="-122"/>
            </a:endParaRPr>
          </a:p>
          <a:p>
            <a:endParaRPr kumimoji="1" lang="zh-CN" altLang="en-US" dirty="0"/>
          </a:p>
        </p:txBody>
      </p:sp>
      <p:sp>
        <p:nvSpPr>
          <p:cNvPr id="4" name="页脚占位符 3">
            <a:extLst>
              <a:ext uri="{FF2B5EF4-FFF2-40B4-BE49-F238E27FC236}">
                <a16:creationId xmlns:a16="http://schemas.microsoft.com/office/drawing/2014/main" id="{A487CC28-F0EC-07CE-B644-FEA67562865F}"/>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34176564-C87F-FFCF-B603-B5484B673777}"/>
              </a:ext>
            </a:extLst>
          </p:cNvPr>
          <p:cNvSpPr>
            <a:spLocks noGrp="1"/>
          </p:cNvSpPr>
          <p:nvPr>
            <p:ph type="sldNum" sz="quarter" idx="12"/>
          </p:nvPr>
        </p:nvSpPr>
        <p:spPr/>
        <p:txBody>
          <a:bodyPr/>
          <a:lstStyle/>
          <a:p>
            <a:fld id="{9E260BC5-5BF3-8746-862B-DC45E9CAA88B}" type="slidenum">
              <a:rPr lang="en-US" smtClean="0"/>
              <a:pPr/>
              <a:t>13</a:t>
            </a:fld>
            <a:r>
              <a:rPr lang="en-US" altLang="zh-CN" dirty="0"/>
              <a:t>/33</a:t>
            </a:r>
            <a:endParaRPr lang="en-US" dirty="0"/>
          </a:p>
        </p:txBody>
      </p:sp>
      <p:sp>
        <p:nvSpPr>
          <p:cNvPr id="6" name="Line 35">
            <a:extLst>
              <a:ext uri="{FF2B5EF4-FFF2-40B4-BE49-F238E27FC236}">
                <a16:creationId xmlns:a16="http://schemas.microsoft.com/office/drawing/2014/main" id="{3DA79EDF-1590-4772-7A47-C3D7106A26F9}"/>
              </a:ext>
            </a:extLst>
          </p:cNvPr>
          <p:cNvSpPr>
            <a:spLocks noChangeShapeType="1"/>
          </p:cNvSpPr>
          <p:nvPr/>
        </p:nvSpPr>
        <p:spPr bwMode="auto">
          <a:xfrm flipV="1">
            <a:off x="6149657" y="5204516"/>
            <a:ext cx="2898775" cy="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7" name="Text Box 39">
            <a:extLst>
              <a:ext uri="{FF2B5EF4-FFF2-40B4-BE49-F238E27FC236}">
                <a16:creationId xmlns:a16="http://schemas.microsoft.com/office/drawing/2014/main" id="{1337B238-EF60-62F1-A2B0-6C7B0BA71D12}"/>
              </a:ext>
            </a:extLst>
          </p:cNvPr>
          <p:cNvSpPr txBox="1">
            <a:spLocks noChangeArrowheads="1"/>
          </p:cNvSpPr>
          <p:nvPr/>
        </p:nvSpPr>
        <p:spPr bwMode="auto">
          <a:xfrm>
            <a:off x="8364220" y="4569516"/>
            <a:ext cx="671512" cy="438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 </a:t>
            </a:r>
            <a:r>
              <a:rPr kumimoji="1" lang="en-US" altLang="zh-CN" sz="2400">
                <a:latin typeface="Times New Roman" panose="02020603050405020304" pitchFamily="18" charset="0"/>
                <a:ea typeface="长城楷体" pitchFamily="49" charset="-122"/>
              </a:rPr>
              <a:t>= 0</a:t>
            </a:r>
          </a:p>
        </p:txBody>
      </p:sp>
      <p:grpSp>
        <p:nvGrpSpPr>
          <p:cNvPr id="8" name="Group 105">
            <a:extLst>
              <a:ext uri="{FF2B5EF4-FFF2-40B4-BE49-F238E27FC236}">
                <a16:creationId xmlns:a16="http://schemas.microsoft.com/office/drawing/2014/main" id="{0A8227A5-86DC-ABBC-5227-80C342C6428B}"/>
              </a:ext>
            </a:extLst>
          </p:cNvPr>
          <p:cNvGrpSpPr>
            <a:grpSpLocks/>
          </p:cNvGrpSpPr>
          <p:nvPr/>
        </p:nvGrpSpPr>
        <p:grpSpPr bwMode="auto">
          <a:xfrm>
            <a:off x="6387782" y="5094979"/>
            <a:ext cx="2552700" cy="627062"/>
            <a:chOff x="3428" y="3625"/>
            <a:chExt cx="1608" cy="395"/>
          </a:xfrm>
        </p:grpSpPr>
        <p:grpSp>
          <p:nvGrpSpPr>
            <p:cNvPr id="9" name="Group 40">
              <a:extLst>
                <a:ext uri="{FF2B5EF4-FFF2-40B4-BE49-F238E27FC236}">
                  <a16:creationId xmlns:a16="http://schemas.microsoft.com/office/drawing/2014/main" id="{B47171B6-72D0-4AC0-AC7B-D6AA0129BBD8}"/>
                </a:ext>
              </a:extLst>
            </p:cNvPr>
            <p:cNvGrpSpPr>
              <a:grpSpLocks/>
            </p:cNvGrpSpPr>
            <p:nvPr/>
          </p:nvGrpSpPr>
          <p:grpSpPr bwMode="auto">
            <a:xfrm>
              <a:off x="3428" y="3625"/>
              <a:ext cx="1608" cy="65"/>
              <a:chOff x="2993" y="3543"/>
              <a:chExt cx="1929" cy="69"/>
            </a:xfrm>
          </p:grpSpPr>
          <p:sp>
            <p:nvSpPr>
              <p:cNvPr id="11" name="Line 41">
                <a:extLst>
                  <a:ext uri="{FF2B5EF4-FFF2-40B4-BE49-F238E27FC236}">
                    <a16:creationId xmlns:a16="http://schemas.microsoft.com/office/drawing/2014/main" id="{05A78A7F-A886-F790-7577-41B01E349B59}"/>
                  </a:ext>
                </a:extLst>
              </p:cNvPr>
              <p:cNvSpPr>
                <a:spLocks noChangeShapeType="1"/>
              </p:cNvSpPr>
              <p:nvPr/>
            </p:nvSpPr>
            <p:spPr bwMode="auto">
              <a:xfrm flipV="1">
                <a:off x="2993"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2" name="Line 42">
                <a:extLst>
                  <a:ext uri="{FF2B5EF4-FFF2-40B4-BE49-F238E27FC236}">
                    <a16:creationId xmlns:a16="http://schemas.microsoft.com/office/drawing/2014/main" id="{0E908C0C-C7C8-771B-1BA5-BFE7E2172D93}"/>
                  </a:ext>
                </a:extLst>
              </p:cNvPr>
              <p:cNvSpPr>
                <a:spLocks noChangeShapeType="1"/>
              </p:cNvSpPr>
              <p:nvPr/>
            </p:nvSpPr>
            <p:spPr bwMode="auto">
              <a:xfrm flipV="1">
                <a:off x="3084"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 name="Line 43">
                <a:extLst>
                  <a:ext uri="{FF2B5EF4-FFF2-40B4-BE49-F238E27FC236}">
                    <a16:creationId xmlns:a16="http://schemas.microsoft.com/office/drawing/2014/main" id="{5365176B-7070-4A5B-AA3F-209F8FA75B94}"/>
                  </a:ext>
                </a:extLst>
              </p:cNvPr>
              <p:cNvSpPr>
                <a:spLocks noChangeShapeType="1"/>
              </p:cNvSpPr>
              <p:nvPr/>
            </p:nvSpPr>
            <p:spPr bwMode="auto">
              <a:xfrm flipV="1">
                <a:off x="317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44">
                <a:extLst>
                  <a:ext uri="{FF2B5EF4-FFF2-40B4-BE49-F238E27FC236}">
                    <a16:creationId xmlns:a16="http://schemas.microsoft.com/office/drawing/2014/main" id="{23A35788-2C97-2758-316E-420C8E2C94A3}"/>
                  </a:ext>
                </a:extLst>
              </p:cNvPr>
              <p:cNvSpPr>
                <a:spLocks noChangeShapeType="1"/>
              </p:cNvSpPr>
              <p:nvPr/>
            </p:nvSpPr>
            <p:spPr bwMode="auto">
              <a:xfrm flipV="1">
                <a:off x="326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Line 45">
                <a:extLst>
                  <a:ext uri="{FF2B5EF4-FFF2-40B4-BE49-F238E27FC236}">
                    <a16:creationId xmlns:a16="http://schemas.microsoft.com/office/drawing/2014/main" id="{74436F6E-C564-1078-83FA-BC9DE134D964}"/>
                  </a:ext>
                </a:extLst>
              </p:cNvPr>
              <p:cNvSpPr>
                <a:spLocks noChangeShapeType="1"/>
              </p:cNvSpPr>
              <p:nvPr/>
            </p:nvSpPr>
            <p:spPr bwMode="auto">
              <a:xfrm flipV="1">
                <a:off x="335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6" name="Line 46">
                <a:extLst>
                  <a:ext uri="{FF2B5EF4-FFF2-40B4-BE49-F238E27FC236}">
                    <a16:creationId xmlns:a16="http://schemas.microsoft.com/office/drawing/2014/main" id="{7104977A-34F6-10AB-7BC1-D7E0EE94FBEA}"/>
                  </a:ext>
                </a:extLst>
              </p:cNvPr>
              <p:cNvSpPr>
                <a:spLocks noChangeShapeType="1"/>
              </p:cNvSpPr>
              <p:nvPr/>
            </p:nvSpPr>
            <p:spPr bwMode="auto">
              <a:xfrm flipV="1">
                <a:off x="344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 name="Line 47">
                <a:extLst>
                  <a:ext uri="{FF2B5EF4-FFF2-40B4-BE49-F238E27FC236}">
                    <a16:creationId xmlns:a16="http://schemas.microsoft.com/office/drawing/2014/main" id="{2CA76B4F-EBF9-7792-F00C-F52EA095C6BC}"/>
                  </a:ext>
                </a:extLst>
              </p:cNvPr>
              <p:cNvSpPr>
                <a:spLocks noChangeShapeType="1"/>
              </p:cNvSpPr>
              <p:nvPr/>
            </p:nvSpPr>
            <p:spPr bwMode="auto">
              <a:xfrm flipV="1">
                <a:off x="353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 name="Line 48">
                <a:extLst>
                  <a:ext uri="{FF2B5EF4-FFF2-40B4-BE49-F238E27FC236}">
                    <a16:creationId xmlns:a16="http://schemas.microsoft.com/office/drawing/2014/main" id="{F85C856F-7CCA-1DE3-7EBA-36CF0A97E865}"/>
                  </a:ext>
                </a:extLst>
              </p:cNvPr>
              <p:cNvSpPr>
                <a:spLocks noChangeShapeType="1"/>
              </p:cNvSpPr>
              <p:nvPr/>
            </p:nvSpPr>
            <p:spPr bwMode="auto">
              <a:xfrm flipV="1">
                <a:off x="3629"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9" name="Line 49">
                <a:extLst>
                  <a:ext uri="{FF2B5EF4-FFF2-40B4-BE49-F238E27FC236}">
                    <a16:creationId xmlns:a16="http://schemas.microsoft.com/office/drawing/2014/main" id="{0504F843-D783-E48F-35FE-98E0254AB2CA}"/>
                  </a:ext>
                </a:extLst>
              </p:cNvPr>
              <p:cNvSpPr>
                <a:spLocks noChangeShapeType="1"/>
              </p:cNvSpPr>
              <p:nvPr/>
            </p:nvSpPr>
            <p:spPr bwMode="auto">
              <a:xfrm flipV="1">
                <a:off x="371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0" name="Line 50">
                <a:extLst>
                  <a:ext uri="{FF2B5EF4-FFF2-40B4-BE49-F238E27FC236}">
                    <a16:creationId xmlns:a16="http://schemas.microsoft.com/office/drawing/2014/main" id="{AE05A315-E4DE-00EB-F723-3D96F96A4491}"/>
                  </a:ext>
                </a:extLst>
              </p:cNvPr>
              <p:cNvSpPr>
                <a:spLocks noChangeShapeType="1"/>
              </p:cNvSpPr>
              <p:nvPr/>
            </p:nvSpPr>
            <p:spPr bwMode="auto">
              <a:xfrm flipV="1">
                <a:off x="3810"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1" name="Line 51">
                <a:extLst>
                  <a:ext uri="{FF2B5EF4-FFF2-40B4-BE49-F238E27FC236}">
                    <a16:creationId xmlns:a16="http://schemas.microsoft.com/office/drawing/2014/main" id="{5BB5A0D4-F7D2-8E79-A148-84705055E8B2}"/>
                  </a:ext>
                </a:extLst>
              </p:cNvPr>
              <p:cNvSpPr>
                <a:spLocks noChangeShapeType="1"/>
              </p:cNvSpPr>
              <p:nvPr/>
            </p:nvSpPr>
            <p:spPr bwMode="auto">
              <a:xfrm flipV="1">
                <a:off x="3901"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52">
                <a:extLst>
                  <a:ext uri="{FF2B5EF4-FFF2-40B4-BE49-F238E27FC236}">
                    <a16:creationId xmlns:a16="http://schemas.microsoft.com/office/drawing/2014/main" id="{39FFDF4B-F7AA-71E8-EDB4-3FCED264990A}"/>
                  </a:ext>
                </a:extLst>
              </p:cNvPr>
              <p:cNvSpPr>
                <a:spLocks noChangeShapeType="1"/>
              </p:cNvSpPr>
              <p:nvPr/>
            </p:nvSpPr>
            <p:spPr bwMode="auto">
              <a:xfrm flipV="1">
                <a:off x="3992"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3" name="Line 53">
                <a:extLst>
                  <a:ext uri="{FF2B5EF4-FFF2-40B4-BE49-F238E27FC236}">
                    <a16:creationId xmlns:a16="http://schemas.microsoft.com/office/drawing/2014/main" id="{D618DEF8-0025-D9FC-434A-DB7D8395F8DA}"/>
                  </a:ext>
                </a:extLst>
              </p:cNvPr>
              <p:cNvSpPr>
                <a:spLocks noChangeShapeType="1"/>
              </p:cNvSpPr>
              <p:nvPr/>
            </p:nvSpPr>
            <p:spPr bwMode="auto">
              <a:xfrm flipV="1">
                <a:off x="4082"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4" name="Line 54">
                <a:extLst>
                  <a:ext uri="{FF2B5EF4-FFF2-40B4-BE49-F238E27FC236}">
                    <a16:creationId xmlns:a16="http://schemas.microsoft.com/office/drawing/2014/main" id="{551481AE-4748-D032-0130-3480B3DDA5F6}"/>
                  </a:ext>
                </a:extLst>
              </p:cNvPr>
              <p:cNvSpPr>
                <a:spLocks noChangeShapeType="1"/>
              </p:cNvSpPr>
              <p:nvPr/>
            </p:nvSpPr>
            <p:spPr bwMode="auto">
              <a:xfrm flipV="1">
                <a:off x="4173"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5" name="Line 55">
                <a:extLst>
                  <a:ext uri="{FF2B5EF4-FFF2-40B4-BE49-F238E27FC236}">
                    <a16:creationId xmlns:a16="http://schemas.microsoft.com/office/drawing/2014/main" id="{4102947B-CFB2-1078-9588-82DE43218E0F}"/>
                  </a:ext>
                </a:extLst>
              </p:cNvPr>
              <p:cNvSpPr>
                <a:spLocks noChangeShapeType="1"/>
              </p:cNvSpPr>
              <p:nvPr/>
            </p:nvSpPr>
            <p:spPr bwMode="auto">
              <a:xfrm flipV="1">
                <a:off x="4264"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6" name="Line 56">
                <a:extLst>
                  <a:ext uri="{FF2B5EF4-FFF2-40B4-BE49-F238E27FC236}">
                    <a16:creationId xmlns:a16="http://schemas.microsoft.com/office/drawing/2014/main" id="{1A061DFF-1D4B-E17D-901A-9F0618B7AA3F}"/>
                  </a:ext>
                </a:extLst>
              </p:cNvPr>
              <p:cNvSpPr>
                <a:spLocks noChangeShapeType="1"/>
              </p:cNvSpPr>
              <p:nvPr/>
            </p:nvSpPr>
            <p:spPr bwMode="auto">
              <a:xfrm flipV="1">
                <a:off x="4355"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7" name="Line 57">
                <a:extLst>
                  <a:ext uri="{FF2B5EF4-FFF2-40B4-BE49-F238E27FC236}">
                    <a16:creationId xmlns:a16="http://schemas.microsoft.com/office/drawing/2014/main" id="{46C67750-6D43-5D67-2106-37D8264AE10C}"/>
                  </a:ext>
                </a:extLst>
              </p:cNvPr>
              <p:cNvSpPr>
                <a:spLocks noChangeShapeType="1"/>
              </p:cNvSpPr>
              <p:nvPr/>
            </p:nvSpPr>
            <p:spPr bwMode="auto">
              <a:xfrm flipV="1">
                <a:off x="444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8" name="Line 58">
                <a:extLst>
                  <a:ext uri="{FF2B5EF4-FFF2-40B4-BE49-F238E27FC236}">
                    <a16:creationId xmlns:a16="http://schemas.microsoft.com/office/drawing/2014/main" id="{F10481C1-3DA7-6A57-FBF1-726141542DCB}"/>
                  </a:ext>
                </a:extLst>
              </p:cNvPr>
              <p:cNvSpPr>
                <a:spLocks noChangeShapeType="1"/>
              </p:cNvSpPr>
              <p:nvPr/>
            </p:nvSpPr>
            <p:spPr bwMode="auto">
              <a:xfrm flipV="1">
                <a:off x="453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9" name="Line 59">
                <a:extLst>
                  <a:ext uri="{FF2B5EF4-FFF2-40B4-BE49-F238E27FC236}">
                    <a16:creationId xmlns:a16="http://schemas.microsoft.com/office/drawing/2014/main" id="{6A654A95-163F-5F76-7C98-B0E90789E125}"/>
                  </a:ext>
                </a:extLst>
              </p:cNvPr>
              <p:cNvSpPr>
                <a:spLocks noChangeShapeType="1"/>
              </p:cNvSpPr>
              <p:nvPr/>
            </p:nvSpPr>
            <p:spPr bwMode="auto">
              <a:xfrm flipV="1">
                <a:off x="462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0" name="Line 60">
                <a:extLst>
                  <a:ext uri="{FF2B5EF4-FFF2-40B4-BE49-F238E27FC236}">
                    <a16:creationId xmlns:a16="http://schemas.microsoft.com/office/drawing/2014/main" id="{4732D0CA-892C-B846-2806-9E7961E9B36F}"/>
                  </a:ext>
                </a:extLst>
              </p:cNvPr>
              <p:cNvSpPr>
                <a:spLocks noChangeShapeType="1"/>
              </p:cNvSpPr>
              <p:nvPr/>
            </p:nvSpPr>
            <p:spPr bwMode="auto">
              <a:xfrm flipV="1">
                <a:off x="471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1" name="Line 61">
                <a:extLst>
                  <a:ext uri="{FF2B5EF4-FFF2-40B4-BE49-F238E27FC236}">
                    <a16:creationId xmlns:a16="http://schemas.microsoft.com/office/drawing/2014/main" id="{560C2A25-6D9E-5FFB-6C5F-7AAE3F4B1269}"/>
                  </a:ext>
                </a:extLst>
              </p:cNvPr>
              <p:cNvSpPr>
                <a:spLocks noChangeShapeType="1"/>
              </p:cNvSpPr>
              <p:nvPr/>
            </p:nvSpPr>
            <p:spPr bwMode="auto">
              <a:xfrm flipV="1">
                <a:off x="480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10" name="Rectangle 28">
              <a:extLst>
                <a:ext uri="{FF2B5EF4-FFF2-40B4-BE49-F238E27FC236}">
                  <a16:creationId xmlns:a16="http://schemas.microsoft.com/office/drawing/2014/main" id="{7E45D79F-2CFE-7B66-5FFD-D3E626ADE32E}"/>
                </a:ext>
              </a:extLst>
            </p:cNvPr>
            <p:cNvSpPr>
              <a:spLocks noChangeArrowheads="1"/>
            </p:cNvSpPr>
            <p:nvPr/>
          </p:nvSpPr>
          <p:spPr bwMode="auto">
            <a:xfrm>
              <a:off x="3931" y="3732"/>
              <a:ext cx="69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FF3300"/>
                  </a:solidFill>
                </a:rPr>
                <a:t>截止区</a:t>
              </a:r>
            </a:p>
          </p:txBody>
        </p:sp>
      </p:grpSp>
      <p:sp>
        <p:nvSpPr>
          <p:cNvPr id="32" name="Rectangle 10">
            <a:extLst>
              <a:ext uri="{FF2B5EF4-FFF2-40B4-BE49-F238E27FC236}">
                <a16:creationId xmlns:a16="http://schemas.microsoft.com/office/drawing/2014/main" id="{8063D3DE-888E-CC16-3693-C829AC151635}"/>
              </a:ext>
            </a:extLst>
          </p:cNvPr>
          <p:cNvSpPr>
            <a:spLocks noChangeArrowheads="1"/>
          </p:cNvSpPr>
          <p:nvPr/>
        </p:nvSpPr>
        <p:spPr bwMode="auto">
          <a:xfrm>
            <a:off x="7186295" y="3967854"/>
            <a:ext cx="11033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放大区</a:t>
            </a:r>
          </a:p>
        </p:txBody>
      </p:sp>
      <p:sp>
        <p:nvSpPr>
          <p:cNvPr id="33" name="Rectangle 11">
            <a:extLst>
              <a:ext uri="{FF2B5EF4-FFF2-40B4-BE49-F238E27FC236}">
                <a16:creationId xmlns:a16="http://schemas.microsoft.com/office/drawing/2014/main" id="{51F7E46A-1A6D-7700-6343-9E49AF64B650}"/>
              </a:ext>
            </a:extLst>
          </p:cNvPr>
          <p:cNvSpPr>
            <a:spLocks noChangeArrowheads="1"/>
          </p:cNvSpPr>
          <p:nvPr/>
        </p:nvSpPr>
        <p:spPr bwMode="auto">
          <a:xfrm>
            <a:off x="6202045" y="2553391"/>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0000FF"/>
                </a:solidFill>
              </a:rPr>
              <a:t>饱和区</a:t>
            </a:r>
          </a:p>
        </p:txBody>
      </p:sp>
      <p:sp>
        <p:nvSpPr>
          <p:cNvPr id="34" name="Text Box 30">
            <a:extLst>
              <a:ext uri="{FF2B5EF4-FFF2-40B4-BE49-F238E27FC236}">
                <a16:creationId xmlns:a16="http://schemas.microsoft.com/office/drawing/2014/main" id="{180988C1-DD39-551D-B45F-4B7CB3DC8331}"/>
              </a:ext>
            </a:extLst>
          </p:cNvPr>
          <p:cNvSpPr txBox="1">
            <a:spLocks noChangeArrowheads="1"/>
          </p:cNvSpPr>
          <p:nvPr/>
        </p:nvSpPr>
        <p:spPr bwMode="auto">
          <a:xfrm>
            <a:off x="9197657" y="5001316"/>
            <a:ext cx="415925" cy="46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spcAft>
                <a:spcPct val="0"/>
              </a:spcAft>
              <a:buFontTx/>
              <a:buNone/>
            </a:pPr>
            <a:r>
              <a:rPr kumimoji="1" lang="en-US" altLang="zh-CN" sz="2800" i="1">
                <a:latin typeface="Times New Roman" panose="02020603050405020304" pitchFamily="18" charset="0"/>
                <a:ea typeface="长城楷体" pitchFamily="49" charset="-122"/>
              </a:rPr>
              <a:t>v</a:t>
            </a:r>
            <a:r>
              <a:rPr kumimoji="1" lang="en-US" altLang="zh-CN" sz="2400" baseline="-25000">
                <a:latin typeface="Times New Roman" panose="02020603050405020304" pitchFamily="18" charset="0"/>
                <a:ea typeface="长城楷体" pitchFamily="49" charset="-122"/>
              </a:rPr>
              <a:t>CE</a:t>
            </a:r>
            <a:endParaRPr kumimoji="1" lang="zh-CN" altLang="en-US" sz="2400">
              <a:latin typeface="Times New Roman" panose="02020603050405020304" pitchFamily="18" charset="0"/>
              <a:ea typeface="长城楷体" pitchFamily="49" charset="-122"/>
            </a:endParaRPr>
          </a:p>
        </p:txBody>
      </p:sp>
      <p:sp>
        <p:nvSpPr>
          <p:cNvPr id="35" name="Text Box 31">
            <a:extLst>
              <a:ext uri="{FF2B5EF4-FFF2-40B4-BE49-F238E27FC236}">
                <a16:creationId xmlns:a16="http://schemas.microsoft.com/office/drawing/2014/main" id="{E2074E82-6680-567E-D71B-DA9858287EE7}"/>
              </a:ext>
            </a:extLst>
          </p:cNvPr>
          <p:cNvSpPr txBox="1">
            <a:spLocks noChangeArrowheads="1"/>
          </p:cNvSpPr>
          <p:nvPr/>
        </p:nvSpPr>
        <p:spPr bwMode="auto">
          <a:xfrm>
            <a:off x="5733732" y="2739129"/>
            <a:ext cx="23018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C</a:t>
            </a:r>
            <a:endParaRPr kumimoji="1" lang="zh-CN" altLang="en-US" sz="2400">
              <a:latin typeface="Times New Roman" panose="02020603050405020304" pitchFamily="18" charset="0"/>
              <a:ea typeface="长城楷体" pitchFamily="49" charset="-122"/>
            </a:endParaRPr>
          </a:p>
        </p:txBody>
      </p:sp>
      <p:sp>
        <p:nvSpPr>
          <p:cNvPr id="36" name="Line 34">
            <a:extLst>
              <a:ext uri="{FF2B5EF4-FFF2-40B4-BE49-F238E27FC236}">
                <a16:creationId xmlns:a16="http://schemas.microsoft.com/office/drawing/2014/main" id="{785F4104-8708-D07E-2B18-A0FDC1A4494A}"/>
              </a:ext>
            </a:extLst>
          </p:cNvPr>
          <p:cNvSpPr>
            <a:spLocks noChangeShapeType="1"/>
          </p:cNvSpPr>
          <p:nvPr/>
        </p:nvSpPr>
        <p:spPr bwMode="auto">
          <a:xfrm flipV="1">
            <a:off x="6165532" y="2848666"/>
            <a:ext cx="0" cy="235585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37" name="Text Box 36">
            <a:extLst>
              <a:ext uri="{FF2B5EF4-FFF2-40B4-BE49-F238E27FC236}">
                <a16:creationId xmlns:a16="http://schemas.microsoft.com/office/drawing/2014/main" id="{371BB4F6-D92D-4093-3E9E-766335F738A9}"/>
              </a:ext>
            </a:extLst>
          </p:cNvPr>
          <p:cNvSpPr txBox="1">
            <a:spLocks noChangeArrowheads="1"/>
          </p:cNvSpPr>
          <p:nvPr/>
        </p:nvSpPr>
        <p:spPr bwMode="auto">
          <a:xfrm>
            <a:off x="5872235" y="5041002"/>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dirty="0">
                <a:latin typeface="Times New Roman" panose="02020603050405020304" pitchFamily="18" charset="0"/>
                <a:ea typeface="长城楷体" pitchFamily="49" charset="-122"/>
              </a:rPr>
              <a:t>O</a:t>
            </a:r>
          </a:p>
        </p:txBody>
      </p:sp>
      <p:sp>
        <p:nvSpPr>
          <p:cNvPr id="38" name="Freeform 37">
            <a:extLst>
              <a:ext uri="{FF2B5EF4-FFF2-40B4-BE49-F238E27FC236}">
                <a16:creationId xmlns:a16="http://schemas.microsoft.com/office/drawing/2014/main" id="{3AC84FC8-8E3F-CFD8-57B0-16CF9D3514B8}"/>
              </a:ext>
            </a:extLst>
          </p:cNvPr>
          <p:cNvSpPr>
            <a:spLocks/>
          </p:cNvSpPr>
          <p:nvPr/>
        </p:nvSpPr>
        <p:spPr bwMode="auto">
          <a:xfrm>
            <a:off x="6171882" y="5063229"/>
            <a:ext cx="2805113" cy="144462"/>
          </a:xfrm>
          <a:custGeom>
            <a:avLst/>
            <a:gdLst>
              <a:gd name="T0" fmla="*/ 0 w 2191"/>
              <a:gd name="T1" fmla="*/ 2147483646 h 96"/>
              <a:gd name="T2" fmla="*/ 2147483646 w 2191"/>
              <a:gd name="T3" fmla="*/ 2147483646 h 96"/>
              <a:gd name="T4" fmla="*/ 2147483646 w 2191"/>
              <a:gd name="T5" fmla="*/ 2147483646 h 96"/>
              <a:gd name="T6" fmla="*/ 2147483646 w 2191"/>
              <a:gd name="T7" fmla="*/ 0 h 96"/>
              <a:gd name="T8" fmla="*/ 0 60000 65536"/>
              <a:gd name="T9" fmla="*/ 0 60000 65536"/>
              <a:gd name="T10" fmla="*/ 0 60000 65536"/>
              <a:gd name="T11" fmla="*/ 0 60000 65536"/>
              <a:gd name="T12" fmla="*/ 0 w 2191"/>
              <a:gd name="T13" fmla="*/ 0 h 96"/>
              <a:gd name="T14" fmla="*/ 2191 w 2191"/>
              <a:gd name="T15" fmla="*/ 96 h 96"/>
            </a:gdLst>
            <a:ahLst/>
            <a:cxnLst>
              <a:cxn ang="T8">
                <a:pos x="T0" y="T1"/>
              </a:cxn>
              <a:cxn ang="T9">
                <a:pos x="T2" y="T3"/>
              </a:cxn>
              <a:cxn ang="T10">
                <a:pos x="T4" y="T5"/>
              </a:cxn>
              <a:cxn ang="T11">
                <a:pos x="T6" y="T7"/>
              </a:cxn>
            </a:cxnLst>
            <a:rect l="T12" t="T13" r="T14" b="T15"/>
            <a:pathLst>
              <a:path w="2191" h="96">
                <a:moveTo>
                  <a:pt x="0" y="96"/>
                </a:moveTo>
                <a:cubicBezTo>
                  <a:pt x="32" y="85"/>
                  <a:pt x="83" y="42"/>
                  <a:pt x="194" y="27"/>
                </a:cubicBezTo>
                <a:cubicBezTo>
                  <a:pt x="305" y="12"/>
                  <a:pt x="331" y="12"/>
                  <a:pt x="664" y="8"/>
                </a:cubicBezTo>
                <a:cubicBezTo>
                  <a:pt x="997" y="4"/>
                  <a:pt x="1873" y="2"/>
                  <a:pt x="2191"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grpSp>
        <p:nvGrpSpPr>
          <p:cNvPr id="39" name="Group 102">
            <a:extLst>
              <a:ext uri="{FF2B5EF4-FFF2-40B4-BE49-F238E27FC236}">
                <a16:creationId xmlns:a16="http://schemas.microsoft.com/office/drawing/2014/main" id="{6EDF6774-BDA9-2BBA-0877-8F3F5C3890C3}"/>
              </a:ext>
            </a:extLst>
          </p:cNvPr>
          <p:cNvGrpSpPr>
            <a:grpSpLocks/>
          </p:cNvGrpSpPr>
          <p:nvPr/>
        </p:nvGrpSpPr>
        <p:grpSpPr bwMode="auto">
          <a:xfrm>
            <a:off x="6190932" y="3993254"/>
            <a:ext cx="2789238" cy="1195387"/>
            <a:chOff x="3304" y="2931"/>
            <a:chExt cx="1757" cy="753"/>
          </a:xfrm>
        </p:grpSpPr>
        <p:sp>
          <p:nvSpPr>
            <p:cNvPr id="40" name="Freeform 38">
              <a:extLst>
                <a:ext uri="{FF2B5EF4-FFF2-40B4-BE49-F238E27FC236}">
                  <a16:creationId xmlns:a16="http://schemas.microsoft.com/office/drawing/2014/main" id="{BCAA6282-3394-69E6-4DE0-8589370DE8C9}"/>
                </a:ext>
              </a:extLst>
            </p:cNvPr>
            <p:cNvSpPr>
              <a:spLocks/>
            </p:cNvSpPr>
            <p:nvPr/>
          </p:nvSpPr>
          <p:spPr bwMode="auto">
            <a:xfrm>
              <a:off x="3304" y="3252"/>
              <a:ext cx="1757" cy="432"/>
            </a:xfrm>
            <a:custGeom>
              <a:avLst/>
              <a:gdLst>
                <a:gd name="T0" fmla="*/ 0 w 2124"/>
                <a:gd name="T1" fmla="*/ 141 h 478"/>
                <a:gd name="T2" fmla="*/ 16 w 2124"/>
                <a:gd name="T3" fmla="*/ 42 h 478"/>
                <a:gd name="T4" fmla="*/ 64 w 2124"/>
                <a:gd name="T5" fmla="*/ 11 h 478"/>
                <a:gd name="T6" fmla="*/ 165 w 2124"/>
                <a:gd name="T7" fmla="*/ 5 h 478"/>
                <a:gd name="T8" fmla="*/ 218 w 2124"/>
                <a:gd name="T9" fmla="*/ 2 h 478"/>
                <a:gd name="T10" fmla="*/ 0 60000 65536"/>
                <a:gd name="T11" fmla="*/ 0 60000 65536"/>
                <a:gd name="T12" fmla="*/ 0 60000 65536"/>
                <a:gd name="T13" fmla="*/ 0 60000 65536"/>
                <a:gd name="T14" fmla="*/ 0 60000 65536"/>
                <a:gd name="T15" fmla="*/ 0 w 2124"/>
                <a:gd name="T16" fmla="*/ 0 h 478"/>
                <a:gd name="T17" fmla="*/ 2124 w 2124"/>
                <a:gd name="T18" fmla="*/ 478 h 478"/>
              </a:gdLst>
              <a:ahLst/>
              <a:cxnLst>
                <a:cxn ang="T10">
                  <a:pos x="T0" y="T1"/>
                </a:cxn>
                <a:cxn ang="T11">
                  <a:pos x="T2" y="T3"/>
                </a:cxn>
                <a:cxn ang="T12">
                  <a:pos x="T4" y="T5"/>
                </a:cxn>
                <a:cxn ang="T13">
                  <a:pos x="T6" y="T7"/>
                </a:cxn>
                <a:cxn ang="T14">
                  <a:pos x="T8" y="T9"/>
                </a:cxn>
              </a:cxnLst>
              <a:rect l="T15" t="T16" r="T17" b="T18"/>
              <a:pathLst>
                <a:path w="2124" h="478">
                  <a:moveTo>
                    <a:pt x="0" y="478"/>
                  </a:moveTo>
                  <a:cubicBezTo>
                    <a:pt x="25" y="422"/>
                    <a:pt x="49" y="215"/>
                    <a:pt x="152" y="141"/>
                  </a:cubicBezTo>
                  <a:cubicBezTo>
                    <a:pt x="255" y="67"/>
                    <a:pt x="372" y="59"/>
                    <a:pt x="615" y="37"/>
                  </a:cubicBezTo>
                  <a:cubicBezTo>
                    <a:pt x="858" y="15"/>
                    <a:pt x="1362" y="12"/>
                    <a:pt x="1613" y="6"/>
                  </a:cubicBezTo>
                  <a:cubicBezTo>
                    <a:pt x="1864" y="0"/>
                    <a:pt x="2018" y="3"/>
                    <a:pt x="2124" y="2"/>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sp>
          <p:nvSpPr>
            <p:cNvPr id="41" name="Text Box 63">
              <a:extLst>
                <a:ext uri="{FF2B5EF4-FFF2-40B4-BE49-F238E27FC236}">
                  <a16:creationId xmlns:a16="http://schemas.microsoft.com/office/drawing/2014/main" id="{E69C9410-1502-D4F7-FD82-DE7B63BEBC2C}"/>
                </a:ext>
              </a:extLst>
            </p:cNvPr>
            <p:cNvSpPr txBox="1">
              <a:spLocks noChangeArrowheads="1"/>
            </p:cNvSpPr>
            <p:nvPr/>
          </p:nvSpPr>
          <p:spPr bwMode="auto">
            <a:xfrm>
              <a:off x="4782" y="2931"/>
              <a:ext cx="234"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B1 </a:t>
              </a:r>
              <a:endParaRPr kumimoji="1" lang="en-US" altLang="zh-CN" sz="2400">
                <a:latin typeface="Times New Roman" panose="02020603050405020304" pitchFamily="18" charset="0"/>
                <a:ea typeface="长城楷体" pitchFamily="49" charset="-122"/>
              </a:endParaRPr>
            </a:p>
          </p:txBody>
        </p:sp>
      </p:grpSp>
      <p:grpSp>
        <p:nvGrpSpPr>
          <p:cNvPr id="42" name="Group 103">
            <a:extLst>
              <a:ext uri="{FF2B5EF4-FFF2-40B4-BE49-F238E27FC236}">
                <a16:creationId xmlns:a16="http://schemas.microsoft.com/office/drawing/2014/main" id="{57CE2A28-F662-33AC-28BF-6F3AD6107CEB}"/>
              </a:ext>
            </a:extLst>
          </p:cNvPr>
          <p:cNvGrpSpPr>
            <a:grpSpLocks/>
          </p:cNvGrpSpPr>
          <p:nvPr/>
        </p:nvGrpSpPr>
        <p:grpSpPr bwMode="auto">
          <a:xfrm>
            <a:off x="6192520" y="3374129"/>
            <a:ext cx="2798762" cy="1808162"/>
            <a:chOff x="3305" y="2541"/>
            <a:chExt cx="1763" cy="1139"/>
          </a:xfrm>
        </p:grpSpPr>
        <p:sp>
          <p:nvSpPr>
            <p:cNvPr id="43" name="Freeform 32">
              <a:extLst>
                <a:ext uri="{FF2B5EF4-FFF2-40B4-BE49-F238E27FC236}">
                  <a16:creationId xmlns:a16="http://schemas.microsoft.com/office/drawing/2014/main" id="{6A7AF35E-C5B9-44AA-36DE-D2720EE0803B}"/>
                </a:ext>
              </a:extLst>
            </p:cNvPr>
            <p:cNvSpPr>
              <a:spLocks/>
            </p:cNvSpPr>
            <p:nvPr/>
          </p:nvSpPr>
          <p:spPr bwMode="auto">
            <a:xfrm>
              <a:off x="3305" y="2886"/>
              <a:ext cx="1763" cy="794"/>
            </a:xfrm>
            <a:custGeom>
              <a:avLst/>
              <a:gdLst>
                <a:gd name="T0" fmla="*/ 0 w 2132"/>
                <a:gd name="T1" fmla="*/ 141 h 929"/>
                <a:gd name="T2" fmla="*/ 12 w 2132"/>
                <a:gd name="T3" fmla="*/ 48 h 929"/>
                <a:gd name="T4" fmla="*/ 47 w 2132"/>
                <a:gd name="T5" fmla="*/ 13 h 929"/>
                <a:gd name="T6" fmla="*/ 129 w 2132"/>
                <a:gd name="T7" fmla="*/ 3 h 929"/>
                <a:gd name="T8" fmla="*/ 217 w 2132"/>
                <a:gd name="T9" fmla="*/ 3 h 929"/>
                <a:gd name="T10" fmla="*/ 0 60000 65536"/>
                <a:gd name="T11" fmla="*/ 0 60000 65536"/>
                <a:gd name="T12" fmla="*/ 0 60000 65536"/>
                <a:gd name="T13" fmla="*/ 0 60000 65536"/>
                <a:gd name="T14" fmla="*/ 0 60000 65536"/>
                <a:gd name="T15" fmla="*/ 0 w 2132"/>
                <a:gd name="T16" fmla="*/ 0 h 929"/>
                <a:gd name="T17" fmla="*/ 2132 w 2132"/>
                <a:gd name="T18" fmla="*/ 929 h 929"/>
              </a:gdLst>
              <a:ahLst/>
              <a:cxnLst>
                <a:cxn ang="T10">
                  <a:pos x="T0" y="T1"/>
                </a:cxn>
                <a:cxn ang="T11">
                  <a:pos x="T2" y="T3"/>
                </a:cxn>
                <a:cxn ang="T12">
                  <a:pos x="T4" y="T5"/>
                </a:cxn>
                <a:cxn ang="T13">
                  <a:pos x="T6" y="T7"/>
                </a:cxn>
                <a:cxn ang="T14">
                  <a:pos x="T8" y="T9"/>
                </a:cxn>
              </a:cxnLst>
              <a:rect l="T15" t="T16" r="T17" b="T18"/>
              <a:pathLst>
                <a:path w="2132" h="929">
                  <a:moveTo>
                    <a:pt x="0" y="929"/>
                  </a:moveTo>
                  <a:cubicBezTo>
                    <a:pt x="21" y="827"/>
                    <a:pt x="49" y="459"/>
                    <a:pt x="125" y="318"/>
                  </a:cubicBezTo>
                  <a:cubicBezTo>
                    <a:pt x="201" y="177"/>
                    <a:pt x="266" y="134"/>
                    <a:pt x="456" y="83"/>
                  </a:cubicBezTo>
                  <a:cubicBezTo>
                    <a:pt x="646" y="32"/>
                    <a:pt x="989" y="26"/>
                    <a:pt x="1268" y="13"/>
                  </a:cubicBezTo>
                  <a:cubicBezTo>
                    <a:pt x="1547" y="0"/>
                    <a:pt x="1988" y="6"/>
                    <a:pt x="2132" y="4"/>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4" name="Text Box 64">
              <a:extLst>
                <a:ext uri="{FF2B5EF4-FFF2-40B4-BE49-F238E27FC236}">
                  <a16:creationId xmlns:a16="http://schemas.microsoft.com/office/drawing/2014/main" id="{A41ABB19-5B9A-A755-7A6C-5C4722676916}"/>
                </a:ext>
              </a:extLst>
            </p:cNvPr>
            <p:cNvSpPr txBox="1">
              <a:spLocks noChangeArrowheads="1"/>
            </p:cNvSpPr>
            <p:nvPr/>
          </p:nvSpPr>
          <p:spPr bwMode="auto">
            <a:xfrm>
              <a:off x="4782" y="2541"/>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B2</a:t>
              </a:r>
              <a:endParaRPr kumimoji="1" lang="en-US" altLang="zh-CN" sz="2400">
                <a:latin typeface="Times New Roman" panose="02020603050405020304" pitchFamily="18" charset="0"/>
                <a:ea typeface="长城楷体" pitchFamily="49" charset="-122"/>
              </a:endParaRPr>
            </a:p>
          </p:txBody>
        </p:sp>
      </p:grpSp>
      <p:grpSp>
        <p:nvGrpSpPr>
          <p:cNvPr id="45" name="Group 104">
            <a:extLst>
              <a:ext uri="{FF2B5EF4-FFF2-40B4-BE49-F238E27FC236}">
                <a16:creationId xmlns:a16="http://schemas.microsoft.com/office/drawing/2014/main" id="{65D2D297-9AEA-2886-A2B6-672E87C6BAB9}"/>
              </a:ext>
            </a:extLst>
          </p:cNvPr>
          <p:cNvGrpSpPr>
            <a:grpSpLocks/>
          </p:cNvGrpSpPr>
          <p:nvPr/>
        </p:nvGrpSpPr>
        <p:grpSpPr bwMode="auto">
          <a:xfrm>
            <a:off x="6162357" y="2751829"/>
            <a:ext cx="2778125" cy="2430462"/>
            <a:chOff x="3286" y="2149"/>
            <a:chExt cx="1750" cy="1531"/>
          </a:xfrm>
        </p:grpSpPr>
        <p:sp>
          <p:nvSpPr>
            <p:cNvPr id="46" name="Freeform 33">
              <a:extLst>
                <a:ext uri="{FF2B5EF4-FFF2-40B4-BE49-F238E27FC236}">
                  <a16:creationId xmlns:a16="http://schemas.microsoft.com/office/drawing/2014/main" id="{C24A8AB9-526B-10AC-C70C-1311D7350609}"/>
                </a:ext>
              </a:extLst>
            </p:cNvPr>
            <p:cNvSpPr>
              <a:spLocks/>
            </p:cNvSpPr>
            <p:nvPr/>
          </p:nvSpPr>
          <p:spPr bwMode="auto">
            <a:xfrm>
              <a:off x="3286" y="2464"/>
              <a:ext cx="1750" cy="1216"/>
            </a:xfrm>
            <a:custGeom>
              <a:avLst/>
              <a:gdLst>
                <a:gd name="T0" fmla="*/ 0 w 2116"/>
                <a:gd name="T1" fmla="*/ 404 h 1344"/>
                <a:gd name="T2" fmla="*/ 18 w 2116"/>
                <a:gd name="T3" fmla="*/ 159 h 1344"/>
                <a:gd name="T4" fmla="*/ 36 w 2116"/>
                <a:gd name="T5" fmla="*/ 47 h 1344"/>
                <a:gd name="T6" fmla="*/ 82 w 2116"/>
                <a:gd name="T7" fmla="*/ 11 h 1344"/>
                <a:gd name="T8" fmla="*/ 217 w 2116"/>
                <a:gd name="T9" fmla="*/ 0 h 1344"/>
                <a:gd name="T10" fmla="*/ 0 60000 65536"/>
                <a:gd name="T11" fmla="*/ 0 60000 65536"/>
                <a:gd name="T12" fmla="*/ 0 60000 65536"/>
                <a:gd name="T13" fmla="*/ 0 60000 65536"/>
                <a:gd name="T14" fmla="*/ 0 60000 65536"/>
                <a:gd name="T15" fmla="*/ 0 w 2116"/>
                <a:gd name="T16" fmla="*/ 0 h 1344"/>
                <a:gd name="T17" fmla="*/ 2116 w 2116"/>
                <a:gd name="T18" fmla="*/ 1344 h 1344"/>
              </a:gdLst>
              <a:ahLst/>
              <a:cxnLst>
                <a:cxn ang="T10">
                  <a:pos x="T0" y="T1"/>
                </a:cxn>
                <a:cxn ang="T11">
                  <a:pos x="T2" y="T3"/>
                </a:cxn>
                <a:cxn ang="T12">
                  <a:pos x="T4" y="T5"/>
                </a:cxn>
                <a:cxn ang="T13">
                  <a:pos x="T6" y="T7"/>
                </a:cxn>
                <a:cxn ang="T14">
                  <a:pos x="T8" y="T9"/>
                </a:cxn>
              </a:cxnLst>
              <a:rect l="T15" t="T16" r="T17" b="T18"/>
              <a:pathLst>
                <a:path w="2116" h="1344">
                  <a:moveTo>
                    <a:pt x="0" y="1344"/>
                  </a:moveTo>
                  <a:cubicBezTo>
                    <a:pt x="30" y="1209"/>
                    <a:pt x="120" y="730"/>
                    <a:pt x="179" y="532"/>
                  </a:cubicBezTo>
                  <a:cubicBezTo>
                    <a:pt x="238" y="334"/>
                    <a:pt x="250" y="240"/>
                    <a:pt x="353" y="157"/>
                  </a:cubicBezTo>
                  <a:cubicBezTo>
                    <a:pt x="456" y="74"/>
                    <a:pt x="506" y="60"/>
                    <a:pt x="800" y="34"/>
                  </a:cubicBezTo>
                  <a:cubicBezTo>
                    <a:pt x="1094" y="8"/>
                    <a:pt x="1897" y="6"/>
                    <a:pt x="2116"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7" name="Text Box 65">
              <a:extLst>
                <a:ext uri="{FF2B5EF4-FFF2-40B4-BE49-F238E27FC236}">
                  <a16:creationId xmlns:a16="http://schemas.microsoft.com/office/drawing/2014/main" id="{7BED53F6-8260-62F9-9FFD-4A43DC6DD9F6}"/>
                </a:ext>
              </a:extLst>
            </p:cNvPr>
            <p:cNvSpPr txBox="1">
              <a:spLocks noChangeArrowheads="1"/>
            </p:cNvSpPr>
            <p:nvPr/>
          </p:nvSpPr>
          <p:spPr bwMode="auto">
            <a:xfrm>
              <a:off x="4782" y="2149"/>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B3</a:t>
              </a:r>
              <a:endParaRPr kumimoji="1" lang="en-US" altLang="zh-CN" sz="2400">
                <a:latin typeface="Times New Roman" panose="02020603050405020304" pitchFamily="18" charset="0"/>
                <a:ea typeface="长城楷体" pitchFamily="49" charset="-122"/>
              </a:endParaRPr>
            </a:p>
          </p:txBody>
        </p:sp>
      </p:grpSp>
      <p:grpSp>
        <p:nvGrpSpPr>
          <p:cNvPr id="48" name="Group 81">
            <a:extLst>
              <a:ext uri="{FF2B5EF4-FFF2-40B4-BE49-F238E27FC236}">
                <a16:creationId xmlns:a16="http://schemas.microsoft.com/office/drawing/2014/main" id="{AAD91851-E3A4-F2B7-D031-4A87E94D7D68}"/>
              </a:ext>
            </a:extLst>
          </p:cNvPr>
          <p:cNvGrpSpPr>
            <a:grpSpLocks/>
          </p:cNvGrpSpPr>
          <p:nvPr/>
        </p:nvGrpSpPr>
        <p:grpSpPr bwMode="auto">
          <a:xfrm>
            <a:off x="6149657" y="3075679"/>
            <a:ext cx="592138" cy="2128837"/>
            <a:chOff x="3278" y="1161"/>
            <a:chExt cx="556" cy="1483"/>
          </a:xfrm>
        </p:grpSpPr>
        <p:sp>
          <p:nvSpPr>
            <p:cNvPr id="49" name="Freeform 62">
              <a:extLst>
                <a:ext uri="{FF2B5EF4-FFF2-40B4-BE49-F238E27FC236}">
                  <a16:creationId xmlns:a16="http://schemas.microsoft.com/office/drawing/2014/main" id="{259AE086-2B7D-B9DA-6BEC-5FF3BBEF98CF}"/>
                </a:ext>
              </a:extLst>
            </p:cNvPr>
            <p:cNvSpPr>
              <a:spLocks/>
            </p:cNvSpPr>
            <p:nvPr/>
          </p:nvSpPr>
          <p:spPr bwMode="auto">
            <a:xfrm>
              <a:off x="3278" y="1161"/>
              <a:ext cx="556" cy="1483"/>
            </a:xfrm>
            <a:custGeom>
              <a:avLst/>
              <a:gdLst>
                <a:gd name="T0" fmla="*/ 0 w 588"/>
                <a:gd name="T1" fmla="*/ 1156 h 1517"/>
                <a:gd name="T2" fmla="*/ 73 w 588"/>
                <a:gd name="T3" fmla="*/ 1123 h 1517"/>
                <a:gd name="T4" fmla="*/ 148 w 588"/>
                <a:gd name="T5" fmla="*/ 1011 h 1517"/>
                <a:gd name="T6" fmla="*/ 212 w 588"/>
                <a:gd name="T7" fmla="*/ 712 h 1517"/>
                <a:gd name="T8" fmla="*/ 265 w 588"/>
                <a:gd name="T9" fmla="*/ 320 h 1517"/>
                <a:gd name="T10" fmla="*/ 301 w 588"/>
                <a:gd name="T11" fmla="*/ 0 h 1517"/>
                <a:gd name="T12" fmla="*/ 0 60000 65536"/>
                <a:gd name="T13" fmla="*/ 0 60000 65536"/>
                <a:gd name="T14" fmla="*/ 0 60000 65536"/>
                <a:gd name="T15" fmla="*/ 0 60000 65536"/>
                <a:gd name="T16" fmla="*/ 0 60000 65536"/>
                <a:gd name="T17" fmla="*/ 0 60000 65536"/>
                <a:gd name="T18" fmla="*/ 0 w 588"/>
                <a:gd name="T19" fmla="*/ 0 h 1517"/>
                <a:gd name="T20" fmla="*/ 588 w 588"/>
                <a:gd name="T21" fmla="*/ 1517 h 1517"/>
              </a:gdLst>
              <a:ahLst/>
              <a:cxnLst>
                <a:cxn ang="T12">
                  <a:pos x="T0" y="T1"/>
                </a:cxn>
                <a:cxn ang="T13">
                  <a:pos x="T2" y="T3"/>
                </a:cxn>
                <a:cxn ang="T14">
                  <a:pos x="T4" y="T5"/>
                </a:cxn>
                <a:cxn ang="T15">
                  <a:pos x="T6" y="T7"/>
                </a:cxn>
                <a:cxn ang="T16">
                  <a:pos x="T8" y="T9"/>
                </a:cxn>
                <a:cxn ang="T17">
                  <a:pos x="T10" y="T11"/>
                </a:cxn>
              </a:cxnLst>
              <a:rect l="T18" t="T19" r="T20" b="T21"/>
              <a:pathLst>
                <a:path w="588" h="1517">
                  <a:moveTo>
                    <a:pt x="0" y="1517"/>
                  </a:moveTo>
                  <a:cubicBezTo>
                    <a:pt x="24" y="1510"/>
                    <a:pt x="95" y="1507"/>
                    <a:pt x="143" y="1475"/>
                  </a:cubicBezTo>
                  <a:cubicBezTo>
                    <a:pt x="191" y="1443"/>
                    <a:pt x="246" y="1417"/>
                    <a:pt x="291" y="1327"/>
                  </a:cubicBezTo>
                  <a:cubicBezTo>
                    <a:pt x="336" y="1237"/>
                    <a:pt x="376" y="1085"/>
                    <a:pt x="414" y="934"/>
                  </a:cubicBezTo>
                  <a:cubicBezTo>
                    <a:pt x="452" y="783"/>
                    <a:pt x="489" y="575"/>
                    <a:pt x="518" y="419"/>
                  </a:cubicBezTo>
                  <a:cubicBezTo>
                    <a:pt x="547" y="263"/>
                    <a:pt x="574" y="87"/>
                    <a:pt x="588" y="0"/>
                  </a:cubicBezTo>
                </a:path>
              </a:pathLst>
            </a:custGeom>
            <a:noFill/>
            <a:ln w="28575">
              <a:solidFill>
                <a:srgbClr val="0000FF"/>
              </a:solidFill>
              <a:prstDash val="dash"/>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nvGrpSpPr>
            <p:cNvPr id="50" name="Group 66">
              <a:extLst>
                <a:ext uri="{FF2B5EF4-FFF2-40B4-BE49-F238E27FC236}">
                  <a16:creationId xmlns:a16="http://schemas.microsoft.com/office/drawing/2014/main" id="{2627C335-AB20-CE8D-612D-2FD8D1B6CE04}"/>
                </a:ext>
              </a:extLst>
            </p:cNvPr>
            <p:cNvGrpSpPr>
              <a:grpSpLocks/>
            </p:cNvGrpSpPr>
            <p:nvPr/>
          </p:nvGrpSpPr>
          <p:grpSpPr bwMode="auto">
            <a:xfrm>
              <a:off x="3290" y="1161"/>
              <a:ext cx="476" cy="1407"/>
              <a:chOff x="3334" y="1117"/>
              <a:chExt cx="465" cy="1429"/>
            </a:xfrm>
          </p:grpSpPr>
          <p:sp>
            <p:nvSpPr>
              <p:cNvPr id="51" name="Line 67">
                <a:extLst>
                  <a:ext uri="{FF2B5EF4-FFF2-40B4-BE49-F238E27FC236}">
                    <a16:creationId xmlns:a16="http://schemas.microsoft.com/office/drawing/2014/main" id="{04097B9C-87CF-6961-8071-AE6735E17860}"/>
                  </a:ext>
                </a:extLst>
              </p:cNvPr>
              <p:cNvSpPr>
                <a:spLocks noChangeShapeType="1"/>
              </p:cNvSpPr>
              <p:nvPr/>
            </p:nvSpPr>
            <p:spPr bwMode="auto">
              <a:xfrm>
                <a:off x="3606" y="1117"/>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2" name="Line 68">
                <a:extLst>
                  <a:ext uri="{FF2B5EF4-FFF2-40B4-BE49-F238E27FC236}">
                    <a16:creationId xmlns:a16="http://schemas.microsoft.com/office/drawing/2014/main" id="{16D50ED4-FEC8-505C-B3DF-F2531FB26C5E}"/>
                  </a:ext>
                </a:extLst>
              </p:cNvPr>
              <p:cNvSpPr>
                <a:spLocks noChangeShapeType="1"/>
              </p:cNvSpPr>
              <p:nvPr/>
            </p:nvSpPr>
            <p:spPr bwMode="auto">
              <a:xfrm>
                <a:off x="3470" y="1117"/>
                <a:ext cx="301" cy="30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3" name="Line 69">
                <a:extLst>
                  <a:ext uri="{FF2B5EF4-FFF2-40B4-BE49-F238E27FC236}">
                    <a16:creationId xmlns:a16="http://schemas.microsoft.com/office/drawing/2014/main" id="{B33A505F-1264-C193-5DC9-EC6321F29F08}"/>
                  </a:ext>
                </a:extLst>
              </p:cNvPr>
              <p:cNvSpPr>
                <a:spLocks noChangeShapeType="1"/>
              </p:cNvSpPr>
              <p:nvPr/>
            </p:nvSpPr>
            <p:spPr bwMode="auto">
              <a:xfrm>
                <a:off x="3334" y="1117"/>
                <a:ext cx="433" cy="433"/>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4" name="Line 70">
                <a:extLst>
                  <a:ext uri="{FF2B5EF4-FFF2-40B4-BE49-F238E27FC236}">
                    <a16:creationId xmlns:a16="http://schemas.microsoft.com/office/drawing/2014/main" id="{56F4EB8E-A1D4-C6B2-D15B-5078AE88F012}"/>
                  </a:ext>
                </a:extLst>
              </p:cNvPr>
              <p:cNvSpPr>
                <a:spLocks noChangeShapeType="1"/>
              </p:cNvSpPr>
              <p:nvPr/>
            </p:nvSpPr>
            <p:spPr bwMode="auto">
              <a:xfrm>
                <a:off x="3334" y="1253"/>
                <a:ext cx="424" cy="42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5" name="Line 71">
                <a:extLst>
                  <a:ext uri="{FF2B5EF4-FFF2-40B4-BE49-F238E27FC236}">
                    <a16:creationId xmlns:a16="http://schemas.microsoft.com/office/drawing/2014/main" id="{06312936-679A-C71F-A14B-194241F3F260}"/>
                  </a:ext>
                </a:extLst>
              </p:cNvPr>
              <p:cNvSpPr>
                <a:spLocks noChangeShapeType="1"/>
              </p:cNvSpPr>
              <p:nvPr/>
            </p:nvSpPr>
            <p:spPr bwMode="auto">
              <a:xfrm>
                <a:off x="3334" y="1389"/>
                <a:ext cx="408" cy="40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6" name="Line 72">
                <a:extLst>
                  <a:ext uri="{FF2B5EF4-FFF2-40B4-BE49-F238E27FC236}">
                    <a16:creationId xmlns:a16="http://schemas.microsoft.com/office/drawing/2014/main" id="{A4982B9D-2AD8-D0C6-7ADD-F039473DBB99}"/>
                  </a:ext>
                </a:extLst>
              </p:cNvPr>
              <p:cNvSpPr>
                <a:spLocks noChangeShapeType="1"/>
              </p:cNvSpPr>
              <p:nvPr/>
            </p:nvSpPr>
            <p:spPr bwMode="auto">
              <a:xfrm>
                <a:off x="3334" y="1525"/>
                <a:ext cx="388" cy="38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7" name="Line 73">
                <a:extLst>
                  <a:ext uri="{FF2B5EF4-FFF2-40B4-BE49-F238E27FC236}">
                    <a16:creationId xmlns:a16="http://schemas.microsoft.com/office/drawing/2014/main" id="{A770449B-86EB-91E2-AE27-433537630FCB}"/>
                  </a:ext>
                </a:extLst>
              </p:cNvPr>
              <p:cNvSpPr>
                <a:spLocks noChangeShapeType="1"/>
              </p:cNvSpPr>
              <p:nvPr/>
            </p:nvSpPr>
            <p:spPr bwMode="auto">
              <a:xfrm>
                <a:off x="3334" y="1661"/>
                <a:ext cx="364" cy="36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8" name="Line 74">
                <a:extLst>
                  <a:ext uri="{FF2B5EF4-FFF2-40B4-BE49-F238E27FC236}">
                    <a16:creationId xmlns:a16="http://schemas.microsoft.com/office/drawing/2014/main" id="{A3050765-FCEB-4F68-897A-AA0863B53C3C}"/>
                  </a:ext>
                </a:extLst>
              </p:cNvPr>
              <p:cNvSpPr>
                <a:spLocks noChangeShapeType="1"/>
              </p:cNvSpPr>
              <p:nvPr/>
            </p:nvSpPr>
            <p:spPr bwMode="auto">
              <a:xfrm>
                <a:off x="3334" y="1797"/>
                <a:ext cx="348" cy="34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9" name="Line 75">
                <a:extLst>
                  <a:ext uri="{FF2B5EF4-FFF2-40B4-BE49-F238E27FC236}">
                    <a16:creationId xmlns:a16="http://schemas.microsoft.com/office/drawing/2014/main" id="{02F83C5F-3FB9-31B7-B061-B8A10F858F44}"/>
                  </a:ext>
                </a:extLst>
              </p:cNvPr>
              <p:cNvSpPr>
                <a:spLocks noChangeShapeType="1"/>
              </p:cNvSpPr>
              <p:nvPr/>
            </p:nvSpPr>
            <p:spPr bwMode="auto">
              <a:xfrm>
                <a:off x="3334" y="1933"/>
                <a:ext cx="316" cy="316"/>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0" name="Line 76">
                <a:extLst>
                  <a:ext uri="{FF2B5EF4-FFF2-40B4-BE49-F238E27FC236}">
                    <a16:creationId xmlns:a16="http://schemas.microsoft.com/office/drawing/2014/main" id="{54952F65-8396-724C-759D-A3B45CC664E1}"/>
                  </a:ext>
                </a:extLst>
              </p:cNvPr>
              <p:cNvSpPr>
                <a:spLocks noChangeShapeType="1"/>
              </p:cNvSpPr>
              <p:nvPr/>
            </p:nvSpPr>
            <p:spPr bwMode="auto">
              <a:xfrm>
                <a:off x="3334" y="2069"/>
                <a:ext cx="284" cy="28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1" name="Line 77">
                <a:extLst>
                  <a:ext uri="{FF2B5EF4-FFF2-40B4-BE49-F238E27FC236}">
                    <a16:creationId xmlns:a16="http://schemas.microsoft.com/office/drawing/2014/main" id="{52B6EAB3-D17F-49AA-C05E-AEED028A7BB0}"/>
                  </a:ext>
                </a:extLst>
              </p:cNvPr>
              <p:cNvSpPr>
                <a:spLocks noChangeShapeType="1"/>
              </p:cNvSpPr>
              <p:nvPr/>
            </p:nvSpPr>
            <p:spPr bwMode="auto">
              <a:xfrm>
                <a:off x="3334" y="2205"/>
                <a:ext cx="242" cy="242"/>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2" name="Line 78">
                <a:extLst>
                  <a:ext uri="{FF2B5EF4-FFF2-40B4-BE49-F238E27FC236}">
                    <a16:creationId xmlns:a16="http://schemas.microsoft.com/office/drawing/2014/main" id="{C9EB6AD9-106E-94EC-89CE-437356504F4D}"/>
                  </a:ext>
                </a:extLst>
              </p:cNvPr>
              <p:cNvSpPr>
                <a:spLocks noChangeShapeType="1"/>
              </p:cNvSpPr>
              <p:nvPr/>
            </p:nvSpPr>
            <p:spPr bwMode="auto">
              <a:xfrm>
                <a:off x="3334" y="2341"/>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3" name="Line 79">
                <a:extLst>
                  <a:ext uri="{FF2B5EF4-FFF2-40B4-BE49-F238E27FC236}">
                    <a16:creationId xmlns:a16="http://schemas.microsoft.com/office/drawing/2014/main" id="{AF0CC005-AF4E-458A-1FED-50FA830F459D}"/>
                  </a:ext>
                </a:extLst>
              </p:cNvPr>
              <p:cNvSpPr>
                <a:spLocks noChangeShapeType="1"/>
              </p:cNvSpPr>
              <p:nvPr/>
            </p:nvSpPr>
            <p:spPr bwMode="auto">
              <a:xfrm>
                <a:off x="3722" y="1117"/>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4" name="Line 80">
                <a:extLst>
                  <a:ext uri="{FF2B5EF4-FFF2-40B4-BE49-F238E27FC236}">
                    <a16:creationId xmlns:a16="http://schemas.microsoft.com/office/drawing/2014/main" id="{99E93382-B508-A0E5-E2D4-E0F753CD61BF}"/>
                  </a:ext>
                </a:extLst>
              </p:cNvPr>
              <p:cNvSpPr>
                <a:spLocks noChangeShapeType="1"/>
              </p:cNvSpPr>
              <p:nvPr/>
            </p:nvSpPr>
            <p:spPr bwMode="auto">
              <a:xfrm>
                <a:off x="3338" y="2469"/>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grpSp>
        <p:nvGrpSpPr>
          <p:cNvPr id="65" name="Group 106">
            <a:extLst>
              <a:ext uri="{FF2B5EF4-FFF2-40B4-BE49-F238E27FC236}">
                <a16:creationId xmlns:a16="http://schemas.microsoft.com/office/drawing/2014/main" id="{155CEEC1-BC0E-873F-693A-95B6912D263B}"/>
              </a:ext>
            </a:extLst>
          </p:cNvPr>
          <p:cNvGrpSpPr>
            <a:grpSpLocks/>
          </p:cNvGrpSpPr>
          <p:nvPr/>
        </p:nvGrpSpPr>
        <p:grpSpPr bwMode="auto">
          <a:xfrm>
            <a:off x="6121082" y="573779"/>
            <a:ext cx="2708275" cy="1943100"/>
            <a:chOff x="3175" y="2546"/>
            <a:chExt cx="1706" cy="1224"/>
          </a:xfrm>
        </p:grpSpPr>
        <p:sp>
          <p:nvSpPr>
            <p:cNvPr id="66" name="Line 107">
              <a:extLst>
                <a:ext uri="{FF2B5EF4-FFF2-40B4-BE49-F238E27FC236}">
                  <a16:creationId xmlns:a16="http://schemas.microsoft.com/office/drawing/2014/main" id="{B78C2FCE-DA44-027A-F829-2828E0CBDA9C}"/>
                </a:ext>
              </a:extLst>
            </p:cNvPr>
            <p:cNvSpPr>
              <a:spLocks noChangeShapeType="1"/>
            </p:cNvSpPr>
            <p:nvPr/>
          </p:nvSpPr>
          <p:spPr bwMode="auto">
            <a:xfrm>
              <a:off x="3915" y="2980"/>
              <a:ext cx="0" cy="35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7" name="Line 108">
              <a:extLst>
                <a:ext uri="{FF2B5EF4-FFF2-40B4-BE49-F238E27FC236}">
                  <a16:creationId xmlns:a16="http://schemas.microsoft.com/office/drawing/2014/main" id="{5C732C7B-DE79-7E34-8B69-6879B78DC82F}"/>
                </a:ext>
              </a:extLst>
            </p:cNvPr>
            <p:cNvSpPr>
              <a:spLocks noChangeShapeType="1"/>
            </p:cNvSpPr>
            <p:nvPr/>
          </p:nvSpPr>
          <p:spPr bwMode="auto">
            <a:xfrm flipH="1">
              <a:off x="3470" y="3159"/>
              <a:ext cx="445"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8" name="Line 109">
              <a:extLst>
                <a:ext uri="{FF2B5EF4-FFF2-40B4-BE49-F238E27FC236}">
                  <a16:creationId xmlns:a16="http://schemas.microsoft.com/office/drawing/2014/main" id="{EA052680-3890-4686-84C0-B472657AA31F}"/>
                </a:ext>
              </a:extLst>
            </p:cNvPr>
            <p:cNvSpPr>
              <a:spLocks noChangeShapeType="1"/>
            </p:cNvSpPr>
            <p:nvPr/>
          </p:nvSpPr>
          <p:spPr bwMode="auto">
            <a:xfrm flipV="1">
              <a:off x="3912" y="2977"/>
              <a:ext cx="193" cy="12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9" name="Line 110">
              <a:extLst>
                <a:ext uri="{FF2B5EF4-FFF2-40B4-BE49-F238E27FC236}">
                  <a16:creationId xmlns:a16="http://schemas.microsoft.com/office/drawing/2014/main" id="{6682B317-A6DB-75FF-A535-CC9C98EF009F}"/>
                </a:ext>
              </a:extLst>
            </p:cNvPr>
            <p:cNvSpPr>
              <a:spLocks noChangeShapeType="1"/>
            </p:cNvSpPr>
            <p:nvPr/>
          </p:nvSpPr>
          <p:spPr bwMode="auto">
            <a:xfrm>
              <a:off x="3915" y="3220"/>
              <a:ext cx="212" cy="133"/>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70" name="Line 111">
              <a:extLst>
                <a:ext uri="{FF2B5EF4-FFF2-40B4-BE49-F238E27FC236}">
                  <a16:creationId xmlns:a16="http://schemas.microsoft.com/office/drawing/2014/main" id="{F08390C8-74DE-7B1B-0BE6-B9C19D4E2AD1}"/>
                </a:ext>
              </a:extLst>
            </p:cNvPr>
            <p:cNvSpPr>
              <a:spLocks noChangeShapeType="1"/>
            </p:cNvSpPr>
            <p:nvPr/>
          </p:nvSpPr>
          <p:spPr bwMode="auto">
            <a:xfrm flipV="1">
              <a:off x="4099" y="2682"/>
              <a:ext cx="0" cy="30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1" name="Line 112">
              <a:extLst>
                <a:ext uri="{FF2B5EF4-FFF2-40B4-BE49-F238E27FC236}">
                  <a16:creationId xmlns:a16="http://schemas.microsoft.com/office/drawing/2014/main" id="{E07FCCF9-AB9F-6748-778C-B099F87CA7BA}"/>
                </a:ext>
              </a:extLst>
            </p:cNvPr>
            <p:cNvSpPr>
              <a:spLocks noChangeShapeType="1"/>
            </p:cNvSpPr>
            <p:nvPr/>
          </p:nvSpPr>
          <p:spPr bwMode="auto">
            <a:xfrm>
              <a:off x="4105" y="3335"/>
              <a:ext cx="0" cy="322"/>
            </a:xfrm>
            <a:prstGeom prst="line">
              <a:avLst/>
            </a:prstGeom>
            <a:noFill/>
            <a:ln w="38100">
              <a:solidFill>
                <a:schemeClr val="tx1"/>
              </a:solidFill>
              <a:round/>
              <a:headEnd/>
              <a:tailEnd type="oval" w="med" len="med"/>
            </a:ln>
            <a:extLst>
              <a:ext uri="{909E8E84-426E-40dd-AFC4-6F175D3DCCD1}">
                <a14:hiddenFill xmlns="" xmlns:a14="http://schemas.microsoft.com/office/drawing/2010/main">
                  <a:noFill/>
                </a14:hiddenFill>
              </a:ext>
            </a:extLst>
          </p:spPr>
          <p:txBody>
            <a:bodyPr/>
            <a:lstStyle/>
            <a:p>
              <a:endParaRPr lang="zh-CN" altLang="en-US"/>
            </a:p>
          </p:txBody>
        </p:sp>
        <p:sp>
          <p:nvSpPr>
            <p:cNvPr id="72" name="Line 113">
              <a:extLst>
                <a:ext uri="{FF2B5EF4-FFF2-40B4-BE49-F238E27FC236}">
                  <a16:creationId xmlns:a16="http://schemas.microsoft.com/office/drawing/2014/main" id="{C1EDB35A-E94C-2586-5491-2EFFEFBDF88D}"/>
                </a:ext>
              </a:extLst>
            </p:cNvPr>
            <p:cNvSpPr>
              <a:spLocks noChangeShapeType="1"/>
            </p:cNvSpPr>
            <p:nvPr/>
          </p:nvSpPr>
          <p:spPr bwMode="auto">
            <a:xfrm flipH="1">
              <a:off x="3469" y="3657"/>
              <a:ext cx="1067"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3" name="Line 114">
              <a:extLst>
                <a:ext uri="{FF2B5EF4-FFF2-40B4-BE49-F238E27FC236}">
                  <a16:creationId xmlns:a16="http://schemas.microsoft.com/office/drawing/2014/main" id="{4A2B70B3-967E-F41E-BC7C-EE214CE02A83}"/>
                </a:ext>
              </a:extLst>
            </p:cNvPr>
            <p:cNvSpPr>
              <a:spLocks noChangeShapeType="1"/>
            </p:cNvSpPr>
            <p:nvPr/>
          </p:nvSpPr>
          <p:spPr bwMode="auto">
            <a:xfrm flipH="1">
              <a:off x="4103" y="2682"/>
              <a:ext cx="433"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4" name="Text Box 115">
              <a:extLst>
                <a:ext uri="{FF2B5EF4-FFF2-40B4-BE49-F238E27FC236}">
                  <a16:creationId xmlns:a16="http://schemas.microsoft.com/office/drawing/2014/main" id="{FFF9BB61-5D93-DBDD-E19C-7F2782C0F794}"/>
                </a:ext>
              </a:extLst>
            </p:cNvPr>
            <p:cNvSpPr txBox="1">
              <a:spLocks noChangeArrowheads="1"/>
            </p:cNvSpPr>
            <p:nvPr/>
          </p:nvSpPr>
          <p:spPr bwMode="auto">
            <a:xfrm>
              <a:off x="3560"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B</a:t>
              </a:r>
            </a:p>
          </p:txBody>
        </p:sp>
        <p:sp>
          <p:nvSpPr>
            <p:cNvPr id="75" name="Line 116">
              <a:extLst>
                <a:ext uri="{FF2B5EF4-FFF2-40B4-BE49-F238E27FC236}">
                  <a16:creationId xmlns:a16="http://schemas.microsoft.com/office/drawing/2014/main" id="{FE404A98-4870-ED9F-AD1A-72C032D003BC}"/>
                </a:ext>
              </a:extLst>
            </p:cNvPr>
            <p:cNvSpPr>
              <a:spLocks noChangeShapeType="1"/>
            </p:cNvSpPr>
            <p:nvPr/>
          </p:nvSpPr>
          <p:spPr bwMode="auto">
            <a:xfrm flipH="1" flipV="1">
              <a:off x="3470" y="3067"/>
              <a:ext cx="340" cy="0"/>
            </a:xfrm>
            <a:prstGeom prst="line">
              <a:avLst/>
            </a:prstGeom>
            <a:noFill/>
            <a:ln w="28575">
              <a:solidFill>
                <a:schemeClr val="tx1"/>
              </a:solidFill>
              <a:round/>
              <a:headEnd type="triangle" w="med" len="lg"/>
              <a:tailEnd type="none" w="med" len="lg"/>
            </a:ln>
            <a:extLst>
              <a:ext uri="{909E8E84-426E-40dd-AFC4-6F175D3DCCD1}">
                <a14:hiddenFill xmlns="" xmlns:a14="http://schemas.microsoft.com/office/drawing/2010/main">
                  <a:noFill/>
                </a14:hiddenFill>
              </a:ext>
            </a:extLst>
          </p:spPr>
          <p:txBody>
            <a:bodyPr/>
            <a:lstStyle/>
            <a:p>
              <a:endParaRPr lang="zh-CN" altLang="en-US"/>
            </a:p>
          </p:txBody>
        </p:sp>
        <p:sp>
          <p:nvSpPr>
            <p:cNvPr id="76" name="Text Box 117">
              <a:extLst>
                <a:ext uri="{FF2B5EF4-FFF2-40B4-BE49-F238E27FC236}">
                  <a16:creationId xmlns:a16="http://schemas.microsoft.com/office/drawing/2014/main" id="{EB6AABD2-F098-B534-1C45-D275B2774372}"/>
                </a:ext>
              </a:extLst>
            </p:cNvPr>
            <p:cNvSpPr txBox="1">
              <a:spLocks noChangeArrowheads="1"/>
            </p:cNvSpPr>
            <p:nvPr/>
          </p:nvSpPr>
          <p:spPr bwMode="auto">
            <a:xfrm>
              <a:off x="4248"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C</a:t>
              </a:r>
            </a:p>
          </p:txBody>
        </p:sp>
        <p:sp>
          <p:nvSpPr>
            <p:cNvPr id="77" name="Line 118">
              <a:extLst>
                <a:ext uri="{FF2B5EF4-FFF2-40B4-BE49-F238E27FC236}">
                  <a16:creationId xmlns:a16="http://schemas.microsoft.com/office/drawing/2014/main" id="{9106E9AC-8FB0-6696-9E37-3A40B54620A7}"/>
                </a:ext>
              </a:extLst>
            </p:cNvPr>
            <p:cNvSpPr>
              <a:spLocks noChangeShapeType="1"/>
            </p:cNvSpPr>
            <p:nvPr/>
          </p:nvSpPr>
          <p:spPr bwMode="auto">
            <a:xfrm flipH="1" flipV="1">
              <a:off x="4173" y="2772"/>
              <a:ext cx="340"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78" name="Text Box 119">
              <a:extLst>
                <a:ext uri="{FF2B5EF4-FFF2-40B4-BE49-F238E27FC236}">
                  <a16:creationId xmlns:a16="http://schemas.microsoft.com/office/drawing/2014/main" id="{18257092-458E-8530-8B9B-6C26AA913406}"/>
                </a:ext>
              </a:extLst>
            </p:cNvPr>
            <p:cNvSpPr txBox="1">
              <a:spLocks noChangeArrowheads="1"/>
            </p:cNvSpPr>
            <p:nvPr/>
          </p:nvSpPr>
          <p:spPr bwMode="auto">
            <a:xfrm>
              <a:off x="3198" y="3045"/>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79" name="Text Box 120">
              <a:extLst>
                <a:ext uri="{FF2B5EF4-FFF2-40B4-BE49-F238E27FC236}">
                  <a16:creationId xmlns:a16="http://schemas.microsoft.com/office/drawing/2014/main" id="{9E60FAD2-6C73-A2DF-12C7-B633AEC82E8E}"/>
                </a:ext>
              </a:extLst>
            </p:cNvPr>
            <p:cNvSpPr txBox="1">
              <a:spLocks noChangeArrowheads="1"/>
            </p:cNvSpPr>
            <p:nvPr/>
          </p:nvSpPr>
          <p:spPr bwMode="auto">
            <a:xfrm>
              <a:off x="3198" y="3520"/>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80" name="Text Box 121">
              <a:extLst>
                <a:ext uri="{FF2B5EF4-FFF2-40B4-BE49-F238E27FC236}">
                  <a16:creationId xmlns:a16="http://schemas.microsoft.com/office/drawing/2014/main" id="{68519AA6-B6CD-99F4-182B-7219B523C042}"/>
                </a:ext>
              </a:extLst>
            </p:cNvPr>
            <p:cNvSpPr txBox="1">
              <a:spLocks noChangeArrowheads="1"/>
            </p:cNvSpPr>
            <p:nvPr/>
          </p:nvSpPr>
          <p:spPr bwMode="auto">
            <a:xfrm>
              <a:off x="3175" y="3201"/>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BE</a:t>
              </a:r>
            </a:p>
          </p:txBody>
        </p:sp>
        <p:sp>
          <p:nvSpPr>
            <p:cNvPr id="81" name="Text Box 122">
              <a:extLst>
                <a:ext uri="{FF2B5EF4-FFF2-40B4-BE49-F238E27FC236}">
                  <a16:creationId xmlns:a16="http://schemas.microsoft.com/office/drawing/2014/main" id="{3E85052E-FB57-1BB1-8E78-A5C0D07FC9E8}"/>
                </a:ext>
              </a:extLst>
            </p:cNvPr>
            <p:cNvSpPr txBox="1">
              <a:spLocks noChangeArrowheads="1"/>
            </p:cNvSpPr>
            <p:nvPr/>
          </p:nvSpPr>
          <p:spPr bwMode="auto">
            <a:xfrm>
              <a:off x="4503" y="2967"/>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CE</a:t>
              </a:r>
            </a:p>
          </p:txBody>
        </p:sp>
        <p:sp>
          <p:nvSpPr>
            <p:cNvPr id="82" name="Text Box 123">
              <a:extLst>
                <a:ext uri="{FF2B5EF4-FFF2-40B4-BE49-F238E27FC236}">
                  <a16:creationId xmlns:a16="http://schemas.microsoft.com/office/drawing/2014/main" id="{FE9227F8-4C72-5CCA-247A-9F8BD03A1619}"/>
                </a:ext>
              </a:extLst>
            </p:cNvPr>
            <p:cNvSpPr txBox="1">
              <a:spLocks noChangeArrowheads="1"/>
            </p:cNvSpPr>
            <p:nvPr/>
          </p:nvSpPr>
          <p:spPr bwMode="auto">
            <a:xfrm>
              <a:off x="4581" y="2546"/>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83" name="Text Box 124">
              <a:extLst>
                <a:ext uri="{FF2B5EF4-FFF2-40B4-BE49-F238E27FC236}">
                  <a16:creationId xmlns:a16="http://schemas.microsoft.com/office/drawing/2014/main" id="{6B01098E-7960-F41A-C98A-46D3FBAFCD00}"/>
                </a:ext>
              </a:extLst>
            </p:cNvPr>
            <p:cNvSpPr txBox="1">
              <a:spLocks noChangeArrowheads="1"/>
            </p:cNvSpPr>
            <p:nvPr/>
          </p:nvSpPr>
          <p:spPr bwMode="auto">
            <a:xfrm>
              <a:off x="4603" y="3498"/>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sp>
        <p:nvSpPr>
          <p:cNvPr id="84" name="文本框 83">
            <a:extLst>
              <a:ext uri="{FF2B5EF4-FFF2-40B4-BE49-F238E27FC236}">
                <a16:creationId xmlns:a16="http://schemas.microsoft.com/office/drawing/2014/main" id="{52DF6E8D-17D7-B037-3F42-B4035756AC42}"/>
              </a:ext>
            </a:extLst>
          </p:cNvPr>
          <p:cNvSpPr txBox="1"/>
          <p:nvPr/>
        </p:nvSpPr>
        <p:spPr>
          <a:xfrm>
            <a:off x="5601175" y="5792886"/>
            <a:ext cx="4208463" cy="646331"/>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工作在放大区</a:t>
            </a:r>
            <a:endParaRPr lang="en-US" altLang="zh-CN" dirty="0">
              <a:latin typeface="Microsoft YaHei" panose="020B0503020204020204" pitchFamily="34" charset="-122"/>
              <a:ea typeface="Microsoft YaHei" panose="020B0503020204020204" pitchFamily="34" charset="-122"/>
            </a:endParaRPr>
          </a:p>
          <a:p>
            <a:pPr algn="ctr"/>
            <a:r>
              <a:rPr lang="zh-CN" altLang="en-US" dirty="0">
                <a:latin typeface="Microsoft YaHei" panose="020B0503020204020204" pitchFamily="34" charset="-122"/>
                <a:ea typeface="Microsoft YaHei" panose="020B0503020204020204" pitchFamily="34" charset="-122"/>
              </a:rPr>
              <a:t>是后面介绍的</a:t>
            </a:r>
            <a:r>
              <a:rPr lang="en-US" altLang="zh-CN" dirty="0">
                <a:latin typeface="Microsoft YaHei" panose="020B0503020204020204" pitchFamily="34" charset="-122"/>
                <a:ea typeface="Microsoft YaHei" panose="020B0503020204020204" pitchFamily="34" charset="-122"/>
              </a:rPr>
              <a:t>BJT</a:t>
            </a:r>
            <a:r>
              <a:rPr lang="zh-CN" altLang="en-US" dirty="0">
                <a:latin typeface="Microsoft YaHei" panose="020B0503020204020204" pitchFamily="34" charset="-122"/>
                <a:ea typeface="Microsoft YaHei" panose="020B0503020204020204" pitchFamily="34" charset="-122"/>
              </a:rPr>
              <a:t>放大电路的前提条件</a:t>
            </a:r>
          </a:p>
        </p:txBody>
      </p:sp>
      <p:sp>
        <p:nvSpPr>
          <p:cNvPr id="85" name="Text Box 4">
            <a:extLst>
              <a:ext uri="{FF2B5EF4-FFF2-40B4-BE49-F238E27FC236}">
                <a16:creationId xmlns:a16="http://schemas.microsoft.com/office/drawing/2014/main" id="{0E02BBFD-C2BF-104D-EE32-BBF000A74012}"/>
              </a:ext>
            </a:extLst>
          </p:cNvPr>
          <p:cNvSpPr txBox="1">
            <a:spLocks noChangeArrowheads="1"/>
          </p:cNvSpPr>
          <p:nvPr/>
        </p:nvSpPr>
        <p:spPr bwMode="auto">
          <a:xfrm>
            <a:off x="791051" y="1285289"/>
            <a:ext cx="3168650" cy="725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Aft>
                <a:spcPct val="0"/>
              </a:spcAft>
              <a:buFontTx/>
              <a:buNone/>
            </a:pPr>
            <a:r>
              <a:rPr kumimoji="1" lang="en-US" altLang="zh-CN" sz="2800" i="1" dirty="0" err="1">
                <a:latin typeface="Times New Roman" panose="02020603050405020304" pitchFamily="18" charset="0"/>
                <a:ea typeface="黑体" panose="02010609060101010101" pitchFamily="49" charset="-122"/>
              </a:rPr>
              <a:t>i</a:t>
            </a:r>
            <a:r>
              <a:rPr kumimoji="1" lang="en-US" altLang="zh-CN" sz="2800" baseline="-25000" dirty="0" err="1">
                <a:latin typeface="Times New Roman" panose="02020603050405020304" pitchFamily="18" charset="0"/>
                <a:ea typeface="黑体" panose="02010609060101010101" pitchFamily="49" charset="-122"/>
              </a:rPr>
              <a:t>C</a:t>
            </a:r>
            <a:r>
              <a:rPr kumimoji="1" lang="en-US" altLang="zh-CN" sz="2800" baseline="-25000" dirty="0">
                <a:latin typeface="Times New Roman" panose="02020603050405020304" pitchFamily="18" charset="0"/>
                <a:ea typeface="黑体" panose="02010609060101010101" pitchFamily="49" charset="-122"/>
              </a:rPr>
              <a:t> </a:t>
            </a:r>
            <a:r>
              <a:rPr kumimoji="1" lang="en-US" altLang="zh-CN" sz="2800" dirty="0">
                <a:latin typeface="Times New Roman" panose="02020603050405020304" pitchFamily="18" charset="0"/>
                <a:ea typeface="黑体" panose="02010609060101010101" pitchFamily="49" charset="-122"/>
              </a:rPr>
              <a:t>= </a:t>
            </a:r>
            <a:r>
              <a:rPr kumimoji="1" lang="en-US" altLang="zh-CN" sz="2800" i="1" dirty="0">
                <a:latin typeface="Times New Roman" panose="02020603050405020304" pitchFamily="18" charset="0"/>
                <a:ea typeface="黑体" panose="02010609060101010101" pitchFamily="49" charset="-122"/>
              </a:rPr>
              <a:t>f </a:t>
            </a:r>
            <a:r>
              <a:rPr kumimoji="1" lang="en-US" altLang="zh-CN" sz="2800" dirty="0">
                <a:latin typeface="Times New Roman" panose="02020603050405020304" pitchFamily="18" charset="0"/>
                <a:ea typeface="黑体" panose="02010609060101010101" pitchFamily="49" charset="-122"/>
              </a:rPr>
              <a:t>(</a:t>
            </a:r>
            <a:r>
              <a:rPr kumimoji="1" lang="en-US" altLang="zh-CN" i="1" dirty="0" err="1">
                <a:latin typeface="Times New Roman" panose="02020603050405020304" pitchFamily="18" charset="0"/>
                <a:ea typeface="黑体" panose="02010609060101010101" pitchFamily="49" charset="-122"/>
              </a:rPr>
              <a:t>v</a:t>
            </a:r>
            <a:r>
              <a:rPr kumimoji="1" lang="en-US" altLang="zh-CN" sz="2800" baseline="-25000" dirty="0" err="1">
                <a:latin typeface="Times New Roman" panose="02020603050405020304" pitchFamily="18" charset="0"/>
                <a:ea typeface="黑体" panose="02010609060101010101" pitchFamily="49" charset="-122"/>
              </a:rPr>
              <a:t>CE</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i="1" baseline="-10000" dirty="0" err="1">
                <a:latin typeface="Times New Roman" panose="02020603050405020304" pitchFamily="18" charset="0"/>
                <a:ea typeface="黑体" panose="02010609060101010101" pitchFamily="49" charset="-122"/>
              </a:rPr>
              <a:t>i</a:t>
            </a:r>
            <a:r>
              <a:rPr kumimoji="1" lang="en-US" altLang="zh-CN" sz="2800" baseline="-30000" dirty="0" err="1">
                <a:latin typeface="Times New Roman" panose="02020603050405020304" pitchFamily="18" charset="0"/>
                <a:ea typeface="黑体" panose="02010609060101010101" pitchFamily="49" charset="-122"/>
              </a:rPr>
              <a:t>B</a:t>
            </a:r>
            <a:r>
              <a:rPr kumimoji="1" lang="en-US" altLang="zh-CN" sz="2800" baseline="-10000" dirty="0">
                <a:latin typeface="Times New Roman" panose="02020603050405020304" pitchFamily="18" charset="0"/>
                <a:ea typeface="黑体" panose="02010609060101010101" pitchFamily="49" charset="-122"/>
              </a:rPr>
              <a:t>=</a:t>
            </a:r>
            <a:r>
              <a:rPr kumimoji="1" lang="zh-CN" altLang="en-US" sz="2800" baseline="-10000" dirty="0">
                <a:latin typeface="Times New Roman" panose="02020603050405020304" pitchFamily="18" charset="0"/>
                <a:ea typeface="黑体" panose="02010609060101010101" pitchFamily="49" charset="-122"/>
              </a:rPr>
              <a:t>常数</a:t>
            </a:r>
            <a:endParaRPr kumimoji="1" lang="zh-CN" altLang="en-US" sz="2800" dirty="0">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73452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2" grpId="0"/>
      <p:bldP spid="33" grpId="0"/>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A2B61-C06A-F2A3-0AC2-C507098DD9D5}"/>
              </a:ext>
            </a:extLst>
          </p:cNvPr>
          <p:cNvSpPr>
            <a:spLocks noGrp="1"/>
          </p:cNvSpPr>
          <p:nvPr>
            <p:ph type="title"/>
          </p:nvPr>
        </p:nvSpPr>
        <p:spPr/>
        <p:txBody>
          <a:bodyPr>
            <a:normAutofit fontScale="90000"/>
          </a:bodyPr>
          <a:lstStyle/>
          <a:p>
            <a:r>
              <a:rPr lang="zh-CN" altLang="en-US" dirty="0"/>
              <a:t>工作区域</a:t>
            </a:r>
            <a:endParaRPr kumimoji="1" lang="zh-CN" altLang="en-US" dirty="0"/>
          </a:p>
        </p:txBody>
      </p:sp>
      <p:sp>
        <p:nvSpPr>
          <p:cNvPr id="4" name="页脚占位符 3">
            <a:extLst>
              <a:ext uri="{FF2B5EF4-FFF2-40B4-BE49-F238E27FC236}">
                <a16:creationId xmlns:a16="http://schemas.microsoft.com/office/drawing/2014/main" id="{72036762-7B93-11C0-9164-ED77B2022206}"/>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699F23C-54A1-A7F1-4815-8CCF3EBAA69A}"/>
              </a:ext>
            </a:extLst>
          </p:cNvPr>
          <p:cNvSpPr>
            <a:spLocks noGrp="1"/>
          </p:cNvSpPr>
          <p:nvPr>
            <p:ph type="sldNum" sz="quarter" idx="12"/>
          </p:nvPr>
        </p:nvSpPr>
        <p:spPr/>
        <p:txBody>
          <a:bodyPr/>
          <a:lstStyle/>
          <a:p>
            <a:fld id="{9E260BC5-5BF3-8746-862B-DC45E9CAA88B}" type="slidenum">
              <a:rPr lang="en-US" smtClean="0"/>
              <a:pPr/>
              <a:t>14</a:t>
            </a:fld>
            <a:r>
              <a:rPr lang="en-US" altLang="zh-CN" dirty="0"/>
              <a:t>/33</a:t>
            </a:r>
            <a:endParaRPr lang="en-US" dirty="0"/>
          </a:p>
        </p:txBody>
      </p:sp>
      <p:pic>
        <p:nvPicPr>
          <p:cNvPr id="6" name="Picture 50">
            <a:extLst>
              <a:ext uri="{FF2B5EF4-FFF2-40B4-BE49-F238E27FC236}">
                <a16:creationId xmlns:a16="http://schemas.microsoft.com/office/drawing/2014/main" id="{36CA5288-EF07-20DE-7A15-9C3837108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152" y="2266021"/>
            <a:ext cx="3543300" cy="2800350"/>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Lst>
        </p:spPr>
      </p:pic>
      <p:sp>
        <p:nvSpPr>
          <p:cNvPr id="7" name="Line 35">
            <a:extLst>
              <a:ext uri="{FF2B5EF4-FFF2-40B4-BE49-F238E27FC236}">
                <a16:creationId xmlns:a16="http://schemas.microsoft.com/office/drawing/2014/main" id="{9F53C4A6-FFE2-B5D9-741D-D388FD927AA9}"/>
              </a:ext>
            </a:extLst>
          </p:cNvPr>
          <p:cNvSpPr>
            <a:spLocks noChangeShapeType="1"/>
          </p:cNvSpPr>
          <p:nvPr/>
        </p:nvSpPr>
        <p:spPr bwMode="auto">
          <a:xfrm flipV="1">
            <a:off x="5135364" y="4747679"/>
            <a:ext cx="2898775" cy="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8" name="Text Box 39">
            <a:extLst>
              <a:ext uri="{FF2B5EF4-FFF2-40B4-BE49-F238E27FC236}">
                <a16:creationId xmlns:a16="http://schemas.microsoft.com/office/drawing/2014/main" id="{6CF7BA55-D4EA-3CA6-0858-B7B237FB0DDB}"/>
              </a:ext>
            </a:extLst>
          </p:cNvPr>
          <p:cNvSpPr txBox="1">
            <a:spLocks noChangeArrowheads="1"/>
          </p:cNvSpPr>
          <p:nvPr/>
        </p:nvSpPr>
        <p:spPr bwMode="auto">
          <a:xfrm>
            <a:off x="7349927" y="4112679"/>
            <a:ext cx="671512" cy="438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 </a:t>
            </a:r>
            <a:r>
              <a:rPr kumimoji="1" lang="en-US" altLang="zh-CN" sz="2400">
                <a:latin typeface="Times New Roman" panose="02020603050405020304" pitchFamily="18" charset="0"/>
                <a:ea typeface="长城楷体" pitchFamily="49" charset="-122"/>
              </a:rPr>
              <a:t>= 0</a:t>
            </a:r>
          </a:p>
        </p:txBody>
      </p:sp>
      <p:grpSp>
        <p:nvGrpSpPr>
          <p:cNvPr id="9" name="Group 105">
            <a:extLst>
              <a:ext uri="{FF2B5EF4-FFF2-40B4-BE49-F238E27FC236}">
                <a16:creationId xmlns:a16="http://schemas.microsoft.com/office/drawing/2014/main" id="{27F1FC9F-BFD2-89D0-A4F3-89A94E5CAFE8}"/>
              </a:ext>
            </a:extLst>
          </p:cNvPr>
          <p:cNvGrpSpPr>
            <a:grpSpLocks/>
          </p:cNvGrpSpPr>
          <p:nvPr/>
        </p:nvGrpSpPr>
        <p:grpSpPr bwMode="auto">
          <a:xfrm>
            <a:off x="5373489" y="4638142"/>
            <a:ext cx="2552700" cy="627062"/>
            <a:chOff x="3428" y="3625"/>
            <a:chExt cx="1608" cy="395"/>
          </a:xfrm>
        </p:grpSpPr>
        <p:grpSp>
          <p:nvGrpSpPr>
            <p:cNvPr id="10" name="Group 40">
              <a:extLst>
                <a:ext uri="{FF2B5EF4-FFF2-40B4-BE49-F238E27FC236}">
                  <a16:creationId xmlns:a16="http://schemas.microsoft.com/office/drawing/2014/main" id="{2041760B-7251-FED2-89DF-8AC25720F86F}"/>
                </a:ext>
              </a:extLst>
            </p:cNvPr>
            <p:cNvGrpSpPr>
              <a:grpSpLocks/>
            </p:cNvGrpSpPr>
            <p:nvPr/>
          </p:nvGrpSpPr>
          <p:grpSpPr bwMode="auto">
            <a:xfrm>
              <a:off x="3428" y="3625"/>
              <a:ext cx="1608" cy="65"/>
              <a:chOff x="2993" y="3543"/>
              <a:chExt cx="1929" cy="69"/>
            </a:xfrm>
          </p:grpSpPr>
          <p:sp>
            <p:nvSpPr>
              <p:cNvPr id="12" name="Line 41">
                <a:extLst>
                  <a:ext uri="{FF2B5EF4-FFF2-40B4-BE49-F238E27FC236}">
                    <a16:creationId xmlns:a16="http://schemas.microsoft.com/office/drawing/2014/main" id="{4D936BB4-EFC8-8483-88BE-612EA6B088A3}"/>
                  </a:ext>
                </a:extLst>
              </p:cNvPr>
              <p:cNvSpPr>
                <a:spLocks noChangeShapeType="1"/>
              </p:cNvSpPr>
              <p:nvPr/>
            </p:nvSpPr>
            <p:spPr bwMode="auto">
              <a:xfrm flipV="1">
                <a:off x="2993"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 name="Line 42">
                <a:extLst>
                  <a:ext uri="{FF2B5EF4-FFF2-40B4-BE49-F238E27FC236}">
                    <a16:creationId xmlns:a16="http://schemas.microsoft.com/office/drawing/2014/main" id="{11526095-E80E-12C1-76CC-2F2735656A7A}"/>
                  </a:ext>
                </a:extLst>
              </p:cNvPr>
              <p:cNvSpPr>
                <a:spLocks noChangeShapeType="1"/>
              </p:cNvSpPr>
              <p:nvPr/>
            </p:nvSpPr>
            <p:spPr bwMode="auto">
              <a:xfrm flipV="1">
                <a:off x="3084"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43">
                <a:extLst>
                  <a:ext uri="{FF2B5EF4-FFF2-40B4-BE49-F238E27FC236}">
                    <a16:creationId xmlns:a16="http://schemas.microsoft.com/office/drawing/2014/main" id="{6FCE533F-3121-49B4-1EBE-17CDDD13DE71}"/>
                  </a:ext>
                </a:extLst>
              </p:cNvPr>
              <p:cNvSpPr>
                <a:spLocks noChangeShapeType="1"/>
              </p:cNvSpPr>
              <p:nvPr/>
            </p:nvSpPr>
            <p:spPr bwMode="auto">
              <a:xfrm flipV="1">
                <a:off x="317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Line 44">
                <a:extLst>
                  <a:ext uri="{FF2B5EF4-FFF2-40B4-BE49-F238E27FC236}">
                    <a16:creationId xmlns:a16="http://schemas.microsoft.com/office/drawing/2014/main" id="{372172BC-EE14-776C-D06F-B6B06403D46E}"/>
                  </a:ext>
                </a:extLst>
              </p:cNvPr>
              <p:cNvSpPr>
                <a:spLocks noChangeShapeType="1"/>
              </p:cNvSpPr>
              <p:nvPr/>
            </p:nvSpPr>
            <p:spPr bwMode="auto">
              <a:xfrm flipV="1">
                <a:off x="326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6" name="Line 45">
                <a:extLst>
                  <a:ext uri="{FF2B5EF4-FFF2-40B4-BE49-F238E27FC236}">
                    <a16:creationId xmlns:a16="http://schemas.microsoft.com/office/drawing/2014/main" id="{3D40834E-E33B-5A69-B047-69BCC47770E2}"/>
                  </a:ext>
                </a:extLst>
              </p:cNvPr>
              <p:cNvSpPr>
                <a:spLocks noChangeShapeType="1"/>
              </p:cNvSpPr>
              <p:nvPr/>
            </p:nvSpPr>
            <p:spPr bwMode="auto">
              <a:xfrm flipV="1">
                <a:off x="335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 name="Line 46">
                <a:extLst>
                  <a:ext uri="{FF2B5EF4-FFF2-40B4-BE49-F238E27FC236}">
                    <a16:creationId xmlns:a16="http://schemas.microsoft.com/office/drawing/2014/main" id="{8D8F28FB-8ADD-7CCF-89D9-FB650766DC58}"/>
                  </a:ext>
                </a:extLst>
              </p:cNvPr>
              <p:cNvSpPr>
                <a:spLocks noChangeShapeType="1"/>
              </p:cNvSpPr>
              <p:nvPr/>
            </p:nvSpPr>
            <p:spPr bwMode="auto">
              <a:xfrm flipV="1">
                <a:off x="344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 name="Line 47">
                <a:extLst>
                  <a:ext uri="{FF2B5EF4-FFF2-40B4-BE49-F238E27FC236}">
                    <a16:creationId xmlns:a16="http://schemas.microsoft.com/office/drawing/2014/main" id="{EDE8B771-A793-CE7B-4609-F9D71B33F948}"/>
                  </a:ext>
                </a:extLst>
              </p:cNvPr>
              <p:cNvSpPr>
                <a:spLocks noChangeShapeType="1"/>
              </p:cNvSpPr>
              <p:nvPr/>
            </p:nvSpPr>
            <p:spPr bwMode="auto">
              <a:xfrm flipV="1">
                <a:off x="353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9" name="Line 48">
                <a:extLst>
                  <a:ext uri="{FF2B5EF4-FFF2-40B4-BE49-F238E27FC236}">
                    <a16:creationId xmlns:a16="http://schemas.microsoft.com/office/drawing/2014/main" id="{0688FD18-3EDD-2DB1-2D3F-38E44CB7B0A3}"/>
                  </a:ext>
                </a:extLst>
              </p:cNvPr>
              <p:cNvSpPr>
                <a:spLocks noChangeShapeType="1"/>
              </p:cNvSpPr>
              <p:nvPr/>
            </p:nvSpPr>
            <p:spPr bwMode="auto">
              <a:xfrm flipV="1">
                <a:off x="3629"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0" name="Line 49">
                <a:extLst>
                  <a:ext uri="{FF2B5EF4-FFF2-40B4-BE49-F238E27FC236}">
                    <a16:creationId xmlns:a16="http://schemas.microsoft.com/office/drawing/2014/main" id="{29F57E97-A040-7BBC-E469-1B03D3FA35F6}"/>
                  </a:ext>
                </a:extLst>
              </p:cNvPr>
              <p:cNvSpPr>
                <a:spLocks noChangeShapeType="1"/>
              </p:cNvSpPr>
              <p:nvPr/>
            </p:nvSpPr>
            <p:spPr bwMode="auto">
              <a:xfrm flipV="1">
                <a:off x="371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1" name="Line 50">
                <a:extLst>
                  <a:ext uri="{FF2B5EF4-FFF2-40B4-BE49-F238E27FC236}">
                    <a16:creationId xmlns:a16="http://schemas.microsoft.com/office/drawing/2014/main" id="{23B5732C-ABBE-B2AE-32A2-BBBC6E45E56B}"/>
                  </a:ext>
                </a:extLst>
              </p:cNvPr>
              <p:cNvSpPr>
                <a:spLocks noChangeShapeType="1"/>
              </p:cNvSpPr>
              <p:nvPr/>
            </p:nvSpPr>
            <p:spPr bwMode="auto">
              <a:xfrm flipV="1">
                <a:off x="3810"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51">
                <a:extLst>
                  <a:ext uri="{FF2B5EF4-FFF2-40B4-BE49-F238E27FC236}">
                    <a16:creationId xmlns:a16="http://schemas.microsoft.com/office/drawing/2014/main" id="{16B0B5EB-AEFD-3379-BB1E-8EBBDAB9CF23}"/>
                  </a:ext>
                </a:extLst>
              </p:cNvPr>
              <p:cNvSpPr>
                <a:spLocks noChangeShapeType="1"/>
              </p:cNvSpPr>
              <p:nvPr/>
            </p:nvSpPr>
            <p:spPr bwMode="auto">
              <a:xfrm flipV="1">
                <a:off x="3901"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3" name="Line 52">
                <a:extLst>
                  <a:ext uri="{FF2B5EF4-FFF2-40B4-BE49-F238E27FC236}">
                    <a16:creationId xmlns:a16="http://schemas.microsoft.com/office/drawing/2014/main" id="{41960178-1A83-EBB5-A073-72DEAE5CA0C8}"/>
                  </a:ext>
                </a:extLst>
              </p:cNvPr>
              <p:cNvSpPr>
                <a:spLocks noChangeShapeType="1"/>
              </p:cNvSpPr>
              <p:nvPr/>
            </p:nvSpPr>
            <p:spPr bwMode="auto">
              <a:xfrm flipV="1">
                <a:off x="3992"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4" name="Line 53">
                <a:extLst>
                  <a:ext uri="{FF2B5EF4-FFF2-40B4-BE49-F238E27FC236}">
                    <a16:creationId xmlns:a16="http://schemas.microsoft.com/office/drawing/2014/main" id="{7ED296F6-73F7-A5B0-CDEE-17CAB4019BD6}"/>
                  </a:ext>
                </a:extLst>
              </p:cNvPr>
              <p:cNvSpPr>
                <a:spLocks noChangeShapeType="1"/>
              </p:cNvSpPr>
              <p:nvPr/>
            </p:nvSpPr>
            <p:spPr bwMode="auto">
              <a:xfrm flipV="1">
                <a:off x="4082"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5" name="Line 54">
                <a:extLst>
                  <a:ext uri="{FF2B5EF4-FFF2-40B4-BE49-F238E27FC236}">
                    <a16:creationId xmlns:a16="http://schemas.microsoft.com/office/drawing/2014/main" id="{7241A3F7-02C0-D9DC-4894-9899E9F22AEA}"/>
                  </a:ext>
                </a:extLst>
              </p:cNvPr>
              <p:cNvSpPr>
                <a:spLocks noChangeShapeType="1"/>
              </p:cNvSpPr>
              <p:nvPr/>
            </p:nvSpPr>
            <p:spPr bwMode="auto">
              <a:xfrm flipV="1">
                <a:off x="4173"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6" name="Line 55">
                <a:extLst>
                  <a:ext uri="{FF2B5EF4-FFF2-40B4-BE49-F238E27FC236}">
                    <a16:creationId xmlns:a16="http://schemas.microsoft.com/office/drawing/2014/main" id="{90A2D7C5-B8DC-AE99-04C9-B828FD036B0F}"/>
                  </a:ext>
                </a:extLst>
              </p:cNvPr>
              <p:cNvSpPr>
                <a:spLocks noChangeShapeType="1"/>
              </p:cNvSpPr>
              <p:nvPr/>
            </p:nvSpPr>
            <p:spPr bwMode="auto">
              <a:xfrm flipV="1">
                <a:off x="4264"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7" name="Line 56">
                <a:extLst>
                  <a:ext uri="{FF2B5EF4-FFF2-40B4-BE49-F238E27FC236}">
                    <a16:creationId xmlns:a16="http://schemas.microsoft.com/office/drawing/2014/main" id="{C0421194-C83A-F643-2808-604BD11576D5}"/>
                  </a:ext>
                </a:extLst>
              </p:cNvPr>
              <p:cNvSpPr>
                <a:spLocks noChangeShapeType="1"/>
              </p:cNvSpPr>
              <p:nvPr/>
            </p:nvSpPr>
            <p:spPr bwMode="auto">
              <a:xfrm flipV="1">
                <a:off x="4355"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8" name="Line 57">
                <a:extLst>
                  <a:ext uri="{FF2B5EF4-FFF2-40B4-BE49-F238E27FC236}">
                    <a16:creationId xmlns:a16="http://schemas.microsoft.com/office/drawing/2014/main" id="{F87423BE-3E81-D864-6736-673C0FDF5D34}"/>
                  </a:ext>
                </a:extLst>
              </p:cNvPr>
              <p:cNvSpPr>
                <a:spLocks noChangeShapeType="1"/>
              </p:cNvSpPr>
              <p:nvPr/>
            </p:nvSpPr>
            <p:spPr bwMode="auto">
              <a:xfrm flipV="1">
                <a:off x="444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9" name="Line 58">
                <a:extLst>
                  <a:ext uri="{FF2B5EF4-FFF2-40B4-BE49-F238E27FC236}">
                    <a16:creationId xmlns:a16="http://schemas.microsoft.com/office/drawing/2014/main" id="{5609FF30-7F66-CC20-B55E-ECB46C98EA3D}"/>
                  </a:ext>
                </a:extLst>
              </p:cNvPr>
              <p:cNvSpPr>
                <a:spLocks noChangeShapeType="1"/>
              </p:cNvSpPr>
              <p:nvPr/>
            </p:nvSpPr>
            <p:spPr bwMode="auto">
              <a:xfrm flipV="1">
                <a:off x="453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0" name="Line 59">
                <a:extLst>
                  <a:ext uri="{FF2B5EF4-FFF2-40B4-BE49-F238E27FC236}">
                    <a16:creationId xmlns:a16="http://schemas.microsoft.com/office/drawing/2014/main" id="{3B8D8F2E-CE14-8CF8-1587-4F0A0F8E9331}"/>
                  </a:ext>
                </a:extLst>
              </p:cNvPr>
              <p:cNvSpPr>
                <a:spLocks noChangeShapeType="1"/>
              </p:cNvSpPr>
              <p:nvPr/>
            </p:nvSpPr>
            <p:spPr bwMode="auto">
              <a:xfrm flipV="1">
                <a:off x="462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1" name="Line 60">
                <a:extLst>
                  <a:ext uri="{FF2B5EF4-FFF2-40B4-BE49-F238E27FC236}">
                    <a16:creationId xmlns:a16="http://schemas.microsoft.com/office/drawing/2014/main" id="{F9AAE1EE-A22C-19D2-561F-D11BE3E4891B}"/>
                  </a:ext>
                </a:extLst>
              </p:cNvPr>
              <p:cNvSpPr>
                <a:spLocks noChangeShapeType="1"/>
              </p:cNvSpPr>
              <p:nvPr/>
            </p:nvSpPr>
            <p:spPr bwMode="auto">
              <a:xfrm flipV="1">
                <a:off x="471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2" name="Line 61">
                <a:extLst>
                  <a:ext uri="{FF2B5EF4-FFF2-40B4-BE49-F238E27FC236}">
                    <a16:creationId xmlns:a16="http://schemas.microsoft.com/office/drawing/2014/main" id="{58ECFFFD-DF92-6644-2722-7806A83CE4F6}"/>
                  </a:ext>
                </a:extLst>
              </p:cNvPr>
              <p:cNvSpPr>
                <a:spLocks noChangeShapeType="1"/>
              </p:cNvSpPr>
              <p:nvPr/>
            </p:nvSpPr>
            <p:spPr bwMode="auto">
              <a:xfrm flipV="1">
                <a:off x="480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11" name="Rectangle 28">
              <a:extLst>
                <a:ext uri="{FF2B5EF4-FFF2-40B4-BE49-F238E27FC236}">
                  <a16:creationId xmlns:a16="http://schemas.microsoft.com/office/drawing/2014/main" id="{F47EA1F6-4D27-35DF-6675-8BA3C4C497AB}"/>
                </a:ext>
              </a:extLst>
            </p:cNvPr>
            <p:cNvSpPr>
              <a:spLocks noChangeArrowheads="1"/>
            </p:cNvSpPr>
            <p:nvPr/>
          </p:nvSpPr>
          <p:spPr bwMode="auto">
            <a:xfrm>
              <a:off x="3931" y="3732"/>
              <a:ext cx="69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solidFill>
                    <a:srgbClr val="FF3300"/>
                  </a:solidFill>
                </a:rPr>
                <a:t>截止区</a:t>
              </a:r>
            </a:p>
          </p:txBody>
        </p:sp>
      </p:grpSp>
      <p:sp>
        <p:nvSpPr>
          <p:cNvPr id="33" name="Rectangle 10">
            <a:extLst>
              <a:ext uri="{FF2B5EF4-FFF2-40B4-BE49-F238E27FC236}">
                <a16:creationId xmlns:a16="http://schemas.microsoft.com/office/drawing/2014/main" id="{FCC647AB-CADB-FD2B-BD9F-DA46887E9F8C}"/>
              </a:ext>
            </a:extLst>
          </p:cNvPr>
          <p:cNvSpPr>
            <a:spLocks noChangeArrowheads="1"/>
          </p:cNvSpPr>
          <p:nvPr/>
        </p:nvSpPr>
        <p:spPr bwMode="auto">
          <a:xfrm>
            <a:off x="6172002" y="3511017"/>
            <a:ext cx="11033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放大区</a:t>
            </a:r>
          </a:p>
        </p:txBody>
      </p:sp>
      <p:sp>
        <p:nvSpPr>
          <p:cNvPr id="34" name="Rectangle 11">
            <a:extLst>
              <a:ext uri="{FF2B5EF4-FFF2-40B4-BE49-F238E27FC236}">
                <a16:creationId xmlns:a16="http://schemas.microsoft.com/office/drawing/2014/main" id="{94CD2CF6-046E-0AFB-3A78-5159C8D7FFE8}"/>
              </a:ext>
            </a:extLst>
          </p:cNvPr>
          <p:cNvSpPr>
            <a:spLocks noChangeArrowheads="1"/>
          </p:cNvSpPr>
          <p:nvPr/>
        </p:nvSpPr>
        <p:spPr bwMode="auto">
          <a:xfrm>
            <a:off x="5187752" y="2096554"/>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solidFill>
                  <a:srgbClr val="0000FF"/>
                </a:solidFill>
              </a:rPr>
              <a:t>饱和区</a:t>
            </a:r>
          </a:p>
        </p:txBody>
      </p:sp>
      <p:sp>
        <p:nvSpPr>
          <p:cNvPr id="35" name="Text Box 30">
            <a:extLst>
              <a:ext uri="{FF2B5EF4-FFF2-40B4-BE49-F238E27FC236}">
                <a16:creationId xmlns:a16="http://schemas.microsoft.com/office/drawing/2014/main" id="{090FED21-19AF-2CEF-9FE1-566F29557889}"/>
              </a:ext>
            </a:extLst>
          </p:cNvPr>
          <p:cNvSpPr txBox="1">
            <a:spLocks noChangeArrowheads="1"/>
          </p:cNvSpPr>
          <p:nvPr/>
        </p:nvSpPr>
        <p:spPr bwMode="auto">
          <a:xfrm>
            <a:off x="8183364" y="4544479"/>
            <a:ext cx="415925" cy="46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spcAft>
                <a:spcPct val="0"/>
              </a:spcAft>
              <a:buFontTx/>
              <a:buNone/>
            </a:pPr>
            <a:r>
              <a:rPr kumimoji="1" lang="en-US" altLang="zh-CN" sz="2800" i="1">
                <a:latin typeface="Times New Roman" panose="02020603050405020304" pitchFamily="18" charset="0"/>
                <a:ea typeface="长城楷体" pitchFamily="49" charset="-122"/>
              </a:rPr>
              <a:t>v</a:t>
            </a:r>
            <a:r>
              <a:rPr kumimoji="1" lang="en-US" altLang="zh-CN" sz="2400" baseline="-25000">
                <a:latin typeface="Times New Roman" panose="02020603050405020304" pitchFamily="18" charset="0"/>
                <a:ea typeface="长城楷体" pitchFamily="49" charset="-122"/>
              </a:rPr>
              <a:t>CE</a:t>
            </a:r>
            <a:endParaRPr kumimoji="1" lang="zh-CN" altLang="en-US" sz="2400">
              <a:latin typeface="Times New Roman" panose="02020603050405020304" pitchFamily="18" charset="0"/>
              <a:ea typeface="长城楷体" pitchFamily="49" charset="-122"/>
            </a:endParaRPr>
          </a:p>
        </p:txBody>
      </p:sp>
      <p:sp>
        <p:nvSpPr>
          <p:cNvPr id="36" name="Text Box 31">
            <a:extLst>
              <a:ext uri="{FF2B5EF4-FFF2-40B4-BE49-F238E27FC236}">
                <a16:creationId xmlns:a16="http://schemas.microsoft.com/office/drawing/2014/main" id="{C8964A62-A55E-53EC-AF4D-E76E1707F33C}"/>
              </a:ext>
            </a:extLst>
          </p:cNvPr>
          <p:cNvSpPr txBox="1">
            <a:spLocks noChangeArrowheads="1"/>
          </p:cNvSpPr>
          <p:nvPr/>
        </p:nvSpPr>
        <p:spPr bwMode="auto">
          <a:xfrm>
            <a:off x="4719439" y="2282292"/>
            <a:ext cx="23018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C</a:t>
            </a:r>
            <a:endParaRPr kumimoji="1" lang="zh-CN" altLang="en-US" sz="2400">
              <a:latin typeface="Times New Roman" panose="02020603050405020304" pitchFamily="18" charset="0"/>
              <a:ea typeface="长城楷体" pitchFamily="49" charset="-122"/>
            </a:endParaRPr>
          </a:p>
        </p:txBody>
      </p:sp>
      <p:sp>
        <p:nvSpPr>
          <p:cNvPr id="37" name="Line 34">
            <a:extLst>
              <a:ext uri="{FF2B5EF4-FFF2-40B4-BE49-F238E27FC236}">
                <a16:creationId xmlns:a16="http://schemas.microsoft.com/office/drawing/2014/main" id="{D355996F-C1E0-5B1D-B800-3E111CDDF120}"/>
              </a:ext>
            </a:extLst>
          </p:cNvPr>
          <p:cNvSpPr>
            <a:spLocks noChangeShapeType="1"/>
          </p:cNvSpPr>
          <p:nvPr/>
        </p:nvSpPr>
        <p:spPr bwMode="auto">
          <a:xfrm flipV="1">
            <a:off x="5151239" y="2391829"/>
            <a:ext cx="0" cy="235585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38" name="Text Box 36">
            <a:extLst>
              <a:ext uri="{FF2B5EF4-FFF2-40B4-BE49-F238E27FC236}">
                <a16:creationId xmlns:a16="http://schemas.microsoft.com/office/drawing/2014/main" id="{99F80022-2D93-67C8-5FB0-554BF0CFD22C}"/>
              </a:ext>
            </a:extLst>
          </p:cNvPr>
          <p:cNvSpPr txBox="1">
            <a:spLocks noChangeArrowheads="1"/>
          </p:cNvSpPr>
          <p:nvPr/>
        </p:nvSpPr>
        <p:spPr bwMode="auto">
          <a:xfrm>
            <a:off x="4806752" y="4669892"/>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O</a:t>
            </a:r>
          </a:p>
        </p:txBody>
      </p:sp>
      <p:sp>
        <p:nvSpPr>
          <p:cNvPr id="39" name="Freeform 37">
            <a:extLst>
              <a:ext uri="{FF2B5EF4-FFF2-40B4-BE49-F238E27FC236}">
                <a16:creationId xmlns:a16="http://schemas.microsoft.com/office/drawing/2014/main" id="{A00CFF5C-88C3-3904-88A2-EDC9A97063E7}"/>
              </a:ext>
            </a:extLst>
          </p:cNvPr>
          <p:cNvSpPr>
            <a:spLocks/>
          </p:cNvSpPr>
          <p:nvPr/>
        </p:nvSpPr>
        <p:spPr bwMode="auto">
          <a:xfrm>
            <a:off x="5157589" y="4606392"/>
            <a:ext cx="2805113" cy="144462"/>
          </a:xfrm>
          <a:custGeom>
            <a:avLst/>
            <a:gdLst>
              <a:gd name="T0" fmla="*/ 0 w 2191"/>
              <a:gd name="T1" fmla="*/ 2147483646 h 96"/>
              <a:gd name="T2" fmla="*/ 2147483646 w 2191"/>
              <a:gd name="T3" fmla="*/ 2147483646 h 96"/>
              <a:gd name="T4" fmla="*/ 2147483646 w 2191"/>
              <a:gd name="T5" fmla="*/ 2147483646 h 96"/>
              <a:gd name="T6" fmla="*/ 2147483646 w 2191"/>
              <a:gd name="T7" fmla="*/ 0 h 96"/>
              <a:gd name="T8" fmla="*/ 0 60000 65536"/>
              <a:gd name="T9" fmla="*/ 0 60000 65536"/>
              <a:gd name="T10" fmla="*/ 0 60000 65536"/>
              <a:gd name="T11" fmla="*/ 0 60000 65536"/>
              <a:gd name="T12" fmla="*/ 0 w 2191"/>
              <a:gd name="T13" fmla="*/ 0 h 96"/>
              <a:gd name="T14" fmla="*/ 2191 w 2191"/>
              <a:gd name="T15" fmla="*/ 96 h 96"/>
            </a:gdLst>
            <a:ahLst/>
            <a:cxnLst>
              <a:cxn ang="T8">
                <a:pos x="T0" y="T1"/>
              </a:cxn>
              <a:cxn ang="T9">
                <a:pos x="T2" y="T3"/>
              </a:cxn>
              <a:cxn ang="T10">
                <a:pos x="T4" y="T5"/>
              </a:cxn>
              <a:cxn ang="T11">
                <a:pos x="T6" y="T7"/>
              </a:cxn>
            </a:cxnLst>
            <a:rect l="T12" t="T13" r="T14" b="T15"/>
            <a:pathLst>
              <a:path w="2191" h="96">
                <a:moveTo>
                  <a:pt x="0" y="96"/>
                </a:moveTo>
                <a:cubicBezTo>
                  <a:pt x="32" y="85"/>
                  <a:pt x="83" y="42"/>
                  <a:pt x="194" y="27"/>
                </a:cubicBezTo>
                <a:cubicBezTo>
                  <a:pt x="305" y="12"/>
                  <a:pt x="331" y="12"/>
                  <a:pt x="664" y="8"/>
                </a:cubicBezTo>
                <a:cubicBezTo>
                  <a:pt x="997" y="4"/>
                  <a:pt x="1873" y="2"/>
                  <a:pt x="2191"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grpSp>
        <p:nvGrpSpPr>
          <p:cNvPr id="40" name="Group 102">
            <a:extLst>
              <a:ext uri="{FF2B5EF4-FFF2-40B4-BE49-F238E27FC236}">
                <a16:creationId xmlns:a16="http://schemas.microsoft.com/office/drawing/2014/main" id="{9469156A-A71B-C79E-4C70-8CBC65CCBB5B}"/>
              </a:ext>
            </a:extLst>
          </p:cNvPr>
          <p:cNvGrpSpPr>
            <a:grpSpLocks/>
          </p:cNvGrpSpPr>
          <p:nvPr/>
        </p:nvGrpSpPr>
        <p:grpSpPr bwMode="auto">
          <a:xfrm>
            <a:off x="5176639" y="3536417"/>
            <a:ext cx="2789238" cy="1195387"/>
            <a:chOff x="3304" y="2931"/>
            <a:chExt cx="1757" cy="753"/>
          </a:xfrm>
        </p:grpSpPr>
        <p:sp>
          <p:nvSpPr>
            <p:cNvPr id="41" name="Freeform 38">
              <a:extLst>
                <a:ext uri="{FF2B5EF4-FFF2-40B4-BE49-F238E27FC236}">
                  <a16:creationId xmlns:a16="http://schemas.microsoft.com/office/drawing/2014/main" id="{D638EE05-3A29-9893-564B-FEACB5850F09}"/>
                </a:ext>
              </a:extLst>
            </p:cNvPr>
            <p:cNvSpPr>
              <a:spLocks/>
            </p:cNvSpPr>
            <p:nvPr/>
          </p:nvSpPr>
          <p:spPr bwMode="auto">
            <a:xfrm>
              <a:off x="3304" y="3252"/>
              <a:ext cx="1757" cy="432"/>
            </a:xfrm>
            <a:custGeom>
              <a:avLst/>
              <a:gdLst>
                <a:gd name="T0" fmla="*/ 0 w 2124"/>
                <a:gd name="T1" fmla="*/ 141 h 478"/>
                <a:gd name="T2" fmla="*/ 16 w 2124"/>
                <a:gd name="T3" fmla="*/ 42 h 478"/>
                <a:gd name="T4" fmla="*/ 64 w 2124"/>
                <a:gd name="T5" fmla="*/ 11 h 478"/>
                <a:gd name="T6" fmla="*/ 165 w 2124"/>
                <a:gd name="T7" fmla="*/ 5 h 478"/>
                <a:gd name="T8" fmla="*/ 218 w 2124"/>
                <a:gd name="T9" fmla="*/ 2 h 478"/>
                <a:gd name="T10" fmla="*/ 0 60000 65536"/>
                <a:gd name="T11" fmla="*/ 0 60000 65536"/>
                <a:gd name="T12" fmla="*/ 0 60000 65536"/>
                <a:gd name="T13" fmla="*/ 0 60000 65536"/>
                <a:gd name="T14" fmla="*/ 0 60000 65536"/>
                <a:gd name="T15" fmla="*/ 0 w 2124"/>
                <a:gd name="T16" fmla="*/ 0 h 478"/>
                <a:gd name="T17" fmla="*/ 2124 w 2124"/>
                <a:gd name="T18" fmla="*/ 478 h 478"/>
              </a:gdLst>
              <a:ahLst/>
              <a:cxnLst>
                <a:cxn ang="T10">
                  <a:pos x="T0" y="T1"/>
                </a:cxn>
                <a:cxn ang="T11">
                  <a:pos x="T2" y="T3"/>
                </a:cxn>
                <a:cxn ang="T12">
                  <a:pos x="T4" y="T5"/>
                </a:cxn>
                <a:cxn ang="T13">
                  <a:pos x="T6" y="T7"/>
                </a:cxn>
                <a:cxn ang="T14">
                  <a:pos x="T8" y="T9"/>
                </a:cxn>
              </a:cxnLst>
              <a:rect l="T15" t="T16" r="T17" b="T18"/>
              <a:pathLst>
                <a:path w="2124" h="478">
                  <a:moveTo>
                    <a:pt x="0" y="478"/>
                  </a:moveTo>
                  <a:cubicBezTo>
                    <a:pt x="25" y="422"/>
                    <a:pt x="49" y="215"/>
                    <a:pt x="152" y="141"/>
                  </a:cubicBezTo>
                  <a:cubicBezTo>
                    <a:pt x="255" y="67"/>
                    <a:pt x="372" y="59"/>
                    <a:pt x="615" y="37"/>
                  </a:cubicBezTo>
                  <a:cubicBezTo>
                    <a:pt x="858" y="15"/>
                    <a:pt x="1362" y="12"/>
                    <a:pt x="1613" y="6"/>
                  </a:cubicBezTo>
                  <a:cubicBezTo>
                    <a:pt x="1864" y="0"/>
                    <a:pt x="2018" y="3"/>
                    <a:pt x="2124" y="2"/>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sp>
          <p:nvSpPr>
            <p:cNvPr id="42" name="Text Box 63">
              <a:extLst>
                <a:ext uri="{FF2B5EF4-FFF2-40B4-BE49-F238E27FC236}">
                  <a16:creationId xmlns:a16="http://schemas.microsoft.com/office/drawing/2014/main" id="{F298995F-E120-208C-9D05-B9C7F5EB2A56}"/>
                </a:ext>
              </a:extLst>
            </p:cNvPr>
            <p:cNvSpPr txBox="1">
              <a:spLocks noChangeArrowheads="1"/>
            </p:cNvSpPr>
            <p:nvPr/>
          </p:nvSpPr>
          <p:spPr bwMode="auto">
            <a:xfrm>
              <a:off x="4782" y="2931"/>
              <a:ext cx="234"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B1 </a:t>
              </a:r>
              <a:endParaRPr kumimoji="1" lang="en-US" altLang="zh-CN" sz="2400">
                <a:latin typeface="Times New Roman" panose="02020603050405020304" pitchFamily="18" charset="0"/>
                <a:ea typeface="长城楷体" pitchFamily="49" charset="-122"/>
              </a:endParaRPr>
            </a:p>
          </p:txBody>
        </p:sp>
      </p:grpSp>
      <p:grpSp>
        <p:nvGrpSpPr>
          <p:cNvPr id="43" name="Group 103">
            <a:extLst>
              <a:ext uri="{FF2B5EF4-FFF2-40B4-BE49-F238E27FC236}">
                <a16:creationId xmlns:a16="http://schemas.microsoft.com/office/drawing/2014/main" id="{755A81C9-7A5C-FA57-CAD6-F94D2DFCDB54}"/>
              </a:ext>
            </a:extLst>
          </p:cNvPr>
          <p:cNvGrpSpPr>
            <a:grpSpLocks/>
          </p:cNvGrpSpPr>
          <p:nvPr/>
        </p:nvGrpSpPr>
        <p:grpSpPr bwMode="auto">
          <a:xfrm>
            <a:off x="5178227" y="2917292"/>
            <a:ext cx="2798762" cy="1808162"/>
            <a:chOff x="3305" y="2541"/>
            <a:chExt cx="1763" cy="1139"/>
          </a:xfrm>
        </p:grpSpPr>
        <p:sp>
          <p:nvSpPr>
            <p:cNvPr id="44" name="Freeform 32">
              <a:extLst>
                <a:ext uri="{FF2B5EF4-FFF2-40B4-BE49-F238E27FC236}">
                  <a16:creationId xmlns:a16="http://schemas.microsoft.com/office/drawing/2014/main" id="{5FF2F030-9365-348E-45C7-7649B18DC393}"/>
                </a:ext>
              </a:extLst>
            </p:cNvPr>
            <p:cNvSpPr>
              <a:spLocks/>
            </p:cNvSpPr>
            <p:nvPr/>
          </p:nvSpPr>
          <p:spPr bwMode="auto">
            <a:xfrm>
              <a:off x="3305" y="2886"/>
              <a:ext cx="1763" cy="794"/>
            </a:xfrm>
            <a:custGeom>
              <a:avLst/>
              <a:gdLst>
                <a:gd name="T0" fmla="*/ 0 w 2132"/>
                <a:gd name="T1" fmla="*/ 141 h 929"/>
                <a:gd name="T2" fmla="*/ 12 w 2132"/>
                <a:gd name="T3" fmla="*/ 48 h 929"/>
                <a:gd name="T4" fmla="*/ 47 w 2132"/>
                <a:gd name="T5" fmla="*/ 13 h 929"/>
                <a:gd name="T6" fmla="*/ 129 w 2132"/>
                <a:gd name="T7" fmla="*/ 3 h 929"/>
                <a:gd name="T8" fmla="*/ 217 w 2132"/>
                <a:gd name="T9" fmla="*/ 3 h 929"/>
                <a:gd name="T10" fmla="*/ 0 60000 65536"/>
                <a:gd name="T11" fmla="*/ 0 60000 65536"/>
                <a:gd name="T12" fmla="*/ 0 60000 65536"/>
                <a:gd name="T13" fmla="*/ 0 60000 65536"/>
                <a:gd name="T14" fmla="*/ 0 60000 65536"/>
                <a:gd name="T15" fmla="*/ 0 w 2132"/>
                <a:gd name="T16" fmla="*/ 0 h 929"/>
                <a:gd name="T17" fmla="*/ 2132 w 2132"/>
                <a:gd name="T18" fmla="*/ 929 h 929"/>
              </a:gdLst>
              <a:ahLst/>
              <a:cxnLst>
                <a:cxn ang="T10">
                  <a:pos x="T0" y="T1"/>
                </a:cxn>
                <a:cxn ang="T11">
                  <a:pos x="T2" y="T3"/>
                </a:cxn>
                <a:cxn ang="T12">
                  <a:pos x="T4" y="T5"/>
                </a:cxn>
                <a:cxn ang="T13">
                  <a:pos x="T6" y="T7"/>
                </a:cxn>
                <a:cxn ang="T14">
                  <a:pos x="T8" y="T9"/>
                </a:cxn>
              </a:cxnLst>
              <a:rect l="T15" t="T16" r="T17" b="T18"/>
              <a:pathLst>
                <a:path w="2132" h="929">
                  <a:moveTo>
                    <a:pt x="0" y="929"/>
                  </a:moveTo>
                  <a:cubicBezTo>
                    <a:pt x="21" y="827"/>
                    <a:pt x="49" y="459"/>
                    <a:pt x="125" y="318"/>
                  </a:cubicBezTo>
                  <a:cubicBezTo>
                    <a:pt x="201" y="177"/>
                    <a:pt x="266" y="134"/>
                    <a:pt x="456" y="83"/>
                  </a:cubicBezTo>
                  <a:cubicBezTo>
                    <a:pt x="646" y="32"/>
                    <a:pt x="989" y="26"/>
                    <a:pt x="1268" y="13"/>
                  </a:cubicBezTo>
                  <a:cubicBezTo>
                    <a:pt x="1547" y="0"/>
                    <a:pt x="1988" y="6"/>
                    <a:pt x="2132" y="4"/>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5" name="Text Box 64">
              <a:extLst>
                <a:ext uri="{FF2B5EF4-FFF2-40B4-BE49-F238E27FC236}">
                  <a16:creationId xmlns:a16="http://schemas.microsoft.com/office/drawing/2014/main" id="{496C525F-0C26-B53A-8E81-BA20BD19FC5E}"/>
                </a:ext>
              </a:extLst>
            </p:cNvPr>
            <p:cNvSpPr txBox="1">
              <a:spLocks noChangeArrowheads="1"/>
            </p:cNvSpPr>
            <p:nvPr/>
          </p:nvSpPr>
          <p:spPr bwMode="auto">
            <a:xfrm>
              <a:off x="4782" y="2541"/>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B2</a:t>
              </a:r>
              <a:endParaRPr kumimoji="1" lang="en-US" altLang="zh-CN" sz="2400">
                <a:latin typeface="Times New Roman" panose="02020603050405020304" pitchFamily="18" charset="0"/>
                <a:ea typeface="长城楷体" pitchFamily="49" charset="-122"/>
              </a:endParaRPr>
            </a:p>
          </p:txBody>
        </p:sp>
      </p:grpSp>
      <p:grpSp>
        <p:nvGrpSpPr>
          <p:cNvPr id="46" name="Group 104">
            <a:extLst>
              <a:ext uri="{FF2B5EF4-FFF2-40B4-BE49-F238E27FC236}">
                <a16:creationId xmlns:a16="http://schemas.microsoft.com/office/drawing/2014/main" id="{FCE4D739-8279-7CE1-96F0-EE206E0A7C3F}"/>
              </a:ext>
            </a:extLst>
          </p:cNvPr>
          <p:cNvGrpSpPr>
            <a:grpSpLocks/>
          </p:cNvGrpSpPr>
          <p:nvPr/>
        </p:nvGrpSpPr>
        <p:grpSpPr bwMode="auto">
          <a:xfrm>
            <a:off x="5148064" y="2294992"/>
            <a:ext cx="2778125" cy="2430462"/>
            <a:chOff x="3286" y="2149"/>
            <a:chExt cx="1750" cy="1531"/>
          </a:xfrm>
        </p:grpSpPr>
        <p:sp>
          <p:nvSpPr>
            <p:cNvPr id="47" name="Freeform 33">
              <a:extLst>
                <a:ext uri="{FF2B5EF4-FFF2-40B4-BE49-F238E27FC236}">
                  <a16:creationId xmlns:a16="http://schemas.microsoft.com/office/drawing/2014/main" id="{865018EC-1A3F-1A38-05D9-6780BA65F11A}"/>
                </a:ext>
              </a:extLst>
            </p:cNvPr>
            <p:cNvSpPr>
              <a:spLocks/>
            </p:cNvSpPr>
            <p:nvPr/>
          </p:nvSpPr>
          <p:spPr bwMode="auto">
            <a:xfrm>
              <a:off x="3286" y="2464"/>
              <a:ext cx="1750" cy="1216"/>
            </a:xfrm>
            <a:custGeom>
              <a:avLst/>
              <a:gdLst>
                <a:gd name="T0" fmla="*/ 0 w 2116"/>
                <a:gd name="T1" fmla="*/ 404 h 1344"/>
                <a:gd name="T2" fmla="*/ 18 w 2116"/>
                <a:gd name="T3" fmla="*/ 159 h 1344"/>
                <a:gd name="T4" fmla="*/ 36 w 2116"/>
                <a:gd name="T5" fmla="*/ 47 h 1344"/>
                <a:gd name="T6" fmla="*/ 82 w 2116"/>
                <a:gd name="T7" fmla="*/ 11 h 1344"/>
                <a:gd name="T8" fmla="*/ 217 w 2116"/>
                <a:gd name="T9" fmla="*/ 0 h 1344"/>
                <a:gd name="T10" fmla="*/ 0 60000 65536"/>
                <a:gd name="T11" fmla="*/ 0 60000 65536"/>
                <a:gd name="T12" fmla="*/ 0 60000 65536"/>
                <a:gd name="T13" fmla="*/ 0 60000 65536"/>
                <a:gd name="T14" fmla="*/ 0 60000 65536"/>
                <a:gd name="T15" fmla="*/ 0 w 2116"/>
                <a:gd name="T16" fmla="*/ 0 h 1344"/>
                <a:gd name="T17" fmla="*/ 2116 w 2116"/>
                <a:gd name="T18" fmla="*/ 1344 h 1344"/>
              </a:gdLst>
              <a:ahLst/>
              <a:cxnLst>
                <a:cxn ang="T10">
                  <a:pos x="T0" y="T1"/>
                </a:cxn>
                <a:cxn ang="T11">
                  <a:pos x="T2" y="T3"/>
                </a:cxn>
                <a:cxn ang="T12">
                  <a:pos x="T4" y="T5"/>
                </a:cxn>
                <a:cxn ang="T13">
                  <a:pos x="T6" y="T7"/>
                </a:cxn>
                <a:cxn ang="T14">
                  <a:pos x="T8" y="T9"/>
                </a:cxn>
              </a:cxnLst>
              <a:rect l="T15" t="T16" r="T17" b="T18"/>
              <a:pathLst>
                <a:path w="2116" h="1344">
                  <a:moveTo>
                    <a:pt x="0" y="1344"/>
                  </a:moveTo>
                  <a:cubicBezTo>
                    <a:pt x="30" y="1209"/>
                    <a:pt x="120" y="730"/>
                    <a:pt x="179" y="532"/>
                  </a:cubicBezTo>
                  <a:cubicBezTo>
                    <a:pt x="238" y="334"/>
                    <a:pt x="250" y="240"/>
                    <a:pt x="353" y="157"/>
                  </a:cubicBezTo>
                  <a:cubicBezTo>
                    <a:pt x="456" y="74"/>
                    <a:pt x="506" y="60"/>
                    <a:pt x="800" y="34"/>
                  </a:cubicBezTo>
                  <a:cubicBezTo>
                    <a:pt x="1094" y="8"/>
                    <a:pt x="1897" y="6"/>
                    <a:pt x="2116"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8" name="Text Box 65">
              <a:extLst>
                <a:ext uri="{FF2B5EF4-FFF2-40B4-BE49-F238E27FC236}">
                  <a16:creationId xmlns:a16="http://schemas.microsoft.com/office/drawing/2014/main" id="{1C67489F-9D0E-1DA0-EBFC-F522C10E7AD7}"/>
                </a:ext>
              </a:extLst>
            </p:cNvPr>
            <p:cNvSpPr txBox="1">
              <a:spLocks noChangeArrowheads="1"/>
            </p:cNvSpPr>
            <p:nvPr/>
          </p:nvSpPr>
          <p:spPr bwMode="auto">
            <a:xfrm>
              <a:off x="4782" y="2149"/>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B3</a:t>
              </a:r>
              <a:endParaRPr kumimoji="1" lang="en-US" altLang="zh-CN" sz="2400">
                <a:latin typeface="Times New Roman" panose="02020603050405020304" pitchFamily="18" charset="0"/>
                <a:ea typeface="长城楷体" pitchFamily="49" charset="-122"/>
              </a:endParaRPr>
            </a:p>
          </p:txBody>
        </p:sp>
      </p:grpSp>
      <p:grpSp>
        <p:nvGrpSpPr>
          <p:cNvPr id="49" name="Group 81">
            <a:extLst>
              <a:ext uri="{FF2B5EF4-FFF2-40B4-BE49-F238E27FC236}">
                <a16:creationId xmlns:a16="http://schemas.microsoft.com/office/drawing/2014/main" id="{BBE4DE27-4A1D-1584-E3A1-88F9FD82B26A}"/>
              </a:ext>
            </a:extLst>
          </p:cNvPr>
          <p:cNvGrpSpPr>
            <a:grpSpLocks/>
          </p:cNvGrpSpPr>
          <p:nvPr/>
        </p:nvGrpSpPr>
        <p:grpSpPr bwMode="auto">
          <a:xfrm>
            <a:off x="5135364" y="2618842"/>
            <a:ext cx="592138" cy="2128837"/>
            <a:chOff x="3278" y="1161"/>
            <a:chExt cx="556" cy="1483"/>
          </a:xfrm>
        </p:grpSpPr>
        <p:sp>
          <p:nvSpPr>
            <p:cNvPr id="50" name="Freeform 62">
              <a:extLst>
                <a:ext uri="{FF2B5EF4-FFF2-40B4-BE49-F238E27FC236}">
                  <a16:creationId xmlns:a16="http://schemas.microsoft.com/office/drawing/2014/main" id="{26E14318-90B7-F007-490B-14A571A655CC}"/>
                </a:ext>
              </a:extLst>
            </p:cNvPr>
            <p:cNvSpPr>
              <a:spLocks/>
            </p:cNvSpPr>
            <p:nvPr/>
          </p:nvSpPr>
          <p:spPr bwMode="auto">
            <a:xfrm>
              <a:off x="3278" y="1161"/>
              <a:ext cx="556" cy="1483"/>
            </a:xfrm>
            <a:custGeom>
              <a:avLst/>
              <a:gdLst>
                <a:gd name="T0" fmla="*/ 0 w 588"/>
                <a:gd name="T1" fmla="*/ 1156 h 1517"/>
                <a:gd name="T2" fmla="*/ 73 w 588"/>
                <a:gd name="T3" fmla="*/ 1123 h 1517"/>
                <a:gd name="T4" fmla="*/ 148 w 588"/>
                <a:gd name="T5" fmla="*/ 1011 h 1517"/>
                <a:gd name="T6" fmla="*/ 212 w 588"/>
                <a:gd name="T7" fmla="*/ 712 h 1517"/>
                <a:gd name="T8" fmla="*/ 265 w 588"/>
                <a:gd name="T9" fmla="*/ 320 h 1517"/>
                <a:gd name="T10" fmla="*/ 301 w 588"/>
                <a:gd name="T11" fmla="*/ 0 h 1517"/>
                <a:gd name="T12" fmla="*/ 0 60000 65536"/>
                <a:gd name="T13" fmla="*/ 0 60000 65536"/>
                <a:gd name="T14" fmla="*/ 0 60000 65536"/>
                <a:gd name="T15" fmla="*/ 0 60000 65536"/>
                <a:gd name="T16" fmla="*/ 0 60000 65536"/>
                <a:gd name="T17" fmla="*/ 0 60000 65536"/>
                <a:gd name="T18" fmla="*/ 0 w 588"/>
                <a:gd name="T19" fmla="*/ 0 h 1517"/>
                <a:gd name="T20" fmla="*/ 588 w 588"/>
                <a:gd name="T21" fmla="*/ 1517 h 1517"/>
              </a:gdLst>
              <a:ahLst/>
              <a:cxnLst>
                <a:cxn ang="T12">
                  <a:pos x="T0" y="T1"/>
                </a:cxn>
                <a:cxn ang="T13">
                  <a:pos x="T2" y="T3"/>
                </a:cxn>
                <a:cxn ang="T14">
                  <a:pos x="T4" y="T5"/>
                </a:cxn>
                <a:cxn ang="T15">
                  <a:pos x="T6" y="T7"/>
                </a:cxn>
                <a:cxn ang="T16">
                  <a:pos x="T8" y="T9"/>
                </a:cxn>
                <a:cxn ang="T17">
                  <a:pos x="T10" y="T11"/>
                </a:cxn>
              </a:cxnLst>
              <a:rect l="T18" t="T19" r="T20" b="T21"/>
              <a:pathLst>
                <a:path w="588" h="1517">
                  <a:moveTo>
                    <a:pt x="0" y="1517"/>
                  </a:moveTo>
                  <a:cubicBezTo>
                    <a:pt x="24" y="1510"/>
                    <a:pt x="95" y="1507"/>
                    <a:pt x="143" y="1475"/>
                  </a:cubicBezTo>
                  <a:cubicBezTo>
                    <a:pt x="191" y="1443"/>
                    <a:pt x="246" y="1417"/>
                    <a:pt x="291" y="1327"/>
                  </a:cubicBezTo>
                  <a:cubicBezTo>
                    <a:pt x="336" y="1237"/>
                    <a:pt x="376" y="1085"/>
                    <a:pt x="414" y="934"/>
                  </a:cubicBezTo>
                  <a:cubicBezTo>
                    <a:pt x="452" y="783"/>
                    <a:pt x="489" y="575"/>
                    <a:pt x="518" y="419"/>
                  </a:cubicBezTo>
                  <a:cubicBezTo>
                    <a:pt x="547" y="263"/>
                    <a:pt x="574" y="87"/>
                    <a:pt x="588" y="0"/>
                  </a:cubicBezTo>
                </a:path>
              </a:pathLst>
            </a:custGeom>
            <a:noFill/>
            <a:ln w="28575">
              <a:solidFill>
                <a:srgbClr val="0000FF"/>
              </a:solidFill>
              <a:prstDash val="dash"/>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nvGrpSpPr>
            <p:cNvPr id="51" name="Group 66">
              <a:extLst>
                <a:ext uri="{FF2B5EF4-FFF2-40B4-BE49-F238E27FC236}">
                  <a16:creationId xmlns:a16="http://schemas.microsoft.com/office/drawing/2014/main" id="{28308550-247C-C712-38B6-6E3D4690E758}"/>
                </a:ext>
              </a:extLst>
            </p:cNvPr>
            <p:cNvGrpSpPr>
              <a:grpSpLocks/>
            </p:cNvGrpSpPr>
            <p:nvPr/>
          </p:nvGrpSpPr>
          <p:grpSpPr bwMode="auto">
            <a:xfrm>
              <a:off x="3290" y="1161"/>
              <a:ext cx="476" cy="1407"/>
              <a:chOff x="3334" y="1117"/>
              <a:chExt cx="465" cy="1429"/>
            </a:xfrm>
          </p:grpSpPr>
          <p:sp>
            <p:nvSpPr>
              <p:cNvPr id="52" name="Line 67">
                <a:extLst>
                  <a:ext uri="{FF2B5EF4-FFF2-40B4-BE49-F238E27FC236}">
                    <a16:creationId xmlns:a16="http://schemas.microsoft.com/office/drawing/2014/main" id="{75F352A0-7017-EC09-64FD-B19CCD23736D}"/>
                  </a:ext>
                </a:extLst>
              </p:cNvPr>
              <p:cNvSpPr>
                <a:spLocks noChangeShapeType="1"/>
              </p:cNvSpPr>
              <p:nvPr/>
            </p:nvSpPr>
            <p:spPr bwMode="auto">
              <a:xfrm>
                <a:off x="3606" y="1117"/>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3" name="Line 68">
                <a:extLst>
                  <a:ext uri="{FF2B5EF4-FFF2-40B4-BE49-F238E27FC236}">
                    <a16:creationId xmlns:a16="http://schemas.microsoft.com/office/drawing/2014/main" id="{96CA45BB-EBDD-6B91-FA4B-528C96AFCBA7}"/>
                  </a:ext>
                </a:extLst>
              </p:cNvPr>
              <p:cNvSpPr>
                <a:spLocks noChangeShapeType="1"/>
              </p:cNvSpPr>
              <p:nvPr/>
            </p:nvSpPr>
            <p:spPr bwMode="auto">
              <a:xfrm>
                <a:off x="3470" y="1117"/>
                <a:ext cx="301" cy="30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4" name="Line 69">
                <a:extLst>
                  <a:ext uri="{FF2B5EF4-FFF2-40B4-BE49-F238E27FC236}">
                    <a16:creationId xmlns:a16="http://schemas.microsoft.com/office/drawing/2014/main" id="{F117893A-5A3D-3032-58E0-4A73B5DABB73}"/>
                  </a:ext>
                </a:extLst>
              </p:cNvPr>
              <p:cNvSpPr>
                <a:spLocks noChangeShapeType="1"/>
              </p:cNvSpPr>
              <p:nvPr/>
            </p:nvSpPr>
            <p:spPr bwMode="auto">
              <a:xfrm>
                <a:off x="3334" y="1117"/>
                <a:ext cx="433" cy="433"/>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5" name="Line 70">
                <a:extLst>
                  <a:ext uri="{FF2B5EF4-FFF2-40B4-BE49-F238E27FC236}">
                    <a16:creationId xmlns:a16="http://schemas.microsoft.com/office/drawing/2014/main" id="{FCEE61AC-FBC0-E9A0-01D4-E85E61E3BF92}"/>
                  </a:ext>
                </a:extLst>
              </p:cNvPr>
              <p:cNvSpPr>
                <a:spLocks noChangeShapeType="1"/>
              </p:cNvSpPr>
              <p:nvPr/>
            </p:nvSpPr>
            <p:spPr bwMode="auto">
              <a:xfrm>
                <a:off x="3334" y="1253"/>
                <a:ext cx="424" cy="42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6" name="Line 71">
                <a:extLst>
                  <a:ext uri="{FF2B5EF4-FFF2-40B4-BE49-F238E27FC236}">
                    <a16:creationId xmlns:a16="http://schemas.microsoft.com/office/drawing/2014/main" id="{C4079D21-2068-0736-E0E1-8F50E57744CE}"/>
                  </a:ext>
                </a:extLst>
              </p:cNvPr>
              <p:cNvSpPr>
                <a:spLocks noChangeShapeType="1"/>
              </p:cNvSpPr>
              <p:nvPr/>
            </p:nvSpPr>
            <p:spPr bwMode="auto">
              <a:xfrm>
                <a:off x="3334" y="1389"/>
                <a:ext cx="408" cy="40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7" name="Line 72">
                <a:extLst>
                  <a:ext uri="{FF2B5EF4-FFF2-40B4-BE49-F238E27FC236}">
                    <a16:creationId xmlns:a16="http://schemas.microsoft.com/office/drawing/2014/main" id="{E63E1404-DF96-623D-C522-1B430889F8CF}"/>
                  </a:ext>
                </a:extLst>
              </p:cNvPr>
              <p:cNvSpPr>
                <a:spLocks noChangeShapeType="1"/>
              </p:cNvSpPr>
              <p:nvPr/>
            </p:nvSpPr>
            <p:spPr bwMode="auto">
              <a:xfrm>
                <a:off x="3334" y="1525"/>
                <a:ext cx="388" cy="38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8" name="Line 73">
                <a:extLst>
                  <a:ext uri="{FF2B5EF4-FFF2-40B4-BE49-F238E27FC236}">
                    <a16:creationId xmlns:a16="http://schemas.microsoft.com/office/drawing/2014/main" id="{E9AAB98C-6C5E-8026-FB2C-B6D765808EB7}"/>
                  </a:ext>
                </a:extLst>
              </p:cNvPr>
              <p:cNvSpPr>
                <a:spLocks noChangeShapeType="1"/>
              </p:cNvSpPr>
              <p:nvPr/>
            </p:nvSpPr>
            <p:spPr bwMode="auto">
              <a:xfrm>
                <a:off x="3334" y="1661"/>
                <a:ext cx="364" cy="36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9" name="Line 74">
                <a:extLst>
                  <a:ext uri="{FF2B5EF4-FFF2-40B4-BE49-F238E27FC236}">
                    <a16:creationId xmlns:a16="http://schemas.microsoft.com/office/drawing/2014/main" id="{D5844A44-7691-45BA-3F5E-D3A17CDB6E18}"/>
                  </a:ext>
                </a:extLst>
              </p:cNvPr>
              <p:cNvSpPr>
                <a:spLocks noChangeShapeType="1"/>
              </p:cNvSpPr>
              <p:nvPr/>
            </p:nvSpPr>
            <p:spPr bwMode="auto">
              <a:xfrm>
                <a:off x="3334" y="1797"/>
                <a:ext cx="348" cy="34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0" name="Line 75">
                <a:extLst>
                  <a:ext uri="{FF2B5EF4-FFF2-40B4-BE49-F238E27FC236}">
                    <a16:creationId xmlns:a16="http://schemas.microsoft.com/office/drawing/2014/main" id="{925A7544-D5FA-B6DD-4834-1056D2ACD90B}"/>
                  </a:ext>
                </a:extLst>
              </p:cNvPr>
              <p:cNvSpPr>
                <a:spLocks noChangeShapeType="1"/>
              </p:cNvSpPr>
              <p:nvPr/>
            </p:nvSpPr>
            <p:spPr bwMode="auto">
              <a:xfrm>
                <a:off x="3334" y="1933"/>
                <a:ext cx="316" cy="316"/>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1" name="Line 76">
                <a:extLst>
                  <a:ext uri="{FF2B5EF4-FFF2-40B4-BE49-F238E27FC236}">
                    <a16:creationId xmlns:a16="http://schemas.microsoft.com/office/drawing/2014/main" id="{479455E0-3576-F5F6-0869-3FD1F970840C}"/>
                  </a:ext>
                </a:extLst>
              </p:cNvPr>
              <p:cNvSpPr>
                <a:spLocks noChangeShapeType="1"/>
              </p:cNvSpPr>
              <p:nvPr/>
            </p:nvSpPr>
            <p:spPr bwMode="auto">
              <a:xfrm>
                <a:off x="3334" y="2069"/>
                <a:ext cx="284" cy="28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2" name="Line 77">
                <a:extLst>
                  <a:ext uri="{FF2B5EF4-FFF2-40B4-BE49-F238E27FC236}">
                    <a16:creationId xmlns:a16="http://schemas.microsoft.com/office/drawing/2014/main" id="{DA50CABB-6CA4-D350-57AC-ADA0C8573B63}"/>
                  </a:ext>
                </a:extLst>
              </p:cNvPr>
              <p:cNvSpPr>
                <a:spLocks noChangeShapeType="1"/>
              </p:cNvSpPr>
              <p:nvPr/>
            </p:nvSpPr>
            <p:spPr bwMode="auto">
              <a:xfrm>
                <a:off x="3334" y="2205"/>
                <a:ext cx="242" cy="242"/>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3" name="Line 78">
                <a:extLst>
                  <a:ext uri="{FF2B5EF4-FFF2-40B4-BE49-F238E27FC236}">
                    <a16:creationId xmlns:a16="http://schemas.microsoft.com/office/drawing/2014/main" id="{4B83386E-2638-9602-1CF3-12AF6EF0DB0C}"/>
                  </a:ext>
                </a:extLst>
              </p:cNvPr>
              <p:cNvSpPr>
                <a:spLocks noChangeShapeType="1"/>
              </p:cNvSpPr>
              <p:nvPr/>
            </p:nvSpPr>
            <p:spPr bwMode="auto">
              <a:xfrm>
                <a:off x="3334" y="2341"/>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4" name="Line 79">
                <a:extLst>
                  <a:ext uri="{FF2B5EF4-FFF2-40B4-BE49-F238E27FC236}">
                    <a16:creationId xmlns:a16="http://schemas.microsoft.com/office/drawing/2014/main" id="{0C757300-ADA0-7550-9C71-77FE73D03E12}"/>
                  </a:ext>
                </a:extLst>
              </p:cNvPr>
              <p:cNvSpPr>
                <a:spLocks noChangeShapeType="1"/>
              </p:cNvSpPr>
              <p:nvPr/>
            </p:nvSpPr>
            <p:spPr bwMode="auto">
              <a:xfrm>
                <a:off x="3722" y="1117"/>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5" name="Line 80">
                <a:extLst>
                  <a:ext uri="{FF2B5EF4-FFF2-40B4-BE49-F238E27FC236}">
                    <a16:creationId xmlns:a16="http://schemas.microsoft.com/office/drawing/2014/main" id="{5E141CD8-EBEA-29C1-893D-F59BDDDB06B3}"/>
                  </a:ext>
                </a:extLst>
              </p:cNvPr>
              <p:cNvSpPr>
                <a:spLocks noChangeShapeType="1"/>
              </p:cNvSpPr>
              <p:nvPr/>
            </p:nvSpPr>
            <p:spPr bwMode="auto">
              <a:xfrm>
                <a:off x="3338" y="2469"/>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sp>
        <p:nvSpPr>
          <p:cNvPr id="66" name="平行四边形 65">
            <a:extLst>
              <a:ext uri="{FF2B5EF4-FFF2-40B4-BE49-F238E27FC236}">
                <a16:creationId xmlns:a16="http://schemas.microsoft.com/office/drawing/2014/main" id="{B435A3DC-9D9A-919C-F6FB-BC6760D2214D}"/>
              </a:ext>
            </a:extLst>
          </p:cNvPr>
          <p:cNvSpPr/>
          <p:nvPr/>
        </p:nvSpPr>
        <p:spPr>
          <a:xfrm>
            <a:off x="2308890" y="2219493"/>
            <a:ext cx="1291002" cy="2250032"/>
          </a:xfrm>
          <a:prstGeom prst="parallelogram">
            <a:avLst>
              <a:gd name="adj" fmla="val 33658"/>
            </a:avLst>
          </a:prstGeom>
          <a:noFill/>
          <a:ln w="381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Rectangle 10">
            <a:extLst>
              <a:ext uri="{FF2B5EF4-FFF2-40B4-BE49-F238E27FC236}">
                <a16:creationId xmlns:a16="http://schemas.microsoft.com/office/drawing/2014/main" id="{253EC121-3820-D45A-822E-4C41C9C321ED}"/>
              </a:ext>
            </a:extLst>
          </p:cNvPr>
          <p:cNvSpPr>
            <a:spLocks noChangeArrowheads="1"/>
          </p:cNvSpPr>
          <p:nvPr/>
        </p:nvSpPr>
        <p:spPr bwMode="auto">
          <a:xfrm>
            <a:off x="2574471" y="3212657"/>
            <a:ext cx="111280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放大区</a:t>
            </a:r>
            <a:endParaRPr lang="zh-CN" altLang="en-US" sz="2400" dirty="0">
              <a:solidFill>
                <a:srgbClr val="0000FF"/>
              </a:solidFill>
            </a:endParaRPr>
          </a:p>
        </p:txBody>
      </p:sp>
      <p:sp>
        <p:nvSpPr>
          <p:cNvPr id="68" name="Rectangle 28">
            <a:extLst>
              <a:ext uri="{FF2B5EF4-FFF2-40B4-BE49-F238E27FC236}">
                <a16:creationId xmlns:a16="http://schemas.microsoft.com/office/drawing/2014/main" id="{26AF9BE1-775A-E938-B5D1-D7651DE96C64}"/>
              </a:ext>
            </a:extLst>
          </p:cNvPr>
          <p:cNvSpPr>
            <a:spLocks noChangeArrowheads="1"/>
          </p:cNvSpPr>
          <p:nvPr/>
        </p:nvSpPr>
        <p:spPr bwMode="auto">
          <a:xfrm>
            <a:off x="863588" y="4112679"/>
            <a:ext cx="11033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solidFill>
                  <a:srgbClr val="FF3300"/>
                </a:solidFill>
              </a:rPr>
              <a:t>截止区</a:t>
            </a:r>
          </a:p>
        </p:txBody>
      </p:sp>
      <p:sp>
        <p:nvSpPr>
          <p:cNvPr id="69" name="平行四边形 68">
            <a:extLst>
              <a:ext uri="{FF2B5EF4-FFF2-40B4-BE49-F238E27FC236}">
                <a16:creationId xmlns:a16="http://schemas.microsoft.com/office/drawing/2014/main" id="{012F2EA3-8871-2B70-E623-718B5601B8E0}"/>
              </a:ext>
            </a:extLst>
          </p:cNvPr>
          <p:cNvSpPr/>
          <p:nvPr/>
        </p:nvSpPr>
        <p:spPr>
          <a:xfrm>
            <a:off x="1191141" y="4604658"/>
            <a:ext cx="713106" cy="203346"/>
          </a:xfrm>
          <a:prstGeom prst="parallelogram">
            <a:avLst>
              <a:gd name="adj" fmla="val 33658"/>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2205121E-5A4B-30F7-D25A-3FD00D215351}"/>
              </a:ext>
            </a:extLst>
          </p:cNvPr>
          <p:cNvSpPr txBox="1"/>
          <p:nvPr/>
        </p:nvSpPr>
        <p:spPr>
          <a:xfrm>
            <a:off x="4319572" y="5386533"/>
            <a:ext cx="5381745" cy="1015663"/>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lang="en-US" altLang="zh-CN" sz="2000" dirty="0">
                <a:latin typeface="+mj-ea"/>
                <a:ea typeface="+mj-ea"/>
              </a:rPr>
              <a:t>V</a:t>
            </a:r>
            <a:r>
              <a:rPr lang="en-US" altLang="zh-CN" sz="2000" baseline="-25000" dirty="0">
                <a:latin typeface="+mj-ea"/>
                <a:ea typeface="+mj-ea"/>
              </a:rPr>
              <a:t>BE </a:t>
            </a:r>
            <a:r>
              <a:rPr lang="en-US" altLang="zh-CN" sz="2000" dirty="0">
                <a:latin typeface="+mj-ea"/>
                <a:ea typeface="+mj-ea"/>
              </a:rPr>
              <a:t>&lt; V</a:t>
            </a:r>
            <a:r>
              <a:rPr lang="en-US" altLang="zh-CN" sz="2000" baseline="-25000" dirty="0">
                <a:latin typeface="+mj-ea"/>
                <a:ea typeface="+mj-ea"/>
              </a:rPr>
              <a:t>T</a:t>
            </a:r>
            <a:r>
              <a:rPr lang="en-US" altLang="zh-CN" sz="2000" dirty="0">
                <a:latin typeface="+mj-ea"/>
                <a:ea typeface="+mj-ea"/>
              </a:rPr>
              <a:t>  </a:t>
            </a:r>
            <a:r>
              <a:rPr lang="zh-CN" altLang="en-US" sz="2000" dirty="0">
                <a:solidFill>
                  <a:srgbClr val="FF0000"/>
                </a:solidFill>
                <a:latin typeface="+mj-ea"/>
                <a:ea typeface="+mj-ea"/>
              </a:rPr>
              <a:t>截止</a:t>
            </a:r>
            <a:endParaRPr lang="en-US" altLang="zh-CN" sz="2000" dirty="0">
              <a:solidFill>
                <a:srgbClr val="FF0000"/>
              </a:solidFill>
              <a:latin typeface="+mj-ea"/>
              <a:ea typeface="+mj-ea"/>
            </a:endParaRPr>
          </a:p>
          <a:p>
            <a:r>
              <a:rPr lang="en-US" altLang="zh-CN" sz="2000" dirty="0">
                <a:latin typeface="+mj-ea"/>
                <a:ea typeface="+mj-ea"/>
              </a:rPr>
              <a:t>V</a:t>
            </a:r>
            <a:r>
              <a:rPr lang="en-US" altLang="zh-CN" sz="2000" baseline="-25000" dirty="0">
                <a:latin typeface="+mj-ea"/>
                <a:ea typeface="+mj-ea"/>
              </a:rPr>
              <a:t>BE </a:t>
            </a:r>
            <a:r>
              <a:rPr lang="en-US" altLang="zh-CN" sz="2000" dirty="0">
                <a:latin typeface="+mj-ea"/>
                <a:ea typeface="+mj-ea"/>
              </a:rPr>
              <a:t>&gt; V</a:t>
            </a:r>
            <a:r>
              <a:rPr lang="en-US" altLang="zh-CN" sz="2000" baseline="-25000" dirty="0">
                <a:latin typeface="+mj-ea"/>
                <a:ea typeface="+mj-ea"/>
              </a:rPr>
              <a:t>T</a:t>
            </a:r>
            <a:r>
              <a:rPr lang="en-US" altLang="zh-CN" sz="2000" dirty="0">
                <a:latin typeface="+mj-ea"/>
                <a:ea typeface="+mj-ea"/>
              </a:rPr>
              <a:t> , V</a:t>
            </a:r>
            <a:r>
              <a:rPr lang="en-US" altLang="zh-CN" sz="2000" baseline="-25000" dirty="0">
                <a:latin typeface="+mj-ea"/>
                <a:ea typeface="+mj-ea"/>
              </a:rPr>
              <a:t>CE </a:t>
            </a:r>
            <a:r>
              <a:rPr lang="zh-CN" altLang="en-US" sz="2000" dirty="0">
                <a:latin typeface="+mj-ea"/>
                <a:ea typeface="+mj-ea"/>
              </a:rPr>
              <a:t>较小 </a:t>
            </a:r>
            <a:r>
              <a:rPr lang="en-US" altLang="zh-CN" sz="2000" dirty="0">
                <a:latin typeface="+mj-ea"/>
                <a:ea typeface="+mj-ea"/>
              </a:rPr>
              <a:t>(c-b</a:t>
            </a:r>
            <a:r>
              <a:rPr lang="zh-CN" altLang="en-US" sz="2000" dirty="0">
                <a:latin typeface="+mj-ea"/>
                <a:ea typeface="+mj-ea"/>
              </a:rPr>
              <a:t>正偏或弱反偏</a:t>
            </a:r>
            <a:r>
              <a:rPr lang="en-US" altLang="zh-CN" sz="2000" dirty="0">
                <a:latin typeface="+mj-ea"/>
                <a:ea typeface="+mj-ea"/>
              </a:rPr>
              <a:t>) </a:t>
            </a:r>
            <a:r>
              <a:rPr lang="zh-CN" altLang="en-US" sz="2000" b="1" dirty="0">
                <a:solidFill>
                  <a:srgbClr val="0000FF"/>
                </a:solidFill>
                <a:latin typeface="+mj-ea"/>
                <a:ea typeface="+mj-ea"/>
              </a:rPr>
              <a:t>饱和</a:t>
            </a:r>
            <a:endParaRPr lang="en-US" altLang="zh-CN" sz="2000" b="1" dirty="0">
              <a:solidFill>
                <a:srgbClr val="0000FF"/>
              </a:solidFill>
              <a:latin typeface="+mj-ea"/>
              <a:ea typeface="+mj-ea"/>
            </a:endParaRPr>
          </a:p>
          <a:p>
            <a:r>
              <a:rPr lang="en-US" altLang="zh-CN" sz="2000" dirty="0">
                <a:latin typeface="+mj-ea"/>
                <a:ea typeface="+mj-ea"/>
              </a:rPr>
              <a:t>V</a:t>
            </a:r>
            <a:r>
              <a:rPr lang="en-US" altLang="zh-CN" sz="2000" baseline="-25000" dirty="0">
                <a:latin typeface="+mj-ea"/>
                <a:ea typeface="+mj-ea"/>
              </a:rPr>
              <a:t>BE </a:t>
            </a:r>
            <a:r>
              <a:rPr lang="en-US" altLang="zh-CN" sz="2000" dirty="0">
                <a:latin typeface="+mj-ea"/>
                <a:ea typeface="+mj-ea"/>
              </a:rPr>
              <a:t>&gt; V</a:t>
            </a:r>
            <a:r>
              <a:rPr lang="en-US" altLang="zh-CN" sz="2000" baseline="-25000" dirty="0">
                <a:latin typeface="+mj-ea"/>
                <a:ea typeface="+mj-ea"/>
              </a:rPr>
              <a:t>T</a:t>
            </a:r>
            <a:r>
              <a:rPr lang="en-US" altLang="zh-CN" sz="2000" dirty="0">
                <a:latin typeface="+mj-ea"/>
                <a:ea typeface="+mj-ea"/>
              </a:rPr>
              <a:t> (b-e</a:t>
            </a:r>
            <a:r>
              <a:rPr lang="zh-CN" altLang="en-US" sz="2000" dirty="0">
                <a:latin typeface="+mj-ea"/>
                <a:ea typeface="+mj-ea"/>
              </a:rPr>
              <a:t>正偏</a:t>
            </a:r>
            <a:r>
              <a:rPr lang="en-US" altLang="zh-CN" sz="2000" dirty="0">
                <a:latin typeface="+mj-ea"/>
                <a:ea typeface="+mj-ea"/>
              </a:rPr>
              <a:t>) , V</a:t>
            </a:r>
            <a:r>
              <a:rPr lang="en-US" altLang="zh-CN" sz="2000" baseline="-25000" dirty="0">
                <a:latin typeface="+mj-ea"/>
                <a:ea typeface="+mj-ea"/>
              </a:rPr>
              <a:t>CE </a:t>
            </a:r>
            <a:r>
              <a:rPr lang="zh-CN" altLang="en-US" sz="2000" dirty="0">
                <a:latin typeface="+mj-ea"/>
                <a:ea typeface="+mj-ea"/>
              </a:rPr>
              <a:t>较大 </a:t>
            </a:r>
            <a:r>
              <a:rPr lang="en-US" altLang="zh-CN" sz="2000" dirty="0">
                <a:latin typeface="+mj-ea"/>
                <a:ea typeface="+mj-ea"/>
              </a:rPr>
              <a:t>(c-b</a:t>
            </a:r>
            <a:r>
              <a:rPr lang="zh-CN" altLang="en-US" sz="2000" dirty="0">
                <a:latin typeface="+mj-ea"/>
                <a:ea typeface="+mj-ea"/>
              </a:rPr>
              <a:t>反偏</a:t>
            </a:r>
            <a:r>
              <a:rPr lang="en-US" altLang="zh-CN" sz="2000" dirty="0">
                <a:latin typeface="+mj-ea"/>
                <a:ea typeface="+mj-ea"/>
              </a:rPr>
              <a:t>) </a:t>
            </a:r>
            <a:r>
              <a:rPr lang="zh-CN" altLang="en-US" sz="2000" b="1" dirty="0">
                <a:latin typeface="+mj-ea"/>
                <a:ea typeface="+mj-ea"/>
              </a:rPr>
              <a:t>放大</a:t>
            </a:r>
          </a:p>
        </p:txBody>
      </p:sp>
      <p:sp>
        <p:nvSpPr>
          <p:cNvPr id="71" name="平行四边形 70">
            <a:extLst>
              <a:ext uri="{FF2B5EF4-FFF2-40B4-BE49-F238E27FC236}">
                <a16:creationId xmlns:a16="http://schemas.microsoft.com/office/drawing/2014/main" id="{95B329F2-1141-FBCD-A2C0-580EB768D646}"/>
              </a:ext>
            </a:extLst>
          </p:cNvPr>
          <p:cNvSpPr/>
          <p:nvPr/>
        </p:nvSpPr>
        <p:spPr>
          <a:xfrm>
            <a:off x="1869432" y="2184714"/>
            <a:ext cx="821189" cy="2250032"/>
          </a:xfrm>
          <a:prstGeom prst="parallelogram">
            <a:avLst>
              <a:gd name="adj" fmla="val 65664"/>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Rectangle 11">
            <a:extLst>
              <a:ext uri="{FF2B5EF4-FFF2-40B4-BE49-F238E27FC236}">
                <a16:creationId xmlns:a16="http://schemas.microsoft.com/office/drawing/2014/main" id="{AD1E86BC-9A41-63F0-70E4-FC77F84AA8A2}"/>
              </a:ext>
            </a:extLst>
          </p:cNvPr>
          <p:cNvSpPr>
            <a:spLocks noChangeArrowheads="1"/>
          </p:cNvSpPr>
          <p:nvPr/>
        </p:nvSpPr>
        <p:spPr bwMode="auto">
          <a:xfrm>
            <a:off x="1164565" y="2014157"/>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solidFill>
                  <a:srgbClr val="0000FF"/>
                </a:solidFill>
              </a:rPr>
              <a:t>饱和区</a:t>
            </a:r>
          </a:p>
        </p:txBody>
      </p:sp>
      <p:grpSp>
        <p:nvGrpSpPr>
          <p:cNvPr id="73" name="Group 106">
            <a:extLst>
              <a:ext uri="{FF2B5EF4-FFF2-40B4-BE49-F238E27FC236}">
                <a16:creationId xmlns:a16="http://schemas.microsoft.com/office/drawing/2014/main" id="{BACDB08E-6088-89C0-C6FC-81E7B84428DB}"/>
              </a:ext>
            </a:extLst>
          </p:cNvPr>
          <p:cNvGrpSpPr>
            <a:grpSpLocks/>
          </p:cNvGrpSpPr>
          <p:nvPr/>
        </p:nvGrpSpPr>
        <p:grpSpPr bwMode="auto">
          <a:xfrm>
            <a:off x="6770923" y="388740"/>
            <a:ext cx="2708275" cy="1943100"/>
            <a:chOff x="3175" y="2546"/>
            <a:chExt cx="1706" cy="1224"/>
          </a:xfrm>
        </p:grpSpPr>
        <p:sp>
          <p:nvSpPr>
            <p:cNvPr id="74" name="Line 107">
              <a:extLst>
                <a:ext uri="{FF2B5EF4-FFF2-40B4-BE49-F238E27FC236}">
                  <a16:creationId xmlns:a16="http://schemas.microsoft.com/office/drawing/2014/main" id="{6FA50309-EF51-94B2-3475-97F50C90C768}"/>
                </a:ext>
              </a:extLst>
            </p:cNvPr>
            <p:cNvSpPr>
              <a:spLocks noChangeShapeType="1"/>
            </p:cNvSpPr>
            <p:nvPr/>
          </p:nvSpPr>
          <p:spPr bwMode="auto">
            <a:xfrm>
              <a:off x="3915" y="2980"/>
              <a:ext cx="0" cy="35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5" name="Line 108">
              <a:extLst>
                <a:ext uri="{FF2B5EF4-FFF2-40B4-BE49-F238E27FC236}">
                  <a16:creationId xmlns:a16="http://schemas.microsoft.com/office/drawing/2014/main" id="{FB7F43A1-C34D-9C96-27F9-0F8BD011B689}"/>
                </a:ext>
              </a:extLst>
            </p:cNvPr>
            <p:cNvSpPr>
              <a:spLocks noChangeShapeType="1"/>
            </p:cNvSpPr>
            <p:nvPr/>
          </p:nvSpPr>
          <p:spPr bwMode="auto">
            <a:xfrm flipH="1">
              <a:off x="3470" y="3159"/>
              <a:ext cx="445"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6" name="Line 109">
              <a:extLst>
                <a:ext uri="{FF2B5EF4-FFF2-40B4-BE49-F238E27FC236}">
                  <a16:creationId xmlns:a16="http://schemas.microsoft.com/office/drawing/2014/main" id="{1DE55102-7AF2-FA3B-7BE0-8D19FF37488C}"/>
                </a:ext>
              </a:extLst>
            </p:cNvPr>
            <p:cNvSpPr>
              <a:spLocks noChangeShapeType="1"/>
            </p:cNvSpPr>
            <p:nvPr/>
          </p:nvSpPr>
          <p:spPr bwMode="auto">
            <a:xfrm flipV="1">
              <a:off x="3912" y="2977"/>
              <a:ext cx="193" cy="12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7" name="Line 110">
              <a:extLst>
                <a:ext uri="{FF2B5EF4-FFF2-40B4-BE49-F238E27FC236}">
                  <a16:creationId xmlns:a16="http://schemas.microsoft.com/office/drawing/2014/main" id="{11B15137-DC8A-67CB-0397-953729FF4FA2}"/>
                </a:ext>
              </a:extLst>
            </p:cNvPr>
            <p:cNvSpPr>
              <a:spLocks noChangeShapeType="1"/>
            </p:cNvSpPr>
            <p:nvPr/>
          </p:nvSpPr>
          <p:spPr bwMode="auto">
            <a:xfrm>
              <a:off x="3915" y="3220"/>
              <a:ext cx="212" cy="133"/>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78" name="Line 111">
              <a:extLst>
                <a:ext uri="{FF2B5EF4-FFF2-40B4-BE49-F238E27FC236}">
                  <a16:creationId xmlns:a16="http://schemas.microsoft.com/office/drawing/2014/main" id="{7201AF24-9578-84C9-8883-615D722D0CC8}"/>
                </a:ext>
              </a:extLst>
            </p:cNvPr>
            <p:cNvSpPr>
              <a:spLocks noChangeShapeType="1"/>
            </p:cNvSpPr>
            <p:nvPr/>
          </p:nvSpPr>
          <p:spPr bwMode="auto">
            <a:xfrm flipV="1">
              <a:off x="4099" y="2682"/>
              <a:ext cx="0" cy="30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9" name="Line 112">
              <a:extLst>
                <a:ext uri="{FF2B5EF4-FFF2-40B4-BE49-F238E27FC236}">
                  <a16:creationId xmlns:a16="http://schemas.microsoft.com/office/drawing/2014/main" id="{07FA7B57-5A7C-4AD4-BCE5-4FF7B9ACBDA4}"/>
                </a:ext>
              </a:extLst>
            </p:cNvPr>
            <p:cNvSpPr>
              <a:spLocks noChangeShapeType="1"/>
            </p:cNvSpPr>
            <p:nvPr/>
          </p:nvSpPr>
          <p:spPr bwMode="auto">
            <a:xfrm>
              <a:off x="4105" y="3335"/>
              <a:ext cx="0" cy="322"/>
            </a:xfrm>
            <a:prstGeom prst="line">
              <a:avLst/>
            </a:prstGeom>
            <a:noFill/>
            <a:ln w="38100">
              <a:solidFill>
                <a:schemeClr val="tx1"/>
              </a:solidFill>
              <a:round/>
              <a:headEnd/>
              <a:tailEnd type="oval" w="med" len="med"/>
            </a:ln>
            <a:extLst>
              <a:ext uri="{909E8E84-426E-40dd-AFC4-6F175D3DCCD1}">
                <a14:hiddenFill xmlns="" xmlns:a14="http://schemas.microsoft.com/office/drawing/2010/main">
                  <a:noFill/>
                </a14:hiddenFill>
              </a:ext>
            </a:extLst>
          </p:spPr>
          <p:txBody>
            <a:bodyPr/>
            <a:lstStyle/>
            <a:p>
              <a:endParaRPr lang="zh-CN" altLang="en-US"/>
            </a:p>
          </p:txBody>
        </p:sp>
        <p:sp>
          <p:nvSpPr>
            <p:cNvPr id="80" name="Line 113">
              <a:extLst>
                <a:ext uri="{FF2B5EF4-FFF2-40B4-BE49-F238E27FC236}">
                  <a16:creationId xmlns:a16="http://schemas.microsoft.com/office/drawing/2014/main" id="{B1BD4518-5681-7C21-08EA-AB719A241A48}"/>
                </a:ext>
              </a:extLst>
            </p:cNvPr>
            <p:cNvSpPr>
              <a:spLocks noChangeShapeType="1"/>
            </p:cNvSpPr>
            <p:nvPr/>
          </p:nvSpPr>
          <p:spPr bwMode="auto">
            <a:xfrm flipH="1">
              <a:off x="3469" y="3657"/>
              <a:ext cx="1067"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81" name="Line 114">
              <a:extLst>
                <a:ext uri="{FF2B5EF4-FFF2-40B4-BE49-F238E27FC236}">
                  <a16:creationId xmlns:a16="http://schemas.microsoft.com/office/drawing/2014/main" id="{555BA9C0-F530-A22E-3B99-7B666014F191}"/>
                </a:ext>
              </a:extLst>
            </p:cNvPr>
            <p:cNvSpPr>
              <a:spLocks noChangeShapeType="1"/>
            </p:cNvSpPr>
            <p:nvPr/>
          </p:nvSpPr>
          <p:spPr bwMode="auto">
            <a:xfrm flipH="1">
              <a:off x="4103" y="2682"/>
              <a:ext cx="433"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82" name="Text Box 115">
              <a:extLst>
                <a:ext uri="{FF2B5EF4-FFF2-40B4-BE49-F238E27FC236}">
                  <a16:creationId xmlns:a16="http://schemas.microsoft.com/office/drawing/2014/main" id="{6407A581-A1E2-2FC1-5589-9BEA661A7359}"/>
                </a:ext>
              </a:extLst>
            </p:cNvPr>
            <p:cNvSpPr txBox="1">
              <a:spLocks noChangeArrowheads="1"/>
            </p:cNvSpPr>
            <p:nvPr/>
          </p:nvSpPr>
          <p:spPr bwMode="auto">
            <a:xfrm>
              <a:off x="3560"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B</a:t>
              </a:r>
            </a:p>
          </p:txBody>
        </p:sp>
        <p:sp>
          <p:nvSpPr>
            <p:cNvPr id="83" name="Line 116">
              <a:extLst>
                <a:ext uri="{FF2B5EF4-FFF2-40B4-BE49-F238E27FC236}">
                  <a16:creationId xmlns:a16="http://schemas.microsoft.com/office/drawing/2014/main" id="{B8BF6008-B680-E7C8-2566-717C4DCCF933}"/>
                </a:ext>
              </a:extLst>
            </p:cNvPr>
            <p:cNvSpPr>
              <a:spLocks noChangeShapeType="1"/>
            </p:cNvSpPr>
            <p:nvPr/>
          </p:nvSpPr>
          <p:spPr bwMode="auto">
            <a:xfrm flipH="1" flipV="1">
              <a:off x="3470" y="3067"/>
              <a:ext cx="340" cy="0"/>
            </a:xfrm>
            <a:prstGeom prst="line">
              <a:avLst/>
            </a:prstGeom>
            <a:noFill/>
            <a:ln w="28575">
              <a:solidFill>
                <a:schemeClr val="tx1"/>
              </a:solidFill>
              <a:round/>
              <a:headEnd type="triangle" w="med" len="lg"/>
              <a:tailEnd type="none" w="med" len="lg"/>
            </a:ln>
            <a:extLst>
              <a:ext uri="{909E8E84-426E-40dd-AFC4-6F175D3DCCD1}">
                <a14:hiddenFill xmlns="" xmlns:a14="http://schemas.microsoft.com/office/drawing/2010/main">
                  <a:noFill/>
                </a14:hiddenFill>
              </a:ext>
            </a:extLst>
          </p:spPr>
          <p:txBody>
            <a:bodyPr/>
            <a:lstStyle/>
            <a:p>
              <a:endParaRPr lang="zh-CN" altLang="en-US"/>
            </a:p>
          </p:txBody>
        </p:sp>
        <p:sp>
          <p:nvSpPr>
            <p:cNvPr id="84" name="Text Box 117">
              <a:extLst>
                <a:ext uri="{FF2B5EF4-FFF2-40B4-BE49-F238E27FC236}">
                  <a16:creationId xmlns:a16="http://schemas.microsoft.com/office/drawing/2014/main" id="{5272498C-5962-494E-2552-55F16C62FFD3}"/>
                </a:ext>
              </a:extLst>
            </p:cNvPr>
            <p:cNvSpPr txBox="1">
              <a:spLocks noChangeArrowheads="1"/>
            </p:cNvSpPr>
            <p:nvPr/>
          </p:nvSpPr>
          <p:spPr bwMode="auto">
            <a:xfrm>
              <a:off x="4248"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C</a:t>
              </a:r>
            </a:p>
          </p:txBody>
        </p:sp>
        <p:sp>
          <p:nvSpPr>
            <p:cNvPr id="85" name="Line 118">
              <a:extLst>
                <a:ext uri="{FF2B5EF4-FFF2-40B4-BE49-F238E27FC236}">
                  <a16:creationId xmlns:a16="http://schemas.microsoft.com/office/drawing/2014/main" id="{9F9EC98C-374D-1C3A-9A6A-E4997D01CCFB}"/>
                </a:ext>
              </a:extLst>
            </p:cNvPr>
            <p:cNvSpPr>
              <a:spLocks noChangeShapeType="1"/>
            </p:cNvSpPr>
            <p:nvPr/>
          </p:nvSpPr>
          <p:spPr bwMode="auto">
            <a:xfrm flipH="1" flipV="1">
              <a:off x="4173" y="2772"/>
              <a:ext cx="340"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86" name="Text Box 119">
              <a:extLst>
                <a:ext uri="{FF2B5EF4-FFF2-40B4-BE49-F238E27FC236}">
                  <a16:creationId xmlns:a16="http://schemas.microsoft.com/office/drawing/2014/main" id="{8A350265-ADF5-2659-BDAC-040BC9122252}"/>
                </a:ext>
              </a:extLst>
            </p:cNvPr>
            <p:cNvSpPr txBox="1">
              <a:spLocks noChangeArrowheads="1"/>
            </p:cNvSpPr>
            <p:nvPr/>
          </p:nvSpPr>
          <p:spPr bwMode="auto">
            <a:xfrm>
              <a:off x="3198" y="3045"/>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87" name="Text Box 120">
              <a:extLst>
                <a:ext uri="{FF2B5EF4-FFF2-40B4-BE49-F238E27FC236}">
                  <a16:creationId xmlns:a16="http://schemas.microsoft.com/office/drawing/2014/main" id="{D943C8B0-B12A-98E0-BDB7-94E12DC05B66}"/>
                </a:ext>
              </a:extLst>
            </p:cNvPr>
            <p:cNvSpPr txBox="1">
              <a:spLocks noChangeArrowheads="1"/>
            </p:cNvSpPr>
            <p:nvPr/>
          </p:nvSpPr>
          <p:spPr bwMode="auto">
            <a:xfrm>
              <a:off x="3198" y="3520"/>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88" name="Text Box 121">
              <a:extLst>
                <a:ext uri="{FF2B5EF4-FFF2-40B4-BE49-F238E27FC236}">
                  <a16:creationId xmlns:a16="http://schemas.microsoft.com/office/drawing/2014/main" id="{8701FBF8-A528-43C2-E9E0-CB10CB72B798}"/>
                </a:ext>
              </a:extLst>
            </p:cNvPr>
            <p:cNvSpPr txBox="1">
              <a:spLocks noChangeArrowheads="1"/>
            </p:cNvSpPr>
            <p:nvPr/>
          </p:nvSpPr>
          <p:spPr bwMode="auto">
            <a:xfrm>
              <a:off x="3175" y="3201"/>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BE</a:t>
              </a:r>
            </a:p>
          </p:txBody>
        </p:sp>
        <p:sp>
          <p:nvSpPr>
            <p:cNvPr id="89" name="Text Box 122">
              <a:extLst>
                <a:ext uri="{FF2B5EF4-FFF2-40B4-BE49-F238E27FC236}">
                  <a16:creationId xmlns:a16="http://schemas.microsoft.com/office/drawing/2014/main" id="{B23C6097-0FD8-B8E8-4CCB-8ED705CEE7E0}"/>
                </a:ext>
              </a:extLst>
            </p:cNvPr>
            <p:cNvSpPr txBox="1">
              <a:spLocks noChangeArrowheads="1"/>
            </p:cNvSpPr>
            <p:nvPr/>
          </p:nvSpPr>
          <p:spPr bwMode="auto">
            <a:xfrm>
              <a:off x="4503" y="2967"/>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CE</a:t>
              </a:r>
            </a:p>
          </p:txBody>
        </p:sp>
        <p:sp>
          <p:nvSpPr>
            <p:cNvPr id="90" name="Text Box 123">
              <a:extLst>
                <a:ext uri="{FF2B5EF4-FFF2-40B4-BE49-F238E27FC236}">
                  <a16:creationId xmlns:a16="http://schemas.microsoft.com/office/drawing/2014/main" id="{3E6169AA-0BAF-623B-AA67-D60A01DAF7D4}"/>
                </a:ext>
              </a:extLst>
            </p:cNvPr>
            <p:cNvSpPr txBox="1">
              <a:spLocks noChangeArrowheads="1"/>
            </p:cNvSpPr>
            <p:nvPr/>
          </p:nvSpPr>
          <p:spPr bwMode="auto">
            <a:xfrm>
              <a:off x="4581" y="2546"/>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91" name="Text Box 124">
              <a:extLst>
                <a:ext uri="{FF2B5EF4-FFF2-40B4-BE49-F238E27FC236}">
                  <a16:creationId xmlns:a16="http://schemas.microsoft.com/office/drawing/2014/main" id="{86DE7A40-F0D8-F7F8-0BC5-1A9EDEE46BCD}"/>
                </a:ext>
              </a:extLst>
            </p:cNvPr>
            <p:cNvSpPr txBox="1">
              <a:spLocks noChangeArrowheads="1"/>
            </p:cNvSpPr>
            <p:nvPr/>
          </p:nvSpPr>
          <p:spPr bwMode="auto">
            <a:xfrm>
              <a:off x="4603" y="3498"/>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spTree>
    <p:extLst>
      <p:ext uri="{BB962C8B-B14F-4D97-AF65-F5344CB8AC3E}">
        <p14:creationId xmlns:p14="http://schemas.microsoft.com/office/powerpoint/2010/main" val="1843718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D8613-D5F9-06B5-6162-5618589CD34B}"/>
              </a:ext>
            </a:extLst>
          </p:cNvPr>
          <p:cNvSpPr>
            <a:spLocks noGrp="1"/>
          </p:cNvSpPr>
          <p:nvPr>
            <p:ph type="title"/>
          </p:nvPr>
        </p:nvSpPr>
        <p:spPr/>
        <p:txBody>
          <a:bodyPr>
            <a:normAutofit fontScale="90000"/>
          </a:bodyPr>
          <a:lstStyle/>
          <a:p>
            <a:r>
              <a:rPr lang="en-US" altLang="zh-CN" dirty="0"/>
              <a:t>BJT</a:t>
            </a:r>
            <a:r>
              <a:rPr lang="zh-CN" altLang="en-US" dirty="0"/>
              <a:t>连接方式</a:t>
            </a:r>
            <a:endParaRPr kumimoji="1" lang="zh-CN" altLang="en-US" b="1" dirty="0"/>
          </a:p>
        </p:txBody>
      </p:sp>
      <p:sp>
        <p:nvSpPr>
          <p:cNvPr id="3" name="内容占位符 2">
            <a:extLst>
              <a:ext uri="{FF2B5EF4-FFF2-40B4-BE49-F238E27FC236}">
                <a16:creationId xmlns:a16="http://schemas.microsoft.com/office/drawing/2014/main" id="{CD3EF91C-6F8E-BE52-856A-EA9FC6BD0500}"/>
              </a:ext>
            </a:extLst>
          </p:cNvPr>
          <p:cNvSpPr>
            <a:spLocks noGrp="1"/>
          </p:cNvSpPr>
          <p:nvPr>
            <p:ph idx="1"/>
          </p:nvPr>
        </p:nvSpPr>
        <p:spPr/>
        <p:txBody>
          <a:bodyPr/>
          <a:lstStyle/>
          <a:p>
            <a:pPr>
              <a:lnSpc>
                <a:spcPct val="90000"/>
              </a:lnSpc>
            </a:pPr>
            <a:r>
              <a:rPr lang="zh-CN" altLang="en-US" sz="2400" dirty="0"/>
              <a:t>要使</a:t>
            </a:r>
            <a:r>
              <a:rPr lang="en-US" altLang="zh-CN" sz="2400" dirty="0"/>
              <a:t>BJT</a:t>
            </a:r>
            <a:r>
              <a:rPr lang="zh-CN" altLang="en-US" sz="2400" dirty="0"/>
              <a:t>有放大作用，必须保证</a:t>
            </a:r>
            <a:endParaRPr lang="en-US" altLang="zh-CN" sz="2400" dirty="0"/>
          </a:p>
          <a:p>
            <a:pPr lvl="1">
              <a:lnSpc>
                <a:spcPct val="90000"/>
              </a:lnSpc>
            </a:pPr>
            <a:r>
              <a:rPr lang="zh-CN" altLang="en-US" sz="2000" b="1" dirty="0"/>
              <a:t>发射结正偏</a:t>
            </a:r>
            <a:r>
              <a:rPr lang="zh-CN" altLang="en-US" sz="2000" dirty="0"/>
              <a:t>：保证三极中导电粒子最多的发射极能把自己的多子送到基极</a:t>
            </a:r>
            <a:endParaRPr lang="en-US" altLang="zh-CN" sz="2000" dirty="0"/>
          </a:p>
          <a:p>
            <a:pPr lvl="1">
              <a:lnSpc>
                <a:spcPct val="90000"/>
              </a:lnSpc>
            </a:pPr>
            <a:r>
              <a:rPr lang="zh-CN" altLang="en-US" sz="2000" b="1" dirty="0"/>
              <a:t>集电结反偏</a:t>
            </a:r>
            <a:r>
              <a:rPr lang="zh-CN" altLang="en-US" sz="2000" dirty="0"/>
              <a:t>：保证发射极来的多子能在电场的帮助下到达集电极（！此时基极和发射极各自的多子运动反而受到进一步压抑）</a:t>
            </a:r>
            <a:endParaRPr lang="en-US" altLang="zh-CN" sz="2000" dirty="0"/>
          </a:p>
          <a:p>
            <a:pPr lvl="1">
              <a:lnSpc>
                <a:spcPct val="90000"/>
              </a:lnSpc>
            </a:pPr>
            <a:endParaRPr lang="en-US" altLang="zh-CN" sz="2400" dirty="0"/>
          </a:p>
          <a:p>
            <a:pPr>
              <a:lnSpc>
                <a:spcPct val="90000"/>
              </a:lnSpc>
            </a:pPr>
            <a:r>
              <a:rPr lang="zh-CN" altLang="en-US" sz="2400" dirty="0"/>
              <a:t>有三种连接方式，又称为三种组态</a:t>
            </a:r>
            <a:endParaRPr lang="en-US" altLang="zh-CN" sz="2400" dirty="0"/>
          </a:p>
          <a:p>
            <a:endParaRPr kumimoji="1" lang="zh-CN" altLang="en-US" dirty="0"/>
          </a:p>
        </p:txBody>
      </p:sp>
      <p:sp>
        <p:nvSpPr>
          <p:cNvPr id="4" name="页脚占位符 3">
            <a:extLst>
              <a:ext uri="{FF2B5EF4-FFF2-40B4-BE49-F238E27FC236}">
                <a16:creationId xmlns:a16="http://schemas.microsoft.com/office/drawing/2014/main" id="{F8A136B6-F209-A63C-2840-7F99FCC966C6}"/>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5FD9C760-BBAB-84A8-0BB1-01F73737328F}"/>
              </a:ext>
            </a:extLst>
          </p:cNvPr>
          <p:cNvSpPr>
            <a:spLocks noGrp="1"/>
          </p:cNvSpPr>
          <p:nvPr>
            <p:ph type="sldNum" sz="quarter" idx="12"/>
          </p:nvPr>
        </p:nvSpPr>
        <p:spPr/>
        <p:txBody>
          <a:bodyPr/>
          <a:lstStyle/>
          <a:p>
            <a:fld id="{9E260BC5-5BF3-8746-862B-DC45E9CAA88B}" type="slidenum">
              <a:rPr lang="en-US" smtClean="0"/>
              <a:pPr/>
              <a:t>15</a:t>
            </a:fld>
            <a:r>
              <a:rPr lang="en-US" altLang="zh-CN" dirty="0"/>
              <a:t>/33</a:t>
            </a:r>
            <a:endParaRPr lang="en-US" dirty="0"/>
          </a:p>
        </p:txBody>
      </p:sp>
      <p:pic>
        <p:nvPicPr>
          <p:cNvPr id="6" name="Picture 4">
            <a:extLst>
              <a:ext uri="{FF2B5EF4-FFF2-40B4-BE49-F238E27FC236}">
                <a16:creationId xmlns:a16="http://schemas.microsoft.com/office/drawing/2014/main" id="{6DAD2CDB-2A6A-D790-4FD2-0181D396F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0" y="4082766"/>
            <a:ext cx="2486025" cy="1685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DE173410-20E0-9735-5509-D30574D63A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5712" y="3550953"/>
            <a:ext cx="2314575" cy="2181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EF510AA7-BE2D-62D5-E71E-BCFDD7043F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7625" y="3608103"/>
            <a:ext cx="2143125" cy="2124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8CB5AD0F-C0CA-C4F7-F971-F3C764C3B15A}"/>
              </a:ext>
            </a:extLst>
          </p:cNvPr>
          <p:cNvSpPr>
            <a:spLocks noChangeArrowheads="1"/>
          </p:cNvSpPr>
          <p:nvPr/>
        </p:nvSpPr>
        <p:spPr bwMode="auto">
          <a:xfrm>
            <a:off x="1501775" y="5696683"/>
            <a:ext cx="1098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icrosoft YaHei" panose="020B0503020204020204" pitchFamily="34" charset="-122"/>
                <a:ea typeface="Microsoft YaHei" panose="020B0503020204020204" pitchFamily="34" charset="-122"/>
              </a:rPr>
              <a:t>共基极</a:t>
            </a:r>
          </a:p>
        </p:txBody>
      </p:sp>
      <p:sp>
        <p:nvSpPr>
          <p:cNvPr id="10" name="Rectangle 9">
            <a:extLst>
              <a:ext uri="{FF2B5EF4-FFF2-40B4-BE49-F238E27FC236}">
                <a16:creationId xmlns:a16="http://schemas.microsoft.com/office/drawing/2014/main" id="{38609477-E1EC-1405-D04B-57F67D80057C}"/>
              </a:ext>
            </a:extLst>
          </p:cNvPr>
          <p:cNvSpPr>
            <a:spLocks noChangeArrowheads="1"/>
          </p:cNvSpPr>
          <p:nvPr/>
        </p:nvSpPr>
        <p:spPr bwMode="auto">
          <a:xfrm>
            <a:off x="4310062" y="5696683"/>
            <a:ext cx="14033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icrosoft YaHei" panose="020B0503020204020204" pitchFamily="34" charset="-122"/>
                <a:ea typeface="Microsoft YaHei" panose="020B0503020204020204" pitchFamily="34" charset="-122"/>
              </a:rPr>
              <a:t>共发射极</a:t>
            </a:r>
          </a:p>
        </p:txBody>
      </p:sp>
      <p:sp>
        <p:nvSpPr>
          <p:cNvPr id="11" name="Rectangle 10">
            <a:extLst>
              <a:ext uri="{FF2B5EF4-FFF2-40B4-BE49-F238E27FC236}">
                <a16:creationId xmlns:a16="http://schemas.microsoft.com/office/drawing/2014/main" id="{DDDCDD48-A68B-D7AE-2CCF-69EBF3AF6EAB}"/>
              </a:ext>
            </a:extLst>
          </p:cNvPr>
          <p:cNvSpPr>
            <a:spLocks noChangeArrowheads="1"/>
          </p:cNvSpPr>
          <p:nvPr/>
        </p:nvSpPr>
        <p:spPr bwMode="auto">
          <a:xfrm>
            <a:off x="6865937" y="5696683"/>
            <a:ext cx="14033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icrosoft YaHei" panose="020B0503020204020204" pitchFamily="34" charset="-122"/>
                <a:ea typeface="Microsoft YaHei" panose="020B0503020204020204" pitchFamily="34" charset="-122"/>
              </a:rPr>
              <a:t>共集电极</a:t>
            </a:r>
          </a:p>
        </p:txBody>
      </p:sp>
    </p:spTree>
    <p:extLst>
      <p:ext uri="{BB962C8B-B14F-4D97-AF65-F5344CB8AC3E}">
        <p14:creationId xmlns:p14="http://schemas.microsoft.com/office/powerpoint/2010/main" val="3815663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617DF-254A-592D-3D5B-649A18E320A4}"/>
              </a:ext>
            </a:extLst>
          </p:cNvPr>
          <p:cNvSpPr>
            <a:spLocks noGrp="1"/>
          </p:cNvSpPr>
          <p:nvPr>
            <p:ph type="title"/>
          </p:nvPr>
        </p:nvSpPr>
        <p:spPr/>
        <p:txBody>
          <a:bodyPr>
            <a:normAutofit fontScale="90000"/>
          </a:bodyPr>
          <a:lstStyle/>
          <a:p>
            <a:r>
              <a:rPr lang="zh-CN" altLang="en-US" dirty="0"/>
              <a:t>示例：</a:t>
            </a:r>
            <a:r>
              <a:rPr lang="zh-CN" altLang="en-US" dirty="0">
                <a:latin typeface="+mj-ea"/>
                <a:ea typeface="+mj-ea"/>
              </a:rPr>
              <a:t>判断</a:t>
            </a:r>
            <a:r>
              <a:rPr kumimoji="1" lang="en-US" altLang="zh-CN" dirty="0">
                <a:latin typeface="+mj-ea"/>
                <a:ea typeface="+mj-ea"/>
              </a:rPr>
              <a:t>BJT</a:t>
            </a:r>
            <a:r>
              <a:rPr lang="zh-CN" altLang="en-US" dirty="0">
                <a:latin typeface="+mj-ea"/>
                <a:ea typeface="+mj-ea"/>
              </a:rPr>
              <a:t>工作区域</a:t>
            </a:r>
            <a:endParaRPr kumimoji="1" lang="zh-CN" altLang="en-US" dirty="0">
              <a:latin typeface="+mj-ea"/>
              <a:ea typeface="+mj-ea"/>
            </a:endParaRPr>
          </a:p>
        </p:txBody>
      </p:sp>
      <p:sp>
        <p:nvSpPr>
          <p:cNvPr id="3" name="内容占位符 2">
            <a:extLst>
              <a:ext uri="{FF2B5EF4-FFF2-40B4-BE49-F238E27FC236}">
                <a16:creationId xmlns:a16="http://schemas.microsoft.com/office/drawing/2014/main" id="{C05537E9-2B1D-A26C-808E-CA56C48F460A}"/>
              </a:ext>
            </a:extLst>
          </p:cNvPr>
          <p:cNvSpPr>
            <a:spLocks noGrp="1"/>
          </p:cNvSpPr>
          <p:nvPr>
            <p:ph idx="1"/>
          </p:nvPr>
        </p:nvSpPr>
        <p:spPr/>
        <p:txBody>
          <a:bodyPr/>
          <a:lstStyle/>
          <a:p>
            <a:r>
              <a:rPr kumimoji="1" lang="zh-CN" altLang="en-US" b="0" dirty="0">
                <a:solidFill>
                  <a:srgbClr val="000000"/>
                </a:solidFill>
              </a:rPr>
              <a:t>根据测得的</a:t>
            </a:r>
            <a:r>
              <a:rPr kumimoji="1" lang="en-US" altLang="zh-CN" b="0" dirty="0">
                <a:solidFill>
                  <a:srgbClr val="000000"/>
                </a:solidFill>
              </a:rPr>
              <a:t>BJT</a:t>
            </a:r>
            <a:r>
              <a:rPr kumimoji="1" lang="zh-CN" altLang="en-US" b="0" dirty="0">
                <a:solidFill>
                  <a:srgbClr val="000000"/>
                </a:solidFill>
              </a:rPr>
              <a:t>三个电极对地电位，判断其工作区域</a:t>
            </a:r>
          </a:p>
          <a:p>
            <a:endParaRPr kumimoji="1" lang="zh-CN" altLang="en-US" dirty="0"/>
          </a:p>
        </p:txBody>
      </p:sp>
      <p:sp>
        <p:nvSpPr>
          <p:cNvPr id="4" name="页脚占位符 3">
            <a:extLst>
              <a:ext uri="{FF2B5EF4-FFF2-40B4-BE49-F238E27FC236}">
                <a16:creationId xmlns:a16="http://schemas.microsoft.com/office/drawing/2014/main" id="{21247359-5EFC-B478-4B35-822EE10E25F2}"/>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A13F2C30-8B06-B3DB-B3A1-0599132F7447}"/>
              </a:ext>
            </a:extLst>
          </p:cNvPr>
          <p:cNvSpPr>
            <a:spLocks noGrp="1"/>
          </p:cNvSpPr>
          <p:nvPr>
            <p:ph type="sldNum" sz="quarter" idx="12"/>
          </p:nvPr>
        </p:nvSpPr>
        <p:spPr/>
        <p:txBody>
          <a:bodyPr/>
          <a:lstStyle/>
          <a:p>
            <a:fld id="{9E260BC5-5BF3-8746-862B-DC45E9CAA88B}" type="slidenum">
              <a:rPr lang="en-US" smtClean="0"/>
              <a:pPr/>
              <a:t>16</a:t>
            </a:fld>
            <a:r>
              <a:rPr lang="en-US" altLang="zh-CN" dirty="0"/>
              <a:t>/33</a:t>
            </a:r>
            <a:endParaRPr lang="en-US" dirty="0"/>
          </a:p>
        </p:txBody>
      </p:sp>
      <p:pic>
        <p:nvPicPr>
          <p:cNvPr id="6" name="Picture 4">
            <a:extLst>
              <a:ext uri="{FF2B5EF4-FFF2-40B4-BE49-F238E27FC236}">
                <a16:creationId xmlns:a16="http://schemas.microsoft.com/office/drawing/2014/main" id="{0210C058-7F24-2083-A011-BFE233C92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535" y="1884564"/>
            <a:ext cx="1230312" cy="1408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8C247B63-3288-B882-4252-FBFA3CD3D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972" y="1978227"/>
            <a:ext cx="1438275" cy="1349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386D1487-5334-F605-A004-C5F5104234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435" y="2049664"/>
            <a:ext cx="1230312" cy="1349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Text Box 7">
            <a:extLst>
              <a:ext uri="{FF2B5EF4-FFF2-40B4-BE49-F238E27FC236}">
                <a16:creationId xmlns:a16="http://schemas.microsoft.com/office/drawing/2014/main" id="{68D3ECF5-2B7A-2969-AF86-371E6D2C9882}"/>
              </a:ext>
            </a:extLst>
          </p:cNvPr>
          <p:cNvSpPr txBox="1">
            <a:spLocks noChangeArrowheads="1"/>
          </p:cNvSpPr>
          <p:nvPr/>
        </p:nvSpPr>
        <p:spPr bwMode="auto">
          <a:xfrm>
            <a:off x="1665847" y="3651452"/>
            <a:ext cx="1708150" cy="129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b="0" dirty="0"/>
              <a:t>发射结正偏</a:t>
            </a:r>
          </a:p>
          <a:p>
            <a:pPr eaLnBrk="1" hangingPunct="1">
              <a:spcAft>
                <a:spcPct val="0"/>
              </a:spcAft>
              <a:buFontTx/>
              <a:buNone/>
            </a:pPr>
            <a:r>
              <a:rPr lang="zh-CN" altLang="en-US" sz="2400" b="0" dirty="0"/>
              <a:t>集电结反偏</a:t>
            </a:r>
          </a:p>
          <a:p>
            <a:pPr eaLnBrk="1" hangingPunct="1">
              <a:spcBef>
                <a:spcPct val="30000"/>
              </a:spcBef>
              <a:spcAft>
                <a:spcPct val="0"/>
              </a:spcAft>
              <a:buFontTx/>
              <a:buNone/>
            </a:pPr>
            <a:r>
              <a:rPr lang="en-US" altLang="zh-CN" sz="2400" b="0" dirty="0">
                <a:sym typeface="Wingdings" panose="05000000000000000000" pitchFamily="2" charset="2"/>
              </a:rPr>
              <a:t> </a:t>
            </a:r>
            <a:r>
              <a:rPr lang="zh-CN" altLang="en-US" sz="2400" b="0" dirty="0"/>
              <a:t>放大</a:t>
            </a:r>
          </a:p>
        </p:txBody>
      </p:sp>
      <p:sp>
        <p:nvSpPr>
          <p:cNvPr id="10" name="Text Box 8">
            <a:extLst>
              <a:ext uri="{FF2B5EF4-FFF2-40B4-BE49-F238E27FC236}">
                <a16:creationId xmlns:a16="http://schemas.microsoft.com/office/drawing/2014/main" id="{64CE0D29-2F78-3F7B-4731-180D4C911F6D}"/>
              </a:ext>
            </a:extLst>
          </p:cNvPr>
          <p:cNvSpPr txBox="1">
            <a:spLocks noChangeArrowheads="1"/>
          </p:cNvSpPr>
          <p:nvPr/>
        </p:nvSpPr>
        <p:spPr bwMode="auto">
          <a:xfrm>
            <a:off x="3934385" y="3651452"/>
            <a:ext cx="1708150" cy="129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b="0"/>
              <a:t>发射结正偏</a:t>
            </a:r>
          </a:p>
          <a:p>
            <a:pPr eaLnBrk="1" hangingPunct="1">
              <a:spcAft>
                <a:spcPct val="0"/>
              </a:spcAft>
              <a:buFontTx/>
              <a:buNone/>
            </a:pPr>
            <a:r>
              <a:rPr lang="zh-CN" altLang="en-US" sz="2400" b="0"/>
              <a:t>集电结正偏</a:t>
            </a:r>
          </a:p>
          <a:p>
            <a:pPr eaLnBrk="1" hangingPunct="1">
              <a:spcBef>
                <a:spcPct val="30000"/>
              </a:spcBef>
              <a:spcAft>
                <a:spcPct val="0"/>
              </a:spcAft>
              <a:buFontTx/>
              <a:buNone/>
            </a:pPr>
            <a:r>
              <a:rPr lang="en-US" altLang="zh-CN" sz="2400" b="0">
                <a:sym typeface="Wingdings" panose="05000000000000000000" pitchFamily="2" charset="2"/>
              </a:rPr>
              <a:t> </a:t>
            </a:r>
            <a:r>
              <a:rPr lang="zh-CN" altLang="en-US" sz="2400" b="0"/>
              <a:t>饱和</a:t>
            </a:r>
          </a:p>
        </p:txBody>
      </p:sp>
      <p:sp>
        <p:nvSpPr>
          <p:cNvPr id="11" name="Text Box 9">
            <a:extLst>
              <a:ext uri="{FF2B5EF4-FFF2-40B4-BE49-F238E27FC236}">
                <a16:creationId xmlns:a16="http://schemas.microsoft.com/office/drawing/2014/main" id="{698A299C-7479-9B8F-5582-D4241AE05203}"/>
              </a:ext>
            </a:extLst>
          </p:cNvPr>
          <p:cNvSpPr txBox="1">
            <a:spLocks noChangeArrowheads="1"/>
          </p:cNvSpPr>
          <p:nvPr/>
        </p:nvSpPr>
        <p:spPr bwMode="auto">
          <a:xfrm>
            <a:off x="6150535" y="3651452"/>
            <a:ext cx="1708150" cy="129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b="0"/>
              <a:t>发射结反偏</a:t>
            </a:r>
          </a:p>
          <a:p>
            <a:pPr eaLnBrk="1" hangingPunct="1">
              <a:spcAft>
                <a:spcPct val="0"/>
              </a:spcAft>
              <a:buFontTx/>
              <a:buNone/>
            </a:pPr>
            <a:r>
              <a:rPr lang="zh-CN" altLang="en-US" sz="2400" b="0"/>
              <a:t>集电结反偏</a:t>
            </a:r>
          </a:p>
          <a:p>
            <a:pPr eaLnBrk="1" hangingPunct="1">
              <a:spcBef>
                <a:spcPct val="30000"/>
              </a:spcBef>
              <a:spcAft>
                <a:spcPct val="0"/>
              </a:spcAft>
              <a:buFontTx/>
              <a:buNone/>
            </a:pPr>
            <a:r>
              <a:rPr lang="en-US" altLang="zh-CN" sz="2400" b="0">
                <a:sym typeface="Wingdings" panose="05000000000000000000" pitchFamily="2" charset="2"/>
              </a:rPr>
              <a:t> </a:t>
            </a:r>
            <a:r>
              <a:rPr lang="zh-CN" altLang="en-US" sz="2400" b="0"/>
              <a:t>截止</a:t>
            </a:r>
          </a:p>
        </p:txBody>
      </p:sp>
      <p:sp>
        <p:nvSpPr>
          <p:cNvPr id="12" name="Text Box 7">
            <a:extLst>
              <a:ext uri="{FF2B5EF4-FFF2-40B4-BE49-F238E27FC236}">
                <a16:creationId xmlns:a16="http://schemas.microsoft.com/office/drawing/2014/main" id="{DD5E1054-D5FD-D321-79AB-003F0D4D32BF}"/>
              </a:ext>
            </a:extLst>
          </p:cNvPr>
          <p:cNvSpPr txBox="1">
            <a:spLocks noChangeArrowheads="1"/>
          </p:cNvSpPr>
          <p:nvPr/>
        </p:nvSpPr>
        <p:spPr bwMode="auto">
          <a:xfrm>
            <a:off x="1447692" y="5272289"/>
            <a:ext cx="6660740" cy="461665"/>
          </a:xfrm>
          <a:prstGeom prst="rect">
            <a:avLst/>
          </a:prstGeom>
          <a:solidFill>
            <a:schemeClr val="accent1">
              <a:lumMod val="20000"/>
              <a:lumOff val="80000"/>
            </a:schemeClr>
          </a:solidFill>
          <a:ln w="9525">
            <a:solidFill>
              <a:schemeClr val="accent1">
                <a:lumMod val="50000"/>
              </a:schemeClr>
            </a:solidFill>
            <a:miter lim="800000"/>
            <a:headEnd/>
            <a:tailEnd/>
          </a:ln>
          <a:extLst>
            <a:ext uri="{909E8E84-426E-40dd-AFC4-6F175D3DCCD1}">
              <a14:hiddenFill xmlns="" xmlns:a14="http://schemas.microsoft.com/office/drawing/2010/main">
                <a:solidFill>
                  <a:srgbClr val="FFFFFF"/>
                </a:solidFill>
              </a14:hiddenFill>
            </a:ext>
          </a:extLst>
        </p:spPr>
        <p:txBody>
          <a:bodyPr wrap="squar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400" b="0" dirty="0">
                <a:latin typeface="+mj-ea"/>
                <a:ea typeface="+mj-ea"/>
              </a:rPr>
              <a:t>要点：“放大</a:t>
            </a:r>
            <a:r>
              <a:rPr lang="en-US" altLang="zh-CN" sz="2400" b="0" dirty="0">
                <a:latin typeface="+mj-ea"/>
                <a:ea typeface="+mj-ea"/>
              </a:rPr>
              <a:t>/</a:t>
            </a:r>
            <a:r>
              <a:rPr lang="zh-CN" altLang="en-US" sz="2400" b="0" dirty="0">
                <a:latin typeface="+mj-ea"/>
                <a:ea typeface="+mj-ea"/>
              </a:rPr>
              <a:t>饱和</a:t>
            </a:r>
            <a:r>
              <a:rPr lang="en-US" altLang="zh-CN" sz="2400" b="0" dirty="0">
                <a:latin typeface="+mj-ea"/>
                <a:ea typeface="+mj-ea"/>
              </a:rPr>
              <a:t>/</a:t>
            </a:r>
            <a:r>
              <a:rPr lang="zh-CN" altLang="en-US" sz="2400" b="0" dirty="0">
                <a:latin typeface="+mj-ea"/>
                <a:ea typeface="+mj-ea"/>
              </a:rPr>
              <a:t>截止”的主语是 基极电流</a:t>
            </a:r>
          </a:p>
        </p:txBody>
      </p:sp>
    </p:spTree>
    <p:extLst>
      <p:ext uri="{BB962C8B-B14F-4D97-AF65-F5344CB8AC3E}">
        <p14:creationId xmlns:p14="http://schemas.microsoft.com/office/powerpoint/2010/main" val="2886407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D55346-0C0F-BCE4-DB66-FE5029E5503A}"/>
              </a:ext>
            </a:extLst>
          </p:cNvPr>
          <p:cNvSpPr>
            <a:spLocks noGrp="1"/>
          </p:cNvSpPr>
          <p:nvPr>
            <p:ph type="title"/>
          </p:nvPr>
        </p:nvSpPr>
        <p:spPr/>
        <p:txBody>
          <a:bodyPr>
            <a:normAutofit fontScale="90000"/>
          </a:bodyPr>
          <a:lstStyle/>
          <a:p>
            <a:r>
              <a:rPr lang="en-US" altLang="zh-CN" dirty="0"/>
              <a:t>BJT</a:t>
            </a:r>
            <a:r>
              <a:rPr lang="zh-CN" altLang="en-US" dirty="0"/>
              <a:t>主要</a:t>
            </a:r>
            <a:r>
              <a:rPr lang="zh-CN" altLang="en-US" dirty="0">
                <a:latin typeface="宋体" panose="02010600030101010101" pitchFamily="2" charset="-122"/>
              </a:rPr>
              <a:t>性能</a:t>
            </a:r>
            <a:r>
              <a:rPr lang="zh-CN" altLang="en-US" dirty="0"/>
              <a:t>参数</a:t>
            </a:r>
            <a:endParaRPr kumimoji="1" lang="zh-CN" altLang="en-US" dirty="0"/>
          </a:p>
        </p:txBody>
      </p:sp>
      <p:sp>
        <p:nvSpPr>
          <p:cNvPr id="3" name="内容占位符 2">
            <a:extLst>
              <a:ext uri="{FF2B5EF4-FFF2-40B4-BE49-F238E27FC236}">
                <a16:creationId xmlns:a16="http://schemas.microsoft.com/office/drawing/2014/main" id="{B8649A76-071B-8164-E5E5-331ADA022B05}"/>
              </a:ext>
            </a:extLst>
          </p:cNvPr>
          <p:cNvSpPr>
            <a:spLocks noGrp="1"/>
          </p:cNvSpPr>
          <p:nvPr>
            <p:ph idx="1"/>
          </p:nvPr>
        </p:nvSpPr>
        <p:spPr/>
        <p:txBody>
          <a:bodyPr/>
          <a:lstStyle/>
          <a:p>
            <a:r>
              <a:rPr lang="zh-CN" altLang="en-US" sz="2800" dirty="0">
                <a:latin typeface="Times New Roman" panose="02020603050405020304" pitchFamily="18" charset="0"/>
              </a:rPr>
              <a:t>直流电流放大系数</a:t>
            </a:r>
          </a:p>
          <a:p>
            <a:endParaRPr lang="zh-CN" altLang="en-US" sz="2800" dirty="0">
              <a:latin typeface="Times New Roman" panose="02020603050405020304" pitchFamily="18" charset="0"/>
            </a:endParaRPr>
          </a:p>
          <a:p>
            <a:endParaRPr lang="zh-CN" altLang="en-US" sz="2800" dirty="0">
              <a:latin typeface="Times New Roman" panose="02020603050405020304" pitchFamily="18" charset="0"/>
            </a:endParaRPr>
          </a:p>
          <a:p>
            <a:r>
              <a:rPr lang="zh-CN" altLang="en-US" sz="2800" dirty="0">
                <a:latin typeface="Times New Roman" panose="02020603050405020304" pitchFamily="18" charset="0"/>
              </a:rPr>
              <a:t>交流电流放大倍数</a:t>
            </a:r>
          </a:p>
          <a:p>
            <a:pPr>
              <a:lnSpc>
                <a:spcPct val="130000"/>
              </a:lnSpc>
              <a:buFontTx/>
              <a:buNone/>
            </a:pPr>
            <a:r>
              <a:rPr kumimoji="1" lang="zh-CN" altLang="en-US" sz="2800" i="1" dirty="0">
                <a:solidFill>
                  <a:srgbClr val="000000"/>
                </a:solidFill>
                <a:latin typeface="Times New Roman" panose="02020603050405020304" pitchFamily="18" charset="0"/>
                <a:sym typeface="Symbol" panose="05050102010706020507" pitchFamily="18" charset="2"/>
              </a:rPr>
              <a:t>     </a:t>
            </a:r>
            <a:r>
              <a:rPr kumimoji="1" lang="en-US" altLang="zh-CN" sz="2800" dirty="0">
                <a:solidFill>
                  <a:srgbClr val="000000"/>
                </a:solidFill>
                <a:latin typeface="Times New Roman" panose="02020603050405020304" pitchFamily="18" charset="0"/>
              </a:rPr>
              <a:t>= </a:t>
            </a:r>
            <a:r>
              <a:rPr kumimoji="1" lang="en-US" altLang="zh-CN" sz="2800" dirty="0">
                <a:solidFill>
                  <a:srgbClr val="000000"/>
                </a:solidFill>
                <a:latin typeface="Times New Roman" panose="02020603050405020304" pitchFamily="18" charset="0"/>
                <a:sym typeface="Symbol" panose="05050102010706020507" pitchFamily="18" charset="2"/>
              </a:rPr>
              <a:t></a:t>
            </a:r>
            <a:r>
              <a:rPr kumimoji="1" lang="en-US" altLang="zh-CN" sz="2800" i="1" dirty="0">
                <a:solidFill>
                  <a:srgbClr val="000000"/>
                </a:solidFill>
                <a:latin typeface="Times New Roman" panose="02020603050405020304" pitchFamily="18" charset="0"/>
              </a:rPr>
              <a:t>I</a:t>
            </a:r>
            <a:r>
              <a:rPr kumimoji="1" lang="en-US" altLang="zh-CN" sz="2800" baseline="-25000" dirty="0">
                <a:solidFill>
                  <a:srgbClr val="000000"/>
                </a:solidFill>
                <a:latin typeface="Times New Roman" panose="02020603050405020304" pitchFamily="18" charset="0"/>
              </a:rPr>
              <a:t>C </a:t>
            </a:r>
            <a:r>
              <a:rPr kumimoji="1" lang="en-US" altLang="zh-CN" sz="2800" dirty="0">
                <a:solidFill>
                  <a:srgbClr val="000000"/>
                </a:solidFill>
                <a:latin typeface="Times New Roman" panose="02020603050405020304" pitchFamily="18" charset="0"/>
              </a:rPr>
              <a:t>/ </a:t>
            </a:r>
            <a:r>
              <a:rPr kumimoji="1" lang="en-US" altLang="zh-CN" sz="2800" dirty="0">
                <a:solidFill>
                  <a:srgbClr val="000000"/>
                </a:solidFill>
                <a:latin typeface="Times New Roman" panose="02020603050405020304" pitchFamily="18" charset="0"/>
                <a:sym typeface="Symbol" panose="05050102010706020507" pitchFamily="18" charset="2"/>
              </a:rPr>
              <a:t></a:t>
            </a:r>
            <a:r>
              <a:rPr kumimoji="1" lang="en-US" altLang="zh-CN" sz="2800" i="1" dirty="0">
                <a:solidFill>
                  <a:srgbClr val="000000"/>
                </a:solidFill>
                <a:latin typeface="Times New Roman" panose="02020603050405020304" pitchFamily="18" charset="0"/>
              </a:rPr>
              <a:t>I</a:t>
            </a:r>
            <a:r>
              <a:rPr kumimoji="1" lang="en-US" altLang="zh-CN" sz="2800" baseline="-25000" dirty="0">
                <a:solidFill>
                  <a:srgbClr val="000000"/>
                </a:solidFill>
                <a:latin typeface="Times New Roman" panose="02020603050405020304" pitchFamily="18" charset="0"/>
              </a:rPr>
              <a:t>B</a:t>
            </a:r>
          </a:p>
          <a:p>
            <a:endParaRPr kumimoji="1" lang="zh-CN" altLang="en-US" dirty="0"/>
          </a:p>
        </p:txBody>
      </p:sp>
      <p:sp>
        <p:nvSpPr>
          <p:cNvPr id="4" name="页脚占位符 3">
            <a:extLst>
              <a:ext uri="{FF2B5EF4-FFF2-40B4-BE49-F238E27FC236}">
                <a16:creationId xmlns:a16="http://schemas.microsoft.com/office/drawing/2014/main" id="{1F8B858F-5ECB-29B3-387E-2435E0111DF6}"/>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9F9B4F33-9934-DD56-C677-A588DDC59902}"/>
              </a:ext>
            </a:extLst>
          </p:cNvPr>
          <p:cNvSpPr>
            <a:spLocks noGrp="1"/>
          </p:cNvSpPr>
          <p:nvPr>
            <p:ph type="sldNum" sz="quarter" idx="12"/>
          </p:nvPr>
        </p:nvSpPr>
        <p:spPr/>
        <p:txBody>
          <a:bodyPr/>
          <a:lstStyle/>
          <a:p>
            <a:fld id="{9E260BC5-5BF3-8746-862B-DC45E9CAA88B}" type="slidenum">
              <a:rPr lang="en-US" smtClean="0"/>
              <a:pPr/>
              <a:t>17</a:t>
            </a:fld>
            <a:r>
              <a:rPr lang="en-US" altLang="zh-CN" dirty="0"/>
              <a:t>/33</a:t>
            </a:r>
            <a:endParaRPr lang="en-US" dirty="0"/>
          </a:p>
        </p:txBody>
      </p:sp>
      <p:grpSp>
        <p:nvGrpSpPr>
          <p:cNvPr id="6" name="Group 9">
            <a:extLst>
              <a:ext uri="{FF2B5EF4-FFF2-40B4-BE49-F238E27FC236}">
                <a16:creationId xmlns:a16="http://schemas.microsoft.com/office/drawing/2014/main" id="{37222964-22DB-6E00-E1AB-78FB23602B64}"/>
              </a:ext>
            </a:extLst>
          </p:cNvPr>
          <p:cNvGrpSpPr>
            <a:grpSpLocks/>
          </p:cNvGrpSpPr>
          <p:nvPr/>
        </p:nvGrpSpPr>
        <p:grpSpPr bwMode="auto">
          <a:xfrm>
            <a:off x="541628" y="1323237"/>
            <a:ext cx="1736725" cy="519112"/>
            <a:chOff x="544" y="1525"/>
            <a:chExt cx="1094" cy="327"/>
          </a:xfrm>
        </p:grpSpPr>
        <p:sp>
          <p:nvSpPr>
            <p:cNvPr id="7" name="Rectangle 10">
              <a:extLst>
                <a:ext uri="{FF2B5EF4-FFF2-40B4-BE49-F238E27FC236}">
                  <a16:creationId xmlns:a16="http://schemas.microsoft.com/office/drawing/2014/main" id="{F8101C7E-01BF-D85D-558F-FCC5DE4D77FC}"/>
                </a:ext>
              </a:extLst>
            </p:cNvPr>
            <p:cNvSpPr>
              <a:spLocks noChangeArrowheads="1"/>
            </p:cNvSpPr>
            <p:nvPr/>
          </p:nvSpPr>
          <p:spPr bwMode="auto">
            <a:xfrm>
              <a:off x="544" y="1525"/>
              <a:ext cx="1094"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i="1" dirty="0">
                  <a:solidFill>
                    <a:srgbClr val="000000"/>
                  </a:solidFill>
                  <a:latin typeface="Times New Roman" panose="02020603050405020304" pitchFamily="18" charset="0"/>
                  <a:sym typeface="Symbol" panose="05050102010706020507" pitchFamily="18" charset="2"/>
                </a:rPr>
                <a:t>  </a:t>
              </a:r>
              <a:r>
                <a:rPr kumimoji="1" lang="en-US" altLang="zh-CN" sz="2800" dirty="0">
                  <a:solidFill>
                    <a:srgbClr val="000000"/>
                  </a:solidFill>
                  <a:latin typeface="Times New Roman" panose="02020603050405020304" pitchFamily="18" charset="0"/>
                </a:rPr>
                <a:t>= </a:t>
              </a:r>
              <a:r>
                <a:rPr kumimoji="1" lang="en-US" altLang="zh-CN" sz="2800" i="1" dirty="0">
                  <a:solidFill>
                    <a:srgbClr val="000000"/>
                  </a:solidFill>
                  <a:latin typeface="Times New Roman" panose="02020603050405020304" pitchFamily="18" charset="0"/>
                </a:rPr>
                <a:t>I</a:t>
              </a:r>
              <a:r>
                <a:rPr kumimoji="1" lang="en-US" altLang="zh-CN" sz="2800" baseline="-25000" dirty="0">
                  <a:solidFill>
                    <a:srgbClr val="000000"/>
                  </a:solidFill>
                  <a:latin typeface="Times New Roman" panose="02020603050405020304" pitchFamily="18" charset="0"/>
                </a:rPr>
                <a:t>C</a:t>
              </a:r>
              <a:r>
                <a:rPr kumimoji="1" lang="en-US" altLang="zh-CN" sz="2800" dirty="0">
                  <a:solidFill>
                    <a:srgbClr val="000000"/>
                  </a:solidFill>
                  <a:latin typeface="Times New Roman" panose="02020603050405020304" pitchFamily="18" charset="0"/>
                </a:rPr>
                <a:t> / </a:t>
              </a:r>
              <a:r>
                <a:rPr kumimoji="1" lang="en-US" altLang="zh-CN" sz="2800" i="1" dirty="0">
                  <a:solidFill>
                    <a:srgbClr val="000000"/>
                  </a:solidFill>
                  <a:latin typeface="Times New Roman" panose="02020603050405020304" pitchFamily="18" charset="0"/>
                </a:rPr>
                <a:t>I</a:t>
              </a:r>
              <a:r>
                <a:rPr kumimoji="1" lang="en-US" altLang="zh-CN" sz="2800" baseline="-25000" dirty="0">
                  <a:solidFill>
                    <a:srgbClr val="000000"/>
                  </a:solidFill>
                  <a:latin typeface="Times New Roman" panose="02020603050405020304" pitchFamily="18" charset="0"/>
                </a:rPr>
                <a:t>B</a:t>
              </a:r>
              <a:endParaRPr kumimoji="1" lang="zh-CN" altLang="en-US" sz="2800" baseline="-25000" dirty="0">
                <a:solidFill>
                  <a:srgbClr val="000000"/>
                </a:solidFill>
                <a:latin typeface="Times New Roman" panose="02020603050405020304" pitchFamily="18" charset="0"/>
              </a:endParaRPr>
            </a:p>
          </p:txBody>
        </p:sp>
        <p:sp>
          <p:nvSpPr>
            <p:cNvPr id="8" name="Line 11">
              <a:extLst>
                <a:ext uri="{FF2B5EF4-FFF2-40B4-BE49-F238E27FC236}">
                  <a16:creationId xmlns:a16="http://schemas.microsoft.com/office/drawing/2014/main" id="{33938FFA-7FA3-6169-0B6E-AFBD830D555C}"/>
                </a:ext>
              </a:extLst>
            </p:cNvPr>
            <p:cNvSpPr>
              <a:spLocks noChangeShapeType="1"/>
            </p:cNvSpPr>
            <p:nvPr/>
          </p:nvSpPr>
          <p:spPr bwMode="auto">
            <a:xfrm>
              <a:off x="635" y="1570"/>
              <a:ext cx="15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pic>
        <p:nvPicPr>
          <p:cNvPr id="9" name="Picture 12">
            <a:extLst>
              <a:ext uri="{FF2B5EF4-FFF2-40B4-BE49-F238E27FC236}">
                <a16:creationId xmlns:a16="http://schemas.microsoft.com/office/drawing/2014/main" id="{987FAF42-3F22-5395-45AD-F9576A293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2852" y="1394674"/>
            <a:ext cx="4889500" cy="3446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0" name="Group 5">
            <a:extLst>
              <a:ext uri="{FF2B5EF4-FFF2-40B4-BE49-F238E27FC236}">
                <a16:creationId xmlns:a16="http://schemas.microsoft.com/office/drawing/2014/main" id="{9034C262-5E33-511A-D99C-679E727013BC}"/>
              </a:ext>
            </a:extLst>
          </p:cNvPr>
          <p:cNvGrpSpPr>
            <a:grpSpLocks/>
          </p:cNvGrpSpPr>
          <p:nvPr/>
        </p:nvGrpSpPr>
        <p:grpSpPr bwMode="auto">
          <a:xfrm>
            <a:off x="1689973" y="5362364"/>
            <a:ext cx="5689600" cy="649287"/>
            <a:chOff x="431" y="3475"/>
            <a:chExt cx="3584" cy="409"/>
          </a:xfrm>
          <a:solidFill>
            <a:schemeClr val="accent1">
              <a:lumMod val="20000"/>
              <a:lumOff val="80000"/>
            </a:schemeClr>
          </a:solidFill>
        </p:grpSpPr>
        <p:sp>
          <p:nvSpPr>
            <p:cNvPr id="11" name="Rectangle 6">
              <a:extLst>
                <a:ext uri="{FF2B5EF4-FFF2-40B4-BE49-F238E27FC236}">
                  <a16:creationId xmlns:a16="http://schemas.microsoft.com/office/drawing/2014/main" id="{89CA44A8-262B-005B-5606-7861F93D9B02}"/>
                </a:ext>
              </a:extLst>
            </p:cNvPr>
            <p:cNvSpPr>
              <a:spLocks noChangeArrowheads="1"/>
            </p:cNvSpPr>
            <p:nvPr/>
          </p:nvSpPr>
          <p:spPr bwMode="auto">
            <a:xfrm>
              <a:off x="431" y="3475"/>
              <a:ext cx="3584" cy="409"/>
            </a:xfrm>
            <a:prstGeom prst="rect">
              <a:avLst/>
            </a:prstGeom>
            <a:grpFill/>
            <a:ln w="28575">
              <a:solidFill>
                <a:schemeClr val="accent1">
                  <a:lumMod val="50000"/>
                </a:schemeClr>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aphicFrame>
          <p:nvGraphicFramePr>
            <p:cNvPr id="12" name="Object 7">
              <a:extLst>
                <a:ext uri="{FF2B5EF4-FFF2-40B4-BE49-F238E27FC236}">
                  <a16:creationId xmlns:a16="http://schemas.microsoft.com/office/drawing/2014/main" id="{6C1214A4-C62A-B4E3-A5FC-37D9EBAC3643}"/>
                </a:ext>
              </a:extLst>
            </p:cNvPr>
            <p:cNvGraphicFramePr>
              <a:graphicFrameLocks noChangeAspect="1"/>
            </p:cNvGraphicFramePr>
            <p:nvPr/>
          </p:nvGraphicFramePr>
          <p:xfrm>
            <a:off x="3016" y="3498"/>
            <a:ext cx="827" cy="362"/>
          </p:xfrm>
          <a:graphic>
            <a:graphicData uri="http://schemas.openxmlformats.org/presentationml/2006/ole">
              <mc:AlternateContent xmlns:mc="http://schemas.openxmlformats.org/markup-compatibility/2006">
                <mc:Choice xmlns:v="urn:schemas-microsoft-com:vml" Requires="v">
                  <p:oleObj name="Equation" r:id="rId4" imgW="431613" imgH="228501" progId="Equation.3">
                    <p:embed/>
                  </p:oleObj>
                </mc:Choice>
                <mc:Fallback>
                  <p:oleObj name="Equation" r:id="rId4" imgW="431613" imgH="228501" progId="Equation.3">
                    <p:embed/>
                    <p:pic>
                      <p:nvPicPr>
                        <p:cNvPr id="2766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6" y="3498"/>
                          <a:ext cx="827" cy="3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3" name="Rectangle 8">
              <a:extLst>
                <a:ext uri="{FF2B5EF4-FFF2-40B4-BE49-F238E27FC236}">
                  <a16:creationId xmlns:a16="http://schemas.microsoft.com/office/drawing/2014/main" id="{716AACDD-5B42-810E-6078-D94A979F331C}"/>
                </a:ext>
              </a:extLst>
            </p:cNvPr>
            <p:cNvSpPr>
              <a:spLocks noChangeArrowheads="1"/>
            </p:cNvSpPr>
            <p:nvPr/>
          </p:nvSpPr>
          <p:spPr bwMode="auto">
            <a:xfrm>
              <a:off x="673" y="3539"/>
              <a:ext cx="2102" cy="291"/>
            </a:xfrm>
            <a:prstGeom prst="rect">
              <a:avLst/>
            </a:prstGeom>
            <a:gr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在放大区相当大范围内</a:t>
              </a:r>
              <a:r>
                <a:rPr kumimoji="1" lang="en-US" altLang="zh-CN" sz="2400" b="0" dirty="0">
                  <a:latin typeface="Microsoft YaHei" panose="020B0503020204020204" pitchFamily="34" charset="-122"/>
                  <a:ea typeface="Microsoft YaHei" panose="020B0503020204020204" pitchFamily="34" charset="-122"/>
                </a:rPr>
                <a:t>:</a:t>
              </a:r>
            </a:p>
          </p:txBody>
        </p:sp>
      </p:grpSp>
    </p:spTree>
    <p:extLst>
      <p:ext uri="{BB962C8B-B14F-4D97-AF65-F5344CB8AC3E}">
        <p14:creationId xmlns:p14="http://schemas.microsoft.com/office/powerpoint/2010/main" val="2340172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741637-DFBB-80AE-E0D5-77B012C1C607}"/>
              </a:ext>
            </a:extLst>
          </p:cNvPr>
          <p:cNvSpPr>
            <a:spLocks noGrp="1"/>
          </p:cNvSpPr>
          <p:nvPr>
            <p:ph type="title"/>
          </p:nvPr>
        </p:nvSpPr>
        <p:spPr/>
        <p:txBody>
          <a:bodyPr>
            <a:normAutofit fontScale="90000"/>
          </a:bodyPr>
          <a:lstStyle/>
          <a:p>
            <a:r>
              <a:rPr lang="en-US" altLang="zh-CN" dirty="0"/>
              <a:t>BJT</a:t>
            </a:r>
            <a:r>
              <a:rPr lang="zh-CN" altLang="en-US" dirty="0"/>
              <a:t>主要性能参数</a:t>
            </a:r>
            <a:r>
              <a:rPr lang="en-US" altLang="zh-CN" dirty="0"/>
              <a:t>(</a:t>
            </a:r>
            <a:r>
              <a:rPr lang="zh-CN" altLang="en-US" dirty="0"/>
              <a:t>续</a:t>
            </a:r>
            <a:r>
              <a:rPr lang="en-US" altLang="zh-CN" dirty="0"/>
              <a:t>)</a:t>
            </a:r>
            <a:endParaRPr kumimoji="1" lang="zh-CN" altLang="en-US" dirty="0"/>
          </a:p>
        </p:txBody>
      </p:sp>
      <p:sp>
        <p:nvSpPr>
          <p:cNvPr id="3" name="内容占位符 2">
            <a:extLst>
              <a:ext uri="{FF2B5EF4-FFF2-40B4-BE49-F238E27FC236}">
                <a16:creationId xmlns:a16="http://schemas.microsoft.com/office/drawing/2014/main" id="{C1D4B997-C273-24FE-526B-C160031CAF3E}"/>
              </a:ext>
            </a:extLst>
          </p:cNvPr>
          <p:cNvSpPr>
            <a:spLocks noGrp="1"/>
          </p:cNvSpPr>
          <p:nvPr>
            <p:ph idx="1"/>
          </p:nvPr>
        </p:nvSpPr>
        <p:spPr>
          <a:xfrm>
            <a:off x="17780" y="585760"/>
            <a:ext cx="4657251" cy="5947119"/>
          </a:xfrm>
        </p:spPr>
        <p:txBody>
          <a:bodyPr/>
          <a:lstStyle/>
          <a:p>
            <a:r>
              <a:rPr kumimoji="1" lang="zh-CN" altLang="en-US" sz="2800" dirty="0">
                <a:latin typeface="Times New Roman" panose="02020603050405020304" pitchFamily="18" charset="0"/>
              </a:rPr>
              <a:t>集电极最大允许电流</a:t>
            </a:r>
            <a:r>
              <a:rPr kumimoji="1" lang="en-US" altLang="zh-CN" sz="2800" i="1" dirty="0">
                <a:latin typeface="Times New Roman" panose="02020603050405020304" pitchFamily="18" charset="0"/>
              </a:rPr>
              <a:t>I</a:t>
            </a:r>
            <a:r>
              <a:rPr kumimoji="1" lang="en-US" altLang="zh-CN" sz="1400" dirty="0">
                <a:latin typeface="Times New Roman" panose="02020603050405020304" pitchFamily="18" charset="0"/>
              </a:rPr>
              <a:t>CM</a:t>
            </a:r>
          </a:p>
          <a:p>
            <a:r>
              <a:rPr kumimoji="1" lang="zh-CN" altLang="en-US" sz="2800" dirty="0">
                <a:latin typeface="Times New Roman" panose="02020603050405020304" pitchFamily="18" charset="0"/>
              </a:rPr>
              <a:t>集电极最大允许功耗</a:t>
            </a:r>
            <a:r>
              <a:rPr kumimoji="1" lang="en-US" altLang="zh-CN" sz="2800" i="1" dirty="0">
                <a:latin typeface="Times New Roman" panose="02020603050405020304" pitchFamily="18" charset="0"/>
              </a:rPr>
              <a:t>P</a:t>
            </a:r>
            <a:r>
              <a:rPr kumimoji="1" lang="en-US" altLang="zh-CN" sz="1600" dirty="0">
                <a:latin typeface="Times New Roman" panose="02020603050405020304" pitchFamily="18" charset="0"/>
              </a:rPr>
              <a:t>CM</a:t>
            </a:r>
          </a:p>
          <a:p>
            <a:pPr>
              <a:buFontTx/>
              <a:buNone/>
            </a:pPr>
            <a:r>
              <a:rPr kumimoji="1" lang="en-US" altLang="zh-CN" sz="2800" i="1" dirty="0">
                <a:latin typeface="Times New Roman" panose="02020603050405020304" pitchFamily="18" charset="0"/>
              </a:rPr>
              <a:t>      P</a:t>
            </a:r>
            <a:r>
              <a:rPr kumimoji="1" lang="en-US" altLang="zh-CN" sz="1600" dirty="0">
                <a:latin typeface="Times New Roman" panose="02020603050405020304" pitchFamily="18" charset="0"/>
              </a:rPr>
              <a:t>CM </a:t>
            </a:r>
            <a:r>
              <a:rPr kumimoji="1" lang="en-US" altLang="zh-CN" sz="2000" dirty="0">
                <a:latin typeface="Times New Roman" panose="02020603050405020304" pitchFamily="18" charset="0"/>
              </a:rPr>
              <a:t>= </a:t>
            </a:r>
            <a:r>
              <a:rPr kumimoji="1" lang="en-US" altLang="zh-CN" sz="2800" i="1" dirty="0">
                <a:latin typeface="Times New Roman" panose="02020603050405020304" pitchFamily="18" charset="0"/>
              </a:rPr>
              <a:t>V</a:t>
            </a:r>
            <a:r>
              <a:rPr kumimoji="1" lang="en-US" altLang="zh-CN" sz="1600" dirty="0">
                <a:latin typeface="Times New Roman" panose="02020603050405020304" pitchFamily="18" charset="0"/>
              </a:rPr>
              <a:t>CE</a:t>
            </a:r>
            <a:r>
              <a:rPr kumimoji="1" lang="en-US" altLang="zh-CN" sz="2800" dirty="0">
                <a:latin typeface="Times New Roman" panose="02020603050405020304" pitchFamily="18" charset="0"/>
              </a:rPr>
              <a:t>*</a:t>
            </a:r>
            <a:r>
              <a:rPr kumimoji="1" lang="en-US" altLang="zh-CN" sz="2800" i="1" dirty="0">
                <a:latin typeface="Times New Roman" panose="02020603050405020304" pitchFamily="18" charset="0"/>
              </a:rPr>
              <a:t>I</a:t>
            </a:r>
            <a:r>
              <a:rPr kumimoji="1" lang="en-US" altLang="zh-CN" sz="1600" dirty="0">
                <a:latin typeface="Times New Roman" panose="02020603050405020304" pitchFamily="18" charset="0"/>
              </a:rPr>
              <a:t>C</a:t>
            </a:r>
            <a:endParaRPr kumimoji="1" lang="zh-CN" altLang="en-US" sz="1800" dirty="0">
              <a:latin typeface="Times New Roman" panose="02020603050405020304" pitchFamily="18" charset="0"/>
            </a:endParaRPr>
          </a:p>
          <a:p>
            <a:r>
              <a:rPr kumimoji="1" lang="zh-CN" altLang="en-US" sz="2800" dirty="0">
                <a:latin typeface="Times New Roman" panose="02020603050405020304" pitchFamily="18" charset="0"/>
              </a:rPr>
              <a:t>反向击穿电压</a:t>
            </a:r>
          </a:p>
          <a:p>
            <a:pPr lvl="1"/>
            <a:r>
              <a:rPr kumimoji="1" lang="en-US" altLang="zh-CN" i="1" dirty="0">
                <a:latin typeface="Times New Roman" panose="02020603050405020304" pitchFamily="18" charset="0"/>
              </a:rPr>
              <a:t>V</a:t>
            </a:r>
            <a:r>
              <a:rPr kumimoji="1" lang="en-US" altLang="zh-CN" sz="2400" baseline="-5000" dirty="0">
                <a:latin typeface="Times New Roman" panose="02020603050405020304" pitchFamily="18" charset="0"/>
              </a:rPr>
              <a:t>(BR) CEO</a:t>
            </a:r>
            <a:r>
              <a:rPr kumimoji="1" lang="zh-CN" altLang="en-US" sz="1600" dirty="0">
                <a:latin typeface="Times New Roman" panose="02020603050405020304" pitchFamily="18" charset="0"/>
              </a:rPr>
              <a:t>：</a:t>
            </a:r>
            <a:r>
              <a:rPr kumimoji="1" lang="zh-CN" altLang="en-US" sz="2400" dirty="0">
                <a:latin typeface="Times New Roman" panose="02020603050405020304" pitchFamily="18" charset="0"/>
              </a:rPr>
              <a:t>基极开路时，集电极和发射极间的击穿电压</a:t>
            </a:r>
          </a:p>
          <a:p>
            <a:endParaRPr kumimoji="1" lang="zh-CN" altLang="en-US" dirty="0"/>
          </a:p>
        </p:txBody>
      </p:sp>
      <p:sp>
        <p:nvSpPr>
          <p:cNvPr id="4" name="页脚占位符 3">
            <a:extLst>
              <a:ext uri="{FF2B5EF4-FFF2-40B4-BE49-F238E27FC236}">
                <a16:creationId xmlns:a16="http://schemas.microsoft.com/office/drawing/2014/main" id="{9681E814-F914-ACBB-F9D2-44C582C21BB3}"/>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576B9C48-56B6-942D-9DB5-EB31926ED710}"/>
              </a:ext>
            </a:extLst>
          </p:cNvPr>
          <p:cNvSpPr>
            <a:spLocks noGrp="1"/>
          </p:cNvSpPr>
          <p:nvPr>
            <p:ph type="sldNum" sz="quarter" idx="12"/>
          </p:nvPr>
        </p:nvSpPr>
        <p:spPr/>
        <p:txBody>
          <a:bodyPr/>
          <a:lstStyle/>
          <a:p>
            <a:fld id="{9E260BC5-5BF3-8746-862B-DC45E9CAA88B}" type="slidenum">
              <a:rPr lang="en-US" smtClean="0"/>
              <a:pPr/>
              <a:t>18</a:t>
            </a:fld>
            <a:r>
              <a:rPr lang="en-US" altLang="zh-CN" dirty="0"/>
              <a:t>/33</a:t>
            </a:r>
            <a:endParaRPr lang="en-US" dirty="0"/>
          </a:p>
        </p:txBody>
      </p:sp>
      <p:pic>
        <p:nvPicPr>
          <p:cNvPr id="6" name="Picture 7">
            <a:extLst>
              <a:ext uri="{FF2B5EF4-FFF2-40B4-BE49-F238E27FC236}">
                <a16:creationId xmlns:a16="http://schemas.microsoft.com/office/drawing/2014/main" id="{221EC277-D659-38A3-5613-0ED3674FB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5377" y="1234489"/>
            <a:ext cx="5148262" cy="3729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8">
            <a:extLst>
              <a:ext uri="{FF2B5EF4-FFF2-40B4-BE49-F238E27FC236}">
                <a16:creationId xmlns:a16="http://schemas.microsoft.com/office/drawing/2014/main" id="{3D12238A-D509-AE3B-EAFD-8E0F67796B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9323" y="5257983"/>
            <a:ext cx="4171950" cy="495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3125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43361CFC-69F9-EDA2-2EC9-2C5A4C7B3227}"/>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341ECEAB-0425-8B4E-8063-F113B72048A7}"/>
              </a:ext>
            </a:extLst>
          </p:cNvPr>
          <p:cNvSpPr>
            <a:spLocks noGrp="1"/>
          </p:cNvSpPr>
          <p:nvPr>
            <p:ph type="sldNum" sz="quarter" idx="12"/>
          </p:nvPr>
        </p:nvSpPr>
        <p:spPr/>
        <p:txBody>
          <a:bodyPr/>
          <a:lstStyle/>
          <a:p>
            <a:fld id="{9E260BC5-5BF3-8746-862B-DC45E9CAA88B}" type="slidenum">
              <a:rPr lang="en-US" smtClean="0"/>
              <a:pPr/>
              <a:t>19</a:t>
            </a:fld>
            <a:r>
              <a:rPr lang="en-US" altLang="zh-CN" dirty="0"/>
              <a:t>/33</a:t>
            </a:r>
            <a:endParaRPr lang="en-US" dirty="0"/>
          </a:p>
        </p:txBody>
      </p:sp>
      <p:pic>
        <p:nvPicPr>
          <p:cNvPr id="6" name="Picture 50">
            <a:extLst>
              <a:ext uri="{FF2B5EF4-FFF2-40B4-BE49-F238E27FC236}">
                <a16:creationId xmlns:a16="http://schemas.microsoft.com/office/drawing/2014/main" id="{2FAC3EBB-7C31-E667-EB7E-D39702254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9576" y="727129"/>
            <a:ext cx="2800536" cy="2213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Line 35">
            <a:extLst>
              <a:ext uri="{FF2B5EF4-FFF2-40B4-BE49-F238E27FC236}">
                <a16:creationId xmlns:a16="http://schemas.microsoft.com/office/drawing/2014/main" id="{D8780C90-DE49-DDBC-FEDD-CE152E7601A1}"/>
              </a:ext>
            </a:extLst>
          </p:cNvPr>
          <p:cNvSpPr>
            <a:spLocks noChangeShapeType="1"/>
          </p:cNvSpPr>
          <p:nvPr/>
        </p:nvSpPr>
        <p:spPr bwMode="auto">
          <a:xfrm flipV="1">
            <a:off x="6056141" y="2553557"/>
            <a:ext cx="2898775" cy="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8" name="Text Box 39">
            <a:extLst>
              <a:ext uri="{FF2B5EF4-FFF2-40B4-BE49-F238E27FC236}">
                <a16:creationId xmlns:a16="http://schemas.microsoft.com/office/drawing/2014/main" id="{4FABAB9A-6952-E279-B4B4-2A0D4E8E1328}"/>
              </a:ext>
            </a:extLst>
          </p:cNvPr>
          <p:cNvSpPr txBox="1">
            <a:spLocks noChangeArrowheads="1"/>
          </p:cNvSpPr>
          <p:nvPr/>
        </p:nvSpPr>
        <p:spPr bwMode="auto">
          <a:xfrm>
            <a:off x="8270704" y="1918557"/>
            <a:ext cx="671512" cy="438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 </a:t>
            </a:r>
            <a:r>
              <a:rPr kumimoji="1" lang="en-US" altLang="zh-CN" sz="2400">
                <a:latin typeface="Times New Roman" panose="02020603050405020304" pitchFamily="18" charset="0"/>
                <a:ea typeface="长城楷体" pitchFamily="49" charset="-122"/>
              </a:rPr>
              <a:t>= 0</a:t>
            </a:r>
          </a:p>
        </p:txBody>
      </p:sp>
      <p:grpSp>
        <p:nvGrpSpPr>
          <p:cNvPr id="9" name="Group 105">
            <a:extLst>
              <a:ext uri="{FF2B5EF4-FFF2-40B4-BE49-F238E27FC236}">
                <a16:creationId xmlns:a16="http://schemas.microsoft.com/office/drawing/2014/main" id="{9676E312-EE42-27A1-136B-3B3915D2CB87}"/>
              </a:ext>
            </a:extLst>
          </p:cNvPr>
          <p:cNvGrpSpPr>
            <a:grpSpLocks/>
          </p:cNvGrpSpPr>
          <p:nvPr/>
        </p:nvGrpSpPr>
        <p:grpSpPr bwMode="auto">
          <a:xfrm>
            <a:off x="6280417" y="1999637"/>
            <a:ext cx="2552700" cy="536576"/>
            <a:chOff x="3428" y="3300"/>
            <a:chExt cx="1608" cy="338"/>
          </a:xfrm>
        </p:grpSpPr>
        <p:grpSp>
          <p:nvGrpSpPr>
            <p:cNvPr id="10" name="Group 40">
              <a:extLst>
                <a:ext uri="{FF2B5EF4-FFF2-40B4-BE49-F238E27FC236}">
                  <a16:creationId xmlns:a16="http://schemas.microsoft.com/office/drawing/2014/main" id="{82B636D7-0873-7ECA-28C2-08EE4E740945}"/>
                </a:ext>
              </a:extLst>
            </p:cNvPr>
            <p:cNvGrpSpPr>
              <a:grpSpLocks/>
            </p:cNvGrpSpPr>
            <p:nvPr/>
          </p:nvGrpSpPr>
          <p:grpSpPr bwMode="auto">
            <a:xfrm>
              <a:off x="3428" y="3574"/>
              <a:ext cx="1608" cy="64"/>
              <a:chOff x="2993" y="3543"/>
              <a:chExt cx="1929" cy="69"/>
            </a:xfrm>
          </p:grpSpPr>
          <p:sp>
            <p:nvSpPr>
              <p:cNvPr id="12" name="Line 41">
                <a:extLst>
                  <a:ext uri="{FF2B5EF4-FFF2-40B4-BE49-F238E27FC236}">
                    <a16:creationId xmlns:a16="http://schemas.microsoft.com/office/drawing/2014/main" id="{53C645A5-76BA-5825-4C8F-17B6D4089CAA}"/>
                  </a:ext>
                </a:extLst>
              </p:cNvPr>
              <p:cNvSpPr>
                <a:spLocks noChangeShapeType="1"/>
              </p:cNvSpPr>
              <p:nvPr/>
            </p:nvSpPr>
            <p:spPr bwMode="auto">
              <a:xfrm flipV="1">
                <a:off x="2993"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 name="Line 42">
                <a:extLst>
                  <a:ext uri="{FF2B5EF4-FFF2-40B4-BE49-F238E27FC236}">
                    <a16:creationId xmlns:a16="http://schemas.microsoft.com/office/drawing/2014/main" id="{D8821BFA-0121-E221-5D8E-2545889C6BAD}"/>
                  </a:ext>
                </a:extLst>
              </p:cNvPr>
              <p:cNvSpPr>
                <a:spLocks noChangeShapeType="1"/>
              </p:cNvSpPr>
              <p:nvPr/>
            </p:nvSpPr>
            <p:spPr bwMode="auto">
              <a:xfrm flipV="1">
                <a:off x="3084"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43">
                <a:extLst>
                  <a:ext uri="{FF2B5EF4-FFF2-40B4-BE49-F238E27FC236}">
                    <a16:creationId xmlns:a16="http://schemas.microsoft.com/office/drawing/2014/main" id="{D1A2B691-E54D-FB4B-FA00-703B4CEA3A86}"/>
                  </a:ext>
                </a:extLst>
              </p:cNvPr>
              <p:cNvSpPr>
                <a:spLocks noChangeShapeType="1"/>
              </p:cNvSpPr>
              <p:nvPr/>
            </p:nvSpPr>
            <p:spPr bwMode="auto">
              <a:xfrm flipV="1">
                <a:off x="317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Line 44">
                <a:extLst>
                  <a:ext uri="{FF2B5EF4-FFF2-40B4-BE49-F238E27FC236}">
                    <a16:creationId xmlns:a16="http://schemas.microsoft.com/office/drawing/2014/main" id="{34061E67-1EAE-1157-F629-BBFC8318A197}"/>
                  </a:ext>
                </a:extLst>
              </p:cNvPr>
              <p:cNvSpPr>
                <a:spLocks noChangeShapeType="1"/>
              </p:cNvSpPr>
              <p:nvPr/>
            </p:nvSpPr>
            <p:spPr bwMode="auto">
              <a:xfrm flipV="1">
                <a:off x="326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6" name="Line 45">
                <a:extLst>
                  <a:ext uri="{FF2B5EF4-FFF2-40B4-BE49-F238E27FC236}">
                    <a16:creationId xmlns:a16="http://schemas.microsoft.com/office/drawing/2014/main" id="{EB30DF12-ADFF-3134-3B04-F935C8FE5379}"/>
                  </a:ext>
                </a:extLst>
              </p:cNvPr>
              <p:cNvSpPr>
                <a:spLocks noChangeShapeType="1"/>
              </p:cNvSpPr>
              <p:nvPr/>
            </p:nvSpPr>
            <p:spPr bwMode="auto">
              <a:xfrm flipV="1">
                <a:off x="335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 name="Line 46">
                <a:extLst>
                  <a:ext uri="{FF2B5EF4-FFF2-40B4-BE49-F238E27FC236}">
                    <a16:creationId xmlns:a16="http://schemas.microsoft.com/office/drawing/2014/main" id="{AEB9F918-81BA-287D-2B12-427739E2B6DB}"/>
                  </a:ext>
                </a:extLst>
              </p:cNvPr>
              <p:cNvSpPr>
                <a:spLocks noChangeShapeType="1"/>
              </p:cNvSpPr>
              <p:nvPr/>
            </p:nvSpPr>
            <p:spPr bwMode="auto">
              <a:xfrm flipV="1">
                <a:off x="344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 name="Line 47">
                <a:extLst>
                  <a:ext uri="{FF2B5EF4-FFF2-40B4-BE49-F238E27FC236}">
                    <a16:creationId xmlns:a16="http://schemas.microsoft.com/office/drawing/2014/main" id="{C01EF769-FD0A-2BBA-9107-7EA7209F28DA}"/>
                  </a:ext>
                </a:extLst>
              </p:cNvPr>
              <p:cNvSpPr>
                <a:spLocks noChangeShapeType="1"/>
              </p:cNvSpPr>
              <p:nvPr/>
            </p:nvSpPr>
            <p:spPr bwMode="auto">
              <a:xfrm flipV="1">
                <a:off x="353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9" name="Line 48">
                <a:extLst>
                  <a:ext uri="{FF2B5EF4-FFF2-40B4-BE49-F238E27FC236}">
                    <a16:creationId xmlns:a16="http://schemas.microsoft.com/office/drawing/2014/main" id="{E93C62D1-F136-071B-2C00-74019448CE21}"/>
                  </a:ext>
                </a:extLst>
              </p:cNvPr>
              <p:cNvSpPr>
                <a:spLocks noChangeShapeType="1"/>
              </p:cNvSpPr>
              <p:nvPr/>
            </p:nvSpPr>
            <p:spPr bwMode="auto">
              <a:xfrm flipV="1">
                <a:off x="3629"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0" name="Line 49">
                <a:extLst>
                  <a:ext uri="{FF2B5EF4-FFF2-40B4-BE49-F238E27FC236}">
                    <a16:creationId xmlns:a16="http://schemas.microsoft.com/office/drawing/2014/main" id="{3C17CC7B-E4EC-7087-5A96-5F0E20036414}"/>
                  </a:ext>
                </a:extLst>
              </p:cNvPr>
              <p:cNvSpPr>
                <a:spLocks noChangeShapeType="1"/>
              </p:cNvSpPr>
              <p:nvPr/>
            </p:nvSpPr>
            <p:spPr bwMode="auto">
              <a:xfrm flipV="1">
                <a:off x="371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1" name="Line 50">
                <a:extLst>
                  <a:ext uri="{FF2B5EF4-FFF2-40B4-BE49-F238E27FC236}">
                    <a16:creationId xmlns:a16="http://schemas.microsoft.com/office/drawing/2014/main" id="{D8A14A9F-471C-BF6E-E891-964AB87F3AA2}"/>
                  </a:ext>
                </a:extLst>
              </p:cNvPr>
              <p:cNvSpPr>
                <a:spLocks noChangeShapeType="1"/>
              </p:cNvSpPr>
              <p:nvPr/>
            </p:nvSpPr>
            <p:spPr bwMode="auto">
              <a:xfrm flipV="1">
                <a:off x="3810"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51">
                <a:extLst>
                  <a:ext uri="{FF2B5EF4-FFF2-40B4-BE49-F238E27FC236}">
                    <a16:creationId xmlns:a16="http://schemas.microsoft.com/office/drawing/2014/main" id="{4C26BBDF-8B5F-099F-5FD5-ED24A5BA4B0C}"/>
                  </a:ext>
                </a:extLst>
              </p:cNvPr>
              <p:cNvSpPr>
                <a:spLocks noChangeShapeType="1"/>
              </p:cNvSpPr>
              <p:nvPr/>
            </p:nvSpPr>
            <p:spPr bwMode="auto">
              <a:xfrm flipV="1">
                <a:off x="3901"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3" name="Line 52">
                <a:extLst>
                  <a:ext uri="{FF2B5EF4-FFF2-40B4-BE49-F238E27FC236}">
                    <a16:creationId xmlns:a16="http://schemas.microsoft.com/office/drawing/2014/main" id="{B72AF4D5-A989-C07B-A478-C64E4C99B162}"/>
                  </a:ext>
                </a:extLst>
              </p:cNvPr>
              <p:cNvSpPr>
                <a:spLocks noChangeShapeType="1"/>
              </p:cNvSpPr>
              <p:nvPr/>
            </p:nvSpPr>
            <p:spPr bwMode="auto">
              <a:xfrm flipV="1">
                <a:off x="3992"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4" name="Line 53">
                <a:extLst>
                  <a:ext uri="{FF2B5EF4-FFF2-40B4-BE49-F238E27FC236}">
                    <a16:creationId xmlns:a16="http://schemas.microsoft.com/office/drawing/2014/main" id="{ECE2F233-643A-ACF4-7BC1-5C9828CC98FD}"/>
                  </a:ext>
                </a:extLst>
              </p:cNvPr>
              <p:cNvSpPr>
                <a:spLocks noChangeShapeType="1"/>
              </p:cNvSpPr>
              <p:nvPr/>
            </p:nvSpPr>
            <p:spPr bwMode="auto">
              <a:xfrm flipV="1">
                <a:off x="406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5" name="Line 54">
                <a:extLst>
                  <a:ext uri="{FF2B5EF4-FFF2-40B4-BE49-F238E27FC236}">
                    <a16:creationId xmlns:a16="http://schemas.microsoft.com/office/drawing/2014/main" id="{FE6DA1A4-4925-C571-880D-07905892344C}"/>
                  </a:ext>
                </a:extLst>
              </p:cNvPr>
              <p:cNvSpPr>
                <a:spLocks noChangeShapeType="1"/>
              </p:cNvSpPr>
              <p:nvPr/>
            </p:nvSpPr>
            <p:spPr bwMode="auto">
              <a:xfrm flipV="1">
                <a:off x="4173"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6" name="Line 55">
                <a:extLst>
                  <a:ext uri="{FF2B5EF4-FFF2-40B4-BE49-F238E27FC236}">
                    <a16:creationId xmlns:a16="http://schemas.microsoft.com/office/drawing/2014/main" id="{B1581919-782E-E67F-6DCF-EF35E3FFC316}"/>
                  </a:ext>
                </a:extLst>
              </p:cNvPr>
              <p:cNvSpPr>
                <a:spLocks noChangeShapeType="1"/>
              </p:cNvSpPr>
              <p:nvPr/>
            </p:nvSpPr>
            <p:spPr bwMode="auto">
              <a:xfrm flipV="1">
                <a:off x="4264"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7" name="Line 56">
                <a:extLst>
                  <a:ext uri="{FF2B5EF4-FFF2-40B4-BE49-F238E27FC236}">
                    <a16:creationId xmlns:a16="http://schemas.microsoft.com/office/drawing/2014/main" id="{AC0100A2-CCFC-B6FB-8122-5656DFC50E86}"/>
                  </a:ext>
                </a:extLst>
              </p:cNvPr>
              <p:cNvSpPr>
                <a:spLocks noChangeShapeType="1"/>
              </p:cNvSpPr>
              <p:nvPr/>
            </p:nvSpPr>
            <p:spPr bwMode="auto">
              <a:xfrm flipV="1">
                <a:off x="4355"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8" name="Line 57">
                <a:extLst>
                  <a:ext uri="{FF2B5EF4-FFF2-40B4-BE49-F238E27FC236}">
                    <a16:creationId xmlns:a16="http://schemas.microsoft.com/office/drawing/2014/main" id="{4D12421C-1A7D-3997-402A-B5144C7C0FC2}"/>
                  </a:ext>
                </a:extLst>
              </p:cNvPr>
              <p:cNvSpPr>
                <a:spLocks noChangeShapeType="1"/>
              </p:cNvSpPr>
              <p:nvPr/>
            </p:nvSpPr>
            <p:spPr bwMode="auto">
              <a:xfrm flipV="1">
                <a:off x="444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9" name="Line 58">
                <a:extLst>
                  <a:ext uri="{FF2B5EF4-FFF2-40B4-BE49-F238E27FC236}">
                    <a16:creationId xmlns:a16="http://schemas.microsoft.com/office/drawing/2014/main" id="{A714EC7C-4083-D47F-19E2-768BDEFE3710}"/>
                  </a:ext>
                </a:extLst>
              </p:cNvPr>
              <p:cNvSpPr>
                <a:spLocks noChangeShapeType="1"/>
              </p:cNvSpPr>
              <p:nvPr/>
            </p:nvSpPr>
            <p:spPr bwMode="auto">
              <a:xfrm flipV="1">
                <a:off x="453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0" name="Line 59">
                <a:extLst>
                  <a:ext uri="{FF2B5EF4-FFF2-40B4-BE49-F238E27FC236}">
                    <a16:creationId xmlns:a16="http://schemas.microsoft.com/office/drawing/2014/main" id="{30D6BC3E-BAC3-C61F-4DB7-14BEAC9E675B}"/>
                  </a:ext>
                </a:extLst>
              </p:cNvPr>
              <p:cNvSpPr>
                <a:spLocks noChangeShapeType="1"/>
              </p:cNvSpPr>
              <p:nvPr/>
            </p:nvSpPr>
            <p:spPr bwMode="auto">
              <a:xfrm flipV="1">
                <a:off x="462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1" name="Line 60">
                <a:extLst>
                  <a:ext uri="{FF2B5EF4-FFF2-40B4-BE49-F238E27FC236}">
                    <a16:creationId xmlns:a16="http://schemas.microsoft.com/office/drawing/2014/main" id="{FFB0BBC2-5FBA-9A21-58BC-BB243953492E}"/>
                  </a:ext>
                </a:extLst>
              </p:cNvPr>
              <p:cNvSpPr>
                <a:spLocks noChangeShapeType="1"/>
              </p:cNvSpPr>
              <p:nvPr/>
            </p:nvSpPr>
            <p:spPr bwMode="auto">
              <a:xfrm flipV="1">
                <a:off x="471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2" name="Line 61">
                <a:extLst>
                  <a:ext uri="{FF2B5EF4-FFF2-40B4-BE49-F238E27FC236}">
                    <a16:creationId xmlns:a16="http://schemas.microsoft.com/office/drawing/2014/main" id="{99173923-1509-5AC1-EC8A-49F90F2F66E9}"/>
                  </a:ext>
                </a:extLst>
              </p:cNvPr>
              <p:cNvSpPr>
                <a:spLocks noChangeShapeType="1"/>
              </p:cNvSpPr>
              <p:nvPr/>
            </p:nvSpPr>
            <p:spPr bwMode="auto">
              <a:xfrm flipV="1">
                <a:off x="480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11" name="Rectangle 28">
              <a:extLst>
                <a:ext uri="{FF2B5EF4-FFF2-40B4-BE49-F238E27FC236}">
                  <a16:creationId xmlns:a16="http://schemas.microsoft.com/office/drawing/2014/main" id="{CFF37426-4503-7098-6D0D-D547998B64EA}"/>
                </a:ext>
              </a:extLst>
            </p:cNvPr>
            <p:cNvSpPr>
              <a:spLocks noChangeArrowheads="1"/>
            </p:cNvSpPr>
            <p:nvPr/>
          </p:nvSpPr>
          <p:spPr bwMode="auto">
            <a:xfrm>
              <a:off x="3931" y="3300"/>
              <a:ext cx="69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solidFill>
                    <a:srgbClr val="FF3300"/>
                  </a:solidFill>
                </a:rPr>
                <a:t>截止区</a:t>
              </a:r>
            </a:p>
          </p:txBody>
        </p:sp>
      </p:grpSp>
      <p:sp>
        <p:nvSpPr>
          <p:cNvPr id="33" name="Rectangle 10">
            <a:extLst>
              <a:ext uri="{FF2B5EF4-FFF2-40B4-BE49-F238E27FC236}">
                <a16:creationId xmlns:a16="http://schemas.microsoft.com/office/drawing/2014/main" id="{1D8601D3-B3FB-7578-4ADD-3C29726584F7}"/>
              </a:ext>
            </a:extLst>
          </p:cNvPr>
          <p:cNvSpPr>
            <a:spLocks noChangeArrowheads="1"/>
          </p:cNvSpPr>
          <p:nvPr/>
        </p:nvSpPr>
        <p:spPr bwMode="auto">
          <a:xfrm>
            <a:off x="7092779" y="1316895"/>
            <a:ext cx="11033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放大区</a:t>
            </a:r>
          </a:p>
        </p:txBody>
      </p:sp>
      <p:sp>
        <p:nvSpPr>
          <p:cNvPr id="34" name="Rectangle 11">
            <a:extLst>
              <a:ext uri="{FF2B5EF4-FFF2-40B4-BE49-F238E27FC236}">
                <a16:creationId xmlns:a16="http://schemas.microsoft.com/office/drawing/2014/main" id="{C1F96040-6371-167E-227F-B11EFD7A7343}"/>
              </a:ext>
            </a:extLst>
          </p:cNvPr>
          <p:cNvSpPr>
            <a:spLocks noChangeArrowheads="1"/>
          </p:cNvSpPr>
          <p:nvPr/>
        </p:nvSpPr>
        <p:spPr bwMode="auto">
          <a:xfrm>
            <a:off x="6120075" y="23434"/>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0000FF"/>
                </a:solidFill>
              </a:rPr>
              <a:t>饱和区</a:t>
            </a:r>
          </a:p>
        </p:txBody>
      </p:sp>
      <p:sp>
        <p:nvSpPr>
          <p:cNvPr id="35" name="Text Box 30">
            <a:extLst>
              <a:ext uri="{FF2B5EF4-FFF2-40B4-BE49-F238E27FC236}">
                <a16:creationId xmlns:a16="http://schemas.microsoft.com/office/drawing/2014/main" id="{287F3C1B-B8D7-D3E6-5BE0-1FEEA19E7F74}"/>
              </a:ext>
            </a:extLst>
          </p:cNvPr>
          <p:cNvSpPr txBox="1">
            <a:spLocks noChangeArrowheads="1"/>
          </p:cNvSpPr>
          <p:nvPr/>
        </p:nvSpPr>
        <p:spPr bwMode="auto">
          <a:xfrm>
            <a:off x="8575684" y="2592968"/>
            <a:ext cx="415925" cy="46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spcAft>
                <a:spcPct val="0"/>
              </a:spcAft>
              <a:buFontTx/>
              <a:buNone/>
            </a:pPr>
            <a:r>
              <a:rPr kumimoji="1" lang="en-US" altLang="zh-CN" sz="2800" i="1" dirty="0" err="1">
                <a:latin typeface="Times New Roman" panose="02020603050405020304" pitchFamily="18" charset="0"/>
                <a:ea typeface="长城楷体" pitchFamily="49" charset="-122"/>
              </a:rPr>
              <a:t>v</a:t>
            </a:r>
            <a:r>
              <a:rPr kumimoji="1" lang="en-US" altLang="zh-CN" sz="2400" baseline="-25000" dirty="0" err="1">
                <a:latin typeface="Times New Roman" panose="02020603050405020304" pitchFamily="18" charset="0"/>
                <a:ea typeface="长城楷体" pitchFamily="49" charset="-122"/>
              </a:rPr>
              <a:t>CE</a:t>
            </a:r>
            <a:endParaRPr kumimoji="1" lang="zh-CN" altLang="en-US" sz="2400" dirty="0">
              <a:latin typeface="Times New Roman" panose="02020603050405020304" pitchFamily="18" charset="0"/>
              <a:ea typeface="长城楷体" pitchFamily="49" charset="-122"/>
            </a:endParaRPr>
          </a:p>
        </p:txBody>
      </p:sp>
      <p:sp>
        <p:nvSpPr>
          <p:cNvPr id="36" name="Text Box 31">
            <a:extLst>
              <a:ext uri="{FF2B5EF4-FFF2-40B4-BE49-F238E27FC236}">
                <a16:creationId xmlns:a16="http://schemas.microsoft.com/office/drawing/2014/main" id="{2D48D6BD-872A-D2CE-EC94-8A54F0D9C6A7}"/>
              </a:ext>
            </a:extLst>
          </p:cNvPr>
          <p:cNvSpPr txBox="1">
            <a:spLocks noChangeArrowheads="1"/>
          </p:cNvSpPr>
          <p:nvPr/>
        </p:nvSpPr>
        <p:spPr bwMode="auto">
          <a:xfrm>
            <a:off x="5640216" y="88170"/>
            <a:ext cx="23018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C</a:t>
            </a:r>
            <a:endParaRPr kumimoji="1" lang="zh-CN" altLang="en-US" sz="2400">
              <a:latin typeface="Times New Roman" panose="02020603050405020304" pitchFamily="18" charset="0"/>
              <a:ea typeface="长城楷体" pitchFamily="49" charset="-122"/>
            </a:endParaRPr>
          </a:p>
        </p:txBody>
      </p:sp>
      <p:sp>
        <p:nvSpPr>
          <p:cNvPr id="37" name="Line 34">
            <a:extLst>
              <a:ext uri="{FF2B5EF4-FFF2-40B4-BE49-F238E27FC236}">
                <a16:creationId xmlns:a16="http://schemas.microsoft.com/office/drawing/2014/main" id="{D6D415A2-ECA0-DE70-D88B-462356CA9379}"/>
              </a:ext>
            </a:extLst>
          </p:cNvPr>
          <p:cNvSpPr>
            <a:spLocks noChangeShapeType="1"/>
          </p:cNvSpPr>
          <p:nvPr/>
        </p:nvSpPr>
        <p:spPr bwMode="auto">
          <a:xfrm flipV="1">
            <a:off x="6072016" y="197707"/>
            <a:ext cx="0" cy="235585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38" name="Text Box 36">
            <a:extLst>
              <a:ext uri="{FF2B5EF4-FFF2-40B4-BE49-F238E27FC236}">
                <a16:creationId xmlns:a16="http://schemas.microsoft.com/office/drawing/2014/main" id="{50D49BBF-0350-FA16-1D1C-17FC38119827}"/>
              </a:ext>
            </a:extLst>
          </p:cNvPr>
          <p:cNvSpPr txBox="1">
            <a:spLocks noChangeArrowheads="1"/>
          </p:cNvSpPr>
          <p:nvPr/>
        </p:nvSpPr>
        <p:spPr bwMode="auto">
          <a:xfrm>
            <a:off x="5727529" y="2475770"/>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O</a:t>
            </a:r>
          </a:p>
        </p:txBody>
      </p:sp>
      <p:sp>
        <p:nvSpPr>
          <p:cNvPr id="39" name="Freeform 37">
            <a:extLst>
              <a:ext uri="{FF2B5EF4-FFF2-40B4-BE49-F238E27FC236}">
                <a16:creationId xmlns:a16="http://schemas.microsoft.com/office/drawing/2014/main" id="{33049E52-FA5F-C7D8-FDF2-378A9753EC15}"/>
              </a:ext>
            </a:extLst>
          </p:cNvPr>
          <p:cNvSpPr>
            <a:spLocks/>
          </p:cNvSpPr>
          <p:nvPr/>
        </p:nvSpPr>
        <p:spPr bwMode="auto">
          <a:xfrm>
            <a:off x="6078366" y="2412270"/>
            <a:ext cx="2805113" cy="144462"/>
          </a:xfrm>
          <a:custGeom>
            <a:avLst/>
            <a:gdLst>
              <a:gd name="T0" fmla="*/ 0 w 2191"/>
              <a:gd name="T1" fmla="*/ 2147483646 h 96"/>
              <a:gd name="T2" fmla="*/ 2147483646 w 2191"/>
              <a:gd name="T3" fmla="*/ 2147483646 h 96"/>
              <a:gd name="T4" fmla="*/ 2147483646 w 2191"/>
              <a:gd name="T5" fmla="*/ 2147483646 h 96"/>
              <a:gd name="T6" fmla="*/ 2147483646 w 2191"/>
              <a:gd name="T7" fmla="*/ 0 h 96"/>
              <a:gd name="T8" fmla="*/ 0 60000 65536"/>
              <a:gd name="T9" fmla="*/ 0 60000 65536"/>
              <a:gd name="T10" fmla="*/ 0 60000 65536"/>
              <a:gd name="T11" fmla="*/ 0 60000 65536"/>
              <a:gd name="T12" fmla="*/ 0 w 2191"/>
              <a:gd name="T13" fmla="*/ 0 h 96"/>
              <a:gd name="T14" fmla="*/ 2191 w 2191"/>
              <a:gd name="T15" fmla="*/ 96 h 96"/>
            </a:gdLst>
            <a:ahLst/>
            <a:cxnLst>
              <a:cxn ang="T8">
                <a:pos x="T0" y="T1"/>
              </a:cxn>
              <a:cxn ang="T9">
                <a:pos x="T2" y="T3"/>
              </a:cxn>
              <a:cxn ang="T10">
                <a:pos x="T4" y="T5"/>
              </a:cxn>
              <a:cxn ang="T11">
                <a:pos x="T6" y="T7"/>
              </a:cxn>
            </a:cxnLst>
            <a:rect l="T12" t="T13" r="T14" b="T15"/>
            <a:pathLst>
              <a:path w="2191" h="96">
                <a:moveTo>
                  <a:pt x="0" y="96"/>
                </a:moveTo>
                <a:cubicBezTo>
                  <a:pt x="32" y="85"/>
                  <a:pt x="83" y="42"/>
                  <a:pt x="194" y="27"/>
                </a:cubicBezTo>
                <a:cubicBezTo>
                  <a:pt x="305" y="12"/>
                  <a:pt x="331" y="12"/>
                  <a:pt x="664" y="8"/>
                </a:cubicBezTo>
                <a:cubicBezTo>
                  <a:pt x="997" y="4"/>
                  <a:pt x="1873" y="2"/>
                  <a:pt x="2191"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grpSp>
        <p:nvGrpSpPr>
          <p:cNvPr id="40" name="Group 102">
            <a:extLst>
              <a:ext uri="{FF2B5EF4-FFF2-40B4-BE49-F238E27FC236}">
                <a16:creationId xmlns:a16="http://schemas.microsoft.com/office/drawing/2014/main" id="{C25D3450-B6E7-BC4A-E0B3-9EE964DDF917}"/>
              </a:ext>
            </a:extLst>
          </p:cNvPr>
          <p:cNvGrpSpPr>
            <a:grpSpLocks/>
          </p:cNvGrpSpPr>
          <p:nvPr/>
        </p:nvGrpSpPr>
        <p:grpSpPr bwMode="auto">
          <a:xfrm>
            <a:off x="6097416" y="1342295"/>
            <a:ext cx="2789238" cy="1195387"/>
            <a:chOff x="3304" y="2931"/>
            <a:chExt cx="1757" cy="753"/>
          </a:xfrm>
        </p:grpSpPr>
        <p:sp>
          <p:nvSpPr>
            <p:cNvPr id="41" name="Freeform 38">
              <a:extLst>
                <a:ext uri="{FF2B5EF4-FFF2-40B4-BE49-F238E27FC236}">
                  <a16:creationId xmlns:a16="http://schemas.microsoft.com/office/drawing/2014/main" id="{1A7BFE9D-C8FF-85AD-BFBB-364EE52B82BA}"/>
                </a:ext>
              </a:extLst>
            </p:cNvPr>
            <p:cNvSpPr>
              <a:spLocks/>
            </p:cNvSpPr>
            <p:nvPr/>
          </p:nvSpPr>
          <p:spPr bwMode="auto">
            <a:xfrm>
              <a:off x="3304" y="3252"/>
              <a:ext cx="1757" cy="432"/>
            </a:xfrm>
            <a:custGeom>
              <a:avLst/>
              <a:gdLst>
                <a:gd name="T0" fmla="*/ 0 w 2124"/>
                <a:gd name="T1" fmla="*/ 141 h 478"/>
                <a:gd name="T2" fmla="*/ 16 w 2124"/>
                <a:gd name="T3" fmla="*/ 42 h 478"/>
                <a:gd name="T4" fmla="*/ 64 w 2124"/>
                <a:gd name="T5" fmla="*/ 11 h 478"/>
                <a:gd name="T6" fmla="*/ 165 w 2124"/>
                <a:gd name="T7" fmla="*/ 5 h 478"/>
                <a:gd name="T8" fmla="*/ 218 w 2124"/>
                <a:gd name="T9" fmla="*/ 2 h 478"/>
                <a:gd name="T10" fmla="*/ 0 60000 65536"/>
                <a:gd name="T11" fmla="*/ 0 60000 65536"/>
                <a:gd name="T12" fmla="*/ 0 60000 65536"/>
                <a:gd name="T13" fmla="*/ 0 60000 65536"/>
                <a:gd name="T14" fmla="*/ 0 60000 65536"/>
                <a:gd name="T15" fmla="*/ 0 w 2124"/>
                <a:gd name="T16" fmla="*/ 0 h 478"/>
                <a:gd name="T17" fmla="*/ 2124 w 2124"/>
                <a:gd name="T18" fmla="*/ 478 h 478"/>
              </a:gdLst>
              <a:ahLst/>
              <a:cxnLst>
                <a:cxn ang="T10">
                  <a:pos x="T0" y="T1"/>
                </a:cxn>
                <a:cxn ang="T11">
                  <a:pos x="T2" y="T3"/>
                </a:cxn>
                <a:cxn ang="T12">
                  <a:pos x="T4" y="T5"/>
                </a:cxn>
                <a:cxn ang="T13">
                  <a:pos x="T6" y="T7"/>
                </a:cxn>
                <a:cxn ang="T14">
                  <a:pos x="T8" y="T9"/>
                </a:cxn>
              </a:cxnLst>
              <a:rect l="T15" t="T16" r="T17" b="T18"/>
              <a:pathLst>
                <a:path w="2124" h="478">
                  <a:moveTo>
                    <a:pt x="0" y="478"/>
                  </a:moveTo>
                  <a:cubicBezTo>
                    <a:pt x="25" y="422"/>
                    <a:pt x="49" y="215"/>
                    <a:pt x="152" y="141"/>
                  </a:cubicBezTo>
                  <a:cubicBezTo>
                    <a:pt x="255" y="67"/>
                    <a:pt x="372" y="59"/>
                    <a:pt x="615" y="37"/>
                  </a:cubicBezTo>
                  <a:cubicBezTo>
                    <a:pt x="858" y="15"/>
                    <a:pt x="1362" y="12"/>
                    <a:pt x="1613" y="6"/>
                  </a:cubicBezTo>
                  <a:cubicBezTo>
                    <a:pt x="1864" y="0"/>
                    <a:pt x="2018" y="3"/>
                    <a:pt x="2124" y="2"/>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sp>
          <p:nvSpPr>
            <p:cNvPr id="42" name="Text Box 63">
              <a:extLst>
                <a:ext uri="{FF2B5EF4-FFF2-40B4-BE49-F238E27FC236}">
                  <a16:creationId xmlns:a16="http://schemas.microsoft.com/office/drawing/2014/main" id="{11450DA2-810D-2F41-2EB1-44FAD9F70E93}"/>
                </a:ext>
              </a:extLst>
            </p:cNvPr>
            <p:cNvSpPr txBox="1">
              <a:spLocks noChangeArrowheads="1"/>
            </p:cNvSpPr>
            <p:nvPr/>
          </p:nvSpPr>
          <p:spPr bwMode="auto">
            <a:xfrm>
              <a:off x="4782" y="2931"/>
              <a:ext cx="234"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B1 </a:t>
              </a:r>
              <a:endParaRPr kumimoji="1" lang="en-US" altLang="zh-CN" sz="2400">
                <a:latin typeface="Times New Roman" panose="02020603050405020304" pitchFamily="18" charset="0"/>
                <a:ea typeface="长城楷体" pitchFamily="49" charset="-122"/>
              </a:endParaRPr>
            </a:p>
          </p:txBody>
        </p:sp>
      </p:grpSp>
      <p:grpSp>
        <p:nvGrpSpPr>
          <p:cNvPr id="43" name="Group 103">
            <a:extLst>
              <a:ext uri="{FF2B5EF4-FFF2-40B4-BE49-F238E27FC236}">
                <a16:creationId xmlns:a16="http://schemas.microsoft.com/office/drawing/2014/main" id="{30342225-4E58-808E-1555-0F457ED9B2A2}"/>
              </a:ext>
            </a:extLst>
          </p:cNvPr>
          <p:cNvGrpSpPr>
            <a:grpSpLocks/>
          </p:cNvGrpSpPr>
          <p:nvPr/>
        </p:nvGrpSpPr>
        <p:grpSpPr bwMode="auto">
          <a:xfrm>
            <a:off x="6099004" y="723170"/>
            <a:ext cx="2798762" cy="1808162"/>
            <a:chOff x="3305" y="2541"/>
            <a:chExt cx="1763" cy="1139"/>
          </a:xfrm>
        </p:grpSpPr>
        <p:sp>
          <p:nvSpPr>
            <p:cNvPr id="44" name="Freeform 32">
              <a:extLst>
                <a:ext uri="{FF2B5EF4-FFF2-40B4-BE49-F238E27FC236}">
                  <a16:creationId xmlns:a16="http://schemas.microsoft.com/office/drawing/2014/main" id="{B30DA8B3-1DF7-02D6-789E-D19EF2B14A0C}"/>
                </a:ext>
              </a:extLst>
            </p:cNvPr>
            <p:cNvSpPr>
              <a:spLocks/>
            </p:cNvSpPr>
            <p:nvPr/>
          </p:nvSpPr>
          <p:spPr bwMode="auto">
            <a:xfrm>
              <a:off x="3305" y="2886"/>
              <a:ext cx="1763" cy="794"/>
            </a:xfrm>
            <a:custGeom>
              <a:avLst/>
              <a:gdLst>
                <a:gd name="T0" fmla="*/ 0 w 2132"/>
                <a:gd name="T1" fmla="*/ 141 h 929"/>
                <a:gd name="T2" fmla="*/ 12 w 2132"/>
                <a:gd name="T3" fmla="*/ 48 h 929"/>
                <a:gd name="T4" fmla="*/ 47 w 2132"/>
                <a:gd name="T5" fmla="*/ 13 h 929"/>
                <a:gd name="T6" fmla="*/ 129 w 2132"/>
                <a:gd name="T7" fmla="*/ 3 h 929"/>
                <a:gd name="T8" fmla="*/ 217 w 2132"/>
                <a:gd name="T9" fmla="*/ 3 h 929"/>
                <a:gd name="T10" fmla="*/ 0 60000 65536"/>
                <a:gd name="T11" fmla="*/ 0 60000 65536"/>
                <a:gd name="T12" fmla="*/ 0 60000 65536"/>
                <a:gd name="T13" fmla="*/ 0 60000 65536"/>
                <a:gd name="T14" fmla="*/ 0 60000 65536"/>
                <a:gd name="T15" fmla="*/ 0 w 2132"/>
                <a:gd name="T16" fmla="*/ 0 h 929"/>
                <a:gd name="T17" fmla="*/ 2132 w 2132"/>
                <a:gd name="T18" fmla="*/ 929 h 929"/>
              </a:gdLst>
              <a:ahLst/>
              <a:cxnLst>
                <a:cxn ang="T10">
                  <a:pos x="T0" y="T1"/>
                </a:cxn>
                <a:cxn ang="T11">
                  <a:pos x="T2" y="T3"/>
                </a:cxn>
                <a:cxn ang="T12">
                  <a:pos x="T4" y="T5"/>
                </a:cxn>
                <a:cxn ang="T13">
                  <a:pos x="T6" y="T7"/>
                </a:cxn>
                <a:cxn ang="T14">
                  <a:pos x="T8" y="T9"/>
                </a:cxn>
              </a:cxnLst>
              <a:rect l="T15" t="T16" r="T17" b="T18"/>
              <a:pathLst>
                <a:path w="2132" h="929">
                  <a:moveTo>
                    <a:pt x="0" y="929"/>
                  </a:moveTo>
                  <a:cubicBezTo>
                    <a:pt x="21" y="827"/>
                    <a:pt x="49" y="459"/>
                    <a:pt x="125" y="318"/>
                  </a:cubicBezTo>
                  <a:cubicBezTo>
                    <a:pt x="201" y="177"/>
                    <a:pt x="266" y="134"/>
                    <a:pt x="456" y="83"/>
                  </a:cubicBezTo>
                  <a:cubicBezTo>
                    <a:pt x="646" y="32"/>
                    <a:pt x="989" y="26"/>
                    <a:pt x="1268" y="13"/>
                  </a:cubicBezTo>
                  <a:cubicBezTo>
                    <a:pt x="1547" y="0"/>
                    <a:pt x="1988" y="6"/>
                    <a:pt x="2132" y="4"/>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5" name="Text Box 64">
              <a:extLst>
                <a:ext uri="{FF2B5EF4-FFF2-40B4-BE49-F238E27FC236}">
                  <a16:creationId xmlns:a16="http://schemas.microsoft.com/office/drawing/2014/main" id="{4B5DCD42-C85F-E76A-EA79-58B8520BCEC4}"/>
                </a:ext>
              </a:extLst>
            </p:cNvPr>
            <p:cNvSpPr txBox="1">
              <a:spLocks noChangeArrowheads="1"/>
            </p:cNvSpPr>
            <p:nvPr/>
          </p:nvSpPr>
          <p:spPr bwMode="auto">
            <a:xfrm>
              <a:off x="4782" y="2541"/>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B2</a:t>
              </a:r>
              <a:endParaRPr kumimoji="1" lang="en-US" altLang="zh-CN" sz="2400">
                <a:latin typeface="Times New Roman" panose="02020603050405020304" pitchFamily="18" charset="0"/>
                <a:ea typeface="长城楷体" pitchFamily="49" charset="-122"/>
              </a:endParaRPr>
            </a:p>
          </p:txBody>
        </p:sp>
      </p:grpSp>
      <p:grpSp>
        <p:nvGrpSpPr>
          <p:cNvPr id="46" name="Group 104">
            <a:extLst>
              <a:ext uri="{FF2B5EF4-FFF2-40B4-BE49-F238E27FC236}">
                <a16:creationId xmlns:a16="http://schemas.microsoft.com/office/drawing/2014/main" id="{20C448FA-023B-DEC4-7C53-302BE68694F3}"/>
              </a:ext>
            </a:extLst>
          </p:cNvPr>
          <p:cNvGrpSpPr>
            <a:grpSpLocks/>
          </p:cNvGrpSpPr>
          <p:nvPr/>
        </p:nvGrpSpPr>
        <p:grpSpPr bwMode="auto">
          <a:xfrm>
            <a:off x="6068841" y="100870"/>
            <a:ext cx="2778125" cy="2430462"/>
            <a:chOff x="3286" y="2149"/>
            <a:chExt cx="1750" cy="1531"/>
          </a:xfrm>
        </p:grpSpPr>
        <p:sp>
          <p:nvSpPr>
            <p:cNvPr id="47" name="Freeform 33">
              <a:extLst>
                <a:ext uri="{FF2B5EF4-FFF2-40B4-BE49-F238E27FC236}">
                  <a16:creationId xmlns:a16="http://schemas.microsoft.com/office/drawing/2014/main" id="{82EC6C9C-7A80-F6C6-7FE5-1724BE095CDE}"/>
                </a:ext>
              </a:extLst>
            </p:cNvPr>
            <p:cNvSpPr>
              <a:spLocks/>
            </p:cNvSpPr>
            <p:nvPr/>
          </p:nvSpPr>
          <p:spPr bwMode="auto">
            <a:xfrm>
              <a:off x="3286" y="2464"/>
              <a:ext cx="1750" cy="1216"/>
            </a:xfrm>
            <a:custGeom>
              <a:avLst/>
              <a:gdLst>
                <a:gd name="T0" fmla="*/ 0 w 2116"/>
                <a:gd name="T1" fmla="*/ 404 h 1344"/>
                <a:gd name="T2" fmla="*/ 18 w 2116"/>
                <a:gd name="T3" fmla="*/ 159 h 1344"/>
                <a:gd name="T4" fmla="*/ 36 w 2116"/>
                <a:gd name="T5" fmla="*/ 47 h 1344"/>
                <a:gd name="T6" fmla="*/ 82 w 2116"/>
                <a:gd name="T7" fmla="*/ 11 h 1344"/>
                <a:gd name="T8" fmla="*/ 217 w 2116"/>
                <a:gd name="T9" fmla="*/ 0 h 1344"/>
                <a:gd name="T10" fmla="*/ 0 60000 65536"/>
                <a:gd name="T11" fmla="*/ 0 60000 65536"/>
                <a:gd name="T12" fmla="*/ 0 60000 65536"/>
                <a:gd name="T13" fmla="*/ 0 60000 65536"/>
                <a:gd name="T14" fmla="*/ 0 60000 65536"/>
                <a:gd name="T15" fmla="*/ 0 w 2116"/>
                <a:gd name="T16" fmla="*/ 0 h 1344"/>
                <a:gd name="T17" fmla="*/ 2116 w 2116"/>
                <a:gd name="T18" fmla="*/ 1344 h 1344"/>
              </a:gdLst>
              <a:ahLst/>
              <a:cxnLst>
                <a:cxn ang="T10">
                  <a:pos x="T0" y="T1"/>
                </a:cxn>
                <a:cxn ang="T11">
                  <a:pos x="T2" y="T3"/>
                </a:cxn>
                <a:cxn ang="T12">
                  <a:pos x="T4" y="T5"/>
                </a:cxn>
                <a:cxn ang="T13">
                  <a:pos x="T6" y="T7"/>
                </a:cxn>
                <a:cxn ang="T14">
                  <a:pos x="T8" y="T9"/>
                </a:cxn>
              </a:cxnLst>
              <a:rect l="T15" t="T16" r="T17" b="T18"/>
              <a:pathLst>
                <a:path w="2116" h="1344">
                  <a:moveTo>
                    <a:pt x="0" y="1344"/>
                  </a:moveTo>
                  <a:cubicBezTo>
                    <a:pt x="30" y="1209"/>
                    <a:pt x="120" y="730"/>
                    <a:pt x="179" y="532"/>
                  </a:cubicBezTo>
                  <a:cubicBezTo>
                    <a:pt x="238" y="334"/>
                    <a:pt x="250" y="240"/>
                    <a:pt x="353" y="157"/>
                  </a:cubicBezTo>
                  <a:cubicBezTo>
                    <a:pt x="456" y="74"/>
                    <a:pt x="506" y="60"/>
                    <a:pt x="800" y="34"/>
                  </a:cubicBezTo>
                  <a:cubicBezTo>
                    <a:pt x="1094" y="8"/>
                    <a:pt x="1897" y="6"/>
                    <a:pt x="2116"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48" name="Text Box 65">
              <a:extLst>
                <a:ext uri="{FF2B5EF4-FFF2-40B4-BE49-F238E27FC236}">
                  <a16:creationId xmlns:a16="http://schemas.microsoft.com/office/drawing/2014/main" id="{48597514-E1EB-3BAF-B4FD-7C05232B82DD}"/>
                </a:ext>
              </a:extLst>
            </p:cNvPr>
            <p:cNvSpPr txBox="1">
              <a:spLocks noChangeArrowheads="1"/>
            </p:cNvSpPr>
            <p:nvPr/>
          </p:nvSpPr>
          <p:spPr bwMode="auto">
            <a:xfrm>
              <a:off x="4782" y="2149"/>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B3</a:t>
              </a:r>
              <a:endParaRPr kumimoji="1" lang="en-US" altLang="zh-CN" sz="2400">
                <a:latin typeface="Times New Roman" panose="02020603050405020304" pitchFamily="18" charset="0"/>
                <a:ea typeface="长城楷体" pitchFamily="49" charset="-122"/>
              </a:endParaRPr>
            </a:p>
          </p:txBody>
        </p:sp>
      </p:grpSp>
      <p:grpSp>
        <p:nvGrpSpPr>
          <p:cNvPr id="49" name="Group 81">
            <a:extLst>
              <a:ext uri="{FF2B5EF4-FFF2-40B4-BE49-F238E27FC236}">
                <a16:creationId xmlns:a16="http://schemas.microsoft.com/office/drawing/2014/main" id="{C3DE9437-9B02-7DD1-286C-6ACBB2F00288}"/>
              </a:ext>
            </a:extLst>
          </p:cNvPr>
          <p:cNvGrpSpPr>
            <a:grpSpLocks/>
          </p:cNvGrpSpPr>
          <p:nvPr/>
        </p:nvGrpSpPr>
        <p:grpSpPr bwMode="auto">
          <a:xfrm>
            <a:off x="6056141" y="424720"/>
            <a:ext cx="592138" cy="2128837"/>
            <a:chOff x="3278" y="1161"/>
            <a:chExt cx="556" cy="1483"/>
          </a:xfrm>
        </p:grpSpPr>
        <p:sp>
          <p:nvSpPr>
            <p:cNvPr id="50" name="Freeform 62">
              <a:extLst>
                <a:ext uri="{FF2B5EF4-FFF2-40B4-BE49-F238E27FC236}">
                  <a16:creationId xmlns:a16="http://schemas.microsoft.com/office/drawing/2014/main" id="{03544C5D-1841-9844-6CBE-9A08BB806A0F}"/>
                </a:ext>
              </a:extLst>
            </p:cNvPr>
            <p:cNvSpPr>
              <a:spLocks/>
            </p:cNvSpPr>
            <p:nvPr/>
          </p:nvSpPr>
          <p:spPr bwMode="auto">
            <a:xfrm>
              <a:off x="3278" y="1161"/>
              <a:ext cx="556" cy="1483"/>
            </a:xfrm>
            <a:custGeom>
              <a:avLst/>
              <a:gdLst>
                <a:gd name="T0" fmla="*/ 0 w 588"/>
                <a:gd name="T1" fmla="*/ 1156 h 1517"/>
                <a:gd name="T2" fmla="*/ 73 w 588"/>
                <a:gd name="T3" fmla="*/ 1123 h 1517"/>
                <a:gd name="T4" fmla="*/ 148 w 588"/>
                <a:gd name="T5" fmla="*/ 1011 h 1517"/>
                <a:gd name="T6" fmla="*/ 212 w 588"/>
                <a:gd name="T7" fmla="*/ 712 h 1517"/>
                <a:gd name="T8" fmla="*/ 265 w 588"/>
                <a:gd name="T9" fmla="*/ 320 h 1517"/>
                <a:gd name="T10" fmla="*/ 301 w 588"/>
                <a:gd name="T11" fmla="*/ 0 h 1517"/>
                <a:gd name="T12" fmla="*/ 0 60000 65536"/>
                <a:gd name="T13" fmla="*/ 0 60000 65536"/>
                <a:gd name="T14" fmla="*/ 0 60000 65536"/>
                <a:gd name="T15" fmla="*/ 0 60000 65536"/>
                <a:gd name="T16" fmla="*/ 0 60000 65536"/>
                <a:gd name="T17" fmla="*/ 0 60000 65536"/>
                <a:gd name="T18" fmla="*/ 0 w 588"/>
                <a:gd name="T19" fmla="*/ 0 h 1517"/>
                <a:gd name="T20" fmla="*/ 588 w 588"/>
                <a:gd name="T21" fmla="*/ 1517 h 1517"/>
              </a:gdLst>
              <a:ahLst/>
              <a:cxnLst>
                <a:cxn ang="T12">
                  <a:pos x="T0" y="T1"/>
                </a:cxn>
                <a:cxn ang="T13">
                  <a:pos x="T2" y="T3"/>
                </a:cxn>
                <a:cxn ang="T14">
                  <a:pos x="T4" y="T5"/>
                </a:cxn>
                <a:cxn ang="T15">
                  <a:pos x="T6" y="T7"/>
                </a:cxn>
                <a:cxn ang="T16">
                  <a:pos x="T8" y="T9"/>
                </a:cxn>
                <a:cxn ang="T17">
                  <a:pos x="T10" y="T11"/>
                </a:cxn>
              </a:cxnLst>
              <a:rect l="T18" t="T19" r="T20" b="T21"/>
              <a:pathLst>
                <a:path w="588" h="1517">
                  <a:moveTo>
                    <a:pt x="0" y="1517"/>
                  </a:moveTo>
                  <a:cubicBezTo>
                    <a:pt x="24" y="1510"/>
                    <a:pt x="95" y="1507"/>
                    <a:pt x="143" y="1475"/>
                  </a:cubicBezTo>
                  <a:cubicBezTo>
                    <a:pt x="191" y="1443"/>
                    <a:pt x="246" y="1417"/>
                    <a:pt x="291" y="1327"/>
                  </a:cubicBezTo>
                  <a:cubicBezTo>
                    <a:pt x="336" y="1237"/>
                    <a:pt x="376" y="1085"/>
                    <a:pt x="414" y="934"/>
                  </a:cubicBezTo>
                  <a:cubicBezTo>
                    <a:pt x="452" y="783"/>
                    <a:pt x="489" y="575"/>
                    <a:pt x="518" y="419"/>
                  </a:cubicBezTo>
                  <a:cubicBezTo>
                    <a:pt x="547" y="263"/>
                    <a:pt x="574" y="87"/>
                    <a:pt x="588" y="0"/>
                  </a:cubicBezTo>
                </a:path>
              </a:pathLst>
            </a:custGeom>
            <a:noFill/>
            <a:ln w="28575">
              <a:solidFill>
                <a:srgbClr val="0000FF"/>
              </a:solidFill>
              <a:prstDash val="dash"/>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nvGrpSpPr>
            <p:cNvPr id="51" name="Group 66">
              <a:extLst>
                <a:ext uri="{FF2B5EF4-FFF2-40B4-BE49-F238E27FC236}">
                  <a16:creationId xmlns:a16="http://schemas.microsoft.com/office/drawing/2014/main" id="{1D9E055D-2256-0ACA-986D-0D42C77AE9A0}"/>
                </a:ext>
              </a:extLst>
            </p:cNvPr>
            <p:cNvGrpSpPr>
              <a:grpSpLocks/>
            </p:cNvGrpSpPr>
            <p:nvPr/>
          </p:nvGrpSpPr>
          <p:grpSpPr bwMode="auto">
            <a:xfrm>
              <a:off x="3290" y="1161"/>
              <a:ext cx="476" cy="1407"/>
              <a:chOff x="3334" y="1117"/>
              <a:chExt cx="465" cy="1429"/>
            </a:xfrm>
          </p:grpSpPr>
          <p:sp>
            <p:nvSpPr>
              <p:cNvPr id="52" name="Line 67">
                <a:extLst>
                  <a:ext uri="{FF2B5EF4-FFF2-40B4-BE49-F238E27FC236}">
                    <a16:creationId xmlns:a16="http://schemas.microsoft.com/office/drawing/2014/main" id="{8BFBB89A-77DF-FB98-FBBD-FF88057EE7D2}"/>
                  </a:ext>
                </a:extLst>
              </p:cNvPr>
              <p:cNvSpPr>
                <a:spLocks noChangeShapeType="1"/>
              </p:cNvSpPr>
              <p:nvPr/>
            </p:nvSpPr>
            <p:spPr bwMode="auto">
              <a:xfrm>
                <a:off x="3606" y="1117"/>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3" name="Line 68">
                <a:extLst>
                  <a:ext uri="{FF2B5EF4-FFF2-40B4-BE49-F238E27FC236}">
                    <a16:creationId xmlns:a16="http://schemas.microsoft.com/office/drawing/2014/main" id="{6CE64418-FD6E-F990-740F-2D81FDAA692C}"/>
                  </a:ext>
                </a:extLst>
              </p:cNvPr>
              <p:cNvSpPr>
                <a:spLocks noChangeShapeType="1"/>
              </p:cNvSpPr>
              <p:nvPr/>
            </p:nvSpPr>
            <p:spPr bwMode="auto">
              <a:xfrm>
                <a:off x="3470" y="1117"/>
                <a:ext cx="301" cy="30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4" name="Line 69">
                <a:extLst>
                  <a:ext uri="{FF2B5EF4-FFF2-40B4-BE49-F238E27FC236}">
                    <a16:creationId xmlns:a16="http://schemas.microsoft.com/office/drawing/2014/main" id="{74E9BD04-E607-E5C7-B908-0C6B5D3BD612}"/>
                  </a:ext>
                </a:extLst>
              </p:cNvPr>
              <p:cNvSpPr>
                <a:spLocks noChangeShapeType="1"/>
              </p:cNvSpPr>
              <p:nvPr/>
            </p:nvSpPr>
            <p:spPr bwMode="auto">
              <a:xfrm>
                <a:off x="3334" y="1117"/>
                <a:ext cx="433" cy="433"/>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5" name="Line 70">
                <a:extLst>
                  <a:ext uri="{FF2B5EF4-FFF2-40B4-BE49-F238E27FC236}">
                    <a16:creationId xmlns:a16="http://schemas.microsoft.com/office/drawing/2014/main" id="{5BF430A8-4D9D-A78F-8918-750B3CD93801}"/>
                  </a:ext>
                </a:extLst>
              </p:cNvPr>
              <p:cNvSpPr>
                <a:spLocks noChangeShapeType="1"/>
              </p:cNvSpPr>
              <p:nvPr/>
            </p:nvSpPr>
            <p:spPr bwMode="auto">
              <a:xfrm>
                <a:off x="3334" y="1253"/>
                <a:ext cx="424" cy="42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6" name="Line 71">
                <a:extLst>
                  <a:ext uri="{FF2B5EF4-FFF2-40B4-BE49-F238E27FC236}">
                    <a16:creationId xmlns:a16="http://schemas.microsoft.com/office/drawing/2014/main" id="{D567A5DA-25E9-7267-860D-7DF3720A60F4}"/>
                  </a:ext>
                </a:extLst>
              </p:cNvPr>
              <p:cNvSpPr>
                <a:spLocks noChangeShapeType="1"/>
              </p:cNvSpPr>
              <p:nvPr/>
            </p:nvSpPr>
            <p:spPr bwMode="auto">
              <a:xfrm>
                <a:off x="3334" y="1389"/>
                <a:ext cx="408" cy="40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7" name="Line 72">
                <a:extLst>
                  <a:ext uri="{FF2B5EF4-FFF2-40B4-BE49-F238E27FC236}">
                    <a16:creationId xmlns:a16="http://schemas.microsoft.com/office/drawing/2014/main" id="{22CAC42A-B3C6-D50B-5DC5-216E48994D2D}"/>
                  </a:ext>
                </a:extLst>
              </p:cNvPr>
              <p:cNvSpPr>
                <a:spLocks noChangeShapeType="1"/>
              </p:cNvSpPr>
              <p:nvPr/>
            </p:nvSpPr>
            <p:spPr bwMode="auto">
              <a:xfrm>
                <a:off x="3334" y="1525"/>
                <a:ext cx="388" cy="38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8" name="Line 73">
                <a:extLst>
                  <a:ext uri="{FF2B5EF4-FFF2-40B4-BE49-F238E27FC236}">
                    <a16:creationId xmlns:a16="http://schemas.microsoft.com/office/drawing/2014/main" id="{98B50FA5-4F00-1BF1-4887-591E9C5626E8}"/>
                  </a:ext>
                </a:extLst>
              </p:cNvPr>
              <p:cNvSpPr>
                <a:spLocks noChangeShapeType="1"/>
              </p:cNvSpPr>
              <p:nvPr/>
            </p:nvSpPr>
            <p:spPr bwMode="auto">
              <a:xfrm>
                <a:off x="3334" y="1661"/>
                <a:ext cx="364" cy="36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9" name="Line 74">
                <a:extLst>
                  <a:ext uri="{FF2B5EF4-FFF2-40B4-BE49-F238E27FC236}">
                    <a16:creationId xmlns:a16="http://schemas.microsoft.com/office/drawing/2014/main" id="{36A93E19-F004-92B9-2059-D990AD2105DF}"/>
                  </a:ext>
                </a:extLst>
              </p:cNvPr>
              <p:cNvSpPr>
                <a:spLocks noChangeShapeType="1"/>
              </p:cNvSpPr>
              <p:nvPr/>
            </p:nvSpPr>
            <p:spPr bwMode="auto">
              <a:xfrm>
                <a:off x="3334" y="1797"/>
                <a:ext cx="348" cy="34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0" name="Line 75">
                <a:extLst>
                  <a:ext uri="{FF2B5EF4-FFF2-40B4-BE49-F238E27FC236}">
                    <a16:creationId xmlns:a16="http://schemas.microsoft.com/office/drawing/2014/main" id="{91E8EF68-29D2-E4E7-8025-B2F877436C84}"/>
                  </a:ext>
                </a:extLst>
              </p:cNvPr>
              <p:cNvSpPr>
                <a:spLocks noChangeShapeType="1"/>
              </p:cNvSpPr>
              <p:nvPr/>
            </p:nvSpPr>
            <p:spPr bwMode="auto">
              <a:xfrm>
                <a:off x="3334" y="1933"/>
                <a:ext cx="316" cy="316"/>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1" name="Line 76">
                <a:extLst>
                  <a:ext uri="{FF2B5EF4-FFF2-40B4-BE49-F238E27FC236}">
                    <a16:creationId xmlns:a16="http://schemas.microsoft.com/office/drawing/2014/main" id="{EE103C3B-D9F5-4F4D-100E-C31245EA0B8B}"/>
                  </a:ext>
                </a:extLst>
              </p:cNvPr>
              <p:cNvSpPr>
                <a:spLocks noChangeShapeType="1"/>
              </p:cNvSpPr>
              <p:nvPr/>
            </p:nvSpPr>
            <p:spPr bwMode="auto">
              <a:xfrm>
                <a:off x="3334" y="2069"/>
                <a:ext cx="284" cy="28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2" name="Line 77">
                <a:extLst>
                  <a:ext uri="{FF2B5EF4-FFF2-40B4-BE49-F238E27FC236}">
                    <a16:creationId xmlns:a16="http://schemas.microsoft.com/office/drawing/2014/main" id="{8DFBE4B9-A9B7-C5DA-75B7-464B383C2B2B}"/>
                  </a:ext>
                </a:extLst>
              </p:cNvPr>
              <p:cNvSpPr>
                <a:spLocks noChangeShapeType="1"/>
              </p:cNvSpPr>
              <p:nvPr/>
            </p:nvSpPr>
            <p:spPr bwMode="auto">
              <a:xfrm>
                <a:off x="3334" y="2205"/>
                <a:ext cx="242" cy="242"/>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3" name="Line 78">
                <a:extLst>
                  <a:ext uri="{FF2B5EF4-FFF2-40B4-BE49-F238E27FC236}">
                    <a16:creationId xmlns:a16="http://schemas.microsoft.com/office/drawing/2014/main" id="{AE9E4CCE-A753-FE9E-D507-FC4172EA3582}"/>
                  </a:ext>
                </a:extLst>
              </p:cNvPr>
              <p:cNvSpPr>
                <a:spLocks noChangeShapeType="1"/>
              </p:cNvSpPr>
              <p:nvPr/>
            </p:nvSpPr>
            <p:spPr bwMode="auto">
              <a:xfrm>
                <a:off x="3334" y="2341"/>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4" name="Line 79">
                <a:extLst>
                  <a:ext uri="{FF2B5EF4-FFF2-40B4-BE49-F238E27FC236}">
                    <a16:creationId xmlns:a16="http://schemas.microsoft.com/office/drawing/2014/main" id="{09502DCD-9D52-EE4B-A162-8D3251D90D58}"/>
                  </a:ext>
                </a:extLst>
              </p:cNvPr>
              <p:cNvSpPr>
                <a:spLocks noChangeShapeType="1"/>
              </p:cNvSpPr>
              <p:nvPr/>
            </p:nvSpPr>
            <p:spPr bwMode="auto">
              <a:xfrm>
                <a:off x="3722" y="1117"/>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5" name="Line 80">
                <a:extLst>
                  <a:ext uri="{FF2B5EF4-FFF2-40B4-BE49-F238E27FC236}">
                    <a16:creationId xmlns:a16="http://schemas.microsoft.com/office/drawing/2014/main" id="{DD3CDED3-46B0-F67C-408A-817833A5A43C}"/>
                  </a:ext>
                </a:extLst>
              </p:cNvPr>
              <p:cNvSpPr>
                <a:spLocks noChangeShapeType="1"/>
              </p:cNvSpPr>
              <p:nvPr/>
            </p:nvSpPr>
            <p:spPr bwMode="auto">
              <a:xfrm>
                <a:off x="3338" y="2469"/>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grpSp>
        <p:nvGrpSpPr>
          <p:cNvPr id="66" name="Group 106">
            <a:extLst>
              <a:ext uri="{FF2B5EF4-FFF2-40B4-BE49-F238E27FC236}">
                <a16:creationId xmlns:a16="http://schemas.microsoft.com/office/drawing/2014/main" id="{9E27D0F7-3BBE-EE43-636B-3DCC5787647C}"/>
              </a:ext>
            </a:extLst>
          </p:cNvPr>
          <p:cNvGrpSpPr>
            <a:grpSpLocks/>
          </p:cNvGrpSpPr>
          <p:nvPr/>
        </p:nvGrpSpPr>
        <p:grpSpPr bwMode="auto">
          <a:xfrm>
            <a:off x="112242" y="831669"/>
            <a:ext cx="2708275" cy="1943100"/>
            <a:chOff x="3175" y="2546"/>
            <a:chExt cx="1706" cy="1224"/>
          </a:xfrm>
        </p:grpSpPr>
        <p:sp>
          <p:nvSpPr>
            <p:cNvPr id="67" name="Line 107">
              <a:extLst>
                <a:ext uri="{FF2B5EF4-FFF2-40B4-BE49-F238E27FC236}">
                  <a16:creationId xmlns:a16="http://schemas.microsoft.com/office/drawing/2014/main" id="{FE300142-92A8-B3DA-7DC3-D51F18689E0C}"/>
                </a:ext>
              </a:extLst>
            </p:cNvPr>
            <p:cNvSpPr>
              <a:spLocks noChangeShapeType="1"/>
            </p:cNvSpPr>
            <p:nvPr/>
          </p:nvSpPr>
          <p:spPr bwMode="auto">
            <a:xfrm>
              <a:off x="3915" y="2980"/>
              <a:ext cx="0" cy="35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8" name="Line 108">
              <a:extLst>
                <a:ext uri="{FF2B5EF4-FFF2-40B4-BE49-F238E27FC236}">
                  <a16:creationId xmlns:a16="http://schemas.microsoft.com/office/drawing/2014/main" id="{36D7B008-8909-37EC-4086-17414D2DA5B6}"/>
                </a:ext>
              </a:extLst>
            </p:cNvPr>
            <p:cNvSpPr>
              <a:spLocks noChangeShapeType="1"/>
            </p:cNvSpPr>
            <p:nvPr/>
          </p:nvSpPr>
          <p:spPr bwMode="auto">
            <a:xfrm flipH="1">
              <a:off x="3470" y="3159"/>
              <a:ext cx="445"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9" name="Line 109">
              <a:extLst>
                <a:ext uri="{FF2B5EF4-FFF2-40B4-BE49-F238E27FC236}">
                  <a16:creationId xmlns:a16="http://schemas.microsoft.com/office/drawing/2014/main" id="{FDD70149-9F3D-3A9F-A2A1-558742A753FE}"/>
                </a:ext>
              </a:extLst>
            </p:cNvPr>
            <p:cNvSpPr>
              <a:spLocks noChangeShapeType="1"/>
            </p:cNvSpPr>
            <p:nvPr/>
          </p:nvSpPr>
          <p:spPr bwMode="auto">
            <a:xfrm flipV="1">
              <a:off x="3912" y="2977"/>
              <a:ext cx="193" cy="12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0" name="Line 110">
              <a:extLst>
                <a:ext uri="{FF2B5EF4-FFF2-40B4-BE49-F238E27FC236}">
                  <a16:creationId xmlns:a16="http://schemas.microsoft.com/office/drawing/2014/main" id="{3F69FCAD-2725-0727-332B-E93F73B41345}"/>
                </a:ext>
              </a:extLst>
            </p:cNvPr>
            <p:cNvSpPr>
              <a:spLocks noChangeShapeType="1"/>
            </p:cNvSpPr>
            <p:nvPr/>
          </p:nvSpPr>
          <p:spPr bwMode="auto">
            <a:xfrm>
              <a:off x="3915" y="3220"/>
              <a:ext cx="212" cy="133"/>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71" name="Line 111">
              <a:extLst>
                <a:ext uri="{FF2B5EF4-FFF2-40B4-BE49-F238E27FC236}">
                  <a16:creationId xmlns:a16="http://schemas.microsoft.com/office/drawing/2014/main" id="{DD05E5BC-42CC-6137-E67E-27622D914C47}"/>
                </a:ext>
              </a:extLst>
            </p:cNvPr>
            <p:cNvSpPr>
              <a:spLocks noChangeShapeType="1"/>
            </p:cNvSpPr>
            <p:nvPr/>
          </p:nvSpPr>
          <p:spPr bwMode="auto">
            <a:xfrm flipV="1">
              <a:off x="4099" y="2682"/>
              <a:ext cx="0" cy="30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2" name="Line 112">
              <a:extLst>
                <a:ext uri="{FF2B5EF4-FFF2-40B4-BE49-F238E27FC236}">
                  <a16:creationId xmlns:a16="http://schemas.microsoft.com/office/drawing/2014/main" id="{01A5F016-91FC-05CD-8143-3A5A94856E82}"/>
                </a:ext>
              </a:extLst>
            </p:cNvPr>
            <p:cNvSpPr>
              <a:spLocks noChangeShapeType="1"/>
            </p:cNvSpPr>
            <p:nvPr/>
          </p:nvSpPr>
          <p:spPr bwMode="auto">
            <a:xfrm>
              <a:off x="4105" y="3335"/>
              <a:ext cx="0" cy="322"/>
            </a:xfrm>
            <a:prstGeom prst="line">
              <a:avLst/>
            </a:prstGeom>
            <a:noFill/>
            <a:ln w="38100">
              <a:solidFill>
                <a:schemeClr val="tx1"/>
              </a:solidFill>
              <a:round/>
              <a:headEnd/>
              <a:tailEnd type="oval" w="med" len="med"/>
            </a:ln>
            <a:extLst>
              <a:ext uri="{909E8E84-426E-40dd-AFC4-6F175D3DCCD1}">
                <a14:hiddenFill xmlns="" xmlns:a14="http://schemas.microsoft.com/office/drawing/2010/main">
                  <a:noFill/>
                </a14:hiddenFill>
              </a:ext>
            </a:extLst>
          </p:spPr>
          <p:txBody>
            <a:bodyPr/>
            <a:lstStyle/>
            <a:p>
              <a:endParaRPr lang="zh-CN" altLang="en-US"/>
            </a:p>
          </p:txBody>
        </p:sp>
        <p:sp>
          <p:nvSpPr>
            <p:cNvPr id="73" name="Line 113">
              <a:extLst>
                <a:ext uri="{FF2B5EF4-FFF2-40B4-BE49-F238E27FC236}">
                  <a16:creationId xmlns:a16="http://schemas.microsoft.com/office/drawing/2014/main" id="{C2382CAC-C42B-6490-4708-EE39354B4AF9}"/>
                </a:ext>
              </a:extLst>
            </p:cNvPr>
            <p:cNvSpPr>
              <a:spLocks noChangeShapeType="1"/>
            </p:cNvSpPr>
            <p:nvPr/>
          </p:nvSpPr>
          <p:spPr bwMode="auto">
            <a:xfrm flipH="1">
              <a:off x="3469" y="3657"/>
              <a:ext cx="1067"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4" name="Line 114">
              <a:extLst>
                <a:ext uri="{FF2B5EF4-FFF2-40B4-BE49-F238E27FC236}">
                  <a16:creationId xmlns:a16="http://schemas.microsoft.com/office/drawing/2014/main" id="{085F0960-78CF-5F0A-AC89-3C2660D436C0}"/>
                </a:ext>
              </a:extLst>
            </p:cNvPr>
            <p:cNvSpPr>
              <a:spLocks noChangeShapeType="1"/>
            </p:cNvSpPr>
            <p:nvPr/>
          </p:nvSpPr>
          <p:spPr bwMode="auto">
            <a:xfrm flipH="1">
              <a:off x="4103" y="2682"/>
              <a:ext cx="433"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75" name="Text Box 115">
              <a:extLst>
                <a:ext uri="{FF2B5EF4-FFF2-40B4-BE49-F238E27FC236}">
                  <a16:creationId xmlns:a16="http://schemas.microsoft.com/office/drawing/2014/main" id="{B927669A-2A68-DE28-60B3-C4BD121B420E}"/>
                </a:ext>
              </a:extLst>
            </p:cNvPr>
            <p:cNvSpPr txBox="1">
              <a:spLocks noChangeArrowheads="1"/>
            </p:cNvSpPr>
            <p:nvPr/>
          </p:nvSpPr>
          <p:spPr bwMode="auto">
            <a:xfrm>
              <a:off x="3560"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B</a:t>
              </a:r>
            </a:p>
          </p:txBody>
        </p:sp>
        <p:sp>
          <p:nvSpPr>
            <p:cNvPr id="76" name="Line 116">
              <a:extLst>
                <a:ext uri="{FF2B5EF4-FFF2-40B4-BE49-F238E27FC236}">
                  <a16:creationId xmlns:a16="http://schemas.microsoft.com/office/drawing/2014/main" id="{E6265471-1AE5-38A3-D396-25F2FCF6B02D}"/>
                </a:ext>
              </a:extLst>
            </p:cNvPr>
            <p:cNvSpPr>
              <a:spLocks noChangeShapeType="1"/>
            </p:cNvSpPr>
            <p:nvPr/>
          </p:nvSpPr>
          <p:spPr bwMode="auto">
            <a:xfrm flipH="1" flipV="1">
              <a:off x="3470" y="3067"/>
              <a:ext cx="340" cy="0"/>
            </a:xfrm>
            <a:prstGeom prst="line">
              <a:avLst/>
            </a:prstGeom>
            <a:noFill/>
            <a:ln w="28575">
              <a:solidFill>
                <a:schemeClr val="tx1"/>
              </a:solidFill>
              <a:round/>
              <a:headEnd type="triangle" w="med" len="lg"/>
              <a:tailEnd type="none" w="med" len="lg"/>
            </a:ln>
            <a:extLst>
              <a:ext uri="{909E8E84-426E-40dd-AFC4-6F175D3DCCD1}">
                <a14:hiddenFill xmlns="" xmlns:a14="http://schemas.microsoft.com/office/drawing/2010/main">
                  <a:noFill/>
                </a14:hiddenFill>
              </a:ext>
            </a:extLst>
          </p:spPr>
          <p:txBody>
            <a:bodyPr/>
            <a:lstStyle/>
            <a:p>
              <a:endParaRPr lang="zh-CN" altLang="en-US"/>
            </a:p>
          </p:txBody>
        </p:sp>
        <p:sp>
          <p:nvSpPr>
            <p:cNvPr id="77" name="Text Box 117">
              <a:extLst>
                <a:ext uri="{FF2B5EF4-FFF2-40B4-BE49-F238E27FC236}">
                  <a16:creationId xmlns:a16="http://schemas.microsoft.com/office/drawing/2014/main" id="{0849B709-A169-88EF-DA7F-29AEC1F71FC0}"/>
                </a:ext>
              </a:extLst>
            </p:cNvPr>
            <p:cNvSpPr txBox="1">
              <a:spLocks noChangeArrowheads="1"/>
            </p:cNvSpPr>
            <p:nvPr/>
          </p:nvSpPr>
          <p:spPr bwMode="auto">
            <a:xfrm>
              <a:off x="4248" y="2772"/>
              <a:ext cx="25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b="0" i="1">
                  <a:latin typeface="Times New Roman" panose="02020603050405020304" pitchFamily="18" charset="0"/>
                </a:rPr>
                <a:t>i</a:t>
              </a:r>
              <a:r>
                <a:rPr lang="en-US" altLang="zh-CN" sz="2400" b="0" baseline="-10000">
                  <a:latin typeface="Times New Roman" panose="02020603050405020304" pitchFamily="18" charset="0"/>
                </a:rPr>
                <a:t>C</a:t>
              </a:r>
            </a:p>
          </p:txBody>
        </p:sp>
        <p:sp>
          <p:nvSpPr>
            <p:cNvPr id="78" name="Line 118">
              <a:extLst>
                <a:ext uri="{FF2B5EF4-FFF2-40B4-BE49-F238E27FC236}">
                  <a16:creationId xmlns:a16="http://schemas.microsoft.com/office/drawing/2014/main" id="{DC8E21C3-62CE-61F0-31A5-A27C83662FD1}"/>
                </a:ext>
              </a:extLst>
            </p:cNvPr>
            <p:cNvSpPr>
              <a:spLocks noChangeShapeType="1"/>
            </p:cNvSpPr>
            <p:nvPr/>
          </p:nvSpPr>
          <p:spPr bwMode="auto">
            <a:xfrm flipH="1" flipV="1">
              <a:off x="4173" y="2772"/>
              <a:ext cx="340"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79" name="Text Box 119">
              <a:extLst>
                <a:ext uri="{FF2B5EF4-FFF2-40B4-BE49-F238E27FC236}">
                  <a16:creationId xmlns:a16="http://schemas.microsoft.com/office/drawing/2014/main" id="{AE7ABD91-0DF1-1BC4-D81F-5E4F2BD4A66E}"/>
                </a:ext>
              </a:extLst>
            </p:cNvPr>
            <p:cNvSpPr txBox="1">
              <a:spLocks noChangeArrowheads="1"/>
            </p:cNvSpPr>
            <p:nvPr/>
          </p:nvSpPr>
          <p:spPr bwMode="auto">
            <a:xfrm>
              <a:off x="3198" y="3045"/>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80" name="Text Box 120">
              <a:extLst>
                <a:ext uri="{FF2B5EF4-FFF2-40B4-BE49-F238E27FC236}">
                  <a16:creationId xmlns:a16="http://schemas.microsoft.com/office/drawing/2014/main" id="{5B71D63B-8BFB-25E2-C984-503F27EB5286}"/>
                </a:ext>
              </a:extLst>
            </p:cNvPr>
            <p:cNvSpPr txBox="1">
              <a:spLocks noChangeArrowheads="1"/>
            </p:cNvSpPr>
            <p:nvPr/>
          </p:nvSpPr>
          <p:spPr bwMode="auto">
            <a:xfrm>
              <a:off x="3198" y="3520"/>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81" name="Text Box 121">
              <a:extLst>
                <a:ext uri="{FF2B5EF4-FFF2-40B4-BE49-F238E27FC236}">
                  <a16:creationId xmlns:a16="http://schemas.microsoft.com/office/drawing/2014/main" id="{83DD32C9-378A-8F38-C090-FA9101B17752}"/>
                </a:ext>
              </a:extLst>
            </p:cNvPr>
            <p:cNvSpPr txBox="1">
              <a:spLocks noChangeArrowheads="1"/>
            </p:cNvSpPr>
            <p:nvPr/>
          </p:nvSpPr>
          <p:spPr bwMode="auto">
            <a:xfrm>
              <a:off x="3175" y="3201"/>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BE</a:t>
              </a:r>
            </a:p>
          </p:txBody>
        </p:sp>
        <p:sp>
          <p:nvSpPr>
            <p:cNvPr id="82" name="Text Box 122">
              <a:extLst>
                <a:ext uri="{FF2B5EF4-FFF2-40B4-BE49-F238E27FC236}">
                  <a16:creationId xmlns:a16="http://schemas.microsoft.com/office/drawing/2014/main" id="{9F82873B-9B55-360D-3F09-3FA9A5290E70}"/>
                </a:ext>
              </a:extLst>
            </p:cNvPr>
            <p:cNvSpPr txBox="1">
              <a:spLocks noChangeArrowheads="1"/>
            </p:cNvSpPr>
            <p:nvPr/>
          </p:nvSpPr>
          <p:spPr bwMode="auto">
            <a:xfrm>
              <a:off x="4503" y="2967"/>
              <a:ext cx="3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400" b="0" baseline="-20000">
                  <a:latin typeface="Times New Roman" panose="02020603050405020304" pitchFamily="18" charset="0"/>
                </a:rPr>
                <a:t>CE</a:t>
              </a:r>
            </a:p>
          </p:txBody>
        </p:sp>
        <p:sp>
          <p:nvSpPr>
            <p:cNvPr id="83" name="Text Box 123">
              <a:extLst>
                <a:ext uri="{FF2B5EF4-FFF2-40B4-BE49-F238E27FC236}">
                  <a16:creationId xmlns:a16="http://schemas.microsoft.com/office/drawing/2014/main" id="{B70549C5-871B-893D-7CF8-035ADE475F43}"/>
                </a:ext>
              </a:extLst>
            </p:cNvPr>
            <p:cNvSpPr txBox="1">
              <a:spLocks noChangeArrowheads="1"/>
            </p:cNvSpPr>
            <p:nvPr/>
          </p:nvSpPr>
          <p:spPr bwMode="auto">
            <a:xfrm>
              <a:off x="4581" y="2546"/>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84" name="Text Box 124">
              <a:extLst>
                <a:ext uri="{FF2B5EF4-FFF2-40B4-BE49-F238E27FC236}">
                  <a16:creationId xmlns:a16="http://schemas.microsoft.com/office/drawing/2014/main" id="{17A89F43-6D11-31CE-6F58-FE82E743D51B}"/>
                </a:ext>
              </a:extLst>
            </p:cNvPr>
            <p:cNvSpPr txBox="1">
              <a:spLocks noChangeArrowheads="1"/>
            </p:cNvSpPr>
            <p:nvPr/>
          </p:nvSpPr>
          <p:spPr bwMode="auto">
            <a:xfrm>
              <a:off x="4603" y="3498"/>
              <a:ext cx="20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pic>
        <p:nvPicPr>
          <p:cNvPr id="85" name="Picture 36">
            <a:extLst>
              <a:ext uri="{FF2B5EF4-FFF2-40B4-BE49-F238E27FC236}">
                <a16:creationId xmlns:a16="http://schemas.microsoft.com/office/drawing/2014/main" id="{972A8FBF-B26C-0D7A-DB77-C185960B8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6243" y="4121882"/>
            <a:ext cx="1970886" cy="23654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86" name="Group 45">
            <a:extLst>
              <a:ext uri="{FF2B5EF4-FFF2-40B4-BE49-F238E27FC236}">
                <a16:creationId xmlns:a16="http://schemas.microsoft.com/office/drawing/2014/main" id="{00E1027E-7B50-611F-45DD-82908A1D4CD6}"/>
              </a:ext>
            </a:extLst>
          </p:cNvPr>
          <p:cNvGrpSpPr>
            <a:grpSpLocks/>
          </p:cNvGrpSpPr>
          <p:nvPr/>
        </p:nvGrpSpPr>
        <p:grpSpPr bwMode="auto">
          <a:xfrm>
            <a:off x="575759" y="4149026"/>
            <a:ext cx="1963738" cy="2328862"/>
            <a:chOff x="133" y="1879"/>
            <a:chExt cx="1237" cy="1467"/>
          </a:xfrm>
        </p:grpSpPr>
        <p:sp>
          <p:nvSpPr>
            <p:cNvPr id="87" name="Text Box 31">
              <a:extLst>
                <a:ext uri="{FF2B5EF4-FFF2-40B4-BE49-F238E27FC236}">
                  <a16:creationId xmlns:a16="http://schemas.microsoft.com/office/drawing/2014/main" id="{4BB7CC82-0B18-68D6-5F86-24FA9C41E3BE}"/>
                </a:ext>
              </a:extLst>
            </p:cNvPr>
            <p:cNvSpPr txBox="1">
              <a:spLocks noChangeArrowheads="1"/>
            </p:cNvSpPr>
            <p:nvPr/>
          </p:nvSpPr>
          <p:spPr bwMode="auto">
            <a:xfrm>
              <a:off x="262" y="2837"/>
              <a:ext cx="35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800" b="0" baseline="-10000">
                  <a:latin typeface="Times New Roman" panose="02020603050405020304" pitchFamily="18" charset="0"/>
                </a:rPr>
                <a:t>gs</a:t>
              </a:r>
            </a:p>
          </p:txBody>
        </p:sp>
        <p:sp>
          <p:nvSpPr>
            <p:cNvPr id="88" name="Line 11">
              <a:extLst>
                <a:ext uri="{FF2B5EF4-FFF2-40B4-BE49-F238E27FC236}">
                  <a16:creationId xmlns:a16="http://schemas.microsoft.com/office/drawing/2014/main" id="{3BF115E0-9644-3770-29BE-67E22C79EEE0}"/>
                </a:ext>
              </a:extLst>
            </p:cNvPr>
            <p:cNvSpPr>
              <a:spLocks noChangeShapeType="1"/>
            </p:cNvSpPr>
            <p:nvPr/>
          </p:nvSpPr>
          <p:spPr bwMode="auto">
            <a:xfrm>
              <a:off x="743" y="2580"/>
              <a:ext cx="0" cy="8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89" name="Line 12">
              <a:extLst>
                <a:ext uri="{FF2B5EF4-FFF2-40B4-BE49-F238E27FC236}">
                  <a16:creationId xmlns:a16="http://schemas.microsoft.com/office/drawing/2014/main" id="{B22C52C4-394C-3633-1E33-FC9DD7778EDB}"/>
                </a:ext>
              </a:extLst>
            </p:cNvPr>
            <p:cNvSpPr>
              <a:spLocks noChangeShapeType="1"/>
            </p:cNvSpPr>
            <p:nvPr/>
          </p:nvSpPr>
          <p:spPr bwMode="auto">
            <a:xfrm>
              <a:off x="743" y="2699"/>
              <a:ext cx="0" cy="8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0" name="Line 13">
              <a:extLst>
                <a:ext uri="{FF2B5EF4-FFF2-40B4-BE49-F238E27FC236}">
                  <a16:creationId xmlns:a16="http://schemas.microsoft.com/office/drawing/2014/main" id="{D3F1C724-4984-D53C-9867-3608ABBB6364}"/>
                </a:ext>
              </a:extLst>
            </p:cNvPr>
            <p:cNvSpPr>
              <a:spLocks noChangeShapeType="1"/>
            </p:cNvSpPr>
            <p:nvPr/>
          </p:nvSpPr>
          <p:spPr bwMode="auto">
            <a:xfrm>
              <a:off x="743" y="2818"/>
              <a:ext cx="0" cy="8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1" name="Line 14">
              <a:extLst>
                <a:ext uri="{FF2B5EF4-FFF2-40B4-BE49-F238E27FC236}">
                  <a16:creationId xmlns:a16="http://schemas.microsoft.com/office/drawing/2014/main" id="{E90B9796-531E-3D2C-CD61-CFD40901CB3C}"/>
                </a:ext>
              </a:extLst>
            </p:cNvPr>
            <p:cNvSpPr>
              <a:spLocks noChangeShapeType="1"/>
            </p:cNvSpPr>
            <p:nvPr/>
          </p:nvSpPr>
          <p:spPr bwMode="auto">
            <a:xfrm>
              <a:off x="743" y="2740"/>
              <a:ext cx="11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2" name="Line 15">
              <a:extLst>
                <a:ext uri="{FF2B5EF4-FFF2-40B4-BE49-F238E27FC236}">
                  <a16:creationId xmlns:a16="http://schemas.microsoft.com/office/drawing/2014/main" id="{FCDE5C48-D041-B306-7B92-8856B8E76A63}"/>
                </a:ext>
              </a:extLst>
            </p:cNvPr>
            <p:cNvSpPr>
              <a:spLocks noChangeShapeType="1"/>
            </p:cNvSpPr>
            <p:nvPr/>
          </p:nvSpPr>
          <p:spPr bwMode="auto">
            <a:xfrm>
              <a:off x="664" y="2620"/>
              <a:ext cx="0" cy="239"/>
            </a:xfrm>
            <a:prstGeom prst="line">
              <a:avLst/>
            </a:prstGeom>
            <a:noFill/>
            <a:ln w="38100">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3" name="Line 16">
              <a:extLst>
                <a:ext uri="{FF2B5EF4-FFF2-40B4-BE49-F238E27FC236}">
                  <a16:creationId xmlns:a16="http://schemas.microsoft.com/office/drawing/2014/main" id="{E53DF10B-B417-FE89-4CE3-9A665363B687}"/>
                </a:ext>
              </a:extLst>
            </p:cNvPr>
            <p:cNvSpPr>
              <a:spLocks noChangeShapeType="1"/>
            </p:cNvSpPr>
            <p:nvPr/>
          </p:nvSpPr>
          <p:spPr bwMode="auto">
            <a:xfrm>
              <a:off x="743" y="2620"/>
              <a:ext cx="184"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4" name="Line 17">
              <a:extLst>
                <a:ext uri="{FF2B5EF4-FFF2-40B4-BE49-F238E27FC236}">
                  <a16:creationId xmlns:a16="http://schemas.microsoft.com/office/drawing/2014/main" id="{77418B2B-44D3-49DA-09BA-2DE52C5D5BFD}"/>
                </a:ext>
              </a:extLst>
            </p:cNvPr>
            <p:cNvSpPr>
              <a:spLocks noChangeShapeType="1"/>
            </p:cNvSpPr>
            <p:nvPr/>
          </p:nvSpPr>
          <p:spPr bwMode="auto">
            <a:xfrm>
              <a:off x="743" y="2859"/>
              <a:ext cx="184" cy="0"/>
            </a:xfrm>
            <a:prstGeom prst="line">
              <a:avLst/>
            </a:prstGeom>
            <a:noFill/>
            <a:ln w="28575">
              <a:solidFill>
                <a:srgbClr val="000000"/>
              </a:solidFill>
              <a:round/>
              <a:headEnd/>
              <a:tailEnd type="oval" w="med" len="me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5" name="Line 18">
              <a:extLst>
                <a:ext uri="{FF2B5EF4-FFF2-40B4-BE49-F238E27FC236}">
                  <a16:creationId xmlns:a16="http://schemas.microsoft.com/office/drawing/2014/main" id="{2739A003-AB7B-D052-239B-6E3C3BCD961D}"/>
                </a:ext>
              </a:extLst>
            </p:cNvPr>
            <p:cNvSpPr>
              <a:spLocks noChangeShapeType="1"/>
            </p:cNvSpPr>
            <p:nvPr/>
          </p:nvSpPr>
          <p:spPr bwMode="auto">
            <a:xfrm>
              <a:off x="743" y="2740"/>
              <a:ext cx="184" cy="0"/>
            </a:xfrm>
            <a:prstGeom prst="line">
              <a:avLst/>
            </a:prstGeom>
            <a:noFill/>
            <a:ln w="28575">
              <a:solidFill>
                <a:srgbClr val="000000"/>
              </a:solidFill>
              <a:round/>
              <a:headEnd type="triangle" w="med" len="lg"/>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6" name="Line 19">
              <a:extLst>
                <a:ext uri="{FF2B5EF4-FFF2-40B4-BE49-F238E27FC236}">
                  <a16:creationId xmlns:a16="http://schemas.microsoft.com/office/drawing/2014/main" id="{9CB5930C-D8B9-0201-1490-74A990FEBAF1}"/>
                </a:ext>
              </a:extLst>
            </p:cNvPr>
            <p:cNvSpPr>
              <a:spLocks noChangeShapeType="1"/>
            </p:cNvSpPr>
            <p:nvPr/>
          </p:nvSpPr>
          <p:spPr bwMode="auto">
            <a:xfrm>
              <a:off x="363" y="2859"/>
              <a:ext cx="304"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7" name="Line 20">
              <a:extLst>
                <a:ext uri="{FF2B5EF4-FFF2-40B4-BE49-F238E27FC236}">
                  <a16:creationId xmlns:a16="http://schemas.microsoft.com/office/drawing/2014/main" id="{88C7A54B-827F-35EF-E01E-8632FC8C837C}"/>
                </a:ext>
              </a:extLst>
            </p:cNvPr>
            <p:cNvSpPr>
              <a:spLocks noChangeShapeType="1"/>
            </p:cNvSpPr>
            <p:nvPr/>
          </p:nvSpPr>
          <p:spPr bwMode="auto">
            <a:xfrm>
              <a:off x="927" y="2302"/>
              <a:ext cx="0" cy="318"/>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zh-CN" altLang="en-US"/>
            </a:p>
          </p:txBody>
        </p:sp>
        <p:sp>
          <p:nvSpPr>
            <p:cNvPr id="98" name="Rectangle 21">
              <a:extLst>
                <a:ext uri="{FF2B5EF4-FFF2-40B4-BE49-F238E27FC236}">
                  <a16:creationId xmlns:a16="http://schemas.microsoft.com/office/drawing/2014/main" id="{429F6B44-CED8-76FA-BE01-45FBEA04724B}"/>
                </a:ext>
              </a:extLst>
            </p:cNvPr>
            <p:cNvSpPr>
              <a:spLocks noChangeArrowheads="1"/>
            </p:cNvSpPr>
            <p:nvPr/>
          </p:nvSpPr>
          <p:spPr bwMode="auto">
            <a:xfrm flipH="1">
              <a:off x="434" y="2580"/>
              <a:ext cx="96" cy="2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ea typeface="楷体_GB2312" pitchFamily="49" charset="-122"/>
                </a:rPr>
                <a:t>g</a:t>
              </a:r>
            </a:p>
          </p:txBody>
        </p:sp>
        <p:sp>
          <p:nvSpPr>
            <p:cNvPr id="99" name="Rectangle 22">
              <a:extLst>
                <a:ext uri="{FF2B5EF4-FFF2-40B4-BE49-F238E27FC236}">
                  <a16:creationId xmlns:a16="http://schemas.microsoft.com/office/drawing/2014/main" id="{AA28AF0B-B9A0-4B50-A554-35C36299A00F}"/>
                </a:ext>
              </a:extLst>
            </p:cNvPr>
            <p:cNvSpPr>
              <a:spLocks noChangeArrowheads="1"/>
            </p:cNvSpPr>
            <p:nvPr/>
          </p:nvSpPr>
          <p:spPr bwMode="auto">
            <a:xfrm flipH="1">
              <a:off x="771" y="2898"/>
              <a:ext cx="75" cy="2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ea typeface="楷体_GB2312" pitchFamily="49" charset="-122"/>
                </a:rPr>
                <a:t>s</a:t>
              </a:r>
            </a:p>
          </p:txBody>
        </p:sp>
        <p:sp>
          <p:nvSpPr>
            <p:cNvPr id="100" name="Rectangle 23">
              <a:extLst>
                <a:ext uri="{FF2B5EF4-FFF2-40B4-BE49-F238E27FC236}">
                  <a16:creationId xmlns:a16="http://schemas.microsoft.com/office/drawing/2014/main" id="{3D8F91B8-6651-A34D-C40F-E2C5570BC4AC}"/>
                </a:ext>
              </a:extLst>
            </p:cNvPr>
            <p:cNvSpPr>
              <a:spLocks noChangeArrowheads="1"/>
            </p:cNvSpPr>
            <p:nvPr/>
          </p:nvSpPr>
          <p:spPr bwMode="auto">
            <a:xfrm flipH="1">
              <a:off x="777" y="2302"/>
              <a:ext cx="96" cy="2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ea typeface="楷体_GB2312" pitchFamily="49" charset="-122"/>
                </a:rPr>
                <a:t>d</a:t>
              </a:r>
            </a:p>
          </p:txBody>
        </p:sp>
        <p:sp>
          <p:nvSpPr>
            <p:cNvPr id="101" name="Line 24">
              <a:extLst>
                <a:ext uri="{FF2B5EF4-FFF2-40B4-BE49-F238E27FC236}">
                  <a16:creationId xmlns:a16="http://schemas.microsoft.com/office/drawing/2014/main" id="{8ABA4938-FFE4-FE4A-CA56-D326A7B347D8}"/>
                </a:ext>
              </a:extLst>
            </p:cNvPr>
            <p:cNvSpPr>
              <a:spLocks noChangeShapeType="1"/>
            </p:cNvSpPr>
            <p:nvPr/>
          </p:nvSpPr>
          <p:spPr bwMode="auto">
            <a:xfrm>
              <a:off x="927" y="2740"/>
              <a:ext cx="0" cy="476"/>
            </a:xfrm>
            <a:prstGeom prst="line">
              <a:avLst/>
            </a:prstGeom>
            <a:noFill/>
            <a:ln w="28575">
              <a:solidFill>
                <a:schemeClr val="tx1"/>
              </a:solidFill>
              <a:round/>
              <a:headEnd/>
              <a:tailEnd type="oval" w="med" len="med"/>
            </a:ln>
            <a:extLst>
              <a:ext uri="{909E8E84-426E-40dd-AFC4-6F175D3DCCD1}">
                <a14:hiddenFill xmlns="" xmlns:a14="http://schemas.microsoft.com/office/drawing/2010/main">
                  <a:noFill/>
                </a14:hiddenFill>
              </a:ext>
            </a:extLst>
          </p:spPr>
          <p:txBody>
            <a:bodyPr/>
            <a:lstStyle/>
            <a:p>
              <a:endParaRPr lang="zh-CN" altLang="en-US"/>
            </a:p>
          </p:txBody>
        </p:sp>
        <p:sp>
          <p:nvSpPr>
            <p:cNvPr id="102" name="Line 25">
              <a:extLst>
                <a:ext uri="{FF2B5EF4-FFF2-40B4-BE49-F238E27FC236}">
                  <a16:creationId xmlns:a16="http://schemas.microsoft.com/office/drawing/2014/main" id="{778BC832-E7D5-E5B0-6373-DD06E42340E3}"/>
                </a:ext>
              </a:extLst>
            </p:cNvPr>
            <p:cNvSpPr>
              <a:spLocks noChangeShapeType="1"/>
            </p:cNvSpPr>
            <p:nvPr/>
          </p:nvSpPr>
          <p:spPr bwMode="auto">
            <a:xfrm flipH="1">
              <a:off x="376" y="3216"/>
              <a:ext cx="92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3" name="Line 26">
              <a:extLst>
                <a:ext uri="{FF2B5EF4-FFF2-40B4-BE49-F238E27FC236}">
                  <a16:creationId xmlns:a16="http://schemas.microsoft.com/office/drawing/2014/main" id="{453BAE3F-5397-8DAC-D575-4BDBA1FA2AD1}"/>
                </a:ext>
              </a:extLst>
            </p:cNvPr>
            <p:cNvSpPr>
              <a:spLocks noChangeShapeType="1"/>
            </p:cNvSpPr>
            <p:nvPr/>
          </p:nvSpPr>
          <p:spPr bwMode="auto">
            <a:xfrm flipH="1">
              <a:off x="925" y="2302"/>
              <a:ext cx="37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4" name="Text Box 27">
              <a:extLst>
                <a:ext uri="{FF2B5EF4-FFF2-40B4-BE49-F238E27FC236}">
                  <a16:creationId xmlns:a16="http://schemas.microsoft.com/office/drawing/2014/main" id="{84C741FB-B3AC-74FA-2E2A-8A484F2FD78F}"/>
                </a:ext>
              </a:extLst>
            </p:cNvPr>
            <p:cNvSpPr txBox="1">
              <a:spLocks noChangeArrowheads="1"/>
            </p:cNvSpPr>
            <p:nvPr/>
          </p:nvSpPr>
          <p:spPr bwMode="auto">
            <a:xfrm>
              <a:off x="1050" y="1879"/>
              <a:ext cx="254"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i</a:t>
              </a:r>
              <a:r>
                <a:rPr lang="en-US" altLang="zh-CN" sz="2800" b="0" baseline="-10000">
                  <a:latin typeface="Times New Roman" panose="02020603050405020304" pitchFamily="18" charset="0"/>
                </a:rPr>
                <a:t>d</a:t>
              </a:r>
            </a:p>
          </p:txBody>
        </p:sp>
        <p:sp>
          <p:nvSpPr>
            <p:cNvPr id="105" name="Line 28">
              <a:extLst>
                <a:ext uri="{FF2B5EF4-FFF2-40B4-BE49-F238E27FC236}">
                  <a16:creationId xmlns:a16="http://schemas.microsoft.com/office/drawing/2014/main" id="{2A89C620-9778-2F84-FD5A-D25C15216D9E}"/>
                </a:ext>
              </a:extLst>
            </p:cNvPr>
            <p:cNvSpPr>
              <a:spLocks noChangeShapeType="1"/>
            </p:cNvSpPr>
            <p:nvPr/>
          </p:nvSpPr>
          <p:spPr bwMode="auto">
            <a:xfrm flipH="1" flipV="1">
              <a:off x="985" y="2205"/>
              <a:ext cx="295" cy="0"/>
            </a:xfrm>
            <a:prstGeom prst="line">
              <a:avLst/>
            </a:prstGeom>
            <a:noFill/>
            <a:ln w="28575">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106" name="Text Box 29">
              <a:extLst>
                <a:ext uri="{FF2B5EF4-FFF2-40B4-BE49-F238E27FC236}">
                  <a16:creationId xmlns:a16="http://schemas.microsoft.com/office/drawing/2014/main" id="{10681A94-02E7-699D-F0F6-9063ED90B59E}"/>
                </a:ext>
              </a:extLst>
            </p:cNvPr>
            <p:cNvSpPr txBox="1">
              <a:spLocks noChangeArrowheads="1"/>
            </p:cNvSpPr>
            <p:nvPr/>
          </p:nvSpPr>
          <p:spPr bwMode="auto">
            <a:xfrm>
              <a:off x="133" y="2759"/>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107" name="Text Box 30">
              <a:extLst>
                <a:ext uri="{FF2B5EF4-FFF2-40B4-BE49-F238E27FC236}">
                  <a16:creationId xmlns:a16="http://schemas.microsoft.com/office/drawing/2014/main" id="{0D14D213-1016-5389-7F03-FD27AFA1ED9C}"/>
                </a:ext>
              </a:extLst>
            </p:cNvPr>
            <p:cNvSpPr txBox="1">
              <a:spLocks noChangeArrowheads="1"/>
            </p:cNvSpPr>
            <p:nvPr/>
          </p:nvSpPr>
          <p:spPr bwMode="auto">
            <a:xfrm>
              <a:off x="133" y="3095"/>
              <a:ext cx="205"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108" name="Text Box 32">
              <a:extLst>
                <a:ext uri="{FF2B5EF4-FFF2-40B4-BE49-F238E27FC236}">
                  <a16:creationId xmlns:a16="http://schemas.microsoft.com/office/drawing/2014/main" id="{9E07983C-6F08-4AE0-2EF4-7DD811762D3B}"/>
                </a:ext>
              </a:extLst>
            </p:cNvPr>
            <p:cNvSpPr txBox="1">
              <a:spLocks noChangeArrowheads="1"/>
            </p:cNvSpPr>
            <p:nvPr/>
          </p:nvSpPr>
          <p:spPr bwMode="auto">
            <a:xfrm>
              <a:off x="1020" y="2582"/>
              <a:ext cx="35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800" b="0" baseline="-15000">
                  <a:latin typeface="Times New Roman" panose="02020603050405020304" pitchFamily="18" charset="0"/>
                </a:rPr>
                <a:t>ds</a:t>
              </a:r>
            </a:p>
          </p:txBody>
        </p:sp>
        <p:sp>
          <p:nvSpPr>
            <p:cNvPr id="109" name="Text Box 33">
              <a:extLst>
                <a:ext uri="{FF2B5EF4-FFF2-40B4-BE49-F238E27FC236}">
                  <a16:creationId xmlns:a16="http://schemas.microsoft.com/office/drawing/2014/main" id="{3007851A-9E06-661A-9361-97898A34A29E}"/>
                </a:ext>
              </a:extLst>
            </p:cNvPr>
            <p:cNvSpPr txBox="1">
              <a:spLocks noChangeArrowheads="1"/>
            </p:cNvSpPr>
            <p:nvPr/>
          </p:nvSpPr>
          <p:spPr bwMode="auto">
            <a:xfrm>
              <a:off x="1134" y="2296"/>
              <a:ext cx="21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110" name="Text Box 34">
              <a:extLst>
                <a:ext uri="{FF2B5EF4-FFF2-40B4-BE49-F238E27FC236}">
                  <a16:creationId xmlns:a16="http://schemas.microsoft.com/office/drawing/2014/main" id="{E9887440-9B24-1532-DDBD-2439B871AE6C}"/>
                </a:ext>
              </a:extLst>
            </p:cNvPr>
            <p:cNvSpPr txBox="1">
              <a:spLocks noChangeArrowheads="1"/>
            </p:cNvSpPr>
            <p:nvPr/>
          </p:nvSpPr>
          <p:spPr bwMode="auto">
            <a:xfrm>
              <a:off x="1111" y="2975"/>
              <a:ext cx="205"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pic>
        <p:nvPicPr>
          <p:cNvPr id="111" name="Picture 37">
            <a:extLst>
              <a:ext uri="{FF2B5EF4-FFF2-40B4-BE49-F238E27FC236}">
                <a16:creationId xmlns:a16="http://schemas.microsoft.com/office/drawing/2014/main" id="{D56CCFC5-A365-BF8D-3478-FF921EE6F2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0902" y="3848601"/>
            <a:ext cx="2916064" cy="28054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12" name="Group 43">
            <a:extLst>
              <a:ext uri="{FF2B5EF4-FFF2-40B4-BE49-F238E27FC236}">
                <a16:creationId xmlns:a16="http://schemas.microsoft.com/office/drawing/2014/main" id="{AB599365-38C8-7A0F-6015-A660165BC1A7}"/>
              </a:ext>
            </a:extLst>
          </p:cNvPr>
          <p:cNvGrpSpPr>
            <a:grpSpLocks/>
          </p:cNvGrpSpPr>
          <p:nvPr/>
        </p:nvGrpSpPr>
        <p:grpSpPr bwMode="auto">
          <a:xfrm>
            <a:off x="2651128" y="3379868"/>
            <a:ext cx="3168650" cy="733425"/>
            <a:chOff x="544" y="777"/>
            <a:chExt cx="1996" cy="462"/>
          </a:xfrm>
        </p:grpSpPr>
        <p:sp>
          <p:nvSpPr>
            <p:cNvPr id="113" name="Text Box 9">
              <a:extLst>
                <a:ext uri="{FF2B5EF4-FFF2-40B4-BE49-F238E27FC236}">
                  <a16:creationId xmlns:a16="http://schemas.microsoft.com/office/drawing/2014/main" id="{6FDBA7B9-D82C-74AC-8E81-55284052A9A4}"/>
                </a:ext>
              </a:extLst>
            </p:cNvPr>
            <p:cNvSpPr txBox="1">
              <a:spLocks noChangeArrowheads="1"/>
            </p:cNvSpPr>
            <p:nvPr/>
          </p:nvSpPr>
          <p:spPr bwMode="auto">
            <a:xfrm>
              <a:off x="544" y="777"/>
              <a:ext cx="1996" cy="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Aft>
                  <a:spcPct val="0"/>
                </a:spcAft>
                <a:buFontTx/>
                <a:buNone/>
              </a:pPr>
              <a:r>
                <a:rPr kumimoji="1" lang="en-US" altLang="zh-CN" sz="2800" i="1" dirty="0">
                  <a:latin typeface="Times New Roman" panose="02020603050405020304" pitchFamily="18" charset="0"/>
                  <a:ea typeface="黑体" panose="02010609060101010101" pitchFamily="49" charset="-122"/>
                </a:rPr>
                <a:t>i</a:t>
              </a:r>
              <a:r>
                <a:rPr kumimoji="1" lang="en-US" altLang="zh-CN" sz="2800" baseline="-25000" dirty="0">
                  <a:latin typeface="Times New Roman" panose="02020603050405020304" pitchFamily="18" charset="0"/>
                  <a:ea typeface="黑体" panose="02010609060101010101" pitchFamily="49" charset="-122"/>
                </a:rPr>
                <a:t>d </a:t>
              </a:r>
              <a:r>
                <a:rPr kumimoji="1" lang="en-US" altLang="zh-CN" sz="2800" dirty="0">
                  <a:latin typeface="Times New Roman" panose="02020603050405020304" pitchFamily="18" charset="0"/>
                  <a:ea typeface="黑体" panose="02010609060101010101" pitchFamily="49" charset="-122"/>
                </a:rPr>
                <a:t>= </a:t>
              </a:r>
              <a:r>
                <a:rPr kumimoji="1" lang="en-US" altLang="zh-CN" sz="2800" i="1" dirty="0">
                  <a:latin typeface="Times New Roman" panose="02020603050405020304" pitchFamily="18" charset="0"/>
                  <a:ea typeface="黑体" panose="02010609060101010101" pitchFamily="49" charset="-122"/>
                </a:rPr>
                <a:t>f </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800" baseline="-25000" dirty="0" err="1">
                  <a:latin typeface="Times New Roman" panose="02020603050405020304" pitchFamily="18" charset="0"/>
                  <a:ea typeface="黑体" panose="02010609060101010101" pitchFamily="49" charset="-122"/>
                </a:rPr>
                <a:t>gs</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endParaRPr kumimoji="1" lang="zh-CN" altLang="en-US" sz="2800" dirty="0">
                <a:latin typeface="Times New Roman" panose="02020603050405020304" pitchFamily="18" charset="0"/>
                <a:ea typeface="黑体" panose="02010609060101010101" pitchFamily="49" charset="-122"/>
              </a:endParaRPr>
            </a:p>
          </p:txBody>
        </p:sp>
        <p:sp>
          <p:nvSpPr>
            <p:cNvPr id="114" name="Rectangle 40">
              <a:extLst>
                <a:ext uri="{FF2B5EF4-FFF2-40B4-BE49-F238E27FC236}">
                  <a16:creationId xmlns:a16="http://schemas.microsoft.com/office/drawing/2014/main" id="{0BEC4912-4346-92C9-8EAF-C7D535A9F1CD}"/>
                </a:ext>
              </a:extLst>
            </p:cNvPr>
            <p:cNvSpPr>
              <a:spLocks noChangeArrowheads="1"/>
            </p:cNvSpPr>
            <p:nvPr/>
          </p:nvSpPr>
          <p:spPr bwMode="auto">
            <a:xfrm>
              <a:off x="1587" y="957"/>
              <a:ext cx="769" cy="2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i="1" baseline="-10000" dirty="0" err="1">
                  <a:latin typeface="Times New Roman" panose="02020603050405020304" pitchFamily="18" charset="0"/>
                  <a:ea typeface="黑体" panose="02010609060101010101" pitchFamily="49" charset="-122"/>
                </a:rPr>
                <a:t>v</a:t>
              </a:r>
              <a:r>
                <a:rPr kumimoji="1" lang="en-US" altLang="zh-CN" sz="2800" baseline="-30000" dirty="0" err="1">
                  <a:latin typeface="Times New Roman" panose="02020603050405020304" pitchFamily="18" charset="0"/>
                  <a:ea typeface="黑体" panose="02010609060101010101" pitchFamily="49" charset="-122"/>
                </a:rPr>
                <a:t>ds</a:t>
              </a:r>
              <a:r>
                <a:rPr kumimoji="1" lang="en-US" altLang="zh-CN" baseline="-10000" dirty="0">
                  <a:latin typeface="Times New Roman" panose="02020603050405020304" pitchFamily="18" charset="0"/>
                  <a:ea typeface="黑体" panose="02010609060101010101" pitchFamily="49" charset="-122"/>
                </a:rPr>
                <a:t>=</a:t>
              </a:r>
              <a:r>
                <a:rPr kumimoji="1" lang="zh-CN" altLang="en-US" baseline="-10000" dirty="0">
                  <a:latin typeface="Times New Roman" panose="02020603050405020304" pitchFamily="18" charset="0"/>
                  <a:ea typeface="黑体" panose="02010609060101010101" pitchFamily="49" charset="-122"/>
                </a:rPr>
                <a:t>常数</a:t>
              </a:r>
            </a:p>
          </p:txBody>
        </p:sp>
      </p:grpSp>
      <p:grpSp>
        <p:nvGrpSpPr>
          <p:cNvPr id="115" name="Group 44">
            <a:extLst>
              <a:ext uri="{FF2B5EF4-FFF2-40B4-BE49-F238E27FC236}">
                <a16:creationId xmlns:a16="http://schemas.microsoft.com/office/drawing/2014/main" id="{9C52785A-FF46-D0B1-7FAD-4AEBE4FE575F}"/>
              </a:ext>
            </a:extLst>
          </p:cNvPr>
          <p:cNvGrpSpPr>
            <a:grpSpLocks/>
          </p:cNvGrpSpPr>
          <p:nvPr/>
        </p:nvGrpSpPr>
        <p:grpSpPr bwMode="auto">
          <a:xfrm>
            <a:off x="6083244" y="3080381"/>
            <a:ext cx="3168650" cy="736600"/>
            <a:chOff x="3016" y="777"/>
            <a:chExt cx="1996" cy="464"/>
          </a:xfrm>
        </p:grpSpPr>
        <p:sp>
          <p:nvSpPr>
            <p:cNvPr id="116" name="Text Box 10">
              <a:extLst>
                <a:ext uri="{FF2B5EF4-FFF2-40B4-BE49-F238E27FC236}">
                  <a16:creationId xmlns:a16="http://schemas.microsoft.com/office/drawing/2014/main" id="{022189C9-34BC-7F19-C403-1E93B0F7AB73}"/>
                </a:ext>
              </a:extLst>
            </p:cNvPr>
            <p:cNvSpPr txBox="1">
              <a:spLocks noChangeArrowheads="1"/>
            </p:cNvSpPr>
            <p:nvPr/>
          </p:nvSpPr>
          <p:spPr bwMode="auto">
            <a:xfrm>
              <a:off x="3016" y="777"/>
              <a:ext cx="1996" cy="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Aft>
                  <a:spcPct val="0"/>
                </a:spcAft>
                <a:buFontTx/>
                <a:buNone/>
              </a:pPr>
              <a:r>
                <a:rPr kumimoji="1" lang="en-US" altLang="zh-CN" sz="2800" i="1">
                  <a:latin typeface="Times New Roman" panose="02020603050405020304" pitchFamily="18" charset="0"/>
                  <a:ea typeface="黑体" panose="02010609060101010101" pitchFamily="49" charset="-122"/>
                </a:rPr>
                <a:t>i</a:t>
              </a:r>
              <a:r>
                <a:rPr kumimoji="1" lang="en-US" altLang="zh-CN" sz="2800" baseline="-25000">
                  <a:latin typeface="Times New Roman" panose="02020603050405020304" pitchFamily="18" charset="0"/>
                  <a:ea typeface="黑体" panose="02010609060101010101" pitchFamily="49" charset="-122"/>
                </a:rPr>
                <a:t>d </a:t>
              </a:r>
              <a:r>
                <a:rPr kumimoji="1" lang="en-US" altLang="zh-CN" sz="2800">
                  <a:latin typeface="Times New Roman" panose="02020603050405020304" pitchFamily="18" charset="0"/>
                  <a:ea typeface="黑体" panose="02010609060101010101" pitchFamily="49" charset="-122"/>
                </a:rPr>
                <a:t>= </a:t>
              </a:r>
              <a:r>
                <a:rPr kumimoji="1" lang="en-US" altLang="zh-CN" sz="2800" i="1">
                  <a:latin typeface="Times New Roman" panose="02020603050405020304" pitchFamily="18" charset="0"/>
                  <a:ea typeface="黑体" panose="02010609060101010101" pitchFamily="49" charset="-122"/>
                </a:rPr>
                <a:t>f </a:t>
              </a:r>
              <a:r>
                <a:rPr kumimoji="1" lang="en-US" altLang="zh-CN" sz="2800">
                  <a:latin typeface="Times New Roman" panose="02020603050405020304" pitchFamily="18" charset="0"/>
                  <a:ea typeface="黑体" panose="02010609060101010101" pitchFamily="49" charset="-122"/>
                </a:rPr>
                <a:t>(</a:t>
              </a:r>
              <a:r>
                <a:rPr kumimoji="1" lang="en-US" altLang="zh-CN" sz="2800" i="1">
                  <a:latin typeface="Times New Roman" panose="02020603050405020304" pitchFamily="18" charset="0"/>
                  <a:ea typeface="黑体" panose="02010609060101010101" pitchFamily="49" charset="-122"/>
                </a:rPr>
                <a:t>v</a:t>
              </a:r>
              <a:r>
                <a:rPr kumimoji="1" lang="en-US" altLang="zh-CN" sz="2800" baseline="-25000">
                  <a:latin typeface="Times New Roman" panose="02020603050405020304" pitchFamily="18" charset="0"/>
                  <a:ea typeface="黑体" panose="02010609060101010101" pitchFamily="49" charset="-122"/>
                </a:rPr>
                <a:t>ds</a:t>
              </a:r>
              <a:r>
                <a:rPr kumimoji="1" lang="en-US" altLang="zh-CN" sz="2800">
                  <a:latin typeface="Times New Roman" panose="02020603050405020304" pitchFamily="18" charset="0"/>
                  <a:ea typeface="黑体" panose="02010609060101010101" pitchFamily="49" charset="-122"/>
                </a:rPr>
                <a:t>)</a:t>
              </a:r>
              <a:r>
                <a:rPr kumimoji="1" lang="en-US" altLang="zh-CN" sz="2800">
                  <a:latin typeface="Times New Roman" panose="02020603050405020304" pitchFamily="18" charset="0"/>
                  <a:ea typeface="黑体" panose="02010609060101010101" pitchFamily="49" charset="-122"/>
                  <a:sym typeface="Symbol" panose="05050102010706020507" pitchFamily="18" charset="2"/>
                </a:rPr>
                <a:t></a:t>
              </a:r>
              <a:endParaRPr kumimoji="1" lang="zh-CN" altLang="en-US" sz="2800">
                <a:latin typeface="Times New Roman" panose="02020603050405020304" pitchFamily="18" charset="0"/>
                <a:ea typeface="黑体" panose="02010609060101010101" pitchFamily="49" charset="-122"/>
              </a:endParaRPr>
            </a:p>
          </p:txBody>
        </p:sp>
        <p:sp>
          <p:nvSpPr>
            <p:cNvPr id="117" name="Rectangle 42">
              <a:extLst>
                <a:ext uri="{FF2B5EF4-FFF2-40B4-BE49-F238E27FC236}">
                  <a16:creationId xmlns:a16="http://schemas.microsoft.com/office/drawing/2014/main" id="{91F6DAAE-3D9C-E8D3-0AD3-27F7029A73EF}"/>
                </a:ext>
              </a:extLst>
            </p:cNvPr>
            <p:cNvSpPr>
              <a:spLocks noChangeArrowheads="1"/>
            </p:cNvSpPr>
            <p:nvPr/>
          </p:nvSpPr>
          <p:spPr bwMode="auto">
            <a:xfrm>
              <a:off x="4059" y="981"/>
              <a:ext cx="760" cy="2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i="1" baseline="-10000">
                  <a:latin typeface="Times New Roman" panose="02020603050405020304" pitchFamily="18" charset="0"/>
                  <a:ea typeface="黑体" panose="02010609060101010101" pitchFamily="49" charset="-122"/>
                </a:rPr>
                <a:t>v</a:t>
              </a:r>
              <a:r>
                <a:rPr kumimoji="1" lang="en-US" altLang="zh-CN" sz="2800" baseline="-30000">
                  <a:latin typeface="Times New Roman" panose="02020603050405020304" pitchFamily="18" charset="0"/>
                  <a:ea typeface="黑体" panose="02010609060101010101" pitchFamily="49" charset="-122"/>
                </a:rPr>
                <a:t>gs</a:t>
              </a:r>
              <a:r>
                <a:rPr kumimoji="1" lang="en-US" altLang="zh-CN" baseline="-10000">
                  <a:latin typeface="Times New Roman" panose="02020603050405020304" pitchFamily="18" charset="0"/>
                  <a:ea typeface="黑体" panose="02010609060101010101" pitchFamily="49" charset="-122"/>
                </a:rPr>
                <a:t>=</a:t>
              </a:r>
              <a:r>
                <a:rPr kumimoji="1" lang="zh-CN" altLang="en-US" baseline="-10000">
                  <a:latin typeface="Times New Roman" panose="02020603050405020304" pitchFamily="18" charset="0"/>
                  <a:ea typeface="黑体" panose="02010609060101010101" pitchFamily="49" charset="-122"/>
                </a:rPr>
                <a:t>常数</a:t>
              </a:r>
            </a:p>
          </p:txBody>
        </p:sp>
      </p:grpSp>
      <p:sp>
        <p:nvSpPr>
          <p:cNvPr id="118" name="文本框 117">
            <a:extLst>
              <a:ext uri="{FF2B5EF4-FFF2-40B4-BE49-F238E27FC236}">
                <a16:creationId xmlns:a16="http://schemas.microsoft.com/office/drawing/2014/main" id="{297A7CE3-EE17-B4A5-0259-A9CEB4D8442D}"/>
              </a:ext>
            </a:extLst>
          </p:cNvPr>
          <p:cNvSpPr txBox="1"/>
          <p:nvPr/>
        </p:nvSpPr>
        <p:spPr>
          <a:xfrm>
            <a:off x="94338" y="3095129"/>
            <a:ext cx="5725440" cy="369332"/>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lang="en-US" altLang="zh-CN" dirty="0">
                <a:latin typeface="Microsoft YaHei" panose="020B0503020204020204" pitchFamily="34" charset="-122"/>
                <a:ea typeface="Microsoft YaHei" panose="020B0503020204020204" pitchFamily="34" charset="-122"/>
              </a:rPr>
              <a:t>FET</a:t>
            </a:r>
            <a:r>
              <a:rPr lang="zh-CN" altLang="en-US" dirty="0">
                <a:latin typeface="Microsoft YaHei" panose="020B0503020204020204" pitchFamily="34" charset="-122"/>
                <a:ea typeface="Microsoft YaHei" panose="020B0503020204020204" pitchFamily="34" charset="-122"/>
              </a:rPr>
              <a:t>三极管：单极性，（</a:t>
            </a:r>
            <a:r>
              <a:rPr lang="en-US" altLang="zh-CN" dirty="0">
                <a:latin typeface="Microsoft YaHei" panose="020B0503020204020204" pitchFamily="34" charset="-122"/>
                <a:ea typeface="Microsoft YaHei" panose="020B0503020204020204" pitchFamily="34" charset="-122"/>
              </a:rPr>
              <a:t>g-B</a:t>
            </a:r>
            <a:r>
              <a:rPr lang="zh-CN" altLang="en-US" dirty="0">
                <a:latin typeface="Microsoft YaHei" panose="020B0503020204020204" pitchFamily="34" charset="-122"/>
                <a:ea typeface="Microsoft YaHei" panose="020B0503020204020204" pitchFamily="34" charset="-122"/>
              </a:rPr>
              <a:t>间）电压控制（</a:t>
            </a:r>
            <a:r>
              <a:rPr lang="en-US" altLang="zh-CN" dirty="0">
                <a:latin typeface="Microsoft YaHei" panose="020B0503020204020204" pitchFamily="34" charset="-122"/>
                <a:ea typeface="Microsoft YaHei" panose="020B0503020204020204" pitchFamily="34" charset="-122"/>
              </a:rPr>
              <a:t>d-s</a:t>
            </a:r>
            <a:r>
              <a:rPr lang="zh-CN" altLang="en-US" dirty="0">
                <a:latin typeface="Microsoft YaHei" panose="020B0503020204020204" pitchFamily="34" charset="-122"/>
                <a:ea typeface="Microsoft YaHei" panose="020B0503020204020204" pitchFamily="34" charset="-122"/>
              </a:rPr>
              <a:t>）通断</a:t>
            </a:r>
          </a:p>
        </p:txBody>
      </p:sp>
      <p:sp>
        <p:nvSpPr>
          <p:cNvPr id="119" name="文本框 118">
            <a:extLst>
              <a:ext uri="{FF2B5EF4-FFF2-40B4-BE49-F238E27FC236}">
                <a16:creationId xmlns:a16="http://schemas.microsoft.com/office/drawing/2014/main" id="{3B3B0D48-6AB7-39A9-01FA-3D6539219390}"/>
              </a:ext>
            </a:extLst>
          </p:cNvPr>
          <p:cNvSpPr txBox="1"/>
          <p:nvPr/>
        </p:nvSpPr>
        <p:spPr>
          <a:xfrm>
            <a:off x="56497" y="31826"/>
            <a:ext cx="5442984" cy="646331"/>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lang="en-US" altLang="zh-CN" dirty="0">
                <a:latin typeface="Microsoft YaHei" panose="020B0503020204020204" pitchFamily="34" charset="-122"/>
                <a:ea typeface="Microsoft YaHei" panose="020B0503020204020204" pitchFamily="34" charset="-122"/>
              </a:rPr>
              <a:t>BJT</a:t>
            </a:r>
            <a:r>
              <a:rPr lang="zh-CN" altLang="en-US" dirty="0">
                <a:latin typeface="Microsoft YaHei" panose="020B0503020204020204" pitchFamily="34" charset="-122"/>
                <a:ea typeface="Microsoft YaHei" panose="020B0503020204020204" pitchFamily="34" charset="-122"/>
              </a:rPr>
              <a:t> 三极管：</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交流双极性，（</a:t>
            </a:r>
            <a:r>
              <a:rPr lang="en-US" altLang="zh-CN" dirty="0">
                <a:latin typeface="Microsoft YaHei" panose="020B0503020204020204" pitchFamily="34" charset="-122"/>
                <a:ea typeface="Microsoft YaHei" panose="020B0503020204020204" pitchFamily="34" charset="-122"/>
              </a:rPr>
              <a:t>b</a:t>
            </a:r>
            <a:r>
              <a:rPr lang="zh-CN" altLang="en-US" dirty="0">
                <a:latin typeface="Microsoft YaHei" panose="020B0503020204020204" pitchFamily="34" charset="-122"/>
                <a:ea typeface="Microsoft YaHei" panose="020B0503020204020204" pitchFamily="34" charset="-122"/>
              </a:rPr>
              <a:t>极）电流控制（</a:t>
            </a:r>
            <a:r>
              <a:rPr lang="en-US" altLang="zh-CN" dirty="0">
                <a:latin typeface="Microsoft YaHei" panose="020B0503020204020204" pitchFamily="34" charset="-122"/>
                <a:ea typeface="Microsoft YaHei" panose="020B0503020204020204" pitchFamily="34" charset="-122"/>
              </a:rPr>
              <a:t>e-c</a:t>
            </a:r>
            <a:r>
              <a:rPr lang="zh-CN" altLang="en-US" dirty="0">
                <a:latin typeface="Microsoft YaHei" panose="020B0503020204020204" pitchFamily="34" charset="-122"/>
                <a:ea typeface="Microsoft YaHei" panose="020B0503020204020204" pitchFamily="34" charset="-122"/>
              </a:rPr>
              <a:t>间）电流</a:t>
            </a:r>
          </a:p>
        </p:txBody>
      </p:sp>
    </p:spTree>
    <p:extLst>
      <p:ext uri="{BB962C8B-B14F-4D97-AF65-F5344CB8AC3E}">
        <p14:creationId xmlns:p14="http://schemas.microsoft.com/office/powerpoint/2010/main" val="2422260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kern="0" dirty="0">
                <a:latin typeface="Microsoft YaHei" panose="020B0503020204020204" pitchFamily="34" charset="-122"/>
                <a:ea typeface="Microsoft YaHei" panose="020B0503020204020204" pitchFamily="34" charset="-122"/>
              </a:rPr>
              <a:t>模拟</a:t>
            </a:r>
            <a:r>
              <a:rPr lang="zh-CN" altLang="en-US" sz="2800" kern="0" dirty="0">
                <a:latin typeface="Microsoft YaHei" panose="020B0503020204020204" pitchFamily="34" charset="-122"/>
                <a:ea typeface="Microsoft YaHei" panose="020B0503020204020204" pitchFamily="34" charset="-122"/>
              </a:rPr>
              <a:t>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P183</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5.1.1-3</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20</a:t>
            </a:fld>
            <a:r>
              <a:rPr lang="en-US" altLang="zh-CN" dirty="0"/>
              <a:t>/33</a:t>
            </a:r>
            <a:endParaRPr lang="en-US" dirty="0"/>
          </a:p>
        </p:txBody>
      </p:sp>
    </p:spTree>
    <p:extLst>
      <p:ext uri="{BB962C8B-B14F-4D97-AF65-F5344CB8AC3E}">
        <p14:creationId xmlns:p14="http://schemas.microsoft.com/office/powerpoint/2010/main" val="701391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F8B8FD-15F0-0180-995A-B6BA383CF511}"/>
              </a:ext>
            </a:extLst>
          </p:cNvPr>
          <p:cNvSpPr>
            <a:spLocks noGrp="1"/>
          </p:cNvSpPr>
          <p:nvPr>
            <p:ph type="title"/>
          </p:nvPr>
        </p:nvSpPr>
        <p:spPr/>
        <p:txBody>
          <a:bodyPr>
            <a:normAutofit fontScale="90000"/>
          </a:bodyPr>
          <a:lstStyle/>
          <a:p>
            <a:r>
              <a:rPr kumimoji="1" lang="zh-CN" altLang="en-US" dirty="0"/>
              <a:t>补充：更详细</a:t>
            </a:r>
            <a:r>
              <a:rPr kumimoji="1" lang="en-US" altLang="zh-CN" dirty="0"/>
              <a:t>/</a:t>
            </a:r>
            <a:r>
              <a:rPr kumimoji="1" lang="zh-CN" altLang="en-US" dirty="0"/>
              <a:t>准确的漫画版</a:t>
            </a:r>
          </a:p>
        </p:txBody>
      </p:sp>
      <p:sp>
        <p:nvSpPr>
          <p:cNvPr id="4" name="页脚占位符 3">
            <a:extLst>
              <a:ext uri="{FF2B5EF4-FFF2-40B4-BE49-F238E27FC236}">
                <a16:creationId xmlns:a16="http://schemas.microsoft.com/office/drawing/2014/main" id="{CCAC62AE-8FBA-0C90-A149-018BAB8FD32D}"/>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5B220E85-99C0-3336-52FF-75A27BF5A802}"/>
              </a:ext>
            </a:extLst>
          </p:cNvPr>
          <p:cNvSpPr>
            <a:spLocks noGrp="1"/>
          </p:cNvSpPr>
          <p:nvPr>
            <p:ph type="sldNum" sz="quarter" idx="12"/>
          </p:nvPr>
        </p:nvSpPr>
        <p:spPr/>
        <p:txBody>
          <a:bodyPr/>
          <a:lstStyle/>
          <a:p>
            <a:fld id="{9E260BC5-5BF3-8746-862B-DC45E9CAA88B}" type="slidenum">
              <a:rPr lang="en-US" smtClean="0"/>
              <a:pPr/>
              <a:t>21</a:t>
            </a:fld>
            <a:r>
              <a:rPr lang="en-US" altLang="zh-CN" dirty="0"/>
              <a:t>/33</a:t>
            </a:r>
            <a:endParaRPr lang="en-US" dirty="0"/>
          </a:p>
        </p:txBody>
      </p:sp>
      <p:sp>
        <p:nvSpPr>
          <p:cNvPr id="7" name="文本框 6">
            <a:extLst>
              <a:ext uri="{FF2B5EF4-FFF2-40B4-BE49-F238E27FC236}">
                <a16:creationId xmlns:a16="http://schemas.microsoft.com/office/drawing/2014/main" id="{F7959DB8-F28E-A206-95B2-380528AC1113}"/>
              </a:ext>
            </a:extLst>
          </p:cNvPr>
          <p:cNvSpPr txBox="1"/>
          <p:nvPr/>
        </p:nvSpPr>
        <p:spPr>
          <a:xfrm>
            <a:off x="2322226" y="5219581"/>
            <a:ext cx="5261547" cy="877163"/>
          </a:xfrm>
          <a:prstGeom prst="rect">
            <a:avLst/>
          </a:prstGeom>
          <a:noFill/>
        </p:spPr>
        <p:txBody>
          <a:bodyPr wrap="square">
            <a:spAutoFit/>
          </a:bodyPr>
          <a:lstStyle/>
          <a:p>
            <a:pPr algn="ctr">
              <a:spcBef>
                <a:spcPts val="600"/>
              </a:spcBef>
            </a:pPr>
            <a:r>
              <a:rPr lang="zh-CN" altLang="en-US" b="1" dirty="0">
                <a:solidFill>
                  <a:srgbClr val="0070C0"/>
                </a:solidFill>
                <a:latin typeface="Microsoft YaHei" panose="020B0503020204020204" pitchFamily="34" charset="-122"/>
                <a:ea typeface="Microsoft YaHei" panose="020B0503020204020204" pitchFamily="34" charset="-122"/>
              </a:rPr>
              <a:t>为了更深层的理解</a:t>
            </a:r>
            <a:endParaRPr lang="en-US" altLang="zh-CN" b="1" dirty="0">
              <a:solidFill>
                <a:srgbClr val="0070C0"/>
              </a:solidFill>
              <a:latin typeface="Microsoft YaHei" panose="020B0503020204020204" pitchFamily="34" charset="-122"/>
              <a:ea typeface="Microsoft YaHei" panose="020B0503020204020204" pitchFamily="34" charset="-122"/>
            </a:endParaRPr>
          </a:p>
          <a:p>
            <a:pPr algn="ctr">
              <a:spcBef>
                <a:spcPts val="600"/>
              </a:spcBef>
            </a:pPr>
            <a:r>
              <a:rPr lang="zh-CN" altLang="en-US" sz="2800" b="1" dirty="0">
                <a:solidFill>
                  <a:schemeClr val="accent1">
                    <a:lumMod val="50000"/>
                  </a:schemeClr>
                </a:solidFill>
                <a:latin typeface="Microsoft YaHei" panose="020B0503020204020204" pitchFamily="34" charset="-122"/>
                <a:ea typeface="Microsoft YaHei" panose="020B0503020204020204" pitchFamily="34" charset="-122"/>
              </a:rPr>
              <a:t>来看看一个发射极电子的选择</a:t>
            </a:r>
            <a:endParaRPr lang="en-US" altLang="zh-CN" sz="2800" b="1" dirty="0">
              <a:solidFill>
                <a:schemeClr val="accent1">
                  <a:lumMod val="50000"/>
                </a:schemeClr>
              </a:solidFill>
              <a:latin typeface="Microsoft YaHei" panose="020B0503020204020204" pitchFamily="34" charset="-122"/>
              <a:ea typeface="Microsoft YaHei" panose="020B0503020204020204" pitchFamily="34" charset="-122"/>
            </a:endParaRPr>
          </a:p>
        </p:txBody>
      </p:sp>
      <p:pic>
        <p:nvPicPr>
          <p:cNvPr id="8" name="Picture 4" descr="https://ss1.bdstatic.com/70cFvXSh_Q1YnxGkpoWK1HF6hhy/it/u=2976298621,1155128202&amp;fm=26&amp;gp=0.jpg">
            <a:extLst>
              <a:ext uri="{FF2B5EF4-FFF2-40B4-BE49-F238E27FC236}">
                <a16:creationId xmlns:a16="http://schemas.microsoft.com/office/drawing/2014/main" id="{577CEB0D-6E6E-CF99-72CE-FC1FB2CC49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550" y="2061259"/>
            <a:ext cx="3429000" cy="292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752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6B735336-E064-62BF-8CED-0DD610DE69E8}"/>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A854CF47-5B84-B0D7-14E1-F31307013DB5}"/>
              </a:ext>
            </a:extLst>
          </p:cNvPr>
          <p:cNvSpPr>
            <a:spLocks noGrp="1"/>
          </p:cNvSpPr>
          <p:nvPr>
            <p:ph type="sldNum" sz="quarter" idx="12"/>
          </p:nvPr>
        </p:nvSpPr>
        <p:spPr/>
        <p:txBody>
          <a:bodyPr/>
          <a:lstStyle/>
          <a:p>
            <a:fld id="{9E260BC5-5BF3-8746-862B-DC45E9CAA88B}" type="slidenum">
              <a:rPr lang="en-US" smtClean="0"/>
              <a:pPr/>
              <a:t>22</a:t>
            </a:fld>
            <a:r>
              <a:rPr lang="en-US" altLang="zh-CN" dirty="0"/>
              <a:t>/33</a:t>
            </a:r>
            <a:endParaRPr lang="en-US" dirty="0"/>
          </a:p>
        </p:txBody>
      </p:sp>
      <p:sp>
        <p:nvSpPr>
          <p:cNvPr id="6" name="矩形 5">
            <a:extLst>
              <a:ext uri="{FF2B5EF4-FFF2-40B4-BE49-F238E27FC236}">
                <a16:creationId xmlns:a16="http://schemas.microsoft.com/office/drawing/2014/main" id="{ED87BC84-5BD9-42FF-C7E4-8187B55F48E1}"/>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58D3454-8883-2F07-5859-E9A2CAA879B8}"/>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0FCFD79-690F-C61C-EB3A-39E0E3B3F8CA}"/>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8AF43B2-8B26-9EE2-9E98-CC9E3B55CAD1}"/>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F83855ED-C730-21EA-D932-2AEBCE6EE72D}"/>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1" name="文本框 10">
            <a:extLst>
              <a:ext uri="{FF2B5EF4-FFF2-40B4-BE49-F238E27FC236}">
                <a16:creationId xmlns:a16="http://schemas.microsoft.com/office/drawing/2014/main" id="{87A6022C-2B29-2F36-F508-991F639498B0}"/>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2" name="文本框 11">
            <a:extLst>
              <a:ext uri="{FF2B5EF4-FFF2-40B4-BE49-F238E27FC236}">
                <a16:creationId xmlns:a16="http://schemas.microsoft.com/office/drawing/2014/main" id="{11890842-9BD7-F3A4-AA85-78EA9A02C126}"/>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3" name="文本框 12">
            <a:extLst>
              <a:ext uri="{FF2B5EF4-FFF2-40B4-BE49-F238E27FC236}">
                <a16:creationId xmlns:a16="http://schemas.microsoft.com/office/drawing/2014/main" id="{43763701-5AC9-31C5-48D9-3019B53D869F}"/>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8502857F-6124-1B4E-9216-A8E3A2D5C795}"/>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82DAA848-49A0-7D94-73E6-E87E3E2BD30C}"/>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7F0DB4A4-90D1-59E3-1F64-82B529F625F4}"/>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6D55B9E4-622E-F894-78E9-66F99E282265}"/>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E4275FE6-5D58-0EC4-495A-41DEB64A570C}"/>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9B3991F8-71BB-12DA-3C38-219E43BE27DC}"/>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64D95C69-DAA6-403D-CCA7-03C51901C5BF}"/>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5550B8DA-1521-8BD6-0D71-585D2F95529D}"/>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2" name="文本框 21">
            <a:extLst>
              <a:ext uri="{FF2B5EF4-FFF2-40B4-BE49-F238E27FC236}">
                <a16:creationId xmlns:a16="http://schemas.microsoft.com/office/drawing/2014/main" id="{3D44E928-C2E6-0954-7700-7CAFA1E98865}"/>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3" name="文本框 22">
            <a:extLst>
              <a:ext uri="{FF2B5EF4-FFF2-40B4-BE49-F238E27FC236}">
                <a16:creationId xmlns:a16="http://schemas.microsoft.com/office/drawing/2014/main" id="{5CD061C8-8D36-4668-C50D-15A280DEFE50}"/>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A5D5D80E-6E3F-F064-BFD1-06DD3E9B8297}"/>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02F9A528-84B4-F641-A346-CC1E54C94128}"/>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FF2335E5-BE9F-48D9-E1F4-491A96DABFE1}"/>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06CA311E-427B-0A86-41EE-80531CC4FBB1}"/>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4971F530-DC3A-BEDE-155A-BAF530C2AC0E}"/>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19758078-F9CA-F341-F8E8-79499675BC74}"/>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A9CCEEB1-9806-3678-CF15-D78086156004}"/>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6419C7AF-3218-D641-82C6-80F37B0CA0BC}"/>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2" name="文本框 31">
            <a:extLst>
              <a:ext uri="{FF2B5EF4-FFF2-40B4-BE49-F238E27FC236}">
                <a16:creationId xmlns:a16="http://schemas.microsoft.com/office/drawing/2014/main" id="{B4DE75B6-855F-37E4-5F2C-464DB67A2987}"/>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32125587-49A5-8FFD-C424-974F7BC5A4B2}"/>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B226F80E-5A6D-AED3-2E08-978F39674D1B}"/>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F1BC1A16-7E00-DC1D-F832-300D086F223A}"/>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A0F6E595-4DBC-D029-B7B0-22032264628A}"/>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AFA4C320-13B4-8963-D261-FEFB623706AC}"/>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D310809E-C641-65B9-7645-4D67E435B8C5}"/>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2DA22006-E481-43C1-12A2-6D5EA5163BC7}"/>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FD579BD1-9E5E-D1A1-67AA-CE98967911C8}"/>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1" name="文本框 40">
            <a:extLst>
              <a:ext uri="{FF2B5EF4-FFF2-40B4-BE49-F238E27FC236}">
                <a16:creationId xmlns:a16="http://schemas.microsoft.com/office/drawing/2014/main" id="{8CE76EC4-314E-3704-4FDC-FE6BE59E1390}"/>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2" name="文本框 41">
            <a:extLst>
              <a:ext uri="{FF2B5EF4-FFF2-40B4-BE49-F238E27FC236}">
                <a16:creationId xmlns:a16="http://schemas.microsoft.com/office/drawing/2014/main" id="{43A20CA8-9C09-246B-31BB-A6D9F6959EE3}"/>
              </a:ext>
            </a:extLst>
          </p:cNvPr>
          <p:cNvSpPr txBox="1"/>
          <p:nvPr/>
        </p:nvSpPr>
        <p:spPr>
          <a:xfrm>
            <a:off x="3275855" y="288847"/>
            <a:ext cx="4226669" cy="369332"/>
          </a:xfrm>
          <a:prstGeom prst="rect">
            <a:avLst/>
          </a:prstGeom>
          <a:noFill/>
        </p:spPr>
        <p:txBody>
          <a:bodyPr wrap="square" rtlCol="0">
            <a:spAutoFit/>
          </a:bodyPr>
          <a:lstStyle/>
          <a:p>
            <a:r>
              <a:rPr lang="en-US" altLang="zh-CN" dirty="0"/>
              <a:t>Emitter (e)</a:t>
            </a:r>
            <a:r>
              <a:rPr lang="zh-CN" altLang="en-US" dirty="0"/>
              <a:t>：发射极，掺杂浓度高</a:t>
            </a:r>
          </a:p>
        </p:txBody>
      </p:sp>
      <p:sp>
        <p:nvSpPr>
          <p:cNvPr id="43" name="文本框 42">
            <a:extLst>
              <a:ext uri="{FF2B5EF4-FFF2-40B4-BE49-F238E27FC236}">
                <a16:creationId xmlns:a16="http://schemas.microsoft.com/office/drawing/2014/main" id="{DFF7D569-E6EB-831E-94A8-64F00CA0EC55}"/>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
        <p:nvSpPr>
          <p:cNvPr id="44" name="文本框 43">
            <a:extLst>
              <a:ext uri="{FF2B5EF4-FFF2-40B4-BE49-F238E27FC236}">
                <a16:creationId xmlns:a16="http://schemas.microsoft.com/office/drawing/2014/main" id="{FC51425E-D06F-F675-7FA3-1BDE7C757A00}"/>
              </a:ext>
            </a:extLst>
          </p:cNvPr>
          <p:cNvSpPr txBox="1"/>
          <p:nvPr/>
        </p:nvSpPr>
        <p:spPr>
          <a:xfrm>
            <a:off x="3291814" y="2688847"/>
            <a:ext cx="4226669" cy="646331"/>
          </a:xfrm>
          <a:prstGeom prst="rect">
            <a:avLst/>
          </a:prstGeom>
          <a:noFill/>
        </p:spPr>
        <p:txBody>
          <a:bodyPr wrap="square" rtlCol="0">
            <a:spAutoFit/>
          </a:bodyPr>
          <a:lstStyle/>
          <a:p>
            <a:r>
              <a:rPr lang="en-US" altLang="zh-CN" dirty="0"/>
              <a:t>Base (b)</a:t>
            </a:r>
            <a:r>
              <a:rPr lang="zh-CN" altLang="en-US" dirty="0"/>
              <a:t>：基极，很窄，</a:t>
            </a:r>
            <a:endParaRPr lang="en-US" altLang="zh-CN" dirty="0"/>
          </a:p>
          <a:p>
            <a:r>
              <a:rPr lang="zh-CN" altLang="en-US" dirty="0"/>
              <a:t>                 掺杂度普通</a:t>
            </a:r>
          </a:p>
        </p:txBody>
      </p:sp>
      <p:sp>
        <p:nvSpPr>
          <p:cNvPr id="45" name="文本框 44">
            <a:extLst>
              <a:ext uri="{FF2B5EF4-FFF2-40B4-BE49-F238E27FC236}">
                <a16:creationId xmlns:a16="http://schemas.microsoft.com/office/drawing/2014/main" id="{7D0E19DA-DCF0-DC38-1DD6-CBAD54BB675E}"/>
              </a:ext>
            </a:extLst>
          </p:cNvPr>
          <p:cNvSpPr txBox="1"/>
          <p:nvPr/>
        </p:nvSpPr>
        <p:spPr>
          <a:xfrm>
            <a:off x="3324465" y="5824171"/>
            <a:ext cx="4226669" cy="369332"/>
          </a:xfrm>
          <a:prstGeom prst="rect">
            <a:avLst/>
          </a:prstGeom>
          <a:noFill/>
        </p:spPr>
        <p:txBody>
          <a:bodyPr wrap="square" rtlCol="0">
            <a:spAutoFit/>
          </a:bodyPr>
          <a:lstStyle/>
          <a:p>
            <a:r>
              <a:rPr lang="en-US" altLang="zh-CN" dirty="0"/>
              <a:t>Collector(c)</a:t>
            </a:r>
            <a:r>
              <a:rPr lang="zh-CN" altLang="en-US" dirty="0"/>
              <a:t>：集电极，掺杂度普通</a:t>
            </a:r>
          </a:p>
        </p:txBody>
      </p:sp>
      <p:sp>
        <p:nvSpPr>
          <p:cNvPr id="46" name="矩形 45">
            <a:extLst>
              <a:ext uri="{FF2B5EF4-FFF2-40B4-BE49-F238E27FC236}">
                <a16:creationId xmlns:a16="http://schemas.microsoft.com/office/drawing/2014/main" id="{3DC5F3BF-7844-9922-244E-5073C957A758}"/>
              </a:ext>
            </a:extLst>
          </p:cNvPr>
          <p:cNvSpPr/>
          <p:nvPr/>
        </p:nvSpPr>
        <p:spPr>
          <a:xfrm>
            <a:off x="215515" y="3831766"/>
            <a:ext cx="2805769" cy="1209609"/>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9EA2B305-89DB-68C4-907E-991702044F8B}"/>
              </a:ext>
            </a:extLst>
          </p:cNvPr>
          <p:cNvSpPr/>
          <p:nvPr/>
        </p:nvSpPr>
        <p:spPr>
          <a:xfrm>
            <a:off x="215516" y="1512983"/>
            <a:ext cx="2805769" cy="1494988"/>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82">
            <a:extLst>
              <a:ext uri="{FF2B5EF4-FFF2-40B4-BE49-F238E27FC236}">
                <a16:creationId xmlns:a16="http://schemas.microsoft.com/office/drawing/2014/main" id="{ED3AE94C-D7CD-92C4-209A-DAD2743643A2}"/>
              </a:ext>
            </a:extLst>
          </p:cNvPr>
          <p:cNvCxnSpPr>
            <a:endCxn id="10" idx="0"/>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84">
            <a:extLst>
              <a:ext uri="{FF2B5EF4-FFF2-40B4-BE49-F238E27FC236}">
                <a16:creationId xmlns:a16="http://schemas.microsoft.com/office/drawing/2014/main" id="{9B83FBDE-6E0B-33F2-73D2-AE341392A09C}"/>
              </a:ext>
            </a:extLst>
          </p:cNvPr>
          <p:cNvCxnSpPr/>
          <p:nvPr/>
        </p:nvCxnSpPr>
        <p:spPr>
          <a:xfrm flipV="1">
            <a:off x="1583668" y="79210"/>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4268ADA4-B1C1-F18E-055B-702A8CA331AB}"/>
              </a:ext>
            </a:extLst>
          </p:cNvPr>
          <p:cNvSpPr/>
          <p:nvPr/>
        </p:nvSpPr>
        <p:spPr>
          <a:xfrm>
            <a:off x="4440589" y="40575"/>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89">
            <a:extLst>
              <a:ext uri="{FF2B5EF4-FFF2-40B4-BE49-F238E27FC236}">
                <a16:creationId xmlns:a16="http://schemas.microsoft.com/office/drawing/2014/main" id="{E8060038-49BE-425F-C902-180DCE3E73B6}"/>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92">
            <a:extLst>
              <a:ext uri="{FF2B5EF4-FFF2-40B4-BE49-F238E27FC236}">
                <a16:creationId xmlns:a16="http://schemas.microsoft.com/office/drawing/2014/main" id="{61FF2C15-1D25-5A80-BB50-1FCF44F5AE20}"/>
              </a:ext>
            </a:extLst>
          </p:cNvPr>
          <p:cNvCxnSpPr/>
          <p:nvPr/>
        </p:nvCxnSpPr>
        <p:spPr>
          <a:xfrm flipV="1">
            <a:off x="2879812" y="3370961"/>
            <a:ext cx="1760640" cy="20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068C8242-6D9D-C06B-1F34-06B398EEB836}"/>
              </a:ext>
            </a:extLst>
          </p:cNvPr>
          <p:cNvSpPr/>
          <p:nvPr/>
        </p:nvSpPr>
        <p:spPr>
          <a:xfrm>
            <a:off x="4620609" y="3323885"/>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ine 38">
            <a:extLst>
              <a:ext uri="{FF2B5EF4-FFF2-40B4-BE49-F238E27FC236}">
                <a16:creationId xmlns:a16="http://schemas.microsoft.com/office/drawing/2014/main" id="{A0283CBF-5C11-6876-E525-00CF13260992}"/>
              </a:ext>
            </a:extLst>
          </p:cNvPr>
          <p:cNvSpPr>
            <a:spLocks noChangeShapeType="1"/>
          </p:cNvSpPr>
          <p:nvPr/>
        </p:nvSpPr>
        <p:spPr bwMode="auto">
          <a:xfrm>
            <a:off x="8451790" y="1049797"/>
            <a:ext cx="0" cy="56453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5" name="Line 39">
            <a:extLst>
              <a:ext uri="{FF2B5EF4-FFF2-40B4-BE49-F238E27FC236}">
                <a16:creationId xmlns:a16="http://schemas.microsoft.com/office/drawing/2014/main" id="{6CFA8622-7098-47E3-AB04-D2E4A0DC69E7}"/>
              </a:ext>
            </a:extLst>
          </p:cNvPr>
          <p:cNvSpPr>
            <a:spLocks noChangeShapeType="1"/>
          </p:cNvSpPr>
          <p:nvPr/>
        </p:nvSpPr>
        <p:spPr bwMode="auto">
          <a:xfrm flipH="1">
            <a:off x="7996152" y="1337829"/>
            <a:ext cx="434639"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6" name="Line 40">
            <a:extLst>
              <a:ext uri="{FF2B5EF4-FFF2-40B4-BE49-F238E27FC236}">
                <a16:creationId xmlns:a16="http://schemas.microsoft.com/office/drawing/2014/main" id="{517CB1D8-3123-3C3B-CA6E-BF5CC3360A53}"/>
              </a:ext>
            </a:extLst>
          </p:cNvPr>
          <p:cNvSpPr>
            <a:spLocks noChangeShapeType="1"/>
          </p:cNvSpPr>
          <p:nvPr/>
        </p:nvSpPr>
        <p:spPr bwMode="auto">
          <a:xfrm>
            <a:off x="8451790" y="1394131"/>
            <a:ext cx="316616" cy="230264"/>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7" name="Line 41">
            <a:extLst>
              <a:ext uri="{FF2B5EF4-FFF2-40B4-BE49-F238E27FC236}">
                <a16:creationId xmlns:a16="http://schemas.microsoft.com/office/drawing/2014/main" id="{0A35F016-6E99-5AED-3179-0AAF9E1B2733}"/>
              </a:ext>
            </a:extLst>
          </p:cNvPr>
          <p:cNvSpPr>
            <a:spLocks noChangeShapeType="1"/>
          </p:cNvSpPr>
          <p:nvPr/>
        </p:nvSpPr>
        <p:spPr bwMode="auto">
          <a:xfrm flipV="1">
            <a:off x="8451790" y="1049796"/>
            <a:ext cx="316617" cy="231427"/>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sp>
        <p:nvSpPr>
          <p:cNvPr id="58" name="Line 42">
            <a:extLst>
              <a:ext uri="{FF2B5EF4-FFF2-40B4-BE49-F238E27FC236}">
                <a16:creationId xmlns:a16="http://schemas.microsoft.com/office/drawing/2014/main" id="{6D9F994E-A580-54E4-C8CC-411698074B8E}"/>
              </a:ext>
            </a:extLst>
          </p:cNvPr>
          <p:cNvSpPr>
            <a:spLocks noChangeShapeType="1"/>
          </p:cNvSpPr>
          <p:nvPr/>
        </p:nvSpPr>
        <p:spPr bwMode="auto">
          <a:xfrm flipV="1">
            <a:off x="8773282" y="683240"/>
            <a:ext cx="0" cy="372172"/>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59" name="Line 43">
            <a:extLst>
              <a:ext uri="{FF2B5EF4-FFF2-40B4-BE49-F238E27FC236}">
                <a16:creationId xmlns:a16="http://schemas.microsoft.com/office/drawing/2014/main" id="{4BA4E8A8-EB9B-6593-C1A1-F2C472F5FF78}"/>
              </a:ext>
            </a:extLst>
          </p:cNvPr>
          <p:cNvSpPr>
            <a:spLocks noChangeShapeType="1"/>
          </p:cNvSpPr>
          <p:nvPr/>
        </p:nvSpPr>
        <p:spPr bwMode="auto">
          <a:xfrm>
            <a:off x="8773282" y="1612973"/>
            <a:ext cx="0" cy="35265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0" name="Oval 44">
            <a:extLst>
              <a:ext uri="{FF2B5EF4-FFF2-40B4-BE49-F238E27FC236}">
                <a16:creationId xmlns:a16="http://schemas.microsoft.com/office/drawing/2014/main" id="{05CACC1C-2237-A632-7232-F379377DDD11}"/>
              </a:ext>
            </a:extLst>
          </p:cNvPr>
          <p:cNvSpPr>
            <a:spLocks noChangeArrowheads="1"/>
          </p:cNvSpPr>
          <p:nvPr/>
        </p:nvSpPr>
        <p:spPr bwMode="auto">
          <a:xfrm>
            <a:off x="7894899" y="1265821"/>
            <a:ext cx="126770" cy="126845"/>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1" name="Oval 45">
            <a:extLst>
              <a:ext uri="{FF2B5EF4-FFF2-40B4-BE49-F238E27FC236}">
                <a16:creationId xmlns:a16="http://schemas.microsoft.com/office/drawing/2014/main" id="{D0A03F0F-302C-E1C2-91FF-DBA1AC210C81}"/>
              </a:ext>
            </a:extLst>
          </p:cNvPr>
          <p:cNvSpPr>
            <a:spLocks noChangeArrowheads="1"/>
          </p:cNvSpPr>
          <p:nvPr/>
        </p:nvSpPr>
        <p:spPr bwMode="auto">
          <a:xfrm>
            <a:off x="8705022" y="550820"/>
            <a:ext cx="126770" cy="126845"/>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2" name="Oval 46">
            <a:extLst>
              <a:ext uri="{FF2B5EF4-FFF2-40B4-BE49-F238E27FC236}">
                <a16:creationId xmlns:a16="http://schemas.microsoft.com/office/drawing/2014/main" id="{4EF511A3-481F-8D0E-0B9A-07F54E5736A8}"/>
              </a:ext>
            </a:extLst>
          </p:cNvPr>
          <p:cNvSpPr>
            <a:spLocks noChangeArrowheads="1"/>
          </p:cNvSpPr>
          <p:nvPr/>
        </p:nvSpPr>
        <p:spPr bwMode="auto">
          <a:xfrm>
            <a:off x="8705022" y="1951692"/>
            <a:ext cx="126770" cy="126845"/>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63" name="Group 47">
            <a:extLst>
              <a:ext uri="{FF2B5EF4-FFF2-40B4-BE49-F238E27FC236}">
                <a16:creationId xmlns:a16="http://schemas.microsoft.com/office/drawing/2014/main" id="{7237132A-5366-4CF0-7C14-FAD4A9F426E9}"/>
              </a:ext>
            </a:extLst>
          </p:cNvPr>
          <p:cNvGrpSpPr>
            <a:grpSpLocks/>
          </p:cNvGrpSpPr>
          <p:nvPr/>
        </p:nvGrpSpPr>
        <p:grpSpPr bwMode="auto">
          <a:xfrm>
            <a:off x="7920721" y="284584"/>
            <a:ext cx="1114459" cy="1926374"/>
            <a:chOff x="4520" y="256"/>
            <a:chExt cx="800" cy="1382"/>
          </a:xfrm>
        </p:grpSpPr>
        <p:sp>
          <p:nvSpPr>
            <p:cNvPr id="64" name="Rectangle 48">
              <a:extLst>
                <a:ext uri="{FF2B5EF4-FFF2-40B4-BE49-F238E27FC236}">
                  <a16:creationId xmlns:a16="http://schemas.microsoft.com/office/drawing/2014/main" id="{683AB828-FE2F-6DC9-122C-BC916D7546EB}"/>
                </a:ext>
              </a:extLst>
            </p:cNvPr>
            <p:cNvSpPr>
              <a:spLocks noChangeArrowheads="1"/>
            </p:cNvSpPr>
            <p:nvPr/>
          </p:nvSpPr>
          <p:spPr bwMode="auto">
            <a:xfrm flipH="1">
              <a:off x="5223" y="1376"/>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c</a:t>
              </a:r>
            </a:p>
          </p:txBody>
        </p:sp>
        <p:sp>
          <p:nvSpPr>
            <p:cNvPr id="65" name="Rectangle 49">
              <a:extLst>
                <a:ext uri="{FF2B5EF4-FFF2-40B4-BE49-F238E27FC236}">
                  <a16:creationId xmlns:a16="http://schemas.microsoft.com/office/drawing/2014/main" id="{320623B2-A534-C2D5-9F3A-5C046259CE9E}"/>
                </a:ext>
              </a:extLst>
            </p:cNvPr>
            <p:cNvSpPr>
              <a:spLocks noChangeArrowheads="1"/>
            </p:cNvSpPr>
            <p:nvPr/>
          </p:nvSpPr>
          <p:spPr bwMode="auto">
            <a:xfrm flipH="1">
              <a:off x="4520" y="684"/>
              <a:ext cx="122"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b</a:t>
              </a:r>
            </a:p>
          </p:txBody>
        </p:sp>
        <p:sp>
          <p:nvSpPr>
            <p:cNvPr id="66" name="Rectangle 50">
              <a:extLst>
                <a:ext uri="{FF2B5EF4-FFF2-40B4-BE49-F238E27FC236}">
                  <a16:creationId xmlns:a16="http://schemas.microsoft.com/office/drawing/2014/main" id="{A172ECBA-4020-0164-BF43-91E596FC3341}"/>
                </a:ext>
              </a:extLst>
            </p:cNvPr>
            <p:cNvSpPr>
              <a:spLocks noChangeArrowheads="1"/>
            </p:cNvSpPr>
            <p:nvPr/>
          </p:nvSpPr>
          <p:spPr bwMode="auto">
            <a:xfrm flipH="1">
              <a:off x="5223" y="256"/>
              <a:ext cx="97" cy="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e</a:t>
              </a:r>
            </a:p>
          </p:txBody>
        </p:sp>
      </p:grpSp>
      <p:sp>
        <p:nvSpPr>
          <p:cNvPr id="67" name="文本框 66">
            <a:extLst>
              <a:ext uri="{FF2B5EF4-FFF2-40B4-BE49-F238E27FC236}">
                <a16:creationId xmlns:a16="http://schemas.microsoft.com/office/drawing/2014/main" id="{4844CE3D-CF40-BCD1-3E68-70997F614A3E}"/>
              </a:ext>
            </a:extLst>
          </p:cNvPr>
          <p:cNvSpPr txBox="1"/>
          <p:nvPr/>
        </p:nvSpPr>
        <p:spPr>
          <a:xfrm>
            <a:off x="3059584" y="1886920"/>
            <a:ext cx="2703856" cy="369332"/>
          </a:xfrm>
          <a:prstGeom prst="rect">
            <a:avLst/>
          </a:prstGeom>
          <a:noFill/>
        </p:spPr>
        <p:txBody>
          <a:bodyPr wrap="square" rtlCol="0">
            <a:spAutoFit/>
          </a:bodyPr>
          <a:lstStyle/>
          <a:p>
            <a:r>
              <a:rPr lang="en-US" altLang="zh-CN" dirty="0"/>
              <a:t>b-e PN</a:t>
            </a:r>
            <a:r>
              <a:rPr lang="zh-CN" altLang="en-US" dirty="0"/>
              <a:t>结</a:t>
            </a:r>
          </a:p>
        </p:txBody>
      </p:sp>
      <p:sp>
        <p:nvSpPr>
          <p:cNvPr id="68" name="文本框 67">
            <a:extLst>
              <a:ext uri="{FF2B5EF4-FFF2-40B4-BE49-F238E27FC236}">
                <a16:creationId xmlns:a16="http://schemas.microsoft.com/office/drawing/2014/main" id="{D60FEFA0-7531-EBB0-32A0-5BAAA24888B2}"/>
              </a:ext>
            </a:extLst>
          </p:cNvPr>
          <p:cNvSpPr txBox="1"/>
          <p:nvPr/>
        </p:nvSpPr>
        <p:spPr>
          <a:xfrm>
            <a:off x="3071526" y="4160079"/>
            <a:ext cx="2703856" cy="369332"/>
          </a:xfrm>
          <a:prstGeom prst="rect">
            <a:avLst/>
          </a:prstGeom>
          <a:noFill/>
        </p:spPr>
        <p:txBody>
          <a:bodyPr wrap="square" rtlCol="0">
            <a:spAutoFit/>
          </a:bodyPr>
          <a:lstStyle/>
          <a:p>
            <a:r>
              <a:rPr lang="en-US" altLang="zh-CN" dirty="0"/>
              <a:t>b-c PN</a:t>
            </a:r>
            <a:r>
              <a:rPr lang="zh-CN" altLang="en-US" dirty="0"/>
              <a:t>结</a:t>
            </a:r>
          </a:p>
        </p:txBody>
      </p:sp>
      <p:cxnSp>
        <p:nvCxnSpPr>
          <p:cNvPr id="69" name="直接连接符 115">
            <a:extLst>
              <a:ext uri="{FF2B5EF4-FFF2-40B4-BE49-F238E27FC236}">
                <a16:creationId xmlns:a16="http://schemas.microsoft.com/office/drawing/2014/main" id="{42647BCF-837E-E229-F225-6FA6814338DF}"/>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6940CA3B-E97B-5C8E-BEF3-BB4E74FBE696}"/>
              </a:ext>
            </a:extLst>
          </p:cNvPr>
          <p:cNvSpPr/>
          <p:nvPr/>
        </p:nvSpPr>
        <p:spPr>
          <a:xfrm>
            <a:off x="4512597" y="6332008"/>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6A6A3DEE-814B-5E7C-AB81-9F2EAFF034CE}"/>
              </a:ext>
            </a:extLst>
          </p:cNvPr>
          <p:cNvSpPr txBox="1"/>
          <p:nvPr/>
        </p:nvSpPr>
        <p:spPr>
          <a:xfrm>
            <a:off x="4228763" y="721799"/>
            <a:ext cx="2291488" cy="646331"/>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lang="zh-CN" altLang="en-US" b="1" dirty="0">
                <a:latin typeface="+mj-ea"/>
                <a:ea typeface="+mj-ea"/>
              </a:rPr>
              <a:t>发射极的多子电子</a:t>
            </a:r>
            <a:endParaRPr lang="en-US" altLang="zh-CN" b="1" dirty="0">
              <a:latin typeface="+mj-ea"/>
              <a:ea typeface="+mj-ea"/>
            </a:endParaRPr>
          </a:p>
          <a:p>
            <a:pPr algn="ctr"/>
            <a:r>
              <a:rPr lang="zh-CN" altLang="en-US" b="1" dirty="0">
                <a:latin typeface="+mj-ea"/>
                <a:ea typeface="+mj-ea"/>
              </a:rPr>
              <a:t>将是导电的主力军！</a:t>
            </a:r>
          </a:p>
        </p:txBody>
      </p:sp>
      <p:sp>
        <p:nvSpPr>
          <p:cNvPr id="72" name="文本框 142">
            <a:extLst>
              <a:ext uri="{FF2B5EF4-FFF2-40B4-BE49-F238E27FC236}">
                <a16:creationId xmlns:a16="http://schemas.microsoft.com/office/drawing/2014/main" id="{80B9DF05-A78C-8604-3B7A-2F5367C0EC25}"/>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73" name="文本框 143">
            <a:extLst>
              <a:ext uri="{FF2B5EF4-FFF2-40B4-BE49-F238E27FC236}">
                <a16:creationId xmlns:a16="http://schemas.microsoft.com/office/drawing/2014/main" id="{2B9C38C4-E29F-5820-0F1F-BE55AF4AD821}"/>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74" name="文本框 144">
            <a:extLst>
              <a:ext uri="{FF2B5EF4-FFF2-40B4-BE49-F238E27FC236}">
                <a16:creationId xmlns:a16="http://schemas.microsoft.com/office/drawing/2014/main" id="{15C01C7A-6172-6794-3B6F-BDACAAB62864}"/>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pic>
        <p:nvPicPr>
          <p:cNvPr id="75" name="Picture 9">
            <a:extLst>
              <a:ext uri="{FF2B5EF4-FFF2-40B4-BE49-F238E27FC236}">
                <a16:creationId xmlns:a16="http://schemas.microsoft.com/office/drawing/2014/main" id="{6785A7A6-2272-5D85-44E6-48B7A9B68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1087" y="2333364"/>
            <a:ext cx="2381164" cy="1691880"/>
          </a:xfrm>
          <a:prstGeom prst="rect">
            <a:avLst/>
          </a:prstGeom>
        </p:spPr>
      </p:pic>
    </p:spTree>
    <p:extLst>
      <p:ext uri="{BB962C8B-B14F-4D97-AF65-F5344CB8AC3E}">
        <p14:creationId xmlns:p14="http://schemas.microsoft.com/office/powerpoint/2010/main" val="394798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3"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C12F0011-5357-8CAF-979B-A0B7DA50FCE3}"/>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8CEF3EE4-7286-B77D-8523-195272BD0C56}"/>
              </a:ext>
            </a:extLst>
          </p:cNvPr>
          <p:cNvSpPr>
            <a:spLocks noGrp="1"/>
          </p:cNvSpPr>
          <p:nvPr>
            <p:ph type="sldNum" sz="quarter" idx="12"/>
          </p:nvPr>
        </p:nvSpPr>
        <p:spPr/>
        <p:txBody>
          <a:bodyPr/>
          <a:lstStyle/>
          <a:p>
            <a:fld id="{9E260BC5-5BF3-8746-862B-DC45E9CAA88B}" type="slidenum">
              <a:rPr lang="en-US" smtClean="0"/>
              <a:pPr/>
              <a:t>23</a:t>
            </a:fld>
            <a:r>
              <a:rPr lang="en-US" altLang="zh-CN" dirty="0"/>
              <a:t>/33</a:t>
            </a:r>
            <a:endParaRPr lang="en-US" dirty="0"/>
          </a:p>
        </p:txBody>
      </p:sp>
      <p:cxnSp>
        <p:nvCxnSpPr>
          <p:cNvPr id="6" name="直接连接符 92">
            <a:extLst>
              <a:ext uri="{FF2B5EF4-FFF2-40B4-BE49-F238E27FC236}">
                <a16:creationId xmlns:a16="http://schemas.microsoft.com/office/drawing/2014/main" id="{7DD78B5B-5E38-7AEE-4309-4278260ED17D}"/>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75">
            <a:extLst>
              <a:ext uri="{FF2B5EF4-FFF2-40B4-BE49-F238E27FC236}">
                <a16:creationId xmlns:a16="http://schemas.microsoft.com/office/drawing/2014/main" id="{5497FBB4-C155-0A27-B111-FBB0AFDBC63E}"/>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81">
            <a:extLst>
              <a:ext uri="{FF2B5EF4-FFF2-40B4-BE49-F238E27FC236}">
                <a16:creationId xmlns:a16="http://schemas.microsoft.com/office/drawing/2014/main" id="{2E2E43CE-87CC-A346-4557-9CF0FC3FAFC7}"/>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6">
            <a:extLst>
              <a:ext uri="{FF2B5EF4-FFF2-40B4-BE49-F238E27FC236}">
                <a16:creationId xmlns:a16="http://schemas.microsoft.com/office/drawing/2014/main" id="{CF61F2FE-63B7-C864-21BA-E796F8CEB18A}"/>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08CEC73B-23C7-E5E9-CEDA-D5CA938E63CD}"/>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95">
            <a:extLst>
              <a:ext uri="{FF2B5EF4-FFF2-40B4-BE49-F238E27FC236}">
                <a16:creationId xmlns:a16="http://schemas.microsoft.com/office/drawing/2014/main" id="{C988161C-7AE5-A723-7DE3-B6C9A2D1EAC6}"/>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FF81A3E5-8894-B1FF-9B50-F382A3E90F0F}"/>
              </a:ext>
            </a:extLst>
          </p:cNvPr>
          <p:cNvGrpSpPr/>
          <p:nvPr/>
        </p:nvGrpSpPr>
        <p:grpSpPr>
          <a:xfrm flipV="1">
            <a:off x="3621899" y="1429279"/>
            <a:ext cx="518053" cy="94821"/>
            <a:chOff x="3621899" y="1429279"/>
            <a:chExt cx="518053" cy="94821"/>
          </a:xfrm>
        </p:grpSpPr>
        <p:cxnSp>
          <p:nvCxnSpPr>
            <p:cNvPr id="13" name="直接连接符 97">
              <a:extLst>
                <a:ext uri="{FF2B5EF4-FFF2-40B4-BE49-F238E27FC236}">
                  <a16:creationId xmlns:a16="http://schemas.microsoft.com/office/drawing/2014/main" id="{7963F366-01C2-74E1-07E7-63C810F2B6D3}"/>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98">
              <a:extLst>
                <a:ext uri="{FF2B5EF4-FFF2-40B4-BE49-F238E27FC236}">
                  <a16:creationId xmlns:a16="http://schemas.microsoft.com/office/drawing/2014/main" id="{1922DAAC-BEFE-09FF-7023-0CC6AE0801EF}"/>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 name="直接连接符 114">
            <a:extLst>
              <a:ext uri="{FF2B5EF4-FFF2-40B4-BE49-F238E27FC236}">
                <a16:creationId xmlns:a16="http://schemas.microsoft.com/office/drawing/2014/main" id="{6B4B7280-07E9-74EB-120D-A2C52431D06D}"/>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15">
            <a:extLst>
              <a:ext uri="{FF2B5EF4-FFF2-40B4-BE49-F238E27FC236}">
                <a16:creationId xmlns:a16="http://schemas.microsoft.com/office/drawing/2014/main" id="{5657169B-EC70-422C-A3DB-38BBC2BFF5EC}"/>
              </a:ext>
            </a:extLst>
          </p:cNvPr>
          <p:cNvCxnSpPr/>
          <p:nvPr/>
        </p:nvCxnSpPr>
        <p:spPr>
          <a:xfrm>
            <a:off x="4572000" y="89668"/>
            <a:ext cx="0" cy="6273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箭头连接符 41">
            <a:extLst>
              <a:ext uri="{FF2B5EF4-FFF2-40B4-BE49-F238E27FC236}">
                <a16:creationId xmlns:a16="http://schemas.microsoft.com/office/drawing/2014/main" id="{9071CC4C-1626-8141-AC31-0BF3958BFC9F}"/>
              </a:ext>
            </a:extLst>
          </p:cNvPr>
          <p:cNvCxnSpPr/>
          <p:nvPr/>
        </p:nvCxnSpPr>
        <p:spPr>
          <a:xfrm flipV="1">
            <a:off x="3167844" y="2016390"/>
            <a:ext cx="0" cy="40068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AAD47BB1-6273-263A-A0D6-DAA907164D5E}"/>
              </a:ext>
            </a:extLst>
          </p:cNvPr>
          <p:cNvSpPr txBox="1"/>
          <p:nvPr/>
        </p:nvSpPr>
        <p:spPr>
          <a:xfrm>
            <a:off x="3203848" y="2075811"/>
            <a:ext cx="216024" cy="369332"/>
          </a:xfrm>
          <a:prstGeom prst="rect">
            <a:avLst/>
          </a:prstGeom>
          <a:noFill/>
        </p:spPr>
        <p:txBody>
          <a:bodyPr wrap="square" rtlCol="0">
            <a:spAutoFit/>
          </a:bodyPr>
          <a:lstStyle/>
          <a:p>
            <a:r>
              <a:rPr lang="en-US" altLang="zh-CN" dirty="0"/>
              <a:t>E</a:t>
            </a:r>
            <a:endParaRPr lang="zh-CN" altLang="en-US" dirty="0"/>
          </a:p>
        </p:txBody>
      </p:sp>
      <p:cxnSp>
        <p:nvCxnSpPr>
          <p:cNvPr id="19" name="直接箭头连接符 119">
            <a:extLst>
              <a:ext uri="{FF2B5EF4-FFF2-40B4-BE49-F238E27FC236}">
                <a16:creationId xmlns:a16="http://schemas.microsoft.com/office/drawing/2014/main" id="{CEDDB417-0B62-1172-B76F-9536296559EF}"/>
              </a:ext>
            </a:extLst>
          </p:cNvPr>
          <p:cNvCxnSpPr/>
          <p:nvPr/>
        </p:nvCxnSpPr>
        <p:spPr>
          <a:xfrm>
            <a:off x="3167844" y="4390912"/>
            <a:ext cx="0" cy="428052"/>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697A27C3-6FA1-D299-628D-0C726AF3EAE0}"/>
              </a:ext>
            </a:extLst>
          </p:cNvPr>
          <p:cNvSpPr txBox="1"/>
          <p:nvPr/>
        </p:nvSpPr>
        <p:spPr>
          <a:xfrm>
            <a:off x="3206393" y="4403465"/>
            <a:ext cx="216024" cy="369332"/>
          </a:xfrm>
          <a:prstGeom prst="rect">
            <a:avLst/>
          </a:prstGeom>
          <a:noFill/>
        </p:spPr>
        <p:txBody>
          <a:bodyPr wrap="square" rtlCol="0">
            <a:spAutoFit/>
          </a:bodyPr>
          <a:lstStyle/>
          <a:p>
            <a:r>
              <a:rPr lang="en-US" altLang="zh-CN" dirty="0"/>
              <a:t>E</a:t>
            </a:r>
            <a:endParaRPr lang="zh-CN" altLang="en-US" dirty="0"/>
          </a:p>
        </p:txBody>
      </p:sp>
      <p:sp>
        <p:nvSpPr>
          <p:cNvPr id="21" name="矩形 20">
            <a:extLst>
              <a:ext uri="{FF2B5EF4-FFF2-40B4-BE49-F238E27FC236}">
                <a16:creationId xmlns:a16="http://schemas.microsoft.com/office/drawing/2014/main" id="{D6E8697D-195C-B78B-C196-16E22A3A2A38}"/>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F28429C-E9C7-1085-6D48-4E43B4036FEA}"/>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429DC41-59C7-2FF9-2FDD-E09C13FE8FC6}"/>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3E2BF57A-8B22-FC01-1B32-B61B6C989FBA}"/>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D6F1E1B7-1130-2AAA-3D4C-381BC7E99EAF}"/>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6" name="文本框 25">
            <a:extLst>
              <a:ext uri="{FF2B5EF4-FFF2-40B4-BE49-F238E27FC236}">
                <a16:creationId xmlns:a16="http://schemas.microsoft.com/office/drawing/2014/main" id="{280C2058-D2FF-9698-DF12-11608DE1C884}"/>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8131F74C-5919-DF71-D657-9CA2C8A7B286}"/>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8" name="文本框 27">
            <a:extLst>
              <a:ext uri="{FF2B5EF4-FFF2-40B4-BE49-F238E27FC236}">
                <a16:creationId xmlns:a16="http://schemas.microsoft.com/office/drawing/2014/main" id="{930ECB2D-59A6-B54D-8B01-7D8CAB413485}"/>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9" name="文本框 28">
            <a:extLst>
              <a:ext uri="{FF2B5EF4-FFF2-40B4-BE49-F238E27FC236}">
                <a16:creationId xmlns:a16="http://schemas.microsoft.com/office/drawing/2014/main" id="{DF80C426-B4BF-C8EB-3A4B-09B11A59E771}"/>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0" name="文本框 29">
            <a:extLst>
              <a:ext uri="{FF2B5EF4-FFF2-40B4-BE49-F238E27FC236}">
                <a16:creationId xmlns:a16="http://schemas.microsoft.com/office/drawing/2014/main" id="{032554B8-3848-5C4F-5E7D-01D8B7ADCECF}"/>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1" name="文本框 30">
            <a:extLst>
              <a:ext uri="{FF2B5EF4-FFF2-40B4-BE49-F238E27FC236}">
                <a16:creationId xmlns:a16="http://schemas.microsoft.com/office/drawing/2014/main" id="{493B104C-944A-35A8-7609-F6A6BAAF25CA}"/>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2" name="文本框 31">
            <a:extLst>
              <a:ext uri="{FF2B5EF4-FFF2-40B4-BE49-F238E27FC236}">
                <a16:creationId xmlns:a16="http://schemas.microsoft.com/office/drawing/2014/main" id="{4F193D6B-98A0-ECF5-7B19-4CDE3F5E4792}"/>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3" name="文本框 32">
            <a:extLst>
              <a:ext uri="{FF2B5EF4-FFF2-40B4-BE49-F238E27FC236}">
                <a16:creationId xmlns:a16="http://schemas.microsoft.com/office/drawing/2014/main" id="{0FFCAEBE-3C35-A87E-67E9-37F17711BD9B}"/>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4" name="文本框 33">
            <a:extLst>
              <a:ext uri="{FF2B5EF4-FFF2-40B4-BE49-F238E27FC236}">
                <a16:creationId xmlns:a16="http://schemas.microsoft.com/office/drawing/2014/main" id="{CABC205C-1AE0-6346-A702-10294D231A82}"/>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5" name="文本框 34">
            <a:extLst>
              <a:ext uri="{FF2B5EF4-FFF2-40B4-BE49-F238E27FC236}">
                <a16:creationId xmlns:a16="http://schemas.microsoft.com/office/drawing/2014/main" id="{72AF79BE-EE22-0D65-65B4-77D4989C8152}"/>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6" name="文本框 35">
            <a:extLst>
              <a:ext uri="{FF2B5EF4-FFF2-40B4-BE49-F238E27FC236}">
                <a16:creationId xmlns:a16="http://schemas.microsoft.com/office/drawing/2014/main" id="{1E18F436-37D8-6531-3A87-D0A0FCB29CC6}"/>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7" name="文本框 36">
            <a:extLst>
              <a:ext uri="{FF2B5EF4-FFF2-40B4-BE49-F238E27FC236}">
                <a16:creationId xmlns:a16="http://schemas.microsoft.com/office/drawing/2014/main" id="{80892476-C004-9016-655A-D9F61469A6D8}"/>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8" name="文本框 37">
            <a:extLst>
              <a:ext uri="{FF2B5EF4-FFF2-40B4-BE49-F238E27FC236}">
                <a16:creationId xmlns:a16="http://schemas.microsoft.com/office/drawing/2014/main" id="{1019C4BA-48DC-23A0-7AC8-15E9C9798723}"/>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A9D48767-4623-E32A-32E6-500CAEEDA9E3}"/>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9ECB322E-A7A2-B607-4014-769396B34AB4}"/>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1" name="文本框 40">
            <a:extLst>
              <a:ext uri="{FF2B5EF4-FFF2-40B4-BE49-F238E27FC236}">
                <a16:creationId xmlns:a16="http://schemas.microsoft.com/office/drawing/2014/main" id="{A729B8EF-1042-5C0F-97E5-3C1FFA30A56D}"/>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2" name="文本框 41">
            <a:extLst>
              <a:ext uri="{FF2B5EF4-FFF2-40B4-BE49-F238E27FC236}">
                <a16:creationId xmlns:a16="http://schemas.microsoft.com/office/drawing/2014/main" id="{813EB1BB-386E-9E74-DB81-E2C0E816909D}"/>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43" name="文本框 42">
            <a:extLst>
              <a:ext uri="{FF2B5EF4-FFF2-40B4-BE49-F238E27FC236}">
                <a16:creationId xmlns:a16="http://schemas.microsoft.com/office/drawing/2014/main" id="{48A0B926-BCAB-57B5-46F6-27ACCCFB3E8A}"/>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4" name="文本框 43">
            <a:extLst>
              <a:ext uri="{FF2B5EF4-FFF2-40B4-BE49-F238E27FC236}">
                <a16:creationId xmlns:a16="http://schemas.microsoft.com/office/drawing/2014/main" id="{5790023C-4C50-4678-B097-81BEA82EE0FE}"/>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45" name="文本框 44">
            <a:extLst>
              <a:ext uri="{FF2B5EF4-FFF2-40B4-BE49-F238E27FC236}">
                <a16:creationId xmlns:a16="http://schemas.microsoft.com/office/drawing/2014/main" id="{3BB01F97-0604-8156-0F88-59021BA0C7AF}"/>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6" name="文本框 45">
            <a:extLst>
              <a:ext uri="{FF2B5EF4-FFF2-40B4-BE49-F238E27FC236}">
                <a16:creationId xmlns:a16="http://schemas.microsoft.com/office/drawing/2014/main" id="{53866EF6-5549-201B-4B22-324E88F92F68}"/>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47" name="文本框 46">
            <a:extLst>
              <a:ext uri="{FF2B5EF4-FFF2-40B4-BE49-F238E27FC236}">
                <a16:creationId xmlns:a16="http://schemas.microsoft.com/office/drawing/2014/main" id="{26CBEA65-551C-CD3E-926E-7D2651154FA8}"/>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8" name="文本框 47">
            <a:extLst>
              <a:ext uri="{FF2B5EF4-FFF2-40B4-BE49-F238E27FC236}">
                <a16:creationId xmlns:a16="http://schemas.microsoft.com/office/drawing/2014/main" id="{4BC42216-B3B1-E4BD-24E7-893607622A39}"/>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9" name="文本框 48">
            <a:extLst>
              <a:ext uri="{FF2B5EF4-FFF2-40B4-BE49-F238E27FC236}">
                <a16:creationId xmlns:a16="http://schemas.microsoft.com/office/drawing/2014/main" id="{29A7D1F0-6FB4-27E0-FF93-FDB28C6F03BB}"/>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0" name="文本框 49">
            <a:extLst>
              <a:ext uri="{FF2B5EF4-FFF2-40B4-BE49-F238E27FC236}">
                <a16:creationId xmlns:a16="http://schemas.microsoft.com/office/drawing/2014/main" id="{73AE0201-DED4-C69C-BABE-1AD79FBFF80C}"/>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1" name="文本框 50">
            <a:extLst>
              <a:ext uri="{FF2B5EF4-FFF2-40B4-BE49-F238E27FC236}">
                <a16:creationId xmlns:a16="http://schemas.microsoft.com/office/drawing/2014/main" id="{451C2333-29E4-E04F-7A66-A29F8B2F5B97}"/>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2" name="文本框 51">
            <a:extLst>
              <a:ext uri="{FF2B5EF4-FFF2-40B4-BE49-F238E27FC236}">
                <a16:creationId xmlns:a16="http://schemas.microsoft.com/office/drawing/2014/main" id="{B685D0DF-70F6-F1FB-A617-EF4A805E62E9}"/>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3" name="文本框 52">
            <a:extLst>
              <a:ext uri="{FF2B5EF4-FFF2-40B4-BE49-F238E27FC236}">
                <a16:creationId xmlns:a16="http://schemas.microsoft.com/office/drawing/2014/main" id="{7CA79875-943B-06FF-7474-465D7C8AD512}"/>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4" name="文本框 53">
            <a:extLst>
              <a:ext uri="{FF2B5EF4-FFF2-40B4-BE49-F238E27FC236}">
                <a16:creationId xmlns:a16="http://schemas.microsoft.com/office/drawing/2014/main" id="{1F437BA8-5E89-C777-1780-021B1E0FCB84}"/>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5" name="文本框 54">
            <a:extLst>
              <a:ext uri="{FF2B5EF4-FFF2-40B4-BE49-F238E27FC236}">
                <a16:creationId xmlns:a16="http://schemas.microsoft.com/office/drawing/2014/main" id="{19038A09-8171-5AE2-9BFE-E87AC42DCF81}"/>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6" name="文本框 55">
            <a:extLst>
              <a:ext uri="{FF2B5EF4-FFF2-40B4-BE49-F238E27FC236}">
                <a16:creationId xmlns:a16="http://schemas.microsoft.com/office/drawing/2014/main" id="{8E3799AB-F32C-AD0A-95A8-5C6487159DFA}"/>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7" name="矩形 56">
            <a:extLst>
              <a:ext uri="{FF2B5EF4-FFF2-40B4-BE49-F238E27FC236}">
                <a16:creationId xmlns:a16="http://schemas.microsoft.com/office/drawing/2014/main" id="{FDA92D2B-6D4C-A1E0-4CBB-EF83B88BF5D9}"/>
              </a:ext>
            </a:extLst>
          </p:cNvPr>
          <p:cNvSpPr/>
          <p:nvPr/>
        </p:nvSpPr>
        <p:spPr>
          <a:xfrm>
            <a:off x="215515" y="3831766"/>
            <a:ext cx="2805769" cy="1209609"/>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A9862A1C-E1CC-4A44-2D1F-44F766A6DAE0}"/>
              </a:ext>
            </a:extLst>
          </p:cNvPr>
          <p:cNvSpPr/>
          <p:nvPr/>
        </p:nvSpPr>
        <p:spPr>
          <a:xfrm>
            <a:off x="215516" y="1512983"/>
            <a:ext cx="2805769" cy="1494988"/>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140">
            <a:extLst>
              <a:ext uri="{FF2B5EF4-FFF2-40B4-BE49-F238E27FC236}">
                <a16:creationId xmlns:a16="http://schemas.microsoft.com/office/drawing/2014/main" id="{345302E5-4E60-E32E-628B-F2DD8298F7D2}"/>
              </a:ext>
            </a:extLst>
          </p:cNvPr>
          <p:cNvCxnSpPr>
            <a:endCxn id="25" idx="0"/>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141">
            <a:extLst>
              <a:ext uri="{FF2B5EF4-FFF2-40B4-BE49-F238E27FC236}">
                <a16:creationId xmlns:a16="http://schemas.microsoft.com/office/drawing/2014/main" id="{F7CF1AB0-66D5-887E-2F96-E8798E67D75B}"/>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B149C2A6-A788-ABC6-CAEF-5C8CC90CE7BE}"/>
              </a:ext>
            </a:extLst>
          </p:cNvPr>
          <p:cNvSpPr/>
          <p:nvPr/>
        </p:nvSpPr>
        <p:spPr>
          <a:xfrm>
            <a:off x="719572" y="101673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2C0E5294-3BDA-E5BC-4246-7BC074B239E3}"/>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63" name="文本框 62">
            <a:extLst>
              <a:ext uri="{FF2B5EF4-FFF2-40B4-BE49-F238E27FC236}">
                <a16:creationId xmlns:a16="http://schemas.microsoft.com/office/drawing/2014/main" id="{3D4C8B11-F1D3-A33D-A709-6B34E125549A}"/>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64" name="文本框 63">
            <a:extLst>
              <a:ext uri="{FF2B5EF4-FFF2-40B4-BE49-F238E27FC236}">
                <a16:creationId xmlns:a16="http://schemas.microsoft.com/office/drawing/2014/main" id="{C15ECF12-757F-5DE8-7C5A-3532E26E7E7E}"/>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sp>
        <p:nvSpPr>
          <p:cNvPr id="65" name="文本框 64">
            <a:extLst>
              <a:ext uri="{FF2B5EF4-FFF2-40B4-BE49-F238E27FC236}">
                <a16:creationId xmlns:a16="http://schemas.microsoft.com/office/drawing/2014/main" id="{7B979664-8831-973F-9127-835F2FEA4D37}"/>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sp>
        <p:nvSpPr>
          <p:cNvPr id="66" name="矩形 65">
            <a:extLst>
              <a:ext uri="{FF2B5EF4-FFF2-40B4-BE49-F238E27FC236}">
                <a16:creationId xmlns:a16="http://schemas.microsoft.com/office/drawing/2014/main" id="{3183643C-0D6A-56EA-1817-B217993A3EB0}"/>
              </a:ext>
            </a:extLst>
          </p:cNvPr>
          <p:cNvSpPr/>
          <p:nvPr/>
        </p:nvSpPr>
        <p:spPr>
          <a:xfrm>
            <a:off x="4769169" y="1052736"/>
            <a:ext cx="4627367" cy="2585323"/>
          </a:xfrm>
          <a:prstGeom prst="rect">
            <a:avLst/>
          </a:prstGeom>
        </p:spPr>
        <p:txBody>
          <a:bodyPr wrap="square">
            <a:spAutoFit/>
          </a:bodyPr>
          <a:lstStyle/>
          <a:p>
            <a:r>
              <a:rPr lang="en-US" altLang="zh-CN" b="1" dirty="0"/>
              <a:t>V</a:t>
            </a:r>
            <a:r>
              <a:rPr lang="en-US" altLang="zh-CN" b="1" baseline="-25000" dirty="0"/>
              <a:t>BE</a:t>
            </a:r>
            <a:r>
              <a:rPr lang="en-US" altLang="zh-CN" b="1" dirty="0"/>
              <a:t>&lt; V</a:t>
            </a:r>
            <a:r>
              <a:rPr lang="en-US" altLang="zh-CN" b="1" baseline="-25000" dirty="0"/>
              <a:t>T </a:t>
            </a:r>
            <a:r>
              <a:rPr lang="en-US" altLang="zh-CN" b="1" dirty="0"/>
              <a:t> </a:t>
            </a:r>
            <a:r>
              <a:rPr lang="en-US" altLang="zh-CN" dirty="0"/>
              <a:t>:</a:t>
            </a:r>
          </a:p>
          <a:p>
            <a:endParaRPr lang="en-US" altLang="zh-CN" dirty="0"/>
          </a:p>
          <a:p>
            <a:r>
              <a:rPr lang="zh-CN" altLang="en-US" dirty="0"/>
              <a:t>发射极都是电子，好挤啊，好想去基极啊，</a:t>
            </a:r>
            <a:endParaRPr lang="en-US" altLang="zh-CN" dirty="0"/>
          </a:p>
          <a:p>
            <a:r>
              <a:rPr lang="zh-CN" altLang="en-US" dirty="0"/>
              <a:t>但是</a:t>
            </a:r>
            <a:r>
              <a:rPr lang="en-US" altLang="zh-CN" dirty="0"/>
              <a:t>b-e</a:t>
            </a:r>
            <a:r>
              <a:rPr lang="zh-CN" altLang="en-US" dirty="0"/>
              <a:t>结好宽，外加电场也太小，没人帮我，我跳不过去啊 </a:t>
            </a:r>
            <a:r>
              <a:rPr lang="en-US" altLang="zh-CN" dirty="0">
                <a:sym typeface="Wingdings" panose="05000000000000000000" pitchFamily="2" charset="2"/>
              </a:rPr>
              <a:t></a:t>
            </a:r>
            <a:endParaRPr lang="en-US" altLang="zh-CN" dirty="0"/>
          </a:p>
          <a:p>
            <a:endParaRPr lang="en-US" altLang="zh-CN" dirty="0"/>
          </a:p>
          <a:p>
            <a:r>
              <a:rPr lang="en-US" altLang="zh-CN" dirty="0"/>
              <a:t>I</a:t>
            </a:r>
            <a:r>
              <a:rPr lang="en-US" altLang="zh-CN" baseline="-25000" dirty="0"/>
              <a:t>b</a:t>
            </a:r>
            <a:r>
              <a:rPr lang="en-US" altLang="zh-CN" dirty="0">
                <a:latin typeface="宋体" panose="02010600030101010101" pitchFamily="2" charset="-122"/>
              </a:rPr>
              <a:t>≈</a:t>
            </a:r>
            <a:r>
              <a:rPr lang="en-US" altLang="zh-CN" dirty="0"/>
              <a:t>0</a:t>
            </a:r>
          </a:p>
          <a:p>
            <a:endParaRPr lang="en-US" altLang="zh-CN" dirty="0"/>
          </a:p>
          <a:p>
            <a:endParaRPr lang="en-US" altLang="zh-CN" dirty="0"/>
          </a:p>
        </p:txBody>
      </p:sp>
      <p:cxnSp>
        <p:nvCxnSpPr>
          <p:cNvPr id="67" name="直接箭头连接符 147">
            <a:extLst>
              <a:ext uri="{FF2B5EF4-FFF2-40B4-BE49-F238E27FC236}">
                <a16:creationId xmlns:a16="http://schemas.microsoft.com/office/drawing/2014/main" id="{4D93435A-F783-000E-8EE4-ED8915A33B85}"/>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77440678-C43A-0BD1-2B39-03C6F8926072}"/>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69" name="直接箭头连接符 149">
            <a:extLst>
              <a:ext uri="{FF2B5EF4-FFF2-40B4-BE49-F238E27FC236}">
                <a16:creationId xmlns:a16="http://schemas.microsoft.com/office/drawing/2014/main" id="{3BE38485-96A3-EDCC-654D-53778B3F16CE}"/>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a16="http://schemas.microsoft.com/office/drawing/2014/main" id="{8168390C-C9A7-1D3E-A9D5-A3CE74AC7869}"/>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1" name="直接箭头连接符 151">
            <a:extLst>
              <a:ext uri="{FF2B5EF4-FFF2-40B4-BE49-F238E27FC236}">
                <a16:creationId xmlns:a16="http://schemas.microsoft.com/office/drawing/2014/main" id="{C2E740CB-41FE-E353-80BB-3B36F96AD143}"/>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矩形 71">
            <a:extLst>
              <a:ext uri="{FF2B5EF4-FFF2-40B4-BE49-F238E27FC236}">
                <a16:creationId xmlns:a16="http://schemas.microsoft.com/office/drawing/2014/main" id="{A40751AB-EEE0-6075-86B2-87E1F496D6CD}"/>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sp>
        <p:nvSpPr>
          <p:cNvPr id="73" name="文本框 72">
            <a:extLst>
              <a:ext uri="{FF2B5EF4-FFF2-40B4-BE49-F238E27FC236}">
                <a16:creationId xmlns:a16="http://schemas.microsoft.com/office/drawing/2014/main" id="{A52697E7-7219-8D3F-2CCB-1B0FDC03E854}"/>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Tree>
    <p:extLst>
      <p:ext uri="{BB962C8B-B14F-4D97-AF65-F5344CB8AC3E}">
        <p14:creationId xmlns:p14="http://schemas.microsoft.com/office/powerpoint/2010/main" val="1802220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C12F0011-5357-8CAF-979B-A0B7DA50FCE3}"/>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8CEF3EE4-7286-B77D-8523-195272BD0C56}"/>
              </a:ext>
            </a:extLst>
          </p:cNvPr>
          <p:cNvSpPr>
            <a:spLocks noGrp="1"/>
          </p:cNvSpPr>
          <p:nvPr>
            <p:ph type="sldNum" sz="quarter" idx="12"/>
          </p:nvPr>
        </p:nvSpPr>
        <p:spPr/>
        <p:txBody>
          <a:bodyPr/>
          <a:lstStyle/>
          <a:p>
            <a:fld id="{9E260BC5-5BF3-8746-862B-DC45E9CAA88B}" type="slidenum">
              <a:rPr lang="en-US" smtClean="0"/>
              <a:pPr/>
              <a:t>24</a:t>
            </a:fld>
            <a:r>
              <a:rPr lang="en-US" altLang="zh-CN" dirty="0"/>
              <a:t>/33</a:t>
            </a:r>
            <a:endParaRPr lang="en-US" dirty="0"/>
          </a:p>
        </p:txBody>
      </p:sp>
      <p:cxnSp>
        <p:nvCxnSpPr>
          <p:cNvPr id="2" name="直接连接符 92">
            <a:extLst>
              <a:ext uri="{FF2B5EF4-FFF2-40B4-BE49-F238E27FC236}">
                <a16:creationId xmlns:a16="http://schemas.microsoft.com/office/drawing/2014/main" id="{E7F2E03A-1538-79F5-D739-67346A5ABA2F}"/>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75">
            <a:extLst>
              <a:ext uri="{FF2B5EF4-FFF2-40B4-BE49-F238E27FC236}">
                <a16:creationId xmlns:a16="http://schemas.microsoft.com/office/drawing/2014/main" id="{290E2DDE-CD8E-4D07-749E-DA7594058B3E}"/>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81">
            <a:extLst>
              <a:ext uri="{FF2B5EF4-FFF2-40B4-BE49-F238E27FC236}">
                <a16:creationId xmlns:a16="http://schemas.microsoft.com/office/drawing/2014/main" id="{18FF7878-FEDF-80EE-22DC-2036679839AE}"/>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86">
            <a:extLst>
              <a:ext uri="{FF2B5EF4-FFF2-40B4-BE49-F238E27FC236}">
                <a16:creationId xmlns:a16="http://schemas.microsoft.com/office/drawing/2014/main" id="{61ED78DC-9592-B468-7135-221567857468}"/>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0DBBCA78-C7B1-0F96-5375-934223376348}"/>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5">
            <a:extLst>
              <a:ext uri="{FF2B5EF4-FFF2-40B4-BE49-F238E27FC236}">
                <a16:creationId xmlns:a16="http://schemas.microsoft.com/office/drawing/2014/main" id="{3CA64DE0-3AD1-B17C-625F-C65FE258920D}"/>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69046C30-5743-EBCD-6A5F-705F906A456D}"/>
              </a:ext>
            </a:extLst>
          </p:cNvPr>
          <p:cNvGrpSpPr/>
          <p:nvPr/>
        </p:nvGrpSpPr>
        <p:grpSpPr>
          <a:xfrm flipV="1">
            <a:off x="3621899" y="1429279"/>
            <a:ext cx="518053" cy="94821"/>
            <a:chOff x="3621899" y="1429279"/>
            <a:chExt cx="518053" cy="94821"/>
          </a:xfrm>
        </p:grpSpPr>
        <p:cxnSp>
          <p:nvCxnSpPr>
            <p:cNvPr id="12" name="直接连接符 97">
              <a:extLst>
                <a:ext uri="{FF2B5EF4-FFF2-40B4-BE49-F238E27FC236}">
                  <a16:creationId xmlns:a16="http://schemas.microsoft.com/office/drawing/2014/main" id="{776B2BEE-66BD-2EE6-7465-1948C98809DE}"/>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98">
              <a:extLst>
                <a:ext uri="{FF2B5EF4-FFF2-40B4-BE49-F238E27FC236}">
                  <a16:creationId xmlns:a16="http://schemas.microsoft.com/office/drawing/2014/main" id="{8186B270-15AB-1501-94B9-2DF35968A4A7}"/>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直接连接符 114">
            <a:extLst>
              <a:ext uri="{FF2B5EF4-FFF2-40B4-BE49-F238E27FC236}">
                <a16:creationId xmlns:a16="http://schemas.microsoft.com/office/drawing/2014/main" id="{45443B83-F3DA-6654-252F-CB1AF3C7F007}"/>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15">
            <a:extLst>
              <a:ext uri="{FF2B5EF4-FFF2-40B4-BE49-F238E27FC236}">
                <a16:creationId xmlns:a16="http://schemas.microsoft.com/office/drawing/2014/main" id="{C9055D1A-4B29-9843-F9B8-48AE8C4F3F69}"/>
              </a:ext>
            </a:extLst>
          </p:cNvPr>
          <p:cNvCxnSpPr/>
          <p:nvPr/>
        </p:nvCxnSpPr>
        <p:spPr>
          <a:xfrm>
            <a:off x="4572000" y="89668"/>
            <a:ext cx="0" cy="6273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箭头连接符 41">
            <a:extLst>
              <a:ext uri="{FF2B5EF4-FFF2-40B4-BE49-F238E27FC236}">
                <a16:creationId xmlns:a16="http://schemas.microsoft.com/office/drawing/2014/main" id="{8D7D2001-1B5D-A96C-DA75-38A60CCD1A0E}"/>
              </a:ext>
            </a:extLst>
          </p:cNvPr>
          <p:cNvCxnSpPr/>
          <p:nvPr/>
        </p:nvCxnSpPr>
        <p:spPr>
          <a:xfrm flipV="1">
            <a:off x="3167844" y="2016390"/>
            <a:ext cx="0" cy="40068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5BE6A92-14A2-CE26-3C7B-8CA3C9A03DEE}"/>
              </a:ext>
            </a:extLst>
          </p:cNvPr>
          <p:cNvSpPr txBox="1"/>
          <p:nvPr/>
        </p:nvSpPr>
        <p:spPr>
          <a:xfrm>
            <a:off x="3203848" y="2075811"/>
            <a:ext cx="216024" cy="369332"/>
          </a:xfrm>
          <a:prstGeom prst="rect">
            <a:avLst/>
          </a:prstGeom>
          <a:noFill/>
        </p:spPr>
        <p:txBody>
          <a:bodyPr wrap="square" rtlCol="0">
            <a:spAutoFit/>
          </a:bodyPr>
          <a:lstStyle/>
          <a:p>
            <a:r>
              <a:rPr lang="en-US" altLang="zh-CN" dirty="0"/>
              <a:t>E</a:t>
            </a:r>
            <a:endParaRPr lang="zh-CN" altLang="en-US" dirty="0"/>
          </a:p>
        </p:txBody>
      </p:sp>
      <p:cxnSp>
        <p:nvCxnSpPr>
          <p:cNvPr id="18" name="直接箭头连接符 119">
            <a:extLst>
              <a:ext uri="{FF2B5EF4-FFF2-40B4-BE49-F238E27FC236}">
                <a16:creationId xmlns:a16="http://schemas.microsoft.com/office/drawing/2014/main" id="{632F1714-A195-CF1C-D599-EBE8DED1015A}"/>
              </a:ext>
            </a:extLst>
          </p:cNvPr>
          <p:cNvCxnSpPr/>
          <p:nvPr/>
        </p:nvCxnSpPr>
        <p:spPr>
          <a:xfrm>
            <a:off x="3167844" y="4390912"/>
            <a:ext cx="0" cy="428052"/>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08958E86-5A95-4E89-0D3D-D29D1A64CC6D}"/>
              </a:ext>
            </a:extLst>
          </p:cNvPr>
          <p:cNvSpPr txBox="1"/>
          <p:nvPr/>
        </p:nvSpPr>
        <p:spPr>
          <a:xfrm>
            <a:off x="3206393" y="4403465"/>
            <a:ext cx="216024" cy="369332"/>
          </a:xfrm>
          <a:prstGeom prst="rect">
            <a:avLst/>
          </a:prstGeom>
          <a:noFill/>
        </p:spPr>
        <p:txBody>
          <a:bodyPr wrap="square" rtlCol="0">
            <a:spAutoFit/>
          </a:bodyPr>
          <a:lstStyle/>
          <a:p>
            <a:r>
              <a:rPr lang="en-US" altLang="zh-CN" dirty="0"/>
              <a:t>E</a:t>
            </a:r>
            <a:endParaRPr lang="zh-CN" altLang="en-US" dirty="0"/>
          </a:p>
        </p:txBody>
      </p:sp>
      <p:sp>
        <p:nvSpPr>
          <p:cNvPr id="20" name="矩形 19">
            <a:extLst>
              <a:ext uri="{FF2B5EF4-FFF2-40B4-BE49-F238E27FC236}">
                <a16:creationId xmlns:a16="http://schemas.microsoft.com/office/drawing/2014/main" id="{89080927-7A67-6166-05E8-D020B304EF9F}"/>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E2C968B-3BC9-99BF-A3E1-6CD04E1BDE40}"/>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46E5E5C-22C9-988B-51F1-895092799411}"/>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6BB494C6-B40E-60A0-128A-AFDAFE5DC63C}"/>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B53406E4-0019-A6A2-EA6D-866F91C12C75}"/>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5" name="文本框 24">
            <a:extLst>
              <a:ext uri="{FF2B5EF4-FFF2-40B4-BE49-F238E27FC236}">
                <a16:creationId xmlns:a16="http://schemas.microsoft.com/office/drawing/2014/main" id="{C97EDA31-2D0A-E67A-AC43-9227A234E976}"/>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F11D5F5A-6073-8C5B-4FFE-E9066672692F}"/>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67A8B759-82F7-48BF-341F-8A44A3D7C340}"/>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8" name="文本框 27">
            <a:extLst>
              <a:ext uri="{FF2B5EF4-FFF2-40B4-BE49-F238E27FC236}">
                <a16:creationId xmlns:a16="http://schemas.microsoft.com/office/drawing/2014/main" id="{D5297662-981F-717C-63C4-9261EDD65C92}"/>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9" name="文本框 28">
            <a:extLst>
              <a:ext uri="{FF2B5EF4-FFF2-40B4-BE49-F238E27FC236}">
                <a16:creationId xmlns:a16="http://schemas.microsoft.com/office/drawing/2014/main" id="{DE1F0FF7-A7AB-4178-C6E2-F8E75CC53966}"/>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0" name="文本框 29">
            <a:extLst>
              <a:ext uri="{FF2B5EF4-FFF2-40B4-BE49-F238E27FC236}">
                <a16:creationId xmlns:a16="http://schemas.microsoft.com/office/drawing/2014/main" id="{7B936067-B6C8-7F77-4286-A0F4C9B55655}"/>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1" name="文本框 30">
            <a:extLst>
              <a:ext uri="{FF2B5EF4-FFF2-40B4-BE49-F238E27FC236}">
                <a16:creationId xmlns:a16="http://schemas.microsoft.com/office/drawing/2014/main" id="{E1C3E6E2-807E-57C2-1582-AF7A4F76FEE3}"/>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2" name="文本框 31">
            <a:extLst>
              <a:ext uri="{FF2B5EF4-FFF2-40B4-BE49-F238E27FC236}">
                <a16:creationId xmlns:a16="http://schemas.microsoft.com/office/drawing/2014/main" id="{F320DA6E-0B04-6394-08E7-88F77874F0FE}"/>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3" name="文本框 32">
            <a:extLst>
              <a:ext uri="{FF2B5EF4-FFF2-40B4-BE49-F238E27FC236}">
                <a16:creationId xmlns:a16="http://schemas.microsoft.com/office/drawing/2014/main" id="{A9BE7C44-688E-DE69-747D-1FD6B2E8A106}"/>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4" name="文本框 33">
            <a:extLst>
              <a:ext uri="{FF2B5EF4-FFF2-40B4-BE49-F238E27FC236}">
                <a16:creationId xmlns:a16="http://schemas.microsoft.com/office/drawing/2014/main" id="{35B1A09F-B99F-E7C2-F79C-019FBF9CBBCE}"/>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5" name="文本框 34">
            <a:extLst>
              <a:ext uri="{FF2B5EF4-FFF2-40B4-BE49-F238E27FC236}">
                <a16:creationId xmlns:a16="http://schemas.microsoft.com/office/drawing/2014/main" id="{BC279F99-3BBB-D1FF-726C-C56120296BA3}"/>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6" name="文本框 35">
            <a:extLst>
              <a:ext uri="{FF2B5EF4-FFF2-40B4-BE49-F238E27FC236}">
                <a16:creationId xmlns:a16="http://schemas.microsoft.com/office/drawing/2014/main" id="{535D490E-6C0F-85D9-19D6-2E82DD012B01}"/>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37" name="文本框 36">
            <a:extLst>
              <a:ext uri="{FF2B5EF4-FFF2-40B4-BE49-F238E27FC236}">
                <a16:creationId xmlns:a16="http://schemas.microsoft.com/office/drawing/2014/main" id="{A5B3B3F7-B500-12D8-AF8E-75CC4339A10A}"/>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235B3204-E398-0996-1BA0-BC0C6882D1F7}"/>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755A9290-84EB-F9A7-B3E7-203EA7E1B17E}"/>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11F4F598-4CFC-5420-5633-E38BEB2E5566}"/>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1" name="文本框 40">
            <a:extLst>
              <a:ext uri="{FF2B5EF4-FFF2-40B4-BE49-F238E27FC236}">
                <a16:creationId xmlns:a16="http://schemas.microsoft.com/office/drawing/2014/main" id="{C461534E-A855-1F92-0ED4-AE6A033DAC23}"/>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42" name="文本框 41">
            <a:extLst>
              <a:ext uri="{FF2B5EF4-FFF2-40B4-BE49-F238E27FC236}">
                <a16:creationId xmlns:a16="http://schemas.microsoft.com/office/drawing/2014/main" id="{05F38735-491C-DF78-04DF-E4446C789949}"/>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3" name="文本框 42">
            <a:extLst>
              <a:ext uri="{FF2B5EF4-FFF2-40B4-BE49-F238E27FC236}">
                <a16:creationId xmlns:a16="http://schemas.microsoft.com/office/drawing/2014/main" id="{26B112B0-E5EF-C661-72CA-3301EAAC02A6}"/>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44" name="文本框 43">
            <a:extLst>
              <a:ext uri="{FF2B5EF4-FFF2-40B4-BE49-F238E27FC236}">
                <a16:creationId xmlns:a16="http://schemas.microsoft.com/office/drawing/2014/main" id="{68C8691E-119D-006C-3222-979F34050220}"/>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5" name="文本框 44">
            <a:extLst>
              <a:ext uri="{FF2B5EF4-FFF2-40B4-BE49-F238E27FC236}">
                <a16:creationId xmlns:a16="http://schemas.microsoft.com/office/drawing/2014/main" id="{48B6498D-CA98-3C95-5409-D30B2BECCF83}"/>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46" name="文本框 45">
            <a:extLst>
              <a:ext uri="{FF2B5EF4-FFF2-40B4-BE49-F238E27FC236}">
                <a16:creationId xmlns:a16="http://schemas.microsoft.com/office/drawing/2014/main" id="{78E7B607-F08A-D69B-EE6F-6002439495BE}"/>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7" name="文本框 46">
            <a:extLst>
              <a:ext uri="{FF2B5EF4-FFF2-40B4-BE49-F238E27FC236}">
                <a16:creationId xmlns:a16="http://schemas.microsoft.com/office/drawing/2014/main" id="{CE0D97E4-429A-ADD2-A71C-156B150D4547}"/>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8" name="文本框 47">
            <a:extLst>
              <a:ext uri="{FF2B5EF4-FFF2-40B4-BE49-F238E27FC236}">
                <a16:creationId xmlns:a16="http://schemas.microsoft.com/office/drawing/2014/main" id="{94C89936-FA94-D6CD-58D0-A079ABCA6B95}"/>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9" name="文本框 48">
            <a:extLst>
              <a:ext uri="{FF2B5EF4-FFF2-40B4-BE49-F238E27FC236}">
                <a16:creationId xmlns:a16="http://schemas.microsoft.com/office/drawing/2014/main" id="{FFC4FD56-3181-CF70-BB48-B8712F2ED764}"/>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0" name="文本框 49">
            <a:extLst>
              <a:ext uri="{FF2B5EF4-FFF2-40B4-BE49-F238E27FC236}">
                <a16:creationId xmlns:a16="http://schemas.microsoft.com/office/drawing/2014/main" id="{F3D9142A-9302-EFD9-A70C-13D9B4766C49}"/>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1" name="文本框 50">
            <a:extLst>
              <a:ext uri="{FF2B5EF4-FFF2-40B4-BE49-F238E27FC236}">
                <a16:creationId xmlns:a16="http://schemas.microsoft.com/office/drawing/2014/main" id="{6DD55954-FB37-5061-DB38-665E1B27D727}"/>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2" name="文本框 51">
            <a:extLst>
              <a:ext uri="{FF2B5EF4-FFF2-40B4-BE49-F238E27FC236}">
                <a16:creationId xmlns:a16="http://schemas.microsoft.com/office/drawing/2014/main" id="{3EAA48F1-5229-E6CF-60B4-B8C10DF4C502}"/>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3" name="文本框 52">
            <a:extLst>
              <a:ext uri="{FF2B5EF4-FFF2-40B4-BE49-F238E27FC236}">
                <a16:creationId xmlns:a16="http://schemas.microsoft.com/office/drawing/2014/main" id="{AADC9237-8013-8008-D5DA-A40C888CE89E}"/>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4" name="文本框 53">
            <a:extLst>
              <a:ext uri="{FF2B5EF4-FFF2-40B4-BE49-F238E27FC236}">
                <a16:creationId xmlns:a16="http://schemas.microsoft.com/office/drawing/2014/main" id="{7C62D4DD-4A44-4FFE-FAC3-F86D9C1B8C0F}"/>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5" name="文本框 54">
            <a:extLst>
              <a:ext uri="{FF2B5EF4-FFF2-40B4-BE49-F238E27FC236}">
                <a16:creationId xmlns:a16="http://schemas.microsoft.com/office/drawing/2014/main" id="{3F4D968F-8112-842D-FAFE-0B638C88F964}"/>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56" name="矩形 55">
            <a:extLst>
              <a:ext uri="{FF2B5EF4-FFF2-40B4-BE49-F238E27FC236}">
                <a16:creationId xmlns:a16="http://schemas.microsoft.com/office/drawing/2014/main" id="{7FF9E73C-83C2-3C45-D16B-64DC41DFAC4C}"/>
              </a:ext>
            </a:extLst>
          </p:cNvPr>
          <p:cNvSpPr/>
          <p:nvPr/>
        </p:nvSpPr>
        <p:spPr>
          <a:xfrm>
            <a:off x="215515" y="3831766"/>
            <a:ext cx="2805769" cy="1209609"/>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9237AEA8-3941-536B-DAF9-D19E53CD3C31}"/>
              </a:ext>
            </a:extLst>
          </p:cNvPr>
          <p:cNvSpPr/>
          <p:nvPr/>
        </p:nvSpPr>
        <p:spPr>
          <a:xfrm>
            <a:off x="215516" y="1512983"/>
            <a:ext cx="2805769" cy="1198515"/>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140">
            <a:extLst>
              <a:ext uri="{FF2B5EF4-FFF2-40B4-BE49-F238E27FC236}">
                <a16:creationId xmlns:a16="http://schemas.microsoft.com/office/drawing/2014/main" id="{E5FA71C8-798B-086C-D3CD-88E70A5BF128}"/>
              </a:ext>
            </a:extLst>
          </p:cNvPr>
          <p:cNvCxnSpPr>
            <a:endCxn id="24" idx="0"/>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141">
            <a:extLst>
              <a:ext uri="{FF2B5EF4-FFF2-40B4-BE49-F238E27FC236}">
                <a16:creationId xmlns:a16="http://schemas.microsoft.com/office/drawing/2014/main" id="{46AB6CD4-EC1C-1276-EB50-23749C2BE64E}"/>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434BAC33-6912-E110-A288-48AEAB12404D}"/>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61" name="文本框 60">
            <a:extLst>
              <a:ext uri="{FF2B5EF4-FFF2-40B4-BE49-F238E27FC236}">
                <a16:creationId xmlns:a16="http://schemas.microsoft.com/office/drawing/2014/main" id="{F0AC3287-4D33-5F82-38ED-88BD08A253EF}"/>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62" name="文本框 61">
            <a:extLst>
              <a:ext uri="{FF2B5EF4-FFF2-40B4-BE49-F238E27FC236}">
                <a16:creationId xmlns:a16="http://schemas.microsoft.com/office/drawing/2014/main" id="{DABE11D7-243E-7482-8291-DF34F3300FAC}"/>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sp>
        <p:nvSpPr>
          <p:cNvPr id="63" name="矩形 62">
            <a:extLst>
              <a:ext uri="{FF2B5EF4-FFF2-40B4-BE49-F238E27FC236}">
                <a16:creationId xmlns:a16="http://schemas.microsoft.com/office/drawing/2014/main" id="{65950E4C-8FB2-806A-59AD-66F67C14D4C3}"/>
              </a:ext>
            </a:extLst>
          </p:cNvPr>
          <p:cNvSpPr/>
          <p:nvPr/>
        </p:nvSpPr>
        <p:spPr>
          <a:xfrm>
            <a:off x="4769169" y="1052736"/>
            <a:ext cx="4627367" cy="3970318"/>
          </a:xfrm>
          <a:prstGeom prst="rect">
            <a:avLst/>
          </a:prstGeom>
        </p:spPr>
        <p:txBody>
          <a:bodyPr wrap="square">
            <a:spAutoFit/>
          </a:bodyPr>
          <a:lstStyle/>
          <a:p>
            <a:r>
              <a:rPr lang="en-US" altLang="zh-CN" b="1" dirty="0"/>
              <a:t>V</a:t>
            </a:r>
            <a:r>
              <a:rPr lang="en-US" altLang="zh-CN" b="1" baseline="-25000" dirty="0"/>
              <a:t>BE</a:t>
            </a:r>
            <a:r>
              <a:rPr lang="en-US" altLang="zh-CN" b="1" dirty="0"/>
              <a:t>&lt; V</a:t>
            </a:r>
            <a:r>
              <a:rPr lang="en-US" altLang="zh-CN" b="1" baseline="-25000" dirty="0"/>
              <a:t>T </a:t>
            </a:r>
            <a:r>
              <a:rPr lang="en-US" altLang="zh-CN" b="1" dirty="0"/>
              <a:t> </a:t>
            </a:r>
            <a:r>
              <a:rPr lang="en-US" altLang="zh-CN" dirty="0"/>
              <a:t>:</a:t>
            </a:r>
          </a:p>
          <a:p>
            <a:endParaRPr lang="en-US" altLang="zh-CN" dirty="0"/>
          </a:p>
          <a:p>
            <a:r>
              <a:rPr lang="zh-CN" altLang="en-US" dirty="0"/>
              <a:t>发射极都是电子，好挤啊，好想去基极啊，</a:t>
            </a:r>
            <a:endParaRPr lang="en-US" altLang="zh-CN" dirty="0"/>
          </a:p>
          <a:p>
            <a:r>
              <a:rPr lang="zh-CN" altLang="en-US" dirty="0"/>
              <a:t>但是</a:t>
            </a:r>
            <a:r>
              <a:rPr lang="en-US" altLang="zh-CN" dirty="0"/>
              <a:t>b-e</a:t>
            </a:r>
            <a:r>
              <a:rPr lang="zh-CN" altLang="en-US" dirty="0"/>
              <a:t>结好宽，外加电场也太小，没人帮我，我跳不过去啊 </a:t>
            </a:r>
            <a:r>
              <a:rPr lang="en-US" altLang="zh-CN" dirty="0">
                <a:sym typeface="Wingdings" panose="05000000000000000000" pitchFamily="2" charset="2"/>
              </a:rPr>
              <a:t></a:t>
            </a:r>
            <a:endParaRPr lang="en-US" altLang="zh-CN" dirty="0"/>
          </a:p>
          <a:p>
            <a:endParaRPr lang="en-US" altLang="zh-CN" dirty="0"/>
          </a:p>
          <a:p>
            <a:r>
              <a:rPr lang="en-US" altLang="zh-CN" dirty="0"/>
              <a:t>I</a:t>
            </a:r>
            <a:r>
              <a:rPr lang="en-US" altLang="zh-CN" baseline="-25000" dirty="0"/>
              <a:t>b</a:t>
            </a:r>
            <a:r>
              <a:rPr lang="en-US" altLang="zh-CN" dirty="0">
                <a:latin typeface="宋体" panose="02010600030101010101" pitchFamily="2" charset="-122"/>
              </a:rPr>
              <a:t>≈</a:t>
            </a:r>
            <a:r>
              <a:rPr lang="en-US" altLang="zh-CN" dirty="0"/>
              <a:t>0</a:t>
            </a:r>
          </a:p>
          <a:p>
            <a:endParaRPr lang="en-US" altLang="zh-CN" dirty="0"/>
          </a:p>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endParaRPr lang="en-US" altLang="zh-CN" dirty="0"/>
          </a:p>
          <a:p>
            <a:r>
              <a:rPr lang="zh-CN" altLang="en-US" dirty="0"/>
              <a:t>外加电场增加啦！</a:t>
            </a:r>
            <a:r>
              <a:rPr lang="en-US" altLang="zh-CN" dirty="0"/>
              <a:t>b-e</a:t>
            </a:r>
            <a:r>
              <a:rPr lang="zh-CN" altLang="en-US" dirty="0"/>
              <a:t>结也变窄啦！可以去基区啦！</a:t>
            </a:r>
            <a:r>
              <a:rPr lang="en-US" altLang="zh-CN" dirty="0">
                <a:sym typeface="Wingdings" panose="05000000000000000000" pitchFamily="2" charset="2"/>
              </a:rPr>
              <a:t></a:t>
            </a:r>
            <a:endParaRPr lang="en-US" altLang="zh-CN" dirty="0"/>
          </a:p>
          <a:p>
            <a:endParaRPr lang="en-US" altLang="zh-CN" dirty="0"/>
          </a:p>
          <a:p>
            <a:endParaRPr lang="en-US" altLang="zh-CN" dirty="0"/>
          </a:p>
        </p:txBody>
      </p:sp>
      <p:sp>
        <p:nvSpPr>
          <p:cNvPr id="64" name="文本框 63">
            <a:extLst>
              <a:ext uri="{FF2B5EF4-FFF2-40B4-BE49-F238E27FC236}">
                <a16:creationId xmlns:a16="http://schemas.microsoft.com/office/drawing/2014/main" id="{30FC49FF-8209-F540-8EC6-03751FA3816D}"/>
              </a:ext>
            </a:extLst>
          </p:cNvPr>
          <p:cNvSpPr txBox="1"/>
          <p:nvPr/>
        </p:nvSpPr>
        <p:spPr>
          <a:xfrm>
            <a:off x="755576" y="2528900"/>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cxnSp>
        <p:nvCxnSpPr>
          <p:cNvPr id="65" name="直接箭头连接符 68">
            <a:extLst>
              <a:ext uri="{FF2B5EF4-FFF2-40B4-BE49-F238E27FC236}">
                <a16:creationId xmlns:a16="http://schemas.microsoft.com/office/drawing/2014/main" id="{5E52A2E0-3B7C-D718-982E-2A11C8173165}"/>
              </a:ext>
            </a:extLst>
          </p:cNvPr>
          <p:cNvCxnSpPr/>
          <p:nvPr/>
        </p:nvCxnSpPr>
        <p:spPr>
          <a:xfrm>
            <a:off x="781049" y="1088740"/>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椭圆 65">
            <a:extLst>
              <a:ext uri="{FF2B5EF4-FFF2-40B4-BE49-F238E27FC236}">
                <a16:creationId xmlns:a16="http://schemas.microsoft.com/office/drawing/2014/main" id="{E9353DD5-FAB6-33CC-7894-6F316CA943EB}"/>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192B3D0C-4B79-C4D9-27FC-199098D04A15}"/>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cxnSp>
        <p:nvCxnSpPr>
          <p:cNvPr id="68" name="直接箭头连接符 73">
            <a:extLst>
              <a:ext uri="{FF2B5EF4-FFF2-40B4-BE49-F238E27FC236}">
                <a16:creationId xmlns:a16="http://schemas.microsoft.com/office/drawing/2014/main" id="{A9031AA0-1530-1E23-A3EF-F95BED379B2C}"/>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AC3A3ECA-AAB2-15F8-2232-EC7F843CD5CD}"/>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0" name="直接箭头连接符 77">
            <a:extLst>
              <a:ext uri="{FF2B5EF4-FFF2-40B4-BE49-F238E27FC236}">
                <a16:creationId xmlns:a16="http://schemas.microsoft.com/office/drawing/2014/main" id="{BBBA0D64-C9FF-FF35-DAEC-92D794ADA7A8}"/>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C2D09B2F-479A-2457-359F-A6AF862464B9}"/>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2" name="直接箭头连接符 82">
            <a:extLst>
              <a:ext uri="{FF2B5EF4-FFF2-40B4-BE49-F238E27FC236}">
                <a16:creationId xmlns:a16="http://schemas.microsoft.com/office/drawing/2014/main" id="{0A1D6784-CCD4-4C33-FEF9-B9F4E2368B12}"/>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FC0A280F-AB46-A573-9187-180D55B7BC2A}"/>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sp>
        <p:nvSpPr>
          <p:cNvPr id="74" name="文本框 73">
            <a:extLst>
              <a:ext uri="{FF2B5EF4-FFF2-40B4-BE49-F238E27FC236}">
                <a16:creationId xmlns:a16="http://schemas.microsoft.com/office/drawing/2014/main" id="{82F927F8-70C6-329E-25A7-9FA9351EBC4B}"/>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Tree>
    <p:extLst>
      <p:ext uri="{BB962C8B-B14F-4D97-AF65-F5344CB8AC3E}">
        <p14:creationId xmlns:p14="http://schemas.microsoft.com/office/powerpoint/2010/main" val="3743501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25</a:t>
            </a:fld>
            <a:r>
              <a:rPr lang="en-US" altLang="zh-CN" dirty="0"/>
              <a:t>/33</a:t>
            </a:r>
            <a:endParaRPr lang="en-US" dirty="0"/>
          </a:p>
        </p:txBody>
      </p:sp>
      <p:sp>
        <p:nvSpPr>
          <p:cNvPr id="6" name="矩形 5">
            <a:extLst>
              <a:ext uri="{FF2B5EF4-FFF2-40B4-BE49-F238E27FC236}">
                <a16:creationId xmlns:a16="http://schemas.microsoft.com/office/drawing/2014/main" id="{A6C30212-D2AF-0C7B-37F7-11023D24BEC9}"/>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21986050-C860-F230-D3AB-FEF2B105EE75}"/>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A38248B-4E65-0673-0934-D1368BDC339B}"/>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2399906-31AB-CF17-E482-45C8CA234855}"/>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4D01BDCB-DE71-2FBB-999D-B46BC37061CD}"/>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1" name="文本框 10">
            <a:extLst>
              <a:ext uri="{FF2B5EF4-FFF2-40B4-BE49-F238E27FC236}">
                <a16:creationId xmlns:a16="http://schemas.microsoft.com/office/drawing/2014/main" id="{99ED1B18-8573-7EC2-280C-4D9AB333715F}"/>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2" name="文本框 11">
            <a:extLst>
              <a:ext uri="{FF2B5EF4-FFF2-40B4-BE49-F238E27FC236}">
                <a16:creationId xmlns:a16="http://schemas.microsoft.com/office/drawing/2014/main" id="{9E093598-0B6C-7D31-A0A6-C7E5F0B4B83A}"/>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3" name="文本框 12">
            <a:extLst>
              <a:ext uri="{FF2B5EF4-FFF2-40B4-BE49-F238E27FC236}">
                <a16:creationId xmlns:a16="http://schemas.microsoft.com/office/drawing/2014/main" id="{8E133718-FA8C-BD70-B8B1-2110448BFC93}"/>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2F59064F-C6D1-736F-3D27-C195CF26614D}"/>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9EDBA88A-3C67-378F-54EE-9D8BCD36B4ED}"/>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91AA39B7-69EC-894F-E4DF-7BD46A3C7F9D}"/>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29AD16DE-7519-7D61-9359-2108CD85621B}"/>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5C1DA9BF-55CA-A2C1-06BB-8981567D33A7}"/>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5ACE116E-1AAA-1F3A-B9C9-9CD6D52E9399}"/>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645A4567-6F33-A10F-DF12-080A45E4A24A}"/>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0F77C37C-E3F6-4706-E461-DE835E0CB124}"/>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2" name="文本框 21">
            <a:extLst>
              <a:ext uri="{FF2B5EF4-FFF2-40B4-BE49-F238E27FC236}">
                <a16:creationId xmlns:a16="http://schemas.microsoft.com/office/drawing/2014/main" id="{5FBE3069-993B-F9CC-17C3-4A622F31BA98}"/>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3" name="文本框 22">
            <a:extLst>
              <a:ext uri="{FF2B5EF4-FFF2-40B4-BE49-F238E27FC236}">
                <a16:creationId xmlns:a16="http://schemas.microsoft.com/office/drawing/2014/main" id="{879321DF-9D7C-B542-541D-36BF7B9503DB}"/>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C087E7A1-824A-BAE7-CA3F-7D5F611E3CDB}"/>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64193304-7E29-9531-9B86-12C19E76C04D}"/>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064AB6A1-35C4-7AB2-19BC-A29B04538D84}"/>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4E3EF848-5F76-D4AC-6C9C-C412E540B237}"/>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59759947-81F9-4E83-4207-89F839E5A20D}"/>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264D1ADC-45E8-EBE7-0EE3-300CE9F65B21}"/>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7C66D4FA-3097-F191-03D6-0854DD450942}"/>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8F924C76-E6FA-2B58-499D-1D388836933F}"/>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2" name="文本框 31">
            <a:extLst>
              <a:ext uri="{FF2B5EF4-FFF2-40B4-BE49-F238E27FC236}">
                <a16:creationId xmlns:a16="http://schemas.microsoft.com/office/drawing/2014/main" id="{492C0610-A398-2AE4-D8F8-6CBD824B79C3}"/>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8C4BBC96-0718-A5A6-8360-99418DDA8B23}"/>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5EA582CA-1352-E8CD-C116-FB370C7BDF7C}"/>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FE9DED81-F535-46D7-BB89-A69A467E1102}"/>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C03D5BA5-A84D-6023-7B3D-3DD6874E736D}"/>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75992BE2-028C-8EFA-1D13-28A8316065D9}"/>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160FF396-8786-FFCD-CD01-425BD544B0CF}"/>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6CC91B5C-EE39-7BE7-2934-F7758BE53CD8}"/>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07DE003E-E775-C74B-51AB-ED6C12B10897}"/>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1" name="文本框 40">
            <a:extLst>
              <a:ext uri="{FF2B5EF4-FFF2-40B4-BE49-F238E27FC236}">
                <a16:creationId xmlns:a16="http://schemas.microsoft.com/office/drawing/2014/main" id="{EDEBD457-8EE1-3A07-8733-4B3C3BCCA71B}"/>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2" name="文本框 41">
            <a:extLst>
              <a:ext uri="{FF2B5EF4-FFF2-40B4-BE49-F238E27FC236}">
                <a16:creationId xmlns:a16="http://schemas.microsoft.com/office/drawing/2014/main" id="{D552D46E-E6CE-C01B-EC38-37585193BC2C}"/>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43" name="矩形 42">
            <a:extLst>
              <a:ext uri="{FF2B5EF4-FFF2-40B4-BE49-F238E27FC236}">
                <a16:creationId xmlns:a16="http://schemas.microsoft.com/office/drawing/2014/main" id="{85E6B9E6-3F05-266E-3603-917AC3E789A6}"/>
              </a:ext>
            </a:extLst>
          </p:cNvPr>
          <p:cNvSpPr/>
          <p:nvPr/>
        </p:nvSpPr>
        <p:spPr>
          <a:xfrm>
            <a:off x="215515" y="4059445"/>
            <a:ext cx="2805769" cy="6502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CA678837-EA40-7FDB-A5D9-B8B55B3EC4C5}"/>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92">
            <a:extLst>
              <a:ext uri="{FF2B5EF4-FFF2-40B4-BE49-F238E27FC236}">
                <a16:creationId xmlns:a16="http://schemas.microsoft.com/office/drawing/2014/main" id="{778C823C-94B5-E08C-0755-DC9BA8212DC4}"/>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9261C8B3-750B-5AE6-5A95-B40D7EDED912}"/>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7" name="文本框 46">
            <a:extLst>
              <a:ext uri="{FF2B5EF4-FFF2-40B4-BE49-F238E27FC236}">
                <a16:creationId xmlns:a16="http://schemas.microsoft.com/office/drawing/2014/main" id="{F2D23E17-B73D-8907-6556-DB396116A200}"/>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8" name="直接连接符 75">
            <a:extLst>
              <a:ext uri="{FF2B5EF4-FFF2-40B4-BE49-F238E27FC236}">
                <a16:creationId xmlns:a16="http://schemas.microsoft.com/office/drawing/2014/main" id="{CCCF0F15-A8A7-D9E7-5A9C-103FA3AFEB80}"/>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81">
            <a:extLst>
              <a:ext uri="{FF2B5EF4-FFF2-40B4-BE49-F238E27FC236}">
                <a16:creationId xmlns:a16="http://schemas.microsoft.com/office/drawing/2014/main" id="{A8FE9E3D-5F17-AF03-BD95-2C375C0BB095}"/>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85">
            <a:extLst>
              <a:ext uri="{FF2B5EF4-FFF2-40B4-BE49-F238E27FC236}">
                <a16:creationId xmlns:a16="http://schemas.microsoft.com/office/drawing/2014/main" id="{C739E2A5-43F7-DE1E-1709-3D4D0BFE32F8}"/>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86">
            <a:extLst>
              <a:ext uri="{FF2B5EF4-FFF2-40B4-BE49-F238E27FC236}">
                <a16:creationId xmlns:a16="http://schemas.microsoft.com/office/drawing/2014/main" id="{65699B94-C9CD-6D8A-95B1-ECA4FE2179C8}"/>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4EA1B099-0164-BA0D-981F-A7EEA5377111}"/>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95">
            <a:extLst>
              <a:ext uri="{FF2B5EF4-FFF2-40B4-BE49-F238E27FC236}">
                <a16:creationId xmlns:a16="http://schemas.microsoft.com/office/drawing/2014/main" id="{FAE203DE-C5E4-D390-97C1-451E8ACABD3D}"/>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91FC08D3-1756-0B7B-DAC7-08F01084A367}"/>
              </a:ext>
            </a:extLst>
          </p:cNvPr>
          <p:cNvGrpSpPr/>
          <p:nvPr/>
        </p:nvGrpSpPr>
        <p:grpSpPr>
          <a:xfrm flipV="1">
            <a:off x="3621899" y="1429279"/>
            <a:ext cx="518053" cy="94821"/>
            <a:chOff x="3621899" y="1429279"/>
            <a:chExt cx="518053" cy="94821"/>
          </a:xfrm>
        </p:grpSpPr>
        <p:cxnSp>
          <p:nvCxnSpPr>
            <p:cNvPr id="55" name="直接连接符 97">
              <a:extLst>
                <a:ext uri="{FF2B5EF4-FFF2-40B4-BE49-F238E27FC236}">
                  <a16:creationId xmlns:a16="http://schemas.microsoft.com/office/drawing/2014/main" id="{E9B3515C-41A3-CBB8-1A9E-CA09183FF73F}"/>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98">
              <a:extLst>
                <a:ext uri="{FF2B5EF4-FFF2-40B4-BE49-F238E27FC236}">
                  <a16:creationId xmlns:a16="http://schemas.microsoft.com/office/drawing/2014/main" id="{5CC0CC50-B938-6BB4-36BB-9394A5A9FD61}"/>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直接连接符 114">
            <a:extLst>
              <a:ext uri="{FF2B5EF4-FFF2-40B4-BE49-F238E27FC236}">
                <a16:creationId xmlns:a16="http://schemas.microsoft.com/office/drawing/2014/main" id="{FF23FFB0-9731-1AC0-31F0-A684B704AC08}"/>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115">
            <a:extLst>
              <a:ext uri="{FF2B5EF4-FFF2-40B4-BE49-F238E27FC236}">
                <a16:creationId xmlns:a16="http://schemas.microsoft.com/office/drawing/2014/main" id="{EAEA7EBA-A356-EB85-1007-86B0CAA3C98C}"/>
              </a:ext>
            </a:extLst>
          </p:cNvPr>
          <p:cNvCxnSpPr/>
          <p:nvPr/>
        </p:nvCxnSpPr>
        <p:spPr>
          <a:xfrm>
            <a:off x="4572000" y="89668"/>
            <a:ext cx="0" cy="6273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62D1DCFF-F1BB-8DC9-2AB3-8885159230B5}"/>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60" name="文本框 59">
            <a:extLst>
              <a:ext uri="{FF2B5EF4-FFF2-40B4-BE49-F238E27FC236}">
                <a16:creationId xmlns:a16="http://schemas.microsoft.com/office/drawing/2014/main" id="{5A8BD0C7-A0F0-FE2E-397D-F24497594A22}"/>
              </a:ext>
            </a:extLst>
          </p:cNvPr>
          <p:cNvSpPr txBox="1"/>
          <p:nvPr/>
        </p:nvSpPr>
        <p:spPr>
          <a:xfrm>
            <a:off x="755576" y="3507395"/>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61" name="文本框 60">
            <a:extLst>
              <a:ext uri="{FF2B5EF4-FFF2-40B4-BE49-F238E27FC236}">
                <a16:creationId xmlns:a16="http://schemas.microsoft.com/office/drawing/2014/main" id="{405DE7F8-5E13-740D-84EA-65845E1C8EA6}"/>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62" name="直接箭头连接符 41">
            <a:extLst>
              <a:ext uri="{FF2B5EF4-FFF2-40B4-BE49-F238E27FC236}">
                <a16:creationId xmlns:a16="http://schemas.microsoft.com/office/drawing/2014/main" id="{C238AF1C-4C15-ED08-80C3-7E3722CEB3FF}"/>
              </a:ext>
            </a:extLst>
          </p:cNvPr>
          <p:cNvCxnSpPr>
            <a:stCxn id="59"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D65B6A08-277A-7039-BA43-95C3AD48F0C7}"/>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cxnSp>
        <p:nvCxnSpPr>
          <p:cNvPr id="64" name="直接箭头连接符 119">
            <a:extLst>
              <a:ext uri="{FF2B5EF4-FFF2-40B4-BE49-F238E27FC236}">
                <a16:creationId xmlns:a16="http://schemas.microsoft.com/office/drawing/2014/main" id="{D47939F2-CDFA-315E-8637-5D93B04FEC57}"/>
              </a:ext>
            </a:extLst>
          </p:cNvPr>
          <p:cNvCxnSpPr/>
          <p:nvPr/>
        </p:nvCxnSpPr>
        <p:spPr>
          <a:xfrm>
            <a:off x="3167844" y="3526816"/>
            <a:ext cx="0" cy="176920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F3DF1B0C-699A-5606-B491-2628E3EB1417}"/>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6" name="文本框 65">
            <a:extLst>
              <a:ext uri="{FF2B5EF4-FFF2-40B4-BE49-F238E27FC236}">
                <a16:creationId xmlns:a16="http://schemas.microsoft.com/office/drawing/2014/main" id="{DA6F7468-9958-FB05-BFC0-A3B1716E3B31}"/>
              </a:ext>
            </a:extLst>
          </p:cNvPr>
          <p:cNvSpPr txBox="1"/>
          <p:nvPr/>
        </p:nvSpPr>
        <p:spPr>
          <a:xfrm>
            <a:off x="791580" y="4689140"/>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67" name="矩形 66">
            <a:extLst>
              <a:ext uri="{FF2B5EF4-FFF2-40B4-BE49-F238E27FC236}">
                <a16:creationId xmlns:a16="http://schemas.microsoft.com/office/drawing/2014/main" id="{47B92B71-2FE3-02BE-BE2C-236BFECFE048}"/>
              </a:ext>
            </a:extLst>
          </p:cNvPr>
          <p:cNvSpPr/>
          <p:nvPr/>
        </p:nvSpPr>
        <p:spPr>
          <a:xfrm>
            <a:off x="4769169" y="1052736"/>
            <a:ext cx="4627367" cy="5632311"/>
          </a:xfrm>
          <a:prstGeom prst="rect">
            <a:avLst/>
          </a:prstGeom>
        </p:spPr>
        <p:txBody>
          <a:bodyPr wrap="square">
            <a:spAutoFit/>
          </a:bodyPr>
          <a:lstStyle/>
          <a:p>
            <a:r>
              <a:rPr lang="en-US" altLang="zh-CN" b="1" dirty="0"/>
              <a:t>V</a:t>
            </a:r>
            <a:r>
              <a:rPr lang="en-US" altLang="zh-CN" b="1" baseline="-25000" dirty="0"/>
              <a:t>BE</a:t>
            </a:r>
            <a:r>
              <a:rPr lang="en-US" altLang="zh-CN" b="1" dirty="0"/>
              <a:t>&lt; V</a:t>
            </a:r>
            <a:r>
              <a:rPr lang="en-US" altLang="zh-CN" b="1" baseline="-25000" dirty="0"/>
              <a:t>T </a:t>
            </a:r>
            <a:r>
              <a:rPr lang="en-US" altLang="zh-CN" b="1" dirty="0"/>
              <a:t> </a:t>
            </a:r>
            <a:r>
              <a:rPr lang="en-US" altLang="zh-CN" dirty="0"/>
              <a:t>:</a:t>
            </a:r>
          </a:p>
          <a:p>
            <a:endParaRPr lang="en-US" altLang="zh-CN" dirty="0"/>
          </a:p>
          <a:p>
            <a:r>
              <a:rPr lang="zh-CN" altLang="en-US" dirty="0"/>
              <a:t>发射极都是电子，好挤啊，好想去基极啊，</a:t>
            </a:r>
            <a:endParaRPr lang="en-US" altLang="zh-CN" dirty="0"/>
          </a:p>
          <a:p>
            <a:r>
              <a:rPr lang="zh-CN" altLang="en-US" dirty="0"/>
              <a:t>但是</a:t>
            </a:r>
            <a:r>
              <a:rPr lang="en-US" altLang="zh-CN" dirty="0"/>
              <a:t>b-e</a:t>
            </a:r>
            <a:r>
              <a:rPr lang="zh-CN" altLang="en-US" dirty="0"/>
              <a:t>结好宽，外加电场也太小，没人帮我，我跳不过去啊 </a:t>
            </a:r>
            <a:r>
              <a:rPr lang="en-US" altLang="zh-CN" dirty="0">
                <a:sym typeface="Wingdings" panose="05000000000000000000" pitchFamily="2" charset="2"/>
              </a:rPr>
              <a:t></a:t>
            </a:r>
            <a:endParaRPr lang="en-US" altLang="zh-CN" dirty="0"/>
          </a:p>
          <a:p>
            <a:endParaRPr lang="en-US" altLang="zh-CN" dirty="0"/>
          </a:p>
          <a:p>
            <a:r>
              <a:rPr lang="en-US" altLang="zh-CN" dirty="0"/>
              <a:t>I</a:t>
            </a:r>
            <a:r>
              <a:rPr lang="en-US" altLang="zh-CN" baseline="-25000" dirty="0"/>
              <a:t>b</a:t>
            </a:r>
            <a:r>
              <a:rPr lang="en-US" altLang="zh-CN" dirty="0">
                <a:latin typeface="宋体" panose="02010600030101010101" pitchFamily="2" charset="-122"/>
              </a:rPr>
              <a:t>≈</a:t>
            </a:r>
            <a:r>
              <a:rPr lang="en-US" altLang="zh-CN" dirty="0"/>
              <a:t>0</a:t>
            </a:r>
          </a:p>
          <a:p>
            <a:endParaRPr lang="en-US" altLang="zh-CN" dirty="0"/>
          </a:p>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endParaRPr lang="en-US" altLang="zh-CN" dirty="0"/>
          </a:p>
          <a:p>
            <a:r>
              <a:rPr lang="zh-CN" altLang="en-US" dirty="0"/>
              <a:t>外加电场增加啦！</a:t>
            </a:r>
            <a:r>
              <a:rPr lang="en-US" altLang="zh-CN" dirty="0"/>
              <a:t>b-e</a:t>
            </a:r>
            <a:r>
              <a:rPr lang="zh-CN" altLang="en-US" dirty="0"/>
              <a:t>结也变窄啦！可以去基区啦！</a:t>
            </a:r>
            <a:r>
              <a:rPr lang="en-US" altLang="zh-CN" dirty="0">
                <a:sym typeface="Wingdings" panose="05000000000000000000" pitchFamily="2" charset="2"/>
              </a:rPr>
              <a:t></a:t>
            </a:r>
            <a:endParaRPr lang="en-US" altLang="zh-CN" dirty="0"/>
          </a:p>
          <a:p>
            <a:endParaRPr lang="en-US" altLang="zh-CN" dirty="0"/>
          </a:p>
          <a:p>
            <a:r>
              <a:rPr lang="en-US" altLang="zh-CN" dirty="0" err="1"/>
              <a:t>I</a:t>
            </a:r>
            <a:r>
              <a:rPr lang="en-US" altLang="zh-CN" baseline="-25000" dirty="0" err="1"/>
              <a:t>b</a:t>
            </a:r>
            <a:r>
              <a:rPr lang="en-US" altLang="zh-CN" dirty="0">
                <a:latin typeface="宋体" panose="02010600030101010101" pitchFamily="2" charset="-122"/>
              </a:rPr>
              <a:t>&gt;</a:t>
            </a:r>
            <a:r>
              <a:rPr lang="en-US" altLang="zh-CN" dirty="0"/>
              <a:t>0</a:t>
            </a:r>
          </a:p>
          <a:p>
            <a:endParaRPr lang="en-US" altLang="zh-CN" dirty="0"/>
          </a:p>
          <a:p>
            <a:r>
              <a:rPr lang="en-US" altLang="zh-CN" b="1" dirty="0"/>
              <a:t>V</a:t>
            </a:r>
            <a:r>
              <a:rPr lang="en-US" altLang="zh-CN" b="1" baseline="-25000" dirty="0"/>
              <a:t>BE</a:t>
            </a:r>
            <a:r>
              <a:rPr lang="zh-CN" altLang="en-US" b="1" dirty="0"/>
              <a:t>继续增加：</a:t>
            </a:r>
            <a:endParaRPr lang="en-US" altLang="zh-CN" b="1" dirty="0"/>
          </a:p>
          <a:p>
            <a:r>
              <a:rPr lang="zh-CN" altLang="en-US" dirty="0"/>
              <a:t>外加电场又大啦！兄弟们，都跟我上！</a:t>
            </a:r>
            <a:r>
              <a:rPr lang="en-US" altLang="zh-CN" dirty="0">
                <a:sym typeface="Wingdings" panose="05000000000000000000" pitchFamily="2" charset="2"/>
              </a:rPr>
              <a:t></a:t>
            </a:r>
            <a:endParaRPr lang="en-US" altLang="zh-CN" dirty="0"/>
          </a:p>
          <a:p>
            <a:endParaRPr lang="en-US" altLang="zh-CN" dirty="0"/>
          </a:p>
          <a:p>
            <a:r>
              <a:rPr lang="en-US" altLang="zh-CN" dirty="0" err="1"/>
              <a:t>I</a:t>
            </a:r>
            <a:r>
              <a:rPr lang="en-US" altLang="zh-CN" baseline="-25000" dirty="0" err="1"/>
              <a:t>b</a:t>
            </a:r>
            <a:r>
              <a:rPr lang="zh-CN" altLang="en-US" dirty="0"/>
              <a:t>增加</a:t>
            </a:r>
            <a:endParaRPr lang="en-US" altLang="zh-CN" dirty="0"/>
          </a:p>
          <a:p>
            <a:endParaRPr lang="en-US" altLang="zh-CN" dirty="0"/>
          </a:p>
        </p:txBody>
      </p:sp>
      <p:sp>
        <p:nvSpPr>
          <p:cNvPr id="68" name="椭圆 67">
            <a:extLst>
              <a:ext uri="{FF2B5EF4-FFF2-40B4-BE49-F238E27FC236}">
                <a16:creationId xmlns:a16="http://schemas.microsoft.com/office/drawing/2014/main" id="{4697C472-35C3-8C2E-25AA-3924C9547306}"/>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72EBD038-2351-C9DE-1A1A-89D6478A4D11}"/>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317115BB-DB5F-C21C-4DAA-83E00D5099CD}"/>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FD35FCA9-7394-2C79-4413-B621AEE05D6F}"/>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2" name="直接箭头连接符 93">
            <a:extLst>
              <a:ext uri="{FF2B5EF4-FFF2-40B4-BE49-F238E27FC236}">
                <a16:creationId xmlns:a16="http://schemas.microsoft.com/office/drawing/2014/main" id="{E9F7E4B7-5F88-7D1D-05B3-B4513B92F851}"/>
              </a:ext>
            </a:extLst>
          </p:cNvPr>
          <p:cNvCxnSpPr/>
          <p:nvPr/>
        </p:nvCxnSpPr>
        <p:spPr>
          <a:xfrm>
            <a:off x="781049" y="1088740"/>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94">
            <a:extLst>
              <a:ext uri="{FF2B5EF4-FFF2-40B4-BE49-F238E27FC236}">
                <a16:creationId xmlns:a16="http://schemas.microsoft.com/office/drawing/2014/main" id="{EFB449C5-12BC-E44E-FBBD-CC4FE0D9F60E}"/>
              </a:ext>
            </a:extLst>
          </p:cNvPr>
          <p:cNvCxnSpPr/>
          <p:nvPr/>
        </p:nvCxnSpPr>
        <p:spPr>
          <a:xfrm>
            <a:off x="1043608" y="1268760"/>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96">
            <a:extLst>
              <a:ext uri="{FF2B5EF4-FFF2-40B4-BE49-F238E27FC236}">
                <a16:creationId xmlns:a16="http://schemas.microsoft.com/office/drawing/2014/main" id="{81043ECB-FFBA-FAFC-5E80-C2D11A2038E0}"/>
              </a:ext>
            </a:extLst>
          </p:cNvPr>
          <p:cNvCxnSpPr/>
          <p:nvPr/>
        </p:nvCxnSpPr>
        <p:spPr>
          <a:xfrm>
            <a:off x="1403648" y="1016732"/>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直接箭头连接符 99">
            <a:extLst>
              <a:ext uri="{FF2B5EF4-FFF2-40B4-BE49-F238E27FC236}">
                <a16:creationId xmlns:a16="http://schemas.microsoft.com/office/drawing/2014/main" id="{68CD59AA-56B8-191A-0270-15B00BB011A6}"/>
              </a:ext>
            </a:extLst>
          </p:cNvPr>
          <p:cNvCxnSpPr/>
          <p:nvPr/>
        </p:nvCxnSpPr>
        <p:spPr>
          <a:xfrm>
            <a:off x="1907704" y="1304764"/>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22C711D4-BE55-9254-25A9-249ADF5F6A2E}"/>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cxnSp>
        <p:nvCxnSpPr>
          <p:cNvPr id="77" name="直接箭头连接符 101">
            <a:extLst>
              <a:ext uri="{FF2B5EF4-FFF2-40B4-BE49-F238E27FC236}">
                <a16:creationId xmlns:a16="http://schemas.microsoft.com/office/drawing/2014/main" id="{5BCA481D-96F4-583C-DC89-13ECB64738DE}"/>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425C0AF9-4A22-E670-CC98-AA2B36994AEF}"/>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9" name="直接箭头连接符 103">
            <a:extLst>
              <a:ext uri="{FF2B5EF4-FFF2-40B4-BE49-F238E27FC236}">
                <a16:creationId xmlns:a16="http://schemas.microsoft.com/office/drawing/2014/main" id="{4315F863-985E-6121-02A9-8584C850F2D4}"/>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8CE4D06-D2EB-4877-EBE1-9D76D907319A}"/>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81" name="直接箭头连接符 105">
            <a:extLst>
              <a:ext uri="{FF2B5EF4-FFF2-40B4-BE49-F238E27FC236}">
                <a16:creationId xmlns:a16="http://schemas.microsoft.com/office/drawing/2014/main" id="{F39055A6-3BD6-D7A8-8178-CDC384B2C719}"/>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 name="矩形 81">
            <a:extLst>
              <a:ext uri="{FF2B5EF4-FFF2-40B4-BE49-F238E27FC236}">
                <a16:creationId xmlns:a16="http://schemas.microsoft.com/office/drawing/2014/main" id="{F056270E-FDE3-5B2F-1812-D565841DDDF1}"/>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sp>
        <p:nvSpPr>
          <p:cNvPr id="83" name="椭圆 82">
            <a:extLst>
              <a:ext uri="{FF2B5EF4-FFF2-40B4-BE49-F238E27FC236}">
                <a16:creationId xmlns:a16="http://schemas.microsoft.com/office/drawing/2014/main" id="{7D9E5A22-2BAF-B9E6-BE32-A3945D36DDD8}"/>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箭头连接符 108">
            <a:extLst>
              <a:ext uri="{FF2B5EF4-FFF2-40B4-BE49-F238E27FC236}">
                <a16:creationId xmlns:a16="http://schemas.microsoft.com/office/drawing/2014/main" id="{16EC7A28-901B-3484-C7F2-276EF239FCE7}"/>
              </a:ext>
            </a:extLst>
          </p:cNvPr>
          <p:cNvCxnSpPr/>
          <p:nvPr/>
        </p:nvCxnSpPr>
        <p:spPr>
          <a:xfrm>
            <a:off x="2123728" y="1552796"/>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458796D7-4372-A41C-2B50-39F679A2773C}"/>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Tree>
    <p:extLst>
      <p:ext uri="{BB962C8B-B14F-4D97-AF65-F5344CB8AC3E}">
        <p14:creationId xmlns:p14="http://schemas.microsoft.com/office/powerpoint/2010/main" val="1208443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26</a:t>
            </a:fld>
            <a:r>
              <a:rPr lang="en-US" altLang="zh-CN" dirty="0"/>
              <a:t>/33</a:t>
            </a:r>
            <a:endParaRPr lang="en-US" dirty="0"/>
          </a:p>
        </p:txBody>
      </p:sp>
      <p:sp>
        <p:nvSpPr>
          <p:cNvPr id="2" name="矩形 1">
            <a:extLst>
              <a:ext uri="{FF2B5EF4-FFF2-40B4-BE49-F238E27FC236}">
                <a16:creationId xmlns:a16="http://schemas.microsoft.com/office/drawing/2014/main" id="{1B121000-05C6-0939-3418-74D4D155BEDE}"/>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9834A242-FFD7-C3CB-0D03-417B9324FA6F}"/>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2A9770C-593D-7853-9429-705A7D036AD1}"/>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09AE51E-4BD4-1FA7-8B04-8A17D40AC54E}"/>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 name="文本框 7">
            <a:extLst>
              <a:ext uri="{FF2B5EF4-FFF2-40B4-BE49-F238E27FC236}">
                <a16:creationId xmlns:a16="http://schemas.microsoft.com/office/drawing/2014/main" id="{565FE28C-08CE-F474-913E-41A05B48D11D}"/>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 name="文本框 8">
            <a:extLst>
              <a:ext uri="{FF2B5EF4-FFF2-40B4-BE49-F238E27FC236}">
                <a16:creationId xmlns:a16="http://schemas.microsoft.com/office/drawing/2014/main" id="{73889CC9-662A-2EAA-9FBB-16679B22044C}"/>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7BE83B87-7DE5-295D-3C03-1BEE251BA1A9}"/>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1" name="文本框 10">
            <a:extLst>
              <a:ext uri="{FF2B5EF4-FFF2-40B4-BE49-F238E27FC236}">
                <a16:creationId xmlns:a16="http://schemas.microsoft.com/office/drawing/2014/main" id="{6F3A4725-50F2-576C-38E3-B2700D52C0CB}"/>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2" name="文本框 11">
            <a:extLst>
              <a:ext uri="{FF2B5EF4-FFF2-40B4-BE49-F238E27FC236}">
                <a16:creationId xmlns:a16="http://schemas.microsoft.com/office/drawing/2014/main" id="{A86CEF47-FA9E-4898-49D6-204B4B958979}"/>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3" name="文本框 12">
            <a:extLst>
              <a:ext uri="{FF2B5EF4-FFF2-40B4-BE49-F238E27FC236}">
                <a16:creationId xmlns:a16="http://schemas.microsoft.com/office/drawing/2014/main" id="{564419DB-EACA-22B8-06EE-61E4A14805C2}"/>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F48D219A-083E-9944-05ED-500D120BD6FC}"/>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16007555-EBDA-1C30-B813-CDB6EBF8F1C7}"/>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813E9E00-831A-E089-FAA5-D63544D5F192}"/>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1D41A0F6-F80F-E3CE-2FBC-BAD2FC17EB35}"/>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AD3C90A0-A317-05BE-0562-44676438CB0F}"/>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1A937E49-EBC2-7206-097E-2B6E06E71A01}"/>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1BC8956D-4C7D-DE5E-A780-8F998A999BC5}"/>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818B9C21-8991-D69B-5032-599AFB9B029D}"/>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2" name="文本框 21">
            <a:extLst>
              <a:ext uri="{FF2B5EF4-FFF2-40B4-BE49-F238E27FC236}">
                <a16:creationId xmlns:a16="http://schemas.microsoft.com/office/drawing/2014/main" id="{7887674F-B865-8D9A-1177-7D6945C8591D}"/>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3" name="文本框 22">
            <a:extLst>
              <a:ext uri="{FF2B5EF4-FFF2-40B4-BE49-F238E27FC236}">
                <a16:creationId xmlns:a16="http://schemas.microsoft.com/office/drawing/2014/main" id="{0977EB05-CBD5-28D3-0A35-A57137D0BDC6}"/>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83C47A5F-E852-1A12-D7ED-AABCA68F7DBB}"/>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37CC2804-1B49-48BA-0B92-C8C0301587E5}"/>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6" name="文本框 25">
            <a:extLst>
              <a:ext uri="{FF2B5EF4-FFF2-40B4-BE49-F238E27FC236}">
                <a16:creationId xmlns:a16="http://schemas.microsoft.com/office/drawing/2014/main" id="{C7E432AB-A244-336F-BBA9-679F33BD6F25}"/>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0DB641AA-F654-5C9E-9A01-A9742E43A2D7}"/>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1637953B-3FD3-41E0-8F61-DE7D816A2836}"/>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61F87749-303E-E159-B4D6-CC64DEC1D83F}"/>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3186AAB5-0712-30A8-A7DD-896EC226C86C}"/>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AB7DFD0A-B843-0247-BD9A-13CA3D3CCE11}"/>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F63DCD42-8AB1-C541-5EFE-2A173B4CEB45}"/>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C6DEC0C9-C5B7-C7BF-75C0-95DC2E41DEB3}"/>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EE37FCF0-683C-2F6D-C00A-CE9CB8080136}"/>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BFFEC137-AE87-AFE5-2A3C-B3A85FF7D67F}"/>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7576B03A-E873-694D-7C0E-D74EE50251AF}"/>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756DB3BC-21B6-9A0F-0731-60D0CA9A091E}"/>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FD360447-067E-4932-A543-46D92EA95D27}"/>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F638751E-37E3-6465-36EB-39FA10D92975}"/>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DD39BFC4-2CED-A6BA-DF70-82F524203E1E}"/>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41" name="矩形 40">
            <a:extLst>
              <a:ext uri="{FF2B5EF4-FFF2-40B4-BE49-F238E27FC236}">
                <a16:creationId xmlns:a16="http://schemas.microsoft.com/office/drawing/2014/main" id="{DB17E342-80E1-476D-D1C7-9A984A3E53B2}"/>
              </a:ext>
            </a:extLst>
          </p:cNvPr>
          <p:cNvSpPr/>
          <p:nvPr/>
        </p:nvSpPr>
        <p:spPr>
          <a:xfrm>
            <a:off x="215515" y="4059445"/>
            <a:ext cx="2805769" cy="6502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72DFF966-0507-32E2-9C96-941611BFDAAA}"/>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135">
            <a:extLst>
              <a:ext uri="{FF2B5EF4-FFF2-40B4-BE49-F238E27FC236}">
                <a16:creationId xmlns:a16="http://schemas.microsoft.com/office/drawing/2014/main" id="{0FF9851B-BEB1-D17A-790A-DCC1F0D3BB7E}"/>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30D8A079-89DA-486F-5D02-D5610BA6132A}"/>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5" name="文本框 44">
            <a:extLst>
              <a:ext uri="{FF2B5EF4-FFF2-40B4-BE49-F238E27FC236}">
                <a16:creationId xmlns:a16="http://schemas.microsoft.com/office/drawing/2014/main" id="{0F9B15EE-44EE-16CE-7F75-700A4E09C47F}"/>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6" name="直接连接符 138">
            <a:extLst>
              <a:ext uri="{FF2B5EF4-FFF2-40B4-BE49-F238E27FC236}">
                <a16:creationId xmlns:a16="http://schemas.microsoft.com/office/drawing/2014/main" id="{80ED0243-A6BE-E246-AC52-18E206CF6236}"/>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139">
            <a:extLst>
              <a:ext uri="{FF2B5EF4-FFF2-40B4-BE49-F238E27FC236}">
                <a16:creationId xmlns:a16="http://schemas.microsoft.com/office/drawing/2014/main" id="{96CD87CE-9720-5583-E705-F370C37206AF}"/>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140">
            <a:extLst>
              <a:ext uri="{FF2B5EF4-FFF2-40B4-BE49-F238E27FC236}">
                <a16:creationId xmlns:a16="http://schemas.microsoft.com/office/drawing/2014/main" id="{B49C3F4D-E1B8-55B5-AE3F-7E47396E298F}"/>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141">
            <a:extLst>
              <a:ext uri="{FF2B5EF4-FFF2-40B4-BE49-F238E27FC236}">
                <a16:creationId xmlns:a16="http://schemas.microsoft.com/office/drawing/2014/main" id="{5C766883-0DE1-0357-CE08-9181C38D6578}"/>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90AB1635-5352-5C31-DE45-71BBF23A5FF0}"/>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143">
            <a:extLst>
              <a:ext uri="{FF2B5EF4-FFF2-40B4-BE49-F238E27FC236}">
                <a16:creationId xmlns:a16="http://schemas.microsoft.com/office/drawing/2014/main" id="{75128905-8F56-857A-C1AC-EE5DFD25D3FD}"/>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组合 51">
            <a:extLst>
              <a:ext uri="{FF2B5EF4-FFF2-40B4-BE49-F238E27FC236}">
                <a16:creationId xmlns:a16="http://schemas.microsoft.com/office/drawing/2014/main" id="{31EE3AD3-E621-59F0-56C5-096DCB2BB2FC}"/>
              </a:ext>
            </a:extLst>
          </p:cNvPr>
          <p:cNvGrpSpPr/>
          <p:nvPr/>
        </p:nvGrpSpPr>
        <p:grpSpPr>
          <a:xfrm flipV="1">
            <a:off x="3621899" y="1429279"/>
            <a:ext cx="518053" cy="94821"/>
            <a:chOff x="3621899" y="1429279"/>
            <a:chExt cx="518053" cy="94821"/>
          </a:xfrm>
        </p:grpSpPr>
        <p:cxnSp>
          <p:nvCxnSpPr>
            <p:cNvPr id="53" name="直接连接符 145">
              <a:extLst>
                <a:ext uri="{FF2B5EF4-FFF2-40B4-BE49-F238E27FC236}">
                  <a16:creationId xmlns:a16="http://schemas.microsoft.com/office/drawing/2014/main" id="{B4EC90B7-C0F0-0404-AE53-24F04917B66F}"/>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46">
              <a:extLst>
                <a:ext uri="{FF2B5EF4-FFF2-40B4-BE49-F238E27FC236}">
                  <a16:creationId xmlns:a16="http://schemas.microsoft.com/office/drawing/2014/main" id="{1624C0A9-2457-CC9B-9A84-DA156C5358AD}"/>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147">
            <a:extLst>
              <a:ext uri="{FF2B5EF4-FFF2-40B4-BE49-F238E27FC236}">
                <a16:creationId xmlns:a16="http://schemas.microsoft.com/office/drawing/2014/main" id="{2E1A79A1-0840-FC6D-687F-557C18CAFFCA}"/>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48">
            <a:extLst>
              <a:ext uri="{FF2B5EF4-FFF2-40B4-BE49-F238E27FC236}">
                <a16:creationId xmlns:a16="http://schemas.microsoft.com/office/drawing/2014/main" id="{FDB9BC5A-5D78-8EFA-33FC-B4DBC17A5AB2}"/>
              </a:ext>
            </a:extLst>
          </p:cNvPr>
          <p:cNvCxnSpPr/>
          <p:nvPr/>
        </p:nvCxnSpPr>
        <p:spPr>
          <a:xfrm>
            <a:off x="4572000" y="89668"/>
            <a:ext cx="0" cy="6273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81C58EAD-BC1E-2039-2580-29A1E1BFA436}"/>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8" name="文本框 57">
            <a:extLst>
              <a:ext uri="{FF2B5EF4-FFF2-40B4-BE49-F238E27FC236}">
                <a16:creationId xmlns:a16="http://schemas.microsoft.com/office/drawing/2014/main" id="{CC93D4DF-0499-2C8B-1AFF-5C4BEC530C12}"/>
              </a:ext>
            </a:extLst>
          </p:cNvPr>
          <p:cNvSpPr txBox="1"/>
          <p:nvPr/>
        </p:nvSpPr>
        <p:spPr>
          <a:xfrm>
            <a:off x="755576" y="3507395"/>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9" name="文本框 58">
            <a:extLst>
              <a:ext uri="{FF2B5EF4-FFF2-40B4-BE49-F238E27FC236}">
                <a16:creationId xmlns:a16="http://schemas.microsoft.com/office/drawing/2014/main" id="{E9C70D15-2A8F-A16D-4508-C9E54918E441}"/>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60" name="直接箭头连接符 152">
            <a:extLst>
              <a:ext uri="{FF2B5EF4-FFF2-40B4-BE49-F238E27FC236}">
                <a16:creationId xmlns:a16="http://schemas.microsoft.com/office/drawing/2014/main" id="{38A06A81-B8C3-B3BB-7C05-8370B376D0DD}"/>
              </a:ext>
            </a:extLst>
          </p:cNvPr>
          <p:cNvCxnSpPr>
            <a:stCxn id="57"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67614DBC-B57A-7575-AC6C-A12E6F749350}"/>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cxnSp>
        <p:nvCxnSpPr>
          <p:cNvPr id="62" name="直接箭头连接符 154">
            <a:extLst>
              <a:ext uri="{FF2B5EF4-FFF2-40B4-BE49-F238E27FC236}">
                <a16:creationId xmlns:a16="http://schemas.microsoft.com/office/drawing/2014/main" id="{E07E75FE-8440-D6F6-ED1B-8E83145B9B62}"/>
              </a:ext>
            </a:extLst>
          </p:cNvPr>
          <p:cNvCxnSpPr/>
          <p:nvPr/>
        </p:nvCxnSpPr>
        <p:spPr>
          <a:xfrm>
            <a:off x="3167844" y="3526816"/>
            <a:ext cx="0" cy="176920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4DF0DCD3-2F84-4E10-3057-846965C4BAAB}"/>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4" name="文本框 63">
            <a:extLst>
              <a:ext uri="{FF2B5EF4-FFF2-40B4-BE49-F238E27FC236}">
                <a16:creationId xmlns:a16="http://schemas.microsoft.com/office/drawing/2014/main" id="{61E06F6A-6BA7-64F9-BA3A-D69D9EB57FED}"/>
              </a:ext>
            </a:extLst>
          </p:cNvPr>
          <p:cNvSpPr txBox="1"/>
          <p:nvPr/>
        </p:nvSpPr>
        <p:spPr>
          <a:xfrm>
            <a:off x="791580" y="4689140"/>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65" name="椭圆 64">
            <a:extLst>
              <a:ext uri="{FF2B5EF4-FFF2-40B4-BE49-F238E27FC236}">
                <a16:creationId xmlns:a16="http://schemas.microsoft.com/office/drawing/2014/main" id="{9099FCEB-4BCA-3ED4-C3C8-91D4246F1C43}"/>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258B7C38-86BD-D014-4511-CCF44455A30C}"/>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398EAE35-0DE6-6717-2579-D5D4DBD44F9D}"/>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2532EA6B-8B4A-315B-A3D4-0A41050EAF9D}"/>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9" name="直接箭头连接符 164">
            <a:extLst>
              <a:ext uri="{FF2B5EF4-FFF2-40B4-BE49-F238E27FC236}">
                <a16:creationId xmlns:a16="http://schemas.microsoft.com/office/drawing/2014/main" id="{4C44E991-06BA-DC52-05A8-60AB6B99B217}"/>
              </a:ext>
            </a:extLst>
          </p:cNvPr>
          <p:cNvCxnSpPr/>
          <p:nvPr/>
        </p:nvCxnSpPr>
        <p:spPr>
          <a:xfrm flipV="1">
            <a:off x="1954901" y="3222751"/>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935FCA77-9058-2D39-7740-CBC81DB87F0B}"/>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cxnSp>
        <p:nvCxnSpPr>
          <p:cNvPr id="71" name="直接箭头连接符 86">
            <a:extLst>
              <a:ext uri="{FF2B5EF4-FFF2-40B4-BE49-F238E27FC236}">
                <a16:creationId xmlns:a16="http://schemas.microsoft.com/office/drawing/2014/main" id="{97CD316E-CC25-77D0-DBE5-5EED348FA38C}"/>
              </a:ext>
            </a:extLst>
          </p:cNvPr>
          <p:cNvCxnSpPr/>
          <p:nvPr/>
        </p:nvCxnSpPr>
        <p:spPr>
          <a:xfrm>
            <a:off x="1459777" y="2960650"/>
            <a:ext cx="1312023" cy="179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92">
            <a:extLst>
              <a:ext uri="{FF2B5EF4-FFF2-40B4-BE49-F238E27FC236}">
                <a16:creationId xmlns:a16="http://schemas.microsoft.com/office/drawing/2014/main" id="{A19546F6-F123-6280-C475-CC57286ABCC0}"/>
              </a:ext>
            </a:extLst>
          </p:cNvPr>
          <p:cNvCxnSpPr/>
          <p:nvPr/>
        </p:nvCxnSpPr>
        <p:spPr>
          <a:xfrm flipV="1">
            <a:off x="1088682" y="3173268"/>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95">
            <a:extLst>
              <a:ext uri="{FF2B5EF4-FFF2-40B4-BE49-F238E27FC236}">
                <a16:creationId xmlns:a16="http://schemas.microsoft.com/office/drawing/2014/main" id="{40802995-D161-5265-B072-98D69EB9DA25}"/>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04475330-05D1-F9A2-E805-CD786B5470CB}"/>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5" name="直接箭头连接符 98">
            <a:extLst>
              <a:ext uri="{FF2B5EF4-FFF2-40B4-BE49-F238E27FC236}">
                <a16:creationId xmlns:a16="http://schemas.microsoft.com/office/drawing/2014/main" id="{D23A12E2-D527-9716-F684-5A4290BA9F86}"/>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4CCBF683-E587-F69E-376D-C427407F40C2}"/>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7" name="直接箭头连接符 115">
            <a:extLst>
              <a:ext uri="{FF2B5EF4-FFF2-40B4-BE49-F238E27FC236}">
                <a16:creationId xmlns:a16="http://schemas.microsoft.com/office/drawing/2014/main" id="{E941AF14-BBD4-02F4-71C7-4DF45DB0B83D}"/>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261F1ABE-A51F-1C2D-A63F-E685A69573AA}"/>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pic>
        <p:nvPicPr>
          <p:cNvPr id="79" name="图片 78">
            <a:extLst>
              <a:ext uri="{FF2B5EF4-FFF2-40B4-BE49-F238E27FC236}">
                <a16:creationId xmlns:a16="http://schemas.microsoft.com/office/drawing/2014/main" id="{F0EE0AA2-EFB2-2183-8C59-5F6580C53B09}"/>
              </a:ext>
            </a:extLst>
          </p:cNvPr>
          <p:cNvPicPr>
            <a:picLocks noChangeAspect="1"/>
          </p:cNvPicPr>
          <p:nvPr/>
        </p:nvPicPr>
        <p:blipFill>
          <a:blip r:embed="rId2"/>
          <a:stretch>
            <a:fillRect/>
          </a:stretch>
        </p:blipFill>
        <p:spPr>
          <a:xfrm>
            <a:off x="4943450" y="2921298"/>
            <a:ext cx="2686955" cy="2235404"/>
          </a:xfrm>
          <a:prstGeom prst="rect">
            <a:avLst/>
          </a:prstGeom>
        </p:spPr>
      </p:pic>
      <p:cxnSp>
        <p:nvCxnSpPr>
          <p:cNvPr id="80" name="直接连接符 166">
            <a:extLst>
              <a:ext uri="{FF2B5EF4-FFF2-40B4-BE49-F238E27FC236}">
                <a16:creationId xmlns:a16="http://schemas.microsoft.com/office/drawing/2014/main" id="{965162D2-AC27-3CBB-B2AC-876005E05E98}"/>
              </a:ext>
            </a:extLst>
          </p:cNvPr>
          <p:cNvCxnSpPr/>
          <p:nvPr/>
        </p:nvCxnSpPr>
        <p:spPr>
          <a:xfrm>
            <a:off x="6012160" y="2772473"/>
            <a:ext cx="0" cy="3236364"/>
          </a:xfrm>
          <a:prstGeom prst="line">
            <a:avLst/>
          </a:prstGeom>
          <a:ln w="28575">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F20A2186-23D1-FD28-D6EC-9D76282B56A1}"/>
              </a:ext>
            </a:extLst>
          </p:cNvPr>
          <p:cNvSpPr txBox="1"/>
          <p:nvPr/>
        </p:nvSpPr>
        <p:spPr>
          <a:xfrm>
            <a:off x="5040052" y="5376698"/>
            <a:ext cx="1531058" cy="646331"/>
          </a:xfrm>
          <a:prstGeom prst="rect">
            <a:avLst/>
          </a:prstGeom>
          <a:noFill/>
        </p:spPr>
        <p:txBody>
          <a:bodyPr wrap="square" rtlCol="0">
            <a:spAutoFit/>
          </a:bodyPr>
          <a:lstStyle/>
          <a:p>
            <a:r>
              <a:rPr lang="en-US" altLang="zh-CN" dirty="0"/>
              <a:t>V</a:t>
            </a:r>
            <a:r>
              <a:rPr lang="en-US" altLang="zh-CN" baseline="-25000" dirty="0"/>
              <a:t>BE</a:t>
            </a:r>
            <a:r>
              <a:rPr lang="en-US" altLang="zh-CN" dirty="0"/>
              <a:t>&lt; V</a:t>
            </a:r>
            <a:r>
              <a:rPr lang="en-US" altLang="zh-CN" baseline="-25000" dirty="0"/>
              <a:t>T  </a:t>
            </a:r>
          </a:p>
          <a:p>
            <a:r>
              <a:rPr lang="zh-CN" altLang="en-US" dirty="0"/>
              <a:t>截止</a:t>
            </a:r>
            <a:endParaRPr lang="en-US" altLang="zh-CN" dirty="0"/>
          </a:p>
        </p:txBody>
      </p:sp>
      <p:sp>
        <p:nvSpPr>
          <p:cNvPr id="82" name="文本框 81">
            <a:extLst>
              <a:ext uri="{FF2B5EF4-FFF2-40B4-BE49-F238E27FC236}">
                <a16:creationId xmlns:a16="http://schemas.microsoft.com/office/drawing/2014/main" id="{D605BA27-B9C7-126E-A8A9-052A87E580DE}"/>
              </a:ext>
            </a:extLst>
          </p:cNvPr>
          <p:cNvSpPr txBox="1"/>
          <p:nvPr/>
        </p:nvSpPr>
        <p:spPr>
          <a:xfrm>
            <a:off x="6120172" y="5373216"/>
            <a:ext cx="2340259" cy="646331"/>
          </a:xfrm>
          <a:prstGeom prst="rect">
            <a:avLst/>
          </a:prstGeom>
          <a:noFill/>
        </p:spPr>
        <p:txBody>
          <a:bodyPr wrap="square" rtlCol="0">
            <a:spAutoFit/>
          </a:bodyPr>
          <a:lstStyle/>
          <a:p>
            <a:r>
              <a:rPr lang="en-US" altLang="zh-CN" dirty="0"/>
              <a:t>V</a:t>
            </a:r>
            <a:r>
              <a:rPr lang="en-US" altLang="zh-CN" baseline="-25000" dirty="0"/>
              <a:t>BE</a:t>
            </a:r>
            <a:r>
              <a:rPr lang="en-US" altLang="zh-CN" dirty="0"/>
              <a:t>&gt; V</a:t>
            </a:r>
            <a:r>
              <a:rPr lang="en-US" altLang="zh-CN" baseline="-25000" dirty="0"/>
              <a:t>T  </a:t>
            </a:r>
          </a:p>
          <a:p>
            <a:r>
              <a:rPr lang="zh-CN" altLang="en-US" dirty="0"/>
              <a:t>导通，</a:t>
            </a:r>
            <a:r>
              <a:rPr lang="en-US" altLang="zh-CN" dirty="0"/>
              <a:t>I</a:t>
            </a:r>
            <a:r>
              <a:rPr lang="en-US" altLang="zh-CN" baseline="-25000" dirty="0"/>
              <a:t>B</a:t>
            </a:r>
            <a:r>
              <a:rPr lang="zh-CN" altLang="en-US" dirty="0"/>
              <a:t>受</a:t>
            </a:r>
            <a:r>
              <a:rPr lang="en-US" altLang="zh-CN" dirty="0"/>
              <a:t>V</a:t>
            </a:r>
            <a:r>
              <a:rPr lang="en-US" altLang="zh-CN" baseline="-25000" dirty="0"/>
              <a:t>BE</a:t>
            </a:r>
            <a:r>
              <a:rPr lang="zh-CN" altLang="en-US" dirty="0"/>
              <a:t>控制</a:t>
            </a:r>
            <a:endParaRPr lang="en-US" altLang="zh-CN" dirty="0"/>
          </a:p>
        </p:txBody>
      </p:sp>
      <p:sp>
        <p:nvSpPr>
          <p:cNvPr id="83" name="椭圆 82">
            <a:extLst>
              <a:ext uri="{FF2B5EF4-FFF2-40B4-BE49-F238E27FC236}">
                <a16:creationId xmlns:a16="http://schemas.microsoft.com/office/drawing/2014/main" id="{FE13FF6C-FA21-1CD8-D888-6FCE17384EEC}"/>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箭头连接符 171">
            <a:extLst>
              <a:ext uri="{FF2B5EF4-FFF2-40B4-BE49-F238E27FC236}">
                <a16:creationId xmlns:a16="http://schemas.microsoft.com/office/drawing/2014/main" id="{98CCFA4B-0DB7-5FB2-3978-50865A987553}"/>
              </a:ext>
            </a:extLst>
          </p:cNvPr>
          <p:cNvCxnSpPr/>
          <p:nvPr/>
        </p:nvCxnSpPr>
        <p:spPr>
          <a:xfrm flipV="1">
            <a:off x="2177872" y="3450196"/>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矩形 84">
            <a:extLst>
              <a:ext uri="{FF2B5EF4-FFF2-40B4-BE49-F238E27FC236}">
                <a16:creationId xmlns:a16="http://schemas.microsoft.com/office/drawing/2014/main" id="{04ECB4D7-8239-F1AB-4DDE-33A6F9E94F86}"/>
              </a:ext>
            </a:extLst>
          </p:cNvPr>
          <p:cNvSpPr/>
          <p:nvPr/>
        </p:nvSpPr>
        <p:spPr>
          <a:xfrm>
            <a:off x="4769169" y="836712"/>
            <a:ext cx="4374831" cy="1477328"/>
          </a:xfrm>
          <a:prstGeom prst="rect">
            <a:avLst/>
          </a:prstGeom>
        </p:spPr>
        <p:txBody>
          <a:bodyPr wrap="square">
            <a:spAutoFit/>
          </a:bodyPr>
          <a:lstStyle/>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r>
              <a:rPr lang="zh-CN" altLang="en-US" dirty="0"/>
              <a:t>下一步去哪里呢？</a:t>
            </a:r>
            <a:endParaRPr lang="en-US" altLang="zh-CN" dirty="0"/>
          </a:p>
          <a:p>
            <a:r>
              <a:rPr lang="en-US" altLang="zh-CN" dirty="0"/>
              <a:t>b-c</a:t>
            </a:r>
            <a:r>
              <a:rPr lang="zh-CN" altLang="en-US" dirty="0"/>
              <a:t>外加电场不欢迎我们过去，算了，从基极走吧</a:t>
            </a:r>
            <a:r>
              <a:rPr lang="en-US" altLang="zh-CN" dirty="0"/>
              <a:t>! :P</a:t>
            </a:r>
          </a:p>
          <a:p>
            <a:endParaRPr lang="en-US" altLang="zh-CN" dirty="0"/>
          </a:p>
        </p:txBody>
      </p:sp>
      <p:sp>
        <p:nvSpPr>
          <p:cNvPr id="86" name="文本框 85">
            <a:extLst>
              <a:ext uri="{FF2B5EF4-FFF2-40B4-BE49-F238E27FC236}">
                <a16:creationId xmlns:a16="http://schemas.microsoft.com/office/drawing/2014/main" id="{DF85CDA6-39D2-102B-F0C8-2D09A6685391}"/>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cxnSp>
        <p:nvCxnSpPr>
          <p:cNvPr id="87" name="直接箭头连接符 119">
            <a:extLst>
              <a:ext uri="{FF2B5EF4-FFF2-40B4-BE49-F238E27FC236}">
                <a16:creationId xmlns:a16="http://schemas.microsoft.com/office/drawing/2014/main" id="{21D670C7-A627-BDF5-830D-02FD95D0F6BE}"/>
              </a:ext>
            </a:extLst>
          </p:cNvPr>
          <p:cNvCxnSpPr/>
          <p:nvPr/>
        </p:nvCxnSpPr>
        <p:spPr>
          <a:xfrm>
            <a:off x="789710" y="2996952"/>
            <a:ext cx="1312023" cy="179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Rectangle 1">
            <a:extLst>
              <a:ext uri="{FF2B5EF4-FFF2-40B4-BE49-F238E27FC236}">
                <a16:creationId xmlns:a16="http://schemas.microsoft.com/office/drawing/2014/main" id="{E9F8FFB0-85BF-EA9C-3FF7-D8CFE7C52FA6}"/>
              </a:ext>
            </a:extLst>
          </p:cNvPr>
          <p:cNvSpPr/>
          <p:nvPr/>
        </p:nvSpPr>
        <p:spPr>
          <a:xfrm>
            <a:off x="4754688" y="2563015"/>
            <a:ext cx="3883599" cy="3693319"/>
          </a:xfrm>
          <a:prstGeom prst="rect">
            <a:avLst/>
          </a:prstGeom>
          <a:ln w="28575">
            <a:solidFill>
              <a:srgbClr val="0000FF"/>
            </a:solidFill>
          </a:ln>
        </p:spPr>
        <p:txBody>
          <a:bodyPr wrap="square">
            <a:spAutoFit/>
          </a:bodyPr>
          <a:lstStyle/>
          <a:p>
            <a:pPr algn="r"/>
            <a:r>
              <a:rPr lang="zh-CN" altLang="en-US" b="1" dirty="0">
                <a:solidFill>
                  <a:srgbClr val="0000FF"/>
                </a:solidFill>
              </a:rPr>
              <a:t>输入特性</a:t>
            </a:r>
            <a:r>
              <a:rPr lang="en-US" altLang="zh-CN" dirty="0"/>
              <a:t>:</a:t>
            </a:r>
          </a:p>
          <a:p>
            <a:pPr algn="r"/>
            <a:r>
              <a:rPr lang="zh-CN" altLang="en-US" dirty="0">
                <a:solidFill>
                  <a:srgbClr val="0000FF"/>
                </a:solidFill>
              </a:rPr>
              <a:t>类似二极管</a:t>
            </a:r>
            <a:endParaRPr lang="en-US" altLang="zh-CN" dirty="0">
              <a:solidFill>
                <a:srgbClr val="0000FF"/>
              </a:solidFill>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16728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27</a:t>
            </a:fld>
            <a:r>
              <a:rPr lang="en-US" altLang="zh-CN" dirty="0"/>
              <a:t>/33</a:t>
            </a:r>
            <a:endParaRPr lang="en-US" dirty="0"/>
          </a:p>
        </p:txBody>
      </p:sp>
      <p:sp>
        <p:nvSpPr>
          <p:cNvPr id="2" name="矩形 1">
            <a:extLst>
              <a:ext uri="{FF2B5EF4-FFF2-40B4-BE49-F238E27FC236}">
                <a16:creationId xmlns:a16="http://schemas.microsoft.com/office/drawing/2014/main" id="{40A5AE81-0277-4805-6F97-AD3378E37BB3}"/>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D5BEF4D2-657B-DB66-88C2-0596B75E61BF}"/>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A64727F-1E6F-079D-D074-296FD34F0B81}"/>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9CADD51-8695-1CFF-6466-6DEBEED7EBCF}"/>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 name="文本框 7">
            <a:extLst>
              <a:ext uri="{FF2B5EF4-FFF2-40B4-BE49-F238E27FC236}">
                <a16:creationId xmlns:a16="http://schemas.microsoft.com/office/drawing/2014/main" id="{F273F490-6B87-A348-DDCB-6275A1E67277}"/>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 name="文本框 8">
            <a:extLst>
              <a:ext uri="{FF2B5EF4-FFF2-40B4-BE49-F238E27FC236}">
                <a16:creationId xmlns:a16="http://schemas.microsoft.com/office/drawing/2014/main" id="{EDAC6165-7223-069A-8E34-7CEE8755D9D2}"/>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CA535E6F-B2BA-AB96-3852-D0F48A48EB20}"/>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1" name="文本框 10">
            <a:extLst>
              <a:ext uri="{FF2B5EF4-FFF2-40B4-BE49-F238E27FC236}">
                <a16:creationId xmlns:a16="http://schemas.microsoft.com/office/drawing/2014/main" id="{E3FB0C29-8DED-5E8A-C9A5-8F9B2DCE83D6}"/>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2" name="文本框 11">
            <a:extLst>
              <a:ext uri="{FF2B5EF4-FFF2-40B4-BE49-F238E27FC236}">
                <a16:creationId xmlns:a16="http://schemas.microsoft.com/office/drawing/2014/main" id="{04B4B8FA-CDD6-0947-7027-1C556F49C7B9}"/>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3" name="文本框 12">
            <a:extLst>
              <a:ext uri="{FF2B5EF4-FFF2-40B4-BE49-F238E27FC236}">
                <a16:creationId xmlns:a16="http://schemas.microsoft.com/office/drawing/2014/main" id="{25B0E840-E183-628C-4F5A-E048549F37EA}"/>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36CEDDEC-0DDB-B7E8-A641-202EBF16C3B4}"/>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22600538-B71F-5A96-FA64-F7BC23FD94C0}"/>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94BCFBEA-A178-8112-762A-CB95DB662A44}"/>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93FF63DE-AACE-B797-2FAF-C37023840465}"/>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E5DAE9DF-6E04-9325-9F9D-F183FAF364E0}"/>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22BBD798-1FB3-24B9-9E17-5BD6D43C19E7}"/>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DB627054-3AA3-0F6E-8182-D58FDDE4CE28}"/>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64A11684-6E13-522E-C9F9-FE2FC5B5AB0E}"/>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2" name="文本框 21">
            <a:extLst>
              <a:ext uri="{FF2B5EF4-FFF2-40B4-BE49-F238E27FC236}">
                <a16:creationId xmlns:a16="http://schemas.microsoft.com/office/drawing/2014/main" id="{34BBF4A6-459E-8B15-BA79-7DF66AFC17E0}"/>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3" name="文本框 22">
            <a:extLst>
              <a:ext uri="{FF2B5EF4-FFF2-40B4-BE49-F238E27FC236}">
                <a16:creationId xmlns:a16="http://schemas.microsoft.com/office/drawing/2014/main" id="{503FC22F-A097-C00F-2F48-C27C0E60D356}"/>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B456C1A9-534D-D6C2-CF7B-0E19B71F9B7A}"/>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F8DB8A32-0679-194C-CF32-D0F63F2D4ED2}"/>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6" name="文本框 25">
            <a:extLst>
              <a:ext uri="{FF2B5EF4-FFF2-40B4-BE49-F238E27FC236}">
                <a16:creationId xmlns:a16="http://schemas.microsoft.com/office/drawing/2014/main" id="{2C4018E3-6AF0-E0AE-7E03-C0E22A8978B9}"/>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F15E1C4A-847E-A6C5-3E19-7ED210CE92F2}"/>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8D3E8F2F-9628-D36E-4A16-4D1253C06BA2}"/>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79F4BA2C-A98E-0383-0FF0-F7CB2FBE3E34}"/>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7F86924E-3CB6-5410-CA9C-B55FB7AE5661}"/>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25BB0280-273E-F1B1-79BE-0A1F962A0C6B}"/>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E8B9688C-B3BF-26B2-21AA-4DCFACFCB5D2}"/>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FA2A028B-429E-2576-6246-4CD03B66F850}"/>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982ABA13-56B5-3333-C31D-9D3B818B9548}"/>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EBAB53EE-0CAB-72E6-6E53-0F2D495BAAE4}"/>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51CABD7D-B272-CAA0-532E-311804934E4B}"/>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B216A799-EF58-EF81-DA5C-BFEE3992C470}"/>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1F1BF12B-EA46-402C-EAFB-626DC0641336}"/>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487B8B4B-85E9-4E28-AE85-87B58A541528}"/>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F1029D84-7B9D-C85B-8D55-ABAA2B5EBD66}"/>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41" name="矩形 40">
            <a:extLst>
              <a:ext uri="{FF2B5EF4-FFF2-40B4-BE49-F238E27FC236}">
                <a16:creationId xmlns:a16="http://schemas.microsoft.com/office/drawing/2014/main" id="{25503CE6-35D7-7BCD-9E8D-B689FB00BD32}"/>
              </a:ext>
            </a:extLst>
          </p:cNvPr>
          <p:cNvSpPr/>
          <p:nvPr/>
        </p:nvSpPr>
        <p:spPr>
          <a:xfrm>
            <a:off x="215515" y="3818355"/>
            <a:ext cx="2805769" cy="107549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DAEEF482-EFD9-CF15-4F60-162B0FEB1E3E}"/>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135">
            <a:extLst>
              <a:ext uri="{FF2B5EF4-FFF2-40B4-BE49-F238E27FC236}">
                <a16:creationId xmlns:a16="http://schemas.microsoft.com/office/drawing/2014/main" id="{57BDF0A4-A096-43D5-6E83-BC1C1BC83E7A}"/>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FC1FB1F7-3E1D-61D7-2B58-DDF07914CC2B}"/>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5" name="文本框 44">
            <a:extLst>
              <a:ext uri="{FF2B5EF4-FFF2-40B4-BE49-F238E27FC236}">
                <a16:creationId xmlns:a16="http://schemas.microsoft.com/office/drawing/2014/main" id="{73D42918-187D-E13F-4D8E-8E62D9D60F36}"/>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6" name="直接连接符 138">
            <a:extLst>
              <a:ext uri="{FF2B5EF4-FFF2-40B4-BE49-F238E27FC236}">
                <a16:creationId xmlns:a16="http://schemas.microsoft.com/office/drawing/2014/main" id="{A7405278-F8B1-A3CC-F050-D54C020FF7ED}"/>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139">
            <a:extLst>
              <a:ext uri="{FF2B5EF4-FFF2-40B4-BE49-F238E27FC236}">
                <a16:creationId xmlns:a16="http://schemas.microsoft.com/office/drawing/2014/main" id="{EFD2C047-DE3B-0E71-5EB9-60EFFA6B52A0}"/>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140">
            <a:extLst>
              <a:ext uri="{FF2B5EF4-FFF2-40B4-BE49-F238E27FC236}">
                <a16:creationId xmlns:a16="http://schemas.microsoft.com/office/drawing/2014/main" id="{D56767FF-4CBF-D7F0-3C53-193B1F79DA5F}"/>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141">
            <a:extLst>
              <a:ext uri="{FF2B5EF4-FFF2-40B4-BE49-F238E27FC236}">
                <a16:creationId xmlns:a16="http://schemas.microsoft.com/office/drawing/2014/main" id="{67F89F42-42CA-5F0F-CBE5-711A429A0656}"/>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0E1D408B-A729-2F49-BDEB-A9DE1AD5858E}"/>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143">
            <a:extLst>
              <a:ext uri="{FF2B5EF4-FFF2-40B4-BE49-F238E27FC236}">
                <a16:creationId xmlns:a16="http://schemas.microsoft.com/office/drawing/2014/main" id="{B6FB8BEF-3FFB-1D9F-E79C-98E3F7519CEB}"/>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组合 51">
            <a:extLst>
              <a:ext uri="{FF2B5EF4-FFF2-40B4-BE49-F238E27FC236}">
                <a16:creationId xmlns:a16="http://schemas.microsoft.com/office/drawing/2014/main" id="{E38EBC73-0D68-CF97-1038-C34D3C632256}"/>
              </a:ext>
            </a:extLst>
          </p:cNvPr>
          <p:cNvGrpSpPr/>
          <p:nvPr/>
        </p:nvGrpSpPr>
        <p:grpSpPr>
          <a:xfrm flipV="1">
            <a:off x="3621899" y="1429279"/>
            <a:ext cx="518053" cy="94821"/>
            <a:chOff x="3621899" y="1429279"/>
            <a:chExt cx="518053" cy="94821"/>
          </a:xfrm>
        </p:grpSpPr>
        <p:cxnSp>
          <p:nvCxnSpPr>
            <p:cNvPr id="53" name="直接连接符 145">
              <a:extLst>
                <a:ext uri="{FF2B5EF4-FFF2-40B4-BE49-F238E27FC236}">
                  <a16:creationId xmlns:a16="http://schemas.microsoft.com/office/drawing/2014/main" id="{4E1A8B8F-A8FE-F403-5D2B-0F8A75D40083}"/>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46">
              <a:extLst>
                <a:ext uri="{FF2B5EF4-FFF2-40B4-BE49-F238E27FC236}">
                  <a16:creationId xmlns:a16="http://schemas.microsoft.com/office/drawing/2014/main" id="{CD1E9090-25D5-7602-8B74-CD3423F37825}"/>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147">
            <a:extLst>
              <a:ext uri="{FF2B5EF4-FFF2-40B4-BE49-F238E27FC236}">
                <a16:creationId xmlns:a16="http://schemas.microsoft.com/office/drawing/2014/main" id="{73152019-1845-90EA-87F4-662823AA832D}"/>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48">
            <a:extLst>
              <a:ext uri="{FF2B5EF4-FFF2-40B4-BE49-F238E27FC236}">
                <a16:creationId xmlns:a16="http://schemas.microsoft.com/office/drawing/2014/main" id="{84D7AAE6-E595-18A4-4CC0-580581CA99CA}"/>
              </a:ext>
            </a:extLst>
          </p:cNvPr>
          <p:cNvCxnSpPr/>
          <p:nvPr/>
        </p:nvCxnSpPr>
        <p:spPr>
          <a:xfrm flipH="1">
            <a:off x="4570801" y="89668"/>
            <a:ext cx="1199" cy="3048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7401CA65-342D-C181-E09E-615ED4BB23D7}"/>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8" name="文本框 57">
            <a:extLst>
              <a:ext uri="{FF2B5EF4-FFF2-40B4-BE49-F238E27FC236}">
                <a16:creationId xmlns:a16="http://schemas.microsoft.com/office/drawing/2014/main" id="{C53F5D17-6C3D-E02C-AA48-CA2CB64A692A}"/>
              </a:ext>
            </a:extLst>
          </p:cNvPr>
          <p:cNvSpPr txBox="1"/>
          <p:nvPr/>
        </p:nvSpPr>
        <p:spPr>
          <a:xfrm>
            <a:off x="755576" y="3507395"/>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9" name="文本框 58">
            <a:extLst>
              <a:ext uri="{FF2B5EF4-FFF2-40B4-BE49-F238E27FC236}">
                <a16:creationId xmlns:a16="http://schemas.microsoft.com/office/drawing/2014/main" id="{AD3E7262-B1A4-5393-EC77-DDCE1DB72A45}"/>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60" name="直接箭头连接符 152">
            <a:extLst>
              <a:ext uri="{FF2B5EF4-FFF2-40B4-BE49-F238E27FC236}">
                <a16:creationId xmlns:a16="http://schemas.microsoft.com/office/drawing/2014/main" id="{879FA46B-769B-4CD3-F065-B7C86CF4DAD4}"/>
              </a:ext>
            </a:extLst>
          </p:cNvPr>
          <p:cNvCxnSpPr>
            <a:stCxn id="57"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986A6D6F-7F5D-4AA4-CD95-5207D207DEFE}"/>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cxnSp>
        <p:nvCxnSpPr>
          <p:cNvPr id="62" name="直接箭头连接符 154">
            <a:extLst>
              <a:ext uri="{FF2B5EF4-FFF2-40B4-BE49-F238E27FC236}">
                <a16:creationId xmlns:a16="http://schemas.microsoft.com/office/drawing/2014/main" id="{073C2862-41EE-3895-4DFD-2B1086E43277}"/>
              </a:ext>
            </a:extLst>
          </p:cNvPr>
          <p:cNvCxnSpPr/>
          <p:nvPr/>
        </p:nvCxnSpPr>
        <p:spPr>
          <a:xfrm flipV="1">
            <a:off x="3187539" y="4059445"/>
            <a:ext cx="0" cy="417856"/>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7D614655-31C7-DC1A-52D1-AAC8D5A3C8C1}"/>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4" name="文本框 63">
            <a:extLst>
              <a:ext uri="{FF2B5EF4-FFF2-40B4-BE49-F238E27FC236}">
                <a16:creationId xmlns:a16="http://schemas.microsoft.com/office/drawing/2014/main" id="{1FDECC2D-9F5E-E4FE-BAF2-06CEC174B35A}"/>
              </a:ext>
            </a:extLst>
          </p:cNvPr>
          <p:cNvSpPr txBox="1"/>
          <p:nvPr/>
        </p:nvSpPr>
        <p:spPr>
          <a:xfrm>
            <a:off x="791580" y="4689140"/>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65" name="椭圆 64">
            <a:extLst>
              <a:ext uri="{FF2B5EF4-FFF2-40B4-BE49-F238E27FC236}">
                <a16:creationId xmlns:a16="http://schemas.microsoft.com/office/drawing/2014/main" id="{6FFA0416-A2FD-C377-1C65-82A7EE8099E8}"/>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B01F75EF-3B70-802A-4CB7-9D39199F7200}"/>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08777A47-5C0B-1317-BA99-962388EDE978}"/>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316A0576-F70A-12DE-A2EF-7EAACA062B50}"/>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9" name="直接箭头连接符 164">
            <a:extLst>
              <a:ext uri="{FF2B5EF4-FFF2-40B4-BE49-F238E27FC236}">
                <a16:creationId xmlns:a16="http://schemas.microsoft.com/office/drawing/2014/main" id="{B17997B3-813B-7A05-666E-DFF09DE15082}"/>
              </a:ext>
            </a:extLst>
          </p:cNvPr>
          <p:cNvCxnSpPr/>
          <p:nvPr/>
        </p:nvCxnSpPr>
        <p:spPr>
          <a:xfrm flipV="1">
            <a:off x="1954901" y="3222751"/>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0454F8F5-F19D-5E5C-1B7A-663838BD7E00}"/>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cxnSp>
        <p:nvCxnSpPr>
          <p:cNvPr id="71" name="直接箭头连接符 95">
            <a:extLst>
              <a:ext uri="{FF2B5EF4-FFF2-40B4-BE49-F238E27FC236}">
                <a16:creationId xmlns:a16="http://schemas.microsoft.com/office/drawing/2014/main" id="{D918E578-44E2-2A0D-BED9-72EA39B784BF}"/>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矩形 71">
            <a:extLst>
              <a:ext uri="{FF2B5EF4-FFF2-40B4-BE49-F238E27FC236}">
                <a16:creationId xmlns:a16="http://schemas.microsoft.com/office/drawing/2014/main" id="{33EEDE9D-51BB-B3E1-7A6C-035DFD07F49B}"/>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3" name="直接箭头连接符 98">
            <a:extLst>
              <a:ext uri="{FF2B5EF4-FFF2-40B4-BE49-F238E27FC236}">
                <a16:creationId xmlns:a16="http://schemas.microsoft.com/office/drawing/2014/main" id="{3FD0BAE4-0AAC-A36B-BA4D-2F11B6DF16D6}"/>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7D27C78D-30CC-2AD5-F757-960B46FBAB77}"/>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5" name="直接箭头连接符 115">
            <a:extLst>
              <a:ext uri="{FF2B5EF4-FFF2-40B4-BE49-F238E27FC236}">
                <a16:creationId xmlns:a16="http://schemas.microsoft.com/office/drawing/2014/main" id="{692C62BB-5548-D420-3C07-3E97B1A5999B}"/>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230AF874-2941-B533-9BD0-F5593F991D00}"/>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grpSp>
        <p:nvGrpSpPr>
          <p:cNvPr id="77" name="组合 76">
            <a:extLst>
              <a:ext uri="{FF2B5EF4-FFF2-40B4-BE49-F238E27FC236}">
                <a16:creationId xmlns:a16="http://schemas.microsoft.com/office/drawing/2014/main" id="{09CA7EEE-6303-2321-D8F9-AE1EA124296E}"/>
              </a:ext>
            </a:extLst>
          </p:cNvPr>
          <p:cNvGrpSpPr/>
          <p:nvPr/>
        </p:nvGrpSpPr>
        <p:grpSpPr>
          <a:xfrm flipV="1">
            <a:off x="4319972" y="3154159"/>
            <a:ext cx="518053" cy="94821"/>
            <a:chOff x="3621899" y="1429279"/>
            <a:chExt cx="518053" cy="94821"/>
          </a:xfrm>
        </p:grpSpPr>
        <p:cxnSp>
          <p:nvCxnSpPr>
            <p:cNvPr id="78" name="直接连接符 118">
              <a:extLst>
                <a:ext uri="{FF2B5EF4-FFF2-40B4-BE49-F238E27FC236}">
                  <a16:creationId xmlns:a16="http://schemas.microsoft.com/office/drawing/2014/main" id="{A1B29D4A-B359-EB7C-49A5-E93266E21357}"/>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119">
              <a:extLst>
                <a:ext uri="{FF2B5EF4-FFF2-40B4-BE49-F238E27FC236}">
                  <a16:creationId xmlns:a16="http://schemas.microsoft.com/office/drawing/2014/main" id="{F096DD46-F532-42ED-4916-E43C0D171BA8}"/>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0" name="直接连接符 120">
            <a:extLst>
              <a:ext uri="{FF2B5EF4-FFF2-40B4-BE49-F238E27FC236}">
                <a16:creationId xmlns:a16="http://schemas.microsoft.com/office/drawing/2014/main" id="{3C4E4556-B662-7E90-657E-F3468D20246F}"/>
              </a:ext>
            </a:extLst>
          </p:cNvPr>
          <p:cNvCxnSpPr/>
          <p:nvPr/>
        </p:nvCxnSpPr>
        <p:spPr>
          <a:xfrm>
            <a:off x="4572000" y="3247450"/>
            <a:ext cx="3499" cy="31231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椭圆 80">
            <a:extLst>
              <a:ext uri="{FF2B5EF4-FFF2-40B4-BE49-F238E27FC236}">
                <a16:creationId xmlns:a16="http://schemas.microsoft.com/office/drawing/2014/main" id="{70E38482-5A66-BDE6-6A7A-9D3386CF403C}"/>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 name="直接箭头连接符 170">
            <a:extLst>
              <a:ext uri="{FF2B5EF4-FFF2-40B4-BE49-F238E27FC236}">
                <a16:creationId xmlns:a16="http://schemas.microsoft.com/office/drawing/2014/main" id="{28565E2E-E26A-C3CF-2E48-C73CFF86243A}"/>
              </a:ext>
            </a:extLst>
          </p:cNvPr>
          <p:cNvCxnSpPr/>
          <p:nvPr/>
        </p:nvCxnSpPr>
        <p:spPr>
          <a:xfrm flipV="1">
            <a:off x="1088682" y="3173268"/>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171">
            <a:extLst>
              <a:ext uri="{FF2B5EF4-FFF2-40B4-BE49-F238E27FC236}">
                <a16:creationId xmlns:a16="http://schemas.microsoft.com/office/drawing/2014/main" id="{89625609-2558-686F-A369-91A997D41AED}"/>
              </a:ext>
            </a:extLst>
          </p:cNvPr>
          <p:cNvCxnSpPr/>
          <p:nvPr/>
        </p:nvCxnSpPr>
        <p:spPr>
          <a:xfrm flipH="1">
            <a:off x="2087724" y="352145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042BC320-40FE-0308-3E2E-7EF004DCA170}"/>
              </a:ext>
            </a:extLst>
          </p:cNvPr>
          <p:cNvSpPr/>
          <p:nvPr/>
        </p:nvSpPr>
        <p:spPr>
          <a:xfrm>
            <a:off x="4769169" y="836712"/>
            <a:ext cx="4374831" cy="2585323"/>
          </a:xfrm>
          <a:prstGeom prst="rect">
            <a:avLst/>
          </a:prstGeom>
        </p:spPr>
        <p:txBody>
          <a:bodyPr wrap="square">
            <a:spAutoFit/>
          </a:bodyPr>
          <a:lstStyle/>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r>
              <a:rPr lang="zh-CN" altLang="en-US" dirty="0"/>
              <a:t>下一步去哪里呢？</a:t>
            </a:r>
            <a:endParaRPr lang="en-US" altLang="zh-CN" dirty="0"/>
          </a:p>
          <a:p>
            <a:r>
              <a:rPr lang="en-US" altLang="zh-CN" dirty="0"/>
              <a:t>b-c</a:t>
            </a:r>
            <a:r>
              <a:rPr lang="zh-CN" altLang="en-US" dirty="0"/>
              <a:t>外加电场不欢迎我们过去，算了，从基极走吧</a:t>
            </a:r>
            <a:r>
              <a:rPr lang="en-US" altLang="zh-CN" dirty="0"/>
              <a:t>! :P</a:t>
            </a:r>
          </a:p>
          <a:p>
            <a:endParaRPr lang="en-US" altLang="zh-CN" dirty="0"/>
          </a:p>
          <a:p>
            <a:r>
              <a:rPr lang="en-US" altLang="zh-CN" b="1" dirty="0"/>
              <a:t>V</a:t>
            </a:r>
            <a:r>
              <a:rPr lang="en-US" altLang="zh-CN" b="1" baseline="-25000" dirty="0"/>
              <a:t>CE </a:t>
            </a:r>
            <a:r>
              <a:rPr lang="en-US" altLang="zh-CN" b="1" dirty="0"/>
              <a:t>&gt; V</a:t>
            </a:r>
            <a:r>
              <a:rPr lang="en-US" altLang="zh-CN" b="1" baseline="-25000" dirty="0"/>
              <a:t>T’ </a:t>
            </a:r>
            <a:r>
              <a:rPr lang="en-US" altLang="zh-CN" b="1" dirty="0"/>
              <a:t> </a:t>
            </a:r>
            <a:r>
              <a:rPr lang="en-US" altLang="zh-CN" dirty="0"/>
              <a:t>:</a:t>
            </a:r>
          </a:p>
          <a:p>
            <a:r>
              <a:rPr lang="zh-CN" altLang="en-US" dirty="0"/>
              <a:t>咦？</a:t>
            </a:r>
            <a:r>
              <a:rPr lang="en-US" altLang="zh-CN" dirty="0"/>
              <a:t>b-c</a:t>
            </a:r>
            <a:r>
              <a:rPr lang="zh-CN" altLang="en-US" dirty="0"/>
              <a:t>外加电场减弱了？不跟你们挤基极了，我要去集电极啦！</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c</a:t>
            </a:r>
            <a:r>
              <a:rPr lang="en-US" altLang="zh-CN" baseline="-25000" dirty="0"/>
              <a:t> </a:t>
            </a:r>
            <a:r>
              <a:rPr lang="en-US" altLang="zh-CN" dirty="0">
                <a:latin typeface="宋体" panose="02010600030101010101" pitchFamily="2" charset="-122"/>
              </a:rPr>
              <a:t>&gt; </a:t>
            </a:r>
            <a:r>
              <a:rPr lang="en-US" altLang="zh-CN" dirty="0"/>
              <a:t>0</a:t>
            </a:r>
            <a:endParaRPr lang="zh-CN" altLang="en-US" dirty="0"/>
          </a:p>
        </p:txBody>
      </p:sp>
      <p:sp>
        <p:nvSpPr>
          <p:cNvPr id="85" name="文本框 84">
            <a:extLst>
              <a:ext uri="{FF2B5EF4-FFF2-40B4-BE49-F238E27FC236}">
                <a16:creationId xmlns:a16="http://schemas.microsoft.com/office/drawing/2014/main" id="{66A66F59-CF14-C0ED-35E6-94332E30CE95}"/>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cxnSp>
        <p:nvCxnSpPr>
          <p:cNvPr id="86" name="直接箭头连接符 122">
            <a:extLst>
              <a:ext uri="{FF2B5EF4-FFF2-40B4-BE49-F238E27FC236}">
                <a16:creationId xmlns:a16="http://schemas.microsoft.com/office/drawing/2014/main" id="{0573E270-6569-B1E6-EB14-957B9E329818}"/>
              </a:ext>
            </a:extLst>
          </p:cNvPr>
          <p:cNvCxnSpPr/>
          <p:nvPr/>
        </p:nvCxnSpPr>
        <p:spPr>
          <a:xfrm>
            <a:off x="1459777" y="2960650"/>
            <a:ext cx="1312023" cy="179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箭头连接符 163">
            <a:extLst>
              <a:ext uri="{FF2B5EF4-FFF2-40B4-BE49-F238E27FC236}">
                <a16:creationId xmlns:a16="http://schemas.microsoft.com/office/drawing/2014/main" id="{CE6071C9-A721-CD08-8FEE-AA9871B6B7C3}"/>
              </a:ext>
            </a:extLst>
          </p:cNvPr>
          <p:cNvCxnSpPr/>
          <p:nvPr/>
        </p:nvCxnSpPr>
        <p:spPr>
          <a:xfrm>
            <a:off x="789710" y="2996952"/>
            <a:ext cx="1312023" cy="179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506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28</a:t>
            </a:fld>
            <a:r>
              <a:rPr lang="en-US" altLang="zh-CN" dirty="0"/>
              <a:t>/33</a:t>
            </a:r>
            <a:endParaRPr lang="en-US" dirty="0"/>
          </a:p>
        </p:txBody>
      </p:sp>
      <p:sp>
        <p:nvSpPr>
          <p:cNvPr id="2" name="矩形 1">
            <a:extLst>
              <a:ext uri="{FF2B5EF4-FFF2-40B4-BE49-F238E27FC236}">
                <a16:creationId xmlns:a16="http://schemas.microsoft.com/office/drawing/2014/main" id="{41ED7F27-47AE-DDA0-B12B-A7F823040EAB}"/>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30C3FBF-BF98-DCCC-8665-C667A6659D5C}"/>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E3E8024-2B7E-5D42-ACF4-A17E8B75EB45}"/>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12D263E-637F-08C9-8E2A-3696FDA8F6DB}"/>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 name="文本框 7">
            <a:extLst>
              <a:ext uri="{FF2B5EF4-FFF2-40B4-BE49-F238E27FC236}">
                <a16:creationId xmlns:a16="http://schemas.microsoft.com/office/drawing/2014/main" id="{5D45C86D-05DC-9B1C-8009-298960111967}"/>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 name="文本框 8">
            <a:extLst>
              <a:ext uri="{FF2B5EF4-FFF2-40B4-BE49-F238E27FC236}">
                <a16:creationId xmlns:a16="http://schemas.microsoft.com/office/drawing/2014/main" id="{5B369FAE-894B-A651-7F4A-13A2857C9C9A}"/>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32E67B95-A5E8-2084-DB14-0ABA6F4BAAC3}"/>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1" name="文本框 10">
            <a:extLst>
              <a:ext uri="{FF2B5EF4-FFF2-40B4-BE49-F238E27FC236}">
                <a16:creationId xmlns:a16="http://schemas.microsoft.com/office/drawing/2014/main" id="{8D70E416-837F-6276-7849-C773F10D0FDD}"/>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2" name="文本框 11">
            <a:extLst>
              <a:ext uri="{FF2B5EF4-FFF2-40B4-BE49-F238E27FC236}">
                <a16:creationId xmlns:a16="http://schemas.microsoft.com/office/drawing/2014/main" id="{6BC77ABF-76C3-E93F-72EE-6C2ED7A156A6}"/>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3" name="文本框 12">
            <a:extLst>
              <a:ext uri="{FF2B5EF4-FFF2-40B4-BE49-F238E27FC236}">
                <a16:creationId xmlns:a16="http://schemas.microsoft.com/office/drawing/2014/main" id="{58F11516-7BD1-6A77-8925-35996A92CCF2}"/>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DE1DDDB0-7CA4-7A82-A06D-65FD22768ABB}"/>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AA190318-6462-A599-4207-C7769716AA1A}"/>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66095FB8-7876-AB74-EF5C-A81A96F537B8}"/>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6EC0A56D-BDC7-037C-4143-B8EE75E42DC6}"/>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BD0CE56A-E8A9-3024-2CFA-A0E125407B3F}"/>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3E7DFF04-3C0F-8FBA-3208-74A6D632B127}"/>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F95DA000-5B7E-E7AB-6819-3ABF0E8EA7D3}"/>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5276CC28-E2EE-D32C-089C-6DCD72CAC099}"/>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2" name="文本框 21">
            <a:extLst>
              <a:ext uri="{FF2B5EF4-FFF2-40B4-BE49-F238E27FC236}">
                <a16:creationId xmlns:a16="http://schemas.microsoft.com/office/drawing/2014/main" id="{AD6FC2F6-AF6D-08DD-B4D7-9515FA122605}"/>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3" name="文本框 22">
            <a:extLst>
              <a:ext uri="{FF2B5EF4-FFF2-40B4-BE49-F238E27FC236}">
                <a16:creationId xmlns:a16="http://schemas.microsoft.com/office/drawing/2014/main" id="{CF2D6188-016E-C58C-2176-0ED7E29F91D5}"/>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AE87376B-460D-2611-7EFB-BAF06BDE7C58}"/>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9C3C38B8-4E6F-7072-65E8-F193C828EB4B}"/>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6" name="文本框 25">
            <a:extLst>
              <a:ext uri="{FF2B5EF4-FFF2-40B4-BE49-F238E27FC236}">
                <a16:creationId xmlns:a16="http://schemas.microsoft.com/office/drawing/2014/main" id="{D6E7F8FF-CF66-4D04-0E58-DC6C192E340E}"/>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7EDFCD44-ABC5-7687-6303-45C4AD5B563B}"/>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6A7738B0-D382-2C0E-1CEA-0807AC217CCF}"/>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A12AB951-899B-9229-BF81-B7C85D726D78}"/>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09E48E7D-E9BF-4F00-42CA-5C007BA2D214}"/>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499A94F5-0EDC-93BE-7242-9442DE1B460D}"/>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FBDF45D7-D95C-33D1-67B5-D8EE36440B3C}"/>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FE6696B0-190E-B319-6165-DC17B2F2F39B}"/>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E8B74EB6-1C60-E609-4E5C-CD714C069F72}"/>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CC595BBE-F6C1-ADC8-B180-C819FF63E05E}"/>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839BBE01-BDCB-2481-B4CB-E5FF579C00AC}"/>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1EC0DF5C-DD52-4719-6C9B-15726C988772}"/>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59551337-40DF-863A-47A7-542F50DACE1E}"/>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7EDDB12C-DB99-0F0B-430C-950A393ED9CB}"/>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E9E55C00-E785-3633-FB11-35DDCA9A4854}"/>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41" name="矩形 40">
            <a:extLst>
              <a:ext uri="{FF2B5EF4-FFF2-40B4-BE49-F238E27FC236}">
                <a16:creationId xmlns:a16="http://schemas.microsoft.com/office/drawing/2014/main" id="{FBCC09EE-89AC-463C-E44C-535B21C26038}"/>
              </a:ext>
            </a:extLst>
          </p:cNvPr>
          <p:cNvSpPr/>
          <p:nvPr/>
        </p:nvSpPr>
        <p:spPr>
          <a:xfrm>
            <a:off x="215515" y="3670832"/>
            <a:ext cx="2805769" cy="14489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F3827229-CB63-7E86-FAA1-7CEDE299AA2E}"/>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135">
            <a:extLst>
              <a:ext uri="{FF2B5EF4-FFF2-40B4-BE49-F238E27FC236}">
                <a16:creationId xmlns:a16="http://schemas.microsoft.com/office/drawing/2014/main" id="{51306F45-7EC6-AF11-C57D-A2DD0297EF68}"/>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1A2B70DD-2D21-B3B9-F3F9-9F16D59C5501}"/>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5" name="文本框 44">
            <a:extLst>
              <a:ext uri="{FF2B5EF4-FFF2-40B4-BE49-F238E27FC236}">
                <a16:creationId xmlns:a16="http://schemas.microsoft.com/office/drawing/2014/main" id="{2C18B6F4-73E9-EA47-8908-ED521C2D82AD}"/>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6" name="直接连接符 138">
            <a:extLst>
              <a:ext uri="{FF2B5EF4-FFF2-40B4-BE49-F238E27FC236}">
                <a16:creationId xmlns:a16="http://schemas.microsoft.com/office/drawing/2014/main" id="{981F1FE7-1426-026B-9041-7C55E423AD6F}"/>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139">
            <a:extLst>
              <a:ext uri="{FF2B5EF4-FFF2-40B4-BE49-F238E27FC236}">
                <a16:creationId xmlns:a16="http://schemas.microsoft.com/office/drawing/2014/main" id="{D0E1BBA6-A3FE-802B-4CB0-8A84F4D928AC}"/>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140">
            <a:extLst>
              <a:ext uri="{FF2B5EF4-FFF2-40B4-BE49-F238E27FC236}">
                <a16:creationId xmlns:a16="http://schemas.microsoft.com/office/drawing/2014/main" id="{DAFA62D1-5713-A864-6F55-9EF71525EDCF}"/>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141">
            <a:extLst>
              <a:ext uri="{FF2B5EF4-FFF2-40B4-BE49-F238E27FC236}">
                <a16:creationId xmlns:a16="http://schemas.microsoft.com/office/drawing/2014/main" id="{F6003633-4562-4285-71DF-2882436DBBD3}"/>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66590BDB-37CC-628F-63C6-30FE4EB531FC}"/>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143">
            <a:extLst>
              <a:ext uri="{FF2B5EF4-FFF2-40B4-BE49-F238E27FC236}">
                <a16:creationId xmlns:a16="http://schemas.microsoft.com/office/drawing/2014/main" id="{5DE42B5B-40A2-F044-DE01-34E9F2983DC3}"/>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组合 51">
            <a:extLst>
              <a:ext uri="{FF2B5EF4-FFF2-40B4-BE49-F238E27FC236}">
                <a16:creationId xmlns:a16="http://schemas.microsoft.com/office/drawing/2014/main" id="{FEB54F59-AEBE-9AE5-6255-C887882AA56A}"/>
              </a:ext>
            </a:extLst>
          </p:cNvPr>
          <p:cNvGrpSpPr/>
          <p:nvPr/>
        </p:nvGrpSpPr>
        <p:grpSpPr>
          <a:xfrm flipV="1">
            <a:off x="3621899" y="1429279"/>
            <a:ext cx="518053" cy="94821"/>
            <a:chOff x="3621899" y="1429279"/>
            <a:chExt cx="518053" cy="94821"/>
          </a:xfrm>
        </p:grpSpPr>
        <p:cxnSp>
          <p:nvCxnSpPr>
            <p:cNvPr id="53" name="直接连接符 145">
              <a:extLst>
                <a:ext uri="{FF2B5EF4-FFF2-40B4-BE49-F238E27FC236}">
                  <a16:creationId xmlns:a16="http://schemas.microsoft.com/office/drawing/2014/main" id="{471F885E-2B5D-77CE-69B1-55C72348CB84}"/>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46">
              <a:extLst>
                <a:ext uri="{FF2B5EF4-FFF2-40B4-BE49-F238E27FC236}">
                  <a16:creationId xmlns:a16="http://schemas.microsoft.com/office/drawing/2014/main" id="{B08CC4F5-C994-C30D-94B7-D398141329B1}"/>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147">
            <a:extLst>
              <a:ext uri="{FF2B5EF4-FFF2-40B4-BE49-F238E27FC236}">
                <a16:creationId xmlns:a16="http://schemas.microsoft.com/office/drawing/2014/main" id="{932618EA-07AB-047C-3D41-29E469DC3695}"/>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48">
            <a:extLst>
              <a:ext uri="{FF2B5EF4-FFF2-40B4-BE49-F238E27FC236}">
                <a16:creationId xmlns:a16="http://schemas.microsoft.com/office/drawing/2014/main" id="{EAE50D6A-4B15-70E1-C0B9-00719DE17797}"/>
              </a:ext>
            </a:extLst>
          </p:cNvPr>
          <p:cNvCxnSpPr/>
          <p:nvPr/>
        </p:nvCxnSpPr>
        <p:spPr>
          <a:xfrm flipH="1">
            <a:off x="4570801" y="89668"/>
            <a:ext cx="1199" cy="3048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7AD36C45-2036-5013-EC50-E446346A602B}"/>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8" name="文本框 57">
            <a:extLst>
              <a:ext uri="{FF2B5EF4-FFF2-40B4-BE49-F238E27FC236}">
                <a16:creationId xmlns:a16="http://schemas.microsoft.com/office/drawing/2014/main" id="{FF7AEE73-ECF0-0BA6-6159-2B213547CDAF}"/>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59" name="直接箭头连接符 152">
            <a:extLst>
              <a:ext uri="{FF2B5EF4-FFF2-40B4-BE49-F238E27FC236}">
                <a16:creationId xmlns:a16="http://schemas.microsoft.com/office/drawing/2014/main" id="{62B7834E-B7C8-224E-962C-18B2EBB9977D}"/>
              </a:ext>
            </a:extLst>
          </p:cNvPr>
          <p:cNvCxnSpPr>
            <a:stCxn id="57"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D9401D72-552B-50FD-696D-AD31CDC37B59}"/>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sp>
        <p:nvSpPr>
          <p:cNvPr id="61" name="文本框 60">
            <a:extLst>
              <a:ext uri="{FF2B5EF4-FFF2-40B4-BE49-F238E27FC236}">
                <a16:creationId xmlns:a16="http://schemas.microsoft.com/office/drawing/2014/main" id="{1267AE2C-39EB-3AC0-A56E-E51DDABEC4B2}"/>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2" name="椭圆 61">
            <a:extLst>
              <a:ext uri="{FF2B5EF4-FFF2-40B4-BE49-F238E27FC236}">
                <a16:creationId xmlns:a16="http://schemas.microsoft.com/office/drawing/2014/main" id="{8F0814D5-3386-5D33-4C72-E9412A4C456B}"/>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16AB76B4-DED7-BA62-5711-FAFAAFB4F672}"/>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75342007-4920-4CDA-6547-7B519B99270F}"/>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EC37357C-723E-3FDB-2B20-AD10B483B63D}"/>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箭头连接符 164">
            <a:extLst>
              <a:ext uri="{FF2B5EF4-FFF2-40B4-BE49-F238E27FC236}">
                <a16:creationId xmlns:a16="http://schemas.microsoft.com/office/drawing/2014/main" id="{F4F24DAF-94FA-C555-FEDB-7B53C4C4B050}"/>
              </a:ext>
            </a:extLst>
          </p:cNvPr>
          <p:cNvCxnSpPr/>
          <p:nvPr/>
        </p:nvCxnSpPr>
        <p:spPr>
          <a:xfrm flipV="1">
            <a:off x="1954901" y="3222751"/>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517C962E-42BF-C747-C1B6-80E73241F514}"/>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sp>
        <p:nvSpPr>
          <p:cNvPr id="68" name="矩形 67">
            <a:extLst>
              <a:ext uri="{FF2B5EF4-FFF2-40B4-BE49-F238E27FC236}">
                <a16:creationId xmlns:a16="http://schemas.microsoft.com/office/drawing/2014/main" id="{9222580A-654A-E480-4D76-0A97CD2128AE}"/>
              </a:ext>
            </a:extLst>
          </p:cNvPr>
          <p:cNvSpPr/>
          <p:nvPr/>
        </p:nvSpPr>
        <p:spPr>
          <a:xfrm>
            <a:off x="4769169" y="836712"/>
            <a:ext cx="4374831" cy="4247317"/>
          </a:xfrm>
          <a:prstGeom prst="rect">
            <a:avLst/>
          </a:prstGeom>
        </p:spPr>
        <p:txBody>
          <a:bodyPr wrap="square">
            <a:spAutoFit/>
          </a:bodyPr>
          <a:lstStyle/>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r>
              <a:rPr lang="zh-CN" altLang="en-US" dirty="0"/>
              <a:t>下一步去哪里呢？</a:t>
            </a:r>
            <a:endParaRPr lang="en-US" altLang="zh-CN" dirty="0"/>
          </a:p>
          <a:p>
            <a:r>
              <a:rPr lang="en-US" altLang="zh-CN" dirty="0"/>
              <a:t>b-c</a:t>
            </a:r>
            <a:r>
              <a:rPr lang="zh-CN" altLang="en-US" dirty="0"/>
              <a:t>外加电场不欢迎我们过去，算了，从基极走吧</a:t>
            </a:r>
            <a:r>
              <a:rPr lang="en-US" altLang="zh-CN" dirty="0"/>
              <a:t>! :P</a:t>
            </a:r>
          </a:p>
          <a:p>
            <a:endParaRPr lang="en-US" altLang="zh-CN" dirty="0"/>
          </a:p>
          <a:p>
            <a:r>
              <a:rPr lang="en-US" altLang="zh-CN" b="1" dirty="0"/>
              <a:t>V</a:t>
            </a:r>
            <a:r>
              <a:rPr lang="en-US" altLang="zh-CN" b="1" baseline="-25000" dirty="0"/>
              <a:t>CE </a:t>
            </a:r>
            <a:r>
              <a:rPr lang="en-US" altLang="zh-CN" b="1" dirty="0"/>
              <a:t>&gt; V</a:t>
            </a:r>
            <a:r>
              <a:rPr lang="en-US" altLang="zh-CN" b="1" baseline="-25000" dirty="0"/>
              <a:t>T’ </a:t>
            </a:r>
            <a:r>
              <a:rPr lang="en-US" altLang="zh-CN" dirty="0"/>
              <a:t>:</a:t>
            </a:r>
          </a:p>
          <a:p>
            <a:r>
              <a:rPr lang="zh-CN" altLang="en-US" dirty="0"/>
              <a:t>咦？</a:t>
            </a:r>
            <a:r>
              <a:rPr lang="en-US" altLang="zh-CN" dirty="0"/>
              <a:t>b-c</a:t>
            </a:r>
            <a:r>
              <a:rPr lang="zh-CN" altLang="en-US" dirty="0"/>
              <a:t>外加电场减弱了？不跟你们挤基极了，我要去集电极啦！</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c</a:t>
            </a:r>
            <a:r>
              <a:rPr lang="en-US" altLang="zh-CN" baseline="-25000" dirty="0"/>
              <a:t> </a:t>
            </a:r>
            <a:r>
              <a:rPr lang="en-US" altLang="zh-CN" dirty="0">
                <a:latin typeface="宋体" panose="02010600030101010101" pitchFamily="2" charset="-122"/>
              </a:rPr>
              <a:t>&gt; </a:t>
            </a:r>
            <a:r>
              <a:rPr lang="en-US" altLang="zh-CN" dirty="0"/>
              <a:t>0</a:t>
            </a:r>
            <a:endParaRPr lang="zh-CN" altLang="en-US" dirty="0"/>
          </a:p>
          <a:p>
            <a:endParaRPr lang="en-US" altLang="zh-CN" dirty="0"/>
          </a:p>
          <a:p>
            <a:r>
              <a:rPr lang="en-US" altLang="zh-CN" b="1" dirty="0"/>
              <a:t>V</a:t>
            </a:r>
            <a:r>
              <a:rPr lang="en-US" altLang="zh-CN" b="1" baseline="-25000" dirty="0"/>
              <a:t>CE </a:t>
            </a:r>
            <a:r>
              <a:rPr lang="zh-CN" altLang="en-US" b="1" dirty="0"/>
              <a:t>继续增加</a:t>
            </a:r>
            <a:r>
              <a:rPr lang="en-US" altLang="zh-CN" b="1" dirty="0"/>
              <a:t> </a:t>
            </a:r>
            <a:r>
              <a:rPr lang="en-US" altLang="zh-CN" dirty="0"/>
              <a:t>:</a:t>
            </a:r>
          </a:p>
          <a:p>
            <a:r>
              <a:rPr lang="zh-CN" altLang="en-US" dirty="0"/>
              <a:t>风向变啦！</a:t>
            </a:r>
            <a:r>
              <a:rPr lang="en-US" altLang="zh-CN" dirty="0"/>
              <a:t>b-c</a:t>
            </a:r>
            <a:r>
              <a:rPr lang="zh-CN" altLang="en-US" dirty="0"/>
              <a:t>外加电场集电极大大地欢迎我们呢！兄弟们上！</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b</a:t>
            </a:r>
            <a:r>
              <a:rPr lang="zh-CN" altLang="en-US" dirty="0"/>
              <a:t>减小，</a:t>
            </a:r>
            <a:r>
              <a:rPr lang="en-US" altLang="zh-CN" dirty="0" err="1"/>
              <a:t>I</a:t>
            </a:r>
            <a:r>
              <a:rPr lang="en-US" altLang="zh-CN" baseline="-25000" dirty="0" err="1"/>
              <a:t>c</a:t>
            </a:r>
            <a:r>
              <a:rPr lang="zh-CN" altLang="en-US" dirty="0"/>
              <a:t>增加</a:t>
            </a:r>
            <a:endParaRPr lang="en-US" altLang="zh-CN" dirty="0"/>
          </a:p>
          <a:p>
            <a:endParaRPr lang="en-US" altLang="zh-CN" dirty="0"/>
          </a:p>
        </p:txBody>
      </p:sp>
      <p:cxnSp>
        <p:nvCxnSpPr>
          <p:cNvPr id="69" name="直接箭头连接符 92">
            <a:extLst>
              <a:ext uri="{FF2B5EF4-FFF2-40B4-BE49-F238E27FC236}">
                <a16:creationId xmlns:a16="http://schemas.microsoft.com/office/drawing/2014/main" id="{FE362127-1AAE-F8B4-C4CA-042F0A9F1581}"/>
              </a:ext>
            </a:extLst>
          </p:cNvPr>
          <p:cNvCxnSpPr/>
          <p:nvPr/>
        </p:nvCxnSpPr>
        <p:spPr>
          <a:xfrm flipH="1">
            <a:off x="1007604" y="3254827"/>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95">
            <a:extLst>
              <a:ext uri="{FF2B5EF4-FFF2-40B4-BE49-F238E27FC236}">
                <a16:creationId xmlns:a16="http://schemas.microsoft.com/office/drawing/2014/main" id="{7DC5C746-5F02-D2A3-6D54-DB360BB96368}"/>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7510D5BC-32C4-4097-3F42-D4158C628104}"/>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2" name="直接箭头连接符 98">
            <a:extLst>
              <a:ext uri="{FF2B5EF4-FFF2-40B4-BE49-F238E27FC236}">
                <a16:creationId xmlns:a16="http://schemas.microsoft.com/office/drawing/2014/main" id="{03EF5B51-5BA0-3B4F-4CF2-9C46AFA02708}"/>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2077539F-2ECA-9178-9189-DA68E289431B}"/>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4" name="直接箭头连接符 115">
            <a:extLst>
              <a:ext uri="{FF2B5EF4-FFF2-40B4-BE49-F238E27FC236}">
                <a16:creationId xmlns:a16="http://schemas.microsoft.com/office/drawing/2014/main" id="{90F1A74D-A171-4875-417A-F84E2BB575DB}"/>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4EF733AA-05A4-6A60-3B67-7E8F0B03E0DE}"/>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grpSp>
        <p:nvGrpSpPr>
          <p:cNvPr id="76" name="组合 75">
            <a:extLst>
              <a:ext uri="{FF2B5EF4-FFF2-40B4-BE49-F238E27FC236}">
                <a16:creationId xmlns:a16="http://schemas.microsoft.com/office/drawing/2014/main" id="{B6061859-F385-94CC-BCA7-5DDAEB460BD0}"/>
              </a:ext>
            </a:extLst>
          </p:cNvPr>
          <p:cNvGrpSpPr/>
          <p:nvPr/>
        </p:nvGrpSpPr>
        <p:grpSpPr>
          <a:xfrm flipV="1">
            <a:off x="4319972" y="3154159"/>
            <a:ext cx="518053" cy="94821"/>
            <a:chOff x="3621899" y="1429279"/>
            <a:chExt cx="518053" cy="94821"/>
          </a:xfrm>
        </p:grpSpPr>
        <p:cxnSp>
          <p:nvCxnSpPr>
            <p:cNvPr id="77" name="直接连接符 118">
              <a:extLst>
                <a:ext uri="{FF2B5EF4-FFF2-40B4-BE49-F238E27FC236}">
                  <a16:creationId xmlns:a16="http://schemas.microsoft.com/office/drawing/2014/main" id="{CB10398E-792E-52DE-A71C-7D914358E8F8}"/>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119">
              <a:extLst>
                <a:ext uri="{FF2B5EF4-FFF2-40B4-BE49-F238E27FC236}">
                  <a16:creationId xmlns:a16="http://schemas.microsoft.com/office/drawing/2014/main" id="{08029E3F-5A21-BBBD-448E-4C78D36D2D95}"/>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9" name="直接连接符 120">
            <a:extLst>
              <a:ext uri="{FF2B5EF4-FFF2-40B4-BE49-F238E27FC236}">
                <a16:creationId xmlns:a16="http://schemas.microsoft.com/office/drawing/2014/main" id="{A94C9AD5-D573-D7F2-E42C-8760CE13C07F}"/>
              </a:ext>
            </a:extLst>
          </p:cNvPr>
          <p:cNvCxnSpPr/>
          <p:nvPr/>
        </p:nvCxnSpPr>
        <p:spPr>
          <a:xfrm>
            <a:off x="4572000" y="3247450"/>
            <a:ext cx="3499" cy="31231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箭头连接符 161">
            <a:extLst>
              <a:ext uri="{FF2B5EF4-FFF2-40B4-BE49-F238E27FC236}">
                <a16:creationId xmlns:a16="http://schemas.microsoft.com/office/drawing/2014/main" id="{FC433F5C-E94A-B51E-46CD-CC1B2A670BC4}"/>
              </a:ext>
            </a:extLst>
          </p:cNvPr>
          <p:cNvCxnSpPr/>
          <p:nvPr/>
        </p:nvCxnSpPr>
        <p:spPr>
          <a:xfrm flipV="1">
            <a:off x="3203848" y="3899837"/>
            <a:ext cx="0" cy="57327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椭圆 80">
            <a:extLst>
              <a:ext uri="{FF2B5EF4-FFF2-40B4-BE49-F238E27FC236}">
                <a16:creationId xmlns:a16="http://schemas.microsoft.com/office/drawing/2014/main" id="{0F4AC6BA-CA76-F9AA-D970-C510CF797E0F}"/>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 name="直接箭头连接符 168">
            <a:extLst>
              <a:ext uri="{FF2B5EF4-FFF2-40B4-BE49-F238E27FC236}">
                <a16:creationId xmlns:a16="http://schemas.microsoft.com/office/drawing/2014/main" id="{FE4AF031-8D11-EA71-E8E5-C692E07A2C4F}"/>
              </a:ext>
            </a:extLst>
          </p:cNvPr>
          <p:cNvCxnSpPr/>
          <p:nvPr/>
        </p:nvCxnSpPr>
        <p:spPr>
          <a:xfrm flipV="1">
            <a:off x="1467293" y="2962447"/>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169">
            <a:extLst>
              <a:ext uri="{FF2B5EF4-FFF2-40B4-BE49-F238E27FC236}">
                <a16:creationId xmlns:a16="http://schemas.microsoft.com/office/drawing/2014/main" id="{41E29F4F-5922-09CD-50C1-79F8346CDEBB}"/>
              </a:ext>
            </a:extLst>
          </p:cNvPr>
          <p:cNvCxnSpPr/>
          <p:nvPr/>
        </p:nvCxnSpPr>
        <p:spPr>
          <a:xfrm flipH="1">
            <a:off x="2087724" y="352145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DC9C4D12-780E-437C-94DB-BC477C4BC981}"/>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cxnSp>
        <p:nvCxnSpPr>
          <p:cNvPr id="85" name="直接箭头连接符 124">
            <a:extLst>
              <a:ext uri="{FF2B5EF4-FFF2-40B4-BE49-F238E27FC236}">
                <a16:creationId xmlns:a16="http://schemas.microsoft.com/office/drawing/2014/main" id="{90ADB39A-A207-20EF-B39B-4EDF7A70EB88}"/>
              </a:ext>
            </a:extLst>
          </p:cNvPr>
          <p:cNvCxnSpPr/>
          <p:nvPr/>
        </p:nvCxnSpPr>
        <p:spPr>
          <a:xfrm>
            <a:off x="789710" y="2996952"/>
            <a:ext cx="1312023" cy="179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567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29</a:t>
            </a:fld>
            <a:r>
              <a:rPr lang="en-US" altLang="zh-CN" dirty="0"/>
              <a:t>/33</a:t>
            </a:r>
            <a:endParaRPr lang="en-US" dirty="0"/>
          </a:p>
        </p:txBody>
      </p:sp>
      <p:sp>
        <p:nvSpPr>
          <p:cNvPr id="2" name="矩形 1">
            <a:extLst>
              <a:ext uri="{FF2B5EF4-FFF2-40B4-BE49-F238E27FC236}">
                <a16:creationId xmlns:a16="http://schemas.microsoft.com/office/drawing/2014/main" id="{F9845964-36FC-FEBE-5AC4-7FB25AA28368}"/>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55D8ADEC-CB7D-D9E2-D8B3-AF949FCFB29E}"/>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95CC8DC-CB43-9C5B-4729-0417B7B1B498}"/>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5884E4B8-4866-D09F-B994-9929D2911D97}"/>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 name="文本框 7">
            <a:extLst>
              <a:ext uri="{FF2B5EF4-FFF2-40B4-BE49-F238E27FC236}">
                <a16:creationId xmlns:a16="http://schemas.microsoft.com/office/drawing/2014/main" id="{CFBEF2A7-83C2-55FE-4150-C2B54926B4EF}"/>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 name="文本框 8">
            <a:extLst>
              <a:ext uri="{FF2B5EF4-FFF2-40B4-BE49-F238E27FC236}">
                <a16:creationId xmlns:a16="http://schemas.microsoft.com/office/drawing/2014/main" id="{85DC9224-C4CC-05E2-694D-727D14D0739A}"/>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F17464C1-26EF-8A2A-1FAF-C94C8BEA3FC0}"/>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1" name="文本框 10">
            <a:extLst>
              <a:ext uri="{FF2B5EF4-FFF2-40B4-BE49-F238E27FC236}">
                <a16:creationId xmlns:a16="http://schemas.microsoft.com/office/drawing/2014/main" id="{0787EAC7-B18E-D0E4-C324-9D1EB236451F}"/>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2" name="文本框 11">
            <a:extLst>
              <a:ext uri="{FF2B5EF4-FFF2-40B4-BE49-F238E27FC236}">
                <a16:creationId xmlns:a16="http://schemas.microsoft.com/office/drawing/2014/main" id="{1DCD6175-9FF6-C731-E5DA-740B3CC6F739}"/>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3" name="文本框 12">
            <a:extLst>
              <a:ext uri="{FF2B5EF4-FFF2-40B4-BE49-F238E27FC236}">
                <a16:creationId xmlns:a16="http://schemas.microsoft.com/office/drawing/2014/main" id="{5E09FD40-2918-A2C3-181A-C69E65D74088}"/>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59D45544-5BAA-E2B6-2C05-20A363901DEE}"/>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48D860E5-3EAA-278E-4399-1CCB770482D9}"/>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50B376CE-5D99-C460-4A04-B9CD68686DD4}"/>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12542009-14AB-6AF4-4DFC-33BA9F84868A}"/>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7C761344-6F8C-FDBB-A1E5-A268DE8932CB}"/>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0CDC0AED-40FA-2416-7188-64A0CD2AB7ED}"/>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0705CDEC-79C5-A09C-0273-71AC40969A20}"/>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C26F7BBE-018D-E92B-655C-5B2523DD7C01}"/>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2" name="文本框 21">
            <a:extLst>
              <a:ext uri="{FF2B5EF4-FFF2-40B4-BE49-F238E27FC236}">
                <a16:creationId xmlns:a16="http://schemas.microsoft.com/office/drawing/2014/main" id="{9B43873B-F964-5E29-676A-863A9918E3B7}"/>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3" name="文本框 22">
            <a:extLst>
              <a:ext uri="{FF2B5EF4-FFF2-40B4-BE49-F238E27FC236}">
                <a16:creationId xmlns:a16="http://schemas.microsoft.com/office/drawing/2014/main" id="{8EC720A1-BDD0-5B5C-E2A8-BB33F0508B50}"/>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6E922658-3917-EA8D-ED32-05DCE9379950}"/>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84216F46-CFD4-34F1-CF63-0D931344A568}"/>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385D116B-9F12-647E-2D6A-7FB45EA9AC3A}"/>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4D2D72BD-A15E-3B79-D8A0-80BCE8C20406}"/>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8" name="文本框 27">
            <a:extLst>
              <a:ext uri="{FF2B5EF4-FFF2-40B4-BE49-F238E27FC236}">
                <a16:creationId xmlns:a16="http://schemas.microsoft.com/office/drawing/2014/main" id="{4B6042BF-B030-9644-196C-406FC8E5906C}"/>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10515DD4-8F83-1F4F-0A17-C5857E2AB25F}"/>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0" name="文本框 29">
            <a:extLst>
              <a:ext uri="{FF2B5EF4-FFF2-40B4-BE49-F238E27FC236}">
                <a16:creationId xmlns:a16="http://schemas.microsoft.com/office/drawing/2014/main" id="{F1493521-31F1-1C74-E13B-1B8CFAF0D430}"/>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F0075AFB-6E5D-04DB-3337-413AA87FBB73}"/>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53974668-7FAA-5038-E801-E7C439BC8F17}"/>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DFBE5B5F-2096-E222-F35D-6163E1263853}"/>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7F7F23D4-8F15-EEB7-9A01-4425717D00B4}"/>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FCF6FE5A-422D-19F8-D4E8-8BDCAEF12088}"/>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5E989CEA-1288-9779-BDA4-61EEECEDB29F}"/>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877A5E8C-1D9C-06B4-9A84-39C626C82CC2}"/>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38" name="矩形 37">
            <a:extLst>
              <a:ext uri="{FF2B5EF4-FFF2-40B4-BE49-F238E27FC236}">
                <a16:creationId xmlns:a16="http://schemas.microsoft.com/office/drawing/2014/main" id="{1D938A09-02D7-B9B8-2238-CAD232062155}"/>
              </a:ext>
            </a:extLst>
          </p:cNvPr>
          <p:cNvSpPr/>
          <p:nvPr/>
        </p:nvSpPr>
        <p:spPr>
          <a:xfrm>
            <a:off x="215515" y="3670832"/>
            <a:ext cx="2805769" cy="14489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6766FA2D-3744-DD1A-533D-54D47D6C3AC4}"/>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5C007DBC-2A0C-2DF8-43DF-8410113ACEA9}"/>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1" name="文本框 40">
            <a:extLst>
              <a:ext uri="{FF2B5EF4-FFF2-40B4-BE49-F238E27FC236}">
                <a16:creationId xmlns:a16="http://schemas.microsoft.com/office/drawing/2014/main" id="{45A8877B-EBBC-047D-C447-4AFA31CE9C4B}"/>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2" name="直接连接符 138">
            <a:extLst>
              <a:ext uri="{FF2B5EF4-FFF2-40B4-BE49-F238E27FC236}">
                <a16:creationId xmlns:a16="http://schemas.microsoft.com/office/drawing/2014/main" id="{025621B4-E653-4517-62F4-673A2CA4003C}"/>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139">
            <a:extLst>
              <a:ext uri="{FF2B5EF4-FFF2-40B4-BE49-F238E27FC236}">
                <a16:creationId xmlns:a16="http://schemas.microsoft.com/office/drawing/2014/main" id="{3F2A35A8-148D-1168-9FFF-464446C33EF7}"/>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140">
            <a:extLst>
              <a:ext uri="{FF2B5EF4-FFF2-40B4-BE49-F238E27FC236}">
                <a16:creationId xmlns:a16="http://schemas.microsoft.com/office/drawing/2014/main" id="{ED862771-BA48-3941-C3E2-A5B8E5204EE2}"/>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141">
            <a:extLst>
              <a:ext uri="{FF2B5EF4-FFF2-40B4-BE49-F238E27FC236}">
                <a16:creationId xmlns:a16="http://schemas.microsoft.com/office/drawing/2014/main" id="{03554A6B-1A0B-5061-25C5-82C1CA253E94}"/>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D688A059-8670-B7C0-97B9-A40B5A2975F5}"/>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连接符 143">
            <a:extLst>
              <a:ext uri="{FF2B5EF4-FFF2-40B4-BE49-F238E27FC236}">
                <a16:creationId xmlns:a16="http://schemas.microsoft.com/office/drawing/2014/main" id="{174E804A-4E1B-6FDF-5D42-F3594E0FD63E}"/>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 name="组合 47">
            <a:extLst>
              <a:ext uri="{FF2B5EF4-FFF2-40B4-BE49-F238E27FC236}">
                <a16:creationId xmlns:a16="http://schemas.microsoft.com/office/drawing/2014/main" id="{69BD38E3-9293-3035-40A3-2168DDDCAC67}"/>
              </a:ext>
            </a:extLst>
          </p:cNvPr>
          <p:cNvGrpSpPr/>
          <p:nvPr/>
        </p:nvGrpSpPr>
        <p:grpSpPr>
          <a:xfrm flipV="1">
            <a:off x="3621899" y="1429279"/>
            <a:ext cx="518053" cy="94821"/>
            <a:chOff x="3621899" y="1429279"/>
            <a:chExt cx="518053" cy="94821"/>
          </a:xfrm>
        </p:grpSpPr>
        <p:cxnSp>
          <p:nvCxnSpPr>
            <p:cNvPr id="49" name="直接连接符 145">
              <a:extLst>
                <a:ext uri="{FF2B5EF4-FFF2-40B4-BE49-F238E27FC236}">
                  <a16:creationId xmlns:a16="http://schemas.microsoft.com/office/drawing/2014/main" id="{0343C7F5-EE1D-C985-E0AC-7D2D73B4F5C5}"/>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146">
              <a:extLst>
                <a:ext uri="{FF2B5EF4-FFF2-40B4-BE49-F238E27FC236}">
                  <a16:creationId xmlns:a16="http://schemas.microsoft.com/office/drawing/2014/main" id="{808904F0-8B54-12EC-3A96-B16F37806B4D}"/>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 name="直接连接符 147">
            <a:extLst>
              <a:ext uri="{FF2B5EF4-FFF2-40B4-BE49-F238E27FC236}">
                <a16:creationId xmlns:a16="http://schemas.microsoft.com/office/drawing/2014/main" id="{94877EA8-06D5-9CE1-1CDF-3378014AA74E}"/>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48">
            <a:extLst>
              <a:ext uri="{FF2B5EF4-FFF2-40B4-BE49-F238E27FC236}">
                <a16:creationId xmlns:a16="http://schemas.microsoft.com/office/drawing/2014/main" id="{ED29329A-9C1D-4914-B9AC-9D056DF71BE1}"/>
              </a:ext>
            </a:extLst>
          </p:cNvPr>
          <p:cNvCxnSpPr/>
          <p:nvPr/>
        </p:nvCxnSpPr>
        <p:spPr>
          <a:xfrm flipH="1">
            <a:off x="4570801" y="89668"/>
            <a:ext cx="1199" cy="3048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24FD11B1-F3C0-FB9A-1822-A34FAD0E623D}"/>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54" name="直接箭头连接符 152">
            <a:extLst>
              <a:ext uri="{FF2B5EF4-FFF2-40B4-BE49-F238E27FC236}">
                <a16:creationId xmlns:a16="http://schemas.microsoft.com/office/drawing/2014/main" id="{86D937CB-F603-5B12-66C9-4011132E4BAD}"/>
              </a:ext>
            </a:extLst>
          </p:cNvPr>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032BE2A9-8945-AD85-9EEC-37EED77EBAB2}"/>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sp>
        <p:nvSpPr>
          <p:cNvPr id="56" name="文本框 55">
            <a:extLst>
              <a:ext uri="{FF2B5EF4-FFF2-40B4-BE49-F238E27FC236}">
                <a16:creationId xmlns:a16="http://schemas.microsoft.com/office/drawing/2014/main" id="{CBB96574-6512-02B0-015A-3F400F1AD59D}"/>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sp>
        <p:nvSpPr>
          <p:cNvPr id="57" name="矩形 56">
            <a:extLst>
              <a:ext uri="{FF2B5EF4-FFF2-40B4-BE49-F238E27FC236}">
                <a16:creationId xmlns:a16="http://schemas.microsoft.com/office/drawing/2014/main" id="{5D2A1F5D-21B4-ADA2-01EF-245742811335}"/>
              </a:ext>
            </a:extLst>
          </p:cNvPr>
          <p:cNvSpPr/>
          <p:nvPr/>
        </p:nvSpPr>
        <p:spPr>
          <a:xfrm>
            <a:off x="4769169" y="836712"/>
            <a:ext cx="4374831" cy="4801314"/>
          </a:xfrm>
          <a:prstGeom prst="rect">
            <a:avLst/>
          </a:prstGeom>
        </p:spPr>
        <p:txBody>
          <a:bodyPr wrap="square">
            <a:spAutoFit/>
          </a:bodyPr>
          <a:lstStyle/>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r>
              <a:rPr lang="zh-CN" altLang="en-US" dirty="0"/>
              <a:t>下一步去哪里呢？</a:t>
            </a:r>
            <a:endParaRPr lang="en-US" altLang="zh-CN" dirty="0"/>
          </a:p>
          <a:p>
            <a:r>
              <a:rPr lang="zh-CN" altLang="en-US" dirty="0"/>
              <a:t>虽然</a:t>
            </a:r>
            <a:r>
              <a:rPr lang="en-US" altLang="zh-CN" dirty="0"/>
              <a:t>b-c</a:t>
            </a:r>
            <a:r>
              <a:rPr lang="zh-CN" altLang="en-US" dirty="0"/>
              <a:t>结好窄，但是</a:t>
            </a:r>
            <a:r>
              <a:rPr lang="en-US" altLang="zh-CN" dirty="0"/>
              <a:t>b-c</a:t>
            </a:r>
            <a:r>
              <a:rPr lang="zh-CN" altLang="en-US" dirty="0"/>
              <a:t>外加电场不欢迎我们过去，算了，从基极走吧</a:t>
            </a:r>
            <a:r>
              <a:rPr lang="en-US" altLang="zh-CN" dirty="0"/>
              <a:t>! :P</a:t>
            </a:r>
          </a:p>
          <a:p>
            <a:endParaRPr lang="en-US" altLang="zh-CN" dirty="0"/>
          </a:p>
          <a:p>
            <a:r>
              <a:rPr lang="en-US" altLang="zh-CN" b="1" dirty="0"/>
              <a:t>V</a:t>
            </a:r>
            <a:r>
              <a:rPr lang="en-US" altLang="zh-CN" b="1" baseline="-25000" dirty="0"/>
              <a:t>CE </a:t>
            </a:r>
            <a:r>
              <a:rPr lang="en-US" altLang="zh-CN" b="1" dirty="0"/>
              <a:t>&gt; V</a:t>
            </a:r>
            <a:r>
              <a:rPr lang="en-US" altLang="zh-CN" b="1" baseline="-25000" dirty="0"/>
              <a:t>T’ </a:t>
            </a:r>
            <a:r>
              <a:rPr lang="en-US" altLang="zh-CN" dirty="0"/>
              <a:t>:</a:t>
            </a:r>
          </a:p>
          <a:p>
            <a:r>
              <a:rPr lang="zh-CN" altLang="en-US" dirty="0"/>
              <a:t>咦？</a:t>
            </a:r>
            <a:r>
              <a:rPr lang="en-US" altLang="zh-CN" dirty="0"/>
              <a:t>b-c</a:t>
            </a:r>
            <a:r>
              <a:rPr lang="zh-CN" altLang="en-US" dirty="0"/>
              <a:t>外加电场减弱了？不跟你们挤基极了，我要去集电极啦！</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c</a:t>
            </a:r>
            <a:r>
              <a:rPr lang="en-US" altLang="zh-CN" baseline="-25000" dirty="0"/>
              <a:t> </a:t>
            </a:r>
            <a:r>
              <a:rPr lang="en-US" altLang="zh-CN" dirty="0">
                <a:latin typeface="宋体" panose="02010600030101010101" pitchFamily="2" charset="-122"/>
              </a:rPr>
              <a:t>&gt; </a:t>
            </a:r>
            <a:r>
              <a:rPr lang="en-US" altLang="zh-CN" dirty="0"/>
              <a:t>0</a:t>
            </a:r>
            <a:endParaRPr lang="zh-CN" altLang="en-US" dirty="0"/>
          </a:p>
          <a:p>
            <a:endParaRPr lang="en-US" altLang="zh-CN" dirty="0"/>
          </a:p>
          <a:p>
            <a:r>
              <a:rPr lang="en-US" altLang="zh-CN" b="1" dirty="0"/>
              <a:t>V</a:t>
            </a:r>
            <a:r>
              <a:rPr lang="en-US" altLang="zh-CN" b="1" baseline="-25000" dirty="0"/>
              <a:t>CE </a:t>
            </a:r>
            <a:r>
              <a:rPr lang="zh-CN" altLang="en-US" b="1" dirty="0"/>
              <a:t>继续增加</a:t>
            </a:r>
            <a:r>
              <a:rPr lang="en-US" altLang="zh-CN" b="1" dirty="0"/>
              <a:t> </a:t>
            </a:r>
            <a:r>
              <a:rPr lang="en-US" altLang="zh-CN" dirty="0"/>
              <a:t>:</a:t>
            </a:r>
          </a:p>
          <a:p>
            <a:r>
              <a:rPr lang="zh-CN" altLang="en-US" dirty="0"/>
              <a:t>风向变啦！</a:t>
            </a:r>
            <a:r>
              <a:rPr lang="en-US" altLang="zh-CN" dirty="0"/>
              <a:t>b-c</a:t>
            </a:r>
            <a:r>
              <a:rPr lang="zh-CN" altLang="en-US" dirty="0"/>
              <a:t>外加电场集电极大大地欢迎我们呢！兄弟们上！</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b</a:t>
            </a:r>
            <a:r>
              <a:rPr lang="zh-CN" altLang="en-US" dirty="0"/>
              <a:t>减小，</a:t>
            </a:r>
            <a:r>
              <a:rPr lang="en-US" altLang="zh-CN" dirty="0" err="1"/>
              <a:t>I</a:t>
            </a:r>
            <a:r>
              <a:rPr lang="en-US" altLang="zh-CN" baseline="-25000" dirty="0" err="1"/>
              <a:t>c</a:t>
            </a:r>
            <a:r>
              <a:rPr lang="zh-CN" altLang="en-US" dirty="0"/>
              <a:t>增加</a:t>
            </a:r>
            <a:endParaRPr lang="en-US" altLang="zh-CN" dirty="0"/>
          </a:p>
          <a:p>
            <a:endParaRPr lang="en-US" altLang="zh-CN" dirty="0"/>
          </a:p>
          <a:p>
            <a:r>
              <a:rPr lang="en-US" altLang="zh-CN" b="1" dirty="0"/>
              <a:t>V</a:t>
            </a:r>
            <a:r>
              <a:rPr lang="en-US" altLang="zh-CN" b="1" baseline="-25000" dirty="0"/>
              <a:t>CE </a:t>
            </a:r>
            <a:r>
              <a:rPr lang="zh-CN" altLang="en-US" b="1" dirty="0"/>
              <a:t>还增加</a:t>
            </a:r>
            <a:r>
              <a:rPr lang="en-US" altLang="zh-CN" b="1" dirty="0"/>
              <a:t> </a:t>
            </a:r>
            <a:r>
              <a:rPr lang="en-US" altLang="zh-CN" dirty="0"/>
              <a:t>:</a:t>
            </a:r>
          </a:p>
          <a:p>
            <a:r>
              <a:rPr lang="zh-CN" altLang="en-US" dirty="0"/>
              <a:t>兄弟们已经都过来啦，</a:t>
            </a:r>
            <a:r>
              <a:rPr lang="en-US" altLang="zh-CN" dirty="0"/>
              <a:t> </a:t>
            </a:r>
            <a:r>
              <a:rPr lang="en-US" altLang="zh-CN" dirty="0" err="1"/>
              <a:t>I</a:t>
            </a:r>
            <a:r>
              <a:rPr lang="en-US" altLang="zh-CN" baseline="-25000" dirty="0" err="1"/>
              <a:t>c</a:t>
            </a:r>
            <a:r>
              <a:rPr lang="zh-CN" altLang="en-US" dirty="0"/>
              <a:t>没法再增高啦！</a:t>
            </a:r>
            <a:endParaRPr lang="en-US" altLang="zh-CN" dirty="0"/>
          </a:p>
        </p:txBody>
      </p:sp>
      <p:cxnSp>
        <p:nvCxnSpPr>
          <p:cNvPr id="58" name="直接箭头连接符 92">
            <a:extLst>
              <a:ext uri="{FF2B5EF4-FFF2-40B4-BE49-F238E27FC236}">
                <a16:creationId xmlns:a16="http://schemas.microsoft.com/office/drawing/2014/main" id="{D3A8A2EC-1D48-D89F-3F27-F1ABCD1BC543}"/>
              </a:ext>
            </a:extLst>
          </p:cNvPr>
          <p:cNvCxnSpPr/>
          <p:nvPr/>
        </p:nvCxnSpPr>
        <p:spPr>
          <a:xfrm flipH="1">
            <a:off x="1007604" y="3254827"/>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直接箭头连接符 98">
            <a:extLst>
              <a:ext uri="{FF2B5EF4-FFF2-40B4-BE49-F238E27FC236}">
                <a16:creationId xmlns:a16="http://schemas.microsoft.com/office/drawing/2014/main" id="{3DD91AA4-2B86-7032-AAEF-6B2E5E524066}"/>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EFA6528C-AE33-A920-22E7-A15540D2E7DF}"/>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61" name="直接箭头连接符 115">
            <a:extLst>
              <a:ext uri="{FF2B5EF4-FFF2-40B4-BE49-F238E27FC236}">
                <a16:creationId xmlns:a16="http://schemas.microsoft.com/office/drawing/2014/main" id="{6AE5D494-8918-9BB0-FD02-3C6EE57727E6}"/>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9EBC7916-7A7D-93F2-A71C-BB1FEC5ACCA5}"/>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grpSp>
        <p:nvGrpSpPr>
          <p:cNvPr id="63" name="组合 62">
            <a:extLst>
              <a:ext uri="{FF2B5EF4-FFF2-40B4-BE49-F238E27FC236}">
                <a16:creationId xmlns:a16="http://schemas.microsoft.com/office/drawing/2014/main" id="{D7C7C9CB-122A-62CD-FB21-19C131CFA3EA}"/>
              </a:ext>
            </a:extLst>
          </p:cNvPr>
          <p:cNvGrpSpPr/>
          <p:nvPr/>
        </p:nvGrpSpPr>
        <p:grpSpPr>
          <a:xfrm flipV="1">
            <a:off x="4319972" y="3154159"/>
            <a:ext cx="518053" cy="94821"/>
            <a:chOff x="3621899" y="1429279"/>
            <a:chExt cx="518053" cy="94821"/>
          </a:xfrm>
        </p:grpSpPr>
        <p:cxnSp>
          <p:nvCxnSpPr>
            <p:cNvPr id="64" name="直接连接符 118">
              <a:extLst>
                <a:ext uri="{FF2B5EF4-FFF2-40B4-BE49-F238E27FC236}">
                  <a16:creationId xmlns:a16="http://schemas.microsoft.com/office/drawing/2014/main" id="{A727C2B6-DB98-9600-0EAA-6F9FA9E99F13}"/>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119">
              <a:extLst>
                <a:ext uri="{FF2B5EF4-FFF2-40B4-BE49-F238E27FC236}">
                  <a16:creationId xmlns:a16="http://schemas.microsoft.com/office/drawing/2014/main" id="{569A1432-11E8-5932-74A3-9CF660EC73C0}"/>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直接连接符 120">
            <a:extLst>
              <a:ext uri="{FF2B5EF4-FFF2-40B4-BE49-F238E27FC236}">
                <a16:creationId xmlns:a16="http://schemas.microsoft.com/office/drawing/2014/main" id="{177E706D-C8E3-357E-3FC6-A8DB6E24D03B}"/>
              </a:ext>
            </a:extLst>
          </p:cNvPr>
          <p:cNvCxnSpPr/>
          <p:nvPr/>
        </p:nvCxnSpPr>
        <p:spPr>
          <a:xfrm>
            <a:off x="4572000" y="3247450"/>
            <a:ext cx="3499" cy="31231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箭头连接符 169">
            <a:extLst>
              <a:ext uri="{FF2B5EF4-FFF2-40B4-BE49-F238E27FC236}">
                <a16:creationId xmlns:a16="http://schemas.microsoft.com/office/drawing/2014/main" id="{10970758-69CC-0321-1F1E-A6DCD4678DFC}"/>
              </a:ext>
            </a:extLst>
          </p:cNvPr>
          <p:cNvCxnSpPr/>
          <p:nvPr/>
        </p:nvCxnSpPr>
        <p:spPr>
          <a:xfrm flipH="1">
            <a:off x="2087724" y="352145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87">
            <a:extLst>
              <a:ext uri="{FF2B5EF4-FFF2-40B4-BE49-F238E27FC236}">
                <a16:creationId xmlns:a16="http://schemas.microsoft.com/office/drawing/2014/main" id="{B4A213A0-F518-550A-820C-F1E06149CBFF}"/>
              </a:ext>
            </a:extLst>
          </p:cNvPr>
          <p:cNvCxnSpPr/>
          <p:nvPr/>
        </p:nvCxnSpPr>
        <p:spPr>
          <a:xfrm flipH="1">
            <a:off x="1417554" y="305476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122">
            <a:extLst>
              <a:ext uri="{FF2B5EF4-FFF2-40B4-BE49-F238E27FC236}">
                <a16:creationId xmlns:a16="http://schemas.microsoft.com/office/drawing/2014/main" id="{EB632019-53DC-7DE1-BAB4-C2EDF84A205E}"/>
              </a:ext>
            </a:extLst>
          </p:cNvPr>
          <p:cNvCxnSpPr/>
          <p:nvPr/>
        </p:nvCxnSpPr>
        <p:spPr>
          <a:xfrm flipV="1">
            <a:off x="3226890" y="3630523"/>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F55A7A36-2D9A-A26C-64CA-88E2783E0EE8}"/>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
        <p:nvSpPr>
          <p:cNvPr id="71" name="文本框 70">
            <a:extLst>
              <a:ext uri="{FF2B5EF4-FFF2-40B4-BE49-F238E27FC236}">
                <a16:creationId xmlns:a16="http://schemas.microsoft.com/office/drawing/2014/main" id="{B25BCA80-3582-AD4D-350C-0F684BABBAEF}"/>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72" name="文本框 71">
            <a:extLst>
              <a:ext uri="{FF2B5EF4-FFF2-40B4-BE49-F238E27FC236}">
                <a16:creationId xmlns:a16="http://schemas.microsoft.com/office/drawing/2014/main" id="{147511FE-0480-9608-AB64-4D806E0930A4}"/>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73" name="文本框 72">
            <a:extLst>
              <a:ext uri="{FF2B5EF4-FFF2-40B4-BE49-F238E27FC236}">
                <a16:creationId xmlns:a16="http://schemas.microsoft.com/office/drawing/2014/main" id="{5EA302BA-29A7-3BCE-B34C-24D602B31506}"/>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74" name="文本框 73">
            <a:extLst>
              <a:ext uri="{FF2B5EF4-FFF2-40B4-BE49-F238E27FC236}">
                <a16:creationId xmlns:a16="http://schemas.microsoft.com/office/drawing/2014/main" id="{900140C0-8139-EECA-CF3D-A4835B0A135C}"/>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cxnSp>
        <p:nvCxnSpPr>
          <p:cNvPr id="75" name="直接连接符 167">
            <a:extLst>
              <a:ext uri="{FF2B5EF4-FFF2-40B4-BE49-F238E27FC236}">
                <a16:creationId xmlns:a16="http://schemas.microsoft.com/office/drawing/2014/main" id="{83DE5823-D971-8B9A-9EF6-49F26F6E4C15}"/>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3B25D2A5-D191-781D-C816-E98C9F969BB4}"/>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11EC39F5-C8E8-8169-C861-C6ACD18E5644}"/>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8411C977-10F0-DE8B-17A4-E4C9C658AF42}"/>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12762209-21F8-DDBA-8172-8F42FE744179}"/>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0" name="直接箭头连接符 173">
            <a:extLst>
              <a:ext uri="{FF2B5EF4-FFF2-40B4-BE49-F238E27FC236}">
                <a16:creationId xmlns:a16="http://schemas.microsoft.com/office/drawing/2014/main" id="{880424D4-F160-2685-4880-8E48311C0F00}"/>
              </a:ext>
            </a:extLst>
          </p:cNvPr>
          <p:cNvCxnSpPr/>
          <p:nvPr/>
        </p:nvCxnSpPr>
        <p:spPr>
          <a:xfrm flipV="1">
            <a:off x="1954901" y="3222751"/>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174">
            <a:extLst>
              <a:ext uri="{FF2B5EF4-FFF2-40B4-BE49-F238E27FC236}">
                <a16:creationId xmlns:a16="http://schemas.microsoft.com/office/drawing/2014/main" id="{FF18EF86-18D1-5A07-5867-75BA8DCD569B}"/>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 name="矩形 81">
            <a:extLst>
              <a:ext uri="{FF2B5EF4-FFF2-40B4-BE49-F238E27FC236}">
                <a16:creationId xmlns:a16="http://schemas.microsoft.com/office/drawing/2014/main" id="{23AB04E2-D6D7-FA6F-D937-BC4F22A1181B}"/>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sp>
        <p:nvSpPr>
          <p:cNvPr id="83" name="椭圆 82">
            <a:extLst>
              <a:ext uri="{FF2B5EF4-FFF2-40B4-BE49-F238E27FC236}">
                <a16:creationId xmlns:a16="http://schemas.microsoft.com/office/drawing/2014/main" id="{7162261B-DC65-3BD7-A3F6-90E4B5ED7680}"/>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箭头连接符 178">
            <a:extLst>
              <a:ext uri="{FF2B5EF4-FFF2-40B4-BE49-F238E27FC236}">
                <a16:creationId xmlns:a16="http://schemas.microsoft.com/office/drawing/2014/main" id="{6AF3499E-8A7C-C631-F9F8-3136EC360B36}"/>
              </a:ext>
            </a:extLst>
          </p:cNvPr>
          <p:cNvCxnSpPr/>
          <p:nvPr/>
        </p:nvCxnSpPr>
        <p:spPr>
          <a:xfrm flipH="1">
            <a:off x="789036" y="2996952"/>
            <a:ext cx="674" cy="177348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BB8819DA-1E0C-7193-46E4-BE55AB3187DE}"/>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Tree>
    <p:extLst>
      <p:ext uri="{BB962C8B-B14F-4D97-AF65-F5344CB8AC3E}">
        <p14:creationId xmlns:p14="http://schemas.microsoft.com/office/powerpoint/2010/main" val="3684708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30</a:t>
            </a:fld>
            <a:r>
              <a:rPr lang="en-US" altLang="zh-CN" dirty="0"/>
              <a:t>/33</a:t>
            </a:r>
            <a:endParaRPr lang="en-US" dirty="0"/>
          </a:p>
        </p:txBody>
      </p:sp>
      <p:sp>
        <p:nvSpPr>
          <p:cNvPr id="2" name="矩形 1">
            <a:extLst>
              <a:ext uri="{FF2B5EF4-FFF2-40B4-BE49-F238E27FC236}">
                <a16:creationId xmlns:a16="http://schemas.microsoft.com/office/drawing/2014/main" id="{B4E128AA-4F28-55DD-53A2-843C9C4D3B36}"/>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D259C82-DF3F-5FF7-A14E-49F086F85F86}"/>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9393FC5-2238-B5F0-4561-E933A46A6918}"/>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EA99AB1-B7F1-33BE-18CF-B89719BBAF57}"/>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 name="文本框 7">
            <a:extLst>
              <a:ext uri="{FF2B5EF4-FFF2-40B4-BE49-F238E27FC236}">
                <a16:creationId xmlns:a16="http://schemas.microsoft.com/office/drawing/2014/main" id="{4174A743-CAAA-8F75-8945-5274FB661074}"/>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 name="文本框 8">
            <a:extLst>
              <a:ext uri="{FF2B5EF4-FFF2-40B4-BE49-F238E27FC236}">
                <a16:creationId xmlns:a16="http://schemas.microsoft.com/office/drawing/2014/main" id="{A40639EA-F976-E595-74A9-6306CF9619CC}"/>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114148EF-32B8-62C5-E974-CC9F95846AD0}"/>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1" name="文本框 10">
            <a:extLst>
              <a:ext uri="{FF2B5EF4-FFF2-40B4-BE49-F238E27FC236}">
                <a16:creationId xmlns:a16="http://schemas.microsoft.com/office/drawing/2014/main" id="{04F0B71E-E9EA-EAEC-8828-766F0DD4B652}"/>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2" name="文本框 11">
            <a:extLst>
              <a:ext uri="{FF2B5EF4-FFF2-40B4-BE49-F238E27FC236}">
                <a16:creationId xmlns:a16="http://schemas.microsoft.com/office/drawing/2014/main" id="{968ADEE1-04C1-D487-B910-B7D5BE3F467B}"/>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3" name="文本框 12">
            <a:extLst>
              <a:ext uri="{FF2B5EF4-FFF2-40B4-BE49-F238E27FC236}">
                <a16:creationId xmlns:a16="http://schemas.microsoft.com/office/drawing/2014/main" id="{D1854F5D-248F-ACF4-53D4-A93803139779}"/>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E23A2612-D909-D45E-CB18-5D5BA22E0CDA}"/>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AF9DD0DF-5BD6-22CB-5C75-C312421FE1DD}"/>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366FE41E-0776-6FFE-1E1C-B09ED3C85C52}"/>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45A76A5B-C608-4C0C-DD4B-E8F5192A5DC8}"/>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64DF40FD-277C-6D55-F3CB-2946C1A3C216}"/>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9A79983A-0029-36B8-B3C7-1A5CA9C3F4B2}"/>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C1204F69-0AC5-1E34-150C-5FAC02C11AE6}"/>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3BD74E4F-4CF1-471F-CAEF-6F9D96546748}"/>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2" name="文本框 21">
            <a:extLst>
              <a:ext uri="{FF2B5EF4-FFF2-40B4-BE49-F238E27FC236}">
                <a16:creationId xmlns:a16="http://schemas.microsoft.com/office/drawing/2014/main" id="{E9B39C8E-2347-5D23-BC3C-281C6F580C5F}"/>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3" name="文本框 22">
            <a:extLst>
              <a:ext uri="{FF2B5EF4-FFF2-40B4-BE49-F238E27FC236}">
                <a16:creationId xmlns:a16="http://schemas.microsoft.com/office/drawing/2014/main" id="{2D74BDEA-B72E-D38E-51FB-AB9DF9C1CE8C}"/>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3CE5E3C8-555F-C9D5-8B1C-BB2C5F94AF43}"/>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0ABB14CB-FDE3-4EC8-CDBD-604EBC824057}"/>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E8DC8E0C-6DB7-78F5-4D69-9579E0849F80}"/>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47C34709-6B47-791F-FA91-C3949BF3D43B}"/>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8" name="文本框 27">
            <a:extLst>
              <a:ext uri="{FF2B5EF4-FFF2-40B4-BE49-F238E27FC236}">
                <a16:creationId xmlns:a16="http://schemas.microsoft.com/office/drawing/2014/main" id="{13CF0F9A-F26D-7C62-AC64-D87FCAB82777}"/>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BEB6B8D1-374A-1FFF-3CB1-8A2AC3D60C52}"/>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0" name="文本框 29">
            <a:extLst>
              <a:ext uri="{FF2B5EF4-FFF2-40B4-BE49-F238E27FC236}">
                <a16:creationId xmlns:a16="http://schemas.microsoft.com/office/drawing/2014/main" id="{C5040654-AA04-7D2A-48FE-18E285C01327}"/>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C242B896-B7FB-F1E6-B1C2-36726EAA742F}"/>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CA1B784F-ABBA-9223-ED52-DDB455B4B069}"/>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6235E1F4-DB92-846E-1342-561DD9907F14}"/>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E28BF528-FB8D-9BA7-8788-46D5E16CD214}"/>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19F3EA4D-5739-A9C4-52DE-CEB2BC43E033}"/>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93577FC2-44FD-3404-BDB2-CD30F8967024}"/>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F0C2A24E-B6EC-C426-E155-5B45F3F2F583}"/>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38" name="矩形 37">
            <a:extLst>
              <a:ext uri="{FF2B5EF4-FFF2-40B4-BE49-F238E27FC236}">
                <a16:creationId xmlns:a16="http://schemas.microsoft.com/office/drawing/2014/main" id="{BFA13FC6-E021-E3C0-E0E9-EF03DD5B798A}"/>
              </a:ext>
            </a:extLst>
          </p:cNvPr>
          <p:cNvSpPr/>
          <p:nvPr/>
        </p:nvSpPr>
        <p:spPr>
          <a:xfrm>
            <a:off x="215515" y="3670832"/>
            <a:ext cx="2805769" cy="14489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48525C7D-1640-E989-40FA-AC9878BDF1DC}"/>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88967145-E1CB-280C-2558-7F9DE87B9AC2}"/>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1" name="文本框 40">
            <a:extLst>
              <a:ext uri="{FF2B5EF4-FFF2-40B4-BE49-F238E27FC236}">
                <a16:creationId xmlns:a16="http://schemas.microsoft.com/office/drawing/2014/main" id="{2FB7C1EA-F672-61EA-3E26-5ED0ED2E56A2}"/>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2" name="直接连接符 138">
            <a:extLst>
              <a:ext uri="{FF2B5EF4-FFF2-40B4-BE49-F238E27FC236}">
                <a16:creationId xmlns:a16="http://schemas.microsoft.com/office/drawing/2014/main" id="{B4D92EE9-1C63-57FF-9E35-38CD96D87FC7}"/>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139">
            <a:extLst>
              <a:ext uri="{FF2B5EF4-FFF2-40B4-BE49-F238E27FC236}">
                <a16:creationId xmlns:a16="http://schemas.microsoft.com/office/drawing/2014/main" id="{DED157AF-4F97-5D43-EB38-D82A88C937E6}"/>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140">
            <a:extLst>
              <a:ext uri="{FF2B5EF4-FFF2-40B4-BE49-F238E27FC236}">
                <a16:creationId xmlns:a16="http://schemas.microsoft.com/office/drawing/2014/main" id="{A3070F10-30ED-7EEA-8B93-0E2988096331}"/>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141">
            <a:extLst>
              <a:ext uri="{FF2B5EF4-FFF2-40B4-BE49-F238E27FC236}">
                <a16:creationId xmlns:a16="http://schemas.microsoft.com/office/drawing/2014/main" id="{D9E54B98-315C-0BB2-5E65-8923F0064008}"/>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2135D3BE-249B-35FA-B9C6-1A327FC610C8}"/>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连接符 143">
            <a:extLst>
              <a:ext uri="{FF2B5EF4-FFF2-40B4-BE49-F238E27FC236}">
                <a16:creationId xmlns:a16="http://schemas.microsoft.com/office/drawing/2014/main" id="{2A3971C8-C8C5-54F4-94E5-61F73F7DE3A1}"/>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 name="组合 47">
            <a:extLst>
              <a:ext uri="{FF2B5EF4-FFF2-40B4-BE49-F238E27FC236}">
                <a16:creationId xmlns:a16="http://schemas.microsoft.com/office/drawing/2014/main" id="{95AA74A7-0DB9-872D-C3F5-8B9A68BD2D36}"/>
              </a:ext>
            </a:extLst>
          </p:cNvPr>
          <p:cNvGrpSpPr/>
          <p:nvPr/>
        </p:nvGrpSpPr>
        <p:grpSpPr>
          <a:xfrm flipV="1">
            <a:off x="3621899" y="1429279"/>
            <a:ext cx="518053" cy="94821"/>
            <a:chOff x="3621899" y="1429279"/>
            <a:chExt cx="518053" cy="94821"/>
          </a:xfrm>
        </p:grpSpPr>
        <p:cxnSp>
          <p:nvCxnSpPr>
            <p:cNvPr id="49" name="直接连接符 145">
              <a:extLst>
                <a:ext uri="{FF2B5EF4-FFF2-40B4-BE49-F238E27FC236}">
                  <a16:creationId xmlns:a16="http://schemas.microsoft.com/office/drawing/2014/main" id="{FA68D61D-6230-CF49-C2AD-8EA6CBE8C65F}"/>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146">
              <a:extLst>
                <a:ext uri="{FF2B5EF4-FFF2-40B4-BE49-F238E27FC236}">
                  <a16:creationId xmlns:a16="http://schemas.microsoft.com/office/drawing/2014/main" id="{3FF615AB-4EE5-8BA4-FC11-632FBA018BFE}"/>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 name="直接连接符 147">
            <a:extLst>
              <a:ext uri="{FF2B5EF4-FFF2-40B4-BE49-F238E27FC236}">
                <a16:creationId xmlns:a16="http://schemas.microsoft.com/office/drawing/2014/main" id="{AE66FDFB-6A90-169B-EBD5-EFE67AB82986}"/>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48">
            <a:extLst>
              <a:ext uri="{FF2B5EF4-FFF2-40B4-BE49-F238E27FC236}">
                <a16:creationId xmlns:a16="http://schemas.microsoft.com/office/drawing/2014/main" id="{21BD5D84-FCF0-B3F4-78BC-2D8D4A8BC184}"/>
              </a:ext>
            </a:extLst>
          </p:cNvPr>
          <p:cNvCxnSpPr/>
          <p:nvPr/>
        </p:nvCxnSpPr>
        <p:spPr>
          <a:xfrm flipH="1">
            <a:off x="4570801" y="89668"/>
            <a:ext cx="1199" cy="3048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5CAB124A-ABFC-33D3-012A-CFABD971AAD7}"/>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54" name="直接箭头连接符 152">
            <a:extLst>
              <a:ext uri="{FF2B5EF4-FFF2-40B4-BE49-F238E27FC236}">
                <a16:creationId xmlns:a16="http://schemas.microsoft.com/office/drawing/2014/main" id="{8A9CB1D3-BB3E-A224-760E-B9AB160F6A38}"/>
              </a:ext>
            </a:extLst>
          </p:cNvPr>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3B91B853-2D9D-C7E3-F233-2151DB41B36E}"/>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sp>
        <p:nvSpPr>
          <p:cNvPr id="56" name="文本框 55">
            <a:extLst>
              <a:ext uri="{FF2B5EF4-FFF2-40B4-BE49-F238E27FC236}">
                <a16:creationId xmlns:a16="http://schemas.microsoft.com/office/drawing/2014/main" id="{86DD0E7C-9B38-A29F-EF52-D5DAE2211E2D}"/>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sp>
        <p:nvSpPr>
          <p:cNvPr id="57" name="矩形 56">
            <a:extLst>
              <a:ext uri="{FF2B5EF4-FFF2-40B4-BE49-F238E27FC236}">
                <a16:creationId xmlns:a16="http://schemas.microsoft.com/office/drawing/2014/main" id="{08852302-6907-B4AC-DE97-83E7731A4E6A}"/>
              </a:ext>
            </a:extLst>
          </p:cNvPr>
          <p:cNvSpPr/>
          <p:nvPr/>
        </p:nvSpPr>
        <p:spPr>
          <a:xfrm>
            <a:off x="4769169" y="836712"/>
            <a:ext cx="4374831" cy="4801314"/>
          </a:xfrm>
          <a:prstGeom prst="rect">
            <a:avLst/>
          </a:prstGeom>
        </p:spPr>
        <p:txBody>
          <a:bodyPr wrap="square">
            <a:spAutoFit/>
          </a:bodyPr>
          <a:lstStyle/>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r>
              <a:rPr lang="zh-CN" altLang="en-US" dirty="0"/>
              <a:t>下一步去哪里呢？</a:t>
            </a:r>
            <a:endParaRPr lang="en-US" altLang="zh-CN" dirty="0"/>
          </a:p>
          <a:p>
            <a:r>
              <a:rPr lang="zh-CN" altLang="en-US" dirty="0"/>
              <a:t>虽然</a:t>
            </a:r>
            <a:r>
              <a:rPr lang="en-US" altLang="zh-CN" dirty="0"/>
              <a:t>b-c</a:t>
            </a:r>
            <a:r>
              <a:rPr lang="zh-CN" altLang="en-US" dirty="0"/>
              <a:t>结好窄，但是</a:t>
            </a:r>
            <a:r>
              <a:rPr lang="en-US" altLang="zh-CN" dirty="0"/>
              <a:t>b-c</a:t>
            </a:r>
            <a:r>
              <a:rPr lang="zh-CN" altLang="en-US" dirty="0"/>
              <a:t>外加电场不欢迎我们过去，算了，从基极走吧</a:t>
            </a:r>
            <a:r>
              <a:rPr lang="en-US" altLang="zh-CN" dirty="0"/>
              <a:t>! :P</a:t>
            </a:r>
          </a:p>
          <a:p>
            <a:endParaRPr lang="en-US" altLang="zh-CN" dirty="0"/>
          </a:p>
          <a:p>
            <a:r>
              <a:rPr lang="en-US" altLang="zh-CN" b="1" dirty="0"/>
              <a:t>V</a:t>
            </a:r>
            <a:r>
              <a:rPr lang="en-US" altLang="zh-CN" b="1" baseline="-25000" dirty="0"/>
              <a:t>CE </a:t>
            </a:r>
            <a:r>
              <a:rPr lang="en-US" altLang="zh-CN" b="1" dirty="0"/>
              <a:t>&gt; V</a:t>
            </a:r>
            <a:r>
              <a:rPr lang="en-US" altLang="zh-CN" b="1" baseline="-25000" dirty="0"/>
              <a:t>T’ </a:t>
            </a:r>
            <a:r>
              <a:rPr lang="en-US" altLang="zh-CN" dirty="0"/>
              <a:t>:</a:t>
            </a:r>
          </a:p>
          <a:p>
            <a:r>
              <a:rPr lang="zh-CN" altLang="en-US" dirty="0"/>
              <a:t>咦？</a:t>
            </a:r>
            <a:r>
              <a:rPr lang="en-US" altLang="zh-CN" dirty="0"/>
              <a:t>b-c</a:t>
            </a:r>
            <a:r>
              <a:rPr lang="zh-CN" altLang="en-US" dirty="0"/>
              <a:t>外加电场减弱了？不跟你们挤基极了，我要去集电极啦！</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c</a:t>
            </a:r>
            <a:r>
              <a:rPr lang="en-US" altLang="zh-CN" baseline="-25000" dirty="0"/>
              <a:t> </a:t>
            </a:r>
            <a:r>
              <a:rPr lang="en-US" altLang="zh-CN" dirty="0">
                <a:latin typeface="宋体" panose="02010600030101010101" pitchFamily="2" charset="-122"/>
              </a:rPr>
              <a:t>&gt; </a:t>
            </a:r>
            <a:r>
              <a:rPr lang="en-US" altLang="zh-CN" dirty="0"/>
              <a:t>0</a:t>
            </a:r>
            <a:endParaRPr lang="zh-CN" altLang="en-US" dirty="0"/>
          </a:p>
          <a:p>
            <a:endParaRPr lang="en-US" altLang="zh-CN" dirty="0"/>
          </a:p>
          <a:p>
            <a:r>
              <a:rPr lang="en-US" altLang="zh-CN" b="1" dirty="0"/>
              <a:t>V</a:t>
            </a:r>
            <a:r>
              <a:rPr lang="en-US" altLang="zh-CN" b="1" baseline="-25000" dirty="0"/>
              <a:t>CE </a:t>
            </a:r>
            <a:r>
              <a:rPr lang="zh-CN" altLang="en-US" b="1" dirty="0"/>
              <a:t>继续增加</a:t>
            </a:r>
            <a:r>
              <a:rPr lang="en-US" altLang="zh-CN" b="1" dirty="0"/>
              <a:t> </a:t>
            </a:r>
            <a:r>
              <a:rPr lang="en-US" altLang="zh-CN" dirty="0"/>
              <a:t>:</a:t>
            </a:r>
          </a:p>
          <a:p>
            <a:r>
              <a:rPr lang="zh-CN" altLang="en-US" dirty="0"/>
              <a:t>风向变啦！</a:t>
            </a:r>
            <a:r>
              <a:rPr lang="en-US" altLang="zh-CN" dirty="0"/>
              <a:t>b-c</a:t>
            </a:r>
            <a:r>
              <a:rPr lang="zh-CN" altLang="en-US" dirty="0"/>
              <a:t>外加电场集电极大大地欢迎我们呢！兄弟们上！</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b</a:t>
            </a:r>
            <a:r>
              <a:rPr lang="zh-CN" altLang="en-US" dirty="0"/>
              <a:t>减小，</a:t>
            </a:r>
            <a:r>
              <a:rPr lang="en-US" altLang="zh-CN" dirty="0" err="1"/>
              <a:t>I</a:t>
            </a:r>
            <a:r>
              <a:rPr lang="en-US" altLang="zh-CN" baseline="-25000" dirty="0" err="1"/>
              <a:t>c</a:t>
            </a:r>
            <a:r>
              <a:rPr lang="zh-CN" altLang="en-US" dirty="0"/>
              <a:t>增加</a:t>
            </a:r>
            <a:endParaRPr lang="en-US" altLang="zh-CN" dirty="0"/>
          </a:p>
          <a:p>
            <a:endParaRPr lang="en-US" altLang="zh-CN" dirty="0"/>
          </a:p>
          <a:p>
            <a:r>
              <a:rPr lang="en-US" altLang="zh-CN" b="1" dirty="0"/>
              <a:t>V</a:t>
            </a:r>
            <a:r>
              <a:rPr lang="en-US" altLang="zh-CN" b="1" baseline="-25000" dirty="0"/>
              <a:t>CE </a:t>
            </a:r>
            <a:r>
              <a:rPr lang="zh-CN" altLang="en-US" b="1" dirty="0"/>
              <a:t>还增加</a:t>
            </a:r>
            <a:r>
              <a:rPr lang="en-US" altLang="zh-CN" b="1" dirty="0"/>
              <a:t> </a:t>
            </a:r>
            <a:r>
              <a:rPr lang="en-US" altLang="zh-CN" dirty="0"/>
              <a:t>:</a:t>
            </a:r>
          </a:p>
          <a:p>
            <a:r>
              <a:rPr lang="zh-CN" altLang="en-US" dirty="0"/>
              <a:t>兄弟们已经都过来啦，</a:t>
            </a:r>
            <a:r>
              <a:rPr lang="en-US" altLang="zh-CN" dirty="0"/>
              <a:t> </a:t>
            </a:r>
            <a:r>
              <a:rPr lang="en-US" altLang="zh-CN" dirty="0" err="1"/>
              <a:t>I</a:t>
            </a:r>
            <a:r>
              <a:rPr lang="en-US" altLang="zh-CN" baseline="-25000" dirty="0" err="1"/>
              <a:t>c</a:t>
            </a:r>
            <a:r>
              <a:rPr lang="zh-CN" altLang="en-US" dirty="0"/>
              <a:t>没法再增高啦！</a:t>
            </a:r>
            <a:endParaRPr lang="en-US" altLang="zh-CN" dirty="0"/>
          </a:p>
        </p:txBody>
      </p:sp>
      <p:cxnSp>
        <p:nvCxnSpPr>
          <p:cNvPr id="58" name="直接箭头连接符 92">
            <a:extLst>
              <a:ext uri="{FF2B5EF4-FFF2-40B4-BE49-F238E27FC236}">
                <a16:creationId xmlns:a16="http://schemas.microsoft.com/office/drawing/2014/main" id="{C3A32632-983C-9DD8-0C18-4DC4D75E0500}"/>
              </a:ext>
            </a:extLst>
          </p:cNvPr>
          <p:cNvCxnSpPr/>
          <p:nvPr/>
        </p:nvCxnSpPr>
        <p:spPr>
          <a:xfrm flipH="1">
            <a:off x="1007604" y="3254827"/>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直接箭头连接符 98">
            <a:extLst>
              <a:ext uri="{FF2B5EF4-FFF2-40B4-BE49-F238E27FC236}">
                <a16:creationId xmlns:a16="http://schemas.microsoft.com/office/drawing/2014/main" id="{2C6C6BBD-7D70-FA2F-3C6B-5843618E267E}"/>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6EE19745-8A2C-76A5-1AE5-D18267382A09}"/>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61" name="直接箭头连接符 115">
            <a:extLst>
              <a:ext uri="{FF2B5EF4-FFF2-40B4-BE49-F238E27FC236}">
                <a16:creationId xmlns:a16="http://schemas.microsoft.com/office/drawing/2014/main" id="{11A84463-4904-728E-BD70-A5B9E40B9931}"/>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241C02A0-3EFB-1A2F-8275-E7E197490FDE}"/>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grpSp>
        <p:nvGrpSpPr>
          <p:cNvPr id="63" name="组合 62">
            <a:extLst>
              <a:ext uri="{FF2B5EF4-FFF2-40B4-BE49-F238E27FC236}">
                <a16:creationId xmlns:a16="http://schemas.microsoft.com/office/drawing/2014/main" id="{CBBA4430-6C02-2868-6919-BA4AEF79FF77}"/>
              </a:ext>
            </a:extLst>
          </p:cNvPr>
          <p:cNvGrpSpPr/>
          <p:nvPr/>
        </p:nvGrpSpPr>
        <p:grpSpPr>
          <a:xfrm flipV="1">
            <a:off x="4319972" y="3154159"/>
            <a:ext cx="518053" cy="94821"/>
            <a:chOff x="3621899" y="1429279"/>
            <a:chExt cx="518053" cy="94821"/>
          </a:xfrm>
        </p:grpSpPr>
        <p:cxnSp>
          <p:nvCxnSpPr>
            <p:cNvPr id="64" name="直接连接符 118">
              <a:extLst>
                <a:ext uri="{FF2B5EF4-FFF2-40B4-BE49-F238E27FC236}">
                  <a16:creationId xmlns:a16="http://schemas.microsoft.com/office/drawing/2014/main" id="{32E33BDB-6DA3-B925-4691-56BF7468E967}"/>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119">
              <a:extLst>
                <a:ext uri="{FF2B5EF4-FFF2-40B4-BE49-F238E27FC236}">
                  <a16:creationId xmlns:a16="http://schemas.microsoft.com/office/drawing/2014/main" id="{99883E9B-F6CB-B1E9-0B83-B35FE4AED162}"/>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直接连接符 120">
            <a:extLst>
              <a:ext uri="{FF2B5EF4-FFF2-40B4-BE49-F238E27FC236}">
                <a16:creationId xmlns:a16="http://schemas.microsoft.com/office/drawing/2014/main" id="{FD18DC7C-346E-A9E8-87DE-4DBE0AB1FE5A}"/>
              </a:ext>
            </a:extLst>
          </p:cNvPr>
          <p:cNvCxnSpPr/>
          <p:nvPr/>
        </p:nvCxnSpPr>
        <p:spPr>
          <a:xfrm>
            <a:off x="4572000" y="3247450"/>
            <a:ext cx="3499" cy="31231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箭头连接符 169">
            <a:extLst>
              <a:ext uri="{FF2B5EF4-FFF2-40B4-BE49-F238E27FC236}">
                <a16:creationId xmlns:a16="http://schemas.microsoft.com/office/drawing/2014/main" id="{748EF721-93EF-A6EA-7188-C0F34C99625F}"/>
              </a:ext>
            </a:extLst>
          </p:cNvPr>
          <p:cNvCxnSpPr/>
          <p:nvPr/>
        </p:nvCxnSpPr>
        <p:spPr>
          <a:xfrm flipH="1">
            <a:off x="2087724" y="352145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87">
            <a:extLst>
              <a:ext uri="{FF2B5EF4-FFF2-40B4-BE49-F238E27FC236}">
                <a16:creationId xmlns:a16="http://schemas.microsoft.com/office/drawing/2014/main" id="{527AABA2-2205-3009-EEEF-E4AC5CF3A59D}"/>
              </a:ext>
            </a:extLst>
          </p:cNvPr>
          <p:cNvCxnSpPr/>
          <p:nvPr/>
        </p:nvCxnSpPr>
        <p:spPr>
          <a:xfrm flipH="1">
            <a:off x="1417554" y="305476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122">
            <a:extLst>
              <a:ext uri="{FF2B5EF4-FFF2-40B4-BE49-F238E27FC236}">
                <a16:creationId xmlns:a16="http://schemas.microsoft.com/office/drawing/2014/main" id="{81843EC1-DDDC-55AD-71F2-653CA2639338}"/>
              </a:ext>
            </a:extLst>
          </p:cNvPr>
          <p:cNvCxnSpPr/>
          <p:nvPr/>
        </p:nvCxnSpPr>
        <p:spPr>
          <a:xfrm flipV="1">
            <a:off x="3226890" y="3630523"/>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80236D48-A274-D003-DB62-921ACABFA212}"/>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
        <p:nvSpPr>
          <p:cNvPr id="71" name="文本框 70">
            <a:extLst>
              <a:ext uri="{FF2B5EF4-FFF2-40B4-BE49-F238E27FC236}">
                <a16:creationId xmlns:a16="http://schemas.microsoft.com/office/drawing/2014/main" id="{F5452A00-AC45-2297-AD24-B136E068F501}"/>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72" name="文本框 71">
            <a:extLst>
              <a:ext uri="{FF2B5EF4-FFF2-40B4-BE49-F238E27FC236}">
                <a16:creationId xmlns:a16="http://schemas.microsoft.com/office/drawing/2014/main" id="{A461D5B8-EF97-2200-602E-F43732F4D344}"/>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73" name="文本框 72">
            <a:extLst>
              <a:ext uri="{FF2B5EF4-FFF2-40B4-BE49-F238E27FC236}">
                <a16:creationId xmlns:a16="http://schemas.microsoft.com/office/drawing/2014/main" id="{EA787A0F-396E-3685-3F62-EAF943A40733}"/>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74" name="文本框 73">
            <a:extLst>
              <a:ext uri="{FF2B5EF4-FFF2-40B4-BE49-F238E27FC236}">
                <a16:creationId xmlns:a16="http://schemas.microsoft.com/office/drawing/2014/main" id="{3D1FFE3E-3E2A-8044-000C-56B55AA3B542}"/>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cxnSp>
        <p:nvCxnSpPr>
          <p:cNvPr id="75" name="直接连接符 167">
            <a:extLst>
              <a:ext uri="{FF2B5EF4-FFF2-40B4-BE49-F238E27FC236}">
                <a16:creationId xmlns:a16="http://schemas.microsoft.com/office/drawing/2014/main" id="{1D9A4700-C5C3-B855-2AFC-C993B78BC064}"/>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410EBD9E-F3D2-AC6C-5985-690FE58BCCDA}"/>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CAD7413A-50FF-FE9A-1CB7-DE38EA5C75B6}"/>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20F7BFE8-274E-106E-5AB5-0D0D7CAF9388}"/>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E750AC83-9442-FCE8-73BB-B63081D11D9E}"/>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0" name="直接箭头连接符 173">
            <a:extLst>
              <a:ext uri="{FF2B5EF4-FFF2-40B4-BE49-F238E27FC236}">
                <a16:creationId xmlns:a16="http://schemas.microsoft.com/office/drawing/2014/main" id="{EE6137A9-A93C-EBF6-3732-78BC175F40C2}"/>
              </a:ext>
            </a:extLst>
          </p:cNvPr>
          <p:cNvCxnSpPr/>
          <p:nvPr/>
        </p:nvCxnSpPr>
        <p:spPr>
          <a:xfrm flipV="1">
            <a:off x="1954901" y="3222751"/>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174">
            <a:extLst>
              <a:ext uri="{FF2B5EF4-FFF2-40B4-BE49-F238E27FC236}">
                <a16:creationId xmlns:a16="http://schemas.microsoft.com/office/drawing/2014/main" id="{257C0148-1573-19A7-88B5-136A8DFBAA2D}"/>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 name="矩形 81">
            <a:extLst>
              <a:ext uri="{FF2B5EF4-FFF2-40B4-BE49-F238E27FC236}">
                <a16:creationId xmlns:a16="http://schemas.microsoft.com/office/drawing/2014/main" id="{4B286FA1-A8DA-2E6F-889F-F98E0C251F1A}"/>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sp>
        <p:nvSpPr>
          <p:cNvPr id="83" name="椭圆 82">
            <a:extLst>
              <a:ext uri="{FF2B5EF4-FFF2-40B4-BE49-F238E27FC236}">
                <a16:creationId xmlns:a16="http://schemas.microsoft.com/office/drawing/2014/main" id="{8FAF8D25-A0AB-8322-1BFC-8F5390FD9BD4}"/>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箭头连接符 178">
            <a:extLst>
              <a:ext uri="{FF2B5EF4-FFF2-40B4-BE49-F238E27FC236}">
                <a16:creationId xmlns:a16="http://schemas.microsoft.com/office/drawing/2014/main" id="{64B1F547-CA50-935D-AE97-E38F2D18523F}"/>
              </a:ext>
            </a:extLst>
          </p:cNvPr>
          <p:cNvCxnSpPr/>
          <p:nvPr/>
        </p:nvCxnSpPr>
        <p:spPr>
          <a:xfrm flipH="1">
            <a:off x="789036" y="2996952"/>
            <a:ext cx="674" cy="177348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FDB1C9DF-0EB8-03DB-BD9B-4F2D8475EC80}"/>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pic>
        <p:nvPicPr>
          <p:cNvPr id="86" name="Picture 50">
            <a:extLst>
              <a:ext uri="{FF2B5EF4-FFF2-40B4-BE49-F238E27FC236}">
                <a16:creationId xmlns:a16="http://schemas.microsoft.com/office/drawing/2014/main" id="{1FF62988-B69F-5918-CAAD-C681706CA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548" y="1916989"/>
            <a:ext cx="3543300" cy="2800350"/>
          </a:xfrm>
          <a:prstGeom prst="rect">
            <a:avLst/>
          </a:prstGeom>
          <a:solidFill>
            <a:srgbClr val="0000FF"/>
          </a:solidFill>
          <a:ln w="38100">
            <a:solidFill>
              <a:srgbClr val="0000FF"/>
            </a:solidFill>
            <a:miter lim="800000"/>
            <a:headEnd/>
            <a:tailEnd/>
          </a:ln>
        </p:spPr>
      </p:pic>
      <p:cxnSp>
        <p:nvCxnSpPr>
          <p:cNvPr id="87" name="Straight Arrow Connector 2">
            <a:extLst>
              <a:ext uri="{FF2B5EF4-FFF2-40B4-BE49-F238E27FC236}">
                <a16:creationId xmlns:a16="http://schemas.microsoft.com/office/drawing/2014/main" id="{C6E79C43-B1E9-ADB7-2E3C-94BED50A4C5F}"/>
              </a:ext>
            </a:extLst>
          </p:cNvPr>
          <p:cNvCxnSpPr>
            <a:cxnSpLocks/>
          </p:cNvCxnSpPr>
          <p:nvPr/>
        </p:nvCxnSpPr>
        <p:spPr>
          <a:xfrm flipH="1" flipV="1">
            <a:off x="2897406" y="3465803"/>
            <a:ext cx="2030626" cy="1899608"/>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95">
            <a:extLst>
              <a:ext uri="{FF2B5EF4-FFF2-40B4-BE49-F238E27FC236}">
                <a16:creationId xmlns:a16="http://schemas.microsoft.com/office/drawing/2014/main" id="{DF87B542-53C2-7F24-151F-E0B4E152DCC8}"/>
              </a:ext>
            </a:extLst>
          </p:cNvPr>
          <p:cNvCxnSpPr>
            <a:cxnSpLocks/>
          </p:cNvCxnSpPr>
          <p:nvPr/>
        </p:nvCxnSpPr>
        <p:spPr>
          <a:xfrm flipH="1" flipV="1">
            <a:off x="2866222" y="3011761"/>
            <a:ext cx="1956259" cy="151099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39954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385598B-FE81-E4F2-51FC-0F95717748DB}"/>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CF08937B-86F2-8030-2BDD-BD954512321D}"/>
              </a:ext>
            </a:extLst>
          </p:cNvPr>
          <p:cNvSpPr>
            <a:spLocks noGrp="1"/>
          </p:cNvSpPr>
          <p:nvPr>
            <p:ph type="sldNum" sz="quarter" idx="12"/>
          </p:nvPr>
        </p:nvSpPr>
        <p:spPr/>
        <p:txBody>
          <a:bodyPr/>
          <a:lstStyle/>
          <a:p>
            <a:fld id="{9E260BC5-5BF3-8746-862B-DC45E9CAA88B}" type="slidenum">
              <a:rPr lang="en-US" smtClean="0"/>
              <a:pPr/>
              <a:t>31</a:t>
            </a:fld>
            <a:r>
              <a:rPr lang="en-US" altLang="zh-CN" dirty="0"/>
              <a:t>/33</a:t>
            </a:r>
            <a:endParaRPr lang="en-US" dirty="0"/>
          </a:p>
        </p:txBody>
      </p:sp>
      <p:sp>
        <p:nvSpPr>
          <p:cNvPr id="2" name="矩形 1">
            <a:extLst>
              <a:ext uri="{FF2B5EF4-FFF2-40B4-BE49-F238E27FC236}">
                <a16:creationId xmlns:a16="http://schemas.microsoft.com/office/drawing/2014/main" id="{2DE9098A-61EE-9F27-EE49-829AB2A362A5}"/>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3E00B25-F024-D9BC-C544-F35C4C8FE478}"/>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B6F4314-8073-03F8-09F4-523438135E10}"/>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27C17A2-B889-A0C4-2D4E-146F3DA96395}"/>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 name="文本框 7">
            <a:extLst>
              <a:ext uri="{FF2B5EF4-FFF2-40B4-BE49-F238E27FC236}">
                <a16:creationId xmlns:a16="http://schemas.microsoft.com/office/drawing/2014/main" id="{3E85CF41-6F2D-91F5-20EC-A44391238A67}"/>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 name="文本框 8">
            <a:extLst>
              <a:ext uri="{FF2B5EF4-FFF2-40B4-BE49-F238E27FC236}">
                <a16:creationId xmlns:a16="http://schemas.microsoft.com/office/drawing/2014/main" id="{D8A704A6-28A2-25D2-1BCA-F676459FAB90}"/>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93A61E0E-6207-3B9A-D070-127E381FC72F}"/>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1" name="文本框 10">
            <a:extLst>
              <a:ext uri="{FF2B5EF4-FFF2-40B4-BE49-F238E27FC236}">
                <a16:creationId xmlns:a16="http://schemas.microsoft.com/office/drawing/2014/main" id="{E3CC36EE-4216-DA60-5DAE-5842E89B974A}"/>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2" name="文本框 11">
            <a:extLst>
              <a:ext uri="{FF2B5EF4-FFF2-40B4-BE49-F238E27FC236}">
                <a16:creationId xmlns:a16="http://schemas.microsoft.com/office/drawing/2014/main" id="{7BBB8A89-EDC2-080C-6756-F29F926C9F96}"/>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3" name="文本框 12">
            <a:extLst>
              <a:ext uri="{FF2B5EF4-FFF2-40B4-BE49-F238E27FC236}">
                <a16:creationId xmlns:a16="http://schemas.microsoft.com/office/drawing/2014/main" id="{EB8AB5B0-A225-1B85-F63C-56ACCAE0A062}"/>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1CEC321B-E06F-29B6-5F84-B1924A9DB26D}"/>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B7BA1BAA-52BC-3B9D-ABFF-4C21FC07586E}"/>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F94F04E6-BE52-E5DF-03F2-8A1F20E606ED}"/>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6D26D825-5DAE-F6C0-FA87-6F3B4B9FEB70}"/>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E3768905-07AA-9C6F-20E5-568A140E0FB1}"/>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95E21A9E-F2A3-B21B-A41E-53FF92AB2699}"/>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6DFB88C4-EBBE-BDA9-0BF1-03EC46AE4717}"/>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23F0E6BC-F52B-E5F8-2C83-2F532B1954FE}"/>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2" name="文本框 21">
            <a:extLst>
              <a:ext uri="{FF2B5EF4-FFF2-40B4-BE49-F238E27FC236}">
                <a16:creationId xmlns:a16="http://schemas.microsoft.com/office/drawing/2014/main" id="{8A7F8DC0-C60B-3E9E-5531-2101A3B41569}"/>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3" name="文本框 22">
            <a:extLst>
              <a:ext uri="{FF2B5EF4-FFF2-40B4-BE49-F238E27FC236}">
                <a16:creationId xmlns:a16="http://schemas.microsoft.com/office/drawing/2014/main" id="{73F088E8-16B9-C00C-BF74-87D3A9368A5D}"/>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92EB1953-C1B8-0CF8-3671-9CD6238B16D4}"/>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7346808B-4C0F-DE4E-A05E-38886B4A0C98}"/>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6" name="文本框 25">
            <a:extLst>
              <a:ext uri="{FF2B5EF4-FFF2-40B4-BE49-F238E27FC236}">
                <a16:creationId xmlns:a16="http://schemas.microsoft.com/office/drawing/2014/main" id="{F391DBC5-FDBA-9E62-40F7-6CC25045229E}"/>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4FFC0CDA-7BFF-EB33-5451-BB2D32236C1F}"/>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AF118383-D68E-C00B-84CC-ACA1345A3851}"/>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F11223F4-1668-F1F1-CF12-7E33800AAB93}"/>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2CD380BA-3932-B1A7-CB60-218AA2AB43E5}"/>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CCA2D05A-04FA-9838-9C72-01BB234F2A1A}"/>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5DDE8569-6DBE-0D89-3AAA-EBC9509360B8}"/>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544FA5FD-0B8A-9C8B-B13A-40A94337C91D}"/>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57BF2466-1E71-962C-10D3-8AF4D130608B}"/>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2476F473-F451-7EF8-B4E1-E0EE29D8278A}"/>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B43D3CFB-A43E-84C0-66BE-7C41507C8FBD}"/>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F04E3CD6-476D-77B7-356F-2427AC6410D3}"/>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2BF5356B-47D1-E7A8-1B7C-633DC56ABE5D}"/>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ED512E6F-B5AD-B633-EB1E-02C92D042A52}"/>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842BAD69-00C5-6160-4496-0B9D4F941F1A}"/>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41" name="矩形 40">
            <a:extLst>
              <a:ext uri="{FF2B5EF4-FFF2-40B4-BE49-F238E27FC236}">
                <a16:creationId xmlns:a16="http://schemas.microsoft.com/office/drawing/2014/main" id="{FFF0E3E0-A16A-FCC4-29D3-192464E2DFA5}"/>
              </a:ext>
            </a:extLst>
          </p:cNvPr>
          <p:cNvSpPr/>
          <p:nvPr/>
        </p:nvSpPr>
        <p:spPr>
          <a:xfrm>
            <a:off x="215515" y="4059445"/>
            <a:ext cx="2805769" cy="6502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7BE4241B-63C8-1051-B93F-434FBDD68E96}"/>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92">
            <a:extLst>
              <a:ext uri="{FF2B5EF4-FFF2-40B4-BE49-F238E27FC236}">
                <a16:creationId xmlns:a16="http://schemas.microsoft.com/office/drawing/2014/main" id="{2FEB487F-F46E-15F4-AD28-6B9F902180A9}"/>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F9E3427D-8208-D28A-1E12-CCF038E9BF94}"/>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5" name="文本框 44">
            <a:extLst>
              <a:ext uri="{FF2B5EF4-FFF2-40B4-BE49-F238E27FC236}">
                <a16:creationId xmlns:a16="http://schemas.microsoft.com/office/drawing/2014/main" id="{3D42B5D5-A7DC-B5FE-5F38-DF54FCCC1077}"/>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6" name="直接连接符 75">
            <a:extLst>
              <a:ext uri="{FF2B5EF4-FFF2-40B4-BE49-F238E27FC236}">
                <a16:creationId xmlns:a16="http://schemas.microsoft.com/office/drawing/2014/main" id="{D5ACCEC1-61D8-20F8-F9E5-5E56AB63D9A8}"/>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81">
            <a:extLst>
              <a:ext uri="{FF2B5EF4-FFF2-40B4-BE49-F238E27FC236}">
                <a16:creationId xmlns:a16="http://schemas.microsoft.com/office/drawing/2014/main" id="{2B713978-7D29-7612-6822-D5CFDBFA8835}"/>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85">
            <a:extLst>
              <a:ext uri="{FF2B5EF4-FFF2-40B4-BE49-F238E27FC236}">
                <a16:creationId xmlns:a16="http://schemas.microsoft.com/office/drawing/2014/main" id="{8A773EA5-3E15-BE86-36C0-B2B882BEBB0E}"/>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86">
            <a:extLst>
              <a:ext uri="{FF2B5EF4-FFF2-40B4-BE49-F238E27FC236}">
                <a16:creationId xmlns:a16="http://schemas.microsoft.com/office/drawing/2014/main" id="{20B1C712-7083-7454-3C56-DBE84F7E2F4B}"/>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D376B9C1-A4B3-C2B4-8347-2C0B723D41E0}"/>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95">
            <a:extLst>
              <a:ext uri="{FF2B5EF4-FFF2-40B4-BE49-F238E27FC236}">
                <a16:creationId xmlns:a16="http://schemas.microsoft.com/office/drawing/2014/main" id="{9B51E9A9-864E-154E-E90E-B9782D3C9428}"/>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组合 51">
            <a:extLst>
              <a:ext uri="{FF2B5EF4-FFF2-40B4-BE49-F238E27FC236}">
                <a16:creationId xmlns:a16="http://schemas.microsoft.com/office/drawing/2014/main" id="{FD1BB5D8-CB1F-DE0B-FF99-49420079D17E}"/>
              </a:ext>
            </a:extLst>
          </p:cNvPr>
          <p:cNvGrpSpPr/>
          <p:nvPr/>
        </p:nvGrpSpPr>
        <p:grpSpPr>
          <a:xfrm flipV="1">
            <a:off x="3621899" y="1429279"/>
            <a:ext cx="518053" cy="94821"/>
            <a:chOff x="3621899" y="1429279"/>
            <a:chExt cx="518053" cy="94821"/>
          </a:xfrm>
        </p:grpSpPr>
        <p:cxnSp>
          <p:nvCxnSpPr>
            <p:cNvPr id="53" name="直接连接符 97">
              <a:extLst>
                <a:ext uri="{FF2B5EF4-FFF2-40B4-BE49-F238E27FC236}">
                  <a16:creationId xmlns:a16="http://schemas.microsoft.com/office/drawing/2014/main" id="{819EF9F6-9120-ECEA-7F6B-70CFE9FAC981}"/>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98">
              <a:extLst>
                <a:ext uri="{FF2B5EF4-FFF2-40B4-BE49-F238E27FC236}">
                  <a16:creationId xmlns:a16="http://schemas.microsoft.com/office/drawing/2014/main" id="{6B5E1F52-10DB-8EEB-1E39-8DC35070D3D3}"/>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114">
            <a:extLst>
              <a:ext uri="{FF2B5EF4-FFF2-40B4-BE49-F238E27FC236}">
                <a16:creationId xmlns:a16="http://schemas.microsoft.com/office/drawing/2014/main" id="{9A744F19-BB1D-5C1F-7D89-BCAE64D0E2C1}"/>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15">
            <a:extLst>
              <a:ext uri="{FF2B5EF4-FFF2-40B4-BE49-F238E27FC236}">
                <a16:creationId xmlns:a16="http://schemas.microsoft.com/office/drawing/2014/main" id="{D8230B9E-FEF0-F12B-2073-A1E588BDF7B5}"/>
              </a:ext>
            </a:extLst>
          </p:cNvPr>
          <p:cNvCxnSpPr/>
          <p:nvPr/>
        </p:nvCxnSpPr>
        <p:spPr>
          <a:xfrm>
            <a:off x="4572000" y="89668"/>
            <a:ext cx="0" cy="6273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4D2FC29B-3F69-7E6A-03BF-FE0D7C7C5FBF}"/>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8" name="文本框 57">
            <a:extLst>
              <a:ext uri="{FF2B5EF4-FFF2-40B4-BE49-F238E27FC236}">
                <a16:creationId xmlns:a16="http://schemas.microsoft.com/office/drawing/2014/main" id="{B2514F06-ACA8-2FBF-1FB8-F265340D530D}"/>
              </a:ext>
            </a:extLst>
          </p:cNvPr>
          <p:cNvSpPr txBox="1"/>
          <p:nvPr/>
        </p:nvSpPr>
        <p:spPr>
          <a:xfrm>
            <a:off x="755576" y="3507395"/>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9" name="文本框 58">
            <a:extLst>
              <a:ext uri="{FF2B5EF4-FFF2-40B4-BE49-F238E27FC236}">
                <a16:creationId xmlns:a16="http://schemas.microsoft.com/office/drawing/2014/main" id="{BE71BBCE-BC2C-7D17-AE00-63D64ECD7D71}"/>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60" name="直接箭头连接符 41">
            <a:extLst>
              <a:ext uri="{FF2B5EF4-FFF2-40B4-BE49-F238E27FC236}">
                <a16:creationId xmlns:a16="http://schemas.microsoft.com/office/drawing/2014/main" id="{06ED16D6-6930-6164-29A9-06EA2F3B6501}"/>
              </a:ext>
            </a:extLst>
          </p:cNvPr>
          <p:cNvCxnSpPr>
            <a:stCxn id="57"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F1B164FA-8A54-2553-BAED-FA3E94DB3AFA}"/>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cxnSp>
        <p:nvCxnSpPr>
          <p:cNvPr id="62" name="直接箭头连接符 119">
            <a:extLst>
              <a:ext uri="{FF2B5EF4-FFF2-40B4-BE49-F238E27FC236}">
                <a16:creationId xmlns:a16="http://schemas.microsoft.com/office/drawing/2014/main" id="{A531435A-8A0C-D724-E1B5-D56CE88CDCE5}"/>
              </a:ext>
            </a:extLst>
          </p:cNvPr>
          <p:cNvCxnSpPr/>
          <p:nvPr/>
        </p:nvCxnSpPr>
        <p:spPr>
          <a:xfrm>
            <a:off x="3167844" y="3526816"/>
            <a:ext cx="0" cy="176920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CFCA0033-84C6-2E79-FDB6-08F2340CF94C}"/>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4" name="文本框 63">
            <a:extLst>
              <a:ext uri="{FF2B5EF4-FFF2-40B4-BE49-F238E27FC236}">
                <a16:creationId xmlns:a16="http://schemas.microsoft.com/office/drawing/2014/main" id="{6DE7578C-22F9-1C59-D75D-FF5039DC969B}"/>
              </a:ext>
            </a:extLst>
          </p:cNvPr>
          <p:cNvSpPr txBox="1"/>
          <p:nvPr/>
        </p:nvSpPr>
        <p:spPr>
          <a:xfrm>
            <a:off x="791580" y="4689140"/>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65" name="矩形 64">
            <a:extLst>
              <a:ext uri="{FF2B5EF4-FFF2-40B4-BE49-F238E27FC236}">
                <a16:creationId xmlns:a16="http://schemas.microsoft.com/office/drawing/2014/main" id="{BA5E76FC-26E7-9112-78BF-2061E9E43AA6}"/>
              </a:ext>
            </a:extLst>
          </p:cNvPr>
          <p:cNvSpPr/>
          <p:nvPr/>
        </p:nvSpPr>
        <p:spPr>
          <a:xfrm>
            <a:off x="4769169" y="1052736"/>
            <a:ext cx="4627367" cy="2585323"/>
          </a:xfrm>
          <a:prstGeom prst="rect">
            <a:avLst/>
          </a:prstGeom>
        </p:spPr>
        <p:txBody>
          <a:bodyPr wrap="square">
            <a:spAutoFit/>
          </a:bodyPr>
          <a:lstStyle/>
          <a:p>
            <a:r>
              <a:rPr lang="en-US" altLang="zh-CN" b="1" dirty="0"/>
              <a:t>V</a:t>
            </a:r>
            <a:r>
              <a:rPr lang="en-US" altLang="zh-CN" b="1" baseline="-25000" dirty="0"/>
              <a:t>BE</a:t>
            </a:r>
            <a:r>
              <a:rPr lang="en-US" altLang="zh-CN" b="1" dirty="0"/>
              <a:t>&lt; V</a:t>
            </a:r>
            <a:r>
              <a:rPr lang="en-US" altLang="zh-CN" b="1" baseline="-25000" dirty="0"/>
              <a:t>T </a:t>
            </a:r>
            <a:r>
              <a:rPr lang="en-US" altLang="zh-CN" b="1" dirty="0"/>
              <a:t> </a:t>
            </a:r>
            <a:r>
              <a:rPr lang="en-US" altLang="zh-CN" dirty="0"/>
              <a:t>:</a:t>
            </a:r>
          </a:p>
          <a:p>
            <a:endParaRPr lang="en-US" altLang="zh-CN" dirty="0"/>
          </a:p>
          <a:p>
            <a:r>
              <a:rPr lang="zh-CN" altLang="en-US" dirty="0"/>
              <a:t>发射极都是电子，好挤啊，好想去基极啊，</a:t>
            </a:r>
            <a:endParaRPr lang="en-US" altLang="zh-CN" dirty="0"/>
          </a:p>
          <a:p>
            <a:r>
              <a:rPr lang="zh-CN" altLang="en-US" dirty="0"/>
              <a:t>但是</a:t>
            </a:r>
            <a:r>
              <a:rPr lang="en-US" altLang="zh-CN" dirty="0"/>
              <a:t>b-e</a:t>
            </a:r>
            <a:r>
              <a:rPr lang="zh-CN" altLang="en-US" dirty="0"/>
              <a:t>结好宽，外加电场也太小，没人帮我，我跳不过去啊 </a:t>
            </a:r>
            <a:r>
              <a:rPr lang="en-US" altLang="zh-CN" dirty="0">
                <a:sym typeface="Wingdings" panose="05000000000000000000" pitchFamily="2" charset="2"/>
              </a:rPr>
              <a:t></a:t>
            </a:r>
            <a:endParaRPr lang="en-US" altLang="zh-CN" dirty="0"/>
          </a:p>
          <a:p>
            <a:endParaRPr lang="en-US" altLang="zh-CN" dirty="0"/>
          </a:p>
          <a:p>
            <a:r>
              <a:rPr lang="en-US" altLang="zh-CN" dirty="0"/>
              <a:t>I</a:t>
            </a:r>
            <a:r>
              <a:rPr lang="en-US" altLang="zh-CN" baseline="-25000" dirty="0"/>
              <a:t>b</a:t>
            </a:r>
            <a:r>
              <a:rPr lang="en-US" altLang="zh-CN" dirty="0">
                <a:latin typeface="宋体" panose="02010600030101010101" pitchFamily="2" charset="-122"/>
              </a:rPr>
              <a:t>≈</a:t>
            </a:r>
            <a:r>
              <a:rPr lang="en-US" altLang="zh-CN" dirty="0"/>
              <a:t>0</a:t>
            </a:r>
          </a:p>
          <a:p>
            <a:endParaRPr lang="en-US" altLang="zh-CN" dirty="0"/>
          </a:p>
          <a:p>
            <a:endParaRPr lang="en-US" altLang="zh-CN" dirty="0"/>
          </a:p>
        </p:txBody>
      </p:sp>
      <p:sp>
        <p:nvSpPr>
          <p:cNvPr id="66" name="椭圆 65">
            <a:extLst>
              <a:ext uri="{FF2B5EF4-FFF2-40B4-BE49-F238E27FC236}">
                <a16:creationId xmlns:a16="http://schemas.microsoft.com/office/drawing/2014/main" id="{E83567AC-D419-7A19-ED12-8CA3C7E4E218}"/>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F6C811E0-70BA-2618-CF2E-BF03E2321395}"/>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90707808-2E2A-1D60-08CA-10E3239F5D66}"/>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AF3A9C64-D590-C4B2-61A9-0B6997749771}"/>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箭头连接符 93">
            <a:extLst>
              <a:ext uri="{FF2B5EF4-FFF2-40B4-BE49-F238E27FC236}">
                <a16:creationId xmlns:a16="http://schemas.microsoft.com/office/drawing/2014/main" id="{050771C6-8953-FEED-05D7-87BECA10C9DE}"/>
              </a:ext>
            </a:extLst>
          </p:cNvPr>
          <p:cNvCxnSpPr/>
          <p:nvPr/>
        </p:nvCxnSpPr>
        <p:spPr>
          <a:xfrm>
            <a:off x="781049" y="1088740"/>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94">
            <a:extLst>
              <a:ext uri="{FF2B5EF4-FFF2-40B4-BE49-F238E27FC236}">
                <a16:creationId xmlns:a16="http://schemas.microsoft.com/office/drawing/2014/main" id="{2639AD87-F6A4-81A6-AA6D-D40045F0FB85}"/>
              </a:ext>
            </a:extLst>
          </p:cNvPr>
          <p:cNvCxnSpPr/>
          <p:nvPr/>
        </p:nvCxnSpPr>
        <p:spPr>
          <a:xfrm>
            <a:off x="1043608" y="1268760"/>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96">
            <a:extLst>
              <a:ext uri="{FF2B5EF4-FFF2-40B4-BE49-F238E27FC236}">
                <a16:creationId xmlns:a16="http://schemas.microsoft.com/office/drawing/2014/main" id="{23BB3B8C-157C-550A-0A23-8D3384F86EE9}"/>
              </a:ext>
            </a:extLst>
          </p:cNvPr>
          <p:cNvCxnSpPr/>
          <p:nvPr/>
        </p:nvCxnSpPr>
        <p:spPr>
          <a:xfrm>
            <a:off x="1403648" y="1016732"/>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99">
            <a:extLst>
              <a:ext uri="{FF2B5EF4-FFF2-40B4-BE49-F238E27FC236}">
                <a16:creationId xmlns:a16="http://schemas.microsoft.com/office/drawing/2014/main" id="{626FFA37-9443-29CF-E125-1A49B13DE82F}"/>
              </a:ext>
            </a:extLst>
          </p:cNvPr>
          <p:cNvCxnSpPr/>
          <p:nvPr/>
        </p:nvCxnSpPr>
        <p:spPr>
          <a:xfrm>
            <a:off x="1907704" y="1304764"/>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369994A1-B607-5233-4C8C-00F6C3E0A53E}"/>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cxnSp>
        <p:nvCxnSpPr>
          <p:cNvPr id="75" name="直接箭头连接符 101">
            <a:extLst>
              <a:ext uri="{FF2B5EF4-FFF2-40B4-BE49-F238E27FC236}">
                <a16:creationId xmlns:a16="http://schemas.microsoft.com/office/drawing/2014/main" id="{56D529CB-C492-BAA1-F6AA-D8421FE8F13F}"/>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A45793CD-2477-514D-79F8-CB4260FE042B}"/>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7" name="直接箭头连接符 103">
            <a:extLst>
              <a:ext uri="{FF2B5EF4-FFF2-40B4-BE49-F238E27FC236}">
                <a16:creationId xmlns:a16="http://schemas.microsoft.com/office/drawing/2014/main" id="{1A8F25A3-6AB0-6C59-B667-970F5903AD47}"/>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777D5E98-8ABE-A75C-53EA-4BE27089B52E}"/>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9" name="直接箭头连接符 105">
            <a:extLst>
              <a:ext uri="{FF2B5EF4-FFF2-40B4-BE49-F238E27FC236}">
                <a16:creationId xmlns:a16="http://schemas.microsoft.com/office/drawing/2014/main" id="{C46E9CBF-2499-88BD-1946-265B865EF607}"/>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9D41EBCA-88BA-E163-F43E-1B76C4DCF86B}"/>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sp>
        <p:nvSpPr>
          <p:cNvPr id="81" name="椭圆 80">
            <a:extLst>
              <a:ext uri="{FF2B5EF4-FFF2-40B4-BE49-F238E27FC236}">
                <a16:creationId xmlns:a16="http://schemas.microsoft.com/office/drawing/2014/main" id="{FDCE367F-5517-1BCB-BE84-57F98CC80DAE}"/>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 name="直接箭头连接符 108">
            <a:extLst>
              <a:ext uri="{FF2B5EF4-FFF2-40B4-BE49-F238E27FC236}">
                <a16:creationId xmlns:a16="http://schemas.microsoft.com/office/drawing/2014/main" id="{1B7763A4-2B3F-0586-8D34-9940D9B6A204}"/>
              </a:ext>
            </a:extLst>
          </p:cNvPr>
          <p:cNvCxnSpPr/>
          <p:nvPr/>
        </p:nvCxnSpPr>
        <p:spPr>
          <a:xfrm>
            <a:off x="2123728" y="1552796"/>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矩形 82">
            <a:extLst>
              <a:ext uri="{FF2B5EF4-FFF2-40B4-BE49-F238E27FC236}">
                <a16:creationId xmlns:a16="http://schemas.microsoft.com/office/drawing/2014/main" id="{1D218BAE-2771-4986-4662-E517F7C9450D}"/>
              </a:ext>
            </a:extLst>
          </p:cNvPr>
          <p:cNvSpPr/>
          <p:nvPr/>
        </p:nvSpPr>
        <p:spPr>
          <a:xfrm>
            <a:off x="503548" y="1519371"/>
            <a:ext cx="4029212" cy="3493806"/>
          </a:xfrm>
          <a:prstGeom prst="rect">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Line 35">
            <a:extLst>
              <a:ext uri="{FF2B5EF4-FFF2-40B4-BE49-F238E27FC236}">
                <a16:creationId xmlns:a16="http://schemas.microsoft.com/office/drawing/2014/main" id="{F2F83D83-1785-F26C-F0EE-C2840D747FE4}"/>
              </a:ext>
            </a:extLst>
          </p:cNvPr>
          <p:cNvSpPr>
            <a:spLocks noChangeShapeType="1"/>
          </p:cNvSpPr>
          <p:nvPr/>
        </p:nvSpPr>
        <p:spPr bwMode="auto">
          <a:xfrm flipV="1">
            <a:off x="1025771" y="4527542"/>
            <a:ext cx="2898775" cy="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85" name="Text Box 39">
            <a:extLst>
              <a:ext uri="{FF2B5EF4-FFF2-40B4-BE49-F238E27FC236}">
                <a16:creationId xmlns:a16="http://schemas.microsoft.com/office/drawing/2014/main" id="{924E4122-0266-71F7-319F-5A7D763CFB62}"/>
              </a:ext>
            </a:extLst>
          </p:cNvPr>
          <p:cNvSpPr txBox="1">
            <a:spLocks noChangeArrowheads="1"/>
          </p:cNvSpPr>
          <p:nvPr/>
        </p:nvSpPr>
        <p:spPr bwMode="auto">
          <a:xfrm>
            <a:off x="3240334" y="3892542"/>
            <a:ext cx="671512" cy="438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 </a:t>
            </a:r>
            <a:r>
              <a:rPr kumimoji="1" lang="en-US" altLang="zh-CN" sz="2400">
                <a:latin typeface="Times New Roman" panose="02020603050405020304" pitchFamily="18" charset="0"/>
                <a:ea typeface="长城楷体" pitchFamily="49" charset="-122"/>
              </a:rPr>
              <a:t>= 0</a:t>
            </a:r>
          </a:p>
        </p:txBody>
      </p:sp>
      <p:grpSp>
        <p:nvGrpSpPr>
          <p:cNvPr id="86" name="Group 105">
            <a:extLst>
              <a:ext uri="{FF2B5EF4-FFF2-40B4-BE49-F238E27FC236}">
                <a16:creationId xmlns:a16="http://schemas.microsoft.com/office/drawing/2014/main" id="{9E50D760-2B15-6975-3424-CB47AB3C3408}"/>
              </a:ext>
            </a:extLst>
          </p:cNvPr>
          <p:cNvGrpSpPr>
            <a:grpSpLocks/>
          </p:cNvGrpSpPr>
          <p:nvPr/>
        </p:nvGrpSpPr>
        <p:grpSpPr bwMode="auto">
          <a:xfrm>
            <a:off x="1263896" y="4418005"/>
            <a:ext cx="2552700" cy="627062"/>
            <a:chOff x="3428" y="3625"/>
            <a:chExt cx="1608" cy="395"/>
          </a:xfrm>
        </p:grpSpPr>
        <p:grpSp>
          <p:nvGrpSpPr>
            <p:cNvPr id="87" name="Group 40">
              <a:extLst>
                <a:ext uri="{FF2B5EF4-FFF2-40B4-BE49-F238E27FC236}">
                  <a16:creationId xmlns:a16="http://schemas.microsoft.com/office/drawing/2014/main" id="{C92A9396-D5CA-3AB2-FB90-AA06143F47C0}"/>
                </a:ext>
              </a:extLst>
            </p:cNvPr>
            <p:cNvGrpSpPr>
              <a:grpSpLocks/>
            </p:cNvGrpSpPr>
            <p:nvPr/>
          </p:nvGrpSpPr>
          <p:grpSpPr bwMode="auto">
            <a:xfrm>
              <a:off x="3428" y="3625"/>
              <a:ext cx="1608" cy="65"/>
              <a:chOff x="2993" y="3543"/>
              <a:chExt cx="1929" cy="69"/>
            </a:xfrm>
          </p:grpSpPr>
          <p:sp>
            <p:nvSpPr>
              <p:cNvPr id="89" name="Line 41">
                <a:extLst>
                  <a:ext uri="{FF2B5EF4-FFF2-40B4-BE49-F238E27FC236}">
                    <a16:creationId xmlns:a16="http://schemas.microsoft.com/office/drawing/2014/main" id="{8FEB1714-F7E2-8BD0-72AB-F176918C496B}"/>
                  </a:ext>
                </a:extLst>
              </p:cNvPr>
              <p:cNvSpPr>
                <a:spLocks noChangeShapeType="1"/>
              </p:cNvSpPr>
              <p:nvPr/>
            </p:nvSpPr>
            <p:spPr bwMode="auto">
              <a:xfrm flipV="1">
                <a:off x="2993"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0" name="Line 42">
                <a:extLst>
                  <a:ext uri="{FF2B5EF4-FFF2-40B4-BE49-F238E27FC236}">
                    <a16:creationId xmlns:a16="http://schemas.microsoft.com/office/drawing/2014/main" id="{F23C0121-6062-64E5-D004-DF162E397679}"/>
                  </a:ext>
                </a:extLst>
              </p:cNvPr>
              <p:cNvSpPr>
                <a:spLocks noChangeShapeType="1"/>
              </p:cNvSpPr>
              <p:nvPr/>
            </p:nvSpPr>
            <p:spPr bwMode="auto">
              <a:xfrm flipV="1">
                <a:off x="3084"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1" name="Line 43">
                <a:extLst>
                  <a:ext uri="{FF2B5EF4-FFF2-40B4-BE49-F238E27FC236}">
                    <a16:creationId xmlns:a16="http://schemas.microsoft.com/office/drawing/2014/main" id="{48547AE8-3322-B17A-61D9-78FECA33E896}"/>
                  </a:ext>
                </a:extLst>
              </p:cNvPr>
              <p:cNvSpPr>
                <a:spLocks noChangeShapeType="1"/>
              </p:cNvSpPr>
              <p:nvPr/>
            </p:nvSpPr>
            <p:spPr bwMode="auto">
              <a:xfrm flipV="1">
                <a:off x="317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2" name="Line 44">
                <a:extLst>
                  <a:ext uri="{FF2B5EF4-FFF2-40B4-BE49-F238E27FC236}">
                    <a16:creationId xmlns:a16="http://schemas.microsoft.com/office/drawing/2014/main" id="{56CA0452-C1B7-3A27-BF37-196D27F69906}"/>
                  </a:ext>
                </a:extLst>
              </p:cNvPr>
              <p:cNvSpPr>
                <a:spLocks noChangeShapeType="1"/>
              </p:cNvSpPr>
              <p:nvPr/>
            </p:nvSpPr>
            <p:spPr bwMode="auto">
              <a:xfrm flipV="1">
                <a:off x="326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3" name="Line 45">
                <a:extLst>
                  <a:ext uri="{FF2B5EF4-FFF2-40B4-BE49-F238E27FC236}">
                    <a16:creationId xmlns:a16="http://schemas.microsoft.com/office/drawing/2014/main" id="{D9449436-82F8-E1B3-E6D0-1797BABF9D6D}"/>
                  </a:ext>
                </a:extLst>
              </p:cNvPr>
              <p:cNvSpPr>
                <a:spLocks noChangeShapeType="1"/>
              </p:cNvSpPr>
              <p:nvPr/>
            </p:nvSpPr>
            <p:spPr bwMode="auto">
              <a:xfrm flipV="1">
                <a:off x="335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4" name="Line 46">
                <a:extLst>
                  <a:ext uri="{FF2B5EF4-FFF2-40B4-BE49-F238E27FC236}">
                    <a16:creationId xmlns:a16="http://schemas.microsoft.com/office/drawing/2014/main" id="{8F06F7F4-7AF9-9E09-252B-49CD1431E8C2}"/>
                  </a:ext>
                </a:extLst>
              </p:cNvPr>
              <p:cNvSpPr>
                <a:spLocks noChangeShapeType="1"/>
              </p:cNvSpPr>
              <p:nvPr/>
            </p:nvSpPr>
            <p:spPr bwMode="auto">
              <a:xfrm flipV="1">
                <a:off x="344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5" name="Line 47">
                <a:extLst>
                  <a:ext uri="{FF2B5EF4-FFF2-40B4-BE49-F238E27FC236}">
                    <a16:creationId xmlns:a16="http://schemas.microsoft.com/office/drawing/2014/main" id="{2DE71186-09DC-0466-DC11-CB399FA1406F}"/>
                  </a:ext>
                </a:extLst>
              </p:cNvPr>
              <p:cNvSpPr>
                <a:spLocks noChangeShapeType="1"/>
              </p:cNvSpPr>
              <p:nvPr/>
            </p:nvSpPr>
            <p:spPr bwMode="auto">
              <a:xfrm flipV="1">
                <a:off x="353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6" name="Line 48">
                <a:extLst>
                  <a:ext uri="{FF2B5EF4-FFF2-40B4-BE49-F238E27FC236}">
                    <a16:creationId xmlns:a16="http://schemas.microsoft.com/office/drawing/2014/main" id="{152DA5A9-39B3-3442-839E-0454880F2ABF}"/>
                  </a:ext>
                </a:extLst>
              </p:cNvPr>
              <p:cNvSpPr>
                <a:spLocks noChangeShapeType="1"/>
              </p:cNvSpPr>
              <p:nvPr/>
            </p:nvSpPr>
            <p:spPr bwMode="auto">
              <a:xfrm flipV="1">
                <a:off x="3629"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7" name="Line 49">
                <a:extLst>
                  <a:ext uri="{FF2B5EF4-FFF2-40B4-BE49-F238E27FC236}">
                    <a16:creationId xmlns:a16="http://schemas.microsoft.com/office/drawing/2014/main" id="{9435ED84-1B5B-01E5-32B1-29375FEBAC4D}"/>
                  </a:ext>
                </a:extLst>
              </p:cNvPr>
              <p:cNvSpPr>
                <a:spLocks noChangeShapeType="1"/>
              </p:cNvSpPr>
              <p:nvPr/>
            </p:nvSpPr>
            <p:spPr bwMode="auto">
              <a:xfrm flipV="1">
                <a:off x="371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8" name="Line 50">
                <a:extLst>
                  <a:ext uri="{FF2B5EF4-FFF2-40B4-BE49-F238E27FC236}">
                    <a16:creationId xmlns:a16="http://schemas.microsoft.com/office/drawing/2014/main" id="{3FF04C91-E52E-0CA5-B3A6-26A7BEBC28BA}"/>
                  </a:ext>
                </a:extLst>
              </p:cNvPr>
              <p:cNvSpPr>
                <a:spLocks noChangeShapeType="1"/>
              </p:cNvSpPr>
              <p:nvPr/>
            </p:nvSpPr>
            <p:spPr bwMode="auto">
              <a:xfrm flipV="1">
                <a:off x="3810"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9" name="Line 51">
                <a:extLst>
                  <a:ext uri="{FF2B5EF4-FFF2-40B4-BE49-F238E27FC236}">
                    <a16:creationId xmlns:a16="http://schemas.microsoft.com/office/drawing/2014/main" id="{E9E3666E-AE7F-1DFA-E6E7-54A9A5A89829}"/>
                  </a:ext>
                </a:extLst>
              </p:cNvPr>
              <p:cNvSpPr>
                <a:spLocks noChangeShapeType="1"/>
              </p:cNvSpPr>
              <p:nvPr/>
            </p:nvSpPr>
            <p:spPr bwMode="auto">
              <a:xfrm flipV="1">
                <a:off x="3901"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0" name="Line 52">
                <a:extLst>
                  <a:ext uri="{FF2B5EF4-FFF2-40B4-BE49-F238E27FC236}">
                    <a16:creationId xmlns:a16="http://schemas.microsoft.com/office/drawing/2014/main" id="{341676F9-7592-A6CE-6AD4-F454D85AF5DF}"/>
                  </a:ext>
                </a:extLst>
              </p:cNvPr>
              <p:cNvSpPr>
                <a:spLocks noChangeShapeType="1"/>
              </p:cNvSpPr>
              <p:nvPr/>
            </p:nvSpPr>
            <p:spPr bwMode="auto">
              <a:xfrm flipV="1">
                <a:off x="3992"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1" name="Line 53">
                <a:extLst>
                  <a:ext uri="{FF2B5EF4-FFF2-40B4-BE49-F238E27FC236}">
                    <a16:creationId xmlns:a16="http://schemas.microsoft.com/office/drawing/2014/main" id="{47DEC4AA-9324-AF61-D704-AABD41E72A0E}"/>
                  </a:ext>
                </a:extLst>
              </p:cNvPr>
              <p:cNvSpPr>
                <a:spLocks noChangeShapeType="1"/>
              </p:cNvSpPr>
              <p:nvPr/>
            </p:nvSpPr>
            <p:spPr bwMode="auto">
              <a:xfrm flipV="1">
                <a:off x="4082"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2" name="Line 54">
                <a:extLst>
                  <a:ext uri="{FF2B5EF4-FFF2-40B4-BE49-F238E27FC236}">
                    <a16:creationId xmlns:a16="http://schemas.microsoft.com/office/drawing/2014/main" id="{738AD425-204F-F3BC-34F8-7D544A1A8AE7}"/>
                  </a:ext>
                </a:extLst>
              </p:cNvPr>
              <p:cNvSpPr>
                <a:spLocks noChangeShapeType="1"/>
              </p:cNvSpPr>
              <p:nvPr/>
            </p:nvSpPr>
            <p:spPr bwMode="auto">
              <a:xfrm flipV="1">
                <a:off x="4173"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3" name="Line 55">
                <a:extLst>
                  <a:ext uri="{FF2B5EF4-FFF2-40B4-BE49-F238E27FC236}">
                    <a16:creationId xmlns:a16="http://schemas.microsoft.com/office/drawing/2014/main" id="{DAF8DF25-D7A5-9C01-9834-61A170A54B8F}"/>
                  </a:ext>
                </a:extLst>
              </p:cNvPr>
              <p:cNvSpPr>
                <a:spLocks noChangeShapeType="1"/>
              </p:cNvSpPr>
              <p:nvPr/>
            </p:nvSpPr>
            <p:spPr bwMode="auto">
              <a:xfrm flipV="1">
                <a:off x="4264"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4" name="Line 56">
                <a:extLst>
                  <a:ext uri="{FF2B5EF4-FFF2-40B4-BE49-F238E27FC236}">
                    <a16:creationId xmlns:a16="http://schemas.microsoft.com/office/drawing/2014/main" id="{E7CF2D8A-C1EA-20D8-A04F-948613836536}"/>
                  </a:ext>
                </a:extLst>
              </p:cNvPr>
              <p:cNvSpPr>
                <a:spLocks noChangeShapeType="1"/>
              </p:cNvSpPr>
              <p:nvPr/>
            </p:nvSpPr>
            <p:spPr bwMode="auto">
              <a:xfrm flipV="1">
                <a:off x="4355"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5" name="Line 57">
                <a:extLst>
                  <a:ext uri="{FF2B5EF4-FFF2-40B4-BE49-F238E27FC236}">
                    <a16:creationId xmlns:a16="http://schemas.microsoft.com/office/drawing/2014/main" id="{F7AE94A4-ED48-AF13-41D2-E8061CF4395B}"/>
                  </a:ext>
                </a:extLst>
              </p:cNvPr>
              <p:cNvSpPr>
                <a:spLocks noChangeShapeType="1"/>
              </p:cNvSpPr>
              <p:nvPr/>
            </p:nvSpPr>
            <p:spPr bwMode="auto">
              <a:xfrm flipV="1">
                <a:off x="444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6" name="Line 58">
                <a:extLst>
                  <a:ext uri="{FF2B5EF4-FFF2-40B4-BE49-F238E27FC236}">
                    <a16:creationId xmlns:a16="http://schemas.microsoft.com/office/drawing/2014/main" id="{503043B9-00B6-8E2D-1877-421D7B95F84D}"/>
                  </a:ext>
                </a:extLst>
              </p:cNvPr>
              <p:cNvSpPr>
                <a:spLocks noChangeShapeType="1"/>
              </p:cNvSpPr>
              <p:nvPr/>
            </p:nvSpPr>
            <p:spPr bwMode="auto">
              <a:xfrm flipV="1">
                <a:off x="453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7" name="Line 59">
                <a:extLst>
                  <a:ext uri="{FF2B5EF4-FFF2-40B4-BE49-F238E27FC236}">
                    <a16:creationId xmlns:a16="http://schemas.microsoft.com/office/drawing/2014/main" id="{6F65D4A7-5614-4DAD-9ABC-FD072D6105B9}"/>
                  </a:ext>
                </a:extLst>
              </p:cNvPr>
              <p:cNvSpPr>
                <a:spLocks noChangeShapeType="1"/>
              </p:cNvSpPr>
              <p:nvPr/>
            </p:nvSpPr>
            <p:spPr bwMode="auto">
              <a:xfrm flipV="1">
                <a:off x="462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8" name="Line 60">
                <a:extLst>
                  <a:ext uri="{FF2B5EF4-FFF2-40B4-BE49-F238E27FC236}">
                    <a16:creationId xmlns:a16="http://schemas.microsoft.com/office/drawing/2014/main" id="{A2AB7A5C-70E7-E5E0-340C-7D1BB4F1449B}"/>
                  </a:ext>
                </a:extLst>
              </p:cNvPr>
              <p:cNvSpPr>
                <a:spLocks noChangeShapeType="1"/>
              </p:cNvSpPr>
              <p:nvPr/>
            </p:nvSpPr>
            <p:spPr bwMode="auto">
              <a:xfrm flipV="1">
                <a:off x="471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9" name="Line 61">
                <a:extLst>
                  <a:ext uri="{FF2B5EF4-FFF2-40B4-BE49-F238E27FC236}">
                    <a16:creationId xmlns:a16="http://schemas.microsoft.com/office/drawing/2014/main" id="{B809548F-418F-8FE8-0D21-6496C42F78A4}"/>
                  </a:ext>
                </a:extLst>
              </p:cNvPr>
              <p:cNvSpPr>
                <a:spLocks noChangeShapeType="1"/>
              </p:cNvSpPr>
              <p:nvPr/>
            </p:nvSpPr>
            <p:spPr bwMode="auto">
              <a:xfrm flipV="1">
                <a:off x="480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88" name="Rectangle 28">
              <a:extLst>
                <a:ext uri="{FF2B5EF4-FFF2-40B4-BE49-F238E27FC236}">
                  <a16:creationId xmlns:a16="http://schemas.microsoft.com/office/drawing/2014/main" id="{FC1C752B-0EBD-7B8B-0D66-E2FAA23675BA}"/>
                </a:ext>
              </a:extLst>
            </p:cNvPr>
            <p:cNvSpPr>
              <a:spLocks noChangeArrowheads="1"/>
            </p:cNvSpPr>
            <p:nvPr/>
          </p:nvSpPr>
          <p:spPr bwMode="auto">
            <a:xfrm>
              <a:off x="3931" y="3732"/>
              <a:ext cx="69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FF3300"/>
                  </a:solidFill>
                </a:rPr>
                <a:t>截止区</a:t>
              </a:r>
            </a:p>
          </p:txBody>
        </p:sp>
      </p:grpSp>
      <p:sp>
        <p:nvSpPr>
          <p:cNvPr id="110" name="Rectangle 10">
            <a:extLst>
              <a:ext uri="{FF2B5EF4-FFF2-40B4-BE49-F238E27FC236}">
                <a16:creationId xmlns:a16="http://schemas.microsoft.com/office/drawing/2014/main" id="{97D76CE1-E4DE-7362-D098-708084CBFF7B}"/>
              </a:ext>
            </a:extLst>
          </p:cNvPr>
          <p:cNvSpPr>
            <a:spLocks noChangeArrowheads="1"/>
          </p:cNvSpPr>
          <p:nvPr/>
        </p:nvSpPr>
        <p:spPr bwMode="auto">
          <a:xfrm>
            <a:off x="2062409" y="3290880"/>
            <a:ext cx="11033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t>放大区</a:t>
            </a:r>
          </a:p>
        </p:txBody>
      </p:sp>
      <p:sp>
        <p:nvSpPr>
          <p:cNvPr id="111" name="Rectangle 11">
            <a:extLst>
              <a:ext uri="{FF2B5EF4-FFF2-40B4-BE49-F238E27FC236}">
                <a16:creationId xmlns:a16="http://schemas.microsoft.com/office/drawing/2014/main" id="{8AACF557-4DBA-5576-3A06-049E47AA790A}"/>
              </a:ext>
            </a:extLst>
          </p:cNvPr>
          <p:cNvSpPr>
            <a:spLocks noChangeArrowheads="1"/>
          </p:cNvSpPr>
          <p:nvPr/>
        </p:nvSpPr>
        <p:spPr bwMode="auto">
          <a:xfrm>
            <a:off x="1078159" y="1876417"/>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0000FF"/>
                </a:solidFill>
              </a:rPr>
              <a:t>饱和区</a:t>
            </a:r>
          </a:p>
        </p:txBody>
      </p:sp>
      <p:sp>
        <p:nvSpPr>
          <p:cNvPr id="112" name="Text Box 30">
            <a:extLst>
              <a:ext uri="{FF2B5EF4-FFF2-40B4-BE49-F238E27FC236}">
                <a16:creationId xmlns:a16="http://schemas.microsoft.com/office/drawing/2014/main" id="{ADAD2781-B8EA-2E11-BC43-B247035C5CFC}"/>
              </a:ext>
            </a:extLst>
          </p:cNvPr>
          <p:cNvSpPr txBox="1">
            <a:spLocks noChangeArrowheads="1"/>
          </p:cNvSpPr>
          <p:nvPr/>
        </p:nvSpPr>
        <p:spPr bwMode="auto">
          <a:xfrm>
            <a:off x="4073771" y="4324342"/>
            <a:ext cx="415925" cy="46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spcAft>
                <a:spcPct val="0"/>
              </a:spcAft>
              <a:buFontTx/>
              <a:buNone/>
            </a:pPr>
            <a:r>
              <a:rPr kumimoji="1" lang="en-US" altLang="zh-CN" sz="2800" i="1">
                <a:latin typeface="Times New Roman" panose="02020603050405020304" pitchFamily="18" charset="0"/>
                <a:ea typeface="长城楷体" pitchFamily="49" charset="-122"/>
              </a:rPr>
              <a:t>v</a:t>
            </a:r>
            <a:r>
              <a:rPr kumimoji="1" lang="en-US" altLang="zh-CN" sz="2400" baseline="-25000">
                <a:latin typeface="Times New Roman" panose="02020603050405020304" pitchFamily="18" charset="0"/>
                <a:ea typeface="长城楷体" pitchFamily="49" charset="-122"/>
              </a:rPr>
              <a:t>CE</a:t>
            </a:r>
            <a:endParaRPr kumimoji="1" lang="zh-CN" altLang="en-US" sz="2400">
              <a:latin typeface="Times New Roman" panose="02020603050405020304" pitchFamily="18" charset="0"/>
              <a:ea typeface="长城楷体" pitchFamily="49" charset="-122"/>
            </a:endParaRPr>
          </a:p>
        </p:txBody>
      </p:sp>
      <p:sp>
        <p:nvSpPr>
          <p:cNvPr id="113" name="Text Box 31">
            <a:extLst>
              <a:ext uri="{FF2B5EF4-FFF2-40B4-BE49-F238E27FC236}">
                <a16:creationId xmlns:a16="http://schemas.microsoft.com/office/drawing/2014/main" id="{B289C6EF-9A22-F415-AB3D-E84B1D9B76D8}"/>
              </a:ext>
            </a:extLst>
          </p:cNvPr>
          <p:cNvSpPr txBox="1">
            <a:spLocks noChangeArrowheads="1"/>
          </p:cNvSpPr>
          <p:nvPr/>
        </p:nvSpPr>
        <p:spPr bwMode="auto">
          <a:xfrm>
            <a:off x="609846" y="2062155"/>
            <a:ext cx="23018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C</a:t>
            </a:r>
            <a:endParaRPr kumimoji="1" lang="zh-CN" altLang="en-US" sz="2400">
              <a:latin typeface="Times New Roman" panose="02020603050405020304" pitchFamily="18" charset="0"/>
              <a:ea typeface="长城楷体" pitchFamily="49" charset="-122"/>
            </a:endParaRPr>
          </a:p>
        </p:txBody>
      </p:sp>
      <p:sp>
        <p:nvSpPr>
          <p:cNvPr id="114" name="Line 34">
            <a:extLst>
              <a:ext uri="{FF2B5EF4-FFF2-40B4-BE49-F238E27FC236}">
                <a16:creationId xmlns:a16="http://schemas.microsoft.com/office/drawing/2014/main" id="{4D7D5E07-EF79-096D-5F0F-2A9D679DD18C}"/>
              </a:ext>
            </a:extLst>
          </p:cNvPr>
          <p:cNvSpPr>
            <a:spLocks noChangeShapeType="1"/>
          </p:cNvSpPr>
          <p:nvPr/>
        </p:nvSpPr>
        <p:spPr bwMode="auto">
          <a:xfrm flipV="1">
            <a:off x="1041646" y="2171692"/>
            <a:ext cx="0" cy="235585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15" name="Text Box 36">
            <a:extLst>
              <a:ext uri="{FF2B5EF4-FFF2-40B4-BE49-F238E27FC236}">
                <a16:creationId xmlns:a16="http://schemas.microsoft.com/office/drawing/2014/main" id="{D3BB509F-B7E3-B8E5-FA5B-CA5A40A99DA5}"/>
              </a:ext>
            </a:extLst>
          </p:cNvPr>
          <p:cNvSpPr txBox="1">
            <a:spLocks noChangeArrowheads="1"/>
          </p:cNvSpPr>
          <p:nvPr/>
        </p:nvSpPr>
        <p:spPr bwMode="auto">
          <a:xfrm>
            <a:off x="697159" y="4449755"/>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O</a:t>
            </a:r>
          </a:p>
        </p:txBody>
      </p:sp>
      <p:sp>
        <p:nvSpPr>
          <p:cNvPr id="116" name="Freeform 37">
            <a:extLst>
              <a:ext uri="{FF2B5EF4-FFF2-40B4-BE49-F238E27FC236}">
                <a16:creationId xmlns:a16="http://schemas.microsoft.com/office/drawing/2014/main" id="{C6EE9F8E-E579-D73F-FB37-3F71758FAEB1}"/>
              </a:ext>
            </a:extLst>
          </p:cNvPr>
          <p:cNvSpPr>
            <a:spLocks/>
          </p:cNvSpPr>
          <p:nvPr/>
        </p:nvSpPr>
        <p:spPr bwMode="auto">
          <a:xfrm>
            <a:off x="1047996" y="4386255"/>
            <a:ext cx="2805113" cy="144462"/>
          </a:xfrm>
          <a:custGeom>
            <a:avLst/>
            <a:gdLst>
              <a:gd name="T0" fmla="*/ 0 w 2191"/>
              <a:gd name="T1" fmla="*/ 2147483646 h 96"/>
              <a:gd name="T2" fmla="*/ 2147483646 w 2191"/>
              <a:gd name="T3" fmla="*/ 2147483646 h 96"/>
              <a:gd name="T4" fmla="*/ 2147483646 w 2191"/>
              <a:gd name="T5" fmla="*/ 2147483646 h 96"/>
              <a:gd name="T6" fmla="*/ 2147483646 w 2191"/>
              <a:gd name="T7" fmla="*/ 0 h 96"/>
              <a:gd name="T8" fmla="*/ 0 60000 65536"/>
              <a:gd name="T9" fmla="*/ 0 60000 65536"/>
              <a:gd name="T10" fmla="*/ 0 60000 65536"/>
              <a:gd name="T11" fmla="*/ 0 60000 65536"/>
              <a:gd name="T12" fmla="*/ 0 w 2191"/>
              <a:gd name="T13" fmla="*/ 0 h 96"/>
              <a:gd name="T14" fmla="*/ 2191 w 2191"/>
              <a:gd name="T15" fmla="*/ 96 h 96"/>
            </a:gdLst>
            <a:ahLst/>
            <a:cxnLst>
              <a:cxn ang="T8">
                <a:pos x="T0" y="T1"/>
              </a:cxn>
              <a:cxn ang="T9">
                <a:pos x="T2" y="T3"/>
              </a:cxn>
              <a:cxn ang="T10">
                <a:pos x="T4" y="T5"/>
              </a:cxn>
              <a:cxn ang="T11">
                <a:pos x="T6" y="T7"/>
              </a:cxn>
            </a:cxnLst>
            <a:rect l="T12" t="T13" r="T14" b="T15"/>
            <a:pathLst>
              <a:path w="2191" h="96">
                <a:moveTo>
                  <a:pt x="0" y="96"/>
                </a:moveTo>
                <a:cubicBezTo>
                  <a:pt x="32" y="85"/>
                  <a:pt x="83" y="42"/>
                  <a:pt x="194" y="27"/>
                </a:cubicBezTo>
                <a:cubicBezTo>
                  <a:pt x="305" y="12"/>
                  <a:pt x="331" y="12"/>
                  <a:pt x="664" y="8"/>
                </a:cubicBezTo>
                <a:cubicBezTo>
                  <a:pt x="997" y="4"/>
                  <a:pt x="1873" y="2"/>
                  <a:pt x="2191"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grpSp>
        <p:nvGrpSpPr>
          <p:cNvPr id="117" name="Group 102">
            <a:extLst>
              <a:ext uri="{FF2B5EF4-FFF2-40B4-BE49-F238E27FC236}">
                <a16:creationId xmlns:a16="http://schemas.microsoft.com/office/drawing/2014/main" id="{F5F3C2F7-40A4-8A5C-DC5B-71740AE9418C}"/>
              </a:ext>
            </a:extLst>
          </p:cNvPr>
          <p:cNvGrpSpPr>
            <a:grpSpLocks/>
          </p:cNvGrpSpPr>
          <p:nvPr/>
        </p:nvGrpSpPr>
        <p:grpSpPr bwMode="auto">
          <a:xfrm>
            <a:off x="1067046" y="3316280"/>
            <a:ext cx="2789238" cy="1195387"/>
            <a:chOff x="3304" y="2931"/>
            <a:chExt cx="1757" cy="753"/>
          </a:xfrm>
        </p:grpSpPr>
        <p:sp>
          <p:nvSpPr>
            <p:cNvPr id="118" name="Freeform 38">
              <a:extLst>
                <a:ext uri="{FF2B5EF4-FFF2-40B4-BE49-F238E27FC236}">
                  <a16:creationId xmlns:a16="http://schemas.microsoft.com/office/drawing/2014/main" id="{9241B63F-F7A0-972B-2E0D-445CBBADECF5}"/>
                </a:ext>
              </a:extLst>
            </p:cNvPr>
            <p:cNvSpPr>
              <a:spLocks/>
            </p:cNvSpPr>
            <p:nvPr/>
          </p:nvSpPr>
          <p:spPr bwMode="auto">
            <a:xfrm>
              <a:off x="3304" y="3252"/>
              <a:ext cx="1757" cy="432"/>
            </a:xfrm>
            <a:custGeom>
              <a:avLst/>
              <a:gdLst>
                <a:gd name="T0" fmla="*/ 0 w 2124"/>
                <a:gd name="T1" fmla="*/ 141 h 478"/>
                <a:gd name="T2" fmla="*/ 16 w 2124"/>
                <a:gd name="T3" fmla="*/ 42 h 478"/>
                <a:gd name="T4" fmla="*/ 64 w 2124"/>
                <a:gd name="T5" fmla="*/ 11 h 478"/>
                <a:gd name="T6" fmla="*/ 165 w 2124"/>
                <a:gd name="T7" fmla="*/ 5 h 478"/>
                <a:gd name="T8" fmla="*/ 218 w 2124"/>
                <a:gd name="T9" fmla="*/ 2 h 478"/>
                <a:gd name="T10" fmla="*/ 0 60000 65536"/>
                <a:gd name="T11" fmla="*/ 0 60000 65536"/>
                <a:gd name="T12" fmla="*/ 0 60000 65536"/>
                <a:gd name="T13" fmla="*/ 0 60000 65536"/>
                <a:gd name="T14" fmla="*/ 0 60000 65536"/>
                <a:gd name="T15" fmla="*/ 0 w 2124"/>
                <a:gd name="T16" fmla="*/ 0 h 478"/>
                <a:gd name="T17" fmla="*/ 2124 w 2124"/>
                <a:gd name="T18" fmla="*/ 478 h 478"/>
              </a:gdLst>
              <a:ahLst/>
              <a:cxnLst>
                <a:cxn ang="T10">
                  <a:pos x="T0" y="T1"/>
                </a:cxn>
                <a:cxn ang="T11">
                  <a:pos x="T2" y="T3"/>
                </a:cxn>
                <a:cxn ang="T12">
                  <a:pos x="T4" y="T5"/>
                </a:cxn>
                <a:cxn ang="T13">
                  <a:pos x="T6" y="T7"/>
                </a:cxn>
                <a:cxn ang="T14">
                  <a:pos x="T8" y="T9"/>
                </a:cxn>
              </a:cxnLst>
              <a:rect l="T15" t="T16" r="T17" b="T18"/>
              <a:pathLst>
                <a:path w="2124" h="478">
                  <a:moveTo>
                    <a:pt x="0" y="478"/>
                  </a:moveTo>
                  <a:cubicBezTo>
                    <a:pt x="25" y="422"/>
                    <a:pt x="49" y="215"/>
                    <a:pt x="152" y="141"/>
                  </a:cubicBezTo>
                  <a:cubicBezTo>
                    <a:pt x="255" y="67"/>
                    <a:pt x="372" y="59"/>
                    <a:pt x="615" y="37"/>
                  </a:cubicBezTo>
                  <a:cubicBezTo>
                    <a:pt x="858" y="15"/>
                    <a:pt x="1362" y="12"/>
                    <a:pt x="1613" y="6"/>
                  </a:cubicBezTo>
                  <a:cubicBezTo>
                    <a:pt x="1864" y="0"/>
                    <a:pt x="2018" y="3"/>
                    <a:pt x="2124" y="2"/>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sp>
          <p:nvSpPr>
            <p:cNvPr id="119" name="Text Box 63">
              <a:extLst>
                <a:ext uri="{FF2B5EF4-FFF2-40B4-BE49-F238E27FC236}">
                  <a16:creationId xmlns:a16="http://schemas.microsoft.com/office/drawing/2014/main" id="{6D6DC9D4-2737-2017-4E43-29D89554A4A8}"/>
                </a:ext>
              </a:extLst>
            </p:cNvPr>
            <p:cNvSpPr txBox="1">
              <a:spLocks noChangeArrowheads="1"/>
            </p:cNvSpPr>
            <p:nvPr/>
          </p:nvSpPr>
          <p:spPr bwMode="auto">
            <a:xfrm>
              <a:off x="4782" y="2931"/>
              <a:ext cx="234"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B1 </a:t>
              </a:r>
              <a:endParaRPr kumimoji="1" lang="en-US" altLang="zh-CN" sz="2400">
                <a:latin typeface="Times New Roman" panose="02020603050405020304" pitchFamily="18" charset="0"/>
                <a:ea typeface="长城楷体" pitchFamily="49" charset="-122"/>
              </a:endParaRPr>
            </a:p>
          </p:txBody>
        </p:sp>
      </p:grpSp>
      <p:grpSp>
        <p:nvGrpSpPr>
          <p:cNvPr id="120" name="Group 103">
            <a:extLst>
              <a:ext uri="{FF2B5EF4-FFF2-40B4-BE49-F238E27FC236}">
                <a16:creationId xmlns:a16="http://schemas.microsoft.com/office/drawing/2014/main" id="{FB02A071-52BB-F6BB-129E-89C0D27D9A8A}"/>
              </a:ext>
            </a:extLst>
          </p:cNvPr>
          <p:cNvGrpSpPr>
            <a:grpSpLocks/>
          </p:cNvGrpSpPr>
          <p:nvPr/>
        </p:nvGrpSpPr>
        <p:grpSpPr bwMode="auto">
          <a:xfrm>
            <a:off x="1068634" y="2697155"/>
            <a:ext cx="2798762" cy="1808162"/>
            <a:chOff x="3305" y="2541"/>
            <a:chExt cx="1763" cy="1139"/>
          </a:xfrm>
        </p:grpSpPr>
        <p:sp>
          <p:nvSpPr>
            <p:cNvPr id="121" name="Freeform 32">
              <a:extLst>
                <a:ext uri="{FF2B5EF4-FFF2-40B4-BE49-F238E27FC236}">
                  <a16:creationId xmlns:a16="http://schemas.microsoft.com/office/drawing/2014/main" id="{538A377C-446F-9F30-9A79-8C9C6F179681}"/>
                </a:ext>
              </a:extLst>
            </p:cNvPr>
            <p:cNvSpPr>
              <a:spLocks/>
            </p:cNvSpPr>
            <p:nvPr/>
          </p:nvSpPr>
          <p:spPr bwMode="auto">
            <a:xfrm>
              <a:off x="3305" y="2886"/>
              <a:ext cx="1763" cy="794"/>
            </a:xfrm>
            <a:custGeom>
              <a:avLst/>
              <a:gdLst>
                <a:gd name="T0" fmla="*/ 0 w 2132"/>
                <a:gd name="T1" fmla="*/ 141 h 929"/>
                <a:gd name="T2" fmla="*/ 12 w 2132"/>
                <a:gd name="T3" fmla="*/ 48 h 929"/>
                <a:gd name="T4" fmla="*/ 47 w 2132"/>
                <a:gd name="T5" fmla="*/ 13 h 929"/>
                <a:gd name="T6" fmla="*/ 129 w 2132"/>
                <a:gd name="T7" fmla="*/ 3 h 929"/>
                <a:gd name="T8" fmla="*/ 217 w 2132"/>
                <a:gd name="T9" fmla="*/ 3 h 929"/>
                <a:gd name="T10" fmla="*/ 0 60000 65536"/>
                <a:gd name="T11" fmla="*/ 0 60000 65536"/>
                <a:gd name="T12" fmla="*/ 0 60000 65536"/>
                <a:gd name="T13" fmla="*/ 0 60000 65536"/>
                <a:gd name="T14" fmla="*/ 0 60000 65536"/>
                <a:gd name="T15" fmla="*/ 0 w 2132"/>
                <a:gd name="T16" fmla="*/ 0 h 929"/>
                <a:gd name="T17" fmla="*/ 2132 w 2132"/>
                <a:gd name="T18" fmla="*/ 929 h 929"/>
              </a:gdLst>
              <a:ahLst/>
              <a:cxnLst>
                <a:cxn ang="T10">
                  <a:pos x="T0" y="T1"/>
                </a:cxn>
                <a:cxn ang="T11">
                  <a:pos x="T2" y="T3"/>
                </a:cxn>
                <a:cxn ang="T12">
                  <a:pos x="T4" y="T5"/>
                </a:cxn>
                <a:cxn ang="T13">
                  <a:pos x="T6" y="T7"/>
                </a:cxn>
                <a:cxn ang="T14">
                  <a:pos x="T8" y="T9"/>
                </a:cxn>
              </a:cxnLst>
              <a:rect l="T15" t="T16" r="T17" b="T18"/>
              <a:pathLst>
                <a:path w="2132" h="929">
                  <a:moveTo>
                    <a:pt x="0" y="929"/>
                  </a:moveTo>
                  <a:cubicBezTo>
                    <a:pt x="21" y="827"/>
                    <a:pt x="49" y="459"/>
                    <a:pt x="125" y="318"/>
                  </a:cubicBezTo>
                  <a:cubicBezTo>
                    <a:pt x="201" y="177"/>
                    <a:pt x="266" y="134"/>
                    <a:pt x="456" y="83"/>
                  </a:cubicBezTo>
                  <a:cubicBezTo>
                    <a:pt x="646" y="32"/>
                    <a:pt x="989" y="26"/>
                    <a:pt x="1268" y="13"/>
                  </a:cubicBezTo>
                  <a:cubicBezTo>
                    <a:pt x="1547" y="0"/>
                    <a:pt x="1988" y="6"/>
                    <a:pt x="2132" y="4"/>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22" name="Text Box 64">
              <a:extLst>
                <a:ext uri="{FF2B5EF4-FFF2-40B4-BE49-F238E27FC236}">
                  <a16:creationId xmlns:a16="http://schemas.microsoft.com/office/drawing/2014/main" id="{D6ABE04D-9771-103A-BA79-6540349DB171}"/>
                </a:ext>
              </a:extLst>
            </p:cNvPr>
            <p:cNvSpPr txBox="1">
              <a:spLocks noChangeArrowheads="1"/>
            </p:cNvSpPr>
            <p:nvPr/>
          </p:nvSpPr>
          <p:spPr bwMode="auto">
            <a:xfrm>
              <a:off x="4782" y="2541"/>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B2</a:t>
              </a:r>
              <a:endParaRPr kumimoji="1" lang="en-US" altLang="zh-CN" sz="2400">
                <a:latin typeface="Times New Roman" panose="02020603050405020304" pitchFamily="18" charset="0"/>
                <a:ea typeface="长城楷体" pitchFamily="49" charset="-122"/>
              </a:endParaRPr>
            </a:p>
          </p:txBody>
        </p:sp>
      </p:grpSp>
      <p:grpSp>
        <p:nvGrpSpPr>
          <p:cNvPr id="123" name="Group 104">
            <a:extLst>
              <a:ext uri="{FF2B5EF4-FFF2-40B4-BE49-F238E27FC236}">
                <a16:creationId xmlns:a16="http://schemas.microsoft.com/office/drawing/2014/main" id="{7F3BCB77-FAD4-8D50-F89B-15F276957341}"/>
              </a:ext>
            </a:extLst>
          </p:cNvPr>
          <p:cNvGrpSpPr>
            <a:grpSpLocks/>
          </p:cNvGrpSpPr>
          <p:nvPr/>
        </p:nvGrpSpPr>
        <p:grpSpPr bwMode="auto">
          <a:xfrm>
            <a:off x="1038471" y="2074855"/>
            <a:ext cx="2778125" cy="2430462"/>
            <a:chOff x="3286" y="2149"/>
            <a:chExt cx="1750" cy="1531"/>
          </a:xfrm>
        </p:grpSpPr>
        <p:sp>
          <p:nvSpPr>
            <p:cNvPr id="124" name="Freeform 33">
              <a:extLst>
                <a:ext uri="{FF2B5EF4-FFF2-40B4-BE49-F238E27FC236}">
                  <a16:creationId xmlns:a16="http://schemas.microsoft.com/office/drawing/2014/main" id="{35CC0E26-F11E-609D-09C3-8B066C1D8933}"/>
                </a:ext>
              </a:extLst>
            </p:cNvPr>
            <p:cNvSpPr>
              <a:spLocks/>
            </p:cNvSpPr>
            <p:nvPr/>
          </p:nvSpPr>
          <p:spPr bwMode="auto">
            <a:xfrm>
              <a:off x="3286" y="2464"/>
              <a:ext cx="1750" cy="1216"/>
            </a:xfrm>
            <a:custGeom>
              <a:avLst/>
              <a:gdLst>
                <a:gd name="T0" fmla="*/ 0 w 2116"/>
                <a:gd name="T1" fmla="*/ 404 h 1344"/>
                <a:gd name="T2" fmla="*/ 18 w 2116"/>
                <a:gd name="T3" fmla="*/ 159 h 1344"/>
                <a:gd name="T4" fmla="*/ 36 w 2116"/>
                <a:gd name="T5" fmla="*/ 47 h 1344"/>
                <a:gd name="T6" fmla="*/ 82 w 2116"/>
                <a:gd name="T7" fmla="*/ 11 h 1344"/>
                <a:gd name="T8" fmla="*/ 217 w 2116"/>
                <a:gd name="T9" fmla="*/ 0 h 1344"/>
                <a:gd name="T10" fmla="*/ 0 60000 65536"/>
                <a:gd name="T11" fmla="*/ 0 60000 65536"/>
                <a:gd name="T12" fmla="*/ 0 60000 65536"/>
                <a:gd name="T13" fmla="*/ 0 60000 65536"/>
                <a:gd name="T14" fmla="*/ 0 60000 65536"/>
                <a:gd name="T15" fmla="*/ 0 w 2116"/>
                <a:gd name="T16" fmla="*/ 0 h 1344"/>
                <a:gd name="T17" fmla="*/ 2116 w 2116"/>
                <a:gd name="T18" fmla="*/ 1344 h 1344"/>
              </a:gdLst>
              <a:ahLst/>
              <a:cxnLst>
                <a:cxn ang="T10">
                  <a:pos x="T0" y="T1"/>
                </a:cxn>
                <a:cxn ang="T11">
                  <a:pos x="T2" y="T3"/>
                </a:cxn>
                <a:cxn ang="T12">
                  <a:pos x="T4" y="T5"/>
                </a:cxn>
                <a:cxn ang="T13">
                  <a:pos x="T6" y="T7"/>
                </a:cxn>
                <a:cxn ang="T14">
                  <a:pos x="T8" y="T9"/>
                </a:cxn>
              </a:cxnLst>
              <a:rect l="T15" t="T16" r="T17" b="T18"/>
              <a:pathLst>
                <a:path w="2116" h="1344">
                  <a:moveTo>
                    <a:pt x="0" y="1344"/>
                  </a:moveTo>
                  <a:cubicBezTo>
                    <a:pt x="30" y="1209"/>
                    <a:pt x="120" y="730"/>
                    <a:pt x="179" y="532"/>
                  </a:cubicBezTo>
                  <a:cubicBezTo>
                    <a:pt x="238" y="334"/>
                    <a:pt x="250" y="240"/>
                    <a:pt x="353" y="157"/>
                  </a:cubicBezTo>
                  <a:cubicBezTo>
                    <a:pt x="456" y="74"/>
                    <a:pt x="506" y="60"/>
                    <a:pt x="800" y="34"/>
                  </a:cubicBezTo>
                  <a:cubicBezTo>
                    <a:pt x="1094" y="8"/>
                    <a:pt x="1897" y="6"/>
                    <a:pt x="2116"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25" name="Text Box 65">
              <a:extLst>
                <a:ext uri="{FF2B5EF4-FFF2-40B4-BE49-F238E27FC236}">
                  <a16:creationId xmlns:a16="http://schemas.microsoft.com/office/drawing/2014/main" id="{BEEBE0BA-E3D0-DC81-DE1A-F4674ED281A2}"/>
                </a:ext>
              </a:extLst>
            </p:cNvPr>
            <p:cNvSpPr txBox="1">
              <a:spLocks noChangeArrowheads="1"/>
            </p:cNvSpPr>
            <p:nvPr/>
          </p:nvSpPr>
          <p:spPr bwMode="auto">
            <a:xfrm>
              <a:off x="4782" y="2149"/>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B3</a:t>
              </a:r>
              <a:endParaRPr kumimoji="1" lang="en-US" altLang="zh-CN" sz="2400">
                <a:latin typeface="Times New Roman" panose="02020603050405020304" pitchFamily="18" charset="0"/>
                <a:ea typeface="长城楷体" pitchFamily="49" charset="-122"/>
              </a:endParaRPr>
            </a:p>
          </p:txBody>
        </p:sp>
      </p:grpSp>
      <p:grpSp>
        <p:nvGrpSpPr>
          <p:cNvPr id="126" name="Group 81">
            <a:extLst>
              <a:ext uri="{FF2B5EF4-FFF2-40B4-BE49-F238E27FC236}">
                <a16:creationId xmlns:a16="http://schemas.microsoft.com/office/drawing/2014/main" id="{A97E0739-DEE7-6AAE-BDDB-2955E6D4DBD2}"/>
              </a:ext>
            </a:extLst>
          </p:cNvPr>
          <p:cNvGrpSpPr>
            <a:grpSpLocks/>
          </p:cNvGrpSpPr>
          <p:nvPr/>
        </p:nvGrpSpPr>
        <p:grpSpPr bwMode="auto">
          <a:xfrm>
            <a:off x="1025771" y="2398705"/>
            <a:ext cx="592138" cy="2128837"/>
            <a:chOff x="3278" y="1161"/>
            <a:chExt cx="556" cy="1483"/>
          </a:xfrm>
        </p:grpSpPr>
        <p:sp>
          <p:nvSpPr>
            <p:cNvPr id="127" name="Freeform 62">
              <a:extLst>
                <a:ext uri="{FF2B5EF4-FFF2-40B4-BE49-F238E27FC236}">
                  <a16:creationId xmlns:a16="http://schemas.microsoft.com/office/drawing/2014/main" id="{F0D1CF10-115D-D154-5A75-E2FA12785E06}"/>
                </a:ext>
              </a:extLst>
            </p:cNvPr>
            <p:cNvSpPr>
              <a:spLocks/>
            </p:cNvSpPr>
            <p:nvPr/>
          </p:nvSpPr>
          <p:spPr bwMode="auto">
            <a:xfrm>
              <a:off x="3278" y="1161"/>
              <a:ext cx="556" cy="1483"/>
            </a:xfrm>
            <a:custGeom>
              <a:avLst/>
              <a:gdLst>
                <a:gd name="T0" fmla="*/ 0 w 588"/>
                <a:gd name="T1" fmla="*/ 1156 h 1517"/>
                <a:gd name="T2" fmla="*/ 73 w 588"/>
                <a:gd name="T3" fmla="*/ 1123 h 1517"/>
                <a:gd name="T4" fmla="*/ 148 w 588"/>
                <a:gd name="T5" fmla="*/ 1011 h 1517"/>
                <a:gd name="T6" fmla="*/ 212 w 588"/>
                <a:gd name="T7" fmla="*/ 712 h 1517"/>
                <a:gd name="T8" fmla="*/ 265 w 588"/>
                <a:gd name="T9" fmla="*/ 320 h 1517"/>
                <a:gd name="T10" fmla="*/ 301 w 588"/>
                <a:gd name="T11" fmla="*/ 0 h 1517"/>
                <a:gd name="T12" fmla="*/ 0 60000 65536"/>
                <a:gd name="T13" fmla="*/ 0 60000 65536"/>
                <a:gd name="T14" fmla="*/ 0 60000 65536"/>
                <a:gd name="T15" fmla="*/ 0 60000 65536"/>
                <a:gd name="T16" fmla="*/ 0 60000 65536"/>
                <a:gd name="T17" fmla="*/ 0 60000 65536"/>
                <a:gd name="T18" fmla="*/ 0 w 588"/>
                <a:gd name="T19" fmla="*/ 0 h 1517"/>
                <a:gd name="T20" fmla="*/ 588 w 588"/>
                <a:gd name="T21" fmla="*/ 1517 h 1517"/>
              </a:gdLst>
              <a:ahLst/>
              <a:cxnLst>
                <a:cxn ang="T12">
                  <a:pos x="T0" y="T1"/>
                </a:cxn>
                <a:cxn ang="T13">
                  <a:pos x="T2" y="T3"/>
                </a:cxn>
                <a:cxn ang="T14">
                  <a:pos x="T4" y="T5"/>
                </a:cxn>
                <a:cxn ang="T15">
                  <a:pos x="T6" y="T7"/>
                </a:cxn>
                <a:cxn ang="T16">
                  <a:pos x="T8" y="T9"/>
                </a:cxn>
                <a:cxn ang="T17">
                  <a:pos x="T10" y="T11"/>
                </a:cxn>
              </a:cxnLst>
              <a:rect l="T18" t="T19" r="T20" b="T21"/>
              <a:pathLst>
                <a:path w="588" h="1517">
                  <a:moveTo>
                    <a:pt x="0" y="1517"/>
                  </a:moveTo>
                  <a:cubicBezTo>
                    <a:pt x="24" y="1510"/>
                    <a:pt x="95" y="1507"/>
                    <a:pt x="143" y="1475"/>
                  </a:cubicBezTo>
                  <a:cubicBezTo>
                    <a:pt x="191" y="1443"/>
                    <a:pt x="246" y="1417"/>
                    <a:pt x="291" y="1327"/>
                  </a:cubicBezTo>
                  <a:cubicBezTo>
                    <a:pt x="336" y="1237"/>
                    <a:pt x="376" y="1085"/>
                    <a:pt x="414" y="934"/>
                  </a:cubicBezTo>
                  <a:cubicBezTo>
                    <a:pt x="452" y="783"/>
                    <a:pt x="489" y="575"/>
                    <a:pt x="518" y="419"/>
                  </a:cubicBezTo>
                  <a:cubicBezTo>
                    <a:pt x="547" y="263"/>
                    <a:pt x="574" y="87"/>
                    <a:pt x="588" y="0"/>
                  </a:cubicBezTo>
                </a:path>
              </a:pathLst>
            </a:custGeom>
            <a:noFill/>
            <a:ln w="28575">
              <a:solidFill>
                <a:srgbClr val="0000FF"/>
              </a:solidFill>
              <a:prstDash val="dash"/>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nvGrpSpPr>
            <p:cNvPr id="128" name="Group 66">
              <a:extLst>
                <a:ext uri="{FF2B5EF4-FFF2-40B4-BE49-F238E27FC236}">
                  <a16:creationId xmlns:a16="http://schemas.microsoft.com/office/drawing/2014/main" id="{1E295989-511D-C7C9-C366-D62B33C0B31A}"/>
                </a:ext>
              </a:extLst>
            </p:cNvPr>
            <p:cNvGrpSpPr>
              <a:grpSpLocks/>
            </p:cNvGrpSpPr>
            <p:nvPr/>
          </p:nvGrpSpPr>
          <p:grpSpPr bwMode="auto">
            <a:xfrm>
              <a:off x="3290" y="1161"/>
              <a:ext cx="476" cy="1407"/>
              <a:chOff x="3334" y="1117"/>
              <a:chExt cx="465" cy="1429"/>
            </a:xfrm>
          </p:grpSpPr>
          <p:sp>
            <p:nvSpPr>
              <p:cNvPr id="129" name="Line 67">
                <a:extLst>
                  <a:ext uri="{FF2B5EF4-FFF2-40B4-BE49-F238E27FC236}">
                    <a16:creationId xmlns:a16="http://schemas.microsoft.com/office/drawing/2014/main" id="{AF900B12-4A98-64C0-EAC0-1ED6515E0848}"/>
                  </a:ext>
                </a:extLst>
              </p:cNvPr>
              <p:cNvSpPr>
                <a:spLocks noChangeShapeType="1"/>
              </p:cNvSpPr>
              <p:nvPr/>
            </p:nvSpPr>
            <p:spPr bwMode="auto">
              <a:xfrm>
                <a:off x="3606" y="1117"/>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0" name="Line 68">
                <a:extLst>
                  <a:ext uri="{FF2B5EF4-FFF2-40B4-BE49-F238E27FC236}">
                    <a16:creationId xmlns:a16="http://schemas.microsoft.com/office/drawing/2014/main" id="{F7E8D60C-F1C3-68AB-2F6A-8214D94FC790}"/>
                  </a:ext>
                </a:extLst>
              </p:cNvPr>
              <p:cNvSpPr>
                <a:spLocks noChangeShapeType="1"/>
              </p:cNvSpPr>
              <p:nvPr/>
            </p:nvSpPr>
            <p:spPr bwMode="auto">
              <a:xfrm>
                <a:off x="3470" y="1117"/>
                <a:ext cx="301" cy="30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1" name="Line 69">
                <a:extLst>
                  <a:ext uri="{FF2B5EF4-FFF2-40B4-BE49-F238E27FC236}">
                    <a16:creationId xmlns:a16="http://schemas.microsoft.com/office/drawing/2014/main" id="{73AB68EE-BC53-4793-D682-2BB9897CB6EE}"/>
                  </a:ext>
                </a:extLst>
              </p:cNvPr>
              <p:cNvSpPr>
                <a:spLocks noChangeShapeType="1"/>
              </p:cNvSpPr>
              <p:nvPr/>
            </p:nvSpPr>
            <p:spPr bwMode="auto">
              <a:xfrm>
                <a:off x="3334" y="1117"/>
                <a:ext cx="433" cy="433"/>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2" name="Line 70">
                <a:extLst>
                  <a:ext uri="{FF2B5EF4-FFF2-40B4-BE49-F238E27FC236}">
                    <a16:creationId xmlns:a16="http://schemas.microsoft.com/office/drawing/2014/main" id="{AD741981-D2D4-56D9-896C-87A76FF8A05B}"/>
                  </a:ext>
                </a:extLst>
              </p:cNvPr>
              <p:cNvSpPr>
                <a:spLocks noChangeShapeType="1"/>
              </p:cNvSpPr>
              <p:nvPr/>
            </p:nvSpPr>
            <p:spPr bwMode="auto">
              <a:xfrm>
                <a:off x="3334" y="1253"/>
                <a:ext cx="424" cy="42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3" name="Line 71">
                <a:extLst>
                  <a:ext uri="{FF2B5EF4-FFF2-40B4-BE49-F238E27FC236}">
                    <a16:creationId xmlns:a16="http://schemas.microsoft.com/office/drawing/2014/main" id="{50A1B51E-4A1D-4517-E785-C3C07CFF0EBE}"/>
                  </a:ext>
                </a:extLst>
              </p:cNvPr>
              <p:cNvSpPr>
                <a:spLocks noChangeShapeType="1"/>
              </p:cNvSpPr>
              <p:nvPr/>
            </p:nvSpPr>
            <p:spPr bwMode="auto">
              <a:xfrm>
                <a:off x="3334" y="1389"/>
                <a:ext cx="408" cy="40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4" name="Line 72">
                <a:extLst>
                  <a:ext uri="{FF2B5EF4-FFF2-40B4-BE49-F238E27FC236}">
                    <a16:creationId xmlns:a16="http://schemas.microsoft.com/office/drawing/2014/main" id="{95ED3E2A-AB7A-4932-73F0-D270B97C4153}"/>
                  </a:ext>
                </a:extLst>
              </p:cNvPr>
              <p:cNvSpPr>
                <a:spLocks noChangeShapeType="1"/>
              </p:cNvSpPr>
              <p:nvPr/>
            </p:nvSpPr>
            <p:spPr bwMode="auto">
              <a:xfrm>
                <a:off x="3334" y="1525"/>
                <a:ext cx="388" cy="38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5" name="Line 73">
                <a:extLst>
                  <a:ext uri="{FF2B5EF4-FFF2-40B4-BE49-F238E27FC236}">
                    <a16:creationId xmlns:a16="http://schemas.microsoft.com/office/drawing/2014/main" id="{0307315B-BD08-C393-13BF-E522CAD6E1E2}"/>
                  </a:ext>
                </a:extLst>
              </p:cNvPr>
              <p:cNvSpPr>
                <a:spLocks noChangeShapeType="1"/>
              </p:cNvSpPr>
              <p:nvPr/>
            </p:nvSpPr>
            <p:spPr bwMode="auto">
              <a:xfrm>
                <a:off x="3334" y="1661"/>
                <a:ext cx="364" cy="36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6" name="Line 74">
                <a:extLst>
                  <a:ext uri="{FF2B5EF4-FFF2-40B4-BE49-F238E27FC236}">
                    <a16:creationId xmlns:a16="http://schemas.microsoft.com/office/drawing/2014/main" id="{0DD9FD9A-7112-080F-3D35-53E43040B9CC}"/>
                  </a:ext>
                </a:extLst>
              </p:cNvPr>
              <p:cNvSpPr>
                <a:spLocks noChangeShapeType="1"/>
              </p:cNvSpPr>
              <p:nvPr/>
            </p:nvSpPr>
            <p:spPr bwMode="auto">
              <a:xfrm>
                <a:off x="3334" y="1797"/>
                <a:ext cx="348" cy="34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7" name="Line 75">
                <a:extLst>
                  <a:ext uri="{FF2B5EF4-FFF2-40B4-BE49-F238E27FC236}">
                    <a16:creationId xmlns:a16="http://schemas.microsoft.com/office/drawing/2014/main" id="{A714C802-C6EE-6A72-B253-9EC945B09B9A}"/>
                  </a:ext>
                </a:extLst>
              </p:cNvPr>
              <p:cNvSpPr>
                <a:spLocks noChangeShapeType="1"/>
              </p:cNvSpPr>
              <p:nvPr/>
            </p:nvSpPr>
            <p:spPr bwMode="auto">
              <a:xfrm>
                <a:off x="3334" y="1933"/>
                <a:ext cx="316" cy="316"/>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8" name="Line 76">
                <a:extLst>
                  <a:ext uri="{FF2B5EF4-FFF2-40B4-BE49-F238E27FC236}">
                    <a16:creationId xmlns:a16="http://schemas.microsoft.com/office/drawing/2014/main" id="{CDA3C2CD-C64D-65A6-FC85-67BE55C9449E}"/>
                  </a:ext>
                </a:extLst>
              </p:cNvPr>
              <p:cNvSpPr>
                <a:spLocks noChangeShapeType="1"/>
              </p:cNvSpPr>
              <p:nvPr/>
            </p:nvSpPr>
            <p:spPr bwMode="auto">
              <a:xfrm>
                <a:off x="3334" y="2069"/>
                <a:ext cx="284" cy="28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9" name="Line 77">
                <a:extLst>
                  <a:ext uri="{FF2B5EF4-FFF2-40B4-BE49-F238E27FC236}">
                    <a16:creationId xmlns:a16="http://schemas.microsoft.com/office/drawing/2014/main" id="{9BD32EFE-99B5-ECCB-2C93-A6B8CA855CED}"/>
                  </a:ext>
                </a:extLst>
              </p:cNvPr>
              <p:cNvSpPr>
                <a:spLocks noChangeShapeType="1"/>
              </p:cNvSpPr>
              <p:nvPr/>
            </p:nvSpPr>
            <p:spPr bwMode="auto">
              <a:xfrm>
                <a:off x="3334" y="2205"/>
                <a:ext cx="242" cy="242"/>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0" name="Line 78">
                <a:extLst>
                  <a:ext uri="{FF2B5EF4-FFF2-40B4-BE49-F238E27FC236}">
                    <a16:creationId xmlns:a16="http://schemas.microsoft.com/office/drawing/2014/main" id="{9305A988-89B3-B26F-AB74-DC3177C7FF8B}"/>
                  </a:ext>
                </a:extLst>
              </p:cNvPr>
              <p:cNvSpPr>
                <a:spLocks noChangeShapeType="1"/>
              </p:cNvSpPr>
              <p:nvPr/>
            </p:nvSpPr>
            <p:spPr bwMode="auto">
              <a:xfrm>
                <a:off x="3334" y="2341"/>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1" name="Line 79">
                <a:extLst>
                  <a:ext uri="{FF2B5EF4-FFF2-40B4-BE49-F238E27FC236}">
                    <a16:creationId xmlns:a16="http://schemas.microsoft.com/office/drawing/2014/main" id="{215A7C6E-5B2B-1C6C-2800-09CA4FB1621C}"/>
                  </a:ext>
                </a:extLst>
              </p:cNvPr>
              <p:cNvSpPr>
                <a:spLocks noChangeShapeType="1"/>
              </p:cNvSpPr>
              <p:nvPr/>
            </p:nvSpPr>
            <p:spPr bwMode="auto">
              <a:xfrm>
                <a:off x="3722" y="1117"/>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2" name="Line 80">
                <a:extLst>
                  <a:ext uri="{FF2B5EF4-FFF2-40B4-BE49-F238E27FC236}">
                    <a16:creationId xmlns:a16="http://schemas.microsoft.com/office/drawing/2014/main" id="{A715E473-5C30-327E-6EE7-55EC563876FB}"/>
                  </a:ext>
                </a:extLst>
              </p:cNvPr>
              <p:cNvSpPr>
                <a:spLocks noChangeShapeType="1"/>
              </p:cNvSpPr>
              <p:nvPr/>
            </p:nvSpPr>
            <p:spPr bwMode="auto">
              <a:xfrm>
                <a:off x="3338" y="2469"/>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sp>
        <p:nvSpPr>
          <p:cNvPr id="143" name="文本框 142">
            <a:extLst>
              <a:ext uri="{FF2B5EF4-FFF2-40B4-BE49-F238E27FC236}">
                <a16:creationId xmlns:a16="http://schemas.microsoft.com/office/drawing/2014/main" id="{8DF226BC-7F98-A98B-D77E-245C686457E9}"/>
              </a:ext>
            </a:extLst>
          </p:cNvPr>
          <p:cNvSpPr txBox="1"/>
          <p:nvPr/>
        </p:nvSpPr>
        <p:spPr>
          <a:xfrm>
            <a:off x="5952246" y="962671"/>
            <a:ext cx="3157542" cy="646331"/>
          </a:xfrm>
          <a:prstGeom prst="rect">
            <a:avLst/>
          </a:prstGeom>
          <a:noFill/>
          <a:ln>
            <a:solidFill>
              <a:srgbClr val="0000FF"/>
            </a:solidFill>
          </a:ln>
        </p:spPr>
        <p:txBody>
          <a:bodyPr wrap="square" rtlCol="0">
            <a:spAutoFit/>
          </a:bodyPr>
          <a:lstStyle/>
          <a:p>
            <a:r>
              <a:rPr lang="zh-CN" altLang="en-US" b="1" dirty="0">
                <a:solidFill>
                  <a:srgbClr val="FF0000"/>
                </a:solidFill>
              </a:rPr>
              <a:t>截止区</a:t>
            </a:r>
            <a:r>
              <a:rPr lang="zh-CN" altLang="en-US" dirty="0"/>
              <a:t>：</a:t>
            </a:r>
            <a:r>
              <a:rPr lang="en-US" altLang="zh-CN" dirty="0"/>
              <a:t>b-e</a:t>
            </a:r>
            <a:r>
              <a:rPr lang="zh-CN" altLang="en-US" dirty="0"/>
              <a:t>反偏或没有达到开启电压</a:t>
            </a:r>
          </a:p>
        </p:txBody>
      </p:sp>
      <p:sp>
        <p:nvSpPr>
          <p:cNvPr id="144" name="文本框 143">
            <a:extLst>
              <a:ext uri="{FF2B5EF4-FFF2-40B4-BE49-F238E27FC236}">
                <a16:creationId xmlns:a16="http://schemas.microsoft.com/office/drawing/2014/main" id="{E437AA5C-76FD-2295-D0F3-F1EDC8B11A9F}"/>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
        <p:nvSpPr>
          <p:cNvPr id="145" name="Rectangle 178">
            <a:extLst>
              <a:ext uri="{FF2B5EF4-FFF2-40B4-BE49-F238E27FC236}">
                <a16:creationId xmlns:a16="http://schemas.microsoft.com/office/drawing/2014/main" id="{5134932D-F759-24B4-811A-425D02467816}"/>
              </a:ext>
            </a:extLst>
          </p:cNvPr>
          <p:cNvSpPr/>
          <p:nvPr/>
        </p:nvSpPr>
        <p:spPr>
          <a:xfrm>
            <a:off x="2614065" y="1520788"/>
            <a:ext cx="1861267" cy="646331"/>
          </a:xfrm>
          <a:prstGeom prst="rect">
            <a:avLst/>
          </a:prstGeom>
          <a:ln w="28575">
            <a:noFill/>
          </a:ln>
        </p:spPr>
        <p:txBody>
          <a:bodyPr wrap="square">
            <a:spAutoFit/>
          </a:bodyPr>
          <a:lstStyle/>
          <a:p>
            <a:pPr algn="r"/>
            <a:r>
              <a:rPr lang="zh-CN" altLang="en-US" b="1" dirty="0">
                <a:solidFill>
                  <a:srgbClr val="0000FF"/>
                </a:solidFill>
              </a:rPr>
              <a:t>输出特性</a:t>
            </a:r>
            <a:r>
              <a:rPr lang="en-US" altLang="zh-CN" dirty="0"/>
              <a:t>:</a:t>
            </a:r>
          </a:p>
          <a:p>
            <a:pPr algn="r"/>
            <a:r>
              <a:rPr lang="zh-CN" altLang="en-US" dirty="0">
                <a:solidFill>
                  <a:srgbClr val="0000FF"/>
                </a:solidFill>
              </a:rPr>
              <a:t>类似</a:t>
            </a:r>
            <a:r>
              <a:rPr lang="en-US" altLang="zh-CN" dirty="0">
                <a:solidFill>
                  <a:srgbClr val="0000FF"/>
                </a:solidFill>
              </a:rPr>
              <a:t>FET</a:t>
            </a:r>
            <a:r>
              <a:rPr lang="zh-CN" altLang="en-US" dirty="0">
                <a:solidFill>
                  <a:srgbClr val="0000FF"/>
                </a:solidFill>
              </a:rPr>
              <a:t>管</a:t>
            </a:r>
            <a:endParaRPr lang="en-US" altLang="zh-CN" dirty="0">
              <a:solidFill>
                <a:srgbClr val="0000FF"/>
              </a:solidFill>
            </a:endParaRPr>
          </a:p>
        </p:txBody>
      </p:sp>
    </p:spTree>
    <p:extLst>
      <p:ext uri="{BB962C8B-B14F-4D97-AF65-F5344CB8AC3E}">
        <p14:creationId xmlns:p14="http://schemas.microsoft.com/office/powerpoint/2010/main" val="1958435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C4EB1B09-DE15-B7BB-8A13-A72A23486AF9}"/>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A64B6C7A-D618-961F-B984-FAB8AFABA138}"/>
              </a:ext>
            </a:extLst>
          </p:cNvPr>
          <p:cNvSpPr>
            <a:spLocks noGrp="1"/>
          </p:cNvSpPr>
          <p:nvPr>
            <p:ph type="sldNum" sz="quarter" idx="12"/>
          </p:nvPr>
        </p:nvSpPr>
        <p:spPr/>
        <p:txBody>
          <a:bodyPr/>
          <a:lstStyle/>
          <a:p>
            <a:fld id="{9E260BC5-5BF3-8746-862B-DC45E9CAA88B}" type="slidenum">
              <a:rPr lang="en-US" smtClean="0"/>
              <a:pPr/>
              <a:t>32</a:t>
            </a:fld>
            <a:r>
              <a:rPr lang="en-US" altLang="zh-CN" dirty="0"/>
              <a:t>/33</a:t>
            </a:r>
            <a:endParaRPr lang="en-US" dirty="0"/>
          </a:p>
        </p:txBody>
      </p:sp>
      <p:sp>
        <p:nvSpPr>
          <p:cNvPr id="6" name="矩形 5">
            <a:extLst>
              <a:ext uri="{FF2B5EF4-FFF2-40B4-BE49-F238E27FC236}">
                <a16:creationId xmlns:a16="http://schemas.microsoft.com/office/drawing/2014/main" id="{AD648EE0-2B53-DEE2-3DAD-234A4DB1FF6B}"/>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F60416F-084C-99B1-8D2B-94697D2314AE}"/>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A36389C-22CA-6E75-6369-E1BA82442B81}"/>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4F05FDC-9E81-385D-ABE3-FCE6C3AD7179}"/>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C4099E88-4972-2037-A3C9-AC5952B71872}"/>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1" name="文本框 10">
            <a:extLst>
              <a:ext uri="{FF2B5EF4-FFF2-40B4-BE49-F238E27FC236}">
                <a16:creationId xmlns:a16="http://schemas.microsoft.com/office/drawing/2014/main" id="{8B7751FD-E22B-3AD1-AD55-A246D17E3F90}"/>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2" name="文本框 11">
            <a:extLst>
              <a:ext uri="{FF2B5EF4-FFF2-40B4-BE49-F238E27FC236}">
                <a16:creationId xmlns:a16="http://schemas.microsoft.com/office/drawing/2014/main" id="{307EF5C3-2A79-1FC8-AD80-FE492A5C9974}"/>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3" name="文本框 12">
            <a:extLst>
              <a:ext uri="{FF2B5EF4-FFF2-40B4-BE49-F238E27FC236}">
                <a16:creationId xmlns:a16="http://schemas.microsoft.com/office/drawing/2014/main" id="{F09FAACF-B41E-542F-277F-AC3918795F2E}"/>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01226FCB-95C9-4501-4282-B6E8F3045CD5}"/>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A78E0E7D-8E6E-56A0-7DE7-01382B281C01}"/>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AB8B234B-10C8-9064-B9B2-2951640647D2}"/>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5CB79035-9C6A-D7C8-6E83-7D9CCBE71E1E}"/>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D725D700-E766-A2D4-BE42-6593C8EF493B}"/>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05E86D44-AFA2-4E32-B13C-D6A146A47A2B}"/>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2B612531-E27F-8489-17CB-921294F37F60}"/>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0C6D9CAE-1C7A-D7C8-4B6E-81D8D2B963F5}"/>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2" name="文本框 21">
            <a:extLst>
              <a:ext uri="{FF2B5EF4-FFF2-40B4-BE49-F238E27FC236}">
                <a16:creationId xmlns:a16="http://schemas.microsoft.com/office/drawing/2014/main" id="{8E0230CF-0901-B306-C427-12DADCD178F3}"/>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3" name="文本框 22">
            <a:extLst>
              <a:ext uri="{FF2B5EF4-FFF2-40B4-BE49-F238E27FC236}">
                <a16:creationId xmlns:a16="http://schemas.microsoft.com/office/drawing/2014/main" id="{0DB31FD2-9983-F26B-7CE2-63C58B853B3C}"/>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8E298268-2DBA-325A-F22E-1838EAEC5A1D}"/>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C6CA9780-DC03-0778-2380-3BA3F555D890}"/>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81EA0B51-FC01-8247-01CC-8CF7CBA53104}"/>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839FEF49-E4DA-B708-DA9C-FA427D943536}"/>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38BF998B-6AFB-85CD-7BC3-1AD36A959D6F}"/>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51577A94-33CF-46AB-C11C-649D53AEF7EF}"/>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0" name="文本框 29">
            <a:extLst>
              <a:ext uri="{FF2B5EF4-FFF2-40B4-BE49-F238E27FC236}">
                <a16:creationId xmlns:a16="http://schemas.microsoft.com/office/drawing/2014/main" id="{232BE837-D6E4-F283-355D-3BD691107F1C}"/>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EB034E60-137A-BD24-C63B-DBC19168FBE4}"/>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32" name="文本框 31">
            <a:extLst>
              <a:ext uri="{FF2B5EF4-FFF2-40B4-BE49-F238E27FC236}">
                <a16:creationId xmlns:a16="http://schemas.microsoft.com/office/drawing/2014/main" id="{79C42AAF-63CD-1BC2-BBD3-EE7359BC4B8F}"/>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2E37BEAF-CD07-F341-2347-9345F08EE4EC}"/>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EF286957-3CA0-F5BD-592E-6E5519990F83}"/>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6F55B175-9A16-19AC-E02C-00A545CA7BFF}"/>
              </a:ext>
            </a:extLst>
          </p:cNvPr>
          <p:cNvSpPr txBox="1"/>
          <p:nvPr/>
        </p:nvSpPr>
        <p:spPr>
          <a:xfrm>
            <a:off x="791580" y="49693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CF944D86-F3AF-837C-79D1-6E63D79B66C4}"/>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7B94F704-35E1-9961-6B28-62FC9704027F}"/>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B941F45F-B3DA-AF70-6DB1-228FC8B89387}"/>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9" name="文本框 38">
            <a:extLst>
              <a:ext uri="{FF2B5EF4-FFF2-40B4-BE49-F238E27FC236}">
                <a16:creationId xmlns:a16="http://schemas.microsoft.com/office/drawing/2014/main" id="{83A020A8-9963-8281-0408-9853EC15BB40}"/>
              </a:ext>
            </a:extLst>
          </p:cNvPr>
          <p:cNvSpPr txBox="1"/>
          <p:nvPr/>
        </p:nvSpPr>
        <p:spPr>
          <a:xfrm>
            <a:off x="792272" y="52573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0" name="文本框 39">
            <a:extLst>
              <a:ext uri="{FF2B5EF4-FFF2-40B4-BE49-F238E27FC236}">
                <a16:creationId xmlns:a16="http://schemas.microsoft.com/office/drawing/2014/main" id="{3D85E8EA-FC16-0B86-68EB-B54EED6ED7A7}"/>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1" name="文本框 40">
            <a:extLst>
              <a:ext uri="{FF2B5EF4-FFF2-40B4-BE49-F238E27FC236}">
                <a16:creationId xmlns:a16="http://schemas.microsoft.com/office/drawing/2014/main" id="{970C129A-4AD0-5D02-F750-627E9A287515}"/>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42" name="文本框 41">
            <a:extLst>
              <a:ext uri="{FF2B5EF4-FFF2-40B4-BE49-F238E27FC236}">
                <a16:creationId xmlns:a16="http://schemas.microsoft.com/office/drawing/2014/main" id="{4F56D02E-00AB-994F-9E25-14496A5DDFCE}"/>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43" name="矩形 42">
            <a:extLst>
              <a:ext uri="{FF2B5EF4-FFF2-40B4-BE49-F238E27FC236}">
                <a16:creationId xmlns:a16="http://schemas.microsoft.com/office/drawing/2014/main" id="{0D468CA6-AA29-7C92-EE01-4380A41A7134}"/>
              </a:ext>
            </a:extLst>
          </p:cNvPr>
          <p:cNvSpPr/>
          <p:nvPr/>
        </p:nvSpPr>
        <p:spPr>
          <a:xfrm>
            <a:off x="215515" y="3670832"/>
            <a:ext cx="2805769" cy="144893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583F109D-DEE8-6B81-79FA-ADE35585115D}"/>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135">
            <a:extLst>
              <a:ext uri="{FF2B5EF4-FFF2-40B4-BE49-F238E27FC236}">
                <a16:creationId xmlns:a16="http://schemas.microsoft.com/office/drawing/2014/main" id="{60C24BA6-B01B-5378-9E5A-C6A2FF194713}"/>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C0E6E1B7-E018-756E-541D-72C214A44EA9}"/>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7" name="文本框 46">
            <a:extLst>
              <a:ext uri="{FF2B5EF4-FFF2-40B4-BE49-F238E27FC236}">
                <a16:creationId xmlns:a16="http://schemas.microsoft.com/office/drawing/2014/main" id="{E0BEBA3A-2E9C-C8F2-15A0-2D91536913E4}"/>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8" name="直接连接符 138">
            <a:extLst>
              <a:ext uri="{FF2B5EF4-FFF2-40B4-BE49-F238E27FC236}">
                <a16:creationId xmlns:a16="http://schemas.microsoft.com/office/drawing/2014/main" id="{F9D2FBF7-DD67-7414-DFE5-31074A87163B}"/>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139">
            <a:extLst>
              <a:ext uri="{FF2B5EF4-FFF2-40B4-BE49-F238E27FC236}">
                <a16:creationId xmlns:a16="http://schemas.microsoft.com/office/drawing/2014/main" id="{1CB6607B-9982-E509-A9F5-20DBC42513FB}"/>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140">
            <a:extLst>
              <a:ext uri="{FF2B5EF4-FFF2-40B4-BE49-F238E27FC236}">
                <a16:creationId xmlns:a16="http://schemas.microsoft.com/office/drawing/2014/main" id="{E63401EA-AB8C-E360-88D3-43F00102E02B}"/>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141">
            <a:extLst>
              <a:ext uri="{FF2B5EF4-FFF2-40B4-BE49-F238E27FC236}">
                <a16:creationId xmlns:a16="http://schemas.microsoft.com/office/drawing/2014/main" id="{568E258C-0AAA-348D-D237-47332E69EA51}"/>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846E27E7-2A22-F1FF-66DE-7B9237644A84}"/>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143">
            <a:extLst>
              <a:ext uri="{FF2B5EF4-FFF2-40B4-BE49-F238E27FC236}">
                <a16:creationId xmlns:a16="http://schemas.microsoft.com/office/drawing/2014/main" id="{0D8C0B56-0980-4683-A566-A7AB6B827511}"/>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184BDD89-116B-C1CF-D6AA-D5E0484C4DA5}"/>
              </a:ext>
            </a:extLst>
          </p:cNvPr>
          <p:cNvGrpSpPr/>
          <p:nvPr/>
        </p:nvGrpSpPr>
        <p:grpSpPr>
          <a:xfrm flipV="1">
            <a:off x="3621899" y="1429279"/>
            <a:ext cx="518053" cy="94821"/>
            <a:chOff x="3621899" y="1429279"/>
            <a:chExt cx="518053" cy="94821"/>
          </a:xfrm>
        </p:grpSpPr>
        <p:cxnSp>
          <p:nvCxnSpPr>
            <p:cNvPr id="55" name="直接连接符 145">
              <a:extLst>
                <a:ext uri="{FF2B5EF4-FFF2-40B4-BE49-F238E27FC236}">
                  <a16:creationId xmlns:a16="http://schemas.microsoft.com/office/drawing/2014/main" id="{E3E8CC7C-9179-FDAC-DA84-637B81BBFCFD}"/>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46">
              <a:extLst>
                <a:ext uri="{FF2B5EF4-FFF2-40B4-BE49-F238E27FC236}">
                  <a16:creationId xmlns:a16="http://schemas.microsoft.com/office/drawing/2014/main" id="{957C7941-0599-846D-A8FD-B9713E81D165}"/>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直接连接符 147">
            <a:extLst>
              <a:ext uri="{FF2B5EF4-FFF2-40B4-BE49-F238E27FC236}">
                <a16:creationId xmlns:a16="http://schemas.microsoft.com/office/drawing/2014/main" id="{8CF2827B-5DBE-FF2F-AFCA-98E1A899861C}"/>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148">
            <a:extLst>
              <a:ext uri="{FF2B5EF4-FFF2-40B4-BE49-F238E27FC236}">
                <a16:creationId xmlns:a16="http://schemas.microsoft.com/office/drawing/2014/main" id="{ABF8BFE6-9F76-8744-8DA1-82EE64F9A205}"/>
              </a:ext>
            </a:extLst>
          </p:cNvPr>
          <p:cNvCxnSpPr/>
          <p:nvPr/>
        </p:nvCxnSpPr>
        <p:spPr>
          <a:xfrm flipH="1">
            <a:off x="4570801" y="89668"/>
            <a:ext cx="1199" cy="3048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CAD81C3-C47E-D8F2-D089-869CFC0740EC}"/>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60" name="文本框 59">
            <a:extLst>
              <a:ext uri="{FF2B5EF4-FFF2-40B4-BE49-F238E27FC236}">
                <a16:creationId xmlns:a16="http://schemas.microsoft.com/office/drawing/2014/main" id="{3D23259D-1431-F60A-9AE4-9E8AC0202096}"/>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61" name="直接箭头连接符 152">
            <a:extLst>
              <a:ext uri="{FF2B5EF4-FFF2-40B4-BE49-F238E27FC236}">
                <a16:creationId xmlns:a16="http://schemas.microsoft.com/office/drawing/2014/main" id="{7BDEE2E0-63F5-0013-3ABE-EC9498F4E2D1}"/>
              </a:ext>
            </a:extLst>
          </p:cNvPr>
          <p:cNvCxnSpPr>
            <a:stCxn id="59"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30993433-E62D-8990-2A26-DDFF86FA656C}"/>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sp>
        <p:nvSpPr>
          <p:cNvPr id="63" name="文本框 62">
            <a:extLst>
              <a:ext uri="{FF2B5EF4-FFF2-40B4-BE49-F238E27FC236}">
                <a16:creationId xmlns:a16="http://schemas.microsoft.com/office/drawing/2014/main" id="{413A250A-A4C6-8D09-DB7E-B12873C2CD6E}"/>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4" name="椭圆 63">
            <a:extLst>
              <a:ext uri="{FF2B5EF4-FFF2-40B4-BE49-F238E27FC236}">
                <a16:creationId xmlns:a16="http://schemas.microsoft.com/office/drawing/2014/main" id="{FF8F6591-CEE1-DFAE-93BE-EF1637E4FAE9}"/>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D7CE2F93-9F80-FB6B-C0AB-544B1C7E71AB}"/>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4FB8F13F-A419-757E-6CE4-F1550B7EEB10}"/>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5944AA4C-9DAD-9727-1D95-A8BB9BFA0832}"/>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箭头连接符 164">
            <a:extLst>
              <a:ext uri="{FF2B5EF4-FFF2-40B4-BE49-F238E27FC236}">
                <a16:creationId xmlns:a16="http://schemas.microsoft.com/office/drawing/2014/main" id="{C88BC37F-07E9-6887-5673-6FAE2BD127B0}"/>
              </a:ext>
            </a:extLst>
          </p:cNvPr>
          <p:cNvCxnSpPr/>
          <p:nvPr/>
        </p:nvCxnSpPr>
        <p:spPr>
          <a:xfrm flipV="1">
            <a:off x="1954901" y="3222751"/>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C97696C5-0270-AC1C-297F-DE51406379BF}"/>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sp>
        <p:nvSpPr>
          <p:cNvPr id="70" name="矩形 69">
            <a:extLst>
              <a:ext uri="{FF2B5EF4-FFF2-40B4-BE49-F238E27FC236}">
                <a16:creationId xmlns:a16="http://schemas.microsoft.com/office/drawing/2014/main" id="{FB2EDE5E-4770-37BC-4239-86CE934D0D34}"/>
              </a:ext>
            </a:extLst>
          </p:cNvPr>
          <p:cNvSpPr/>
          <p:nvPr/>
        </p:nvSpPr>
        <p:spPr>
          <a:xfrm>
            <a:off x="4769169" y="836712"/>
            <a:ext cx="4374831" cy="5355312"/>
          </a:xfrm>
          <a:prstGeom prst="rect">
            <a:avLst/>
          </a:prstGeom>
        </p:spPr>
        <p:txBody>
          <a:bodyPr wrap="square">
            <a:spAutoFit/>
          </a:bodyPr>
          <a:lstStyle/>
          <a:p>
            <a:r>
              <a:rPr lang="en-US" altLang="zh-CN" b="1" dirty="0"/>
              <a:t>V</a:t>
            </a:r>
            <a:r>
              <a:rPr lang="en-US" altLang="zh-CN" b="1" baseline="-25000" dirty="0"/>
              <a:t>BE </a:t>
            </a:r>
            <a:r>
              <a:rPr lang="en-US" altLang="zh-CN" b="1" dirty="0"/>
              <a:t>&gt; V</a:t>
            </a:r>
            <a:r>
              <a:rPr lang="en-US" altLang="zh-CN" b="1" baseline="-25000" dirty="0"/>
              <a:t>T </a:t>
            </a:r>
            <a:r>
              <a:rPr lang="en-US" altLang="zh-CN" b="1" dirty="0"/>
              <a:t> </a:t>
            </a:r>
            <a:r>
              <a:rPr lang="en-US" altLang="zh-CN" dirty="0"/>
              <a:t>:</a:t>
            </a:r>
          </a:p>
          <a:p>
            <a:r>
              <a:rPr lang="zh-CN" altLang="en-US" dirty="0"/>
              <a:t>外加电场增加啦！</a:t>
            </a:r>
            <a:r>
              <a:rPr lang="en-US" altLang="zh-CN" dirty="0"/>
              <a:t>b-e</a:t>
            </a:r>
            <a:r>
              <a:rPr lang="zh-CN" altLang="en-US" dirty="0"/>
              <a:t>结也变窄啦！可以去基区啦！</a:t>
            </a:r>
            <a:r>
              <a:rPr lang="en-US" altLang="zh-CN" dirty="0">
                <a:sym typeface="Wingdings" panose="05000000000000000000" pitchFamily="2" charset="2"/>
              </a:rPr>
              <a:t></a:t>
            </a:r>
            <a:endParaRPr lang="en-US" altLang="zh-CN" dirty="0"/>
          </a:p>
          <a:p>
            <a:r>
              <a:rPr lang="zh-CN" altLang="en-US" dirty="0"/>
              <a:t>下一步去哪里呢？</a:t>
            </a:r>
            <a:endParaRPr lang="en-US" altLang="zh-CN" dirty="0"/>
          </a:p>
          <a:p>
            <a:r>
              <a:rPr lang="en-US" altLang="zh-CN" dirty="0"/>
              <a:t>b-c</a:t>
            </a:r>
            <a:r>
              <a:rPr lang="zh-CN" altLang="en-US" dirty="0"/>
              <a:t>外加电场不欢迎我们过去，算了，从基极走吧</a:t>
            </a:r>
            <a:r>
              <a:rPr lang="en-US" altLang="zh-CN" dirty="0"/>
              <a:t>! :P</a:t>
            </a:r>
          </a:p>
          <a:p>
            <a:endParaRPr lang="en-US" altLang="zh-CN" dirty="0"/>
          </a:p>
          <a:p>
            <a:r>
              <a:rPr lang="en-US" altLang="zh-CN" b="1" dirty="0"/>
              <a:t>V</a:t>
            </a:r>
            <a:r>
              <a:rPr lang="en-US" altLang="zh-CN" b="1" baseline="-25000" dirty="0"/>
              <a:t>CE </a:t>
            </a:r>
            <a:r>
              <a:rPr lang="en-US" altLang="zh-CN" b="1" dirty="0"/>
              <a:t>&gt; V</a:t>
            </a:r>
            <a:r>
              <a:rPr lang="en-US" altLang="zh-CN" b="1" baseline="-25000" dirty="0"/>
              <a:t>T’ </a:t>
            </a:r>
            <a:r>
              <a:rPr lang="en-US" altLang="zh-CN" b="1" dirty="0"/>
              <a:t> </a:t>
            </a:r>
            <a:r>
              <a:rPr lang="en-US" altLang="zh-CN" dirty="0"/>
              <a:t>:</a:t>
            </a:r>
          </a:p>
          <a:p>
            <a:r>
              <a:rPr lang="zh-CN" altLang="en-US" dirty="0"/>
              <a:t>咦？</a:t>
            </a:r>
            <a:r>
              <a:rPr lang="en-US" altLang="zh-CN" dirty="0"/>
              <a:t>b-c</a:t>
            </a:r>
            <a:r>
              <a:rPr lang="zh-CN" altLang="en-US" dirty="0"/>
              <a:t>外加电场减弱了？不跟你们挤基极了，我要去集电极啦！</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c</a:t>
            </a:r>
            <a:r>
              <a:rPr lang="en-US" altLang="zh-CN" baseline="-25000" dirty="0"/>
              <a:t> </a:t>
            </a:r>
            <a:r>
              <a:rPr lang="en-US" altLang="zh-CN" dirty="0">
                <a:latin typeface="宋体" panose="02010600030101010101" pitchFamily="2" charset="-122"/>
              </a:rPr>
              <a:t>&gt; </a:t>
            </a:r>
            <a:r>
              <a:rPr lang="en-US" altLang="zh-CN" dirty="0"/>
              <a:t>0</a:t>
            </a:r>
            <a:endParaRPr lang="zh-CN" altLang="en-US" dirty="0"/>
          </a:p>
          <a:p>
            <a:endParaRPr lang="en-US" altLang="zh-CN" dirty="0"/>
          </a:p>
          <a:p>
            <a:r>
              <a:rPr lang="en-US" altLang="zh-CN" b="1" dirty="0"/>
              <a:t>V</a:t>
            </a:r>
            <a:r>
              <a:rPr lang="en-US" altLang="zh-CN" b="1" baseline="-25000" dirty="0"/>
              <a:t>CE</a:t>
            </a:r>
            <a:r>
              <a:rPr lang="zh-CN" altLang="en-US" b="1" dirty="0"/>
              <a:t>继续增加</a:t>
            </a:r>
            <a:r>
              <a:rPr lang="en-US" altLang="zh-CN" b="1" dirty="0"/>
              <a:t> </a:t>
            </a:r>
            <a:r>
              <a:rPr lang="en-US" altLang="zh-CN" dirty="0"/>
              <a:t>:</a:t>
            </a:r>
          </a:p>
          <a:p>
            <a:r>
              <a:rPr lang="zh-CN" altLang="en-US" dirty="0"/>
              <a:t>风向变啦！</a:t>
            </a:r>
            <a:r>
              <a:rPr lang="en-US" altLang="zh-CN" dirty="0"/>
              <a:t>b-c</a:t>
            </a:r>
            <a:r>
              <a:rPr lang="zh-CN" altLang="en-US" dirty="0"/>
              <a:t>外加电场集电极大大地欢迎我们呢！兄弟们上！</a:t>
            </a:r>
            <a:r>
              <a:rPr lang="en-US" altLang="zh-CN" dirty="0">
                <a:sym typeface="Wingdings" panose="05000000000000000000" pitchFamily="2" charset="2"/>
              </a:rPr>
              <a:t></a:t>
            </a:r>
            <a:endParaRPr lang="en-US" altLang="zh-CN" dirty="0"/>
          </a:p>
          <a:p>
            <a:r>
              <a:rPr lang="en-US" altLang="zh-CN" dirty="0" err="1"/>
              <a:t>I</a:t>
            </a:r>
            <a:r>
              <a:rPr lang="en-US" altLang="zh-CN" baseline="-25000" dirty="0" err="1"/>
              <a:t>c</a:t>
            </a:r>
            <a:r>
              <a:rPr lang="zh-CN" altLang="en-US" dirty="0"/>
              <a:t>正比于</a:t>
            </a:r>
            <a:r>
              <a:rPr lang="en-US" altLang="zh-CN" dirty="0"/>
              <a:t>V</a:t>
            </a:r>
            <a:r>
              <a:rPr lang="en-US" altLang="zh-CN" baseline="-25000" dirty="0"/>
              <a:t>CE</a:t>
            </a:r>
            <a:r>
              <a:rPr lang="zh-CN" altLang="en-US" dirty="0"/>
              <a:t>增加</a:t>
            </a:r>
            <a:endParaRPr lang="en-US" altLang="zh-CN" dirty="0"/>
          </a:p>
          <a:p>
            <a:endParaRPr lang="en-US" altLang="zh-CN" dirty="0"/>
          </a:p>
          <a:p>
            <a:r>
              <a:rPr lang="en-US" altLang="zh-CN" b="1" dirty="0"/>
              <a:t>V</a:t>
            </a:r>
            <a:r>
              <a:rPr lang="en-US" altLang="zh-CN" b="1" baseline="-25000" dirty="0"/>
              <a:t>CE </a:t>
            </a:r>
            <a:r>
              <a:rPr lang="zh-CN" altLang="en-US" b="1" dirty="0"/>
              <a:t>还增加</a:t>
            </a:r>
            <a:r>
              <a:rPr lang="en-US" altLang="zh-CN" b="1" dirty="0"/>
              <a:t> </a:t>
            </a:r>
            <a:r>
              <a:rPr lang="en-US" altLang="zh-CN" dirty="0"/>
              <a:t>:</a:t>
            </a:r>
          </a:p>
          <a:p>
            <a:r>
              <a:rPr lang="zh-CN" altLang="en-US" dirty="0"/>
              <a:t>兄弟们已经都过来啦，</a:t>
            </a:r>
            <a:r>
              <a:rPr lang="en-US" altLang="zh-CN" dirty="0"/>
              <a:t> </a:t>
            </a:r>
            <a:r>
              <a:rPr lang="en-US" altLang="zh-CN" dirty="0" err="1"/>
              <a:t>I</a:t>
            </a:r>
            <a:r>
              <a:rPr lang="en-US" altLang="zh-CN" baseline="-25000" dirty="0" err="1"/>
              <a:t>c</a:t>
            </a:r>
            <a:r>
              <a:rPr lang="zh-CN" altLang="en-US" dirty="0"/>
              <a:t>没法再增高啦！</a:t>
            </a:r>
            <a:endParaRPr lang="en-US" altLang="zh-CN" dirty="0"/>
          </a:p>
        </p:txBody>
      </p:sp>
      <p:cxnSp>
        <p:nvCxnSpPr>
          <p:cNvPr id="71" name="直接箭头连接符 92">
            <a:extLst>
              <a:ext uri="{FF2B5EF4-FFF2-40B4-BE49-F238E27FC236}">
                <a16:creationId xmlns:a16="http://schemas.microsoft.com/office/drawing/2014/main" id="{DB5E4753-37F1-5945-6D12-343925FF2E48}"/>
              </a:ext>
            </a:extLst>
          </p:cNvPr>
          <p:cNvCxnSpPr/>
          <p:nvPr/>
        </p:nvCxnSpPr>
        <p:spPr>
          <a:xfrm flipH="1">
            <a:off x="1007604" y="3254827"/>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95">
            <a:extLst>
              <a:ext uri="{FF2B5EF4-FFF2-40B4-BE49-F238E27FC236}">
                <a16:creationId xmlns:a16="http://schemas.microsoft.com/office/drawing/2014/main" id="{BFD02C59-6BA1-FF75-17B0-68EBCF4C1BFC}"/>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94424A3F-8AE9-ABC3-E78D-37B241569C04}"/>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4" name="直接箭头连接符 98">
            <a:extLst>
              <a:ext uri="{FF2B5EF4-FFF2-40B4-BE49-F238E27FC236}">
                <a16:creationId xmlns:a16="http://schemas.microsoft.com/office/drawing/2014/main" id="{2C4D3A47-2AB0-0169-E37B-F1E6E07B0D1B}"/>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EE4F155E-C3EC-564F-DDD7-0241283D477C}"/>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6" name="直接箭头连接符 115">
            <a:extLst>
              <a:ext uri="{FF2B5EF4-FFF2-40B4-BE49-F238E27FC236}">
                <a16:creationId xmlns:a16="http://schemas.microsoft.com/office/drawing/2014/main" id="{286E2F3B-D8CB-52E8-ADE4-CBB850643E63}"/>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矩形 76">
            <a:extLst>
              <a:ext uri="{FF2B5EF4-FFF2-40B4-BE49-F238E27FC236}">
                <a16:creationId xmlns:a16="http://schemas.microsoft.com/office/drawing/2014/main" id="{C0224F38-F9E0-3DFC-4986-EC02722A59BB}"/>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grpSp>
        <p:nvGrpSpPr>
          <p:cNvPr id="78" name="组合 77">
            <a:extLst>
              <a:ext uri="{FF2B5EF4-FFF2-40B4-BE49-F238E27FC236}">
                <a16:creationId xmlns:a16="http://schemas.microsoft.com/office/drawing/2014/main" id="{D1D16270-D886-0CD7-56BE-EE96CCFDA7C7}"/>
              </a:ext>
            </a:extLst>
          </p:cNvPr>
          <p:cNvGrpSpPr/>
          <p:nvPr/>
        </p:nvGrpSpPr>
        <p:grpSpPr>
          <a:xfrm flipV="1">
            <a:off x="4319972" y="3154159"/>
            <a:ext cx="518053" cy="94821"/>
            <a:chOff x="3621899" y="1429279"/>
            <a:chExt cx="518053" cy="94821"/>
          </a:xfrm>
        </p:grpSpPr>
        <p:cxnSp>
          <p:nvCxnSpPr>
            <p:cNvPr id="79" name="直接连接符 118">
              <a:extLst>
                <a:ext uri="{FF2B5EF4-FFF2-40B4-BE49-F238E27FC236}">
                  <a16:creationId xmlns:a16="http://schemas.microsoft.com/office/drawing/2014/main" id="{73A30579-E7DE-C793-E0D7-4366A8C809F4}"/>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119">
              <a:extLst>
                <a:ext uri="{FF2B5EF4-FFF2-40B4-BE49-F238E27FC236}">
                  <a16:creationId xmlns:a16="http://schemas.microsoft.com/office/drawing/2014/main" id="{964BF82B-3382-7AF6-99C4-CEB5E9126C79}"/>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直接连接符 120">
            <a:extLst>
              <a:ext uri="{FF2B5EF4-FFF2-40B4-BE49-F238E27FC236}">
                <a16:creationId xmlns:a16="http://schemas.microsoft.com/office/drawing/2014/main" id="{A1D6232A-5359-3AE8-5214-467198C34D4D}"/>
              </a:ext>
            </a:extLst>
          </p:cNvPr>
          <p:cNvCxnSpPr/>
          <p:nvPr/>
        </p:nvCxnSpPr>
        <p:spPr>
          <a:xfrm>
            <a:off x="4572000" y="3247450"/>
            <a:ext cx="3499" cy="31231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圆角矩形 81">
            <a:extLst>
              <a:ext uri="{FF2B5EF4-FFF2-40B4-BE49-F238E27FC236}">
                <a16:creationId xmlns:a16="http://schemas.microsoft.com/office/drawing/2014/main" id="{6E796666-D7D0-F737-7EBE-0F41C5F8BA9C}"/>
              </a:ext>
            </a:extLst>
          </p:cNvPr>
          <p:cNvSpPr/>
          <p:nvPr/>
        </p:nvSpPr>
        <p:spPr>
          <a:xfrm>
            <a:off x="620631" y="2845131"/>
            <a:ext cx="370064" cy="356775"/>
          </a:xfrm>
          <a:prstGeom prst="roundRect">
            <a:avLst/>
          </a:prstGeom>
          <a:solidFill>
            <a:srgbClr val="0000FF">
              <a:alpha val="30196"/>
            </a:srgb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BF1230A6-2955-EFDD-DA01-4F4D07A7D91A}"/>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箭头连接符 169">
            <a:extLst>
              <a:ext uri="{FF2B5EF4-FFF2-40B4-BE49-F238E27FC236}">
                <a16:creationId xmlns:a16="http://schemas.microsoft.com/office/drawing/2014/main" id="{9A9D15B5-73F1-C80B-0B90-3D5973C19C0D}"/>
              </a:ext>
            </a:extLst>
          </p:cNvPr>
          <p:cNvCxnSpPr/>
          <p:nvPr/>
        </p:nvCxnSpPr>
        <p:spPr>
          <a:xfrm flipH="1">
            <a:off x="2087724" y="352145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直接箭头连接符 87">
            <a:extLst>
              <a:ext uri="{FF2B5EF4-FFF2-40B4-BE49-F238E27FC236}">
                <a16:creationId xmlns:a16="http://schemas.microsoft.com/office/drawing/2014/main" id="{3DA5FD95-9EC1-CA73-3100-3633FD7CC418}"/>
              </a:ext>
            </a:extLst>
          </p:cNvPr>
          <p:cNvCxnSpPr/>
          <p:nvPr/>
        </p:nvCxnSpPr>
        <p:spPr>
          <a:xfrm flipH="1">
            <a:off x="1417554" y="305476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直接箭头连接符 122">
            <a:extLst>
              <a:ext uri="{FF2B5EF4-FFF2-40B4-BE49-F238E27FC236}">
                <a16:creationId xmlns:a16="http://schemas.microsoft.com/office/drawing/2014/main" id="{F30A8607-ECB8-932E-23B8-878550161610}"/>
              </a:ext>
            </a:extLst>
          </p:cNvPr>
          <p:cNvCxnSpPr/>
          <p:nvPr/>
        </p:nvCxnSpPr>
        <p:spPr>
          <a:xfrm flipV="1">
            <a:off x="3167844" y="3630523"/>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7" name="矩形 86">
            <a:extLst>
              <a:ext uri="{FF2B5EF4-FFF2-40B4-BE49-F238E27FC236}">
                <a16:creationId xmlns:a16="http://schemas.microsoft.com/office/drawing/2014/main" id="{D55E1486-999D-49C2-B6A6-CC8A70D73348}"/>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E521FA9B-781D-D4AD-54D0-B3EA87F3F3BC}"/>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89" name="文本框 88">
            <a:extLst>
              <a:ext uri="{FF2B5EF4-FFF2-40B4-BE49-F238E27FC236}">
                <a16:creationId xmlns:a16="http://schemas.microsoft.com/office/drawing/2014/main" id="{914E7935-00B1-1550-0184-F852B8DD89A0}"/>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90" name="文本框 89">
            <a:extLst>
              <a:ext uri="{FF2B5EF4-FFF2-40B4-BE49-F238E27FC236}">
                <a16:creationId xmlns:a16="http://schemas.microsoft.com/office/drawing/2014/main" id="{F0FD4499-24F0-547E-FAE9-31A8D8676D2A}"/>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91" name="文本框 90">
            <a:extLst>
              <a:ext uri="{FF2B5EF4-FFF2-40B4-BE49-F238E27FC236}">
                <a16:creationId xmlns:a16="http://schemas.microsoft.com/office/drawing/2014/main" id="{3B3AED50-25E3-818B-9BE2-7EF9343F5708}"/>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2" name="文本框 91">
            <a:extLst>
              <a:ext uri="{FF2B5EF4-FFF2-40B4-BE49-F238E27FC236}">
                <a16:creationId xmlns:a16="http://schemas.microsoft.com/office/drawing/2014/main" id="{A6A8EF12-C9A8-4462-22F7-88AFDC8574A6}"/>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3" name="文本框 92">
            <a:extLst>
              <a:ext uri="{FF2B5EF4-FFF2-40B4-BE49-F238E27FC236}">
                <a16:creationId xmlns:a16="http://schemas.microsoft.com/office/drawing/2014/main" id="{AEE3A485-CE56-EDEB-A2A5-57FDE9562B66}"/>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94" name="文本框 93">
            <a:extLst>
              <a:ext uri="{FF2B5EF4-FFF2-40B4-BE49-F238E27FC236}">
                <a16:creationId xmlns:a16="http://schemas.microsoft.com/office/drawing/2014/main" id="{9791FD44-E20F-FC78-9723-A805CA69497D}"/>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95" name="文本框 94">
            <a:extLst>
              <a:ext uri="{FF2B5EF4-FFF2-40B4-BE49-F238E27FC236}">
                <a16:creationId xmlns:a16="http://schemas.microsoft.com/office/drawing/2014/main" id="{A3EB29B3-BE91-39F7-81A8-6C1526044C7B}"/>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96" name="文本框 95">
            <a:extLst>
              <a:ext uri="{FF2B5EF4-FFF2-40B4-BE49-F238E27FC236}">
                <a16:creationId xmlns:a16="http://schemas.microsoft.com/office/drawing/2014/main" id="{5D36C425-9D00-C473-6A13-E02E33EA7E7A}"/>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97" name="文本框 96">
            <a:extLst>
              <a:ext uri="{FF2B5EF4-FFF2-40B4-BE49-F238E27FC236}">
                <a16:creationId xmlns:a16="http://schemas.microsoft.com/office/drawing/2014/main" id="{7A236B09-D06A-F32C-0D6F-EBB50A3A265C}"/>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98" name="文本框 97">
            <a:extLst>
              <a:ext uri="{FF2B5EF4-FFF2-40B4-BE49-F238E27FC236}">
                <a16:creationId xmlns:a16="http://schemas.microsoft.com/office/drawing/2014/main" id="{B0EBB9A6-88CC-7C8D-E4B4-1CF4EA1DF40F}"/>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99" name="文本框 98">
            <a:extLst>
              <a:ext uri="{FF2B5EF4-FFF2-40B4-BE49-F238E27FC236}">
                <a16:creationId xmlns:a16="http://schemas.microsoft.com/office/drawing/2014/main" id="{4BC98D22-41A2-9EAA-396E-558B0319B976}"/>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0" name="文本框 99">
            <a:extLst>
              <a:ext uri="{FF2B5EF4-FFF2-40B4-BE49-F238E27FC236}">
                <a16:creationId xmlns:a16="http://schemas.microsoft.com/office/drawing/2014/main" id="{057975A3-8EB4-EC93-5D92-0AF727D9F364}"/>
              </a:ext>
            </a:extLst>
          </p:cNvPr>
          <p:cNvSpPr txBox="1"/>
          <p:nvPr/>
        </p:nvSpPr>
        <p:spPr>
          <a:xfrm>
            <a:off x="755576" y="2993143"/>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101" name="文本框 100">
            <a:extLst>
              <a:ext uri="{FF2B5EF4-FFF2-40B4-BE49-F238E27FC236}">
                <a16:creationId xmlns:a16="http://schemas.microsoft.com/office/drawing/2014/main" id="{1C235104-782A-E0DC-D52A-3593F5326465}"/>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2" name="文本框 101">
            <a:extLst>
              <a:ext uri="{FF2B5EF4-FFF2-40B4-BE49-F238E27FC236}">
                <a16:creationId xmlns:a16="http://schemas.microsoft.com/office/drawing/2014/main" id="{9603A7DA-130F-6122-4CDD-1E6A1937EFF2}"/>
              </a:ext>
            </a:extLst>
          </p:cNvPr>
          <p:cNvSpPr txBox="1"/>
          <p:nvPr/>
        </p:nvSpPr>
        <p:spPr>
          <a:xfrm>
            <a:off x="756910" y="3209167"/>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103" name="文本框 102">
            <a:extLst>
              <a:ext uri="{FF2B5EF4-FFF2-40B4-BE49-F238E27FC236}">
                <a16:creationId xmlns:a16="http://schemas.microsoft.com/office/drawing/2014/main" id="{50D41CA7-F16F-AE83-A3BD-14C39C4AC00A}"/>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4" name="文本框 103">
            <a:extLst>
              <a:ext uri="{FF2B5EF4-FFF2-40B4-BE49-F238E27FC236}">
                <a16:creationId xmlns:a16="http://schemas.microsoft.com/office/drawing/2014/main" id="{ACFBB08C-C5CE-02C1-FD6A-5135B82D4333}"/>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5" name="文本框 104">
            <a:extLst>
              <a:ext uri="{FF2B5EF4-FFF2-40B4-BE49-F238E27FC236}">
                <a16:creationId xmlns:a16="http://schemas.microsoft.com/office/drawing/2014/main" id="{AA49618A-F6A5-36C5-2A30-2B3E5CBF23B5}"/>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cxnSp>
        <p:nvCxnSpPr>
          <p:cNvPr id="106" name="直接连接符 184">
            <a:extLst>
              <a:ext uri="{FF2B5EF4-FFF2-40B4-BE49-F238E27FC236}">
                <a16:creationId xmlns:a16="http://schemas.microsoft.com/office/drawing/2014/main" id="{C23BBA9F-B676-0704-95A1-ECECC3C2260B}"/>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文本框 106">
            <a:extLst>
              <a:ext uri="{FF2B5EF4-FFF2-40B4-BE49-F238E27FC236}">
                <a16:creationId xmlns:a16="http://schemas.microsoft.com/office/drawing/2014/main" id="{42C98745-998D-8A82-716B-A9CC69FDB402}"/>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108" name="文本框 107">
            <a:extLst>
              <a:ext uri="{FF2B5EF4-FFF2-40B4-BE49-F238E27FC236}">
                <a16:creationId xmlns:a16="http://schemas.microsoft.com/office/drawing/2014/main" id="{39318EF1-630E-E566-0084-10F89F88897B}"/>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grpSp>
        <p:nvGrpSpPr>
          <p:cNvPr id="109" name="组合 108">
            <a:extLst>
              <a:ext uri="{FF2B5EF4-FFF2-40B4-BE49-F238E27FC236}">
                <a16:creationId xmlns:a16="http://schemas.microsoft.com/office/drawing/2014/main" id="{258F3305-C9B4-5CEF-6DFD-E95295ABEAC2}"/>
              </a:ext>
            </a:extLst>
          </p:cNvPr>
          <p:cNvGrpSpPr/>
          <p:nvPr/>
        </p:nvGrpSpPr>
        <p:grpSpPr>
          <a:xfrm flipV="1">
            <a:off x="3621899" y="1429279"/>
            <a:ext cx="518053" cy="94821"/>
            <a:chOff x="3621899" y="1429279"/>
            <a:chExt cx="518053" cy="94821"/>
          </a:xfrm>
        </p:grpSpPr>
        <p:cxnSp>
          <p:nvCxnSpPr>
            <p:cNvPr id="110" name="直接连接符 188">
              <a:extLst>
                <a:ext uri="{FF2B5EF4-FFF2-40B4-BE49-F238E27FC236}">
                  <a16:creationId xmlns:a16="http://schemas.microsoft.com/office/drawing/2014/main" id="{EA5ACC7E-82FD-76A0-95E7-EFCBDABBE277}"/>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89">
              <a:extLst>
                <a:ext uri="{FF2B5EF4-FFF2-40B4-BE49-F238E27FC236}">
                  <a16:creationId xmlns:a16="http://schemas.microsoft.com/office/drawing/2014/main" id="{E259ADA0-58B6-B94A-7ACC-59214FD43BCB}"/>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直接连接符 190">
            <a:extLst>
              <a:ext uri="{FF2B5EF4-FFF2-40B4-BE49-F238E27FC236}">
                <a16:creationId xmlns:a16="http://schemas.microsoft.com/office/drawing/2014/main" id="{7C653801-8A6C-0C90-63C5-51EE318BA73C}"/>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文本框 112">
            <a:extLst>
              <a:ext uri="{FF2B5EF4-FFF2-40B4-BE49-F238E27FC236}">
                <a16:creationId xmlns:a16="http://schemas.microsoft.com/office/drawing/2014/main" id="{932DC03C-BE3F-468E-9680-F73302168892}"/>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114" name="文本框 113">
            <a:extLst>
              <a:ext uri="{FF2B5EF4-FFF2-40B4-BE49-F238E27FC236}">
                <a16:creationId xmlns:a16="http://schemas.microsoft.com/office/drawing/2014/main" id="{23791006-629E-76FC-F0D1-036B9A2AFA41}"/>
              </a:ext>
            </a:extLst>
          </p:cNvPr>
          <p:cNvSpPr txBox="1"/>
          <p:nvPr/>
        </p:nvSpPr>
        <p:spPr>
          <a:xfrm>
            <a:off x="755576" y="3507395"/>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115" name="文本框 114">
            <a:extLst>
              <a:ext uri="{FF2B5EF4-FFF2-40B4-BE49-F238E27FC236}">
                <a16:creationId xmlns:a16="http://schemas.microsoft.com/office/drawing/2014/main" id="{930D264B-A602-D07F-B016-676C05A1A294}"/>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116" name="直接箭头连接符 194">
            <a:extLst>
              <a:ext uri="{FF2B5EF4-FFF2-40B4-BE49-F238E27FC236}">
                <a16:creationId xmlns:a16="http://schemas.microsoft.com/office/drawing/2014/main" id="{9E875C92-96F3-A0AB-392D-D402BECDB292}"/>
              </a:ext>
            </a:extLst>
          </p:cNvPr>
          <p:cNvCxnSpPr>
            <a:stCxn id="113"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7" name="文本框 116">
            <a:extLst>
              <a:ext uri="{FF2B5EF4-FFF2-40B4-BE49-F238E27FC236}">
                <a16:creationId xmlns:a16="http://schemas.microsoft.com/office/drawing/2014/main" id="{D1E77ED1-433F-88FA-81E7-9A34BA21AD24}"/>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sp>
        <p:nvSpPr>
          <p:cNvPr id="118" name="文本框 117">
            <a:extLst>
              <a:ext uri="{FF2B5EF4-FFF2-40B4-BE49-F238E27FC236}">
                <a16:creationId xmlns:a16="http://schemas.microsoft.com/office/drawing/2014/main" id="{EBD03B86-E2D1-EF4D-4575-4C58881FAF10}"/>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119" name="文本框 118">
            <a:extLst>
              <a:ext uri="{FF2B5EF4-FFF2-40B4-BE49-F238E27FC236}">
                <a16:creationId xmlns:a16="http://schemas.microsoft.com/office/drawing/2014/main" id="{143CA401-7B95-88C3-5E86-0798F1967217}"/>
              </a:ext>
            </a:extLst>
          </p:cNvPr>
          <p:cNvSpPr txBox="1"/>
          <p:nvPr/>
        </p:nvSpPr>
        <p:spPr>
          <a:xfrm>
            <a:off x="791580" y="4689140"/>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20" name="椭圆 119">
            <a:extLst>
              <a:ext uri="{FF2B5EF4-FFF2-40B4-BE49-F238E27FC236}">
                <a16:creationId xmlns:a16="http://schemas.microsoft.com/office/drawing/2014/main" id="{EDA3FBFA-C8CD-333E-D9A0-A8A902CB2B04}"/>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17D148B9-ED75-0FED-857C-871C52D65D15}"/>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959D85E0-9942-DE00-18BF-3F0A33B4A03C}"/>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a:extLst>
              <a:ext uri="{FF2B5EF4-FFF2-40B4-BE49-F238E27FC236}">
                <a16:creationId xmlns:a16="http://schemas.microsoft.com/office/drawing/2014/main" id="{4016E8B4-811E-5267-CBC3-7D46B9D639E3}"/>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 name="直接箭头连接符 202">
            <a:extLst>
              <a:ext uri="{FF2B5EF4-FFF2-40B4-BE49-F238E27FC236}">
                <a16:creationId xmlns:a16="http://schemas.microsoft.com/office/drawing/2014/main" id="{264C4939-D8AE-9304-2628-DDEE0BA1729B}"/>
              </a:ext>
            </a:extLst>
          </p:cNvPr>
          <p:cNvCxnSpPr/>
          <p:nvPr/>
        </p:nvCxnSpPr>
        <p:spPr>
          <a:xfrm>
            <a:off x="1043608" y="1268760"/>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5" name="直接箭头连接符 203">
            <a:extLst>
              <a:ext uri="{FF2B5EF4-FFF2-40B4-BE49-F238E27FC236}">
                <a16:creationId xmlns:a16="http://schemas.microsoft.com/office/drawing/2014/main" id="{061E338E-81E7-EE35-5503-AD82E53FF124}"/>
              </a:ext>
            </a:extLst>
          </p:cNvPr>
          <p:cNvCxnSpPr/>
          <p:nvPr/>
        </p:nvCxnSpPr>
        <p:spPr>
          <a:xfrm>
            <a:off x="1907704" y="1304764"/>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接箭头连接符 204">
            <a:extLst>
              <a:ext uri="{FF2B5EF4-FFF2-40B4-BE49-F238E27FC236}">
                <a16:creationId xmlns:a16="http://schemas.microsoft.com/office/drawing/2014/main" id="{D6F7BD19-820C-CBF0-23AE-78CB2F062A4F}"/>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7" name="矩形 126">
            <a:extLst>
              <a:ext uri="{FF2B5EF4-FFF2-40B4-BE49-F238E27FC236}">
                <a16:creationId xmlns:a16="http://schemas.microsoft.com/office/drawing/2014/main" id="{AA614189-7451-3966-6202-E5C81FC5D247}"/>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sp>
        <p:nvSpPr>
          <p:cNvPr id="128" name="椭圆 127">
            <a:extLst>
              <a:ext uri="{FF2B5EF4-FFF2-40B4-BE49-F238E27FC236}">
                <a16:creationId xmlns:a16="http://schemas.microsoft.com/office/drawing/2014/main" id="{B3316C04-4FBC-8F3C-7F34-E0FA94CCAE5A}"/>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9" name="直接箭头连接符 207">
            <a:extLst>
              <a:ext uri="{FF2B5EF4-FFF2-40B4-BE49-F238E27FC236}">
                <a16:creationId xmlns:a16="http://schemas.microsoft.com/office/drawing/2014/main" id="{95D866E0-18DB-3C66-132A-EAE891372C4D}"/>
              </a:ext>
            </a:extLst>
          </p:cNvPr>
          <p:cNvCxnSpPr/>
          <p:nvPr/>
        </p:nvCxnSpPr>
        <p:spPr>
          <a:xfrm>
            <a:off x="2123728" y="1552796"/>
            <a:ext cx="0" cy="1840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0" name="矩形 129">
            <a:extLst>
              <a:ext uri="{FF2B5EF4-FFF2-40B4-BE49-F238E27FC236}">
                <a16:creationId xmlns:a16="http://schemas.microsoft.com/office/drawing/2014/main" id="{FF85AB10-F11D-05C2-E786-8E1555921C13}"/>
              </a:ext>
            </a:extLst>
          </p:cNvPr>
          <p:cNvSpPr/>
          <p:nvPr/>
        </p:nvSpPr>
        <p:spPr>
          <a:xfrm>
            <a:off x="503548" y="1519370"/>
            <a:ext cx="4029212" cy="3493806"/>
          </a:xfrm>
          <a:prstGeom prst="rect">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 name="Line 35">
            <a:extLst>
              <a:ext uri="{FF2B5EF4-FFF2-40B4-BE49-F238E27FC236}">
                <a16:creationId xmlns:a16="http://schemas.microsoft.com/office/drawing/2014/main" id="{ABA12F29-73C2-7405-CF25-122FA0F3B36E}"/>
              </a:ext>
            </a:extLst>
          </p:cNvPr>
          <p:cNvSpPr>
            <a:spLocks noChangeShapeType="1"/>
          </p:cNvSpPr>
          <p:nvPr/>
        </p:nvSpPr>
        <p:spPr bwMode="auto">
          <a:xfrm flipV="1">
            <a:off x="1025771" y="4527542"/>
            <a:ext cx="2898775" cy="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32" name="Text Box 39">
            <a:extLst>
              <a:ext uri="{FF2B5EF4-FFF2-40B4-BE49-F238E27FC236}">
                <a16:creationId xmlns:a16="http://schemas.microsoft.com/office/drawing/2014/main" id="{BB4357B5-E551-C3A0-F151-E1DBE099AB22}"/>
              </a:ext>
            </a:extLst>
          </p:cNvPr>
          <p:cNvSpPr txBox="1">
            <a:spLocks noChangeArrowheads="1"/>
          </p:cNvSpPr>
          <p:nvPr/>
        </p:nvSpPr>
        <p:spPr bwMode="auto">
          <a:xfrm>
            <a:off x="3240334" y="3892542"/>
            <a:ext cx="671512" cy="438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 </a:t>
            </a:r>
            <a:r>
              <a:rPr kumimoji="1" lang="en-US" altLang="zh-CN" sz="2400">
                <a:latin typeface="Times New Roman" panose="02020603050405020304" pitchFamily="18" charset="0"/>
                <a:ea typeface="长城楷体" pitchFamily="49" charset="-122"/>
              </a:rPr>
              <a:t>= 0</a:t>
            </a:r>
          </a:p>
        </p:txBody>
      </p:sp>
      <p:grpSp>
        <p:nvGrpSpPr>
          <p:cNvPr id="133" name="Group 105">
            <a:extLst>
              <a:ext uri="{FF2B5EF4-FFF2-40B4-BE49-F238E27FC236}">
                <a16:creationId xmlns:a16="http://schemas.microsoft.com/office/drawing/2014/main" id="{812873A8-A1E9-2077-82F0-E24AA9FC71F3}"/>
              </a:ext>
            </a:extLst>
          </p:cNvPr>
          <p:cNvGrpSpPr>
            <a:grpSpLocks/>
          </p:cNvGrpSpPr>
          <p:nvPr/>
        </p:nvGrpSpPr>
        <p:grpSpPr bwMode="auto">
          <a:xfrm>
            <a:off x="1263896" y="4418005"/>
            <a:ext cx="2552700" cy="627062"/>
            <a:chOff x="3428" y="3625"/>
            <a:chExt cx="1608" cy="395"/>
          </a:xfrm>
        </p:grpSpPr>
        <p:grpSp>
          <p:nvGrpSpPr>
            <p:cNvPr id="134" name="Group 40">
              <a:extLst>
                <a:ext uri="{FF2B5EF4-FFF2-40B4-BE49-F238E27FC236}">
                  <a16:creationId xmlns:a16="http://schemas.microsoft.com/office/drawing/2014/main" id="{1E118BEC-B0D0-4E3D-16E2-E14BDF59ECC8}"/>
                </a:ext>
              </a:extLst>
            </p:cNvPr>
            <p:cNvGrpSpPr>
              <a:grpSpLocks/>
            </p:cNvGrpSpPr>
            <p:nvPr/>
          </p:nvGrpSpPr>
          <p:grpSpPr bwMode="auto">
            <a:xfrm>
              <a:off x="3428" y="3625"/>
              <a:ext cx="1608" cy="65"/>
              <a:chOff x="2993" y="3543"/>
              <a:chExt cx="1929" cy="69"/>
            </a:xfrm>
          </p:grpSpPr>
          <p:sp>
            <p:nvSpPr>
              <p:cNvPr id="136" name="Line 41">
                <a:extLst>
                  <a:ext uri="{FF2B5EF4-FFF2-40B4-BE49-F238E27FC236}">
                    <a16:creationId xmlns:a16="http://schemas.microsoft.com/office/drawing/2014/main" id="{3606D8E0-70B4-68E5-616E-D42871B9682D}"/>
                  </a:ext>
                </a:extLst>
              </p:cNvPr>
              <p:cNvSpPr>
                <a:spLocks noChangeShapeType="1"/>
              </p:cNvSpPr>
              <p:nvPr/>
            </p:nvSpPr>
            <p:spPr bwMode="auto">
              <a:xfrm flipV="1">
                <a:off x="2993"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7" name="Line 42">
                <a:extLst>
                  <a:ext uri="{FF2B5EF4-FFF2-40B4-BE49-F238E27FC236}">
                    <a16:creationId xmlns:a16="http://schemas.microsoft.com/office/drawing/2014/main" id="{37B60F71-06A0-DF6C-8C36-7BFE2149EE77}"/>
                  </a:ext>
                </a:extLst>
              </p:cNvPr>
              <p:cNvSpPr>
                <a:spLocks noChangeShapeType="1"/>
              </p:cNvSpPr>
              <p:nvPr/>
            </p:nvSpPr>
            <p:spPr bwMode="auto">
              <a:xfrm flipV="1">
                <a:off x="3084"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8" name="Line 43">
                <a:extLst>
                  <a:ext uri="{FF2B5EF4-FFF2-40B4-BE49-F238E27FC236}">
                    <a16:creationId xmlns:a16="http://schemas.microsoft.com/office/drawing/2014/main" id="{B5861F4E-F417-E163-2C98-65AB028613CF}"/>
                  </a:ext>
                </a:extLst>
              </p:cNvPr>
              <p:cNvSpPr>
                <a:spLocks noChangeShapeType="1"/>
              </p:cNvSpPr>
              <p:nvPr/>
            </p:nvSpPr>
            <p:spPr bwMode="auto">
              <a:xfrm flipV="1">
                <a:off x="317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9" name="Line 44">
                <a:extLst>
                  <a:ext uri="{FF2B5EF4-FFF2-40B4-BE49-F238E27FC236}">
                    <a16:creationId xmlns:a16="http://schemas.microsoft.com/office/drawing/2014/main" id="{0A216100-DF80-7563-C616-3881627D5DE2}"/>
                  </a:ext>
                </a:extLst>
              </p:cNvPr>
              <p:cNvSpPr>
                <a:spLocks noChangeShapeType="1"/>
              </p:cNvSpPr>
              <p:nvPr/>
            </p:nvSpPr>
            <p:spPr bwMode="auto">
              <a:xfrm flipV="1">
                <a:off x="326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0" name="Line 45">
                <a:extLst>
                  <a:ext uri="{FF2B5EF4-FFF2-40B4-BE49-F238E27FC236}">
                    <a16:creationId xmlns:a16="http://schemas.microsoft.com/office/drawing/2014/main" id="{2F28497E-CB08-A421-188F-A1AD6977E348}"/>
                  </a:ext>
                </a:extLst>
              </p:cNvPr>
              <p:cNvSpPr>
                <a:spLocks noChangeShapeType="1"/>
              </p:cNvSpPr>
              <p:nvPr/>
            </p:nvSpPr>
            <p:spPr bwMode="auto">
              <a:xfrm flipV="1">
                <a:off x="335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1" name="Line 46">
                <a:extLst>
                  <a:ext uri="{FF2B5EF4-FFF2-40B4-BE49-F238E27FC236}">
                    <a16:creationId xmlns:a16="http://schemas.microsoft.com/office/drawing/2014/main" id="{D51A3369-07D1-A689-3A64-1D6B7FEF2662}"/>
                  </a:ext>
                </a:extLst>
              </p:cNvPr>
              <p:cNvSpPr>
                <a:spLocks noChangeShapeType="1"/>
              </p:cNvSpPr>
              <p:nvPr/>
            </p:nvSpPr>
            <p:spPr bwMode="auto">
              <a:xfrm flipV="1">
                <a:off x="344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2" name="Line 47">
                <a:extLst>
                  <a:ext uri="{FF2B5EF4-FFF2-40B4-BE49-F238E27FC236}">
                    <a16:creationId xmlns:a16="http://schemas.microsoft.com/office/drawing/2014/main" id="{3B5ADDAF-E330-F621-ECAB-A51571C4C5F3}"/>
                  </a:ext>
                </a:extLst>
              </p:cNvPr>
              <p:cNvSpPr>
                <a:spLocks noChangeShapeType="1"/>
              </p:cNvSpPr>
              <p:nvPr/>
            </p:nvSpPr>
            <p:spPr bwMode="auto">
              <a:xfrm flipV="1">
                <a:off x="353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3" name="Line 48">
                <a:extLst>
                  <a:ext uri="{FF2B5EF4-FFF2-40B4-BE49-F238E27FC236}">
                    <a16:creationId xmlns:a16="http://schemas.microsoft.com/office/drawing/2014/main" id="{663C47D9-E709-4301-E305-DFFEFFD27D89}"/>
                  </a:ext>
                </a:extLst>
              </p:cNvPr>
              <p:cNvSpPr>
                <a:spLocks noChangeShapeType="1"/>
              </p:cNvSpPr>
              <p:nvPr/>
            </p:nvSpPr>
            <p:spPr bwMode="auto">
              <a:xfrm flipV="1">
                <a:off x="3629"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4" name="Line 49">
                <a:extLst>
                  <a:ext uri="{FF2B5EF4-FFF2-40B4-BE49-F238E27FC236}">
                    <a16:creationId xmlns:a16="http://schemas.microsoft.com/office/drawing/2014/main" id="{E86F6FE4-929D-6ACE-61C7-D4E4D946603D}"/>
                  </a:ext>
                </a:extLst>
              </p:cNvPr>
              <p:cNvSpPr>
                <a:spLocks noChangeShapeType="1"/>
              </p:cNvSpPr>
              <p:nvPr/>
            </p:nvSpPr>
            <p:spPr bwMode="auto">
              <a:xfrm flipV="1">
                <a:off x="371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5" name="Line 50">
                <a:extLst>
                  <a:ext uri="{FF2B5EF4-FFF2-40B4-BE49-F238E27FC236}">
                    <a16:creationId xmlns:a16="http://schemas.microsoft.com/office/drawing/2014/main" id="{09140672-1703-7E81-0DA3-A792A18F9AD5}"/>
                  </a:ext>
                </a:extLst>
              </p:cNvPr>
              <p:cNvSpPr>
                <a:spLocks noChangeShapeType="1"/>
              </p:cNvSpPr>
              <p:nvPr/>
            </p:nvSpPr>
            <p:spPr bwMode="auto">
              <a:xfrm flipV="1">
                <a:off x="3810"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6" name="Line 51">
                <a:extLst>
                  <a:ext uri="{FF2B5EF4-FFF2-40B4-BE49-F238E27FC236}">
                    <a16:creationId xmlns:a16="http://schemas.microsoft.com/office/drawing/2014/main" id="{7B5F3439-3976-0859-67FF-202240D580C0}"/>
                  </a:ext>
                </a:extLst>
              </p:cNvPr>
              <p:cNvSpPr>
                <a:spLocks noChangeShapeType="1"/>
              </p:cNvSpPr>
              <p:nvPr/>
            </p:nvSpPr>
            <p:spPr bwMode="auto">
              <a:xfrm flipV="1">
                <a:off x="3901"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7" name="Line 52">
                <a:extLst>
                  <a:ext uri="{FF2B5EF4-FFF2-40B4-BE49-F238E27FC236}">
                    <a16:creationId xmlns:a16="http://schemas.microsoft.com/office/drawing/2014/main" id="{FDE6975C-3501-9DB5-4DC3-851C05727E17}"/>
                  </a:ext>
                </a:extLst>
              </p:cNvPr>
              <p:cNvSpPr>
                <a:spLocks noChangeShapeType="1"/>
              </p:cNvSpPr>
              <p:nvPr/>
            </p:nvSpPr>
            <p:spPr bwMode="auto">
              <a:xfrm flipV="1">
                <a:off x="3992"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8" name="Line 53">
                <a:extLst>
                  <a:ext uri="{FF2B5EF4-FFF2-40B4-BE49-F238E27FC236}">
                    <a16:creationId xmlns:a16="http://schemas.microsoft.com/office/drawing/2014/main" id="{B7C5F5CB-080B-1E36-A5FC-ACEBE70F69AF}"/>
                  </a:ext>
                </a:extLst>
              </p:cNvPr>
              <p:cNvSpPr>
                <a:spLocks noChangeShapeType="1"/>
              </p:cNvSpPr>
              <p:nvPr/>
            </p:nvSpPr>
            <p:spPr bwMode="auto">
              <a:xfrm flipV="1">
                <a:off x="4082"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9" name="Line 54">
                <a:extLst>
                  <a:ext uri="{FF2B5EF4-FFF2-40B4-BE49-F238E27FC236}">
                    <a16:creationId xmlns:a16="http://schemas.microsoft.com/office/drawing/2014/main" id="{7E367EF5-3755-05AE-EFBB-342723816669}"/>
                  </a:ext>
                </a:extLst>
              </p:cNvPr>
              <p:cNvSpPr>
                <a:spLocks noChangeShapeType="1"/>
              </p:cNvSpPr>
              <p:nvPr/>
            </p:nvSpPr>
            <p:spPr bwMode="auto">
              <a:xfrm flipV="1">
                <a:off x="4173"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0" name="Line 55">
                <a:extLst>
                  <a:ext uri="{FF2B5EF4-FFF2-40B4-BE49-F238E27FC236}">
                    <a16:creationId xmlns:a16="http://schemas.microsoft.com/office/drawing/2014/main" id="{CFE7EFA6-F19D-643E-6774-C3D8A9804BDD}"/>
                  </a:ext>
                </a:extLst>
              </p:cNvPr>
              <p:cNvSpPr>
                <a:spLocks noChangeShapeType="1"/>
              </p:cNvSpPr>
              <p:nvPr/>
            </p:nvSpPr>
            <p:spPr bwMode="auto">
              <a:xfrm flipV="1">
                <a:off x="4264"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1" name="Line 56">
                <a:extLst>
                  <a:ext uri="{FF2B5EF4-FFF2-40B4-BE49-F238E27FC236}">
                    <a16:creationId xmlns:a16="http://schemas.microsoft.com/office/drawing/2014/main" id="{DA759EFE-C2D1-7064-E9D0-EE2EFF2CA056}"/>
                  </a:ext>
                </a:extLst>
              </p:cNvPr>
              <p:cNvSpPr>
                <a:spLocks noChangeShapeType="1"/>
              </p:cNvSpPr>
              <p:nvPr/>
            </p:nvSpPr>
            <p:spPr bwMode="auto">
              <a:xfrm flipV="1">
                <a:off x="4355"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2" name="Line 57">
                <a:extLst>
                  <a:ext uri="{FF2B5EF4-FFF2-40B4-BE49-F238E27FC236}">
                    <a16:creationId xmlns:a16="http://schemas.microsoft.com/office/drawing/2014/main" id="{C61899A1-1304-4E0D-04C0-93977BCBD072}"/>
                  </a:ext>
                </a:extLst>
              </p:cNvPr>
              <p:cNvSpPr>
                <a:spLocks noChangeShapeType="1"/>
              </p:cNvSpPr>
              <p:nvPr/>
            </p:nvSpPr>
            <p:spPr bwMode="auto">
              <a:xfrm flipV="1">
                <a:off x="444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3" name="Line 58">
                <a:extLst>
                  <a:ext uri="{FF2B5EF4-FFF2-40B4-BE49-F238E27FC236}">
                    <a16:creationId xmlns:a16="http://schemas.microsoft.com/office/drawing/2014/main" id="{98AEF242-F4C6-69D5-1395-B9CA317EFC51}"/>
                  </a:ext>
                </a:extLst>
              </p:cNvPr>
              <p:cNvSpPr>
                <a:spLocks noChangeShapeType="1"/>
              </p:cNvSpPr>
              <p:nvPr/>
            </p:nvSpPr>
            <p:spPr bwMode="auto">
              <a:xfrm flipV="1">
                <a:off x="453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4" name="Line 59">
                <a:extLst>
                  <a:ext uri="{FF2B5EF4-FFF2-40B4-BE49-F238E27FC236}">
                    <a16:creationId xmlns:a16="http://schemas.microsoft.com/office/drawing/2014/main" id="{326366B4-B1E3-D16E-D0F1-78DE0A71F35B}"/>
                  </a:ext>
                </a:extLst>
              </p:cNvPr>
              <p:cNvSpPr>
                <a:spLocks noChangeShapeType="1"/>
              </p:cNvSpPr>
              <p:nvPr/>
            </p:nvSpPr>
            <p:spPr bwMode="auto">
              <a:xfrm flipV="1">
                <a:off x="462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5" name="Line 60">
                <a:extLst>
                  <a:ext uri="{FF2B5EF4-FFF2-40B4-BE49-F238E27FC236}">
                    <a16:creationId xmlns:a16="http://schemas.microsoft.com/office/drawing/2014/main" id="{7965C5EC-71AA-D88B-54F7-D8C64570045F}"/>
                  </a:ext>
                </a:extLst>
              </p:cNvPr>
              <p:cNvSpPr>
                <a:spLocks noChangeShapeType="1"/>
              </p:cNvSpPr>
              <p:nvPr/>
            </p:nvSpPr>
            <p:spPr bwMode="auto">
              <a:xfrm flipV="1">
                <a:off x="471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6" name="Line 61">
                <a:extLst>
                  <a:ext uri="{FF2B5EF4-FFF2-40B4-BE49-F238E27FC236}">
                    <a16:creationId xmlns:a16="http://schemas.microsoft.com/office/drawing/2014/main" id="{08FF3865-AAA4-8578-77D6-5FADC02365F8}"/>
                  </a:ext>
                </a:extLst>
              </p:cNvPr>
              <p:cNvSpPr>
                <a:spLocks noChangeShapeType="1"/>
              </p:cNvSpPr>
              <p:nvPr/>
            </p:nvSpPr>
            <p:spPr bwMode="auto">
              <a:xfrm flipV="1">
                <a:off x="480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135" name="Rectangle 28">
              <a:extLst>
                <a:ext uri="{FF2B5EF4-FFF2-40B4-BE49-F238E27FC236}">
                  <a16:creationId xmlns:a16="http://schemas.microsoft.com/office/drawing/2014/main" id="{78089EEA-7FD9-D915-1667-1947ED4B5C1D}"/>
                </a:ext>
              </a:extLst>
            </p:cNvPr>
            <p:cNvSpPr>
              <a:spLocks noChangeArrowheads="1"/>
            </p:cNvSpPr>
            <p:nvPr/>
          </p:nvSpPr>
          <p:spPr bwMode="auto">
            <a:xfrm>
              <a:off x="3931" y="3732"/>
              <a:ext cx="69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FF3300"/>
                  </a:solidFill>
                </a:rPr>
                <a:t>截止区</a:t>
              </a:r>
            </a:p>
          </p:txBody>
        </p:sp>
      </p:grpSp>
      <p:sp>
        <p:nvSpPr>
          <p:cNvPr id="157" name="Rectangle 10">
            <a:extLst>
              <a:ext uri="{FF2B5EF4-FFF2-40B4-BE49-F238E27FC236}">
                <a16:creationId xmlns:a16="http://schemas.microsoft.com/office/drawing/2014/main" id="{271D912E-BF7E-BEB2-4071-F1AFCD0C59C7}"/>
              </a:ext>
            </a:extLst>
          </p:cNvPr>
          <p:cNvSpPr>
            <a:spLocks noChangeArrowheads="1"/>
          </p:cNvSpPr>
          <p:nvPr/>
        </p:nvSpPr>
        <p:spPr bwMode="auto">
          <a:xfrm>
            <a:off x="2062409" y="3290880"/>
            <a:ext cx="11033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放大区</a:t>
            </a:r>
          </a:p>
        </p:txBody>
      </p:sp>
      <p:sp>
        <p:nvSpPr>
          <p:cNvPr id="158" name="Rectangle 11">
            <a:extLst>
              <a:ext uri="{FF2B5EF4-FFF2-40B4-BE49-F238E27FC236}">
                <a16:creationId xmlns:a16="http://schemas.microsoft.com/office/drawing/2014/main" id="{A3B5DC15-9842-C26C-D176-9B7C38FFD634}"/>
              </a:ext>
            </a:extLst>
          </p:cNvPr>
          <p:cNvSpPr>
            <a:spLocks noChangeArrowheads="1"/>
          </p:cNvSpPr>
          <p:nvPr/>
        </p:nvSpPr>
        <p:spPr bwMode="auto">
          <a:xfrm>
            <a:off x="1078159" y="1876417"/>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0000FF"/>
                </a:solidFill>
              </a:rPr>
              <a:t>饱和区</a:t>
            </a:r>
          </a:p>
        </p:txBody>
      </p:sp>
      <p:sp>
        <p:nvSpPr>
          <p:cNvPr id="159" name="Text Box 30">
            <a:extLst>
              <a:ext uri="{FF2B5EF4-FFF2-40B4-BE49-F238E27FC236}">
                <a16:creationId xmlns:a16="http://schemas.microsoft.com/office/drawing/2014/main" id="{6091816F-C28E-7E04-8243-81287F8E173B}"/>
              </a:ext>
            </a:extLst>
          </p:cNvPr>
          <p:cNvSpPr txBox="1">
            <a:spLocks noChangeArrowheads="1"/>
          </p:cNvSpPr>
          <p:nvPr/>
        </p:nvSpPr>
        <p:spPr bwMode="auto">
          <a:xfrm>
            <a:off x="4073771" y="4324342"/>
            <a:ext cx="415925" cy="46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spcAft>
                <a:spcPct val="0"/>
              </a:spcAft>
              <a:buFontTx/>
              <a:buNone/>
            </a:pPr>
            <a:r>
              <a:rPr kumimoji="1" lang="en-US" altLang="zh-CN" sz="2800" i="1">
                <a:latin typeface="Times New Roman" panose="02020603050405020304" pitchFamily="18" charset="0"/>
                <a:ea typeface="长城楷体" pitchFamily="49" charset="-122"/>
              </a:rPr>
              <a:t>v</a:t>
            </a:r>
            <a:r>
              <a:rPr kumimoji="1" lang="en-US" altLang="zh-CN" sz="2400" baseline="-25000">
                <a:latin typeface="Times New Roman" panose="02020603050405020304" pitchFamily="18" charset="0"/>
                <a:ea typeface="长城楷体" pitchFamily="49" charset="-122"/>
              </a:rPr>
              <a:t>CE</a:t>
            </a:r>
            <a:endParaRPr kumimoji="1" lang="zh-CN" altLang="en-US" sz="2400">
              <a:latin typeface="Times New Roman" panose="02020603050405020304" pitchFamily="18" charset="0"/>
              <a:ea typeface="长城楷体" pitchFamily="49" charset="-122"/>
            </a:endParaRPr>
          </a:p>
        </p:txBody>
      </p:sp>
      <p:sp>
        <p:nvSpPr>
          <p:cNvPr id="160" name="Text Box 31">
            <a:extLst>
              <a:ext uri="{FF2B5EF4-FFF2-40B4-BE49-F238E27FC236}">
                <a16:creationId xmlns:a16="http://schemas.microsoft.com/office/drawing/2014/main" id="{1DBA2104-4035-FF42-A06C-F0FF814180B9}"/>
              </a:ext>
            </a:extLst>
          </p:cNvPr>
          <p:cNvSpPr txBox="1">
            <a:spLocks noChangeArrowheads="1"/>
          </p:cNvSpPr>
          <p:nvPr/>
        </p:nvSpPr>
        <p:spPr bwMode="auto">
          <a:xfrm>
            <a:off x="609846" y="2062155"/>
            <a:ext cx="23018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C</a:t>
            </a:r>
            <a:endParaRPr kumimoji="1" lang="zh-CN" altLang="en-US" sz="2400">
              <a:latin typeface="Times New Roman" panose="02020603050405020304" pitchFamily="18" charset="0"/>
              <a:ea typeface="长城楷体" pitchFamily="49" charset="-122"/>
            </a:endParaRPr>
          </a:p>
        </p:txBody>
      </p:sp>
      <p:sp>
        <p:nvSpPr>
          <p:cNvPr id="161" name="Line 34">
            <a:extLst>
              <a:ext uri="{FF2B5EF4-FFF2-40B4-BE49-F238E27FC236}">
                <a16:creationId xmlns:a16="http://schemas.microsoft.com/office/drawing/2014/main" id="{B2863537-6515-5D81-304F-119E659B6D89}"/>
              </a:ext>
            </a:extLst>
          </p:cNvPr>
          <p:cNvSpPr>
            <a:spLocks noChangeShapeType="1"/>
          </p:cNvSpPr>
          <p:nvPr/>
        </p:nvSpPr>
        <p:spPr bwMode="auto">
          <a:xfrm flipV="1">
            <a:off x="1041646" y="2171692"/>
            <a:ext cx="0" cy="235585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62" name="Text Box 36">
            <a:extLst>
              <a:ext uri="{FF2B5EF4-FFF2-40B4-BE49-F238E27FC236}">
                <a16:creationId xmlns:a16="http://schemas.microsoft.com/office/drawing/2014/main" id="{33E62277-9082-A42E-0046-8FCB7A5F2AFB}"/>
              </a:ext>
            </a:extLst>
          </p:cNvPr>
          <p:cNvSpPr txBox="1">
            <a:spLocks noChangeArrowheads="1"/>
          </p:cNvSpPr>
          <p:nvPr/>
        </p:nvSpPr>
        <p:spPr bwMode="auto">
          <a:xfrm>
            <a:off x="697159" y="4449755"/>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O</a:t>
            </a:r>
          </a:p>
        </p:txBody>
      </p:sp>
      <p:sp>
        <p:nvSpPr>
          <p:cNvPr id="163" name="Freeform 37">
            <a:extLst>
              <a:ext uri="{FF2B5EF4-FFF2-40B4-BE49-F238E27FC236}">
                <a16:creationId xmlns:a16="http://schemas.microsoft.com/office/drawing/2014/main" id="{CAEB2D61-42C5-6A19-DF7C-A8A78366BEAA}"/>
              </a:ext>
            </a:extLst>
          </p:cNvPr>
          <p:cNvSpPr>
            <a:spLocks/>
          </p:cNvSpPr>
          <p:nvPr/>
        </p:nvSpPr>
        <p:spPr bwMode="auto">
          <a:xfrm>
            <a:off x="1047996" y="4386255"/>
            <a:ext cx="2805113" cy="144462"/>
          </a:xfrm>
          <a:custGeom>
            <a:avLst/>
            <a:gdLst>
              <a:gd name="T0" fmla="*/ 0 w 2191"/>
              <a:gd name="T1" fmla="*/ 2147483646 h 96"/>
              <a:gd name="T2" fmla="*/ 2147483646 w 2191"/>
              <a:gd name="T3" fmla="*/ 2147483646 h 96"/>
              <a:gd name="T4" fmla="*/ 2147483646 w 2191"/>
              <a:gd name="T5" fmla="*/ 2147483646 h 96"/>
              <a:gd name="T6" fmla="*/ 2147483646 w 2191"/>
              <a:gd name="T7" fmla="*/ 0 h 96"/>
              <a:gd name="T8" fmla="*/ 0 60000 65536"/>
              <a:gd name="T9" fmla="*/ 0 60000 65536"/>
              <a:gd name="T10" fmla="*/ 0 60000 65536"/>
              <a:gd name="T11" fmla="*/ 0 60000 65536"/>
              <a:gd name="T12" fmla="*/ 0 w 2191"/>
              <a:gd name="T13" fmla="*/ 0 h 96"/>
              <a:gd name="T14" fmla="*/ 2191 w 2191"/>
              <a:gd name="T15" fmla="*/ 96 h 96"/>
            </a:gdLst>
            <a:ahLst/>
            <a:cxnLst>
              <a:cxn ang="T8">
                <a:pos x="T0" y="T1"/>
              </a:cxn>
              <a:cxn ang="T9">
                <a:pos x="T2" y="T3"/>
              </a:cxn>
              <a:cxn ang="T10">
                <a:pos x="T4" y="T5"/>
              </a:cxn>
              <a:cxn ang="T11">
                <a:pos x="T6" y="T7"/>
              </a:cxn>
            </a:cxnLst>
            <a:rect l="T12" t="T13" r="T14" b="T15"/>
            <a:pathLst>
              <a:path w="2191" h="96">
                <a:moveTo>
                  <a:pt x="0" y="96"/>
                </a:moveTo>
                <a:cubicBezTo>
                  <a:pt x="32" y="85"/>
                  <a:pt x="83" y="42"/>
                  <a:pt x="194" y="27"/>
                </a:cubicBezTo>
                <a:cubicBezTo>
                  <a:pt x="305" y="12"/>
                  <a:pt x="331" y="12"/>
                  <a:pt x="664" y="8"/>
                </a:cubicBezTo>
                <a:cubicBezTo>
                  <a:pt x="997" y="4"/>
                  <a:pt x="1873" y="2"/>
                  <a:pt x="2191"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grpSp>
        <p:nvGrpSpPr>
          <p:cNvPr id="164" name="Group 102">
            <a:extLst>
              <a:ext uri="{FF2B5EF4-FFF2-40B4-BE49-F238E27FC236}">
                <a16:creationId xmlns:a16="http://schemas.microsoft.com/office/drawing/2014/main" id="{E06D28D8-462E-9637-C8D6-B84A5B970BBF}"/>
              </a:ext>
            </a:extLst>
          </p:cNvPr>
          <p:cNvGrpSpPr>
            <a:grpSpLocks/>
          </p:cNvGrpSpPr>
          <p:nvPr/>
        </p:nvGrpSpPr>
        <p:grpSpPr bwMode="auto">
          <a:xfrm>
            <a:off x="1067046" y="3316280"/>
            <a:ext cx="2789238" cy="1195387"/>
            <a:chOff x="3304" y="2931"/>
            <a:chExt cx="1757" cy="753"/>
          </a:xfrm>
        </p:grpSpPr>
        <p:sp>
          <p:nvSpPr>
            <p:cNvPr id="165" name="Freeform 38">
              <a:extLst>
                <a:ext uri="{FF2B5EF4-FFF2-40B4-BE49-F238E27FC236}">
                  <a16:creationId xmlns:a16="http://schemas.microsoft.com/office/drawing/2014/main" id="{C1A19B0A-21D2-F67A-5F59-B9EB88B50264}"/>
                </a:ext>
              </a:extLst>
            </p:cNvPr>
            <p:cNvSpPr>
              <a:spLocks/>
            </p:cNvSpPr>
            <p:nvPr/>
          </p:nvSpPr>
          <p:spPr bwMode="auto">
            <a:xfrm>
              <a:off x="3304" y="3252"/>
              <a:ext cx="1757" cy="432"/>
            </a:xfrm>
            <a:custGeom>
              <a:avLst/>
              <a:gdLst>
                <a:gd name="T0" fmla="*/ 0 w 2124"/>
                <a:gd name="T1" fmla="*/ 141 h 478"/>
                <a:gd name="T2" fmla="*/ 16 w 2124"/>
                <a:gd name="T3" fmla="*/ 42 h 478"/>
                <a:gd name="T4" fmla="*/ 64 w 2124"/>
                <a:gd name="T5" fmla="*/ 11 h 478"/>
                <a:gd name="T6" fmla="*/ 165 w 2124"/>
                <a:gd name="T7" fmla="*/ 5 h 478"/>
                <a:gd name="T8" fmla="*/ 218 w 2124"/>
                <a:gd name="T9" fmla="*/ 2 h 478"/>
                <a:gd name="T10" fmla="*/ 0 60000 65536"/>
                <a:gd name="T11" fmla="*/ 0 60000 65536"/>
                <a:gd name="T12" fmla="*/ 0 60000 65536"/>
                <a:gd name="T13" fmla="*/ 0 60000 65536"/>
                <a:gd name="T14" fmla="*/ 0 60000 65536"/>
                <a:gd name="T15" fmla="*/ 0 w 2124"/>
                <a:gd name="T16" fmla="*/ 0 h 478"/>
                <a:gd name="T17" fmla="*/ 2124 w 2124"/>
                <a:gd name="T18" fmla="*/ 478 h 478"/>
              </a:gdLst>
              <a:ahLst/>
              <a:cxnLst>
                <a:cxn ang="T10">
                  <a:pos x="T0" y="T1"/>
                </a:cxn>
                <a:cxn ang="T11">
                  <a:pos x="T2" y="T3"/>
                </a:cxn>
                <a:cxn ang="T12">
                  <a:pos x="T4" y="T5"/>
                </a:cxn>
                <a:cxn ang="T13">
                  <a:pos x="T6" y="T7"/>
                </a:cxn>
                <a:cxn ang="T14">
                  <a:pos x="T8" y="T9"/>
                </a:cxn>
              </a:cxnLst>
              <a:rect l="T15" t="T16" r="T17" b="T18"/>
              <a:pathLst>
                <a:path w="2124" h="478">
                  <a:moveTo>
                    <a:pt x="0" y="478"/>
                  </a:moveTo>
                  <a:cubicBezTo>
                    <a:pt x="25" y="422"/>
                    <a:pt x="49" y="215"/>
                    <a:pt x="152" y="141"/>
                  </a:cubicBezTo>
                  <a:cubicBezTo>
                    <a:pt x="255" y="67"/>
                    <a:pt x="372" y="59"/>
                    <a:pt x="615" y="37"/>
                  </a:cubicBezTo>
                  <a:cubicBezTo>
                    <a:pt x="858" y="15"/>
                    <a:pt x="1362" y="12"/>
                    <a:pt x="1613" y="6"/>
                  </a:cubicBezTo>
                  <a:cubicBezTo>
                    <a:pt x="1864" y="0"/>
                    <a:pt x="2018" y="3"/>
                    <a:pt x="2124" y="2"/>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sp>
          <p:nvSpPr>
            <p:cNvPr id="166" name="Text Box 63">
              <a:extLst>
                <a:ext uri="{FF2B5EF4-FFF2-40B4-BE49-F238E27FC236}">
                  <a16:creationId xmlns:a16="http://schemas.microsoft.com/office/drawing/2014/main" id="{1E47AA65-2494-9555-24CA-3C03052C5501}"/>
                </a:ext>
              </a:extLst>
            </p:cNvPr>
            <p:cNvSpPr txBox="1">
              <a:spLocks noChangeArrowheads="1"/>
            </p:cNvSpPr>
            <p:nvPr/>
          </p:nvSpPr>
          <p:spPr bwMode="auto">
            <a:xfrm>
              <a:off x="4782" y="2931"/>
              <a:ext cx="234"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B1 </a:t>
              </a:r>
              <a:endParaRPr kumimoji="1" lang="en-US" altLang="zh-CN" sz="2400">
                <a:latin typeface="Times New Roman" panose="02020603050405020304" pitchFamily="18" charset="0"/>
                <a:ea typeface="长城楷体" pitchFamily="49" charset="-122"/>
              </a:endParaRPr>
            </a:p>
          </p:txBody>
        </p:sp>
      </p:grpSp>
      <p:grpSp>
        <p:nvGrpSpPr>
          <p:cNvPr id="167" name="Group 103">
            <a:extLst>
              <a:ext uri="{FF2B5EF4-FFF2-40B4-BE49-F238E27FC236}">
                <a16:creationId xmlns:a16="http://schemas.microsoft.com/office/drawing/2014/main" id="{BC58C8A8-BCFE-ED4E-DA9B-FD4509FD4523}"/>
              </a:ext>
            </a:extLst>
          </p:cNvPr>
          <p:cNvGrpSpPr>
            <a:grpSpLocks/>
          </p:cNvGrpSpPr>
          <p:nvPr/>
        </p:nvGrpSpPr>
        <p:grpSpPr bwMode="auto">
          <a:xfrm>
            <a:off x="1068634" y="2697155"/>
            <a:ext cx="2798762" cy="1808162"/>
            <a:chOff x="3305" y="2541"/>
            <a:chExt cx="1763" cy="1139"/>
          </a:xfrm>
        </p:grpSpPr>
        <p:sp>
          <p:nvSpPr>
            <p:cNvPr id="168" name="Freeform 32">
              <a:extLst>
                <a:ext uri="{FF2B5EF4-FFF2-40B4-BE49-F238E27FC236}">
                  <a16:creationId xmlns:a16="http://schemas.microsoft.com/office/drawing/2014/main" id="{9F30DC39-95D7-F762-338E-158E54CB0C30}"/>
                </a:ext>
              </a:extLst>
            </p:cNvPr>
            <p:cNvSpPr>
              <a:spLocks/>
            </p:cNvSpPr>
            <p:nvPr/>
          </p:nvSpPr>
          <p:spPr bwMode="auto">
            <a:xfrm>
              <a:off x="3305" y="2886"/>
              <a:ext cx="1763" cy="794"/>
            </a:xfrm>
            <a:custGeom>
              <a:avLst/>
              <a:gdLst>
                <a:gd name="T0" fmla="*/ 0 w 2132"/>
                <a:gd name="T1" fmla="*/ 141 h 929"/>
                <a:gd name="T2" fmla="*/ 12 w 2132"/>
                <a:gd name="T3" fmla="*/ 48 h 929"/>
                <a:gd name="T4" fmla="*/ 47 w 2132"/>
                <a:gd name="T5" fmla="*/ 13 h 929"/>
                <a:gd name="T6" fmla="*/ 129 w 2132"/>
                <a:gd name="T7" fmla="*/ 3 h 929"/>
                <a:gd name="T8" fmla="*/ 217 w 2132"/>
                <a:gd name="T9" fmla="*/ 3 h 929"/>
                <a:gd name="T10" fmla="*/ 0 60000 65536"/>
                <a:gd name="T11" fmla="*/ 0 60000 65536"/>
                <a:gd name="T12" fmla="*/ 0 60000 65536"/>
                <a:gd name="T13" fmla="*/ 0 60000 65536"/>
                <a:gd name="T14" fmla="*/ 0 60000 65536"/>
                <a:gd name="T15" fmla="*/ 0 w 2132"/>
                <a:gd name="T16" fmla="*/ 0 h 929"/>
                <a:gd name="T17" fmla="*/ 2132 w 2132"/>
                <a:gd name="T18" fmla="*/ 929 h 929"/>
              </a:gdLst>
              <a:ahLst/>
              <a:cxnLst>
                <a:cxn ang="T10">
                  <a:pos x="T0" y="T1"/>
                </a:cxn>
                <a:cxn ang="T11">
                  <a:pos x="T2" y="T3"/>
                </a:cxn>
                <a:cxn ang="T12">
                  <a:pos x="T4" y="T5"/>
                </a:cxn>
                <a:cxn ang="T13">
                  <a:pos x="T6" y="T7"/>
                </a:cxn>
                <a:cxn ang="T14">
                  <a:pos x="T8" y="T9"/>
                </a:cxn>
              </a:cxnLst>
              <a:rect l="T15" t="T16" r="T17" b="T18"/>
              <a:pathLst>
                <a:path w="2132" h="929">
                  <a:moveTo>
                    <a:pt x="0" y="929"/>
                  </a:moveTo>
                  <a:cubicBezTo>
                    <a:pt x="21" y="827"/>
                    <a:pt x="49" y="459"/>
                    <a:pt x="125" y="318"/>
                  </a:cubicBezTo>
                  <a:cubicBezTo>
                    <a:pt x="201" y="177"/>
                    <a:pt x="266" y="134"/>
                    <a:pt x="456" y="83"/>
                  </a:cubicBezTo>
                  <a:cubicBezTo>
                    <a:pt x="646" y="32"/>
                    <a:pt x="989" y="26"/>
                    <a:pt x="1268" y="13"/>
                  </a:cubicBezTo>
                  <a:cubicBezTo>
                    <a:pt x="1547" y="0"/>
                    <a:pt x="1988" y="6"/>
                    <a:pt x="2132" y="4"/>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69" name="Text Box 64">
              <a:extLst>
                <a:ext uri="{FF2B5EF4-FFF2-40B4-BE49-F238E27FC236}">
                  <a16:creationId xmlns:a16="http://schemas.microsoft.com/office/drawing/2014/main" id="{808EB82E-7AFB-D808-9930-9BFC41B0529E}"/>
                </a:ext>
              </a:extLst>
            </p:cNvPr>
            <p:cNvSpPr txBox="1">
              <a:spLocks noChangeArrowheads="1"/>
            </p:cNvSpPr>
            <p:nvPr/>
          </p:nvSpPr>
          <p:spPr bwMode="auto">
            <a:xfrm>
              <a:off x="4782" y="2541"/>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B2</a:t>
              </a:r>
              <a:endParaRPr kumimoji="1" lang="en-US" altLang="zh-CN" sz="2400">
                <a:latin typeface="Times New Roman" panose="02020603050405020304" pitchFamily="18" charset="0"/>
                <a:ea typeface="长城楷体" pitchFamily="49" charset="-122"/>
              </a:endParaRPr>
            </a:p>
          </p:txBody>
        </p:sp>
      </p:grpSp>
      <p:grpSp>
        <p:nvGrpSpPr>
          <p:cNvPr id="170" name="Group 104">
            <a:extLst>
              <a:ext uri="{FF2B5EF4-FFF2-40B4-BE49-F238E27FC236}">
                <a16:creationId xmlns:a16="http://schemas.microsoft.com/office/drawing/2014/main" id="{B7BD4561-2BED-2764-9FE5-F5B372BD50D9}"/>
              </a:ext>
            </a:extLst>
          </p:cNvPr>
          <p:cNvGrpSpPr>
            <a:grpSpLocks/>
          </p:cNvGrpSpPr>
          <p:nvPr/>
        </p:nvGrpSpPr>
        <p:grpSpPr bwMode="auto">
          <a:xfrm>
            <a:off x="1038471" y="2074855"/>
            <a:ext cx="2778125" cy="2430462"/>
            <a:chOff x="3286" y="2149"/>
            <a:chExt cx="1750" cy="1531"/>
          </a:xfrm>
        </p:grpSpPr>
        <p:sp>
          <p:nvSpPr>
            <p:cNvPr id="171" name="Freeform 33">
              <a:extLst>
                <a:ext uri="{FF2B5EF4-FFF2-40B4-BE49-F238E27FC236}">
                  <a16:creationId xmlns:a16="http://schemas.microsoft.com/office/drawing/2014/main" id="{D22F1485-49BC-F33E-00FB-69BE8321D8B1}"/>
                </a:ext>
              </a:extLst>
            </p:cNvPr>
            <p:cNvSpPr>
              <a:spLocks/>
            </p:cNvSpPr>
            <p:nvPr/>
          </p:nvSpPr>
          <p:spPr bwMode="auto">
            <a:xfrm>
              <a:off x="3286" y="2464"/>
              <a:ext cx="1750" cy="1216"/>
            </a:xfrm>
            <a:custGeom>
              <a:avLst/>
              <a:gdLst>
                <a:gd name="T0" fmla="*/ 0 w 2116"/>
                <a:gd name="T1" fmla="*/ 404 h 1344"/>
                <a:gd name="T2" fmla="*/ 18 w 2116"/>
                <a:gd name="T3" fmla="*/ 159 h 1344"/>
                <a:gd name="T4" fmla="*/ 36 w 2116"/>
                <a:gd name="T5" fmla="*/ 47 h 1344"/>
                <a:gd name="T6" fmla="*/ 82 w 2116"/>
                <a:gd name="T7" fmla="*/ 11 h 1344"/>
                <a:gd name="T8" fmla="*/ 217 w 2116"/>
                <a:gd name="T9" fmla="*/ 0 h 1344"/>
                <a:gd name="T10" fmla="*/ 0 60000 65536"/>
                <a:gd name="T11" fmla="*/ 0 60000 65536"/>
                <a:gd name="T12" fmla="*/ 0 60000 65536"/>
                <a:gd name="T13" fmla="*/ 0 60000 65536"/>
                <a:gd name="T14" fmla="*/ 0 60000 65536"/>
                <a:gd name="T15" fmla="*/ 0 w 2116"/>
                <a:gd name="T16" fmla="*/ 0 h 1344"/>
                <a:gd name="T17" fmla="*/ 2116 w 2116"/>
                <a:gd name="T18" fmla="*/ 1344 h 1344"/>
              </a:gdLst>
              <a:ahLst/>
              <a:cxnLst>
                <a:cxn ang="T10">
                  <a:pos x="T0" y="T1"/>
                </a:cxn>
                <a:cxn ang="T11">
                  <a:pos x="T2" y="T3"/>
                </a:cxn>
                <a:cxn ang="T12">
                  <a:pos x="T4" y="T5"/>
                </a:cxn>
                <a:cxn ang="T13">
                  <a:pos x="T6" y="T7"/>
                </a:cxn>
                <a:cxn ang="T14">
                  <a:pos x="T8" y="T9"/>
                </a:cxn>
              </a:cxnLst>
              <a:rect l="T15" t="T16" r="T17" b="T18"/>
              <a:pathLst>
                <a:path w="2116" h="1344">
                  <a:moveTo>
                    <a:pt x="0" y="1344"/>
                  </a:moveTo>
                  <a:cubicBezTo>
                    <a:pt x="30" y="1209"/>
                    <a:pt x="120" y="730"/>
                    <a:pt x="179" y="532"/>
                  </a:cubicBezTo>
                  <a:cubicBezTo>
                    <a:pt x="238" y="334"/>
                    <a:pt x="250" y="240"/>
                    <a:pt x="353" y="157"/>
                  </a:cubicBezTo>
                  <a:cubicBezTo>
                    <a:pt x="456" y="74"/>
                    <a:pt x="506" y="60"/>
                    <a:pt x="800" y="34"/>
                  </a:cubicBezTo>
                  <a:cubicBezTo>
                    <a:pt x="1094" y="8"/>
                    <a:pt x="1897" y="6"/>
                    <a:pt x="2116"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72" name="Text Box 65">
              <a:extLst>
                <a:ext uri="{FF2B5EF4-FFF2-40B4-BE49-F238E27FC236}">
                  <a16:creationId xmlns:a16="http://schemas.microsoft.com/office/drawing/2014/main" id="{46147AD4-3830-B723-AD80-A704E1105FB7}"/>
                </a:ext>
              </a:extLst>
            </p:cNvPr>
            <p:cNvSpPr txBox="1">
              <a:spLocks noChangeArrowheads="1"/>
            </p:cNvSpPr>
            <p:nvPr/>
          </p:nvSpPr>
          <p:spPr bwMode="auto">
            <a:xfrm>
              <a:off x="4782" y="2149"/>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B3</a:t>
              </a:r>
              <a:endParaRPr kumimoji="1" lang="en-US" altLang="zh-CN" sz="2400">
                <a:latin typeface="Times New Roman" panose="02020603050405020304" pitchFamily="18" charset="0"/>
                <a:ea typeface="长城楷体" pitchFamily="49" charset="-122"/>
              </a:endParaRPr>
            </a:p>
          </p:txBody>
        </p:sp>
      </p:grpSp>
      <p:grpSp>
        <p:nvGrpSpPr>
          <p:cNvPr id="173" name="Group 81">
            <a:extLst>
              <a:ext uri="{FF2B5EF4-FFF2-40B4-BE49-F238E27FC236}">
                <a16:creationId xmlns:a16="http://schemas.microsoft.com/office/drawing/2014/main" id="{17E7C76A-7DF0-ADCB-598B-D39B4FA9754E}"/>
              </a:ext>
            </a:extLst>
          </p:cNvPr>
          <p:cNvGrpSpPr>
            <a:grpSpLocks/>
          </p:cNvGrpSpPr>
          <p:nvPr/>
        </p:nvGrpSpPr>
        <p:grpSpPr bwMode="auto">
          <a:xfrm>
            <a:off x="1025771" y="2398705"/>
            <a:ext cx="592138" cy="2128837"/>
            <a:chOff x="3278" y="1161"/>
            <a:chExt cx="556" cy="1483"/>
          </a:xfrm>
        </p:grpSpPr>
        <p:sp>
          <p:nvSpPr>
            <p:cNvPr id="174" name="Freeform 62">
              <a:extLst>
                <a:ext uri="{FF2B5EF4-FFF2-40B4-BE49-F238E27FC236}">
                  <a16:creationId xmlns:a16="http://schemas.microsoft.com/office/drawing/2014/main" id="{6DF42AC8-531C-D5AC-1FBE-8DC101A9E74C}"/>
                </a:ext>
              </a:extLst>
            </p:cNvPr>
            <p:cNvSpPr>
              <a:spLocks/>
            </p:cNvSpPr>
            <p:nvPr/>
          </p:nvSpPr>
          <p:spPr bwMode="auto">
            <a:xfrm>
              <a:off x="3278" y="1161"/>
              <a:ext cx="556" cy="1483"/>
            </a:xfrm>
            <a:custGeom>
              <a:avLst/>
              <a:gdLst>
                <a:gd name="T0" fmla="*/ 0 w 588"/>
                <a:gd name="T1" fmla="*/ 1156 h 1517"/>
                <a:gd name="T2" fmla="*/ 73 w 588"/>
                <a:gd name="T3" fmla="*/ 1123 h 1517"/>
                <a:gd name="T4" fmla="*/ 148 w 588"/>
                <a:gd name="T5" fmla="*/ 1011 h 1517"/>
                <a:gd name="T6" fmla="*/ 212 w 588"/>
                <a:gd name="T7" fmla="*/ 712 h 1517"/>
                <a:gd name="T8" fmla="*/ 265 w 588"/>
                <a:gd name="T9" fmla="*/ 320 h 1517"/>
                <a:gd name="T10" fmla="*/ 301 w 588"/>
                <a:gd name="T11" fmla="*/ 0 h 1517"/>
                <a:gd name="T12" fmla="*/ 0 60000 65536"/>
                <a:gd name="T13" fmla="*/ 0 60000 65536"/>
                <a:gd name="T14" fmla="*/ 0 60000 65536"/>
                <a:gd name="T15" fmla="*/ 0 60000 65536"/>
                <a:gd name="T16" fmla="*/ 0 60000 65536"/>
                <a:gd name="T17" fmla="*/ 0 60000 65536"/>
                <a:gd name="T18" fmla="*/ 0 w 588"/>
                <a:gd name="T19" fmla="*/ 0 h 1517"/>
                <a:gd name="T20" fmla="*/ 588 w 588"/>
                <a:gd name="T21" fmla="*/ 1517 h 1517"/>
              </a:gdLst>
              <a:ahLst/>
              <a:cxnLst>
                <a:cxn ang="T12">
                  <a:pos x="T0" y="T1"/>
                </a:cxn>
                <a:cxn ang="T13">
                  <a:pos x="T2" y="T3"/>
                </a:cxn>
                <a:cxn ang="T14">
                  <a:pos x="T4" y="T5"/>
                </a:cxn>
                <a:cxn ang="T15">
                  <a:pos x="T6" y="T7"/>
                </a:cxn>
                <a:cxn ang="T16">
                  <a:pos x="T8" y="T9"/>
                </a:cxn>
                <a:cxn ang="T17">
                  <a:pos x="T10" y="T11"/>
                </a:cxn>
              </a:cxnLst>
              <a:rect l="T18" t="T19" r="T20" b="T21"/>
              <a:pathLst>
                <a:path w="588" h="1517">
                  <a:moveTo>
                    <a:pt x="0" y="1517"/>
                  </a:moveTo>
                  <a:cubicBezTo>
                    <a:pt x="24" y="1510"/>
                    <a:pt x="95" y="1507"/>
                    <a:pt x="143" y="1475"/>
                  </a:cubicBezTo>
                  <a:cubicBezTo>
                    <a:pt x="191" y="1443"/>
                    <a:pt x="246" y="1417"/>
                    <a:pt x="291" y="1327"/>
                  </a:cubicBezTo>
                  <a:cubicBezTo>
                    <a:pt x="336" y="1237"/>
                    <a:pt x="376" y="1085"/>
                    <a:pt x="414" y="934"/>
                  </a:cubicBezTo>
                  <a:cubicBezTo>
                    <a:pt x="452" y="783"/>
                    <a:pt x="489" y="575"/>
                    <a:pt x="518" y="419"/>
                  </a:cubicBezTo>
                  <a:cubicBezTo>
                    <a:pt x="547" y="263"/>
                    <a:pt x="574" y="87"/>
                    <a:pt x="588" y="0"/>
                  </a:cubicBezTo>
                </a:path>
              </a:pathLst>
            </a:custGeom>
            <a:noFill/>
            <a:ln w="28575">
              <a:solidFill>
                <a:srgbClr val="0000FF"/>
              </a:solidFill>
              <a:prstDash val="dash"/>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nvGrpSpPr>
            <p:cNvPr id="175" name="Group 66">
              <a:extLst>
                <a:ext uri="{FF2B5EF4-FFF2-40B4-BE49-F238E27FC236}">
                  <a16:creationId xmlns:a16="http://schemas.microsoft.com/office/drawing/2014/main" id="{F9A3E1C1-D938-1A87-2F46-4322E20747D3}"/>
                </a:ext>
              </a:extLst>
            </p:cNvPr>
            <p:cNvGrpSpPr>
              <a:grpSpLocks/>
            </p:cNvGrpSpPr>
            <p:nvPr/>
          </p:nvGrpSpPr>
          <p:grpSpPr bwMode="auto">
            <a:xfrm>
              <a:off x="3290" y="1161"/>
              <a:ext cx="476" cy="1407"/>
              <a:chOff x="3334" y="1117"/>
              <a:chExt cx="465" cy="1429"/>
            </a:xfrm>
          </p:grpSpPr>
          <p:sp>
            <p:nvSpPr>
              <p:cNvPr id="176" name="Line 67">
                <a:extLst>
                  <a:ext uri="{FF2B5EF4-FFF2-40B4-BE49-F238E27FC236}">
                    <a16:creationId xmlns:a16="http://schemas.microsoft.com/office/drawing/2014/main" id="{63D0D309-913D-16D6-8784-742B92C72136}"/>
                  </a:ext>
                </a:extLst>
              </p:cNvPr>
              <p:cNvSpPr>
                <a:spLocks noChangeShapeType="1"/>
              </p:cNvSpPr>
              <p:nvPr/>
            </p:nvSpPr>
            <p:spPr bwMode="auto">
              <a:xfrm>
                <a:off x="3606" y="1117"/>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7" name="Line 68">
                <a:extLst>
                  <a:ext uri="{FF2B5EF4-FFF2-40B4-BE49-F238E27FC236}">
                    <a16:creationId xmlns:a16="http://schemas.microsoft.com/office/drawing/2014/main" id="{EBE70E2B-9720-FF59-1C94-27551431AEB4}"/>
                  </a:ext>
                </a:extLst>
              </p:cNvPr>
              <p:cNvSpPr>
                <a:spLocks noChangeShapeType="1"/>
              </p:cNvSpPr>
              <p:nvPr/>
            </p:nvSpPr>
            <p:spPr bwMode="auto">
              <a:xfrm>
                <a:off x="3470" y="1117"/>
                <a:ext cx="301" cy="30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8" name="Line 69">
                <a:extLst>
                  <a:ext uri="{FF2B5EF4-FFF2-40B4-BE49-F238E27FC236}">
                    <a16:creationId xmlns:a16="http://schemas.microsoft.com/office/drawing/2014/main" id="{6938E668-10CD-4E9D-5D09-E35A621D35C4}"/>
                  </a:ext>
                </a:extLst>
              </p:cNvPr>
              <p:cNvSpPr>
                <a:spLocks noChangeShapeType="1"/>
              </p:cNvSpPr>
              <p:nvPr/>
            </p:nvSpPr>
            <p:spPr bwMode="auto">
              <a:xfrm>
                <a:off x="3334" y="1117"/>
                <a:ext cx="433" cy="433"/>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9" name="Line 70">
                <a:extLst>
                  <a:ext uri="{FF2B5EF4-FFF2-40B4-BE49-F238E27FC236}">
                    <a16:creationId xmlns:a16="http://schemas.microsoft.com/office/drawing/2014/main" id="{76B63446-1A6D-00FC-094B-B4D06FD1E9C0}"/>
                  </a:ext>
                </a:extLst>
              </p:cNvPr>
              <p:cNvSpPr>
                <a:spLocks noChangeShapeType="1"/>
              </p:cNvSpPr>
              <p:nvPr/>
            </p:nvSpPr>
            <p:spPr bwMode="auto">
              <a:xfrm>
                <a:off x="3334" y="1253"/>
                <a:ext cx="424" cy="42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0" name="Line 71">
                <a:extLst>
                  <a:ext uri="{FF2B5EF4-FFF2-40B4-BE49-F238E27FC236}">
                    <a16:creationId xmlns:a16="http://schemas.microsoft.com/office/drawing/2014/main" id="{C35FD958-871B-E6D4-40E8-ABB88E867CC1}"/>
                  </a:ext>
                </a:extLst>
              </p:cNvPr>
              <p:cNvSpPr>
                <a:spLocks noChangeShapeType="1"/>
              </p:cNvSpPr>
              <p:nvPr/>
            </p:nvSpPr>
            <p:spPr bwMode="auto">
              <a:xfrm>
                <a:off x="3334" y="1389"/>
                <a:ext cx="408" cy="40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1" name="Line 72">
                <a:extLst>
                  <a:ext uri="{FF2B5EF4-FFF2-40B4-BE49-F238E27FC236}">
                    <a16:creationId xmlns:a16="http://schemas.microsoft.com/office/drawing/2014/main" id="{5F937FA1-57BE-97EA-9DFF-FE8BC84AF298}"/>
                  </a:ext>
                </a:extLst>
              </p:cNvPr>
              <p:cNvSpPr>
                <a:spLocks noChangeShapeType="1"/>
              </p:cNvSpPr>
              <p:nvPr/>
            </p:nvSpPr>
            <p:spPr bwMode="auto">
              <a:xfrm>
                <a:off x="3334" y="1525"/>
                <a:ext cx="388" cy="38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2" name="Line 73">
                <a:extLst>
                  <a:ext uri="{FF2B5EF4-FFF2-40B4-BE49-F238E27FC236}">
                    <a16:creationId xmlns:a16="http://schemas.microsoft.com/office/drawing/2014/main" id="{0E386967-439F-DB2E-7CF4-57B03E5C211B}"/>
                  </a:ext>
                </a:extLst>
              </p:cNvPr>
              <p:cNvSpPr>
                <a:spLocks noChangeShapeType="1"/>
              </p:cNvSpPr>
              <p:nvPr/>
            </p:nvSpPr>
            <p:spPr bwMode="auto">
              <a:xfrm>
                <a:off x="3334" y="1661"/>
                <a:ext cx="364" cy="36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3" name="Line 74">
                <a:extLst>
                  <a:ext uri="{FF2B5EF4-FFF2-40B4-BE49-F238E27FC236}">
                    <a16:creationId xmlns:a16="http://schemas.microsoft.com/office/drawing/2014/main" id="{7AA0AE1F-07D7-AC9E-7B83-F32D0780734A}"/>
                  </a:ext>
                </a:extLst>
              </p:cNvPr>
              <p:cNvSpPr>
                <a:spLocks noChangeShapeType="1"/>
              </p:cNvSpPr>
              <p:nvPr/>
            </p:nvSpPr>
            <p:spPr bwMode="auto">
              <a:xfrm>
                <a:off x="3334" y="1797"/>
                <a:ext cx="348" cy="34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4" name="Line 75">
                <a:extLst>
                  <a:ext uri="{FF2B5EF4-FFF2-40B4-BE49-F238E27FC236}">
                    <a16:creationId xmlns:a16="http://schemas.microsoft.com/office/drawing/2014/main" id="{2A96E940-C3BB-70B9-890D-186FDA8C6DE5}"/>
                  </a:ext>
                </a:extLst>
              </p:cNvPr>
              <p:cNvSpPr>
                <a:spLocks noChangeShapeType="1"/>
              </p:cNvSpPr>
              <p:nvPr/>
            </p:nvSpPr>
            <p:spPr bwMode="auto">
              <a:xfrm>
                <a:off x="3334" y="1933"/>
                <a:ext cx="316" cy="316"/>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5" name="Line 76">
                <a:extLst>
                  <a:ext uri="{FF2B5EF4-FFF2-40B4-BE49-F238E27FC236}">
                    <a16:creationId xmlns:a16="http://schemas.microsoft.com/office/drawing/2014/main" id="{31BBBE79-732D-2B13-7A92-284F5349A067}"/>
                  </a:ext>
                </a:extLst>
              </p:cNvPr>
              <p:cNvSpPr>
                <a:spLocks noChangeShapeType="1"/>
              </p:cNvSpPr>
              <p:nvPr/>
            </p:nvSpPr>
            <p:spPr bwMode="auto">
              <a:xfrm>
                <a:off x="3334" y="2069"/>
                <a:ext cx="284" cy="28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6" name="Line 77">
                <a:extLst>
                  <a:ext uri="{FF2B5EF4-FFF2-40B4-BE49-F238E27FC236}">
                    <a16:creationId xmlns:a16="http://schemas.microsoft.com/office/drawing/2014/main" id="{92E87065-E174-4C06-3635-AEBB2D8D8282}"/>
                  </a:ext>
                </a:extLst>
              </p:cNvPr>
              <p:cNvSpPr>
                <a:spLocks noChangeShapeType="1"/>
              </p:cNvSpPr>
              <p:nvPr/>
            </p:nvSpPr>
            <p:spPr bwMode="auto">
              <a:xfrm>
                <a:off x="3334" y="2205"/>
                <a:ext cx="242" cy="242"/>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7" name="Line 78">
                <a:extLst>
                  <a:ext uri="{FF2B5EF4-FFF2-40B4-BE49-F238E27FC236}">
                    <a16:creationId xmlns:a16="http://schemas.microsoft.com/office/drawing/2014/main" id="{7CED4FFD-CB27-8B48-98F0-7E663199CF2A}"/>
                  </a:ext>
                </a:extLst>
              </p:cNvPr>
              <p:cNvSpPr>
                <a:spLocks noChangeShapeType="1"/>
              </p:cNvSpPr>
              <p:nvPr/>
            </p:nvSpPr>
            <p:spPr bwMode="auto">
              <a:xfrm>
                <a:off x="3334" y="2341"/>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8" name="Line 79">
                <a:extLst>
                  <a:ext uri="{FF2B5EF4-FFF2-40B4-BE49-F238E27FC236}">
                    <a16:creationId xmlns:a16="http://schemas.microsoft.com/office/drawing/2014/main" id="{9CAB0BF5-54AD-88FA-ED44-A3282E7BA835}"/>
                  </a:ext>
                </a:extLst>
              </p:cNvPr>
              <p:cNvSpPr>
                <a:spLocks noChangeShapeType="1"/>
              </p:cNvSpPr>
              <p:nvPr/>
            </p:nvSpPr>
            <p:spPr bwMode="auto">
              <a:xfrm>
                <a:off x="3722" y="1117"/>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9" name="Line 80">
                <a:extLst>
                  <a:ext uri="{FF2B5EF4-FFF2-40B4-BE49-F238E27FC236}">
                    <a16:creationId xmlns:a16="http://schemas.microsoft.com/office/drawing/2014/main" id="{014A8EF6-6E18-469C-ADE9-8B997C49ACCA}"/>
                  </a:ext>
                </a:extLst>
              </p:cNvPr>
              <p:cNvSpPr>
                <a:spLocks noChangeShapeType="1"/>
              </p:cNvSpPr>
              <p:nvPr/>
            </p:nvSpPr>
            <p:spPr bwMode="auto">
              <a:xfrm>
                <a:off x="3338" y="2469"/>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sp>
        <p:nvSpPr>
          <p:cNvPr id="190" name="文本框 189">
            <a:extLst>
              <a:ext uri="{FF2B5EF4-FFF2-40B4-BE49-F238E27FC236}">
                <a16:creationId xmlns:a16="http://schemas.microsoft.com/office/drawing/2014/main" id="{CBDE5A4F-0C32-373C-41E2-513EA71F0991}"/>
              </a:ext>
            </a:extLst>
          </p:cNvPr>
          <p:cNvSpPr txBox="1"/>
          <p:nvPr/>
        </p:nvSpPr>
        <p:spPr>
          <a:xfrm>
            <a:off x="6195499" y="5428127"/>
            <a:ext cx="2913355" cy="369332"/>
          </a:xfrm>
          <a:prstGeom prst="rect">
            <a:avLst/>
          </a:prstGeom>
          <a:noFill/>
          <a:ln>
            <a:solidFill>
              <a:srgbClr val="0000FF"/>
            </a:solidFill>
          </a:ln>
        </p:spPr>
        <p:txBody>
          <a:bodyPr wrap="square" rtlCol="0">
            <a:spAutoFit/>
          </a:bodyPr>
          <a:lstStyle/>
          <a:p>
            <a:r>
              <a:rPr lang="zh-CN" altLang="en-US" b="1" dirty="0">
                <a:latin typeface="黑体" panose="02010609060101010101" pitchFamily="49" charset="-122"/>
                <a:ea typeface="黑体" panose="02010609060101010101" pitchFamily="49" charset="-122"/>
              </a:rPr>
              <a:t>放大区</a:t>
            </a:r>
            <a:r>
              <a:rPr lang="zh-CN" altLang="en-US" dirty="0"/>
              <a:t>：</a:t>
            </a:r>
            <a:r>
              <a:rPr lang="en-US" altLang="zh-CN" dirty="0"/>
              <a:t>b-e</a:t>
            </a:r>
            <a:r>
              <a:rPr lang="zh-CN" altLang="en-US" dirty="0"/>
              <a:t>正偏，</a:t>
            </a:r>
            <a:r>
              <a:rPr lang="en-US" altLang="zh-CN" dirty="0"/>
              <a:t>b-c</a:t>
            </a:r>
            <a:r>
              <a:rPr lang="zh-CN" altLang="en-US" dirty="0"/>
              <a:t>反偏</a:t>
            </a:r>
          </a:p>
        </p:txBody>
      </p:sp>
      <p:sp>
        <p:nvSpPr>
          <p:cNvPr id="191" name="文本框 190">
            <a:extLst>
              <a:ext uri="{FF2B5EF4-FFF2-40B4-BE49-F238E27FC236}">
                <a16:creationId xmlns:a16="http://schemas.microsoft.com/office/drawing/2014/main" id="{7E4B17E7-FF0F-3A63-9F97-A5657F49457A}"/>
              </a:ext>
            </a:extLst>
          </p:cNvPr>
          <p:cNvSpPr txBox="1"/>
          <p:nvPr/>
        </p:nvSpPr>
        <p:spPr>
          <a:xfrm>
            <a:off x="6228184" y="3670832"/>
            <a:ext cx="2808312" cy="646331"/>
          </a:xfrm>
          <a:prstGeom prst="rect">
            <a:avLst/>
          </a:prstGeom>
          <a:noFill/>
          <a:ln>
            <a:solidFill>
              <a:srgbClr val="0000FF"/>
            </a:solidFill>
          </a:ln>
        </p:spPr>
        <p:txBody>
          <a:bodyPr wrap="square" rtlCol="0">
            <a:spAutoFit/>
          </a:bodyPr>
          <a:lstStyle/>
          <a:p>
            <a:r>
              <a:rPr lang="zh-CN" altLang="en-US" b="1" dirty="0">
                <a:solidFill>
                  <a:srgbClr val="0000FF"/>
                </a:solidFill>
              </a:rPr>
              <a:t>饱和区</a:t>
            </a:r>
            <a:r>
              <a:rPr lang="zh-CN" altLang="en-US" dirty="0"/>
              <a:t>：</a:t>
            </a:r>
            <a:r>
              <a:rPr lang="en-US" altLang="zh-CN" dirty="0"/>
              <a:t>b-e</a:t>
            </a:r>
            <a:r>
              <a:rPr lang="zh-CN" altLang="en-US" dirty="0"/>
              <a:t>正偏，</a:t>
            </a:r>
            <a:r>
              <a:rPr lang="en-US" altLang="zh-CN" dirty="0"/>
              <a:t> b-c</a:t>
            </a:r>
            <a:r>
              <a:rPr lang="zh-CN" altLang="en-US" dirty="0"/>
              <a:t>从正偏到弱反偏</a:t>
            </a:r>
          </a:p>
        </p:txBody>
      </p:sp>
      <p:sp>
        <p:nvSpPr>
          <p:cNvPr id="192" name="文本框 191">
            <a:extLst>
              <a:ext uri="{FF2B5EF4-FFF2-40B4-BE49-F238E27FC236}">
                <a16:creationId xmlns:a16="http://schemas.microsoft.com/office/drawing/2014/main" id="{A88A3055-9B06-159A-45CD-B58017205C69}"/>
              </a:ext>
            </a:extLst>
          </p:cNvPr>
          <p:cNvSpPr txBox="1"/>
          <p:nvPr/>
        </p:nvSpPr>
        <p:spPr>
          <a:xfrm>
            <a:off x="6228184" y="2384884"/>
            <a:ext cx="2808312" cy="646331"/>
          </a:xfrm>
          <a:prstGeom prst="rect">
            <a:avLst/>
          </a:prstGeom>
          <a:noFill/>
          <a:ln>
            <a:solidFill>
              <a:srgbClr val="0000FF"/>
            </a:solidFill>
          </a:ln>
        </p:spPr>
        <p:txBody>
          <a:bodyPr wrap="square" rtlCol="0">
            <a:spAutoFit/>
          </a:bodyPr>
          <a:lstStyle/>
          <a:p>
            <a:r>
              <a:rPr lang="zh-CN" altLang="en-US" b="1" dirty="0">
                <a:solidFill>
                  <a:srgbClr val="0000FF"/>
                </a:solidFill>
              </a:rPr>
              <a:t>饱和区</a:t>
            </a:r>
            <a:r>
              <a:rPr lang="zh-CN" altLang="en-US" dirty="0"/>
              <a:t>： </a:t>
            </a:r>
            <a:r>
              <a:rPr lang="en-US" altLang="zh-CN" dirty="0"/>
              <a:t>b-e</a:t>
            </a:r>
            <a:r>
              <a:rPr lang="zh-CN" altLang="en-US" dirty="0"/>
              <a:t>正偏，</a:t>
            </a:r>
            <a:r>
              <a:rPr lang="en-US" altLang="zh-CN" dirty="0"/>
              <a:t>b-c</a:t>
            </a:r>
            <a:r>
              <a:rPr lang="zh-CN" altLang="en-US" dirty="0"/>
              <a:t>从正偏到弱反偏</a:t>
            </a:r>
          </a:p>
        </p:txBody>
      </p:sp>
      <p:sp>
        <p:nvSpPr>
          <p:cNvPr id="193" name="文本框 192">
            <a:extLst>
              <a:ext uri="{FF2B5EF4-FFF2-40B4-BE49-F238E27FC236}">
                <a16:creationId xmlns:a16="http://schemas.microsoft.com/office/drawing/2014/main" id="{BEE98004-4207-2421-CCFA-AD5B1CC90A40}"/>
              </a:ext>
            </a:extLst>
          </p:cNvPr>
          <p:cNvSpPr txBox="1"/>
          <p:nvPr/>
        </p:nvSpPr>
        <p:spPr>
          <a:xfrm>
            <a:off x="6238994" y="827420"/>
            <a:ext cx="1989795" cy="369332"/>
          </a:xfrm>
          <a:prstGeom prst="rect">
            <a:avLst/>
          </a:prstGeom>
          <a:noFill/>
          <a:ln>
            <a:solidFill>
              <a:srgbClr val="0000FF"/>
            </a:solidFill>
          </a:ln>
        </p:spPr>
        <p:txBody>
          <a:bodyPr wrap="square" rtlCol="0">
            <a:spAutoFit/>
          </a:bodyPr>
          <a:lstStyle/>
          <a:p>
            <a:r>
              <a:rPr lang="en-US" altLang="zh-CN" dirty="0"/>
              <a:t>b-e</a:t>
            </a:r>
            <a:r>
              <a:rPr lang="zh-CN" altLang="en-US" dirty="0"/>
              <a:t>正偏，</a:t>
            </a:r>
            <a:r>
              <a:rPr lang="en-US" altLang="zh-CN" dirty="0"/>
              <a:t>b-c</a:t>
            </a:r>
            <a:r>
              <a:rPr lang="zh-CN" altLang="en-US" dirty="0"/>
              <a:t>正偏</a:t>
            </a:r>
          </a:p>
        </p:txBody>
      </p:sp>
      <p:sp>
        <p:nvSpPr>
          <p:cNvPr id="194" name="文本框 193">
            <a:extLst>
              <a:ext uri="{FF2B5EF4-FFF2-40B4-BE49-F238E27FC236}">
                <a16:creationId xmlns:a16="http://schemas.microsoft.com/office/drawing/2014/main" id="{A81186ED-0972-7F47-0BFA-D10BD4ABF8EB}"/>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sp>
        <p:nvSpPr>
          <p:cNvPr id="195" name="Rectangle 272">
            <a:extLst>
              <a:ext uri="{FF2B5EF4-FFF2-40B4-BE49-F238E27FC236}">
                <a16:creationId xmlns:a16="http://schemas.microsoft.com/office/drawing/2014/main" id="{6F14FBF4-C814-379D-C83B-BED3ADF3F837}"/>
              </a:ext>
            </a:extLst>
          </p:cNvPr>
          <p:cNvSpPr/>
          <p:nvPr/>
        </p:nvSpPr>
        <p:spPr>
          <a:xfrm>
            <a:off x="2614065" y="1520788"/>
            <a:ext cx="1861267" cy="646331"/>
          </a:xfrm>
          <a:prstGeom prst="rect">
            <a:avLst/>
          </a:prstGeom>
          <a:ln w="28575">
            <a:noFill/>
          </a:ln>
        </p:spPr>
        <p:txBody>
          <a:bodyPr wrap="square">
            <a:spAutoFit/>
          </a:bodyPr>
          <a:lstStyle/>
          <a:p>
            <a:pPr algn="r"/>
            <a:r>
              <a:rPr lang="zh-CN" altLang="en-US" b="1" dirty="0">
                <a:solidFill>
                  <a:srgbClr val="0000FF"/>
                </a:solidFill>
              </a:rPr>
              <a:t>输出特性</a:t>
            </a:r>
            <a:r>
              <a:rPr lang="en-US" altLang="zh-CN" dirty="0"/>
              <a:t>:</a:t>
            </a:r>
          </a:p>
          <a:p>
            <a:pPr algn="r"/>
            <a:r>
              <a:rPr lang="zh-CN" altLang="en-US" dirty="0">
                <a:solidFill>
                  <a:srgbClr val="0000FF"/>
                </a:solidFill>
              </a:rPr>
              <a:t>类似</a:t>
            </a:r>
            <a:r>
              <a:rPr lang="en-US" altLang="zh-CN" dirty="0">
                <a:solidFill>
                  <a:srgbClr val="0000FF"/>
                </a:solidFill>
              </a:rPr>
              <a:t>FET</a:t>
            </a:r>
            <a:r>
              <a:rPr lang="zh-CN" altLang="en-US" dirty="0">
                <a:solidFill>
                  <a:srgbClr val="0000FF"/>
                </a:solidFill>
              </a:rPr>
              <a:t>管</a:t>
            </a:r>
            <a:endParaRPr lang="en-US" altLang="zh-CN" dirty="0">
              <a:solidFill>
                <a:srgbClr val="0000FF"/>
              </a:solidFill>
            </a:endParaRPr>
          </a:p>
        </p:txBody>
      </p:sp>
    </p:spTree>
    <p:extLst>
      <p:ext uri="{BB962C8B-B14F-4D97-AF65-F5344CB8AC3E}">
        <p14:creationId xmlns:p14="http://schemas.microsoft.com/office/powerpoint/2010/main" val="3102845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30B2A393-2AE7-0A19-95DA-AB655711D1E2}"/>
              </a:ext>
            </a:extLst>
          </p:cNvPr>
          <p:cNvSpPr>
            <a:spLocks noGrp="1"/>
          </p:cNvSpPr>
          <p:nvPr>
            <p:ph type="ftr" sz="quarter" idx="11"/>
          </p:nvPr>
        </p:nvSpPr>
        <p:spPr/>
        <p:txBody>
          <a:bodyPr/>
          <a:lstStyle/>
          <a:p>
            <a:r>
              <a:rPr lang="zh-CN" altLang="en-US"/>
              <a:t>模拟与数字电路：</a:t>
            </a:r>
            <a:r>
              <a:rPr lang="en-US" altLang="zh-CN"/>
              <a:t>24. </a:t>
            </a:r>
            <a:r>
              <a:rPr lang="zh-CN" altLang="en-US"/>
              <a:t>三极管</a:t>
            </a:r>
            <a:r>
              <a:rPr lang="en-US" altLang="zh-CN"/>
              <a:t>2</a:t>
            </a:r>
            <a:endParaRPr lang="en-US" dirty="0"/>
          </a:p>
        </p:txBody>
      </p:sp>
      <p:sp>
        <p:nvSpPr>
          <p:cNvPr id="5" name="灯片编号占位符 4">
            <a:extLst>
              <a:ext uri="{FF2B5EF4-FFF2-40B4-BE49-F238E27FC236}">
                <a16:creationId xmlns:a16="http://schemas.microsoft.com/office/drawing/2014/main" id="{E4637510-7DA4-C192-CA5E-235B76A0A764}"/>
              </a:ext>
            </a:extLst>
          </p:cNvPr>
          <p:cNvSpPr>
            <a:spLocks noGrp="1"/>
          </p:cNvSpPr>
          <p:nvPr>
            <p:ph type="sldNum" sz="quarter" idx="12"/>
          </p:nvPr>
        </p:nvSpPr>
        <p:spPr/>
        <p:txBody>
          <a:bodyPr/>
          <a:lstStyle/>
          <a:p>
            <a:fld id="{9E260BC5-5BF3-8746-862B-DC45E9CAA88B}" type="slidenum">
              <a:rPr lang="en-US" smtClean="0"/>
              <a:pPr/>
              <a:t>33</a:t>
            </a:fld>
            <a:r>
              <a:rPr lang="en-US" altLang="zh-CN" dirty="0"/>
              <a:t>/33</a:t>
            </a:r>
            <a:endParaRPr lang="en-US" dirty="0"/>
          </a:p>
        </p:txBody>
      </p:sp>
      <p:sp>
        <p:nvSpPr>
          <p:cNvPr id="6" name="矩形 5">
            <a:extLst>
              <a:ext uri="{FF2B5EF4-FFF2-40B4-BE49-F238E27FC236}">
                <a16:creationId xmlns:a16="http://schemas.microsoft.com/office/drawing/2014/main" id="{FD56894C-C9D9-20D4-F182-1BA274C1282A}"/>
              </a:ext>
            </a:extLst>
          </p:cNvPr>
          <p:cNvSpPr/>
          <p:nvPr/>
        </p:nvSpPr>
        <p:spPr>
          <a:xfrm>
            <a:off x="395288" y="288847"/>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9B88006-D974-B8A6-D124-DC87FF0B1FFE}"/>
              </a:ext>
            </a:extLst>
          </p:cNvPr>
          <p:cNvSpPr/>
          <p:nvPr/>
        </p:nvSpPr>
        <p:spPr>
          <a:xfrm>
            <a:off x="395288" y="2053043"/>
            <a:ext cx="2484524" cy="234026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8C35FA1C-97E4-0B3A-AE32-8C6DD5C396BC}"/>
              </a:ext>
            </a:extLst>
          </p:cNvPr>
          <p:cNvSpPr/>
          <p:nvPr/>
        </p:nvSpPr>
        <p:spPr>
          <a:xfrm>
            <a:off x="395288" y="4357299"/>
            <a:ext cx="2484524" cy="1836204"/>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8E3AD0F-0988-0379-65A7-FFE87BA8E3B3}"/>
              </a:ext>
            </a:extLst>
          </p:cNvPr>
          <p:cNvSpPr txBox="1"/>
          <p:nvPr/>
        </p:nvSpPr>
        <p:spPr>
          <a:xfrm>
            <a:off x="467420" y="43572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0" name="文本框 9">
            <a:extLst>
              <a:ext uri="{FF2B5EF4-FFF2-40B4-BE49-F238E27FC236}">
                <a16:creationId xmlns:a16="http://schemas.microsoft.com/office/drawing/2014/main" id="{1173213E-EBFA-4D31-70C7-D24FEB032B1E}"/>
              </a:ext>
            </a:extLst>
          </p:cNvPr>
          <p:cNvSpPr txBox="1"/>
          <p:nvPr/>
        </p:nvSpPr>
        <p:spPr>
          <a:xfrm>
            <a:off x="467420" y="2888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1" name="文本框 10">
            <a:extLst>
              <a:ext uri="{FF2B5EF4-FFF2-40B4-BE49-F238E27FC236}">
                <a16:creationId xmlns:a16="http://schemas.microsoft.com/office/drawing/2014/main" id="{A8F7978A-02E5-4319-CCF6-42769D3F60A9}"/>
              </a:ext>
            </a:extLst>
          </p:cNvPr>
          <p:cNvSpPr txBox="1"/>
          <p:nvPr/>
        </p:nvSpPr>
        <p:spPr>
          <a:xfrm>
            <a:off x="467420" y="46453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2" name="文本框 11">
            <a:extLst>
              <a:ext uri="{FF2B5EF4-FFF2-40B4-BE49-F238E27FC236}">
                <a16:creationId xmlns:a16="http://schemas.microsoft.com/office/drawing/2014/main" id="{C5EA13B8-1D09-6B58-B5F5-E6569A95CD49}"/>
              </a:ext>
            </a:extLst>
          </p:cNvPr>
          <p:cNvSpPr txBox="1"/>
          <p:nvPr/>
        </p:nvSpPr>
        <p:spPr>
          <a:xfrm>
            <a:off x="466210" y="19850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13" name="文本框 12">
            <a:extLst>
              <a:ext uri="{FF2B5EF4-FFF2-40B4-BE49-F238E27FC236}">
                <a16:creationId xmlns:a16="http://schemas.microsoft.com/office/drawing/2014/main" id="{DE7D92DA-C831-8F18-D710-71A4E2AF967C}"/>
              </a:ext>
            </a:extLst>
          </p:cNvPr>
          <p:cNvSpPr txBox="1"/>
          <p:nvPr/>
        </p:nvSpPr>
        <p:spPr>
          <a:xfrm>
            <a:off x="647564" y="33123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4" name="文本框 13">
            <a:extLst>
              <a:ext uri="{FF2B5EF4-FFF2-40B4-BE49-F238E27FC236}">
                <a16:creationId xmlns:a16="http://schemas.microsoft.com/office/drawing/2014/main" id="{6D9A05A9-14B5-35DC-5E84-342A5A6E08D3}"/>
              </a:ext>
            </a:extLst>
          </p:cNvPr>
          <p:cNvSpPr txBox="1"/>
          <p:nvPr/>
        </p:nvSpPr>
        <p:spPr>
          <a:xfrm>
            <a:off x="467420" y="50487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5" name="文本框 14">
            <a:extLst>
              <a:ext uri="{FF2B5EF4-FFF2-40B4-BE49-F238E27FC236}">
                <a16:creationId xmlns:a16="http://schemas.microsoft.com/office/drawing/2014/main" id="{A661DA2C-ADC1-2635-E3C5-ED7FBA485721}"/>
              </a:ext>
            </a:extLst>
          </p:cNvPr>
          <p:cNvSpPr txBox="1"/>
          <p:nvPr/>
        </p:nvSpPr>
        <p:spPr>
          <a:xfrm>
            <a:off x="647564" y="547262"/>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6" name="文本框 15">
            <a:extLst>
              <a:ext uri="{FF2B5EF4-FFF2-40B4-BE49-F238E27FC236}">
                <a16:creationId xmlns:a16="http://schemas.microsoft.com/office/drawing/2014/main" id="{ECEAD62D-6AAD-4F10-F33D-1327ECE01560}"/>
              </a:ext>
            </a:extLst>
          </p:cNvPr>
          <p:cNvSpPr txBox="1"/>
          <p:nvPr/>
        </p:nvSpPr>
        <p:spPr>
          <a:xfrm>
            <a:off x="467544" y="7208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7" name="文本框 16">
            <a:extLst>
              <a:ext uri="{FF2B5EF4-FFF2-40B4-BE49-F238E27FC236}">
                <a16:creationId xmlns:a16="http://schemas.microsoft.com/office/drawing/2014/main" id="{26FC812C-D53D-0AE7-C658-01C29D34C34A}"/>
              </a:ext>
            </a:extLst>
          </p:cNvPr>
          <p:cNvSpPr txBox="1"/>
          <p:nvPr/>
        </p:nvSpPr>
        <p:spPr>
          <a:xfrm>
            <a:off x="647688" y="763286"/>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8" name="文本框 17">
            <a:extLst>
              <a:ext uri="{FF2B5EF4-FFF2-40B4-BE49-F238E27FC236}">
                <a16:creationId xmlns:a16="http://schemas.microsoft.com/office/drawing/2014/main" id="{114FBB5F-28E8-4ACF-8105-5AFCD1075A4E}"/>
              </a:ext>
            </a:extLst>
          </p:cNvPr>
          <p:cNvSpPr txBox="1"/>
          <p:nvPr/>
        </p:nvSpPr>
        <p:spPr>
          <a:xfrm>
            <a:off x="467544" y="936919"/>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19" name="文本框 18">
            <a:extLst>
              <a:ext uri="{FF2B5EF4-FFF2-40B4-BE49-F238E27FC236}">
                <a16:creationId xmlns:a16="http://schemas.microsoft.com/office/drawing/2014/main" id="{415CCCC0-8FC0-3D29-25CA-2F2BD1727CEA}"/>
              </a:ext>
            </a:extLst>
          </p:cNvPr>
          <p:cNvSpPr txBox="1"/>
          <p:nvPr/>
        </p:nvSpPr>
        <p:spPr>
          <a:xfrm>
            <a:off x="647688" y="979310"/>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0" name="文本框 19">
            <a:extLst>
              <a:ext uri="{FF2B5EF4-FFF2-40B4-BE49-F238E27FC236}">
                <a16:creationId xmlns:a16="http://schemas.microsoft.com/office/drawing/2014/main" id="{1BF7BC8A-11D7-F7BF-C085-40DC9CB5E6E9}"/>
              </a:ext>
            </a:extLst>
          </p:cNvPr>
          <p:cNvSpPr txBox="1"/>
          <p:nvPr/>
        </p:nvSpPr>
        <p:spPr>
          <a:xfrm>
            <a:off x="467544" y="1152943"/>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1" name="文本框 20">
            <a:extLst>
              <a:ext uri="{FF2B5EF4-FFF2-40B4-BE49-F238E27FC236}">
                <a16:creationId xmlns:a16="http://schemas.microsoft.com/office/drawing/2014/main" id="{A241E6D4-FFF8-15F8-D028-F5AFCA9BED9F}"/>
              </a:ext>
            </a:extLst>
          </p:cNvPr>
          <p:cNvSpPr txBox="1"/>
          <p:nvPr/>
        </p:nvSpPr>
        <p:spPr>
          <a:xfrm>
            <a:off x="467544" y="1368967"/>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2" name="文本框 21">
            <a:extLst>
              <a:ext uri="{FF2B5EF4-FFF2-40B4-BE49-F238E27FC236}">
                <a16:creationId xmlns:a16="http://schemas.microsoft.com/office/drawing/2014/main" id="{1C235040-B933-ED99-D535-096F02DBC923}"/>
              </a:ext>
            </a:extLst>
          </p:cNvPr>
          <p:cNvSpPr txBox="1"/>
          <p:nvPr/>
        </p:nvSpPr>
        <p:spPr>
          <a:xfrm>
            <a:off x="467544" y="1584991"/>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sp>
        <p:nvSpPr>
          <p:cNvPr id="23" name="文本框 22">
            <a:extLst>
              <a:ext uri="{FF2B5EF4-FFF2-40B4-BE49-F238E27FC236}">
                <a16:creationId xmlns:a16="http://schemas.microsoft.com/office/drawing/2014/main" id="{9B4B6128-D66E-7F83-161C-79ACE1CFF2D8}"/>
              </a:ext>
            </a:extLst>
          </p:cNvPr>
          <p:cNvSpPr txBox="1"/>
          <p:nvPr/>
        </p:nvSpPr>
        <p:spPr>
          <a:xfrm>
            <a:off x="467544" y="220105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4" name="文本框 23">
            <a:extLst>
              <a:ext uri="{FF2B5EF4-FFF2-40B4-BE49-F238E27FC236}">
                <a16:creationId xmlns:a16="http://schemas.microsoft.com/office/drawing/2014/main" id="{172A6AD3-AB97-C64E-ADC9-87E35C6D176E}"/>
              </a:ext>
            </a:extLst>
          </p:cNvPr>
          <p:cNvSpPr txBox="1"/>
          <p:nvPr/>
        </p:nvSpPr>
        <p:spPr>
          <a:xfrm>
            <a:off x="467544" y="241707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5" name="文本框 24">
            <a:extLst>
              <a:ext uri="{FF2B5EF4-FFF2-40B4-BE49-F238E27FC236}">
                <a16:creationId xmlns:a16="http://schemas.microsoft.com/office/drawing/2014/main" id="{13B1077F-A927-D6FD-F43D-62A0CCF6AD39}"/>
              </a:ext>
            </a:extLst>
          </p:cNvPr>
          <p:cNvSpPr txBox="1"/>
          <p:nvPr/>
        </p:nvSpPr>
        <p:spPr>
          <a:xfrm>
            <a:off x="464876" y="263310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6" name="文本框 25">
            <a:extLst>
              <a:ext uri="{FF2B5EF4-FFF2-40B4-BE49-F238E27FC236}">
                <a16:creationId xmlns:a16="http://schemas.microsoft.com/office/drawing/2014/main" id="{DCDBE314-A834-2230-566E-D7D97B1E8452}"/>
              </a:ext>
            </a:extLst>
          </p:cNvPr>
          <p:cNvSpPr txBox="1"/>
          <p:nvPr/>
        </p:nvSpPr>
        <p:spPr>
          <a:xfrm>
            <a:off x="466210" y="28491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7" name="文本框 26">
            <a:extLst>
              <a:ext uri="{FF2B5EF4-FFF2-40B4-BE49-F238E27FC236}">
                <a16:creationId xmlns:a16="http://schemas.microsoft.com/office/drawing/2014/main" id="{A9B12951-E04D-9723-C4BD-AA0F9286EA00}"/>
              </a:ext>
            </a:extLst>
          </p:cNvPr>
          <p:cNvSpPr txBox="1"/>
          <p:nvPr/>
        </p:nvSpPr>
        <p:spPr>
          <a:xfrm>
            <a:off x="755576" y="2777119"/>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28" name="文本框 27">
            <a:extLst>
              <a:ext uri="{FF2B5EF4-FFF2-40B4-BE49-F238E27FC236}">
                <a16:creationId xmlns:a16="http://schemas.microsoft.com/office/drawing/2014/main" id="{6320A551-E405-CFAC-9779-E803F0008816}"/>
              </a:ext>
            </a:extLst>
          </p:cNvPr>
          <p:cNvSpPr txBox="1"/>
          <p:nvPr/>
        </p:nvSpPr>
        <p:spPr>
          <a:xfrm>
            <a:off x="466210" y="306515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29" name="文本框 28">
            <a:extLst>
              <a:ext uri="{FF2B5EF4-FFF2-40B4-BE49-F238E27FC236}">
                <a16:creationId xmlns:a16="http://schemas.microsoft.com/office/drawing/2014/main" id="{9547243C-FC09-EBC6-9706-316ED7DFA240}"/>
              </a:ext>
            </a:extLst>
          </p:cNvPr>
          <p:cNvSpPr txBox="1"/>
          <p:nvPr/>
        </p:nvSpPr>
        <p:spPr>
          <a:xfrm>
            <a:off x="467544" y="328117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0" name="文本框 29">
            <a:extLst>
              <a:ext uri="{FF2B5EF4-FFF2-40B4-BE49-F238E27FC236}">
                <a16:creationId xmlns:a16="http://schemas.microsoft.com/office/drawing/2014/main" id="{C0D1C3AE-F365-4C37-7412-3B41FF1AA93A}"/>
              </a:ext>
            </a:extLst>
          </p:cNvPr>
          <p:cNvSpPr txBox="1"/>
          <p:nvPr/>
        </p:nvSpPr>
        <p:spPr>
          <a:xfrm>
            <a:off x="467544" y="349719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1" name="文本框 30">
            <a:extLst>
              <a:ext uri="{FF2B5EF4-FFF2-40B4-BE49-F238E27FC236}">
                <a16:creationId xmlns:a16="http://schemas.microsoft.com/office/drawing/2014/main" id="{30BBE791-880C-2ED9-0922-26C52BD89B41}"/>
              </a:ext>
            </a:extLst>
          </p:cNvPr>
          <p:cNvSpPr txBox="1"/>
          <p:nvPr/>
        </p:nvSpPr>
        <p:spPr>
          <a:xfrm>
            <a:off x="467544" y="371322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2" name="文本框 31">
            <a:extLst>
              <a:ext uri="{FF2B5EF4-FFF2-40B4-BE49-F238E27FC236}">
                <a16:creationId xmlns:a16="http://schemas.microsoft.com/office/drawing/2014/main" id="{A3BEDB52-0A87-7606-F242-85145E7F42A1}"/>
              </a:ext>
            </a:extLst>
          </p:cNvPr>
          <p:cNvSpPr txBox="1"/>
          <p:nvPr/>
        </p:nvSpPr>
        <p:spPr>
          <a:xfrm>
            <a:off x="467544" y="392924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3" name="文本框 32">
            <a:extLst>
              <a:ext uri="{FF2B5EF4-FFF2-40B4-BE49-F238E27FC236}">
                <a16:creationId xmlns:a16="http://schemas.microsoft.com/office/drawing/2014/main" id="{23F369D9-2AC5-7F49-08A2-372F33143704}"/>
              </a:ext>
            </a:extLst>
          </p:cNvPr>
          <p:cNvSpPr txBox="1"/>
          <p:nvPr/>
        </p:nvSpPr>
        <p:spPr>
          <a:xfrm>
            <a:off x="467988" y="4933363"/>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4" name="文本框 33">
            <a:extLst>
              <a:ext uri="{FF2B5EF4-FFF2-40B4-BE49-F238E27FC236}">
                <a16:creationId xmlns:a16="http://schemas.microsoft.com/office/drawing/2014/main" id="{F7996CBD-3CB5-829C-502B-3B8B49B637BB}"/>
              </a:ext>
            </a:extLst>
          </p:cNvPr>
          <p:cNvSpPr txBox="1"/>
          <p:nvPr/>
        </p:nvSpPr>
        <p:spPr>
          <a:xfrm>
            <a:off x="467544" y="5221395"/>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5" name="文本框 34">
            <a:extLst>
              <a:ext uri="{FF2B5EF4-FFF2-40B4-BE49-F238E27FC236}">
                <a16:creationId xmlns:a16="http://schemas.microsoft.com/office/drawing/2014/main" id="{F9195469-3C5F-77DD-F578-C2C2603C34A9}"/>
              </a:ext>
            </a:extLst>
          </p:cNvPr>
          <p:cNvSpPr txBox="1"/>
          <p:nvPr/>
        </p:nvSpPr>
        <p:spPr>
          <a:xfrm>
            <a:off x="468112" y="5509427"/>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6" name="文本框 35">
            <a:extLst>
              <a:ext uri="{FF2B5EF4-FFF2-40B4-BE49-F238E27FC236}">
                <a16:creationId xmlns:a16="http://schemas.microsoft.com/office/drawing/2014/main" id="{B4A6EB5E-CE0C-519B-6D58-2A0D01B28D99}"/>
              </a:ext>
            </a:extLst>
          </p:cNvPr>
          <p:cNvSpPr txBox="1"/>
          <p:nvPr/>
        </p:nvSpPr>
        <p:spPr>
          <a:xfrm>
            <a:off x="464876" y="5797459"/>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7" name="文本框 36">
            <a:extLst>
              <a:ext uri="{FF2B5EF4-FFF2-40B4-BE49-F238E27FC236}">
                <a16:creationId xmlns:a16="http://schemas.microsoft.com/office/drawing/2014/main" id="{DD864D0D-BEA3-8F67-7645-914A4CCDD324}"/>
              </a:ext>
            </a:extLst>
          </p:cNvPr>
          <p:cNvSpPr txBox="1"/>
          <p:nvPr/>
        </p:nvSpPr>
        <p:spPr>
          <a:xfrm>
            <a:off x="789036" y="5545431"/>
            <a:ext cx="2232248" cy="461665"/>
          </a:xfrm>
          <a:prstGeom prst="rect">
            <a:avLst/>
          </a:prstGeom>
          <a:noFill/>
        </p:spPr>
        <p:txBody>
          <a:bodyPr wrap="square" rtlCol="0">
            <a:spAutoFit/>
          </a:bodyPr>
          <a:lstStyle/>
          <a:p>
            <a:r>
              <a:rPr lang="en-US" altLang="zh-CN" sz="2400" b="1" dirty="0">
                <a:latin typeface="宋体" panose="02010600030101010101" pitchFamily="2" charset="-122"/>
              </a:rPr>
              <a:t>.   .   .   . </a:t>
            </a:r>
            <a:endParaRPr lang="zh-CN" altLang="en-US" sz="2400" b="1" dirty="0"/>
          </a:p>
        </p:txBody>
      </p:sp>
      <p:sp>
        <p:nvSpPr>
          <p:cNvPr id="38" name="文本框 37">
            <a:extLst>
              <a:ext uri="{FF2B5EF4-FFF2-40B4-BE49-F238E27FC236}">
                <a16:creationId xmlns:a16="http://schemas.microsoft.com/office/drawing/2014/main" id="{8BD12C55-04CB-E284-9C12-9C5937624B1A}"/>
              </a:ext>
            </a:extLst>
          </p:cNvPr>
          <p:cNvSpPr txBox="1"/>
          <p:nvPr/>
        </p:nvSpPr>
        <p:spPr>
          <a:xfrm>
            <a:off x="451174" y="334547"/>
            <a:ext cx="396045" cy="369332"/>
          </a:xfrm>
          <a:prstGeom prst="rect">
            <a:avLst/>
          </a:prstGeom>
          <a:solidFill>
            <a:schemeClr val="bg1"/>
          </a:solidFill>
          <a:ln>
            <a:solidFill>
              <a:schemeClr val="tx1"/>
            </a:solidFill>
          </a:ln>
        </p:spPr>
        <p:txBody>
          <a:bodyPr wrap="square" rtlCol="0">
            <a:spAutoFit/>
          </a:bodyPr>
          <a:lstStyle/>
          <a:p>
            <a:r>
              <a:rPr lang="en-US" altLang="zh-CN" dirty="0"/>
              <a:t> e</a:t>
            </a:r>
            <a:endParaRPr lang="zh-CN" altLang="en-US" dirty="0"/>
          </a:p>
        </p:txBody>
      </p:sp>
      <p:sp>
        <p:nvSpPr>
          <p:cNvPr id="39" name="矩形 38">
            <a:extLst>
              <a:ext uri="{FF2B5EF4-FFF2-40B4-BE49-F238E27FC236}">
                <a16:creationId xmlns:a16="http://schemas.microsoft.com/office/drawing/2014/main" id="{D47640FD-BC9C-1F29-10DA-AFB8935742E8}"/>
              </a:ext>
            </a:extLst>
          </p:cNvPr>
          <p:cNvSpPr/>
          <p:nvPr/>
        </p:nvSpPr>
        <p:spPr>
          <a:xfrm>
            <a:off x="215515" y="3201906"/>
            <a:ext cx="2805769" cy="2448997"/>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9D7C263-DC50-360B-8968-0AF966F219CF}"/>
              </a:ext>
            </a:extLst>
          </p:cNvPr>
          <p:cNvSpPr/>
          <p:nvPr/>
        </p:nvSpPr>
        <p:spPr>
          <a:xfrm>
            <a:off x="215516" y="1729007"/>
            <a:ext cx="2805769" cy="822266"/>
          </a:xfrm>
          <a:prstGeom prst="rect">
            <a:avLst/>
          </a:prstGeom>
          <a:solidFill>
            <a:srgbClr val="FF0000">
              <a:alpha val="30196"/>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连接符 135">
            <a:extLst>
              <a:ext uri="{FF2B5EF4-FFF2-40B4-BE49-F238E27FC236}">
                <a16:creationId xmlns:a16="http://schemas.microsoft.com/office/drawing/2014/main" id="{12E96C97-2D91-9044-FC3E-FD7A93396170}"/>
              </a:ext>
            </a:extLst>
          </p:cNvPr>
          <p:cNvCxnSpPr/>
          <p:nvPr/>
        </p:nvCxnSpPr>
        <p:spPr>
          <a:xfrm>
            <a:off x="2879812" y="3372977"/>
            <a:ext cx="9994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E7001B6D-7D0B-0012-0476-1A5718129CEA}"/>
              </a:ext>
            </a:extLst>
          </p:cNvPr>
          <p:cNvSpPr txBox="1"/>
          <p:nvPr/>
        </p:nvSpPr>
        <p:spPr>
          <a:xfrm>
            <a:off x="449541" y="2108345"/>
            <a:ext cx="396045" cy="369332"/>
          </a:xfrm>
          <a:prstGeom prst="rect">
            <a:avLst/>
          </a:prstGeom>
          <a:solidFill>
            <a:schemeClr val="bg1"/>
          </a:solidFill>
          <a:ln>
            <a:solidFill>
              <a:schemeClr val="tx1"/>
            </a:solidFill>
          </a:ln>
        </p:spPr>
        <p:txBody>
          <a:bodyPr wrap="square" rtlCol="0">
            <a:spAutoFit/>
          </a:bodyPr>
          <a:lstStyle/>
          <a:p>
            <a:r>
              <a:rPr lang="en-US" altLang="zh-CN" dirty="0"/>
              <a:t> b</a:t>
            </a:r>
            <a:endParaRPr lang="zh-CN" altLang="en-US" dirty="0"/>
          </a:p>
        </p:txBody>
      </p:sp>
      <p:sp>
        <p:nvSpPr>
          <p:cNvPr id="43" name="文本框 42">
            <a:extLst>
              <a:ext uri="{FF2B5EF4-FFF2-40B4-BE49-F238E27FC236}">
                <a16:creationId xmlns:a16="http://schemas.microsoft.com/office/drawing/2014/main" id="{020EFE3B-66E9-5869-A681-43BDC6A15A32}"/>
              </a:ext>
            </a:extLst>
          </p:cNvPr>
          <p:cNvSpPr txBox="1"/>
          <p:nvPr/>
        </p:nvSpPr>
        <p:spPr>
          <a:xfrm>
            <a:off x="442462" y="4401108"/>
            <a:ext cx="396045" cy="369332"/>
          </a:xfrm>
          <a:prstGeom prst="rect">
            <a:avLst/>
          </a:prstGeom>
          <a:solidFill>
            <a:schemeClr val="bg1"/>
          </a:solidFill>
          <a:ln>
            <a:solidFill>
              <a:schemeClr val="tx1"/>
            </a:solidFill>
          </a:ln>
        </p:spPr>
        <p:txBody>
          <a:bodyPr wrap="square" rtlCol="0">
            <a:spAutoFit/>
          </a:bodyPr>
          <a:lstStyle/>
          <a:p>
            <a:r>
              <a:rPr lang="en-US" altLang="zh-CN" dirty="0"/>
              <a:t> c</a:t>
            </a:r>
            <a:endParaRPr lang="zh-CN" altLang="en-US" dirty="0"/>
          </a:p>
        </p:txBody>
      </p:sp>
      <p:cxnSp>
        <p:nvCxnSpPr>
          <p:cNvPr id="44" name="直接连接符 138">
            <a:extLst>
              <a:ext uri="{FF2B5EF4-FFF2-40B4-BE49-F238E27FC236}">
                <a16:creationId xmlns:a16="http://schemas.microsoft.com/office/drawing/2014/main" id="{9996463D-58AC-6CC5-DA03-5D271B1B7864}"/>
              </a:ext>
            </a:extLst>
          </p:cNvPr>
          <p:cNvCxnSpPr/>
          <p:nvPr/>
        </p:nvCxnSpPr>
        <p:spPr>
          <a:xfrm flipH="1">
            <a:off x="1583544" y="79210"/>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139">
            <a:extLst>
              <a:ext uri="{FF2B5EF4-FFF2-40B4-BE49-F238E27FC236}">
                <a16:creationId xmlns:a16="http://schemas.microsoft.com/office/drawing/2014/main" id="{504195B7-80FE-83FD-F3BA-77E99DF7FA9A}"/>
              </a:ext>
            </a:extLst>
          </p:cNvPr>
          <p:cNvCxnSpPr/>
          <p:nvPr/>
        </p:nvCxnSpPr>
        <p:spPr>
          <a:xfrm flipV="1">
            <a:off x="1583668" y="76819"/>
            <a:ext cx="2988332" cy="128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140">
            <a:extLst>
              <a:ext uri="{FF2B5EF4-FFF2-40B4-BE49-F238E27FC236}">
                <a16:creationId xmlns:a16="http://schemas.microsoft.com/office/drawing/2014/main" id="{8B5D6F53-7E6A-AFDC-9C59-4C73080E2C5A}"/>
              </a:ext>
            </a:extLst>
          </p:cNvPr>
          <p:cNvCxnSpPr/>
          <p:nvPr/>
        </p:nvCxnSpPr>
        <p:spPr>
          <a:xfrm flipH="1">
            <a:off x="1655552" y="6187116"/>
            <a:ext cx="124" cy="2096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141">
            <a:extLst>
              <a:ext uri="{FF2B5EF4-FFF2-40B4-BE49-F238E27FC236}">
                <a16:creationId xmlns:a16="http://schemas.microsoft.com/office/drawing/2014/main" id="{96DBFC20-FE22-8ABF-7794-1974866DD27C}"/>
              </a:ext>
            </a:extLst>
          </p:cNvPr>
          <p:cNvCxnSpPr/>
          <p:nvPr/>
        </p:nvCxnSpPr>
        <p:spPr>
          <a:xfrm flipV="1">
            <a:off x="1655676" y="6370643"/>
            <a:ext cx="2916324" cy="1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椭圆 47">
            <a:extLst>
              <a:ext uri="{FF2B5EF4-FFF2-40B4-BE49-F238E27FC236}">
                <a16:creationId xmlns:a16="http://schemas.microsoft.com/office/drawing/2014/main" id="{25C67872-9295-97C3-DC5C-79D3ADA41DD9}"/>
              </a:ext>
            </a:extLst>
          </p:cNvPr>
          <p:cNvSpPr/>
          <p:nvPr/>
        </p:nvSpPr>
        <p:spPr>
          <a:xfrm>
            <a:off x="3815916" y="44624"/>
            <a:ext cx="95407" cy="9786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143">
            <a:extLst>
              <a:ext uri="{FF2B5EF4-FFF2-40B4-BE49-F238E27FC236}">
                <a16:creationId xmlns:a16="http://schemas.microsoft.com/office/drawing/2014/main" id="{F4B4A719-ABB0-3606-836B-315DBA85855C}"/>
              </a:ext>
            </a:extLst>
          </p:cNvPr>
          <p:cNvCxnSpPr/>
          <p:nvPr/>
        </p:nvCxnSpPr>
        <p:spPr>
          <a:xfrm flipH="1">
            <a:off x="3878139" y="80628"/>
            <a:ext cx="2318" cy="1360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380E93AB-A125-B6CA-9BBB-87A676187BD5}"/>
              </a:ext>
            </a:extLst>
          </p:cNvPr>
          <p:cNvGrpSpPr/>
          <p:nvPr/>
        </p:nvGrpSpPr>
        <p:grpSpPr>
          <a:xfrm flipV="1">
            <a:off x="3621899" y="1429279"/>
            <a:ext cx="518053" cy="94821"/>
            <a:chOff x="3621899" y="1429279"/>
            <a:chExt cx="518053" cy="94821"/>
          </a:xfrm>
        </p:grpSpPr>
        <p:cxnSp>
          <p:nvCxnSpPr>
            <p:cNvPr id="51" name="直接连接符 145">
              <a:extLst>
                <a:ext uri="{FF2B5EF4-FFF2-40B4-BE49-F238E27FC236}">
                  <a16:creationId xmlns:a16="http://schemas.microsoft.com/office/drawing/2014/main" id="{358BC655-34B1-0742-C031-4DFD337EB282}"/>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46">
              <a:extLst>
                <a:ext uri="{FF2B5EF4-FFF2-40B4-BE49-F238E27FC236}">
                  <a16:creationId xmlns:a16="http://schemas.microsoft.com/office/drawing/2014/main" id="{34CE3FAF-70D5-E526-7440-55D15E14138E}"/>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直接连接符 147">
            <a:extLst>
              <a:ext uri="{FF2B5EF4-FFF2-40B4-BE49-F238E27FC236}">
                <a16:creationId xmlns:a16="http://schemas.microsoft.com/office/drawing/2014/main" id="{EBF59AF4-AEC0-8490-C57B-33FBC57FC9CD}"/>
              </a:ext>
            </a:extLst>
          </p:cNvPr>
          <p:cNvCxnSpPr/>
          <p:nvPr/>
        </p:nvCxnSpPr>
        <p:spPr>
          <a:xfrm flipH="1">
            <a:off x="3872728" y="1539068"/>
            <a:ext cx="8888" cy="18318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48">
            <a:extLst>
              <a:ext uri="{FF2B5EF4-FFF2-40B4-BE49-F238E27FC236}">
                <a16:creationId xmlns:a16="http://schemas.microsoft.com/office/drawing/2014/main" id="{88EA8090-F8A5-AEBD-D0D6-800AD6BA83AE}"/>
              </a:ext>
            </a:extLst>
          </p:cNvPr>
          <p:cNvCxnSpPr/>
          <p:nvPr/>
        </p:nvCxnSpPr>
        <p:spPr>
          <a:xfrm flipH="1">
            <a:off x="4570801" y="89668"/>
            <a:ext cx="1199" cy="3048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F81AEBB4-DED3-721F-3A59-2FECF32BF886}"/>
              </a:ext>
            </a:extLst>
          </p:cNvPr>
          <p:cNvSpPr txBox="1"/>
          <p:nvPr/>
        </p:nvSpPr>
        <p:spPr>
          <a:xfrm>
            <a:off x="755576" y="2492896"/>
            <a:ext cx="2412268" cy="461665"/>
          </a:xfrm>
          <a:prstGeom prst="rect">
            <a:avLst/>
          </a:prstGeom>
          <a:noFill/>
        </p:spPr>
        <p:txBody>
          <a:bodyPr wrap="square" rtlCol="0">
            <a:spAutoFit/>
          </a:bodyPr>
          <a:lstStyle/>
          <a:p>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  </a:t>
            </a:r>
            <a:endParaRPr lang="zh-CN" altLang="en-US" sz="2400" b="1" dirty="0"/>
          </a:p>
        </p:txBody>
      </p:sp>
      <p:sp>
        <p:nvSpPr>
          <p:cNvPr id="56" name="文本框 55">
            <a:extLst>
              <a:ext uri="{FF2B5EF4-FFF2-40B4-BE49-F238E27FC236}">
                <a16:creationId xmlns:a16="http://schemas.microsoft.com/office/drawing/2014/main" id="{8953B36D-3669-77B1-2A12-BF552A0AB13C}"/>
              </a:ext>
            </a:extLst>
          </p:cNvPr>
          <p:cNvSpPr txBox="1"/>
          <p:nvPr/>
        </p:nvSpPr>
        <p:spPr>
          <a:xfrm>
            <a:off x="647564" y="1160748"/>
            <a:ext cx="2232248" cy="461665"/>
          </a:xfrm>
          <a:prstGeom prst="rect">
            <a:avLst/>
          </a:prstGeom>
          <a:noFill/>
        </p:spPr>
        <p:txBody>
          <a:bodyPr wrap="square" rtlCol="0">
            <a:spAutoFit/>
          </a:bodyPr>
          <a:lstStyle/>
          <a:p>
            <a:r>
              <a:rPr lang="en-US" altLang="zh-CN" sz="2400" b="1" dirty="0">
                <a:latin typeface="宋体" panose="02010600030101010101" pitchFamily="2" charset="-122"/>
              </a:rPr>
              <a:t>. . . . . . . </a:t>
            </a:r>
            <a:endParaRPr lang="zh-CN" altLang="en-US" sz="2400" b="1" dirty="0"/>
          </a:p>
        </p:txBody>
      </p:sp>
      <p:cxnSp>
        <p:nvCxnSpPr>
          <p:cNvPr id="57" name="直接箭头连接符 152">
            <a:extLst>
              <a:ext uri="{FF2B5EF4-FFF2-40B4-BE49-F238E27FC236}">
                <a16:creationId xmlns:a16="http://schemas.microsoft.com/office/drawing/2014/main" id="{2C8F8EE7-4DD8-15C7-CFAF-D83A3FB34F85}"/>
              </a:ext>
            </a:extLst>
          </p:cNvPr>
          <p:cNvCxnSpPr>
            <a:stCxn id="55" idx="3"/>
          </p:cNvCxnSpPr>
          <p:nvPr/>
        </p:nvCxnSpPr>
        <p:spPr>
          <a:xfrm flipV="1">
            <a:off x="3167844" y="1182560"/>
            <a:ext cx="0" cy="1541169"/>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E857B8A0-257E-542A-E4C2-F24B1A5A0861}"/>
              </a:ext>
            </a:extLst>
          </p:cNvPr>
          <p:cNvSpPr txBox="1"/>
          <p:nvPr/>
        </p:nvSpPr>
        <p:spPr>
          <a:xfrm>
            <a:off x="3239852" y="1259468"/>
            <a:ext cx="216024" cy="369332"/>
          </a:xfrm>
          <a:prstGeom prst="rect">
            <a:avLst/>
          </a:prstGeom>
          <a:noFill/>
        </p:spPr>
        <p:txBody>
          <a:bodyPr wrap="square" rtlCol="0">
            <a:spAutoFit/>
          </a:bodyPr>
          <a:lstStyle/>
          <a:p>
            <a:r>
              <a:rPr lang="en-US" altLang="zh-CN" dirty="0"/>
              <a:t>E</a:t>
            </a:r>
            <a:endParaRPr lang="zh-CN" altLang="en-US" dirty="0"/>
          </a:p>
        </p:txBody>
      </p:sp>
      <p:sp>
        <p:nvSpPr>
          <p:cNvPr id="59" name="文本框 58">
            <a:extLst>
              <a:ext uri="{FF2B5EF4-FFF2-40B4-BE49-F238E27FC236}">
                <a16:creationId xmlns:a16="http://schemas.microsoft.com/office/drawing/2014/main" id="{2B1E079C-CB9A-D187-9F07-460839CA386C}"/>
              </a:ext>
            </a:extLst>
          </p:cNvPr>
          <p:cNvSpPr txBox="1"/>
          <p:nvPr/>
        </p:nvSpPr>
        <p:spPr>
          <a:xfrm>
            <a:off x="3239852" y="4059445"/>
            <a:ext cx="216024" cy="369332"/>
          </a:xfrm>
          <a:prstGeom prst="rect">
            <a:avLst/>
          </a:prstGeom>
          <a:noFill/>
        </p:spPr>
        <p:txBody>
          <a:bodyPr wrap="square" rtlCol="0">
            <a:spAutoFit/>
          </a:bodyPr>
          <a:lstStyle/>
          <a:p>
            <a:r>
              <a:rPr lang="en-US" altLang="zh-CN" dirty="0"/>
              <a:t>E</a:t>
            </a:r>
            <a:endParaRPr lang="zh-CN" altLang="en-US" dirty="0"/>
          </a:p>
        </p:txBody>
      </p:sp>
      <p:sp>
        <p:nvSpPr>
          <p:cNvPr id="60" name="椭圆 59">
            <a:extLst>
              <a:ext uri="{FF2B5EF4-FFF2-40B4-BE49-F238E27FC236}">
                <a16:creationId xmlns:a16="http://schemas.microsoft.com/office/drawing/2014/main" id="{B69BE929-2B8D-B51D-FC9F-DB4A324B6D47}"/>
              </a:ext>
            </a:extLst>
          </p:cNvPr>
          <p:cNvSpPr/>
          <p:nvPr/>
        </p:nvSpPr>
        <p:spPr>
          <a:xfrm>
            <a:off x="709041" y="2926252"/>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5CA7C266-BB5F-2BC9-64A2-B91527D33226}"/>
              </a:ext>
            </a:extLst>
          </p:cNvPr>
          <p:cNvSpPr/>
          <p:nvPr/>
        </p:nvSpPr>
        <p:spPr>
          <a:xfrm>
            <a:off x="961069" y="313043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38980E81-3712-F529-2D98-5E6B82617803}"/>
              </a:ext>
            </a:extLst>
          </p:cNvPr>
          <p:cNvSpPr/>
          <p:nvPr/>
        </p:nvSpPr>
        <p:spPr>
          <a:xfrm>
            <a:off x="1350735" y="288337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F234C4E5-F9CB-505E-4C3E-F3ADE3BC7E6C}"/>
              </a:ext>
            </a:extLst>
          </p:cNvPr>
          <p:cNvSpPr/>
          <p:nvPr/>
        </p:nvSpPr>
        <p:spPr>
          <a:xfrm>
            <a:off x="1819166" y="3170177"/>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164">
            <a:extLst>
              <a:ext uri="{FF2B5EF4-FFF2-40B4-BE49-F238E27FC236}">
                <a16:creationId xmlns:a16="http://schemas.microsoft.com/office/drawing/2014/main" id="{FEDA7CAB-6007-94C4-72E1-8AD9F8E6E54C}"/>
              </a:ext>
            </a:extLst>
          </p:cNvPr>
          <p:cNvCxnSpPr/>
          <p:nvPr/>
        </p:nvCxnSpPr>
        <p:spPr>
          <a:xfrm>
            <a:off x="1890754" y="3257369"/>
            <a:ext cx="18812" cy="25599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B466D9A7-80B9-488D-2EFF-A6DF17D7D743}"/>
              </a:ext>
            </a:extLst>
          </p:cNvPr>
          <p:cNvSpPr txBox="1"/>
          <p:nvPr/>
        </p:nvSpPr>
        <p:spPr>
          <a:xfrm>
            <a:off x="4932040" y="503384"/>
            <a:ext cx="3060340" cy="369332"/>
          </a:xfrm>
          <a:prstGeom prst="rect">
            <a:avLst/>
          </a:prstGeom>
          <a:noFill/>
        </p:spPr>
        <p:txBody>
          <a:bodyPr wrap="square" rtlCol="0">
            <a:spAutoFit/>
          </a:bodyPr>
          <a:lstStyle/>
          <a:p>
            <a:r>
              <a:rPr lang="zh-CN" altLang="en-US" b="1" dirty="0">
                <a:solidFill>
                  <a:srgbClr val="FF0000"/>
                </a:solidFill>
              </a:rPr>
              <a:t>一个发射极电子的选择</a:t>
            </a:r>
            <a:endParaRPr lang="en-US" altLang="zh-CN" b="1" dirty="0">
              <a:solidFill>
                <a:srgbClr val="FF0000"/>
              </a:solidFill>
            </a:endParaRPr>
          </a:p>
        </p:txBody>
      </p:sp>
      <p:sp>
        <p:nvSpPr>
          <p:cNvPr id="66" name="矩形 65">
            <a:extLst>
              <a:ext uri="{FF2B5EF4-FFF2-40B4-BE49-F238E27FC236}">
                <a16:creationId xmlns:a16="http://schemas.microsoft.com/office/drawing/2014/main" id="{35618FE0-ADC0-2075-3298-3A9A82285F6A}"/>
              </a:ext>
            </a:extLst>
          </p:cNvPr>
          <p:cNvSpPr/>
          <p:nvPr/>
        </p:nvSpPr>
        <p:spPr>
          <a:xfrm>
            <a:off x="4769169" y="836712"/>
            <a:ext cx="4374831" cy="1754326"/>
          </a:xfrm>
          <a:prstGeom prst="rect">
            <a:avLst/>
          </a:prstGeom>
        </p:spPr>
        <p:txBody>
          <a:bodyPr wrap="square">
            <a:spAutoFit/>
          </a:bodyPr>
          <a:lstStyle/>
          <a:p>
            <a:r>
              <a:rPr lang="en-US" altLang="zh-CN" b="1" dirty="0"/>
              <a:t>V</a:t>
            </a:r>
            <a:r>
              <a:rPr lang="en-US" altLang="zh-CN" b="1" baseline="-25000" dirty="0"/>
              <a:t>CE </a:t>
            </a:r>
            <a:r>
              <a:rPr lang="zh-CN" altLang="en-US" b="1" dirty="0"/>
              <a:t>很大</a:t>
            </a:r>
            <a:r>
              <a:rPr lang="en-US" altLang="zh-CN" b="1" dirty="0"/>
              <a:t> </a:t>
            </a:r>
            <a:r>
              <a:rPr lang="en-US" altLang="zh-CN" dirty="0"/>
              <a:t>:</a:t>
            </a:r>
          </a:p>
          <a:p>
            <a:r>
              <a:rPr lang="en-US" altLang="zh-CN" dirty="0"/>
              <a:t>b-c</a:t>
            </a:r>
            <a:r>
              <a:rPr lang="zh-CN" altLang="en-US" dirty="0"/>
              <a:t>结更宽了，基区本来就窄，这下更窄了：一不小心就冲到</a:t>
            </a:r>
            <a:r>
              <a:rPr lang="en-US" altLang="zh-CN" dirty="0"/>
              <a:t>c</a:t>
            </a:r>
            <a:r>
              <a:rPr lang="zh-CN" altLang="en-US" dirty="0"/>
              <a:t>极去了！</a:t>
            </a:r>
            <a:r>
              <a:rPr lang="en-US" altLang="zh-CN" dirty="0">
                <a:sym typeface="Wingdings" panose="05000000000000000000" pitchFamily="2" charset="2"/>
              </a:rPr>
              <a:t></a:t>
            </a:r>
          </a:p>
          <a:p>
            <a:endParaRPr lang="en-US" altLang="zh-CN" dirty="0"/>
          </a:p>
          <a:p>
            <a:r>
              <a:rPr lang="en-US" altLang="zh-CN" b="1" dirty="0" err="1">
                <a:solidFill>
                  <a:srgbClr val="00B050"/>
                </a:solidFill>
              </a:rPr>
              <a:t>I</a:t>
            </a:r>
            <a:r>
              <a:rPr lang="en-US" altLang="zh-CN" b="1" baseline="-25000" dirty="0" err="1">
                <a:solidFill>
                  <a:srgbClr val="00B050"/>
                </a:solidFill>
              </a:rPr>
              <a:t>c</a:t>
            </a:r>
            <a:r>
              <a:rPr lang="zh-CN" altLang="en-US" b="1" dirty="0">
                <a:solidFill>
                  <a:srgbClr val="00B050"/>
                </a:solidFill>
              </a:rPr>
              <a:t>还能略微增加</a:t>
            </a:r>
            <a:endParaRPr lang="en-US" altLang="zh-CN" b="1" dirty="0">
              <a:solidFill>
                <a:srgbClr val="00B050"/>
              </a:solidFill>
            </a:endParaRPr>
          </a:p>
          <a:p>
            <a:endParaRPr lang="en-US" altLang="zh-CN" dirty="0"/>
          </a:p>
        </p:txBody>
      </p:sp>
      <p:cxnSp>
        <p:nvCxnSpPr>
          <p:cNvPr id="67" name="直接箭头连接符 92">
            <a:extLst>
              <a:ext uri="{FF2B5EF4-FFF2-40B4-BE49-F238E27FC236}">
                <a16:creationId xmlns:a16="http://schemas.microsoft.com/office/drawing/2014/main" id="{10574596-76AC-1F52-6C99-0F1959FB3996}"/>
              </a:ext>
            </a:extLst>
          </p:cNvPr>
          <p:cNvCxnSpPr/>
          <p:nvPr/>
        </p:nvCxnSpPr>
        <p:spPr>
          <a:xfrm flipH="1">
            <a:off x="1007604" y="3254827"/>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95">
            <a:extLst>
              <a:ext uri="{FF2B5EF4-FFF2-40B4-BE49-F238E27FC236}">
                <a16:creationId xmlns:a16="http://schemas.microsoft.com/office/drawing/2014/main" id="{64094F0E-C06B-C2E0-DB1D-4F046DF9B797}"/>
              </a:ext>
            </a:extLst>
          </p:cNvPr>
          <p:cNvCxnSpPr/>
          <p:nvPr/>
        </p:nvCxnSpPr>
        <p:spPr>
          <a:xfrm flipH="1">
            <a:off x="3303240" y="3236705"/>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5871B7FC-E502-2CE3-95BC-75E38D857CBE}"/>
              </a:ext>
            </a:extLst>
          </p:cNvPr>
          <p:cNvSpPr/>
          <p:nvPr/>
        </p:nvSpPr>
        <p:spPr>
          <a:xfrm>
            <a:off x="3445308" y="2832574"/>
            <a:ext cx="333746" cy="369332"/>
          </a:xfrm>
          <a:prstGeom prst="rect">
            <a:avLst/>
          </a:prstGeom>
        </p:spPr>
        <p:txBody>
          <a:bodyPr wrap="none">
            <a:spAutoFit/>
          </a:bodyPr>
          <a:lstStyle/>
          <a:p>
            <a:r>
              <a:rPr lang="en-US" altLang="zh-CN" dirty="0" err="1"/>
              <a:t>I</a:t>
            </a:r>
            <a:r>
              <a:rPr lang="en-US" altLang="zh-CN" baseline="-25000" dirty="0" err="1"/>
              <a:t>b</a:t>
            </a:r>
            <a:endParaRPr lang="zh-CN" altLang="en-US" dirty="0"/>
          </a:p>
        </p:txBody>
      </p:sp>
      <p:cxnSp>
        <p:nvCxnSpPr>
          <p:cNvPr id="70" name="直接箭头连接符 98">
            <a:extLst>
              <a:ext uri="{FF2B5EF4-FFF2-40B4-BE49-F238E27FC236}">
                <a16:creationId xmlns:a16="http://schemas.microsoft.com/office/drawing/2014/main" id="{45035E73-EC36-B7E8-9CB4-D6ECE220778C}"/>
              </a:ext>
            </a:extLst>
          </p:cNvPr>
          <p:cNvCxnSpPr/>
          <p:nvPr/>
        </p:nvCxnSpPr>
        <p:spPr>
          <a:xfrm>
            <a:off x="3068720" y="219685"/>
            <a:ext cx="414023" cy="8351"/>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C1E9CB3D-7A26-1979-7D65-267161316C56}"/>
              </a:ext>
            </a:extLst>
          </p:cNvPr>
          <p:cNvSpPr/>
          <p:nvPr/>
        </p:nvSpPr>
        <p:spPr>
          <a:xfrm>
            <a:off x="3120015" y="195052"/>
            <a:ext cx="333746" cy="369332"/>
          </a:xfrm>
          <a:prstGeom prst="rect">
            <a:avLst/>
          </a:prstGeom>
        </p:spPr>
        <p:txBody>
          <a:bodyPr wrap="none">
            <a:spAutoFit/>
          </a:bodyPr>
          <a:lstStyle/>
          <a:p>
            <a:r>
              <a:rPr lang="en-US" altLang="zh-CN" dirty="0" err="1"/>
              <a:t>I</a:t>
            </a:r>
            <a:r>
              <a:rPr lang="en-US" altLang="zh-CN" baseline="-25000" dirty="0" err="1"/>
              <a:t>e</a:t>
            </a:r>
            <a:endParaRPr lang="zh-CN" altLang="en-US" dirty="0"/>
          </a:p>
        </p:txBody>
      </p:sp>
      <p:cxnSp>
        <p:nvCxnSpPr>
          <p:cNvPr id="72" name="直接箭头连接符 115">
            <a:extLst>
              <a:ext uri="{FF2B5EF4-FFF2-40B4-BE49-F238E27FC236}">
                <a16:creationId xmlns:a16="http://schemas.microsoft.com/office/drawing/2014/main" id="{00FF70B6-55D3-1116-BCDD-E08B455FCA88}"/>
              </a:ext>
            </a:extLst>
          </p:cNvPr>
          <p:cNvCxnSpPr/>
          <p:nvPr/>
        </p:nvCxnSpPr>
        <p:spPr>
          <a:xfrm flipH="1">
            <a:off x="3308315" y="6199864"/>
            <a:ext cx="428015" cy="124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99B5F333-A57A-58B6-5BBB-1D06222077EA}"/>
              </a:ext>
            </a:extLst>
          </p:cNvPr>
          <p:cNvSpPr/>
          <p:nvPr/>
        </p:nvSpPr>
        <p:spPr>
          <a:xfrm>
            <a:off x="3387508" y="5834255"/>
            <a:ext cx="325730" cy="369332"/>
          </a:xfrm>
          <a:prstGeom prst="rect">
            <a:avLst/>
          </a:prstGeom>
        </p:spPr>
        <p:txBody>
          <a:bodyPr wrap="none">
            <a:spAutoFit/>
          </a:bodyPr>
          <a:lstStyle/>
          <a:p>
            <a:r>
              <a:rPr lang="en-US" altLang="zh-CN" dirty="0" err="1"/>
              <a:t>I</a:t>
            </a:r>
            <a:r>
              <a:rPr lang="en-US" altLang="zh-CN" baseline="-25000" dirty="0" err="1"/>
              <a:t>c</a:t>
            </a:r>
            <a:endParaRPr lang="zh-CN" altLang="en-US" dirty="0"/>
          </a:p>
        </p:txBody>
      </p:sp>
      <p:grpSp>
        <p:nvGrpSpPr>
          <p:cNvPr id="74" name="组合 73">
            <a:extLst>
              <a:ext uri="{FF2B5EF4-FFF2-40B4-BE49-F238E27FC236}">
                <a16:creationId xmlns:a16="http://schemas.microsoft.com/office/drawing/2014/main" id="{DFFEC985-D24A-BC53-6BB4-DFF12C725295}"/>
              </a:ext>
            </a:extLst>
          </p:cNvPr>
          <p:cNvGrpSpPr/>
          <p:nvPr/>
        </p:nvGrpSpPr>
        <p:grpSpPr>
          <a:xfrm flipV="1">
            <a:off x="4319972" y="3154159"/>
            <a:ext cx="518053" cy="94821"/>
            <a:chOff x="3621899" y="1429279"/>
            <a:chExt cx="518053" cy="94821"/>
          </a:xfrm>
        </p:grpSpPr>
        <p:cxnSp>
          <p:nvCxnSpPr>
            <p:cNvPr id="75" name="直接连接符 118">
              <a:extLst>
                <a:ext uri="{FF2B5EF4-FFF2-40B4-BE49-F238E27FC236}">
                  <a16:creationId xmlns:a16="http://schemas.microsoft.com/office/drawing/2014/main" id="{276A40D1-1CB8-8DA2-0E77-D20D3DC29EE0}"/>
                </a:ext>
              </a:extLst>
            </p:cNvPr>
            <p:cNvCxnSpPr/>
            <p:nvPr/>
          </p:nvCxnSpPr>
          <p:spPr>
            <a:xfrm>
              <a:off x="3621899" y="1429279"/>
              <a:ext cx="518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119">
              <a:extLst>
                <a:ext uri="{FF2B5EF4-FFF2-40B4-BE49-F238E27FC236}">
                  <a16:creationId xmlns:a16="http://schemas.microsoft.com/office/drawing/2014/main" id="{F1A8C0CA-0D33-C368-0207-D86932BE2D3F}"/>
                </a:ext>
              </a:extLst>
            </p:cNvPr>
            <p:cNvCxnSpPr/>
            <p:nvPr/>
          </p:nvCxnSpPr>
          <p:spPr>
            <a:xfrm>
              <a:off x="3779912" y="1520788"/>
              <a:ext cx="185633" cy="3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7" name="直接连接符 120">
            <a:extLst>
              <a:ext uri="{FF2B5EF4-FFF2-40B4-BE49-F238E27FC236}">
                <a16:creationId xmlns:a16="http://schemas.microsoft.com/office/drawing/2014/main" id="{08CB0E03-3313-10C3-23E6-C9E06AB78D68}"/>
              </a:ext>
            </a:extLst>
          </p:cNvPr>
          <p:cNvCxnSpPr/>
          <p:nvPr/>
        </p:nvCxnSpPr>
        <p:spPr>
          <a:xfrm>
            <a:off x="4572000" y="3247450"/>
            <a:ext cx="3499" cy="31231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箭头连接符 161">
            <a:extLst>
              <a:ext uri="{FF2B5EF4-FFF2-40B4-BE49-F238E27FC236}">
                <a16:creationId xmlns:a16="http://schemas.microsoft.com/office/drawing/2014/main" id="{E5621E5C-9947-CC61-7E01-9FB8D6A3EE01}"/>
              </a:ext>
            </a:extLst>
          </p:cNvPr>
          <p:cNvCxnSpPr/>
          <p:nvPr/>
        </p:nvCxnSpPr>
        <p:spPr>
          <a:xfrm flipV="1">
            <a:off x="3244576" y="3445067"/>
            <a:ext cx="11944" cy="2583224"/>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F1BEEF3F-0488-73B6-E74E-B4C7A3B5A70C}"/>
              </a:ext>
            </a:extLst>
          </p:cNvPr>
          <p:cNvSpPr/>
          <p:nvPr/>
        </p:nvSpPr>
        <p:spPr>
          <a:xfrm>
            <a:off x="2041189" y="3392996"/>
            <a:ext cx="154547" cy="15454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0" name="直接箭头连接符 168">
            <a:extLst>
              <a:ext uri="{FF2B5EF4-FFF2-40B4-BE49-F238E27FC236}">
                <a16:creationId xmlns:a16="http://schemas.microsoft.com/office/drawing/2014/main" id="{D19D8F66-C8C2-318E-359F-3B85AAE5B551}"/>
              </a:ext>
            </a:extLst>
          </p:cNvPr>
          <p:cNvCxnSpPr/>
          <p:nvPr/>
        </p:nvCxnSpPr>
        <p:spPr>
          <a:xfrm flipV="1">
            <a:off x="1467293" y="2962447"/>
            <a:ext cx="1350012" cy="1480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169">
            <a:extLst>
              <a:ext uri="{FF2B5EF4-FFF2-40B4-BE49-F238E27FC236}">
                <a16:creationId xmlns:a16="http://schemas.microsoft.com/office/drawing/2014/main" id="{6D4685F5-9FAE-5C39-BEAD-C96B91D258CF}"/>
              </a:ext>
            </a:extLst>
          </p:cNvPr>
          <p:cNvCxnSpPr/>
          <p:nvPr/>
        </p:nvCxnSpPr>
        <p:spPr>
          <a:xfrm flipH="1">
            <a:off x="2087724" y="3521458"/>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 name="Line 35">
            <a:extLst>
              <a:ext uri="{FF2B5EF4-FFF2-40B4-BE49-F238E27FC236}">
                <a16:creationId xmlns:a16="http://schemas.microsoft.com/office/drawing/2014/main" id="{5B2D58C6-D788-DA00-371E-53B86481172D}"/>
              </a:ext>
            </a:extLst>
          </p:cNvPr>
          <p:cNvSpPr>
            <a:spLocks noChangeShapeType="1"/>
          </p:cNvSpPr>
          <p:nvPr/>
        </p:nvSpPr>
        <p:spPr bwMode="auto">
          <a:xfrm flipV="1">
            <a:off x="5248275" y="5864225"/>
            <a:ext cx="2898775" cy="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83" name="Text Box 39">
            <a:extLst>
              <a:ext uri="{FF2B5EF4-FFF2-40B4-BE49-F238E27FC236}">
                <a16:creationId xmlns:a16="http://schemas.microsoft.com/office/drawing/2014/main" id="{61D9153A-43CF-3C95-58FB-48616F81441E}"/>
              </a:ext>
            </a:extLst>
          </p:cNvPr>
          <p:cNvSpPr txBox="1">
            <a:spLocks noChangeArrowheads="1"/>
          </p:cNvSpPr>
          <p:nvPr/>
        </p:nvSpPr>
        <p:spPr bwMode="auto">
          <a:xfrm>
            <a:off x="7462838" y="5229225"/>
            <a:ext cx="671512" cy="438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 </a:t>
            </a:r>
            <a:r>
              <a:rPr kumimoji="1" lang="en-US" altLang="zh-CN" sz="2400">
                <a:latin typeface="Times New Roman" panose="02020603050405020304" pitchFamily="18" charset="0"/>
                <a:ea typeface="长城楷体" pitchFamily="49" charset="-122"/>
              </a:rPr>
              <a:t>= 0</a:t>
            </a:r>
          </a:p>
        </p:txBody>
      </p:sp>
      <p:grpSp>
        <p:nvGrpSpPr>
          <p:cNvPr id="84" name="Group 105">
            <a:extLst>
              <a:ext uri="{FF2B5EF4-FFF2-40B4-BE49-F238E27FC236}">
                <a16:creationId xmlns:a16="http://schemas.microsoft.com/office/drawing/2014/main" id="{36CF91B0-439D-38DA-7986-304F6AEF365A}"/>
              </a:ext>
            </a:extLst>
          </p:cNvPr>
          <p:cNvGrpSpPr>
            <a:grpSpLocks/>
          </p:cNvGrpSpPr>
          <p:nvPr/>
        </p:nvGrpSpPr>
        <p:grpSpPr bwMode="auto">
          <a:xfrm>
            <a:off x="5486400" y="5754688"/>
            <a:ext cx="2552700" cy="627062"/>
            <a:chOff x="3428" y="3625"/>
            <a:chExt cx="1608" cy="395"/>
          </a:xfrm>
        </p:grpSpPr>
        <p:grpSp>
          <p:nvGrpSpPr>
            <p:cNvPr id="85" name="Group 40">
              <a:extLst>
                <a:ext uri="{FF2B5EF4-FFF2-40B4-BE49-F238E27FC236}">
                  <a16:creationId xmlns:a16="http://schemas.microsoft.com/office/drawing/2014/main" id="{0DE70D79-C036-B7D3-6244-9F339C223835}"/>
                </a:ext>
              </a:extLst>
            </p:cNvPr>
            <p:cNvGrpSpPr>
              <a:grpSpLocks/>
            </p:cNvGrpSpPr>
            <p:nvPr/>
          </p:nvGrpSpPr>
          <p:grpSpPr bwMode="auto">
            <a:xfrm>
              <a:off x="3428" y="3625"/>
              <a:ext cx="1608" cy="65"/>
              <a:chOff x="2993" y="3543"/>
              <a:chExt cx="1929" cy="69"/>
            </a:xfrm>
          </p:grpSpPr>
          <p:sp>
            <p:nvSpPr>
              <p:cNvPr id="87" name="Line 41">
                <a:extLst>
                  <a:ext uri="{FF2B5EF4-FFF2-40B4-BE49-F238E27FC236}">
                    <a16:creationId xmlns:a16="http://schemas.microsoft.com/office/drawing/2014/main" id="{B405941E-A399-5407-19EB-316568A4BB37}"/>
                  </a:ext>
                </a:extLst>
              </p:cNvPr>
              <p:cNvSpPr>
                <a:spLocks noChangeShapeType="1"/>
              </p:cNvSpPr>
              <p:nvPr/>
            </p:nvSpPr>
            <p:spPr bwMode="auto">
              <a:xfrm flipV="1">
                <a:off x="2993"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88" name="Line 42">
                <a:extLst>
                  <a:ext uri="{FF2B5EF4-FFF2-40B4-BE49-F238E27FC236}">
                    <a16:creationId xmlns:a16="http://schemas.microsoft.com/office/drawing/2014/main" id="{33F07DB2-0A49-DE54-3B76-D8DDFD8D13F3}"/>
                  </a:ext>
                </a:extLst>
              </p:cNvPr>
              <p:cNvSpPr>
                <a:spLocks noChangeShapeType="1"/>
              </p:cNvSpPr>
              <p:nvPr/>
            </p:nvSpPr>
            <p:spPr bwMode="auto">
              <a:xfrm flipV="1">
                <a:off x="3084"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89" name="Line 43">
                <a:extLst>
                  <a:ext uri="{FF2B5EF4-FFF2-40B4-BE49-F238E27FC236}">
                    <a16:creationId xmlns:a16="http://schemas.microsoft.com/office/drawing/2014/main" id="{3B89EBC9-2230-4F11-6F00-FC8F64B80E21}"/>
                  </a:ext>
                </a:extLst>
              </p:cNvPr>
              <p:cNvSpPr>
                <a:spLocks noChangeShapeType="1"/>
              </p:cNvSpPr>
              <p:nvPr/>
            </p:nvSpPr>
            <p:spPr bwMode="auto">
              <a:xfrm flipV="1">
                <a:off x="317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0" name="Line 44">
                <a:extLst>
                  <a:ext uri="{FF2B5EF4-FFF2-40B4-BE49-F238E27FC236}">
                    <a16:creationId xmlns:a16="http://schemas.microsoft.com/office/drawing/2014/main" id="{58253628-F17C-6EC9-6F4B-0A5FA8C6C165}"/>
                  </a:ext>
                </a:extLst>
              </p:cNvPr>
              <p:cNvSpPr>
                <a:spLocks noChangeShapeType="1"/>
              </p:cNvSpPr>
              <p:nvPr/>
            </p:nvSpPr>
            <p:spPr bwMode="auto">
              <a:xfrm flipV="1">
                <a:off x="326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1" name="Line 45">
                <a:extLst>
                  <a:ext uri="{FF2B5EF4-FFF2-40B4-BE49-F238E27FC236}">
                    <a16:creationId xmlns:a16="http://schemas.microsoft.com/office/drawing/2014/main" id="{E869C459-9B09-05DB-95D3-C0CC196EE206}"/>
                  </a:ext>
                </a:extLst>
              </p:cNvPr>
              <p:cNvSpPr>
                <a:spLocks noChangeShapeType="1"/>
              </p:cNvSpPr>
              <p:nvPr/>
            </p:nvSpPr>
            <p:spPr bwMode="auto">
              <a:xfrm flipV="1">
                <a:off x="335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2" name="Line 46">
                <a:extLst>
                  <a:ext uri="{FF2B5EF4-FFF2-40B4-BE49-F238E27FC236}">
                    <a16:creationId xmlns:a16="http://schemas.microsoft.com/office/drawing/2014/main" id="{7F402D0B-994A-8E46-0459-936D51B33A87}"/>
                  </a:ext>
                </a:extLst>
              </p:cNvPr>
              <p:cNvSpPr>
                <a:spLocks noChangeShapeType="1"/>
              </p:cNvSpPr>
              <p:nvPr/>
            </p:nvSpPr>
            <p:spPr bwMode="auto">
              <a:xfrm flipV="1">
                <a:off x="344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3" name="Line 47">
                <a:extLst>
                  <a:ext uri="{FF2B5EF4-FFF2-40B4-BE49-F238E27FC236}">
                    <a16:creationId xmlns:a16="http://schemas.microsoft.com/office/drawing/2014/main" id="{0EE90F2E-907C-0E11-F750-18D4104A81E1}"/>
                  </a:ext>
                </a:extLst>
              </p:cNvPr>
              <p:cNvSpPr>
                <a:spLocks noChangeShapeType="1"/>
              </p:cNvSpPr>
              <p:nvPr/>
            </p:nvSpPr>
            <p:spPr bwMode="auto">
              <a:xfrm flipV="1">
                <a:off x="353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4" name="Line 48">
                <a:extLst>
                  <a:ext uri="{FF2B5EF4-FFF2-40B4-BE49-F238E27FC236}">
                    <a16:creationId xmlns:a16="http://schemas.microsoft.com/office/drawing/2014/main" id="{0A1F5EB3-A0A5-AF0A-C341-58F95084A8F0}"/>
                  </a:ext>
                </a:extLst>
              </p:cNvPr>
              <p:cNvSpPr>
                <a:spLocks noChangeShapeType="1"/>
              </p:cNvSpPr>
              <p:nvPr/>
            </p:nvSpPr>
            <p:spPr bwMode="auto">
              <a:xfrm flipV="1">
                <a:off x="3629"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5" name="Line 49">
                <a:extLst>
                  <a:ext uri="{FF2B5EF4-FFF2-40B4-BE49-F238E27FC236}">
                    <a16:creationId xmlns:a16="http://schemas.microsoft.com/office/drawing/2014/main" id="{C913F1CF-B2A6-BF64-A099-83AFA91BF9CA}"/>
                  </a:ext>
                </a:extLst>
              </p:cNvPr>
              <p:cNvSpPr>
                <a:spLocks noChangeShapeType="1"/>
              </p:cNvSpPr>
              <p:nvPr/>
            </p:nvSpPr>
            <p:spPr bwMode="auto">
              <a:xfrm flipV="1">
                <a:off x="3719"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6" name="Line 50">
                <a:extLst>
                  <a:ext uri="{FF2B5EF4-FFF2-40B4-BE49-F238E27FC236}">
                    <a16:creationId xmlns:a16="http://schemas.microsoft.com/office/drawing/2014/main" id="{73A13073-AD6D-2A0F-369B-ED38DBED27A1}"/>
                  </a:ext>
                </a:extLst>
              </p:cNvPr>
              <p:cNvSpPr>
                <a:spLocks noChangeShapeType="1"/>
              </p:cNvSpPr>
              <p:nvPr/>
            </p:nvSpPr>
            <p:spPr bwMode="auto">
              <a:xfrm flipV="1">
                <a:off x="3810"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7" name="Line 51">
                <a:extLst>
                  <a:ext uri="{FF2B5EF4-FFF2-40B4-BE49-F238E27FC236}">
                    <a16:creationId xmlns:a16="http://schemas.microsoft.com/office/drawing/2014/main" id="{D1FEAC87-5DF1-4CEF-B853-6A69A9E1ADCD}"/>
                  </a:ext>
                </a:extLst>
              </p:cNvPr>
              <p:cNvSpPr>
                <a:spLocks noChangeShapeType="1"/>
              </p:cNvSpPr>
              <p:nvPr/>
            </p:nvSpPr>
            <p:spPr bwMode="auto">
              <a:xfrm flipV="1">
                <a:off x="3901"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8" name="Line 52">
                <a:extLst>
                  <a:ext uri="{FF2B5EF4-FFF2-40B4-BE49-F238E27FC236}">
                    <a16:creationId xmlns:a16="http://schemas.microsoft.com/office/drawing/2014/main" id="{FA27557F-E429-84C6-2970-12AA4D62ED80}"/>
                  </a:ext>
                </a:extLst>
              </p:cNvPr>
              <p:cNvSpPr>
                <a:spLocks noChangeShapeType="1"/>
              </p:cNvSpPr>
              <p:nvPr/>
            </p:nvSpPr>
            <p:spPr bwMode="auto">
              <a:xfrm flipV="1">
                <a:off x="3992"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99" name="Line 53">
                <a:extLst>
                  <a:ext uri="{FF2B5EF4-FFF2-40B4-BE49-F238E27FC236}">
                    <a16:creationId xmlns:a16="http://schemas.microsoft.com/office/drawing/2014/main" id="{08261557-263D-AB3F-52E5-4E0F995234B5}"/>
                  </a:ext>
                </a:extLst>
              </p:cNvPr>
              <p:cNvSpPr>
                <a:spLocks noChangeShapeType="1"/>
              </p:cNvSpPr>
              <p:nvPr/>
            </p:nvSpPr>
            <p:spPr bwMode="auto">
              <a:xfrm flipV="1">
                <a:off x="4082"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0" name="Line 54">
                <a:extLst>
                  <a:ext uri="{FF2B5EF4-FFF2-40B4-BE49-F238E27FC236}">
                    <a16:creationId xmlns:a16="http://schemas.microsoft.com/office/drawing/2014/main" id="{BDA56495-4B80-C515-7732-86398E521EDE}"/>
                  </a:ext>
                </a:extLst>
              </p:cNvPr>
              <p:cNvSpPr>
                <a:spLocks noChangeShapeType="1"/>
              </p:cNvSpPr>
              <p:nvPr/>
            </p:nvSpPr>
            <p:spPr bwMode="auto">
              <a:xfrm flipV="1">
                <a:off x="4173"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1" name="Line 55">
                <a:extLst>
                  <a:ext uri="{FF2B5EF4-FFF2-40B4-BE49-F238E27FC236}">
                    <a16:creationId xmlns:a16="http://schemas.microsoft.com/office/drawing/2014/main" id="{076E5B23-4D73-18B3-C9F7-EBE4B0E811D2}"/>
                  </a:ext>
                </a:extLst>
              </p:cNvPr>
              <p:cNvSpPr>
                <a:spLocks noChangeShapeType="1"/>
              </p:cNvSpPr>
              <p:nvPr/>
            </p:nvSpPr>
            <p:spPr bwMode="auto">
              <a:xfrm flipV="1">
                <a:off x="4264"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2" name="Line 56">
                <a:extLst>
                  <a:ext uri="{FF2B5EF4-FFF2-40B4-BE49-F238E27FC236}">
                    <a16:creationId xmlns:a16="http://schemas.microsoft.com/office/drawing/2014/main" id="{0C3417C1-0BFB-690E-49DA-808D97B2670F}"/>
                  </a:ext>
                </a:extLst>
              </p:cNvPr>
              <p:cNvSpPr>
                <a:spLocks noChangeShapeType="1"/>
              </p:cNvSpPr>
              <p:nvPr/>
            </p:nvSpPr>
            <p:spPr bwMode="auto">
              <a:xfrm flipV="1">
                <a:off x="4355"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3" name="Line 57">
                <a:extLst>
                  <a:ext uri="{FF2B5EF4-FFF2-40B4-BE49-F238E27FC236}">
                    <a16:creationId xmlns:a16="http://schemas.microsoft.com/office/drawing/2014/main" id="{4E3DC12A-E116-78CA-3447-A91A402B98CE}"/>
                  </a:ext>
                </a:extLst>
              </p:cNvPr>
              <p:cNvSpPr>
                <a:spLocks noChangeShapeType="1"/>
              </p:cNvSpPr>
              <p:nvPr/>
            </p:nvSpPr>
            <p:spPr bwMode="auto">
              <a:xfrm flipV="1">
                <a:off x="4445"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4" name="Line 58">
                <a:extLst>
                  <a:ext uri="{FF2B5EF4-FFF2-40B4-BE49-F238E27FC236}">
                    <a16:creationId xmlns:a16="http://schemas.microsoft.com/office/drawing/2014/main" id="{6ABB64E4-61CB-50BA-637E-FED5FEB82303}"/>
                  </a:ext>
                </a:extLst>
              </p:cNvPr>
              <p:cNvSpPr>
                <a:spLocks noChangeShapeType="1"/>
              </p:cNvSpPr>
              <p:nvPr/>
            </p:nvSpPr>
            <p:spPr bwMode="auto">
              <a:xfrm flipV="1">
                <a:off x="4536" y="3543"/>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5" name="Line 59">
                <a:extLst>
                  <a:ext uri="{FF2B5EF4-FFF2-40B4-BE49-F238E27FC236}">
                    <a16:creationId xmlns:a16="http://schemas.microsoft.com/office/drawing/2014/main" id="{421FF6BA-7BDF-3DDE-B67F-8482ED606CD2}"/>
                  </a:ext>
                </a:extLst>
              </p:cNvPr>
              <p:cNvSpPr>
                <a:spLocks noChangeShapeType="1"/>
              </p:cNvSpPr>
              <p:nvPr/>
            </p:nvSpPr>
            <p:spPr bwMode="auto">
              <a:xfrm flipV="1">
                <a:off x="4626"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6" name="Line 60">
                <a:extLst>
                  <a:ext uri="{FF2B5EF4-FFF2-40B4-BE49-F238E27FC236}">
                    <a16:creationId xmlns:a16="http://schemas.microsoft.com/office/drawing/2014/main" id="{80ECBE91-FD72-50AB-F330-408428C285C4}"/>
                  </a:ext>
                </a:extLst>
              </p:cNvPr>
              <p:cNvSpPr>
                <a:spLocks noChangeShapeType="1"/>
              </p:cNvSpPr>
              <p:nvPr/>
            </p:nvSpPr>
            <p:spPr bwMode="auto">
              <a:xfrm flipV="1">
                <a:off x="4717"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7" name="Line 61">
                <a:extLst>
                  <a:ext uri="{FF2B5EF4-FFF2-40B4-BE49-F238E27FC236}">
                    <a16:creationId xmlns:a16="http://schemas.microsoft.com/office/drawing/2014/main" id="{40913336-624C-2D58-EE12-0C77E811F294}"/>
                  </a:ext>
                </a:extLst>
              </p:cNvPr>
              <p:cNvSpPr>
                <a:spLocks noChangeShapeType="1"/>
              </p:cNvSpPr>
              <p:nvPr/>
            </p:nvSpPr>
            <p:spPr bwMode="auto">
              <a:xfrm flipV="1">
                <a:off x="4808" y="3546"/>
                <a:ext cx="114" cy="66"/>
              </a:xfrm>
              <a:prstGeom prst="line">
                <a:avLst/>
              </a:prstGeom>
              <a:noFill/>
              <a:ln w="19050">
                <a:solidFill>
                  <a:srgbClr val="FF33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86" name="Rectangle 28">
              <a:extLst>
                <a:ext uri="{FF2B5EF4-FFF2-40B4-BE49-F238E27FC236}">
                  <a16:creationId xmlns:a16="http://schemas.microsoft.com/office/drawing/2014/main" id="{E05192CB-5389-5736-4A49-651B23FBEA85}"/>
                </a:ext>
              </a:extLst>
            </p:cNvPr>
            <p:cNvSpPr>
              <a:spLocks noChangeArrowheads="1"/>
            </p:cNvSpPr>
            <p:nvPr/>
          </p:nvSpPr>
          <p:spPr bwMode="auto">
            <a:xfrm>
              <a:off x="3931" y="3732"/>
              <a:ext cx="69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FF3300"/>
                  </a:solidFill>
                </a:rPr>
                <a:t>截止区</a:t>
              </a:r>
            </a:p>
          </p:txBody>
        </p:sp>
      </p:grpSp>
      <p:sp>
        <p:nvSpPr>
          <p:cNvPr id="108" name="Rectangle 10">
            <a:extLst>
              <a:ext uri="{FF2B5EF4-FFF2-40B4-BE49-F238E27FC236}">
                <a16:creationId xmlns:a16="http://schemas.microsoft.com/office/drawing/2014/main" id="{2381B3E3-190B-8A1A-9C7C-E9788959A2DC}"/>
              </a:ext>
            </a:extLst>
          </p:cNvPr>
          <p:cNvSpPr>
            <a:spLocks noChangeArrowheads="1"/>
          </p:cNvSpPr>
          <p:nvPr/>
        </p:nvSpPr>
        <p:spPr bwMode="auto">
          <a:xfrm>
            <a:off x="6284913" y="4627563"/>
            <a:ext cx="11033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t>放大区</a:t>
            </a:r>
          </a:p>
        </p:txBody>
      </p:sp>
      <p:sp>
        <p:nvSpPr>
          <p:cNvPr id="109" name="Rectangle 11">
            <a:extLst>
              <a:ext uri="{FF2B5EF4-FFF2-40B4-BE49-F238E27FC236}">
                <a16:creationId xmlns:a16="http://schemas.microsoft.com/office/drawing/2014/main" id="{C13C3DEC-085D-B286-1156-C7D20B028F7B}"/>
              </a:ext>
            </a:extLst>
          </p:cNvPr>
          <p:cNvSpPr>
            <a:spLocks noChangeArrowheads="1"/>
          </p:cNvSpPr>
          <p:nvPr/>
        </p:nvSpPr>
        <p:spPr bwMode="auto">
          <a:xfrm>
            <a:off x="5300663" y="3213100"/>
            <a:ext cx="1260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solidFill>
                  <a:srgbClr val="0000FF"/>
                </a:solidFill>
              </a:rPr>
              <a:t>饱和区</a:t>
            </a:r>
          </a:p>
        </p:txBody>
      </p:sp>
      <p:sp>
        <p:nvSpPr>
          <p:cNvPr id="110" name="Text Box 30">
            <a:extLst>
              <a:ext uri="{FF2B5EF4-FFF2-40B4-BE49-F238E27FC236}">
                <a16:creationId xmlns:a16="http://schemas.microsoft.com/office/drawing/2014/main" id="{C1582233-E425-A512-CBB1-C3F5164E2A44}"/>
              </a:ext>
            </a:extLst>
          </p:cNvPr>
          <p:cNvSpPr txBox="1">
            <a:spLocks noChangeArrowheads="1"/>
          </p:cNvSpPr>
          <p:nvPr/>
        </p:nvSpPr>
        <p:spPr bwMode="auto">
          <a:xfrm>
            <a:off x="8296275" y="5661025"/>
            <a:ext cx="415925" cy="46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spcAft>
                <a:spcPct val="0"/>
              </a:spcAft>
              <a:buFontTx/>
              <a:buNone/>
            </a:pPr>
            <a:r>
              <a:rPr kumimoji="1" lang="en-US" altLang="zh-CN" sz="2800" i="1">
                <a:latin typeface="Times New Roman" panose="02020603050405020304" pitchFamily="18" charset="0"/>
                <a:ea typeface="长城楷体" pitchFamily="49" charset="-122"/>
              </a:rPr>
              <a:t>v</a:t>
            </a:r>
            <a:r>
              <a:rPr kumimoji="1" lang="en-US" altLang="zh-CN" sz="2400" baseline="-25000">
                <a:latin typeface="Times New Roman" panose="02020603050405020304" pitchFamily="18" charset="0"/>
                <a:ea typeface="长城楷体" pitchFamily="49" charset="-122"/>
              </a:rPr>
              <a:t>CE</a:t>
            </a:r>
            <a:endParaRPr kumimoji="1" lang="zh-CN" altLang="en-US" sz="2400">
              <a:latin typeface="Times New Roman" panose="02020603050405020304" pitchFamily="18" charset="0"/>
              <a:ea typeface="长城楷体" pitchFamily="49" charset="-122"/>
            </a:endParaRPr>
          </a:p>
        </p:txBody>
      </p:sp>
      <p:sp>
        <p:nvSpPr>
          <p:cNvPr id="111" name="Text Box 31">
            <a:extLst>
              <a:ext uri="{FF2B5EF4-FFF2-40B4-BE49-F238E27FC236}">
                <a16:creationId xmlns:a16="http://schemas.microsoft.com/office/drawing/2014/main" id="{C3C3C5E4-86AB-194C-E6CE-E6C412596B3A}"/>
              </a:ext>
            </a:extLst>
          </p:cNvPr>
          <p:cNvSpPr txBox="1">
            <a:spLocks noChangeArrowheads="1"/>
          </p:cNvSpPr>
          <p:nvPr/>
        </p:nvSpPr>
        <p:spPr bwMode="auto">
          <a:xfrm>
            <a:off x="4832350" y="3398838"/>
            <a:ext cx="230188"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C</a:t>
            </a:r>
            <a:endParaRPr kumimoji="1" lang="zh-CN" altLang="en-US" sz="2400">
              <a:latin typeface="Times New Roman" panose="02020603050405020304" pitchFamily="18" charset="0"/>
              <a:ea typeface="长城楷体" pitchFamily="49" charset="-122"/>
            </a:endParaRPr>
          </a:p>
        </p:txBody>
      </p:sp>
      <p:sp>
        <p:nvSpPr>
          <p:cNvPr id="112" name="Line 34">
            <a:extLst>
              <a:ext uri="{FF2B5EF4-FFF2-40B4-BE49-F238E27FC236}">
                <a16:creationId xmlns:a16="http://schemas.microsoft.com/office/drawing/2014/main" id="{3A1025BC-B10D-5401-1452-374971182FC2}"/>
              </a:ext>
            </a:extLst>
          </p:cNvPr>
          <p:cNvSpPr>
            <a:spLocks noChangeShapeType="1"/>
          </p:cNvSpPr>
          <p:nvPr/>
        </p:nvSpPr>
        <p:spPr bwMode="auto">
          <a:xfrm flipV="1">
            <a:off x="5264150" y="3508375"/>
            <a:ext cx="0" cy="2355850"/>
          </a:xfrm>
          <a:prstGeom prst="line">
            <a:avLst/>
          </a:prstGeom>
          <a:noFill/>
          <a:ln w="28575">
            <a:solidFill>
              <a:schemeClr val="tx1"/>
            </a:solidFill>
            <a:round/>
            <a:headEnd type="none" w="sm" len="sm"/>
            <a:tailEnd type="triangle" w="med" len="lg"/>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13" name="Text Box 36">
            <a:extLst>
              <a:ext uri="{FF2B5EF4-FFF2-40B4-BE49-F238E27FC236}">
                <a16:creationId xmlns:a16="http://schemas.microsoft.com/office/drawing/2014/main" id="{E962695D-D988-F651-86A0-9B4039DD9C15}"/>
              </a:ext>
            </a:extLst>
          </p:cNvPr>
          <p:cNvSpPr txBox="1">
            <a:spLocks noChangeArrowheads="1"/>
          </p:cNvSpPr>
          <p:nvPr/>
        </p:nvSpPr>
        <p:spPr bwMode="auto">
          <a:xfrm>
            <a:off x="4919663" y="5786438"/>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type="none" w="sm" len="sm"/>
                <a:tailEnd type="none" w="med" len="lg"/>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FontTx/>
              <a:buNone/>
            </a:pPr>
            <a:r>
              <a:rPr kumimoji="1" lang="en-US" altLang="zh-CN" sz="2400" i="1">
                <a:latin typeface="Times New Roman" panose="02020603050405020304" pitchFamily="18" charset="0"/>
                <a:ea typeface="长城楷体" pitchFamily="49" charset="-122"/>
              </a:rPr>
              <a:t>O</a:t>
            </a:r>
          </a:p>
        </p:txBody>
      </p:sp>
      <p:sp>
        <p:nvSpPr>
          <p:cNvPr id="114" name="Freeform 37">
            <a:extLst>
              <a:ext uri="{FF2B5EF4-FFF2-40B4-BE49-F238E27FC236}">
                <a16:creationId xmlns:a16="http://schemas.microsoft.com/office/drawing/2014/main" id="{54BD8962-43F9-68D7-E8D9-96EB4B0F3AF2}"/>
              </a:ext>
            </a:extLst>
          </p:cNvPr>
          <p:cNvSpPr>
            <a:spLocks/>
          </p:cNvSpPr>
          <p:nvPr/>
        </p:nvSpPr>
        <p:spPr bwMode="auto">
          <a:xfrm>
            <a:off x="5270500" y="5722938"/>
            <a:ext cx="2805113" cy="144462"/>
          </a:xfrm>
          <a:custGeom>
            <a:avLst/>
            <a:gdLst>
              <a:gd name="T0" fmla="*/ 0 w 2191"/>
              <a:gd name="T1" fmla="*/ 2147483646 h 96"/>
              <a:gd name="T2" fmla="*/ 2147483646 w 2191"/>
              <a:gd name="T3" fmla="*/ 2147483646 h 96"/>
              <a:gd name="T4" fmla="*/ 2147483646 w 2191"/>
              <a:gd name="T5" fmla="*/ 2147483646 h 96"/>
              <a:gd name="T6" fmla="*/ 2147483646 w 2191"/>
              <a:gd name="T7" fmla="*/ 0 h 96"/>
              <a:gd name="T8" fmla="*/ 0 60000 65536"/>
              <a:gd name="T9" fmla="*/ 0 60000 65536"/>
              <a:gd name="T10" fmla="*/ 0 60000 65536"/>
              <a:gd name="T11" fmla="*/ 0 60000 65536"/>
              <a:gd name="T12" fmla="*/ 0 w 2191"/>
              <a:gd name="T13" fmla="*/ 0 h 96"/>
              <a:gd name="T14" fmla="*/ 2191 w 2191"/>
              <a:gd name="T15" fmla="*/ 96 h 96"/>
            </a:gdLst>
            <a:ahLst/>
            <a:cxnLst>
              <a:cxn ang="T8">
                <a:pos x="T0" y="T1"/>
              </a:cxn>
              <a:cxn ang="T9">
                <a:pos x="T2" y="T3"/>
              </a:cxn>
              <a:cxn ang="T10">
                <a:pos x="T4" y="T5"/>
              </a:cxn>
              <a:cxn ang="T11">
                <a:pos x="T6" y="T7"/>
              </a:cxn>
            </a:cxnLst>
            <a:rect l="T12" t="T13" r="T14" b="T15"/>
            <a:pathLst>
              <a:path w="2191" h="96">
                <a:moveTo>
                  <a:pt x="0" y="96"/>
                </a:moveTo>
                <a:cubicBezTo>
                  <a:pt x="32" y="85"/>
                  <a:pt x="83" y="42"/>
                  <a:pt x="194" y="27"/>
                </a:cubicBezTo>
                <a:cubicBezTo>
                  <a:pt x="305" y="12"/>
                  <a:pt x="331" y="12"/>
                  <a:pt x="664" y="8"/>
                </a:cubicBezTo>
                <a:cubicBezTo>
                  <a:pt x="997" y="4"/>
                  <a:pt x="1873" y="2"/>
                  <a:pt x="2191"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grpSp>
        <p:nvGrpSpPr>
          <p:cNvPr id="115" name="Group 102">
            <a:extLst>
              <a:ext uri="{FF2B5EF4-FFF2-40B4-BE49-F238E27FC236}">
                <a16:creationId xmlns:a16="http://schemas.microsoft.com/office/drawing/2014/main" id="{0D695940-C7C2-41E6-F05D-08994F4F1FB4}"/>
              </a:ext>
            </a:extLst>
          </p:cNvPr>
          <p:cNvGrpSpPr>
            <a:grpSpLocks/>
          </p:cNvGrpSpPr>
          <p:nvPr/>
        </p:nvGrpSpPr>
        <p:grpSpPr bwMode="auto">
          <a:xfrm>
            <a:off x="5289550" y="4652963"/>
            <a:ext cx="2789238" cy="1195387"/>
            <a:chOff x="3304" y="2931"/>
            <a:chExt cx="1757" cy="753"/>
          </a:xfrm>
        </p:grpSpPr>
        <p:sp>
          <p:nvSpPr>
            <p:cNvPr id="116" name="Freeform 38">
              <a:extLst>
                <a:ext uri="{FF2B5EF4-FFF2-40B4-BE49-F238E27FC236}">
                  <a16:creationId xmlns:a16="http://schemas.microsoft.com/office/drawing/2014/main" id="{218A91C5-480D-F838-75A8-F9047DCCC406}"/>
                </a:ext>
              </a:extLst>
            </p:cNvPr>
            <p:cNvSpPr>
              <a:spLocks/>
            </p:cNvSpPr>
            <p:nvPr/>
          </p:nvSpPr>
          <p:spPr bwMode="auto">
            <a:xfrm>
              <a:off x="3304" y="3252"/>
              <a:ext cx="1757" cy="432"/>
            </a:xfrm>
            <a:custGeom>
              <a:avLst/>
              <a:gdLst>
                <a:gd name="T0" fmla="*/ 0 w 2124"/>
                <a:gd name="T1" fmla="*/ 141 h 478"/>
                <a:gd name="T2" fmla="*/ 16 w 2124"/>
                <a:gd name="T3" fmla="*/ 42 h 478"/>
                <a:gd name="T4" fmla="*/ 64 w 2124"/>
                <a:gd name="T5" fmla="*/ 11 h 478"/>
                <a:gd name="T6" fmla="*/ 165 w 2124"/>
                <a:gd name="T7" fmla="*/ 5 h 478"/>
                <a:gd name="T8" fmla="*/ 218 w 2124"/>
                <a:gd name="T9" fmla="*/ 2 h 478"/>
                <a:gd name="T10" fmla="*/ 0 60000 65536"/>
                <a:gd name="T11" fmla="*/ 0 60000 65536"/>
                <a:gd name="T12" fmla="*/ 0 60000 65536"/>
                <a:gd name="T13" fmla="*/ 0 60000 65536"/>
                <a:gd name="T14" fmla="*/ 0 60000 65536"/>
                <a:gd name="T15" fmla="*/ 0 w 2124"/>
                <a:gd name="T16" fmla="*/ 0 h 478"/>
                <a:gd name="T17" fmla="*/ 2124 w 2124"/>
                <a:gd name="T18" fmla="*/ 478 h 478"/>
              </a:gdLst>
              <a:ahLst/>
              <a:cxnLst>
                <a:cxn ang="T10">
                  <a:pos x="T0" y="T1"/>
                </a:cxn>
                <a:cxn ang="T11">
                  <a:pos x="T2" y="T3"/>
                </a:cxn>
                <a:cxn ang="T12">
                  <a:pos x="T4" y="T5"/>
                </a:cxn>
                <a:cxn ang="T13">
                  <a:pos x="T6" y="T7"/>
                </a:cxn>
                <a:cxn ang="T14">
                  <a:pos x="T8" y="T9"/>
                </a:cxn>
              </a:cxnLst>
              <a:rect l="T15" t="T16" r="T17" b="T18"/>
              <a:pathLst>
                <a:path w="2124" h="478">
                  <a:moveTo>
                    <a:pt x="0" y="478"/>
                  </a:moveTo>
                  <a:cubicBezTo>
                    <a:pt x="25" y="422"/>
                    <a:pt x="49" y="215"/>
                    <a:pt x="152" y="141"/>
                  </a:cubicBezTo>
                  <a:cubicBezTo>
                    <a:pt x="255" y="67"/>
                    <a:pt x="372" y="59"/>
                    <a:pt x="615" y="37"/>
                  </a:cubicBezTo>
                  <a:cubicBezTo>
                    <a:pt x="858" y="15"/>
                    <a:pt x="1362" y="12"/>
                    <a:pt x="1613" y="6"/>
                  </a:cubicBezTo>
                  <a:cubicBezTo>
                    <a:pt x="1864" y="0"/>
                    <a:pt x="2018" y="3"/>
                    <a:pt x="2124" y="2"/>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0" tIns="0" rIns="0" bIns="0">
              <a:spAutoFit/>
            </a:bodyPr>
            <a:lstStyle/>
            <a:p>
              <a:endParaRPr lang="zh-CN" altLang="en-US"/>
            </a:p>
          </p:txBody>
        </p:sp>
        <p:sp>
          <p:nvSpPr>
            <p:cNvPr id="117" name="Text Box 63">
              <a:extLst>
                <a:ext uri="{FF2B5EF4-FFF2-40B4-BE49-F238E27FC236}">
                  <a16:creationId xmlns:a16="http://schemas.microsoft.com/office/drawing/2014/main" id="{17FD9334-2AF8-C3F5-DDB8-D7E70E61315A}"/>
                </a:ext>
              </a:extLst>
            </p:cNvPr>
            <p:cNvSpPr txBox="1">
              <a:spLocks noChangeArrowheads="1"/>
            </p:cNvSpPr>
            <p:nvPr/>
          </p:nvSpPr>
          <p:spPr bwMode="auto">
            <a:xfrm>
              <a:off x="4782" y="2931"/>
              <a:ext cx="234"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B1 </a:t>
              </a:r>
              <a:endParaRPr kumimoji="1" lang="en-US" altLang="zh-CN" sz="2400">
                <a:latin typeface="Times New Roman" panose="02020603050405020304" pitchFamily="18" charset="0"/>
                <a:ea typeface="长城楷体" pitchFamily="49" charset="-122"/>
              </a:endParaRPr>
            </a:p>
          </p:txBody>
        </p:sp>
      </p:grpSp>
      <p:grpSp>
        <p:nvGrpSpPr>
          <p:cNvPr id="118" name="Group 103">
            <a:extLst>
              <a:ext uri="{FF2B5EF4-FFF2-40B4-BE49-F238E27FC236}">
                <a16:creationId xmlns:a16="http://schemas.microsoft.com/office/drawing/2014/main" id="{08191115-5801-2558-280F-F80917991FE0}"/>
              </a:ext>
            </a:extLst>
          </p:cNvPr>
          <p:cNvGrpSpPr>
            <a:grpSpLocks/>
          </p:cNvGrpSpPr>
          <p:nvPr/>
        </p:nvGrpSpPr>
        <p:grpSpPr bwMode="auto">
          <a:xfrm>
            <a:off x="5291138" y="4033838"/>
            <a:ext cx="2798762" cy="1808162"/>
            <a:chOff x="3305" y="2541"/>
            <a:chExt cx="1763" cy="1139"/>
          </a:xfrm>
        </p:grpSpPr>
        <p:sp>
          <p:nvSpPr>
            <p:cNvPr id="119" name="Freeform 32">
              <a:extLst>
                <a:ext uri="{FF2B5EF4-FFF2-40B4-BE49-F238E27FC236}">
                  <a16:creationId xmlns:a16="http://schemas.microsoft.com/office/drawing/2014/main" id="{240F2F3F-DC55-9AA0-970F-A25F40134301}"/>
                </a:ext>
              </a:extLst>
            </p:cNvPr>
            <p:cNvSpPr>
              <a:spLocks/>
            </p:cNvSpPr>
            <p:nvPr/>
          </p:nvSpPr>
          <p:spPr bwMode="auto">
            <a:xfrm>
              <a:off x="3305" y="2886"/>
              <a:ext cx="1763" cy="794"/>
            </a:xfrm>
            <a:custGeom>
              <a:avLst/>
              <a:gdLst>
                <a:gd name="T0" fmla="*/ 0 w 2132"/>
                <a:gd name="T1" fmla="*/ 141 h 929"/>
                <a:gd name="T2" fmla="*/ 12 w 2132"/>
                <a:gd name="T3" fmla="*/ 48 h 929"/>
                <a:gd name="T4" fmla="*/ 47 w 2132"/>
                <a:gd name="T5" fmla="*/ 13 h 929"/>
                <a:gd name="T6" fmla="*/ 129 w 2132"/>
                <a:gd name="T7" fmla="*/ 3 h 929"/>
                <a:gd name="T8" fmla="*/ 217 w 2132"/>
                <a:gd name="T9" fmla="*/ 3 h 929"/>
                <a:gd name="T10" fmla="*/ 0 60000 65536"/>
                <a:gd name="T11" fmla="*/ 0 60000 65536"/>
                <a:gd name="T12" fmla="*/ 0 60000 65536"/>
                <a:gd name="T13" fmla="*/ 0 60000 65536"/>
                <a:gd name="T14" fmla="*/ 0 60000 65536"/>
                <a:gd name="T15" fmla="*/ 0 w 2132"/>
                <a:gd name="T16" fmla="*/ 0 h 929"/>
                <a:gd name="T17" fmla="*/ 2132 w 2132"/>
                <a:gd name="T18" fmla="*/ 929 h 929"/>
              </a:gdLst>
              <a:ahLst/>
              <a:cxnLst>
                <a:cxn ang="T10">
                  <a:pos x="T0" y="T1"/>
                </a:cxn>
                <a:cxn ang="T11">
                  <a:pos x="T2" y="T3"/>
                </a:cxn>
                <a:cxn ang="T12">
                  <a:pos x="T4" y="T5"/>
                </a:cxn>
                <a:cxn ang="T13">
                  <a:pos x="T6" y="T7"/>
                </a:cxn>
                <a:cxn ang="T14">
                  <a:pos x="T8" y="T9"/>
                </a:cxn>
              </a:cxnLst>
              <a:rect l="T15" t="T16" r="T17" b="T18"/>
              <a:pathLst>
                <a:path w="2132" h="929">
                  <a:moveTo>
                    <a:pt x="0" y="929"/>
                  </a:moveTo>
                  <a:cubicBezTo>
                    <a:pt x="21" y="827"/>
                    <a:pt x="49" y="459"/>
                    <a:pt x="125" y="318"/>
                  </a:cubicBezTo>
                  <a:cubicBezTo>
                    <a:pt x="201" y="177"/>
                    <a:pt x="266" y="134"/>
                    <a:pt x="456" y="83"/>
                  </a:cubicBezTo>
                  <a:cubicBezTo>
                    <a:pt x="646" y="32"/>
                    <a:pt x="989" y="26"/>
                    <a:pt x="1268" y="13"/>
                  </a:cubicBezTo>
                  <a:cubicBezTo>
                    <a:pt x="1547" y="0"/>
                    <a:pt x="1988" y="6"/>
                    <a:pt x="2132" y="4"/>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20" name="Text Box 64">
              <a:extLst>
                <a:ext uri="{FF2B5EF4-FFF2-40B4-BE49-F238E27FC236}">
                  <a16:creationId xmlns:a16="http://schemas.microsoft.com/office/drawing/2014/main" id="{17B8621F-BDDE-CA30-A198-AE199AFC751A}"/>
                </a:ext>
              </a:extLst>
            </p:cNvPr>
            <p:cNvSpPr txBox="1">
              <a:spLocks noChangeArrowheads="1"/>
            </p:cNvSpPr>
            <p:nvPr/>
          </p:nvSpPr>
          <p:spPr bwMode="auto">
            <a:xfrm>
              <a:off x="4782" y="2541"/>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B2</a:t>
              </a:r>
              <a:endParaRPr kumimoji="1" lang="en-US" altLang="zh-CN" sz="2400">
                <a:latin typeface="Times New Roman" panose="02020603050405020304" pitchFamily="18" charset="0"/>
                <a:ea typeface="长城楷体" pitchFamily="49" charset="-122"/>
              </a:endParaRPr>
            </a:p>
          </p:txBody>
        </p:sp>
      </p:grpSp>
      <p:grpSp>
        <p:nvGrpSpPr>
          <p:cNvPr id="121" name="Group 104">
            <a:extLst>
              <a:ext uri="{FF2B5EF4-FFF2-40B4-BE49-F238E27FC236}">
                <a16:creationId xmlns:a16="http://schemas.microsoft.com/office/drawing/2014/main" id="{80B5B22E-D6AE-46F5-B2F6-B4EF2361904B}"/>
              </a:ext>
            </a:extLst>
          </p:cNvPr>
          <p:cNvGrpSpPr>
            <a:grpSpLocks/>
          </p:cNvGrpSpPr>
          <p:nvPr/>
        </p:nvGrpSpPr>
        <p:grpSpPr bwMode="auto">
          <a:xfrm>
            <a:off x="5260975" y="3411538"/>
            <a:ext cx="2778125" cy="2430462"/>
            <a:chOff x="3286" y="2149"/>
            <a:chExt cx="1750" cy="1531"/>
          </a:xfrm>
        </p:grpSpPr>
        <p:sp>
          <p:nvSpPr>
            <p:cNvPr id="122" name="Freeform 33">
              <a:extLst>
                <a:ext uri="{FF2B5EF4-FFF2-40B4-BE49-F238E27FC236}">
                  <a16:creationId xmlns:a16="http://schemas.microsoft.com/office/drawing/2014/main" id="{5863E1DA-8974-AFFF-187A-C0BC6FB7E733}"/>
                </a:ext>
              </a:extLst>
            </p:cNvPr>
            <p:cNvSpPr>
              <a:spLocks/>
            </p:cNvSpPr>
            <p:nvPr/>
          </p:nvSpPr>
          <p:spPr bwMode="auto">
            <a:xfrm>
              <a:off x="3286" y="2464"/>
              <a:ext cx="1750" cy="1216"/>
            </a:xfrm>
            <a:custGeom>
              <a:avLst/>
              <a:gdLst>
                <a:gd name="T0" fmla="*/ 0 w 2116"/>
                <a:gd name="T1" fmla="*/ 404 h 1344"/>
                <a:gd name="T2" fmla="*/ 18 w 2116"/>
                <a:gd name="T3" fmla="*/ 159 h 1344"/>
                <a:gd name="T4" fmla="*/ 36 w 2116"/>
                <a:gd name="T5" fmla="*/ 47 h 1344"/>
                <a:gd name="T6" fmla="*/ 82 w 2116"/>
                <a:gd name="T7" fmla="*/ 11 h 1344"/>
                <a:gd name="T8" fmla="*/ 217 w 2116"/>
                <a:gd name="T9" fmla="*/ 0 h 1344"/>
                <a:gd name="T10" fmla="*/ 0 60000 65536"/>
                <a:gd name="T11" fmla="*/ 0 60000 65536"/>
                <a:gd name="T12" fmla="*/ 0 60000 65536"/>
                <a:gd name="T13" fmla="*/ 0 60000 65536"/>
                <a:gd name="T14" fmla="*/ 0 60000 65536"/>
                <a:gd name="T15" fmla="*/ 0 w 2116"/>
                <a:gd name="T16" fmla="*/ 0 h 1344"/>
                <a:gd name="T17" fmla="*/ 2116 w 2116"/>
                <a:gd name="T18" fmla="*/ 1344 h 1344"/>
              </a:gdLst>
              <a:ahLst/>
              <a:cxnLst>
                <a:cxn ang="T10">
                  <a:pos x="T0" y="T1"/>
                </a:cxn>
                <a:cxn ang="T11">
                  <a:pos x="T2" y="T3"/>
                </a:cxn>
                <a:cxn ang="T12">
                  <a:pos x="T4" y="T5"/>
                </a:cxn>
                <a:cxn ang="T13">
                  <a:pos x="T6" y="T7"/>
                </a:cxn>
                <a:cxn ang="T14">
                  <a:pos x="T8" y="T9"/>
                </a:cxn>
              </a:cxnLst>
              <a:rect l="T15" t="T16" r="T17" b="T18"/>
              <a:pathLst>
                <a:path w="2116" h="1344">
                  <a:moveTo>
                    <a:pt x="0" y="1344"/>
                  </a:moveTo>
                  <a:cubicBezTo>
                    <a:pt x="30" y="1209"/>
                    <a:pt x="120" y="730"/>
                    <a:pt x="179" y="532"/>
                  </a:cubicBezTo>
                  <a:cubicBezTo>
                    <a:pt x="238" y="334"/>
                    <a:pt x="250" y="240"/>
                    <a:pt x="353" y="157"/>
                  </a:cubicBezTo>
                  <a:cubicBezTo>
                    <a:pt x="456" y="74"/>
                    <a:pt x="506" y="60"/>
                    <a:pt x="800" y="34"/>
                  </a:cubicBezTo>
                  <a:cubicBezTo>
                    <a:pt x="1094" y="8"/>
                    <a:pt x="1897" y="6"/>
                    <a:pt x="2116" y="0"/>
                  </a:cubicBezTo>
                </a:path>
              </a:pathLst>
            </a:custGeom>
            <a:noFill/>
            <a:ln w="28575">
              <a:solidFill>
                <a:schemeClr val="tx1"/>
              </a:solidFill>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123" name="Text Box 65">
              <a:extLst>
                <a:ext uri="{FF2B5EF4-FFF2-40B4-BE49-F238E27FC236}">
                  <a16:creationId xmlns:a16="http://schemas.microsoft.com/office/drawing/2014/main" id="{1D1A246F-D56D-A470-08FF-2D01FF33564D}"/>
                </a:ext>
              </a:extLst>
            </p:cNvPr>
            <p:cNvSpPr txBox="1">
              <a:spLocks noChangeArrowheads="1"/>
            </p:cNvSpPr>
            <p:nvPr/>
          </p:nvSpPr>
          <p:spPr bwMode="auto">
            <a:xfrm>
              <a:off x="4782" y="2149"/>
              <a:ext cx="202" cy="2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Aft>
                  <a:spcPct val="0"/>
                </a:spcAft>
                <a:buFontTx/>
                <a:buNone/>
              </a:pPr>
              <a:r>
                <a:rPr kumimoji="1" lang="en-US" altLang="zh-CN" sz="2400" i="1">
                  <a:latin typeface="Times New Roman" panose="02020603050405020304" pitchFamily="18" charset="0"/>
                  <a:ea typeface="长城楷体" pitchFamily="49" charset="-122"/>
                </a:rPr>
                <a:t>i</a:t>
              </a:r>
              <a:r>
                <a:rPr kumimoji="1" lang="en-US" altLang="zh-CN" sz="2400" baseline="-25000">
                  <a:latin typeface="Times New Roman" panose="02020603050405020304" pitchFamily="18" charset="0"/>
                  <a:ea typeface="长城楷体" pitchFamily="49" charset="-122"/>
                </a:rPr>
                <a:t>B3</a:t>
              </a:r>
              <a:endParaRPr kumimoji="1" lang="en-US" altLang="zh-CN" sz="2400">
                <a:latin typeface="Times New Roman" panose="02020603050405020304" pitchFamily="18" charset="0"/>
                <a:ea typeface="长城楷体" pitchFamily="49" charset="-122"/>
              </a:endParaRPr>
            </a:p>
          </p:txBody>
        </p:sp>
      </p:grpSp>
      <p:grpSp>
        <p:nvGrpSpPr>
          <p:cNvPr id="124" name="Group 81">
            <a:extLst>
              <a:ext uri="{FF2B5EF4-FFF2-40B4-BE49-F238E27FC236}">
                <a16:creationId xmlns:a16="http://schemas.microsoft.com/office/drawing/2014/main" id="{D1FE98D8-4803-5275-D4EE-BA5BE8D7304B}"/>
              </a:ext>
            </a:extLst>
          </p:cNvPr>
          <p:cNvGrpSpPr>
            <a:grpSpLocks/>
          </p:cNvGrpSpPr>
          <p:nvPr/>
        </p:nvGrpSpPr>
        <p:grpSpPr bwMode="auto">
          <a:xfrm>
            <a:off x="5248275" y="3735388"/>
            <a:ext cx="592138" cy="2128837"/>
            <a:chOff x="3278" y="1161"/>
            <a:chExt cx="556" cy="1483"/>
          </a:xfrm>
        </p:grpSpPr>
        <p:sp>
          <p:nvSpPr>
            <p:cNvPr id="125" name="Freeform 62">
              <a:extLst>
                <a:ext uri="{FF2B5EF4-FFF2-40B4-BE49-F238E27FC236}">
                  <a16:creationId xmlns:a16="http://schemas.microsoft.com/office/drawing/2014/main" id="{530B0E83-4A77-114C-872E-64FEF64E79BB}"/>
                </a:ext>
              </a:extLst>
            </p:cNvPr>
            <p:cNvSpPr>
              <a:spLocks/>
            </p:cNvSpPr>
            <p:nvPr/>
          </p:nvSpPr>
          <p:spPr bwMode="auto">
            <a:xfrm>
              <a:off x="3278" y="1161"/>
              <a:ext cx="556" cy="1483"/>
            </a:xfrm>
            <a:custGeom>
              <a:avLst/>
              <a:gdLst>
                <a:gd name="T0" fmla="*/ 0 w 588"/>
                <a:gd name="T1" fmla="*/ 1156 h 1517"/>
                <a:gd name="T2" fmla="*/ 73 w 588"/>
                <a:gd name="T3" fmla="*/ 1123 h 1517"/>
                <a:gd name="T4" fmla="*/ 148 w 588"/>
                <a:gd name="T5" fmla="*/ 1011 h 1517"/>
                <a:gd name="T6" fmla="*/ 212 w 588"/>
                <a:gd name="T7" fmla="*/ 712 h 1517"/>
                <a:gd name="T8" fmla="*/ 265 w 588"/>
                <a:gd name="T9" fmla="*/ 320 h 1517"/>
                <a:gd name="T10" fmla="*/ 301 w 588"/>
                <a:gd name="T11" fmla="*/ 0 h 1517"/>
                <a:gd name="T12" fmla="*/ 0 60000 65536"/>
                <a:gd name="T13" fmla="*/ 0 60000 65536"/>
                <a:gd name="T14" fmla="*/ 0 60000 65536"/>
                <a:gd name="T15" fmla="*/ 0 60000 65536"/>
                <a:gd name="T16" fmla="*/ 0 60000 65536"/>
                <a:gd name="T17" fmla="*/ 0 60000 65536"/>
                <a:gd name="T18" fmla="*/ 0 w 588"/>
                <a:gd name="T19" fmla="*/ 0 h 1517"/>
                <a:gd name="T20" fmla="*/ 588 w 588"/>
                <a:gd name="T21" fmla="*/ 1517 h 1517"/>
              </a:gdLst>
              <a:ahLst/>
              <a:cxnLst>
                <a:cxn ang="T12">
                  <a:pos x="T0" y="T1"/>
                </a:cxn>
                <a:cxn ang="T13">
                  <a:pos x="T2" y="T3"/>
                </a:cxn>
                <a:cxn ang="T14">
                  <a:pos x="T4" y="T5"/>
                </a:cxn>
                <a:cxn ang="T15">
                  <a:pos x="T6" y="T7"/>
                </a:cxn>
                <a:cxn ang="T16">
                  <a:pos x="T8" y="T9"/>
                </a:cxn>
                <a:cxn ang="T17">
                  <a:pos x="T10" y="T11"/>
                </a:cxn>
              </a:cxnLst>
              <a:rect l="T18" t="T19" r="T20" b="T21"/>
              <a:pathLst>
                <a:path w="588" h="1517">
                  <a:moveTo>
                    <a:pt x="0" y="1517"/>
                  </a:moveTo>
                  <a:cubicBezTo>
                    <a:pt x="24" y="1510"/>
                    <a:pt x="95" y="1507"/>
                    <a:pt x="143" y="1475"/>
                  </a:cubicBezTo>
                  <a:cubicBezTo>
                    <a:pt x="191" y="1443"/>
                    <a:pt x="246" y="1417"/>
                    <a:pt x="291" y="1327"/>
                  </a:cubicBezTo>
                  <a:cubicBezTo>
                    <a:pt x="336" y="1237"/>
                    <a:pt x="376" y="1085"/>
                    <a:pt x="414" y="934"/>
                  </a:cubicBezTo>
                  <a:cubicBezTo>
                    <a:pt x="452" y="783"/>
                    <a:pt x="489" y="575"/>
                    <a:pt x="518" y="419"/>
                  </a:cubicBezTo>
                  <a:cubicBezTo>
                    <a:pt x="547" y="263"/>
                    <a:pt x="574" y="87"/>
                    <a:pt x="588" y="0"/>
                  </a:cubicBezTo>
                </a:path>
              </a:pathLst>
            </a:custGeom>
            <a:noFill/>
            <a:ln w="28575">
              <a:solidFill>
                <a:srgbClr val="0000FF"/>
              </a:solidFill>
              <a:prstDash val="dash"/>
              <a:round/>
              <a:headEnd type="none" w="sm" len="sm"/>
              <a:tailEnd type="none" w="med" len="lg"/>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grpSp>
          <p:nvGrpSpPr>
            <p:cNvPr id="126" name="Group 66">
              <a:extLst>
                <a:ext uri="{FF2B5EF4-FFF2-40B4-BE49-F238E27FC236}">
                  <a16:creationId xmlns:a16="http://schemas.microsoft.com/office/drawing/2014/main" id="{8B08FDAF-FB87-5CAA-E263-E85B474A62CA}"/>
                </a:ext>
              </a:extLst>
            </p:cNvPr>
            <p:cNvGrpSpPr>
              <a:grpSpLocks/>
            </p:cNvGrpSpPr>
            <p:nvPr/>
          </p:nvGrpSpPr>
          <p:grpSpPr bwMode="auto">
            <a:xfrm>
              <a:off x="3290" y="1161"/>
              <a:ext cx="476" cy="1407"/>
              <a:chOff x="3334" y="1117"/>
              <a:chExt cx="465" cy="1429"/>
            </a:xfrm>
          </p:grpSpPr>
          <p:sp>
            <p:nvSpPr>
              <p:cNvPr id="127" name="Line 67">
                <a:extLst>
                  <a:ext uri="{FF2B5EF4-FFF2-40B4-BE49-F238E27FC236}">
                    <a16:creationId xmlns:a16="http://schemas.microsoft.com/office/drawing/2014/main" id="{0D0C99A3-A58E-E22B-C68F-A2EFD4C041B5}"/>
                  </a:ext>
                </a:extLst>
              </p:cNvPr>
              <p:cNvSpPr>
                <a:spLocks noChangeShapeType="1"/>
              </p:cNvSpPr>
              <p:nvPr/>
            </p:nvSpPr>
            <p:spPr bwMode="auto">
              <a:xfrm>
                <a:off x="3606" y="1117"/>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28" name="Line 68">
                <a:extLst>
                  <a:ext uri="{FF2B5EF4-FFF2-40B4-BE49-F238E27FC236}">
                    <a16:creationId xmlns:a16="http://schemas.microsoft.com/office/drawing/2014/main" id="{87B317F8-D2A6-7560-602F-0371D55D901C}"/>
                  </a:ext>
                </a:extLst>
              </p:cNvPr>
              <p:cNvSpPr>
                <a:spLocks noChangeShapeType="1"/>
              </p:cNvSpPr>
              <p:nvPr/>
            </p:nvSpPr>
            <p:spPr bwMode="auto">
              <a:xfrm>
                <a:off x="3470" y="1117"/>
                <a:ext cx="301" cy="30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29" name="Line 69">
                <a:extLst>
                  <a:ext uri="{FF2B5EF4-FFF2-40B4-BE49-F238E27FC236}">
                    <a16:creationId xmlns:a16="http://schemas.microsoft.com/office/drawing/2014/main" id="{55090927-20DE-314D-C6B8-87DA507BD4D6}"/>
                  </a:ext>
                </a:extLst>
              </p:cNvPr>
              <p:cNvSpPr>
                <a:spLocks noChangeShapeType="1"/>
              </p:cNvSpPr>
              <p:nvPr/>
            </p:nvSpPr>
            <p:spPr bwMode="auto">
              <a:xfrm>
                <a:off x="3334" y="1117"/>
                <a:ext cx="433" cy="433"/>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0" name="Line 70">
                <a:extLst>
                  <a:ext uri="{FF2B5EF4-FFF2-40B4-BE49-F238E27FC236}">
                    <a16:creationId xmlns:a16="http://schemas.microsoft.com/office/drawing/2014/main" id="{E6F31A5D-134A-A72F-0953-BF14567F297A}"/>
                  </a:ext>
                </a:extLst>
              </p:cNvPr>
              <p:cNvSpPr>
                <a:spLocks noChangeShapeType="1"/>
              </p:cNvSpPr>
              <p:nvPr/>
            </p:nvSpPr>
            <p:spPr bwMode="auto">
              <a:xfrm>
                <a:off x="3334" y="1253"/>
                <a:ext cx="424" cy="42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1" name="Line 71">
                <a:extLst>
                  <a:ext uri="{FF2B5EF4-FFF2-40B4-BE49-F238E27FC236}">
                    <a16:creationId xmlns:a16="http://schemas.microsoft.com/office/drawing/2014/main" id="{0140F7FD-637C-A5CA-A3F9-39462A1B1BDB}"/>
                  </a:ext>
                </a:extLst>
              </p:cNvPr>
              <p:cNvSpPr>
                <a:spLocks noChangeShapeType="1"/>
              </p:cNvSpPr>
              <p:nvPr/>
            </p:nvSpPr>
            <p:spPr bwMode="auto">
              <a:xfrm>
                <a:off x="3334" y="1389"/>
                <a:ext cx="408" cy="40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2" name="Line 72">
                <a:extLst>
                  <a:ext uri="{FF2B5EF4-FFF2-40B4-BE49-F238E27FC236}">
                    <a16:creationId xmlns:a16="http://schemas.microsoft.com/office/drawing/2014/main" id="{CFFF1567-71CB-D9AF-7724-9AC659717B70}"/>
                  </a:ext>
                </a:extLst>
              </p:cNvPr>
              <p:cNvSpPr>
                <a:spLocks noChangeShapeType="1"/>
              </p:cNvSpPr>
              <p:nvPr/>
            </p:nvSpPr>
            <p:spPr bwMode="auto">
              <a:xfrm>
                <a:off x="3334" y="1525"/>
                <a:ext cx="388" cy="38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3" name="Line 73">
                <a:extLst>
                  <a:ext uri="{FF2B5EF4-FFF2-40B4-BE49-F238E27FC236}">
                    <a16:creationId xmlns:a16="http://schemas.microsoft.com/office/drawing/2014/main" id="{88EB1434-8DF4-F5A0-644C-16C0E3EF8C6F}"/>
                  </a:ext>
                </a:extLst>
              </p:cNvPr>
              <p:cNvSpPr>
                <a:spLocks noChangeShapeType="1"/>
              </p:cNvSpPr>
              <p:nvPr/>
            </p:nvSpPr>
            <p:spPr bwMode="auto">
              <a:xfrm>
                <a:off x="3334" y="1661"/>
                <a:ext cx="364" cy="36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4" name="Line 74">
                <a:extLst>
                  <a:ext uri="{FF2B5EF4-FFF2-40B4-BE49-F238E27FC236}">
                    <a16:creationId xmlns:a16="http://schemas.microsoft.com/office/drawing/2014/main" id="{1E1DE0BC-BBB9-2141-29A1-3FE07FC8C02A}"/>
                  </a:ext>
                </a:extLst>
              </p:cNvPr>
              <p:cNvSpPr>
                <a:spLocks noChangeShapeType="1"/>
              </p:cNvSpPr>
              <p:nvPr/>
            </p:nvSpPr>
            <p:spPr bwMode="auto">
              <a:xfrm>
                <a:off x="3334" y="1797"/>
                <a:ext cx="348" cy="348"/>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5" name="Line 75">
                <a:extLst>
                  <a:ext uri="{FF2B5EF4-FFF2-40B4-BE49-F238E27FC236}">
                    <a16:creationId xmlns:a16="http://schemas.microsoft.com/office/drawing/2014/main" id="{49A97D70-633A-8F38-DBD8-0FBC506E0400}"/>
                  </a:ext>
                </a:extLst>
              </p:cNvPr>
              <p:cNvSpPr>
                <a:spLocks noChangeShapeType="1"/>
              </p:cNvSpPr>
              <p:nvPr/>
            </p:nvSpPr>
            <p:spPr bwMode="auto">
              <a:xfrm>
                <a:off x="3334" y="1933"/>
                <a:ext cx="316" cy="316"/>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6" name="Line 76">
                <a:extLst>
                  <a:ext uri="{FF2B5EF4-FFF2-40B4-BE49-F238E27FC236}">
                    <a16:creationId xmlns:a16="http://schemas.microsoft.com/office/drawing/2014/main" id="{5F7D6E6D-D9EE-6DA4-5B0D-E9DD98548010}"/>
                  </a:ext>
                </a:extLst>
              </p:cNvPr>
              <p:cNvSpPr>
                <a:spLocks noChangeShapeType="1"/>
              </p:cNvSpPr>
              <p:nvPr/>
            </p:nvSpPr>
            <p:spPr bwMode="auto">
              <a:xfrm>
                <a:off x="3334" y="2069"/>
                <a:ext cx="284" cy="284"/>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7" name="Line 77">
                <a:extLst>
                  <a:ext uri="{FF2B5EF4-FFF2-40B4-BE49-F238E27FC236}">
                    <a16:creationId xmlns:a16="http://schemas.microsoft.com/office/drawing/2014/main" id="{FD185F92-268E-008D-F7D6-F2A7452E746D}"/>
                  </a:ext>
                </a:extLst>
              </p:cNvPr>
              <p:cNvSpPr>
                <a:spLocks noChangeShapeType="1"/>
              </p:cNvSpPr>
              <p:nvPr/>
            </p:nvSpPr>
            <p:spPr bwMode="auto">
              <a:xfrm>
                <a:off x="3334" y="2205"/>
                <a:ext cx="242" cy="242"/>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8" name="Line 78">
                <a:extLst>
                  <a:ext uri="{FF2B5EF4-FFF2-40B4-BE49-F238E27FC236}">
                    <a16:creationId xmlns:a16="http://schemas.microsoft.com/office/drawing/2014/main" id="{FA5B3EB0-B713-AD0D-1B9C-B40432F76C9E}"/>
                  </a:ext>
                </a:extLst>
              </p:cNvPr>
              <p:cNvSpPr>
                <a:spLocks noChangeShapeType="1"/>
              </p:cNvSpPr>
              <p:nvPr/>
            </p:nvSpPr>
            <p:spPr bwMode="auto">
              <a:xfrm>
                <a:off x="3334" y="2341"/>
                <a:ext cx="181" cy="181"/>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9" name="Line 79">
                <a:extLst>
                  <a:ext uri="{FF2B5EF4-FFF2-40B4-BE49-F238E27FC236}">
                    <a16:creationId xmlns:a16="http://schemas.microsoft.com/office/drawing/2014/main" id="{EFD4E4EB-DCF5-43B3-58C1-0DE3A3CCCC94}"/>
                  </a:ext>
                </a:extLst>
              </p:cNvPr>
              <p:cNvSpPr>
                <a:spLocks noChangeShapeType="1"/>
              </p:cNvSpPr>
              <p:nvPr/>
            </p:nvSpPr>
            <p:spPr bwMode="auto">
              <a:xfrm>
                <a:off x="3722" y="1117"/>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0" name="Line 80">
                <a:extLst>
                  <a:ext uri="{FF2B5EF4-FFF2-40B4-BE49-F238E27FC236}">
                    <a16:creationId xmlns:a16="http://schemas.microsoft.com/office/drawing/2014/main" id="{FEC55562-643E-8951-1229-AFD251BD97C1}"/>
                  </a:ext>
                </a:extLst>
              </p:cNvPr>
              <p:cNvSpPr>
                <a:spLocks noChangeShapeType="1"/>
              </p:cNvSpPr>
              <p:nvPr/>
            </p:nvSpPr>
            <p:spPr bwMode="auto">
              <a:xfrm>
                <a:off x="3338" y="2469"/>
                <a:ext cx="77" cy="77"/>
              </a:xfrm>
              <a:prstGeom prst="line">
                <a:avLst/>
              </a:prstGeom>
              <a:noFill/>
              <a:ln w="19050">
                <a:solidFill>
                  <a:srgbClr val="0000FF"/>
                </a:solidFill>
                <a:prstDash val="dash"/>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pSp>
      <p:cxnSp>
        <p:nvCxnSpPr>
          <p:cNvPr id="141" name="直接连接符 7">
            <a:extLst>
              <a:ext uri="{FF2B5EF4-FFF2-40B4-BE49-F238E27FC236}">
                <a16:creationId xmlns:a16="http://schemas.microsoft.com/office/drawing/2014/main" id="{8EEE2C1D-3A23-6BE9-8367-2D5AFCF1AE38}"/>
              </a:ext>
            </a:extLst>
          </p:cNvPr>
          <p:cNvCxnSpPr/>
          <p:nvPr/>
        </p:nvCxnSpPr>
        <p:spPr>
          <a:xfrm>
            <a:off x="6192180" y="3972716"/>
            <a:ext cx="1909000" cy="32348"/>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142" name="直接连接符 222">
            <a:extLst>
              <a:ext uri="{FF2B5EF4-FFF2-40B4-BE49-F238E27FC236}">
                <a16:creationId xmlns:a16="http://schemas.microsoft.com/office/drawing/2014/main" id="{56564E82-4D8C-F12E-E563-41E0CFCEED93}"/>
              </a:ext>
            </a:extLst>
          </p:cNvPr>
          <p:cNvCxnSpPr/>
          <p:nvPr/>
        </p:nvCxnSpPr>
        <p:spPr>
          <a:xfrm>
            <a:off x="6228184" y="4658983"/>
            <a:ext cx="1909000" cy="32348"/>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143" name="直接连接符 223">
            <a:extLst>
              <a:ext uri="{FF2B5EF4-FFF2-40B4-BE49-F238E27FC236}">
                <a16:creationId xmlns:a16="http://schemas.microsoft.com/office/drawing/2014/main" id="{C1F5906C-F2D1-18AB-679E-69594E81FB05}"/>
              </a:ext>
            </a:extLst>
          </p:cNvPr>
          <p:cNvCxnSpPr/>
          <p:nvPr/>
        </p:nvCxnSpPr>
        <p:spPr>
          <a:xfrm>
            <a:off x="6184552" y="5219700"/>
            <a:ext cx="1909000" cy="32348"/>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144" name="直接箭头连接符 224">
            <a:extLst>
              <a:ext uri="{FF2B5EF4-FFF2-40B4-BE49-F238E27FC236}">
                <a16:creationId xmlns:a16="http://schemas.microsoft.com/office/drawing/2014/main" id="{F72D4034-2845-89C6-5017-4E08080198F8}"/>
              </a:ext>
            </a:extLst>
          </p:cNvPr>
          <p:cNvCxnSpPr/>
          <p:nvPr/>
        </p:nvCxnSpPr>
        <p:spPr>
          <a:xfrm flipH="1">
            <a:off x="781020" y="3075930"/>
            <a:ext cx="7979" cy="231213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4882855A-33BE-681D-1278-1F74B35CDC86}"/>
              </a:ext>
            </a:extLst>
          </p:cNvPr>
          <p:cNvSpPr txBox="1"/>
          <p:nvPr/>
        </p:nvSpPr>
        <p:spPr>
          <a:xfrm>
            <a:off x="7754044" y="0"/>
            <a:ext cx="1389956" cy="369332"/>
          </a:xfrm>
          <a:prstGeom prst="rect">
            <a:avLst/>
          </a:prstGeom>
          <a:noFill/>
        </p:spPr>
        <p:txBody>
          <a:bodyPr wrap="square" rtlCol="0">
            <a:spAutoFit/>
          </a:bodyPr>
          <a:lstStyle/>
          <a:p>
            <a:r>
              <a:rPr lang="en-US" altLang="zh-CN" dirty="0"/>
              <a:t>NPN</a:t>
            </a:r>
            <a:r>
              <a:rPr lang="zh-CN" altLang="en-US" dirty="0"/>
              <a:t>三极管</a:t>
            </a:r>
          </a:p>
        </p:txBody>
      </p:sp>
      <p:cxnSp>
        <p:nvCxnSpPr>
          <p:cNvPr id="146" name="Straight Arrow Connector 162">
            <a:extLst>
              <a:ext uri="{FF2B5EF4-FFF2-40B4-BE49-F238E27FC236}">
                <a16:creationId xmlns:a16="http://schemas.microsoft.com/office/drawing/2014/main" id="{0E37C353-5D2F-B2F6-19C1-8FC46C1C7556}"/>
              </a:ext>
            </a:extLst>
          </p:cNvPr>
          <p:cNvCxnSpPr>
            <a:cxnSpLocks/>
          </p:cNvCxnSpPr>
          <p:nvPr/>
        </p:nvCxnSpPr>
        <p:spPr>
          <a:xfrm>
            <a:off x="5653930" y="2332073"/>
            <a:ext cx="1848595" cy="1634293"/>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47" name="Straight Arrow Connector 163">
            <a:extLst>
              <a:ext uri="{FF2B5EF4-FFF2-40B4-BE49-F238E27FC236}">
                <a16:creationId xmlns:a16="http://schemas.microsoft.com/office/drawing/2014/main" id="{55C5ED97-BB69-834F-1F40-7E3C9BC92ADB}"/>
              </a:ext>
            </a:extLst>
          </p:cNvPr>
          <p:cNvCxnSpPr>
            <a:cxnSpLocks/>
          </p:cNvCxnSpPr>
          <p:nvPr/>
        </p:nvCxnSpPr>
        <p:spPr>
          <a:xfrm>
            <a:off x="5656489" y="2336813"/>
            <a:ext cx="1789410" cy="232217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70735784"/>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19234</TotalTime>
  <Words>7095</Words>
  <Application>Microsoft Macintosh PowerPoint</Application>
  <PresentationFormat>A4 纸张(210x297 毫米)</PresentationFormat>
  <Paragraphs>1173</Paragraphs>
  <Slides>33</Slides>
  <Notes>14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33</vt:i4>
      </vt:variant>
    </vt:vector>
  </HeadingPairs>
  <TitlesOfParts>
    <vt:vector size="47" baseType="lpstr">
      <vt:lpstr>等线</vt:lpstr>
      <vt:lpstr>黑体</vt:lpstr>
      <vt:lpstr>楷体_GB2312</vt:lpstr>
      <vt:lpstr>宋体</vt:lpstr>
      <vt:lpstr>Microsoft YaHei</vt:lpstr>
      <vt:lpstr>Microsoft YaHei</vt:lpstr>
      <vt:lpstr>幼圆</vt:lpstr>
      <vt:lpstr>Arial</vt:lpstr>
      <vt:lpstr>Arial Black</vt:lpstr>
      <vt:lpstr>Cambria Math</vt:lpstr>
      <vt:lpstr>Times New Roman</vt:lpstr>
      <vt:lpstr>Office-Design</vt:lpstr>
      <vt:lpstr>公式</vt:lpstr>
      <vt:lpstr>Equation</vt:lpstr>
      <vt:lpstr>  模拟与数字电路 Analog and Digital Circuits</vt:lpstr>
      <vt:lpstr>内容提纲</vt:lpstr>
      <vt:lpstr>三极管分类</vt:lpstr>
      <vt:lpstr>双极结型三极管</vt:lpstr>
      <vt:lpstr>BJT放大原理</vt:lpstr>
      <vt:lpstr>BJT电流分配关系（NPN）</vt:lpstr>
      <vt:lpstr>BJT电流分配关系 (续)</vt:lpstr>
      <vt:lpstr>第一次理解起来有点难</vt:lpstr>
      <vt:lpstr>为了帮助理解</vt:lpstr>
      <vt:lpstr>极简版想象：电流变水流</vt:lpstr>
      <vt:lpstr>极简版想象：电流变水流</vt:lpstr>
      <vt:lpstr>BJT输入特性</vt:lpstr>
      <vt:lpstr>BJT输出特性</vt:lpstr>
      <vt:lpstr>工作区域</vt:lpstr>
      <vt:lpstr>BJT连接方式</vt:lpstr>
      <vt:lpstr>示例：判断BJT工作区域</vt:lpstr>
      <vt:lpstr>BJT主要性能参数</vt:lpstr>
      <vt:lpstr>BJT主要性能参数(续)</vt:lpstr>
      <vt:lpstr>PowerPoint 演示文稿</vt:lpstr>
      <vt:lpstr>作业</vt:lpstr>
      <vt:lpstr>补充：更详细/准确的漫画版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2545</cp:revision>
  <cp:lastPrinted>2020-05-26T13:24:01Z</cp:lastPrinted>
  <dcterms:created xsi:type="dcterms:W3CDTF">2020-04-07T12:23:01Z</dcterms:created>
  <dcterms:modified xsi:type="dcterms:W3CDTF">2024-11-21T00:38:15Z</dcterms:modified>
</cp:coreProperties>
</file>