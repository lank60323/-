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444" r:id="rId3"/>
    <p:sldId id="512" r:id="rId4"/>
    <p:sldId id="513" r:id="rId5"/>
    <p:sldId id="514" r:id="rId6"/>
    <p:sldId id="515" r:id="rId7"/>
    <p:sldId id="516" r:id="rId8"/>
    <p:sldId id="517" r:id="rId9"/>
    <p:sldId id="518" r:id="rId10"/>
    <p:sldId id="519" r:id="rId11"/>
    <p:sldId id="520" r:id="rId12"/>
    <p:sldId id="521" r:id="rId13"/>
    <p:sldId id="522" r:id="rId14"/>
    <p:sldId id="523" r:id="rId15"/>
    <p:sldId id="524" r:id="rId16"/>
    <p:sldId id="525" r:id="rId17"/>
    <p:sldId id="526" r:id="rId18"/>
    <p:sldId id="527" r:id="rId19"/>
    <p:sldId id="528" r:id="rId20"/>
    <p:sldId id="543" r:id="rId21"/>
    <p:sldId id="529" r:id="rId22"/>
    <p:sldId id="530" r:id="rId23"/>
    <p:sldId id="531" r:id="rId24"/>
    <p:sldId id="532" r:id="rId25"/>
    <p:sldId id="533" r:id="rId26"/>
    <p:sldId id="534" r:id="rId27"/>
    <p:sldId id="535" r:id="rId28"/>
    <p:sldId id="536" r:id="rId29"/>
    <p:sldId id="537" r:id="rId30"/>
    <p:sldId id="538" r:id="rId31"/>
    <p:sldId id="539" r:id="rId32"/>
    <p:sldId id="540" r:id="rId33"/>
    <p:sldId id="541" r:id="rId34"/>
    <p:sldId id="542" r:id="rId35"/>
    <p:sldId id="511" r:id="rId36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35"/>
    <p:restoredTop sz="77611"/>
  </p:normalViewPr>
  <p:slideViewPr>
    <p:cSldViewPr snapToGrid="0" snapToObjects="1">
      <p:cViewPr varScale="1">
        <p:scale>
          <a:sx n="78" d="100"/>
          <a:sy n="78" d="100"/>
        </p:scale>
        <p:origin x="1112" y="184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0066"/>
                </a:solidFill>
              </a:rPr>
              <a:t>教学基本要求：</a:t>
            </a:r>
          </a:p>
          <a:p>
            <a:r>
              <a:rPr kumimoji="1" lang="en-US" altLang="zh-CN" dirty="0">
                <a:solidFill>
                  <a:srgbClr val="000066"/>
                </a:solidFill>
              </a:rPr>
              <a:t>1</a:t>
            </a:r>
            <a:r>
              <a:rPr kumimoji="1" lang="zh-CN" altLang="en-US" dirty="0">
                <a:solidFill>
                  <a:srgbClr val="000066"/>
                </a:solidFill>
              </a:rPr>
              <a:t>、了解半导体器件的开关特性。</a:t>
            </a:r>
          </a:p>
          <a:p>
            <a:r>
              <a:rPr kumimoji="1" lang="en-US" altLang="zh-CN" dirty="0">
                <a:solidFill>
                  <a:srgbClr val="000066"/>
                </a:solidFill>
              </a:rPr>
              <a:t>2</a:t>
            </a:r>
            <a:r>
              <a:rPr kumimoji="1" lang="zh-CN" altLang="en-US" dirty="0">
                <a:solidFill>
                  <a:srgbClr val="000066"/>
                </a:solidFill>
              </a:rPr>
              <a:t>、</a:t>
            </a:r>
            <a:r>
              <a:rPr kumimoji="1" lang="zh-CN" altLang="en-US" dirty="0">
                <a:solidFill>
                  <a:srgbClr val="CC0000"/>
                </a:solidFill>
              </a:rPr>
              <a:t>熟练掌握</a:t>
            </a:r>
            <a:r>
              <a:rPr kumimoji="1" lang="zh-CN" altLang="en-US" dirty="0">
                <a:solidFill>
                  <a:srgbClr val="000066"/>
                </a:solidFill>
              </a:rPr>
              <a:t>基本逻辑门（与、或、与非、或非、异或门）、三态门、</a:t>
            </a:r>
            <a:r>
              <a:rPr kumimoji="1" lang="en-US" altLang="zh-CN" dirty="0">
                <a:solidFill>
                  <a:srgbClr val="000066"/>
                </a:solidFill>
              </a:rPr>
              <a:t>OD</a:t>
            </a:r>
            <a:r>
              <a:rPr kumimoji="1" lang="zh-CN" altLang="en-US" dirty="0">
                <a:solidFill>
                  <a:srgbClr val="000066"/>
                </a:solidFill>
              </a:rPr>
              <a:t>门（</a:t>
            </a:r>
            <a:r>
              <a:rPr kumimoji="1" lang="en-US" altLang="zh-CN" dirty="0">
                <a:solidFill>
                  <a:srgbClr val="000066"/>
                </a:solidFill>
              </a:rPr>
              <a:t>OC</a:t>
            </a:r>
            <a:r>
              <a:rPr kumimoji="1" lang="zh-CN" altLang="en-US" dirty="0">
                <a:solidFill>
                  <a:srgbClr val="000066"/>
                </a:solidFill>
              </a:rPr>
              <a:t>门）和传输门的逻辑功能。</a:t>
            </a:r>
          </a:p>
          <a:p>
            <a:r>
              <a:rPr kumimoji="1" lang="en-US" altLang="zh-CN" dirty="0">
                <a:solidFill>
                  <a:srgbClr val="000066"/>
                </a:solidFill>
              </a:rPr>
              <a:t>3</a:t>
            </a:r>
            <a:r>
              <a:rPr kumimoji="1" lang="zh-CN" altLang="en-US" dirty="0">
                <a:solidFill>
                  <a:srgbClr val="000066"/>
                </a:solidFill>
              </a:rPr>
              <a:t>、学会门电路逻辑功能分析方法。</a:t>
            </a:r>
          </a:p>
          <a:p>
            <a:r>
              <a:rPr kumimoji="1" lang="en-US" altLang="zh-CN" dirty="0">
                <a:solidFill>
                  <a:srgbClr val="000066"/>
                </a:solidFill>
              </a:rPr>
              <a:t>4</a:t>
            </a:r>
            <a:r>
              <a:rPr kumimoji="1" lang="zh-CN" altLang="en-US" dirty="0">
                <a:solidFill>
                  <a:srgbClr val="000066"/>
                </a:solidFill>
              </a:rPr>
              <a:t>、</a:t>
            </a:r>
            <a:r>
              <a:rPr kumimoji="1" lang="zh-CN" altLang="en-US" dirty="0">
                <a:solidFill>
                  <a:srgbClr val="CC0000"/>
                </a:solidFill>
              </a:rPr>
              <a:t>掌握</a:t>
            </a:r>
            <a:r>
              <a:rPr kumimoji="1" lang="zh-CN" altLang="en-US" dirty="0">
                <a:solidFill>
                  <a:srgbClr val="000066"/>
                </a:solidFill>
              </a:rPr>
              <a:t>逻辑门的主要参数及在应用中的接口问题。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997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门电路：实现基本运算、复合运算的单元电路，如</a:t>
            </a:r>
            <a:r>
              <a:rPr lang="zh-CN" altLang="en-US" dirty="0">
                <a:ea typeface="黑体" panose="02010609060101010101" pitchFamily="49" charset="-122"/>
              </a:rPr>
              <a:t>与</a:t>
            </a:r>
            <a:r>
              <a:rPr lang="zh-CN" altLang="en-US" dirty="0"/>
              <a:t>门、</a:t>
            </a:r>
            <a:r>
              <a:rPr lang="zh-CN" altLang="en-US" dirty="0">
                <a:ea typeface="黑体" panose="02010609060101010101" pitchFamily="49" charset="-122"/>
              </a:rPr>
              <a:t>与非</a:t>
            </a:r>
            <a:r>
              <a:rPr lang="zh-CN" altLang="en-US" dirty="0"/>
              <a:t>门、</a:t>
            </a:r>
            <a:r>
              <a:rPr lang="zh-CN" altLang="en-US" dirty="0">
                <a:ea typeface="黑体" panose="02010609060101010101" pitchFamily="49" charset="-122"/>
              </a:rPr>
              <a:t>或</a:t>
            </a:r>
            <a:r>
              <a:rPr lang="zh-CN" altLang="en-US" dirty="0"/>
              <a:t>门  </a:t>
            </a:r>
            <a:endParaRPr lang="en-US" altLang="zh-CN" dirty="0"/>
          </a:p>
          <a:p>
            <a:pPr eaLnBrk="1" hangingPunct="1"/>
            <a:endParaRPr lang="en-US" altLang="zh-CN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cs typeface="Times New Roman" panose="02020603050405020304" pitchFamily="18" charset="0"/>
              </a:rPr>
              <a:t>······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根据制造工艺的不同，集成电路又分双极型和单极型（</a:t>
            </a:r>
            <a:r>
              <a:rPr kumimoji="1" lang="en-US" altLang="zh-CN" dirty="0">
                <a:solidFill>
                  <a:srgbClr val="000000"/>
                </a:solidFill>
              </a:rPr>
              <a:t>MOS</a:t>
            </a:r>
            <a:r>
              <a:rPr kumimoji="1" lang="zh-CN" altLang="en-US" dirty="0">
                <a:solidFill>
                  <a:srgbClr val="000000"/>
                </a:solidFill>
              </a:rPr>
              <a:t>）两大类。 </a:t>
            </a:r>
          </a:p>
          <a:p>
            <a:pPr eaLnBrk="1" hangingPunct="1"/>
            <a:r>
              <a:rPr kumimoji="1" lang="en-US" altLang="zh-CN" dirty="0">
                <a:solidFill>
                  <a:srgbClr val="000000"/>
                </a:solidFill>
              </a:rPr>
              <a:t>TTL</a:t>
            </a:r>
            <a:r>
              <a:rPr kumimoji="1" lang="zh-CN" altLang="en-US" dirty="0">
                <a:solidFill>
                  <a:srgbClr val="000000"/>
                </a:solidFill>
              </a:rPr>
              <a:t>电路是目前双极型中小规模数字集成电路中用得最多的一种。</a:t>
            </a:r>
            <a:endParaRPr lang="zh-CN" altLang="en-US" dirty="0"/>
          </a:p>
          <a:p>
            <a:pPr eaLnBrk="1" hangingPunct="1"/>
            <a:r>
              <a:rPr lang="en-US" altLang="zh-CN" dirty="0"/>
              <a:t>54/74</a:t>
            </a:r>
            <a:r>
              <a:rPr lang="zh-CN" altLang="en-US" dirty="0"/>
              <a:t>系列是已经标准化、商品化的系列产品，</a:t>
            </a:r>
            <a:r>
              <a:rPr lang="en-US" altLang="zh-CN" dirty="0"/>
              <a:t>54</a:t>
            </a:r>
            <a:r>
              <a:rPr lang="zh-CN" altLang="en-US" dirty="0"/>
              <a:t>为军品（</a:t>
            </a:r>
            <a:r>
              <a:rPr lang="en-US" altLang="zh-CN" dirty="0"/>
              <a:t>-55℃~125℃</a:t>
            </a:r>
            <a:r>
              <a:rPr lang="zh-CN" altLang="en-US" dirty="0"/>
              <a:t>），</a:t>
            </a:r>
            <a:r>
              <a:rPr lang="en-US" altLang="zh-CN" dirty="0"/>
              <a:t>74</a:t>
            </a:r>
            <a:r>
              <a:rPr lang="zh-CN" altLang="en-US" dirty="0"/>
              <a:t>为民品（</a:t>
            </a:r>
            <a:r>
              <a:rPr lang="en-US" altLang="zh-CN" dirty="0"/>
              <a:t>0~70℃</a:t>
            </a:r>
            <a:r>
              <a:rPr lang="zh-CN" altLang="en-US" dirty="0"/>
              <a:t>）。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低功耗肖特基系列：</a:t>
            </a:r>
          </a:p>
          <a:p>
            <a:pPr eaLnBrk="1" hangingPunct="1"/>
            <a:r>
              <a:rPr lang="en-US" altLang="zh-CN" dirty="0"/>
              <a:t>74LS/54LS </a:t>
            </a:r>
            <a:r>
              <a:rPr lang="zh-CN" altLang="en-US" dirty="0"/>
              <a:t>（</a:t>
            </a:r>
            <a:r>
              <a:rPr lang="en-US" altLang="zh-CN" dirty="0"/>
              <a:t>Low-Power Schottky TTL</a:t>
            </a:r>
            <a:r>
              <a:rPr lang="zh-CN" altLang="en-US" dirty="0"/>
              <a:t>）</a:t>
            </a:r>
          </a:p>
          <a:p>
            <a:pPr eaLnBrk="1" hangingPunct="1"/>
            <a:r>
              <a:rPr lang="en-US" altLang="zh-CN" dirty="0"/>
              <a:t>74AS,74ALS </a:t>
            </a:r>
            <a:r>
              <a:rPr lang="zh-CN" altLang="en-US" dirty="0"/>
              <a:t>（</a:t>
            </a:r>
            <a:r>
              <a:rPr lang="en-US" altLang="zh-CN" dirty="0"/>
              <a:t>Advanced Low-Power Schottky TTL</a:t>
            </a:r>
            <a:r>
              <a:rPr lang="zh-CN" altLang="en-US" dirty="0"/>
              <a:t>）</a:t>
            </a:r>
          </a:p>
          <a:p>
            <a:pPr eaLnBrk="1" hangingPunct="1"/>
            <a:r>
              <a:rPr lang="en-US" altLang="zh-CN" dirty="0">
                <a:cs typeface="Times New Roman" panose="02020603050405020304" pitchFamily="18" charset="0"/>
              </a:rPr>
              <a:t>· · ·</a:t>
            </a:r>
            <a:endParaRPr lang="zh-CN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其他类型的双极型数字集成电路*</a:t>
            </a:r>
          </a:p>
          <a:p>
            <a:pPr eaLnBrk="1" hangingPunct="1"/>
            <a:r>
              <a:rPr lang="en-US" altLang="zh-CN" dirty="0"/>
              <a:t>DTL</a:t>
            </a:r>
            <a:r>
              <a:rPr lang="zh-CN" altLang="en-US" dirty="0"/>
              <a:t>：输入为二极管门电路，速度低，已经不用</a:t>
            </a:r>
          </a:p>
          <a:p>
            <a:pPr eaLnBrk="1" hangingPunct="1"/>
            <a:r>
              <a:rPr lang="en-US" altLang="zh-CN" dirty="0"/>
              <a:t>HTL</a:t>
            </a:r>
            <a:r>
              <a:rPr lang="zh-CN" altLang="en-US" dirty="0"/>
              <a:t>：电源电压高，</a:t>
            </a:r>
            <a:r>
              <a:rPr lang="en-US" altLang="zh-CN" dirty="0"/>
              <a:t>Vth</a:t>
            </a:r>
            <a:r>
              <a:rPr lang="zh-CN" altLang="en-US" dirty="0"/>
              <a:t>高，抗干扰性好，已被</a:t>
            </a:r>
            <a:r>
              <a:rPr lang="en-US" altLang="zh-CN" dirty="0"/>
              <a:t>CMOS</a:t>
            </a:r>
            <a:r>
              <a:rPr lang="zh-CN" altLang="en-US" dirty="0"/>
              <a:t>替代</a:t>
            </a:r>
          </a:p>
          <a:p>
            <a:pPr eaLnBrk="1" hangingPunct="1"/>
            <a:r>
              <a:rPr lang="en-US" altLang="zh-CN" dirty="0"/>
              <a:t>ECL</a:t>
            </a:r>
            <a:r>
              <a:rPr lang="zh-CN" altLang="en-US" dirty="0"/>
              <a:t>：非饱和逻辑，速度快，用于高速系统</a:t>
            </a:r>
          </a:p>
          <a:p>
            <a:pPr eaLnBrk="1" hangingPunct="1"/>
            <a:r>
              <a:rPr lang="en-US" altLang="zh-CN" dirty="0"/>
              <a:t>I</a:t>
            </a:r>
            <a:r>
              <a:rPr lang="en-US" altLang="zh-CN" baseline="30000" dirty="0"/>
              <a:t>2</a:t>
            </a:r>
            <a:r>
              <a:rPr lang="en-US" altLang="zh-CN" dirty="0"/>
              <a:t>L</a:t>
            </a:r>
            <a:r>
              <a:rPr lang="zh-CN" altLang="en-US" dirty="0"/>
              <a:t>：属饱和逻辑，电路简单，用于</a:t>
            </a:r>
            <a:r>
              <a:rPr lang="en-US" altLang="zh-CN" dirty="0"/>
              <a:t>LSI</a:t>
            </a:r>
            <a:r>
              <a:rPr lang="zh-CN" altLang="en-US" dirty="0"/>
              <a:t>内部电路</a:t>
            </a:r>
          </a:p>
          <a:p>
            <a:pPr eaLnBrk="1" hangingPunct="1"/>
            <a:r>
              <a:rPr lang="en-US" altLang="zh-CN" dirty="0">
                <a:cs typeface="Times New Roman" panose="02020603050405020304" pitchFamily="18" charset="0"/>
              </a:rPr>
              <a:t>· · ·</a:t>
            </a:r>
          </a:p>
          <a:p>
            <a:pPr eaLnBrk="1" hangingPunct="1"/>
            <a:endParaRPr lang="zh-CN" altLang="en-US" dirty="0"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394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默认功耗低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623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kumimoji="1" lang="en-US" altLang="zh-CN" i="1" dirty="0"/>
              <a:t>v</a:t>
            </a:r>
            <a:r>
              <a:rPr kumimoji="1" lang="en-US" altLang="zh-CN" dirty="0"/>
              <a:t>i</a:t>
            </a:r>
            <a:r>
              <a:rPr kumimoji="1" lang="zh-CN" altLang="en-US" dirty="0"/>
              <a:t>是高电平还是低电平 ，</a:t>
            </a:r>
            <a:r>
              <a:rPr kumimoji="1" lang="en-US" altLang="zh-CN" dirty="0"/>
              <a:t>TN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TP</a:t>
            </a:r>
            <a:r>
              <a:rPr kumimoji="1" lang="zh-CN" altLang="en-US" dirty="0"/>
              <a:t>中总是一个导通而另一个截止。</a:t>
            </a:r>
            <a:r>
              <a:rPr kumimoji="1" lang="en-US" altLang="zh-CN" dirty="0"/>
              <a:t>CMOS</a:t>
            </a:r>
            <a:r>
              <a:rPr kumimoji="1" lang="zh-CN" altLang="en-US" dirty="0"/>
              <a:t>反相器的静态功耗几乎为零。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119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466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66"/>
                </a:solidFill>
              </a:rPr>
              <a:t>输入、输出端加了反相器作为缓冲电路</a:t>
            </a:r>
          </a:p>
          <a:p>
            <a:pPr eaLnBrk="1" hangingPunct="1"/>
            <a:r>
              <a:rPr kumimoji="1" lang="zh-CN" altLang="en-US" dirty="0">
                <a:solidFill>
                  <a:srgbClr val="000066"/>
                </a:solidFill>
              </a:rPr>
              <a:t>采用缓冲电路能统一参数，使不同内部逻辑的集成逻辑门电路具有相同的输入和输出特性。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151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000066"/>
                </a:solidFill>
              </a:rPr>
              <a:t>输出短接，在一定情况下会产生低阻通路，大电流有可能导致器件的损毁，并且无法确定输出是高电平还是低电平。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62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当</a:t>
            </a:r>
            <a:r>
              <a:rPr lang="en-US" altLang="zh-CN" dirty="0"/>
              <a:t>C = VDD</a:t>
            </a:r>
            <a:r>
              <a:rPr lang="zh-CN" altLang="en-US" dirty="0"/>
              <a:t>， </a:t>
            </a:r>
            <a:r>
              <a:rPr lang="en-US" altLang="zh-CN" dirty="0"/>
              <a:t>C’= 0V</a:t>
            </a:r>
            <a:r>
              <a:rPr lang="zh-CN" altLang="en-US" dirty="0"/>
              <a:t>时，</a:t>
            </a:r>
            <a:r>
              <a:rPr lang="en-US" altLang="zh-CN" dirty="0"/>
              <a:t>Vi</a:t>
            </a:r>
            <a:r>
              <a:rPr lang="zh-CN" altLang="en-US" dirty="0"/>
              <a:t>在</a:t>
            </a:r>
            <a:r>
              <a:rPr lang="en-US" altLang="zh-CN" dirty="0"/>
              <a:t>0</a:t>
            </a:r>
            <a:r>
              <a:rPr lang="zh-CN" altLang="en-US" dirty="0"/>
              <a:t>～（</a:t>
            </a:r>
            <a:r>
              <a:rPr lang="en-US" altLang="zh-CN" dirty="0"/>
              <a:t>VDD-VT</a:t>
            </a:r>
            <a:r>
              <a:rPr lang="zh-CN" altLang="en-US" dirty="0"/>
              <a:t>）范围变化时</a:t>
            </a:r>
            <a:r>
              <a:rPr lang="en-US" altLang="zh-CN" dirty="0"/>
              <a:t>T1</a:t>
            </a:r>
            <a:r>
              <a:rPr lang="zh-CN" altLang="en-US" dirty="0"/>
              <a:t>导通，</a:t>
            </a:r>
            <a:r>
              <a:rPr lang="en-US" altLang="zh-CN" dirty="0"/>
              <a:t>Vi</a:t>
            </a:r>
            <a:r>
              <a:rPr lang="zh-CN" altLang="en-US" dirty="0"/>
              <a:t>在</a:t>
            </a:r>
            <a:r>
              <a:rPr lang="en-US" altLang="zh-CN" dirty="0"/>
              <a:t>VT</a:t>
            </a:r>
            <a:r>
              <a:rPr lang="zh-CN" altLang="en-US" dirty="0"/>
              <a:t>～</a:t>
            </a:r>
            <a:r>
              <a:rPr lang="en-US" altLang="zh-CN" dirty="0"/>
              <a:t>VDD</a:t>
            </a:r>
            <a:r>
              <a:rPr lang="zh-CN" altLang="en-US" dirty="0"/>
              <a:t>范围变化时</a:t>
            </a:r>
            <a:r>
              <a:rPr lang="en-US" altLang="zh-CN" dirty="0"/>
              <a:t>T2</a:t>
            </a:r>
            <a:r>
              <a:rPr lang="zh-CN" altLang="en-US" dirty="0"/>
              <a:t>导通，即</a:t>
            </a:r>
            <a:r>
              <a:rPr lang="en-US" altLang="zh-CN" dirty="0"/>
              <a:t>Vi</a:t>
            </a:r>
            <a:r>
              <a:rPr lang="zh-CN" altLang="en-US" dirty="0"/>
              <a:t>在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VDD</a:t>
            </a:r>
            <a:r>
              <a:rPr lang="zh-CN" altLang="en-US" dirty="0"/>
              <a:t>范围变化时，</a:t>
            </a:r>
            <a:r>
              <a:rPr lang="en-US" altLang="zh-CN" dirty="0"/>
              <a:t>T1</a:t>
            </a:r>
            <a:r>
              <a:rPr lang="zh-CN" altLang="en-US" dirty="0"/>
              <a:t>、</a:t>
            </a:r>
            <a:r>
              <a:rPr lang="en-US" altLang="zh-CN" dirty="0"/>
              <a:t>T2</a:t>
            </a:r>
            <a:r>
              <a:rPr lang="zh-CN" altLang="en-US" dirty="0"/>
              <a:t>中至少有一只管子导通，使</a:t>
            </a:r>
            <a:r>
              <a:rPr lang="en-US" altLang="zh-CN" dirty="0"/>
              <a:t>Vo=Vi</a:t>
            </a:r>
            <a:r>
              <a:rPr lang="zh-CN" altLang="en-US" dirty="0"/>
              <a:t>，这相当于开关接通，这种状态称为传输门传输信息。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VT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是开启电压，当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vi&gt;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Vdd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-VT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，管子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T1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从可变电阻区进入饱和区（出现夹断），虽然仍导通，但导通电阻增大。 同样当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vi&lt;VT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时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管子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T2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从可变电阻区进入饱和区（出现夹断），虽然仍导通，但导通电阻增大。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传输门可用做</a:t>
            </a:r>
            <a:r>
              <a:rPr kumimoji="1" lang="zh-CN" altLang="en-US" dirty="0">
                <a:solidFill>
                  <a:srgbClr val="CC3399"/>
                </a:solidFill>
              </a:rPr>
              <a:t>模拟开关，</a:t>
            </a:r>
            <a:r>
              <a:rPr kumimoji="1" lang="zh-CN" altLang="en-US" dirty="0"/>
              <a:t>用来传输模拟信号，这是一般的逻辑门无法实现的。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285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参数是我们了解</a:t>
            </a:r>
            <a:r>
              <a:rPr lang="en-US" altLang="zh-CN" dirty="0"/>
              <a:t>TTL</a:t>
            </a:r>
            <a:r>
              <a:rPr lang="zh-CN" altLang="en-US" dirty="0"/>
              <a:t>电路性能并正确使用的依据。</a:t>
            </a:r>
          </a:p>
          <a:p>
            <a:pPr eaLnBrk="1" hangingPunct="1"/>
            <a:r>
              <a:rPr lang="en-US" altLang="zh-CN" dirty="0"/>
              <a:t>VIL(max)</a:t>
            </a:r>
            <a:r>
              <a:rPr lang="zh-CN" altLang="en-US" dirty="0"/>
              <a:t>：输入低电平的上限值</a:t>
            </a:r>
          </a:p>
          <a:p>
            <a:pPr eaLnBrk="1" hangingPunct="1"/>
            <a:r>
              <a:rPr lang="en-US" altLang="zh-CN" dirty="0"/>
              <a:t>VIH(min)</a:t>
            </a:r>
            <a:r>
              <a:rPr lang="zh-CN" altLang="en-US" dirty="0"/>
              <a:t>：输入高电平的下限值</a:t>
            </a:r>
          </a:p>
          <a:p>
            <a:pPr eaLnBrk="1" hangingPunct="1"/>
            <a:r>
              <a:rPr lang="en-US" altLang="zh-CN" dirty="0"/>
              <a:t>VOL(max)</a:t>
            </a:r>
            <a:r>
              <a:rPr lang="zh-CN" altLang="en-US" dirty="0"/>
              <a:t>：输出低电平的上限值</a:t>
            </a:r>
          </a:p>
          <a:p>
            <a:pPr eaLnBrk="1" hangingPunct="1"/>
            <a:r>
              <a:rPr lang="en-US" altLang="zh-CN" dirty="0"/>
              <a:t>VOH(min)</a:t>
            </a:r>
            <a:r>
              <a:rPr lang="zh-CN" altLang="en-US" dirty="0"/>
              <a:t>：输出高电平的下限值</a:t>
            </a:r>
          </a:p>
          <a:p>
            <a:pPr eaLnBrk="1" hangingPunct="1"/>
            <a:r>
              <a:rPr lang="zh-CN" altLang="en-US" dirty="0"/>
              <a:t>噪声容限：</a:t>
            </a:r>
            <a:r>
              <a:rPr lang="zh-CN" altLang="en-US" dirty="0">
                <a:solidFill>
                  <a:srgbClr val="000066"/>
                </a:solidFill>
              </a:rPr>
              <a:t>在保证输出电平不变的条件下，输入电平允许波动的范围。</a:t>
            </a:r>
          </a:p>
          <a:p>
            <a:pPr eaLnBrk="1" hangingPunct="1"/>
            <a:r>
              <a:rPr kumimoji="1" lang="en-US" altLang="zh-CN" i="1" dirty="0">
                <a:solidFill>
                  <a:srgbClr val="000066"/>
                </a:solidFill>
              </a:rPr>
              <a:t>V</a:t>
            </a:r>
            <a:r>
              <a:rPr kumimoji="1" lang="en-US" altLang="zh-CN" dirty="0">
                <a:solidFill>
                  <a:srgbClr val="000066"/>
                </a:solidFill>
              </a:rPr>
              <a:t>NH  —</a:t>
            </a:r>
            <a:r>
              <a:rPr kumimoji="1" lang="zh-CN" altLang="en-US" dirty="0">
                <a:solidFill>
                  <a:srgbClr val="000066"/>
                </a:solidFill>
              </a:rPr>
              <a:t>输出高电平的最小值时允许负向噪声电压的最大值。</a:t>
            </a:r>
          </a:p>
          <a:p>
            <a:pPr eaLnBrk="1" hangingPunct="1"/>
            <a:r>
              <a:rPr kumimoji="1" lang="en-US" altLang="zh-CN" i="1" dirty="0">
                <a:solidFill>
                  <a:srgbClr val="000066"/>
                </a:solidFill>
              </a:rPr>
              <a:t>V</a:t>
            </a:r>
            <a:r>
              <a:rPr kumimoji="1" lang="en-US" altLang="zh-CN" dirty="0">
                <a:solidFill>
                  <a:srgbClr val="000066"/>
                </a:solidFill>
              </a:rPr>
              <a:t>NL  —</a:t>
            </a:r>
            <a:r>
              <a:rPr kumimoji="1" lang="zh-CN" altLang="en-US" dirty="0">
                <a:solidFill>
                  <a:srgbClr val="000066"/>
                </a:solidFill>
              </a:rPr>
              <a:t>输出低电平的最大值时允许正向噪声电压的最大值。</a:t>
            </a:r>
          </a:p>
          <a:p>
            <a:pPr eaLnBrk="1" hangingPunct="1"/>
            <a:r>
              <a:rPr lang="zh-CN" altLang="en-US" dirty="0"/>
              <a:t>可以通过提高</a:t>
            </a:r>
            <a:r>
              <a:rPr lang="en-US" altLang="zh-CN" dirty="0"/>
              <a:t>V</a:t>
            </a:r>
            <a:r>
              <a:rPr lang="en-US" altLang="zh-CN" baseline="-25000" dirty="0"/>
              <a:t>DD</a:t>
            </a:r>
            <a:r>
              <a:rPr lang="zh-CN" altLang="en-US" dirty="0"/>
              <a:t>来提高噪声容限。</a:t>
            </a:r>
            <a:endParaRPr lang="zh-CN" altLang="en-US" dirty="0">
              <a:solidFill>
                <a:srgbClr val="000066"/>
              </a:solidFill>
            </a:endParaRPr>
          </a:p>
          <a:p>
            <a:pPr eaLnBrk="1" hangingPunct="1"/>
            <a:r>
              <a:rPr lang="zh-CN" altLang="en-US" dirty="0"/>
              <a:t>扇出系数：门电路的输出端所能连接的下一级门电路输入端的个数，也称负载能力。</a:t>
            </a:r>
          </a:p>
          <a:p>
            <a:pPr eaLnBrk="1" hangingPunct="1"/>
            <a:r>
              <a:rPr kumimoji="1" lang="zh-CN" altLang="en-US" dirty="0">
                <a:solidFill>
                  <a:srgbClr val="000066"/>
                </a:solidFill>
              </a:rPr>
              <a:t>传输延迟时间：在输入脉冲波形的作用下，其输出波形相对于输入波形延迟了多长的时间</a:t>
            </a:r>
            <a:r>
              <a:rPr kumimoji="1"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306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参数是我们了解</a:t>
            </a:r>
            <a:r>
              <a:rPr lang="en-US" altLang="zh-CN" dirty="0"/>
              <a:t>TTL</a:t>
            </a:r>
            <a:r>
              <a:rPr lang="zh-CN" altLang="en-US" dirty="0"/>
              <a:t>电路性能并正确使用的依据。</a:t>
            </a:r>
          </a:p>
          <a:p>
            <a:pPr eaLnBrk="1" hangingPunct="1"/>
            <a:r>
              <a:rPr lang="en-US" altLang="zh-CN" dirty="0"/>
              <a:t>VIL(max)</a:t>
            </a:r>
            <a:r>
              <a:rPr lang="zh-CN" altLang="en-US" dirty="0"/>
              <a:t>：输入低电平的上限值</a:t>
            </a:r>
          </a:p>
          <a:p>
            <a:pPr eaLnBrk="1" hangingPunct="1"/>
            <a:r>
              <a:rPr lang="en-US" altLang="zh-CN" dirty="0"/>
              <a:t>VIH(min)</a:t>
            </a:r>
            <a:r>
              <a:rPr lang="zh-CN" altLang="en-US" dirty="0"/>
              <a:t>：输入高电平的下限值</a:t>
            </a:r>
          </a:p>
          <a:p>
            <a:pPr eaLnBrk="1" hangingPunct="1"/>
            <a:r>
              <a:rPr lang="en-US" altLang="zh-CN" dirty="0"/>
              <a:t>VOL(max)</a:t>
            </a:r>
            <a:r>
              <a:rPr lang="zh-CN" altLang="en-US" dirty="0"/>
              <a:t>：输出低电平的上限值</a:t>
            </a:r>
          </a:p>
          <a:p>
            <a:pPr eaLnBrk="1" hangingPunct="1"/>
            <a:r>
              <a:rPr lang="en-US" altLang="zh-CN" dirty="0"/>
              <a:t>VOH(min)</a:t>
            </a:r>
            <a:r>
              <a:rPr lang="zh-CN" altLang="en-US" dirty="0"/>
              <a:t>：输出高电平的下限值</a:t>
            </a:r>
          </a:p>
          <a:p>
            <a:pPr eaLnBrk="1" hangingPunct="1"/>
            <a:r>
              <a:rPr lang="zh-CN" altLang="en-US" dirty="0"/>
              <a:t>噪声容限：</a:t>
            </a:r>
            <a:r>
              <a:rPr lang="zh-CN" altLang="en-US" dirty="0">
                <a:solidFill>
                  <a:srgbClr val="000066"/>
                </a:solidFill>
              </a:rPr>
              <a:t>在保证输出电平不变的条件下，输入电平允许波动的范围。</a:t>
            </a:r>
          </a:p>
          <a:p>
            <a:pPr eaLnBrk="1" hangingPunct="1"/>
            <a:r>
              <a:rPr kumimoji="1" lang="en-US" altLang="zh-CN" i="1" dirty="0">
                <a:solidFill>
                  <a:srgbClr val="000066"/>
                </a:solidFill>
              </a:rPr>
              <a:t>V</a:t>
            </a:r>
            <a:r>
              <a:rPr kumimoji="1" lang="en-US" altLang="zh-CN" dirty="0">
                <a:solidFill>
                  <a:srgbClr val="000066"/>
                </a:solidFill>
              </a:rPr>
              <a:t>NH  —</a:t>
            </a:r>
            <a:r>
              <a:rPr kumimoji="1" lang="zh-CN" altLang="en-US" dirty="0">
                <a:solidFill>
                  <a:srgbClr val="000066"/>
                </a:solidFill>
              </a:rPr>
              <a:t>输出高电平的最小值时允许负向噪声电压的最大值。</a:t>
            </a:r>
          </a:p>
          <a:p>
            <a:pPr eaLnBrk="1" hangingPunct="1"/>
            <a:r>
              <a:rPr kumimoji="1" lang="en-US" altLang="zh-CN" i="1" dirty="0">
                <a:solidFill>
                  <a:srgbClr val="000066"/>
                </a:solidFill>
              </a:rPr>
              <a:t>V</a:t>
            </a:r>
            <a:r>
              <a:rPr kumimoji="1" lang="en-US" altLang="zh-CN" dirty="0">
                <a:solidFill>
                  <a:srgbClr val="000066"/>
                </a:solidFill>
              </a:rPr>
              <a:t>NL  —</a:t>
            </a:r>
            <a:r>
              <a:rPr kumimoji="1" lang="zh-CN" altLang="en-US" dirty="0">
                <a:solidFill>
                  <a:srgbClr val="000066"/>
                </a:solidFill>
              </a:rPr>
              <a:t>输出低电平的最大值时允许正向噪声电压的最大值。</a:t>
            </a:r>
          </a:p>
          <a:p>
            <a:pPr eaLnBrk="1" hangingPunct="1"/>
            <a:r>
              <a:rPr lang="zh-CN" altLang="en-US" dirty="0"/>
              <a:t>可以通过提高</a:t>
            </a:r>
            <a:r>
              <a:rPr lang="en-US" altLang="zh-CN" dirty="0"/>
              <a:t>V</a:t>
            </a:r>
            <a:r>
              <a:rPr lang="en-US" altLang="zh-CN" baseline="-25000" dirty="0"/>
              <a:t>DD</a:t>
            </a:r>
            <a:r>
              <a:rPr lang="zh-CN" altLang="en-US" dirty="0"/>
              <a:t>来提高噪声容限。</a:t>
            </a:r>
            <a:endParaRPr lang="zh-CN" altLang="en-US" dirty="0">
              <a:solidFill>
                <a:srgbClr val="000066"/>
              </a:solidFill>
            </a:endParaRPr>
          </a:p>
          <a:p>
            <a:pPr eaLnBrk="1" hangingPunct="1"/>
            <a:r>
              <a:rPr lang="zh-CN" altLang="en-US" dirty="0"/>
              <a:t>扇出系数：门电路的输出端所能连接的下一级门电路输入端的个数，也称负载能力。</a:t>
            </a:r>
          </a:p>
          <a:p>
            <a:pPr eaLnBrk="1" hangingPunct="1"/>
            <a:r>
              <a:rPr kumimoji="1" lang="zh-CN" altLang="en-US" dirty="0">
                <a:solidFill>
                  <a:srgbClr val="000066"/>
                </a:solidFill>
              </a:rPr>
              <a:t>传输延迟时间：在输入脉冲波形的作用下，其输出波形相对于输入波形延迟了多长的时间</a:t>
            </a:r>
            <a:r>
              <a:rPr kumimoji="1"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300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Propagation delay</a:t>
            </a:r>
          </a:p>
          <a:p>
            <a:pPr eaLnBrk="1" hangingPunct="1"/>
            <a:r>
              <a:rPr lang="zh-CN" altLang="en-US" sz="1400" dirty="0"/>
              <a:t>与电源电压及容性负载大小有关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907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CMOS</a:t>
            </a:r>
            <a:r>
              <a:rPr kumimoji="1" lang="zh-CN" altLang="en-US" dirty="0"/>
              <a:t>动态总功耗：</a:t>
            </a:r>
            <a:r>
              <a:rPr kumimoji="1" lang="en-US" altLang="zh-CN" dirty="0"/>
              <a:t>P_D=(C_PD + C_L)*VDD^2 * f </a:t>
            </a:r>
            <a:r>
              <a:rPr kumimoji="1" lang="zh-CN" altLang="en-US" dirty="0"/>
              <a:t>，与</a:t>
            </a:r>
            <a:r>
              <a:rPr kumimoji="1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康简宋" charset="-122"/>
              </a:rPr>
              <a:t>功耗电容（电路本身），负载电容（</a:t>
            </a:r>
            <a:r>
              <a:rPr kumimoji="1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康简宋" charset="-122"/>
              </a:rPr>
              <a:t>C_L, </a:t>
            </a:r>
            <a:r>
              <a:rPr kumimoji="1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康简宋" charset="-122"/>
              </a:rPr>
              <a:t>后续电路），电压和工作频率相关</a:t>
            </a:r>
            <a:endParaRPr kumimoji="1" lang="en-US" altLang="zh-CN" b="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14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2023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2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6.png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5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7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9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2269558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22_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逻辑门电路</a:t>
            </a:r>
            <a:endParaRPr lang="en-US" altLang="zh-CN" sz="3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P78-106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DBC4C-9640-AD61-0F3B-5CF8739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6375B-3C17-2170-48EE-3E111108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dirty="0"/>
              <a:t>CMOS</a:t>
            </a:r>
            <a:r>
              <a:rPr lang="zh-CN" altLang="en-US" dirty="0"/>
              <a:t>基本逻辑门</a:t>
            </a:r>
            <a:endParaRPr kumimoji="1" lang="zh-CN" altLang="en-US" dirty="0"/>
          </a:p>
          <a:p>
            <a:r>
              <a:rPr lang="en-US" altLang="zh-CN" dirty="0"/>
              <a:t>CMOS</a:t>
            </a:r>
            <a:r>
              <a:rPr lang="zh-CN" altLang="en-US" dirty="0"/>
              <a:t>漏极开路（</a:t>
            </a:r>
            <a:r>
              <a:rPr lang="en-US" altLang="zh-CN" dirty="0"/>
              <a:t>OD</a:t>
            </a:r>
            <a:r>
              <a:rPr lang="zh-CN" altLang="en-US" dirty="0"/>
              <a:t>）门</a:t>
            </a:r>
          </a:p>
          <a:p>
            <a:r>
              <a:rPr lang="en-US" altLang="zh-CN" dirty="0"/>
              <a:t>CMOS</a:t>
            </a:r>
            <a:r>
              <a:rPr lang="zh-CN" altLang="en-US" dirty="0"/>
              <a:t>三态门</a:t>
            </a:r>
          </a:p>
          <a:p>
            <a:r>
              <a:rPr lang="en-US" altLang="zh-CN" dirty="0"/>
              <a:t>CMOS</a:t>
            </a:r>
            <a:r>
              <a:rPr lang="zh-CN" altLang="en-US" dirty="0"/>
              <a:t>传输门</a:t>
            </a:r>
            <a:endParaRPr lang="en-US" altLang="zh-CN" dirty="0"/>
          </a:p>
          <a:p>
            <a:r>
              <a:rPr lang="zh-CN" altLang="en-US" dirty="0"/>
              <a:t>逻辑门主要参数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87B8-46F4-E8D4-8B30-EF3E7278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B7386-9DB7-80F6-203E-055AF10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 dirty="0"/>
              <a:t>/35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05363-546B-3C09-4DA8-22F77E9E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逻辑</a:t>
            </a:r>
            <a:r>
              <a:rPr kumimoji="1" lang="zh-CN" altLang="en-US" dirty="0"/>
              <a:t>门电路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36BB83-B2AB-D92D-7123-D78BB3BE2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实现基本逻辑运算和常用逻辑运算的单元电路</a:t>
            </a:r>
          </a:p>
          <a:p>
            <a:r>
              <a:rPr kumimoji="1" lang="zh-CN" altLang="en-US" dirty="0"/>
              <a:t>常用集成逻辑门电路系列</a:t>
            </a:r>
          </a:p>
          <a:p>
            <a:pPr lvl="1"/>
            <a:r>
              <a:rPr kumimoji="1" lang="en-US" altLang="zh-CN" dirty="0"/>
              <a:t>TTL(transistor-transistor logic)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基于</a:t>
            </a:r>
            <a:r>
              <a:rPr kumimoji="1" lang="en-US" altLang="zh-CN" dirty="0"/>
              <a:t>BJT</a:t>
            </a:r>
            <a:r>
              <a:rPr kumimoji="1" lang="zh-CN" altLang="en-US" dirty="0"/>
              <a:t>管定义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 </a:t>
            </a:r>
            <a:r>
              <a:rPr lang="en-US" altLang="zh-CN" dirty="0"/>
              <a:t>74</a:t>
            </a:r>
            <a:r>
              <a:rPr lang="zh-CN" altLang="en-US" dirty="0"/>
              <a:t>、</a:t>
            </a:r>
            <a:r>
              <a:rPr lang="en-US" altLang="zh-CN" dirty="0"/>
              <a:t>74LS</a:t>
            </a:r>
            <a:r>
              <a:rPr lang="zh-CN" altLang="en-US" dirty="0"/>
              <a:t>、</a:t>
            </a:r>
            <a:r>
              <a:rPr lang="en-US" altLang="zh-CN" dirty="0"/>
              <a:t>74AS</a:t>
            </a:r>
            <a:r>
              <a:rPr lang="zh-CN" altLang="en-US" dirty="0"/>
              <a:t>、</a:t>
            </a:r>
            <a:r>
              <a:rPr lang="en-US" altLang="zh-CN" dirty="0"/>
              <a:t>74ALS</a:t>
            </a:r>
            <a:r>
              <a:rPr lang="zh-CN" altLang="en-US" dirty="0"/>
              <a:t>等系列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rgbClr val="0000FF"/>
                </a:solidFill>
              </a:rPr>
              <a:t>CMOS(complementary metal oxide semiconductor)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基于</a:t>
            </a:r>
            <a:r>
              <a:rPr kumimoji="1" lang="en-US" altLang="zh-CN" dirty="0"/>
              <a:t>MOS</a:t>
            </a:r>
            <a:r>
              <a:rPr kumimoji="1" lang="zh-CN" altLang="en-US" dirty="0"/>
              <a:t>管定义 </a:t>
            </a:r>
            <a:endParaRPr kumimoji="1" lang="en-US" altLang="zh-CN" dirty="0"/>
          </a:p>
          <a:p>
            <a:pPr lvl="2"/>
            <a:r>
              <a:rPr lang="en-US" altLang="zh-CN" dirty="0"/>
              <a:t>4000</a:t>
            </a:r>
            <a:r>
              <a:rPr lang="zh-CN" altLang="en-US" dirty="0"/>
              <a:t>系列，</a:t>
            </a:r>
            <a:r>
              <a:rPr lang="en-US" altLang="zh-CN" dirty="0"/>
              <a:t>74HC</a:t>
            </a:r>
            <a:r>
              <a:rPr lang="zh-CN" altLang="en-US" dirty="0"/>
              <a:t>、</a:t>
            </a:r>
            <a:r>
              <a:rPr lang="en-US" altLang="zh-CN" dirty="0"/>
              <a:t>74HCT</a:t>
            </a:r>
            <a:r>
              <a:rPr lang="zh-CN" altLang="en-US" dirty="0"/>
              <a:t>、 </a:t>
            </a:r>
            <a:r>
              <a:rPr lang="en-US" altLang="zh-CN" dirty="0"/>
              <a:t>74VHC</a:t>
            </a:r>
            <a:r>
              <a:rPr lang="zh-CN" altLang="en-US" dirty="0"/>
              <a:t>、 </a:t>
            </a:r>
            <a:r>
              <a:rPr lang="en-US" altLang="zh-CN" dirty="0"/>
              <a:t>74VHCT</a:t>
            </a:r>
            <a:r>
              <a:rPr lang="zh-CN" altLang="en-US" dirty="0"/>
              <a:t>、</a:t>
            </a:r>
            <a:r>
              <a:rPr lang="en-US" altLang="zh-CN" dirty="0"/>
              <a:t>74LVC</a:t>
            </a:r>
            <a:r>
              <a:rPr lang="zh-CN" altLang="en-US" dirty="0"/>
              <a:t>、</a:t>
            </a:r>
            <a:r>
              <a:rPr lang="en-US" altLang="zh-CN" dirty="0"/>
              <a:t>74AC</a:t>
            </a:r>
            <a:r>
              <a:rPr lang="zh-CN" altLang="en-US" dirty="0"/>
              <a:t>、</a:t>
            </a:r>
            <a:r>
              <a:rPr lang="en-US" altLang="zh-CN" dirty="0"/>
              <a:t>74ACT</a:t>
            </a:r>
            <a:r>
              <a:rPr lang="zh-CN" altLang="en-US" dirty="0"/>
              <a:t>、</a:t>
            </a:r>
            <a:r>
              <a:rPr lang="en-US" altLang="zh-CN" dirty="0"/>
              <a:t>74AUC</a:t>
            </a:r>
            <a:r>
              <a:rPr lang="zh-CN" altLang="en-US" dirty="0"/>
              <a:t>等系列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39423B-5319-0E22-C98A-C24C8A460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542E37-A80D-EBEE-DFFF-2E47D5A70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D408F-DC9D-1A41-B9E6-81B33FD9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（回顾）增强型</a:t>
            </a:r>
            <a:r>
              <a:rPr lang="en-US" altLang="zh-CN" dirty="0"/>
              <a:t>NMOS</a:t>
            </a:r>
            <a:r>
              <a:rPr lang="zh-CN" altLang="en-US" dirty="0"/>
              <a:t>管特性曲线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F0F7D1-8E97-6D2C-B972-347B7DF4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F38FE7-E851-EAC3-A010-1A39F3F9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/35</a:t>
            </a:r>
            <a:endParaRPr lang="en-US" dirty="0"/>
          </a:p>
        </p:txBody>
      </p:sp>
      <p:pic>
        <p:nvPicPr>
          <p:cNvPr id="6" name="Picture 36">
            <a:extLst>
              <a:ext uri="{FF2B5EF4-FFF2-40B4-BE49-F238E27FC236}">
                <a16:creationId xmlns:a16="http://schemas.microsoft.com/office/drawing/2014/main" id="{0171D9A7-5807-D4B3-2459-4FE4BD035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393" y="1865669"/>
            <a:ext cx="2870200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45">
            <a:extLst>
              <a:ext uri="{FF2B5EF4-FFF2-40B4-BE49-F238E27FC236}">
                <a16:creationId xmlns:a16="http://schemas.microsoft.com/office/drawing/2014/main" id="{11CFD795-468D-13B4-ADFB-B5BE5058E4BA}"/>
              </a:ext>
            </a:extLst>
          </p:cNvPr>
          <p:cNvGrpSpPr>
            <a:grpSpLocks/>
          </p:cNvGrpSpPr>
          <p:nvPr/>
        </p:nvGrpSpPr>
        <p:grpSpPr bwMode="auto">
          <a:xfrm>
            <a:off x="264272" y="2551470"/>
            <a:ext cx="1963738" cy="2328862"/>
            <a:chOff x="133" y="1879"/>
            <a:chExt cx="1237" cy="1467"/>
          </a:xfrm>
        </p:grpSpPr>
        <p:sp>
          <p:nvSpPr>
            <p:cNvPr id="8" name="Text Box 31">
              <a:extLst>
                <a:ext uri="{FF2B5EF4-FFF2-40B4-BE49-F238E27FC236}">
                  <a16:creationId xmlns:a16="http://schemas.microsoft.com/office/drawing/2014/main" id="{289FEA43-4707-2CB2-2B84-FA5469DCF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" y="2837"/>
              <a:ext cx="35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800" b="0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0" baseline="-10000">
                  <a:latin typeface="Times New Roman" panose="02020603050405020304" pitchFamily="18" charset="0"/>
                </a:rPr>
                <a:t>gs</a:t>
              </a: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027C6058-D450-00C5-EC62-FF1333199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" y="2580"/>
              <a:ext cx="0" cy="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DEA5B03E-2070-990B-6FEC-70AE4F894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" y="2699"/>
              <a:ext cx="0" cy="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045D4587-E87A-BAC5-9856-FACFB352D7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" y="2818"/>
              <a:ext cx="0" cy="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D9E5FF73-5A5E-B6FA-AB90-DA8BA7B51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" y="2740"/>
              <a:ext cx="11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A0468808-95B5-C9F8-B6B9-D522210C8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" y="2620"/>
              <a:ext cx="0" cy="23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7DB63730-1429-65E4-051D-73585EB073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" y="2620"/>
              <a:ext cx="1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0064937A-07F6-A3C3-353E-C2436CB51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" y="2859"/>
              <a:ext cx="1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56B1AA16-CB47-42DA-2A0B-2C9E53A47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" y="2740"/>
              <a:ext cx="1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715C5042-C076-83CD-154E-2929552F9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" y="2859"/>
              <a:ext cx="30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9A7ED9E4-7E4F-5238-236F-41A0544D1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" y="2302"/>
              <a:ext cx="0" cy="3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Rectangle 21">
              <a:extLst>
                <a:ext uri="{FF2B5EF4-FFF2-40B4-BE49-F238E27FC236}">
                  <a16:creationId xmlns:a16="http://schemas.microsoft.com/office/drawing/2014/main" id="{10A4377E-7640-3893-978A-74D47D4E314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34" y="258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</a:p>
          </p:txBody>
        </p:sp>
        <p:sp>
          <p:nvSpPr>
            <p:cNvPr id="20" name="Rectangle 22">
              <a:extLst>
                <a:ext uri="{FF2B5EF4-FFF2-40B4-BE49-F238E27FC236}">
                  <a16:creationId xmlns:a16="http://schemas.microsoft.com/office/drawing/2014/main" id="{A6812906-DB94-679E-98D5-F0A404608F6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71" y="2898"/>
              <a:ext cx="7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</a:p>
          </p:txBody>
        </p:sp>
        <p:sp>
          <p:nvSpPr>
            <p:cNvPr id="21" name="Rectangle 23">
              <a:extLst>
                <a:ext uri="{FF2B5EF4-FFF2-40B4-BE49-F238E27FC236}">
                  <a16:creationId xmlns:a16="http://schemas.microsoft.com/office/drawing/2014/main" id="{6B986F74-4409-05AD-5BB7-843E092406B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77" y="230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</a:p>
          </p:txBody>
        </p:sp>
        <p:sp>
          <p:nvSpPr>
            <p:cNvPr id="22" name="Line 24">
              <a:extLst>
                <a:ext uri="{FF2B5EF4-FFF2-40B4-BE49-F238E27FC236}">
                  <a16:creationId xmlns:a16="http://schemas.microsoft.com/office/drawing/2014/main" id="{133E2FA0-CC27-1628-718E-520EEB1BB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" y="2740"/>
              <a:ext cx="0" cy="4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E6E7A863-D77B-78B0-EC99-0F51CE3E25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" y="3216"/>
              <a:ext cx="9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6">
              <a:extLst>
                <a:ext uri="{FF2B5EF4-FFF2-40B4-BE49-F238E27FC236}">
                  <a16:creationId xmlns:a16="http://schemas.microsoft.com/office/drawing/2014/main" id="{76B494BA-0704-3709-D6F2-A8B005BCCE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5" y="2302"/>
              <a:ext cx="3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27">
              <a:extLst>
                <a:ext uri="{FF2B5EF4-FFF2-40B4-BE49-F238E27FC236}">
                  <a16:creationId xmlns:a16="http://schemas.microsoft.com/office/drawing/2014/main" id="{EAA52776-2E90-D631-4799-0BDCED5DB4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" y="1879"/>
              <a:ext cx="2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800" b="0" i="1">
                  <a:latin typeface="Times New Roman" panose="02020603050405020304" pitchFamily="18" charset="0"/>
                </a:rPr>
                <a:t>i</a:t>
              </a:r>
              <a:r>
                <a:rPr lang="en-US" altLang="zh-CN" sz="2800" b="0" baseline="-100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6" name="Line 28">
              <a:extLst>
                <a:ext uri="{FF2B5EF4-FFF2-40B4-BE49-F238E27FC236}">
                  <a16:creationId xmlns:a16="http://schemas.microsoft.com/office/drawing/2014/main" id="{DF4DD971-58BE-B735-A19F-017B3BF323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85" y="2205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29">
              <a:extLst>
                <a:ext uri="{FF2B5EF4-FFF2-40B4-BE49-F238E27FC236}">
                  <a16:creationId xmlns:a16="http://schemas.microsoft.com/office/drawing/2014/main" id="{8E0817EE-E2E1-6082-9BA0-99C41F55F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" y="2759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+</a:t>
              </a:r>
            </a:p>
          </p:txBody>
        </p:sp>
        <p:sp>
          <p:nvSpPr>
            <p:cNvPr id="28" name="Text Box 30">
              <a:extLst>
                <a:ext uri="{FF2B5EF4-FFF2-40B4-BE49-F238E27FC236}">
                  <a16:creationId xmlns:a16="http://schemas.microsoft.com/office/drawing/2014/main" id="{666A52A4-631F-FDDC-F830-1C821B0B2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" y="3095"/>
              <a:ext cx="20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–</a:t>
              </a:r>
            </a:p>
          </p:txBody>
        </p:sp>
        <p:sp>
          <p:nvSpPr>
            <p:cNvPr id="29" name="Text Box 32">
              <a:extLst>
                <a:ext uri="{FF2B5EF4-FFF2-40B4-BE49-F238E27FC236}">
                  <a16:creationId xmlns:a16="http://schemas.microsoft.com/office/drawing/2014/main" id="{1A5E13B7-16BA-564B-3786-EE84BD5AA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582"/>
              <a:ext cx="35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800" b="0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0" baseline="-15000">
                  <a:latin typeface="Times New Roman" panose="02020603050405020304" pitchFamily="18" charset="0"/>
                </a:rPr>
                <a:t>ds</a:t>
              </a:r>
            </a:p>
          </p:txBody>
        </p:sp>
        <p:sp>
          <p:nvSpPr>
            <p:cNvPr id="30" name="Text Box 33">
              <a:extLst>
                <a:ext uri="{FF2B5EF4-FFF2-40B4-BE49-F238E27FC236}">
                  <a16:creationId xmlns:a16="http://schemas.microsoft.com/office/drawing/2014/main" id="{7C84FC4B-EC27-9D9B-C778-0828C2794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4" y="2296"/>
              <a:ext cx="2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+</a:t>
              </a:r>
            </a:p>
          </p:txBody>
        </p:sp>
        <p:sp>
          <p:nvSpPr>
            <p:cNvPr id="31" name="Text Box 34">
              <a:extLst>
                <a:ext uri="{FF2B5EF4-FFF2-40B4-BE49-F238E27FC236}">
                  <a16:creationId xmlns:a16="http://schemas.microsoft.com/office/drawing/2014/main" id="{CE46E4F7-2D0A-0AAE-8B71-26EAA1F5B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2975"/>
              <a:ext cx="20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–</a:t>
              </a:r>
            </a:p>
          </p:txBody>
        </p:sp>
      </p:grpSp>
      <p:pic>
        <p:nvPicPr>
          <p:cNvPr id="32" name="Picture 37">
            <a:extLst>
              <a:ext uri="{FF2B5EF4-FFF2-40B4-BE49-F238E27FC236}">
                <a16:creationId xmlns:a16="http://schemas.microsoft.com/office/drawing/2014/main" id="{8C010CC4-A866-40E2-992E-8634C10CF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293" y="1852969"/>
            <a:ext cx="3767137" cy="362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" name="Group 43">
            <a:extLst>
              <a:ext uri="{FF2B5EF4-FFF2-40B4-BE49-F238E27FC236}">
                <a16:creationId xmlns:a16="http://schemas.microsoft.com/office/drawing/2014/main" id="{0DCA6334-DA71-A246-F946-572A203EFF56}"/>
              </a:ext>
            </a:extLst>
          </p:cNvPr>
          <p:cNvGrpSpPr>
            <a:grpSpLocks/>
          </p:cNvGrpSpPr>
          <p:nvPr/>
        </p:nvGrpSpPr>
        <p:grpSpPr bwMode="auto">
          <a:xfrm>
            <a:off x="2830793" y="965557"/>
            <a:ext cx="3168650" cy="733425"/>
            <a:chOff x="544" y="777"/>
            <a:chExt cx="1996" cy="462"/>
          </a:xfrm>
        </p:grpSpPr>
        <p:sp>
          <p:nvSpPr>
            <p:cNvPr id="34" name="Text Box 9">
              <a:extLst>
                <a:ext uri="{FF2B5EF4-FFF2-40B4-BE49-F238E27FC236}">
                  <a16:creationId xmlns:a16="http://schemas.microsoft.com/office/drawing/2014/main" id="{3BFC2AA7-1BC6-F11D-56E7-262E9EE36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" y="777"/>
              <a:ext cx="1996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黑体" panose="02010609060101010101" pitchFamily="49" charset="-122"/>
                </a:rPr>
                <a:t>d </a:t>
              </a:r>
              <a:r>
                <a:rPr kumimoji="1" lang="en-US" altLang="zh-CN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= </a:t>
              </a:r>
              <a:r>
                <a:rPr kumimoji="1" lang="en-US" altLang="zh-CN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f </a:t>
              </a:r>
              <a:r>
                <a:rPr kumimoji="1" lang="en-US" altLang="zh-CN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kumimoji="1" lang="en-US" altLang="zh-CN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黑体" panose="02010609060101010101" pitchFamily="49" charset="-122"/>
                </a:rPr>
                <a:t>gs</a:t>
              </a:r>
              <a:r>
                <a:rPr kumimoji="1" lang="en-US" altLang="zh-CN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r>
                <a:rPr kumimoji="1" lang="en-US" altLang="zh-CN" sz="28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</a:t>
              </a:r>
              <a:endPara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5" name="Rectangle 40">
              <a:extLst>
                <a:ext uri="{FF2B5EF4-FFF2-40B4-BE49-F238E27FC236}">
                  <a16:creationId xmlns:a16="http://schemas.microsoft.com/office/drawing/2014/main" id="{98645705-2C93-40C8-ECE6-F427D8281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957"/>
              <a:ext cx="76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i="1" baseline="-1000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kumimoji="1" lang="en-US" altLang="zh-CN" sz="2800" baseline="-30000">
                  <a:latin typeface="Times New Roman" panose="02020603050405020304" pitchFamily="18" charset="0"/>
                  <a:ea typeface="黑体" panose="02010609060101010101" pitchFamily="49" charset="-122"/>
                </a:rPr>
                <a:t>ds</a:t>
              </a:r>
              <a:r>
                <a:rPr kumimoji="1" lang="en-US" altLang="zh-CN" baseline="-10000">
                  <a:latin typeface="Times New Roman" panose="02020603050405020304" pitchFamily="18" charset="0"/>
                  <a:ea typeface="黑体" panose="02010609060101010101" pitchFamily="49" charset="-122"/>
                </a:rPr>
                <a:t>=</a:t>
              </a:r>
              <a:r>
                <a:rPr kumimoji="1" lang="zh-CN" altLang="en-US" baseline="-10000">
                  <a:latin typeface="Times New Roman" panose="02020603050405020304" pitchFamily="18" charset="0"/>
                  <a:ea typeface="黑体" panose="02010609060101010101" pitchFamily="49" charset="-122"/>
                </a:rPr>
                <a:t>常数</a:t>
              </a:r>
            </a:p>
          </p:txBody>
        </p:sp>
      </p:grpSp>
      <p:grpSp>
        <p:nvGrpSpPr>
          <p:cNvPr id="36" name="Group 44">
            <a:extLst>
              <a:ext uri="{FF2B5EF4-FFF2-40B4-BE49-F238E27FC236}">
                <a16:creationId xmlns:a16="http://schemas.microsoft.com/office/drawing/2014/main" id="{DD220889-8AB5-AA0F-1122-5AF0A4C9E62A}"/>
              </a:ext>
            </a:extLst>
          </p:cNvPr>
          <p:cNvGrpSpPr>
            <a:grpSpLocks/>
          </p:cNvGrpSpPr>
          <p:nvPr/>
        </p:nvGrpSpPr>
        <p:grpSpPr bwMode="auto">
          <a:xfrm>
            <a:off x="6286780" y="965557"/>
            <a:ext cx="3168650" cy="736600"/>
            <a:chOff x="3016" y="777"/>
            <a:chExt cx="1996" cy="464"/>
          </a:xfrm>
        </p:grpSpPr>
        <p:sp>
          <p:nvSpPr>
            <p:cNvPr id="37" name="Text Box 10">
              <a:extLst>
                <a:ext uri="{FF2B5EF4-FFF2-40B4-BE49-F238E27FC236}">
                  <a16:creationId xmlns:a16="http://schemas.microsoft.com/office/drawing/2014/main" id="{F6C06B45-EE0F-4321-1DAB-B281647EE4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777"/>
              <a:ext cx="1996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黑体" panose="02010609060101010101" pitchFamily="49" charset="-122"/>
                </a:rPr>
                <a:t>d </a:t>
              </a:r>
              <a:r>
                <a:rPr kumimoji="1" lang="en-US" altLang="zh-CN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= </a:t>
              </a:r>
              <a:r>
                <a:rPr kumimoji="1" lang="en-US" altLang="zh-CN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f </a:t>
              </a:r>
              <a:r>
                <a:rPr kumimoji="1" lang="en-US" altLang="zh-CN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kumimoji="1" lang="en-US" altLang="zh-CN" sz="2800" i="1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黑体" panose="02010609060101010101" pitchFamily="49" charset="-122"/>
                </a:rPr>
                <a:t>ds</a:t>
              </a:r>
              <a:r>
                <a:rPr kumimoji="1" lang="en-US" altLang="zh-CN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r>
                <a:rPr kumimoji="1" lang="en-US" altLang="zh-CN" sz="28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</a:t>
              </a:r>
              <a:endPara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" name="Rectangle 42">
              <a:extLst>
                <a:ext uri="{FF2B5EF4-FFF2-40B4-BE49-F238E27FC236}">
                  <a16:creationId xmlns:a16="http://schemas.microsoft.com/office/drawing/2014/main" id="{23BED1A2-3EE0-5C16-C0F0-8111E4427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981"/>
              <a:ext cx="76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i="1" baseline="-1000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kumimoji="1" lang="en-US" altLang="zh-CN" sz="2800" baseline="-30000">
                  <a:latin typeface="Times New Roman" panose="02020603050405020304" pitchFamily="18" charset="0"/>
                  <a:ea typeface="黑体" panose="02010609060101010101" pitchFamily="49" charset="-122"/>
                </a:rPr>
                <a:t>gs</a:t>
              </a:r>
              <a:r>
                <a:rPr kumimoji="1" lang="en-US" altLang="zh-CN" baseline="-10000">
                  <a:latin typeface="Times New Roman" panose="02020603050405020304" pitchFamily="18" charset="0"/>
                  <a:ea typeface="黑体" panose="02010609060101010101" pitchFamily="49" charset="-122"/>
                </a:rPr>
                <a:t>=</a:t>
              </a:r>
              <a:r>
                <a:rPr kumimoji="1" lang="zh-CN" altLang="en-US" baseline="-10000">
                  <a:latin typeface="Times New Roman" panose="02020603050405020304" pitchFamily="18" charset="0"/>
                  <a:ea typeface="黑体" panose="02010609060101010101" pitchFamily="49" charset="-122"/>
                </a:rPr>
                <a:t>常数</a:t>
              </a:r>
            </a:p>
          </p:txBody>
        </p:sp>
      </p:grpSp>
      <p:sp>
        <p:nvSpPr>
          <p:cNvPr id="39" name="Rectangle 46">
            <a:extLst>
              <a:ext uri="{FF2B5EF4-FFF2-40B4-BE49-F238E27FC236}">
                <a16:creationId xmlns:a16="http://schemas.microsoft.com/office/drawing/2014/main" id="{5FEF59BD-F03C-7B4C-AD5D-2B8C81107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076" y="5585275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转移</a:t>
            </a:r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特性曲线</a:t>
            </a:r>
          </a:p>
        </p:txBody>
      </p:sp>
      <p:sp>
        <p:nvSpPr>
          <p:cNvPr id="40" name="Rectangle 47">
            <a:extLst>
              <a:ext uri="{FF2B5EF4-FFF2-40B4-BE49-F238E27FC236}">
                <a16:creationId xmlns:a16="http://schemas.microsoft.com/office/drawing/2014/main" id="{FBDBA764-8B4E-106D-30B6-87DE21D18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038" y="5585275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输出</a:t>
            </a:r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特性曲线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70B38DD-C9E3-1A3C-CAB8-CB29FD47FADF}"/>
              </a:ext>
            </a:extLst>
          </p:cNvPr>
          <p:cNvSpPr txBox="1"/>
          <p:nvPr/>
        </p:nvSpPr>
        <p:spPr>
          <a:xfrm>
            <a:off x="190026" y="5198129"/>
            <a:ext cx="2602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+mj-ea"/>
                <a:ea typeface="+mj-ea"/>
              </a:rPr>
              <a:t>Vgs</a:t>
            </a:r>
            <a:r>
              <a:rPr lang="en-US" altLang="zh-CN" dirty="0">
                <a:latin typeface="+mj-ea"/>
                <a:ea typeface="+mj-ea"/>
              </a:rPr>
              <a:t>&gt;</a:t>
            </a:r>
            <a:r>
              <a:rPr lang="en-US" altLang="zh-CN" dirty="0" err="1">
                <a:latin typeface="+mj-ea"/>
                <a:ea typeface="+mj-ea"/>
              </a:rPr>
              <a:t>Vgs</a:t>
            </a:r>
            <a:r>
              <a:rPr lang="en-US" altLang="zh-CN" dirty="0">
                <a:latin typeface="+mj-ea"/>
                <a:ea typeface="+mj-ea"/>
              </a:rPr>
              <a:t>(</a:t>
            </a:r>
            <a:r>
              <a:rPr lang="en-US" altLang="zh-CN" dirty="0" err="1">
                <a:latin typeface="+mj-ea"/>
                <a:ea typeface="+mj-ea"/>
              </a:rPr>
              <a:t>th</a:t>
            </a:r>
            <a:r>
              <a:rPr lang="en-US" altLang="zh-CN" dirty="0">
                <a:latin typeface="+mj-ea"/>
                <a:ea typeface="+mj-ea"/>
              </a:rPr>
              <a:t>)</a:t>
            </a:r>
            <a:r>
              <a:rPr lang="zh-CN" altLang="en-US" dirty="0">
                <a:latin typeface="+mj-ea"/>
                <a:ea typeface="+mj-ea"/>
              </a:rPr>
              <a:t>开始有导通可能，</a:t>
            </a:r>
            <a:r>
              <a:rPr lang="zh-CN" altLang="en-US" dirty="0">
                <a:solidFill>
                  <a:srgbClr val="0000FF"/>
                </a:solidFill>
                <a:latin typeface="+mj-ea"/>
                <a:ea typeface="+mj-ea"/>
              </a:rPr>
              <a:t>导通时</a:t>
            </a:r>
            <a:r>
              <a:rPr lang="en-US" altLang="zh-CN" dirty="0" err="1">
                <a:solidFill>
                  <a:srgbClr val="0000FF"/>
                </a:solidFill>
                <a:latin typeface="+mj-ea"/>
                <a:ea typeface="+mj-ea"/>
              </a:rPr>
              <a:t>gs</a:t>
            </a:r>
            <a:r>
              <a:rPr lang="zh-CN" altLang="en-US" dirty="0">
                <a:solidFill>
                  <a:srgbClr val="0000FF"/>
                </a:solidFill>
                <a:latin typeface="+mj-ea"/>
                <a:ea typeface="+mj-ea"/>
              </a:rPr>
              <a:t>间电压方向与标识相反</a:t>
            </a:r>
          </a:p>
        </p:txBody>
      </p:sp>
    </p:spTree>
    <p:extLst>
      <p:ext uri="{BB962C8B-B14F-4D97-AF65-F5344CB8AC3E}">
        <p14:creationId xmlns:p14="http://schemas.microsoft.com/office/powerpoint/2010/main" val="397674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6C9238-FC48-4592-B2F3-60F485A2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后续电路常见接法及导通判断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05A805-CB9E-0389-599B-586FB74E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5247B3-348C-87B8-FDBC-01CA0EE7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/35</a:t>
            </a:r>
            <a:endParaRPr lang="en-US" dirty="0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2EBBDC7-8F9E-0F36-A468-626A79EFF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321" y="2422425"/>
            <a:ext cx="2511426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buFontTx/>
              <a:buNone/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沟道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增强型</a:t>
            </a:r>
            <a:endParaRPr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7" name="Group 85">
            <a:extLst>
              <a:ext uri="{FF2B5EF4-FFF2-40B4-BE49-F238E27FC236}">
                <a16:creationId xmlns:a16="http://schemas.microsoft.com/office/drawing/2014/main" id="{8D4B4178-D6C4-CCE9-589F-28F818012C74}"/>
              </a:ext>
            </a:extLst>
          </p:cNvPr>
          <p:cNvGrpSpPr>
            <a:grpSpLocks/>
          </p:cNvGrpSpPr>
          <p:nvPr/>
        </p:nvGrpSpPr>
        <p:grpSpPr bwMode="auto">
          <a:xfrm>
            <a:off x="4750215" y="1844825"/>
            <a:ext cx="1217613" cy="1557338"/>
            <a:chOff x="676" y="1457"/>
            <a:chExt cx="767" cy="981"/>
          </a:xfrm>
        </p:grpSpPr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6C458C9F-8AF7-F54F-C5BF-EDEB5B745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177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CF4C59F2-0CD2-5406-4916-00BCF1681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1910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46202A2A-5DD3-D2A5-D091-9D1A228A4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2046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34528EBE-F45E-6C67-62D2-A06A66926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1956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CA487FA8-2033-269B-02AA-27C3735FE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820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B6386B25-922D-6F2A-8FB1-CE4EEB284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182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14F37933-7517-0BC7-390E-E162BC1BCB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2092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9282FAB4-17C7-DC03-07CC-209927B54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1956"/>
              <a:ext cx="23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65273543-27B7-2C93-7902-F56A7AE31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6" y="2092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" name="Line 21">
              <a:extLst>
                <a:ext uri="{FF2B5EF4-FFF2-40B4-BE49-F238E27FC236}">
                  <a16:creationId xmlns:a16="http://schemas.microsoft.com/office/drawing/2014/main" id="{8102EA36-D752-F41B-E314-770C58957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1" y="2092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" name="Line 22">
              <a:extLst>
                <a:ext uri="{FF2B5EF4-FFF2-40B4-BE49-F238E27FC236}">
                  <a16:creationId xmlns:a16="http://schemas.microsoft.com/office/drawing/2014/main" id="{E51F4A62-6E94-F66A-FEBB-D3743D4CAF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4" y="1616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Oval 23">
              <a:extLst>
                <a:ext uri="{FF2B5EF4-FFF2-40B4-BE49-F238E27FC236}">
                  <a16:creationId xmlns:a16="http://schemas.microsoft.com/office/drawing/2014/main" id="{495DE19C-F8EF-52A2-941F-F54537CA5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" y="2046"/>
              <a:ext cx="80" cy="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" name="Rectangle 24">
              <a:extLst>
                <a:ext uri="{FF2B5EF4-FFF2-40B4-BE49-F238E27FC236}">
                  <a16:creationId xmlns:a16="http://schemas.microsoft.com/office/drawing/2014/main" id="{3A1D4572-DD9E-22D1-3670-1A53F6B213D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77" y="1774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</a:t>
              </a:r>
            </a:p>
          </p:txBody>
        </p:sp>
        <p:sp>
          <p:nvSpPr>
            <p:cNvPr id="21" name="Oval 25">
              <a:extLst>
                <a:ext uri="{FF2B5EF4-FFF2-40B4-BE49-F238E27FC236}">
                  <a16:creationId xmlns:a16="http://schemas.microsoft.com/office/drawing/2014/main" id="{5168743E-23ED-F970-8544-88450D81B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2296"/>
              <a:ext cx="80" cy="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E310EB31-CCB7-442E-B16A-5AFE661EF25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72" y="2205"/>
              <a:ext cx="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</a:t>
              </a:r>
            </a:p>
          </p:txBody>
        </p:sp>
        <p:sp>
          <p:nvSpPr>
            <p:cNvPr id="23" name="Oval 27">
              <a:extLst>
                <a:ext uri="{FF2B5EF4-FFF2-40B4-BE49-F238E27FC236}">
                  <a16:creationId xmlns:a16="http://schemas.microsoft.com/office/drawing/2014/main" id="{56BA7FF2-8E87-C880-8225-FDF03CBC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548"/>
              <a:ext cx="80" cy="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Rectangle 28">
              <a:extLst>
                <a:ext uri="{FF2B5EF4-FFF2-40B4-BE49-F238E27FC236}">
                  <a16:creationId xmlns:a16="http://schemas.microsoft.com/office/drawing/2014/main" id="{DD871FF3-8783-6526-2521-9CBEFF8DDD3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73" y="1457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</a:t>
              </a:r>
            </a:p>
          </p:txBody>
        </p:sp>
        <p:sp>
          <p:nvSpPr>
            <p:cNvPr id="25" name="Rectangle 29">
              <a:extLst>
                <a:ext uri="{FF2B5EF4-FFF2-40B4-BE49-F238E27FC236}">
                  <a16:creationId xmlns:a16="http://schemas.microsoft.com/office/drawing/2014/main" id="{4BFC76BB-4162-52B6-04C1-31A7D742C26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11" y="1839"/>
              <a:ext cx="1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</a:t>
              </a:r>
            </a:p>
          </p:txBody>
        </p:sp>
      </p:grpSp>
      <p:grpSp>
        <p:nvGrpSpPr>
          <p:cNvPr id="26" name="Group 87">
            <a:extLst>
              <a:ext uri="{FF2B5EF4-FFF2-40B4-BE49-F238E27FC236}">
                <a16:creationId xmlns:a16="http://schemas.microsoft.com/office/drawing/2014/main" id="{B545CE94-F6FD-07E7-3853-B24F76078834}"/>
              </a:ext>
            </a:extLst>
          </p:cNvPr>
          <p:cNvGrpSpPr>
            <a:grpSpLocks/>
          </p:cNvGrpSpPr>
          <p:nvPr/>
        </p:nvGrpSpPr>
        <p:grpSpPr bwMode="auto">
          <a:xfrm>
            <a:off x="4721640" y="3860950"/>
            <a:ext cx="1217613" cy="1557338"/>
            <a:chOff x="658" y="2727"/>
            <a:chExt cx="767" cy="981"/>
          </a:xfrm>
        </p:grpSpPr>
        <p:sp>
          <p:nvSpPr>
            <p:cNvPr id="27" name="Line 48">
              <a:extLst>
                <a:ext uri="{FF2B5EF4-FFF2-40B4-BE49-F238E27FC236}">
                  <a16:creationId xmlns:a16="http://schemas.microsoft.com/office/drawing/2014/main" id="{5ECE990A-0BE7-2675-B392-190607BA3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" y="304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Line 49">
              <a:extLst>
                <a:ext uri="{FF2B5EF4-FFF2-40B4-BE49-F238E27FC236}">
                  <a16:creationId xmlns:a16="http://schemas.microsoft.com/office/drawing/2014/main" id="{C853FF28-92FE-EA89-4B71-7EEB0D7EC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" y="3180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Line 50">
              <a:extLst>
                <a:ext uri="{FF2B5EF4-FFF2-40B4-BE49-F238E27FC236}">
                  <a16:creationId xmlns:a16="http://schemas.microsoft.com/office/drawing/2014/main" id="{A39C20BE-D02F-967E-1B7A-92F219730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" y="3316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Line 51">
              <a:extLst>
                <a:ext uri="{FF2B5EF4-FFF2-40B4-BE49-F238E27FC236}">
                  <a16:creationId xmlns:a16="http://schemas.microsoft.com/office/drawing/2014/main" id="{F181F4CB-4010-6CE0-E8FD-11F7C1FD6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" y="3226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1" name="Line 52">
              <a:extLst>
                <a:ext uri="{FF2B5EF4-FFF2-40B4-BE49-F238E27FC236}">
                  <a16:creationId xmlns:a16="http://schemas.microsoft.com/office/drawing/2014/main" id="{26BA81DD-E0C6-E05B-D668-B2C033594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" y="3090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2" name="Line 53">
              <a:extLst>
                <a:ext uri="{FF2B5EF4-FFF2-40B4-BE49-F238E27FC236}">
                  <a16:creationId xmlns:a16="http://schemas.microsoft.com/office/drawing/2014/main" id="{93CB389F-DE37-6ED0-8230-2839C96A3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" y="309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3" name="Line 54">
              <a:extLst>
                <a:ext uri="{FF2B5EF4-FFF2-40B4-BE49-F238E27FC236}">
                  <a16:creationId xmlns:a16="http://schemas.microsoft.com/office/drawing/2014/main" id="{F531D646-6765-C25C-C97C-B579C2935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" y="3362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4" name="Line 55">
              <a:extLst>
                <a:ext uri="{FF2B5EF4-FFF2-40B4-BE49-F238E27FC236}">
                  <a16:creationId xmlns:a16="http://schemas.microsoft.com/office/drawing/2014/main" id="{1E2219C8-DCB7-E747-60F2-FD2E39CD20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" y="3226"/>
              <a:ext cx="23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5" name="Line 56">
              <a:extLst>
                <a:ext uri="{FF2B5EF4-FFF2-40B4-BE49-F238E27FC236}">
                  <a16:creationId xmlns:a16="http://schemas.microsoft.com/office/drawing/2014/main" id="{1E5E4989-6B88-8C7C-BE56-F63F98360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3362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6" name="Line 57">
              <a:extLst>
                <a:ext uri="{FF2B5EF4-FFF2-40B4-BE49-F238E27FC236}">
                  <a16:creationId xmlns:a16="http://schemas.microsoft.com/office/drawing/2014/main" id="{42B6F125-0461-2ECA-261E-13727BE91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" y="3362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7" name="Line 58">
              <a:extLst>
                <a:ext uri="{FF2B5EF4-FFF2-40B4-BE49-F238E27FC236}">
                  <a16:creationId xmlns:a16="http://schemas.microsoft.com/office/drawing/2014/main" id="{45F2D00E-2E07-0055-2293-DFECF57D3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2886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8" name="Oval 59">
              <a:extLst>
                <a:ext uri="{FF2B5EF4-FFF2-40B4-BE49-F238E27FC236}">
                  <a16:creationId xmlns:a16="http://schemas.microsoft.com/office/drawing/2014/main" id="{889F874C-77E3-AB1C-A4DD-C039EB68C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3316"/>
              <a:ext cx="80" cy="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9" name="Rectangle 60">
              <a:extLst>
                <a:ext uri="{FF2B5EF4-FFF2-40B4-BE49-F238E27FC236}">
                  <a16:creationId xmlns:a16="http://schemas.microsoft.com/office/drawing/2014/main" id="{DBCB0589-9984-478F-A72C-FA76F026CCE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59" y="3044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</a:t>
              </a:r>
            </a:p>
          </p:txBody>
        </p:sp>
        <p:sp>
          <p:nvSpPr>
            <p:cNvPr id="40" name="Oval 61">
              <a:extLst>
                <a:ext uri="{FF2B5EF4-FFF2-40B4-BE49-F238E27FC236}">
                  <a16:creationId xmlns:a16="http://schemas.microsoft.com/office/drawing/2014/main" id="{B22E1C40-EF13-BD52-B183-21CC46209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566"/>
              <a:ext cx="80" cy="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Rectangle 62">
              <a:extLst>
                <a:ext uri="{FF2B5EF4-FFF2-40B4-BE49-F238E27FC236}">
                  <a16:creationId xmlns:a16="http://schemas.microsoft.com/office/drawing/2014/main" id="{F6CDE66A-185D-278C-DB09-F50F8EECE25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54" y="3475"/>
              <a:ext cx="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</a:t>
              </a:r>
            </a:p>
          </p:txBody>
        </p:sp>
        <p:sp>
          <p:nvSpPr>
            <p:cNvPr id="42" name="Oval 63">
              <a:extLst>
                <a:ext uri="{FF2B5EF4-FFF2-40B4-BE49-F238E27FC236}">
                  <a16:creationId xmlns:a16="http://schemas.microsoft.com/office/drawing/2014/main" id="{64F2AF8A-7F4F-65AA-A356-7D6901891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2818"/>
              <a:ext cx="80" cy="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Rectangle 64">
              <a:extLst>
                <a:ext uri="{FF2B5EF4-FFF2-40B4-BE49-F238E27FC236}">
                  <a16:creationId xmlns:a16="http://schemas.microsoft.com/office/drawing/2014/main" id="{004671DE-2849-9315-3901-C332AA7DE6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55" y="2727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</a:t>
              </a:r>
            </a:p>
          </p:txBody>
        </p:sp>
        <p:sp>
          <p:nvSpPr>
            <p:cNvPr id="44" name="Rectangle 65">
              <a:extLst>
                <a:ext uri="{FF2B5EF4-FFF2-40B4-BE49-F238E27FC236}">
                  <a16:creationId xmlns:a16="http://schemas.microsoft.com/office/drawing/2014/main" id="{FA86494E-DE5D-44C7-D3AE-4C27DB67011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3" y="3109"/>
              <a:ext cx="1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</a:t>
              </a:r>
            </a:p>
          </p:txBody>
        </p:sp>
      </p:grpSp>
      <p:sp>
        <p:nvSpPr>
          <p:cNvPr id="45" name="Rectangle 84">
            <a:extLst>
              <a:ext uri="{FF2B5EF4-FFF2-40B4-BE49-F238E27FC236}">
                <a16:creationId xmlns:a16="http://schemas.microsoft.com/office/drawing/2014/main" id="{E7FF206E-DE7F-6EC4-A26F-56C1D4332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3353" y="4438437"/>
            <a:ext cx="252105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buFontTx/>
              <a:buNone/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沟道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增强型</a:t>
            </a:r>
            <a:endParaRPr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5D7AEB6-7B65-2C8B-91E4-C08B7D77CD8D}"/>
              </a:ext>
            </a:extLst>
          </p:cNvPr>
          <p:cNvSpPr txBox="1"/>
          <p:nvPr/>
        </p:nvSpPr>
        <p:spPr>
          <a:xfrm>
            <a:off x="903078" y="2209949"/>
            <a:ext cx="3582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Vgb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Vgs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&gt;V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，沟道形成，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电压差方向与箭头方向相反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202B419-3568-0DA2-BAB4-CA7893E810DB}"/>
              </a:ext>
            </a:extLst>
          </p:cNvPr>
          <p:cNvSpPr txBox="1"/>
          <p:nvPr/>
        </p:nvSpPr>
        <p:spPr>
          <a:xfrm>
            <a:off x="903077" y="4295181"/>
            <a:ext cx="3535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Vdg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=-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Vgb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&gt;V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，沟道形成，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电压差方向与箭头方向相反</a:t>
            </a:r>
          </a:p>
        </p:txBody>
      </p:sp>
      <p:cxnSp>
        <p:nvCxnSpPr>
          <p:cNvPr id="48" name="直接连接符 87">
            <a:extLst>
              <a:ext uri="{FF2B5EF4-FFF2-40B4-BE49-F238E27FC236}">
                <a16:creationId xmlns:a16="http://schemas.microsoft.com/office/drawing/2014/main" id="{3CDFF989-D2EF-FAD3-DE49-B559465FE5D9}"/>
              </a:ext>
            </a:extLst>
          </p:cNvPr>
          <p:cNvCxnSpPr>
            <a:endCxn id="34" idx="1"/>
          </p:cNvCxnSpPr>
          <p:nvPr/>
        </p:nvCxnSpPr>
        <p:spPr>
          <a:xfrm flipH="1">
            <a:off x="5656678" y="4313386"/>
            <a:ext cx="8883" cy="3397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89">
            <a:extLst>
              <a:ext uri="{FF2B5EF4-FFF2-40B4-BE49-F238E27FC236}">
                <a16:creationId xmlns:a16="http://schemas.microsoft.com/office/drawing/2014/main" id="{FE214F97-99A8-BA29-ECCE-54B7592D58F7}"/>
              </a:ext>
            </a:extLst>
          </p:cNvPr>
          <p:cNvCxnSpPr/>
          <p:nvPr/>
        </p:nvCxnSpPr>
        <p:spPr>
          <a:xfrm flipV="1">
            <a:off x="5532853" y="4323804"/>
            <a:ext cx="123825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A3ED06E5-13A5-176D-79E4-27097B73A729}"/>
              </a:ext>
            </a:extLst>
          </p:cNvPr>
          <p:cNvSpPr/>
          <p:nvPr/>
        </p:nvSpPr>
        <p:spPr>
          <a:xfrm>
            <a:off x="5501874" y="429951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1" name="直接连接符 93">
            <a:extLst>
              <a:ext uri="{FF2B5EF4-FFF2-40B4-BE49-F238E27FC236}">
                <a16:creationId xmlns:a16="http://schemas.microsoft.com/office/drawing/2014/main" id="{EBCD4141-A0DC-516F-6D0A-8A3E639B93BE}"/>
              </a:ext>
            </a:extLst>
          </p:cNvPr>
          <p:cNvCxnSpPr/>
          <p:nvPr/>
        </p:nvCxnSpPr>
        <p:spPr>
          <a:xfrm flipH="1">
            <a:off x="5682566" y="2653049"/>
            <a:ext cx="8884" cy="3494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94">
            <a:extLst>
              <a:ext uri="{FF2B5EF4-FFF2-40B4-BE49-F238E27FC236}">
                <a16:creationId xmlns:a16="http://schemas.microsoft.com/office/drawing/2014/main" id="{DE1EF26E-C087-CCAE-779D-AC917AA5F041}"/>
              </a:ext>
            </a:extLst>
          </p:cNvPr>
          <p:cNvCxnSpPr/>
          <p:nvPr/>
        </p:nvCxnSpPr>
        <p:spPr>
          <a:xfrm flipV="1">
            <a:off x="5561428" y="2977085"/>
            <a:ext cx="123825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56316374-46BB-AF75-FFD4-616B434FE86B}"/>
              </a:ext>
            </a:extLst>
          </p:cNvPr>
          <p:cNvSpPr/>
          <p:nvPr/>
        </p:nvSpPr>
        <p:spPr>
          <a:xfrm>
            <a:off x="5511589" y="294108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727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99833-1D28-E3B3-DBB8-686BB02F7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MOS</a:t>
            </a:r>
            <a:r>
              <a:rPr lang="zh-CN" altLang="en-US" dirty="0"/>
              <a:t>管开关电路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045CE3-1D67-20A3-F4A7-A36E8984C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当</a:t>
            </a:r>
            <a:r>
              <a:rPr kumimoji="1" lang="el-GR" altLang="zh-CN" dirty="0"/>
              <a:t>υ</a:t>
            </a:r>
            <a:r>
              <a:rPr kumimoji="1" lang="en-US" altLang="zh-CN" baseline="-25000" dirty="0"/>
              <a:t>I</a:t>
            </a:r>
            <a:r>
              <a:rPr kumimoji="1" lang="zh-CN" altLang="en-US" dirty="0"/>
              <a:t>为低电平时</a:t>
            </a:r>
            <a:endParaRPr kumimoji="1" lang="en-US" altLang="zh-CN" dirty="0"/>
          </a:p>
          <a:p>
            <a:pPr lvl="1"/>
            <a:r>
              <a:rPr kumimoji="1" lang="en-US" altLang="zh-CN" sz="2000" dirty="0"/>
              <a:t>MOS</a:t>
            </a:r>
            <a:r>
              <a:rPr kumimoji="1" lang="zh-CN" altLang="en-US" sz="2000" dirty="0"/>
              <a:t>管截止，相当于开关“断开”， 输出高电平</a:t>
            </a:r>
          </a:p>
          <a:p>
            <a:r>
              <a:rPr kumimoji="1" lang="zh-CN" altLang="en-US" dirty="0"/>
              <a:t>当</a:t>
            </a:r>
            <a:r>
              <a:rPr kumimoji="1" lang="el-GR" altLang="zh-CN" dirty="0"/>
              <a:t>υ</a:t>
            </a:r>
            <a:r>
              <a:rPr kumimoji="1" lang="en-US" altLang="zh-CN" baseline="-25000" dirty="0"/>
              <a:t>I</a:t>
            </a:r>
            <a:r>
              <a:rPr kumimoji="1" lang="zh-CN" altLang="en-US" dirty="0"/>
              <a:t>为高电平时</a:t>
            </a:r>
            <a:endParaRPr kumimoji="1" lang="en-US" altLang="zh-CN" dirty="0"/>
          </a:p>
          <a:p>
            <a:pPr lvl="1"/>
            <a:r>
              <a:rPr kumimoji="1" lang="en-US" altLang="zh-CN" sz="2000" dirty="0"/>
              <a:t>MOS</a:t>
            </a:r>
            <a:r>
              <a:rPr kumimoji="1" lang="zh-CN" altLang="en-US" sz="2000" dirty="0"/>
              <a:t>管工作在可变电阻区，相当于开关“闭合”，输出为低电平</a:t>
            </a:r>
          </a:p>
          <a:p>
            <a:pPr>
              <a:spcBef>
                <a:spcPct val="10000"/>
              </a:spcBef>
            </a:pPr>
            <a:r>
              <a:rPr kumimoji="1" lang="en-US" altLang="zh-CN" dirty="0"/>
              <a:t>MOS</a:t>
            </a:r>
            <a:r>
              <a:rPr kumimoji="1" lang="zh-CN" altLang="en-US" dirty="0"/>
              <a:t>管相当于一个受控的开关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CAF8AD-8871-260B-9859-AE9C6541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B1F57A-E0EB-4158-180B-0942582D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/35</a:t>
            </a:r>
            <a:endParaRPr lang="en-US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4E76F006-C491-9CA0-41F3-A7FB75012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379158"/>
              </p:ext>
            </p:extLst>
          </p:nvPr>
        </p:nvGraphicFramePr>
        <p:xfrm>
          <a:off x="1952382" y="3063688"/>
          <a:ext cx="1447800" cy="253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780511" imgH="1363232" progId="Word.Picture.8">
                  <p:embed/>
                </p:oleObj>
              </mc:Choice>
              <mc:Fallback>
                <p:oleObj name="图片" r:id="rId2" imgW="780511" imgH="1363232" progId="Word.Picture.8">
                  <p:embed/>
                  <p:pic>
                    <p:nvPicPr>
                      <p:cNvPr id="1024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382" y="3063688"/>
                        <a:ext cx="1447800" cy="253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47">
            <a:extLst>
              <a:ext uri="{FF2B5EF4-FFF2-40B4-BE49-F238E27FC236}">
                <a16:creationId xmlns:a16="http://schemas.microsoft.com/office/drawing/2014/main" id="{4D75696A-0B9F-3352-A3B2-2E3A5AA890B8}"/>
              </a:ext>
            </a:extLst>
          </p:cNvPr>
          <p:cNvGrpSpPr>
            <a:grpSpLocks/>
          </p:cNvGrpSpPr>
          <p:nvPr/>
        </p:nvGrpSpPr>
        <p:grpSpPr bwMode="auto">
          <a:xfrm>
            <a:off x="5305182" y="3282763"/>
            <a:ext cx="1565275" cy="2325688"/>
            <a:chOff x="4493" y="2425"/>
            <a:chExt cx="986" cy="1465"/>
          </a:xfrm>
        </p:grpSpPr>
        <p:sp>
          <p:nvSpPr>
            <p:cNvPr id="8" name="Text Box 58">
              <a:extLst>
                <a:ext uri="{FF2B5EF4-FFF2-40B4-BE49-F238E27FC236}">
                  <a16:creationId xmlns:a16="http://schemas.microsoft.com/office/drawing/2014/main" id="{5CCEF7F6-7F13-B7CB-B4BE-4D97D1B0C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7" y="2425"/>
              <a:ext cx="2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i="1">
                  <a:ea typeface="华康简宋" charset="-122"/>
                </a:rPr>
                <a:t>V</a:t>
              </a:r>
              <a:r>
                <a:rPr lang="en-US" altLang="zh-CN" sz="1800" b="0" baseline="-10000">
                  <a:ea typeface="华康简宋" charset="-122"/>
                </a:rPr>
                <a:t>DD</a:t>
              </a:r>
            </a:p>
          </p:txBody>
        </p:sp>
        <p:sp>
          <p:nvSpPr>
            <p:cNvPr id="9" name="Oval 62">
              <a:extLst>
                <a:ext uri="{FF2B5EF4-FFF2-40B4-BE49-F238E27FC236}">
                  <a16:creationId xmlns:a16="http://schemas.microsoft.com/office/drawing/2014/main" id="{DA1336B0-8D0C-9D6E-8976-831D22E48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8" y="2506"/>
              <a:ext cx="64" cy="6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" name="Line 63">
              <a:extLst>
                <a:ext uri="{FF2B5EF4-FFF2-40B4-BE49-F238E27FC236}">
                  <a16:creationId xmlns:a16="http://schemas.microsoft.com/office/drawing/2014/main" id="{A3BF707A-6428-019A-4DEA-A16DDD9B2D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592" y="2937"/>
              <a:ext cx="73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64">
              <a:extLst>
                <a:ext uri="{FF2B5EF4-FFF2-40B4-BE49-F238E27FC236}">
                  <a16:creationId xmlns:a16="http://schemas.microsoft.com/office/drawing/2014/main" id="{8546440F-6CFB-D6C0-F7BC-4A150A10E37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912" y="2702"/>
              <a:ext cx="96" cy="2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1080000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" name="Line 65">
              <a:extLst>
                <a:ext uri="{FF2B5EF4-FFF2-40B4-BE49-F238E27FC236}">
                  <a16:creationId xmlns:a16="http://schemas.microsoft.com/office/drawing/2014/main" id="{689D0CBD-F1F4-572D-F268-A41B5A2FC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0" y="3119"/>
              <a:ext cx="3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66">
              <a:extLst>
                <a:ext uri="{FF2B5EF4-FFF2-40B4-BE49-F238E27FC236}">
                  <a16:creationId xmlns:a16="http://schemas.microsoft.com/office/drawing/2014/main" id="{76DC1B6F-D557-71B2-E3DE-16B884B5DC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804" y="3447"/>
              <a:ext cx="365" cy="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67">
              <a:extLst>
                <a:ext uri="{FF2B5EF4-FFF2-40B4-BE49-F238E27FC236}">
                  <a16:creationId xmlns:a16="http://schemas.microsoft.com/office/drawing/2014/main" id="{D1B55287-23BD-4599-81CD-CA1ED9A018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39" y="3741"/>
              <a:ext cx="24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68">
              <a:extLst>
                <a:ext uri="{FF2B5EF4-FFF2-40B4-BE49-F238E27FC236}">
                  <a16:creationId xmlns:a16="http://schemas.microsoft.com/office/drawing/2014/main" id="{2B21BC39-D059-8BAD-8EC3-02EA519326D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872" y="3861"/>
              <a:ext cx="186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70">
              <a:extLst>
                <a:ext uri="{FF2B5EF4-FFF2-40B4-BE49-F238E27FC236}">
                  <a16:creationId xmlns:a16="http://schemas.microsoft.com/office/drawing/2014/main" id="{9E2F471B-C8B3-CA14-F29C-D796589AF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5" y="2720"/>
              <a:ext cx="15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i="1">
                  <a:ea typeface="华康简宋" charset="-122"/>
                </a:rPr>
                <a:t>R</a:t>
              </a:r>
              <a:r>
                <a:rPr lang="en-US" altLang="zh-CN" sz="2000" b="0" baseline="-10000">
                  <a:ea typeface="华康简宋" charset="-122"/>
                </a:rPr>
                <a:t>d</a:t>
              </a:r>
            </a:p>
          </p:txBody>
        </p:sp>
        <p:sp>
          <p:nvSpPr>
            <p:cNvPr id="17" name="Line 76">
              <a:extLst>
                <a:ext uri="{FF2B5EF4-FFF2-40B4-BE49-F238E27FC236}">
                  <a16:creationId xmlns:a16="http://schemas.microsoft.com/office/drawing/2014/main" id="{AFF40449-12A5-D4E5-92DE-023EF16279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614" y="3447"/>
              <a:ext cx="36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70">
              <a:extLst>
                <a:ext uri="{FF2B5EF4-FFF2-40B4-BE49-F238E27FC236}">
                  <a16:creationId xmlns:a16="http://schemas.microsoft.com/office/drawing/2014/main" id="{44AA1753-EF19-95E5-416C-FCC258884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9" y="2873"/>
              <a:ext cx="16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 i="1">
                  <a:ea typeface="华康简宋" charset="-122"/>
                </a:rPr>
                <a:t>v</a:t>
              </a:r>
              <a:r>
                <a:rPr lang="en-US" altLang="zh-CN" sz="2000" b="0" baseline="-25000">
                  <a:ea typeface="华康简宋" charset="-122"/>
                </a:rPr>
                <a:t>O</a:t>
              </a:r>
            </a:p>
          </p:txBody>
        </p:sp>
        <p:sp>
          <p:nvSpPr>
            <p:cNvPr id="19" name="Text Box 70">
              <a:extLst>
                <a:ext uri="{FF2B5EF4-FFF2-40B4-BE49-F238E27FC236}">
                  <a16:creationId xmlns:a16="http://schemas.microsoft.com/office/drawing/2014/main" id="{09435E4F-6783-1975-1606-D87B443BB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" y="3430"/>
              <a:ext cx="1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 i="1">
                  <a:ea typeface="华康简宋" charset="-122"/>
                </a:rPr>
                <a:t>v</a:t>
              </a:r>
              <a:r>
                <a:rPr lang="en-US" altLang="zh-CN" sz="2000" b="0" baseline="-25000">
                  <a:ea typeface="华康简宋" charset="-122"/>
                </a:rPr>
                <a:t>I</a:t>
              </a:r>
            </a:p>
          </p:txBody>
        </p:sp>
        <p:sp>
          <p:nvSpPr>
            <p:cNvPr id="20" name="Text Box 70">
              <a:extLst>
                <a:ext uri="{FF2B5EF4-FFF2-40B4-BE49-F238E27FC236}">
                  <a16:creationId xmlns:a16="http://schemas.microsoft.com/office/drawing/2014/main" id="{FFD52564-7F6A-86C9-316D-2C217E92D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3" y="3698"/>
              <a:ext cx="2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i="1">
                  <a:ea typeface="华康简宋" charset="-122"/>
                </a:rPr>
                <a:t>= </a:t>
              </a:r>
              <a:r>
                <a:rPr lang="en-US" altLang="zh-CN" sz="2000" b="0">
                  <a:ea typeface="华康简宋" charset="-122"/>
                </a:rPr>
                <a:t>H</a:t>
              </a:r>
              <a:endParaRPr lang="en-US" altLang="zh-CN" sz="1800" b="0" baseline="-25000">
                <a:ea typeface="华康简宋" charset="-122"/>
              </a:endParaRPr>
            </a:p>
          </p:txBody>
        </p:sp>
      </p:grpSp>
      <p:grpSp>
        <p:nvGrpSpPr>
          <p:cNvPr id="21" name="Group 46">
            <a:extLst>
              <a:ext uri="{FF2B5EF4-FFF2-40B4-BE49-F238E27FC236}">
                <a16:creationId xmlns:a16="http://schemas.microsoft.com/office/drawing/2014/main" id="{37B7DCED-055F-A69E-C366-C5BD95B46151}"/>
              </a:ext>
            </a:extLst>
          </p:cNvPr>
          <p:cNvGrpSpPr>
            <a:grpSpLocks/>
          </p:cNvGrpSpPr>
          <p:nvPr/>
        </p:nvGrpSpPr>
        <p:grpSpPr bwMode="auto">
          <a:xfrm>
            <a:off x="3552582" y="3281176"/>
            <a:ext cx="1568450" cy="2325687"/>
            <a:chOff x="3481" y="2424"/>
            <a:chExt cx="988" cy="1465"/>
          </a:xfrm>
        </p:grpSpPr>
        <p:sp>
          <p:nvSpPr>
            <p:cNvPr id="22" name="Text Box 58">
              <a:extLst>
                <a:ext uri="{FF2B5EF4-FFF2-40B4-BE49-F238E27FC236}">
                  <a16:creationId xmlns:a16="http://schemas.microsoft.com/office/drawing/2014/main" id="{A324CF23-7F5F-565F-5B50-7B6D20A99D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6" y="2424"/>
              <a:ext cx="2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i="1">
                  <a:ea typeface="华康简宋" charset="-122"/>
                </a:rPr>
                <a:t>V</a:t>
              </a:r>
              <a:r>
                <a:rPr lang="en-US" altLang="zh-CN" sz="1800" b="0" baseline="-10000">
                  <a:ea typeface="华康简宋" charset="-122"/>
                </a:rPr>
                <a:t>DD</a:t>
              </a:r>
            </a:p>
          </p:txBody>
        </p:sp>
        <p:sp>
          <p:nvSpPr>
            <p:cNvPr id="23" name="Oval 62">
              <a:extLst>
                <a:ext uri="{FF2B5EF4-FFF2-40B4-BE49-F238E27FC236}">
                  <a16:creationId xmlns:a16="http://schemas.microsoft.com/office/drawing/2014/main" id="{DB8BF71A-C6DE-2AA4-C485-AC247D9F4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2505"/>
              <a:ext cx="64" cy="6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4" name="Line 63">
              <a:extLst>
                <a:ext uri="{FF2B5EF4-FFF2-40B4-BE49-F238E27FC236}">
                  <a16:creationId xmlns:a16="http://schemas.microsoft.com/office/drawing/2014/main" id="{65BA94C7-FFDD-BFE7-D735-0D75F19DF9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71" y="2936"/>
              <a:ext cx="73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3F9C3EC-EF4A-1139-229D-FD02D66761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891" y="2701"/>
              <a:ext cx="96" cy="2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1080000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6" name="Line 65">
              <a:extLst>
                <a:ext uri="{FF2B5EF4-FFF2-40B4-BE49-F238E27FC236}">
                  <a16:creationId xmlns:a16="http://schemas.microsoft.com/office/drawing/2014/main" id="{108B6226-F2CB-D38A-2237-E6BF6A1A5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118"/>
              <a:ext cx="3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66">
              <a:extLst>
                <a:ext uri="{FF2B5EF4-FFF2-40B4-BE49-F238E27FC236}">
                  <a16:creationId xmlns:a16="http://schemas.microsoft.com/office/drawing/2014/main" id="{DE80E774-F802-8A66-63A6-C92269D1C7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3872" y="3357"/>
              <a:ext cx="293" cy="1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67">
              <a:extLst>
                <a:ext uri="{FF2B5EF4-FFF2-40B4-BE49-F238E27FC236}">
                  <a16:creationId xmlns:a16="http://schemas.microsoft.com/office/drawing/2014/main" id="{D7F5A6FC-5BC1-2AFE-5FC2-47E8CD7BBB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18" y="3740"/>
              <a:ext cx="24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70">
              <a:extLst>
                <a:ext uri="{FF2B5EF4-FFF2-40B4-BE49-F238E27FC236}">
                  <a16:creationId xmlns:a16="http://schemas.microsoft.com/office/drawing/2014/main" id="{605A0619-A4F1-A5A7-1601-1BBE499AC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4" y="2719"/>
              <a:ext cx="15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i="1">
                  <a:ea typeface="华康简宋" charset="-122"/>
                </a:rPr>
                <a:t>R</a:t>
              </a:r>
              <a:r>
                <a:rPr lang="en-US" altLang="zh-CN" sz="2000" b="0" baseline="-10000">
                  <a:ea typeface="华康简宋" charset="-122"/>
                </a:rPr>
                <a:t>d</a:t>
              </a:r>
            </a:p>
          </p:txBody>
        </p:sp>
        <p:sp>
          <p:nvSpPr>
            <p:cNvPr id="30" name="Line 76">
              <a:extLst>
                <a:ext uri="{FF2B5EF4-FFF2-40B4-BE49-F238E27FC236}">
                  <a16:creationId xmlns:a16="http://schemas.microsoft.com/office/drawing/2014/main" id="{3AB9CD42-E07B-BBE2-1238-305C777563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621" y="3446"/>
              <a:ext cx="36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70">
              <a:extLst>
                <a:ext uri="{FF2B5EF4-FFF2-40B4-BE49-F238E27FC236}">
                  <a16:creationId xmlns:a16="http://schemas.microsoft.com/office/drawing/2014/main" id="{D2A13D39-D85A-E3AE-E226-42B38B865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9" y="2896"/>
              <a:ext cx="16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 i="1">
                  <a:ea typeface="华康简宋" charset="-122"/>
                </a:rPr>
                <a:t>v</a:t>
              </a:r>
              <a:r>
                <a:rPr lang="en-US" altLang="zh-CN" sz="2000" b="0" baseline="-25000">
                  <a:ea typeface="华康简宋" charset="-122"/>
                </a:rPr>
                <a:t>O</a:t>
              </a:r>
            </a:p>
          </p:txBody>
        </p:sp>
        <p:sp>
          <p:nvSpPr>
            <p:cNvPr id="32" name="Text Box 70">
              <a:extLst>
                <a:ext uri="{FF2B5EF4-FFF2-40B4-BE49-F238E27FC236}">
                  <a16:creationId xmlns:a16="http://schemas.microsoft.com/office/drawing/2014/main" id="{E579DD3F-8EEC-87B9-E188-3A490368A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1" y="3429"/>
              <a:ext cx="1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 i="1">
                  <a:ea typeface="华康简宋" charset="-122"/>
                </a:rPr>
                <a:t>v</a:t>
              </a:r>
              <a:r>
                <a:rPr lang="en-US" altLang="zh-CN" sz="2000" b="0" baseline="-25000">
                  <a:ea typeface="华康简宋" charset="-122"/>
                </a:rPr>
                <a:t>I</a:t>
              </a:r>
            </a:p>
          </p:txBody>
        </p:sp>
        <p:sp>
          <p:nvSpPr>
            <p:cNvPr id="33" name="Text Box 70">
              <a:extLst>
                <a:ext uri="{FF2B5EF4-FFF2-40B4-BE49-F238E27FC236}">
                  <a16:creationId xmlns:a16="http://schemas.microsoft.com/office/drawing/2014/main" id="{A198198D-CEDB-C4A2-C80B-C9080FC10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1" y="3697"/>
              <a:ext cx="24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i="1">
                  <a:ea typeface="华康简宋" charset="-122"/>
                </a:rPr>
                <a:t>= </a:t>
              </a:r>
              <a:r>
                <a:rPr lang="en-US" altLang="zh-CN" sz="2000" b="0">
                  <a:ea typeface="华康简宋" charset="-122"/>
                </a:rPr>
                <a:t>L</a:t>
              </a:r>
              <a:endParaRPr lang="en-US" altLang="zh-CN" sz="1800" b="0" baseline="-25000">
                <a:ea typeface="华康简宋" charset="-122"/>
              </a:endParaRPr>
            </a:p>
          </p:txBody>
        </p:sp>
        <p:sp>
          <p:nvSpPr>
            <p:cNvPr id="34" name="Line 68">
              <a:extLst>
                <a:ext uri="{FF2B5EF4-FFF2-40B4-BE49-F238E27FC236}">
                  <a16:creationId xmlns:a16="http://schemas.microsoft.com/office/drawing/2014/main" id="{C46781FB-9584-B159-AC0F-F7BAB2B0B0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852" y="3861"/>
              <a:ext cx="186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" name="Text Box 70">
            <a:extLst>
              <a:ext uri="{FF2B5EF4-FFF2-40B4-BE49-F238E27FC236}">
                <a16:creationId xmlns:a16="http://schemas.microsoft.com/office/drawing/2014/main" id="{81E18DF4-F85B-F1D9-5CE7-D0B63AD16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357" y="4432113"/>
            <a:ext cx="3794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 b="0">
                <a:ea typeface="华康简宋" charset="-122"/>
              </a:rPr>
              <a:t>= L</a:t>
            </a:r>
            <a:endParaRPr lang="en-US" altLang="zh-CN" sz="1800" b="0" baseline="-25000">
              <a:ea typeface="华康简宋" charset="-122"/>
            </a:endParaRPr>
          </a:p>
        </p:txBody>
      </p:sp>
      <p:sp>
        <p:nvSpPr>
          <p:cNvPr id="36" name="Text Box 70">
            <a:extLst>
              <a:ext uri="{FF2B5EF4-FFF2-40B4-BE49-F238E27FC236}">
                <a16:creationId xmlns:a16="http://schemas.microsoft.com/office/drawing/2014/main" id="{04E68E00-1546-E9F0-5537-9506BC7F1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520" y="4463863"/>
            <a:ext cx="419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 b="0" i="1">
                <a:ea typeface="华康简宋" charset="-122"/>
              </a:rPr>
              <a:t>= </a:t>
            </a:r>
            <a:r>
              <a:rPr lang="en-US" altLang="zh-CN" sz="2000" b="0">
                <a:ea typeface="华康简宋" charset="-122"/>
              </a:rPr>
              <a:t>H</a:t>
            </a:r>
            <a:endParaRPr lang="en-US" altLang="zh-CN" sz="1800" b="0" baseline="-25000">
              <a:ea typeface="华康简宋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173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C3B2A-6E32-F2AD-6891-E2FFAC5C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</a:t>
            </a:r>
            <a:r>
              <a:rPr lang="zh-CN" altLang="en-US" dirty="0"/>
              <a:t>非门 </a:t>
            </a:r>
            <a:r>
              <a:rPr lang="en-US" altLang="zh-CN" dirty="0"/>
              <a:t>(1)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4D74E2-8185-2444-4858-64A3A3C20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</a:t>
            </a:r>
            <a:r>
              <a:rPr kumimoji="1" lang="en-US" altLang="zh-CN" sz="2800" dirty="0"/>
              <a:t>V</a:t>
            </a:r>
            <a:r>
              <a:rPr kumimoji="1" lang="en-US" altLang="zh-CN" sz="2800" baseline="-25000" dirty="0"/>
              <a:t>TN </a:t>
            </a:r>
            <a:r>
              <a:rPr kumimoji="1" lang="en-US" altLang="zh-CN" sz="2800" dirty="0"/>
              <a:t>= 1V</a:t>
            </a:r>
            <a:r>
              <a:rPr kumimoji="1" lang="zh-CN" altLang="en-US" sz="2800" dirty="0"/>
              <a:t>，</a:t>
            </a:r>
            <a:r>
              <a:rPr kumimoji="1" lang="en-US" altLang="zh-CN" sz="2800" dirty="0"/>
              <a:t>V</a:t>
            </a:r>
            <a:r>
              <a:rPr kumimoji="1" lang="en-US" altLang="zh-CN" sz="2800" baseline="-25000" dirty="0"/>
              <a:t>TP </a:t>
            </a:r>
            <a:r>
              <a:rPr kumimoji="1" lang="en-US" altLang="zh-CN" sz="2800" dirty="0"/>
              <a:t>= </a:t>
            </a:r>
            <a:r>
              <a:rPr kumimoji="1" lang="en-US" altLang="zh-CN" sz="2800" dirty="0">
                <a:cs typeface="Times New Roman" panose="02020603050405020304" pitchFamily="18" charset="0"/>
              </a:rPr>
              <a:t>–</a:t>
            </a:r>
            <a:r>
              <a:rPr kumimoji="1" lang="en-US" altLang="zh-CN" sz="2800" dirty="0"/>
              <a:t> 1V</a:t>
            </a:r>
            <a:r>
              <a:rPr kumimoji="1" lang="zh-CN" altLang="en-US" sz="2800" dirty="0"/>
              <a:t>，</a:t>
            </a:r>
            <a:r>
              <a:rPr kumimoji="1" lang="en-US" altLang="zh-CN" sz="2800" dirty="0"/>
              <a:t>V</a:t>
            </a:r>
            <a:r>
              <a:rPr kumimoji="1" lang="en-US" altLang="zh-CN" sz="2800" baseline="-25000" dirty="0"/>
              <a:t>DD </a:t>
            </a:r>
            <a:r>
              <a:rPr kumimoji="1" lang="en-US" altLang="zh-CN" sz="2800" dirty="0"/>
              <a:t>= 5V</a:t>
            </a:r>
            <a:endParaRPr kumimoji="1" lang="zh-CN" altLang="en-US" sz="28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8B4B8F-F399-F7AD-9D6E-F8634D83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E257A1-E679-D38C-FC3C-F2B12355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/35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F2971FC8-305E-7ADC-2676-44AFECCABB48}"/>
              </a:ext>
            </a:extLst>
          </p:cNvPr>
          <p:cNvGrpSpPr>
            <a:grpSpLocks/>
          </p:cNvGrpSpPr>
          <p:nvPr/>
        </p:nvGrpSpPr>
        <p:grpSpPr bwMode="auto">
          <a:xfrm>
            <a:off x="6219031" y="2804997"/>
            <a:ext cx="635000" cy="1122362"/>
            <a:chOff x="632" y="3031"/>
            <a:chExt cx="423" cy="748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928A0D7D-BF66-BB60-7C20-2CA02173A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" y="3575"/>
              <a:ext cx="20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solidFill>
                    <a:schemeClr val="tx2"/>
                  </a:solidFill>
                </a:rPr>
                <a:t>0V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BF476938-5BAE-7E8C-47CA-32514BAA7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" y="3031"/>
              <a:ext cx="30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+5V</a:t>
              </a:r>
              <a:endParaRPr kumimoji="1" lang="en-US" altLang="zh-CN" sz="2000" b="0"/>
            </a:p>
          </p:txBody>
        </p:sp>
        <p:cxnSp>
          <p:nvCxnSpPr>
            <p:cNvPr id="9" name="AutoShape 7">
              <a:extLst>
                <a:ext uri="{FF2B5EF4-FFF2-40B4-BE49-F238E27FC236}">
                  <a16:creationId xmlns:a16="http://schemas.microsoft.com/office/drawing/2014/main" id="{1A588BDF-0B40-BE7F-5F13-12D772222B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32" y="3258"/>
              <a:ext cx="423" cy="317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" name="Group 108">
            <a:extLst>
              <a:ext uri="{FF2B5EF4-FFF2-40B4-BE49-F238E27FC236}">
                <a16:creationId xmlns:a16="http://schemas.microsoft.com/office/drawing/2014/main" id="{59041B65-9165-0586-3136-8BA925FEB56F}"/>
              </a:ext>
            </a:extLst>
          </p:cNvPr>
          <p:cNvGrpSpPr>
            <a:grpSpLocks/>
          </p:cNvGrpSpPr>
          <p:nvPr/>
        </p:nvGrpSpPr>
        <p:grpSpPr bwMode="auto">
          <a:xfrm>
            <a:off x="6709569" y="1076209"/>
            <a:ext cx="2181225" cy="2716213"/>
            <a:chOff x="4127" y="822"/>
            <a:chExt cx="1374" cy="1711"/>
          </a:xfrm>
        </p:grpSpPr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7C010494-2E34-4672-251D-1E9DEEA169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" y="1434"/>
              <a:ext cx="25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i="1"/>
                <a:t>v</a:t>
              </a:r>
              <a:r>
                <a:rPr kumimoji="1" lang="en-US" altLang="zh-CN" baseline="-10000"/>
                <a:t>i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DE4044C7-5755-DA4E-611A-FE8A59C1F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5" y="1298"/>
              <a:ext cx="3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600"/>
                <a:t>P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A3CA7722-7C61-D369-B01F-EEB021BBB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3" y="822"/>
              <a:ext cx="4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i="1"/>
                <a:t>V</a:t>
              </a:r>
              <a:r>
                <a:rPr kumimoji="1" lang="en-US" altLang="zh-CN" sz="1400"/>
                <a:t>DD</a:t>
              </a:r>
              <a:endParaRPr kumimoji="1" lang="en-US" altLang="zh-CN" sz="1600"/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20603CAA-C15D-DCD7-B874-40995C451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0" y="1602"/>
              <a:ext cx="2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i="1"/>
                <a:t>v</a:t>
              </a:r>
              <a:r>
                <a:rPr kumimoji="1" lang="en-US" altLang="zh-CN" baseline="-10000"/>
                <a:t>o</a:t>
              </a: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60F9D35B-0DBB-AF5F-4969-967203400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784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02976000-543F-97F4-B4EC-391550731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693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B566B9E9-7FA9-8773-51A0-5FEFBBE79D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9" y="2396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D5D33D40-38D0-6180-90AF-5C7AC27DB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" y="2532"/>
              <a:ext cx="181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A747B141-2D7F-6879-06A6-B202E8D191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036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18F25753-8B88-C581-AA6E-220239345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96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8FF1FEAD-3C2C-DC4D-E886-750D920DA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4" y="1285"/>
              <a:ext cx="0" cy="9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6CC371EA-D5A8-78BD-95B2-73C61CA0D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196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F4031F1D-653E-BE40-6A27-B80CB9A08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10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39FA2E70-6802-BDEF-A87D-2B5D4BF09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237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E4EA8D5C-F9BB-589E-1D13-1F033D8771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14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9126A40E-E934-ACB3-58A0-0E23CBC01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2" y="2011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86D5707C-2392-792F-0E0B-4C681FB2A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01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07BC4D48-1E48-902F-E385-5FF55F943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28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2BB8062A-0414-A8A9-6DE0-93792348D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14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E77A747D-FA9C-B589-F152-53A9216B0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4" y="2283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F6B6D927-98E0-DA52-DE17-17560D8297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9" y="2147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7DD4488D-318F-8E66-BC97-FC29823BE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2" y="1875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5F017767-818B-844A-27F9-8F390C483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239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6">
              <a:extLst>
                <a:ext uri="{FF2B5EF4-FFF2-40B4-BE49-F238E27FC236}">
                  <a16:creationId xmlns:a16="http://schemas.microsoft.com/office/drawing/2014/main" id="{70BE497E-FE57-983B-C30B-6BD5A32E3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37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7">
              <a:extLst>
                <a:ext uri="{FF2B5EF4-FFF2-40B4-BE49-F238E27FC236}">
                  <a16:creationId xmlns:a16="http://schemas.microsoft.com/office/drawing/2014/main" id="{39ED8598-1704-6B37-E9C6-A2B78D0A1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51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38">
              <a:extLst>
                <a:ext uri="{FF2B5EF4-FFF2-40B4-BE49-F238E27FC236}">
                  <a16:creationId xmlns:a16="http://schemas.microsoft.com/office/drawing/2014/main" id="{DE9293E9-B8CB-6962-E883-5FFF86B94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42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9">
              <a:extLst>
                <a:ext uri="{FF2B5EF4-FFF2-40B4-BE49-F238E27FC236}">
                  <a16:creationId xmlns:a16="http://schemas.microsoft.com/office/drawing/2014/main" id="{4619333F-8AC4-7AD3-5162-EFB0DCA31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6" y="1285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40">
              <a:extLst>
                <a:ext uri="{FF2B5EF4-FFF2-40B4-BE49-F238E27FC236}">
                  <a16:creationId xmlns:a16="http://schemas.microsoft.com/office/drawing/2014/main" id="{CA2217A3-42D5-1CE8-8CE3-1E88B4DFF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285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41">
              <a:extLst>
                <a:ext uri="{FF2B5EF4-FFF2-40B4-BE49-F238E27FC236}">
                  <a16:creationId xmlns:a16="http://schemas.microsoft.com/office/drawing/2014/main" id="{27A66DDF-A9A3-0992-FEE5-4D828D555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55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42">
              <a:extLst>
                <a:ext uri="{FF2B5EF4-FFF2-40B4-BE49-F238E27FC236}">
                  <a16:creationId xmlns:a16="http://schemas.microsoft.com/office/drawing/2014/main" id="{E88556AB-6E0C-97E1-DE0F-2B86CF667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42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3">
              <a:extLst>
                <a:ext uri="{FF2B5EF4-FFF2-40B4-BE49-F238E27FC236}">
                  <a16:creationId xmlns:a16="http://schemas.microsoft.com/office/drawing/2014/main" id="{7855D232-D600-8CF6-D3B0-937095E8F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149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4">
              <a:extLst>
                <a:ext uri="{FF2B5EF4-FFF2-40B4-BE49-F238E27FC236}">
                  <a16:creationId xmlns:a16="http://schemas.microsoft.com/office/drawing/2014/main" id="{C51AE354-FBCE-88BE-9236-156FA3ADF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557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5FD3289B-F64A-376D-C88B-31D845860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5" y="1285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71607A4D-04F4-B7F2-8C7E-19CB31BAF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2" y="1784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49">
              <a:extLst>
                <a:ext uri="{FF2B5EF4-FFF2-40B4-BE49-F238E27FC236}">
                  <a16:creationId xmlns:a16="http://schemas.microsoft.com/office/drawing/2014/main" id="{84F059EA-6A79-9610-ED26-8653F8B03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1979"/>
              <a:ext cx="3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400"/>
                <a:t>N</a:t>
              </a:r>
            </a:p>
          </p:txBody>
        </p:sp>
        <p:sp>
          <p:nvSpPr>
            <p:cNvPr id="46" name="Text Box 50">
              <a:extLst>
                <a:ext uri="{FF2B5EF4-FFF2-40B4-BE49-F238E27FC236}">
                  <a16:creationId xmlns:a16="http://schemas.microsoft.com/office/drawing/2014/main" id="{1B0CFFEF-4236-622B-62C9-7782169CD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5" y="2304"/>
              <a:ext cx="11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/>
                <a:t>G</a:t>
              </a:r>
            </a:p>
          </p:txBody>
        </p:sp>
        <p:sp>
          <p:nvSpPr>
            <p:cNvPr id="47" name="Text Box 51">
              <a:extLst>
                <a:ext uri="{FF2B5EF4-FFF2-40B4-BE49-F238E27FC236}">
                  <a16:creationId xmlns:a16="http://schemas.microsoft.com/office/drawing/2014/main" id="{9DFE41CD-5EA3-2279-564F-6A954B30B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2" y="2296"/>
              <a:ext cx="15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/>
                <a:t>S</a:t>
              </a:r>
              <a:r>
                <a:rPr lang="en-US" altLang="zh-CN" sz="1200"/>
                <a:t>N</a:t>
              </a:r>
              <a:endParaRPr lang="en-US" altLang="zh-CN" sz="1400"/>
            </a:p>
          </p:txBody>
        </p:sp>
        <p:sp>
          <p:nvSpPr>
            <p:cNvPr id="48" name="Text Box 52">
              <a:extLst>
                <a:ext uri="{FF2B5EF4-FFF2-40B4-BE49-F238E27FC236}">
                  <a16:creationId xmlns:a16="http://schemas.microsoft.com/office/drawing/2014/main" id="{7E02F62A-CAC3-D6D5-C4B0-76106ADF9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" y="1692"/>
              <a:ext cx="1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/>
                <a:t>D</a:t>
              </a:r>
            </a:p>
          </p:txBody>
        </p:sp>
        <p:sp>
          <p:nvSpPr>
            <p:cNvPr id="49" name="Text Box 53">
              <a:extLst>
                <a:ext uri="{FF2B5EF4-FFF2-40B4-BE49-F238E27FC236}">
                  <a16:creationId xmlns:a16="http://schemas.microsoft.com/office/drawing/2014/main" id="{28FF2822-FAA0-1DFC-5AA3-C81C6A1C5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9" y="1116"/>
              <a:ext cx="1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/>
                <a:t>S</a:t>
              </a:r>
              <a:r>
                <a:rPr lang="en-US" altLang="zh-CN" sz="1400"/>
                <a:t>P</a:t>
              </a:r>
            </a:p>
          </p:txBody>
        </p:sp>
      </p:grpSp>
      <p:graphicFrame>
        <p:nvGraphicFramePr>
          <p:cNvPr id="50" name="Group 54">
            <a:extLst>
              <a:ext uri="{FF2B5EF4-FFF2-40B4-BE49-F238E27FC236}">
                <a16:creationId xmlns:a16="http://schemas.microsoft.com/office/drawing/2014/main" id="{325D1709-0D8C-82BA-6117-DC1999AAB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985741"/>
              </p:ext>
            </p:extLst>
          </p:nvPr>
        </p:nvGraphicFramePr>
        <p:xfrm>
          <a:off x="573088" y="1924050"/>
          <a:ext cx="4824412" cy="1674813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i</a:t>
                      </a:r>
                      <a:endParaRPr kumimoji="1" lang="zh-CN" altLang="en-US" sz="2800" b="1" i="0" u="none" strike="noStrike" cap="none" normalizeH="0" baseline="-1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GS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N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GS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N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o</a:t>
                      </a:r>
                      <a:endParaRPr kumimoji="1" lang="zh-CN" altLang="en-US" sz="2800" b="1" i="0" u="none" strike="noStrike" cap="none" normalizeH="0" baseline="-1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" name="Rectangle 88">
            <a:extLst>
              <a:ext uri="{FF2B5EF4-FFF2-40B4-BE49-F238E27FC236}">
                <a16:creationId xmlns:a16="http://schemas.microsoft.com/office/drawing/2014/main" id="{F3BD4D36-AA1F-E5F3-A8DF-8FACB2269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800" y="3940175"/>
            <a:ext cx="954088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zh-CN" altLang="en-US" sz="2400"/>
              <a:t>真值表</a:t>
            </a:r>
          </a:p>
        </p:txBody>
      </p:sp>
      <p:grpSp>
        <p:nvGrpSpPr>
          <p:cNvPr id="52" name="Group 89">
            <a:extLst>
              <a:ext uri="{FF2B5EF4-FFF2-40B4-BE49-F238E27FC236}">
                <a16:creationId xmlns:a16="http://schemas.microsoft.com/office/drawing/2014/main" id="{B4E731C5-1944-4965-E65D-C6D2B8000E54}"/>
              </a:ext>
            </a:extLst>
          </p:cNvPr>
          <p:cNvGrpSpPr>
            <a:grpSpLocks/>
          </p:cNvGrpSpPr>
          <p:nvPr/>
        </p:nvGrpSpPr>
        <p:grpSpPr bwMode="auto">
          <a:xfrm>
            <a:off x="6529776" y="5356542"/>
            <a:ext cx="1903412" cy="523875"/>
            <a:chOff x="3940" y="3304"/>
            <a:chExt cx="1199" cy="330"/>
          </a:xfrm>
        </p:grpSpPr>
        <p:sp>
          <p:nvSpPr>
            <p:cNvPr id="53" name="Line 90">
              <a:extLst>
                <a:ext uri="{FF2B5EF4-FFF2-40B4-BE49-F238E27FC236}">
                  <a16:creationId xmlns:a16="http://schemas.microsoft.com/office/drawing/2014/main" id="{A57DF1FF-422C-4740-F085-743005E5DA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1" y="3465"/>
              <a:ext cx="2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Text Box 91">
              <a:extLst>
                <a:ext uri="{FF2B5EF4-FFF2-40B4-BE49-F238E27FC236}">
                  <a16:creationId xmlns:a16="http://schemas.microsoft.com/office/drawing/2014/main" id="{DC62A2B0-7F3B-4B5A-F441-24ACA6856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3" y="3384"/>
              <a:ext cx="15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Y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55" name="AutoShape 92">
              <a:extLst>
                <a:ext uri="{FF2B5EF4-FFF2-40B4-BE49-F238E27FC236}">
                  <a16:creationId xmlns:a16="http://schemas.microsoft.com/office/drawing/2014/main" id="{49468740-6F07-215A-3975-1B339B93F0B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347" y="3313"/>
              <a:ext cx="330" cy="311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6" name="Text Box 93">
              <a:extLst>
                <a:ext uri="{FF2B5EF4-FFF2-40B4-BE49-F238E27FC236}">
                  <a16:creationId xmlns:a16="http://schemas.microsoft.com/office/drawing/2014/main" id="{27F09507-707D-6744-2EAF-D627A4AF3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0" y="3366"/>
              <a:ext cx="15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57" name="Line 94">
              <a:extLst>
                <a:ext uri="{FF2B5EF4-FFF2-40B4-BE49-F238E27FC236}">
                  <a16:creationId xmlns:a16="http://schemas.microsoft.com/office/drawing/2014/main" id="{A9650EE5-3E15-C134-6EF7-E6A43B43C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9" y="3469"/>
              <a:ext cx="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Oval 95">
              <a:extLst>
                <a:ext uri="{FF2B5EF4-FFF2-40B4-BE49-F238E27FC236}">
                  <a16:creationId xmlns:a16="http://schemas.microsoft.com/office/drawing/2014/main" id="{64A0411F-D3B7-9827-08F6-98B691725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" y="3424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59" name="Group 96">
            <a:extLst>
              <a:ext uri="{FF2B5EF4-FFF2-40B4-BE49-F238E27FC236}">
                <a16:creationId xmlns:a16="http://schemas.microsoft.com/office/drawing/2014/main" id="{CBC062BF-93B0-EFEB-7D76-74BEB9EBF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9160"/>
              </p:ext>
            </p:extLst>
          </p:nvPr>
        </p:nvGraphicFramePr>
        <p:xfrm>
          <a:off x="1581150" y="4445000"/>
          <a:ext cx="2700338" cy="1368425"/>
        </p:xfrm>
        <a:graphic>
          <a:graphicData uri="http://schemas.openxmlformats.org/drawingml/2006/table">
            <a:tbl>
              <a:tblPr/>
              <a:tblGrid>
                <a:gridCol w="1382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i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(A)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o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(Y)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0" name="Object 114">
            <a:extLst>
              <a:ext uri="{FF2B5EF4-FFF2-40B4-BE49-F238E27FC236}">
                <a16:creationId xmlns:a16="http://schemas.microsoft.com/office/drawing/2014/main" id="{14C6F4DC-063A-DDA2-E178-2E92A376B2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568382"/>
              </p:ext>
            </p:extLst>
          </p:nvPr>
        </p:nvGraphicFramePr>
        <p:xfrm>
          <a:off x="6940938" y="4496117"/>
          <a:ext cx="9969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03868" imgH="175369" progId="Equation.3">
                  <p:embed/>
                </p:oleObj>
              </mc:Choice>
              <mc:Fallback>
                <p:oleObj name="公式" r:id="rId3" imgW="403868" imgH="175369" progId="Equation.3">
                  <p:embed/>
                  <p:pic>
                    <p:nvPicPr>
                      <p:cNvPr id="1088626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0938" y="4496117"/>
                        <a:ext cx="99695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Group 54">
            <a:extLst>
              <a:ext uri="{FF2B5EF4-FFF2-40B4-BE49-F238E27FC236}">
                <a16:creationId xmlns:a16="http://schemas.microsoft.com/office/drawing/2014/main" id="{409B7B14-F8D5-D2C1-DCD5-52A6469AA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610022"/>
              </p:ext>
            </p:extLst>
          </p:nvPr>
        </p:nvGraphicFramePr>
        <p:xfrm>
          <a:off x="573088" y="1924050"/>
          <a:ext cx="4824412" cy="1674813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zh-CN" altLang="en-US" sz="2800" b="1" i="0" u="none" strike="noStrike" cap="none" normalizeH="0" baseline="-1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GS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GS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</a:t>
                      </a:r>
                      <a:endParaRPr kumimoji="1" lang="zh-CN" altLang="en-US" sz="2800" b="1" i="0" u="none" strike="noStrike" cap="none" normalizeH="0" baseline="-1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0V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0V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-5V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5V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5V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5V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0V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0V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34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D8043-9B0A-B84B-3224-55CF5448E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</a:t>
            </a:r>
            <a:r>
              <a:rPr lang="zh-CN" altLang="en-US" dirty="0"/>
              <a:t>非门 </a:t>
            </a:r>
            <a:r>
              <a:rPr lang="en-US" altLang="zh-CN" dirty="0"/>
              <a:t>(2)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638879-431B-D197-D753-1E42B00F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11D2B1-18F2-6265-371D-9FFD5739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/35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45FB79-840B-95CE-69D6-8FB4E52D3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5840413"/>
            <a:ext cx="171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 b="0" dirty="0">
                <a:latin typeface="+mj-ea"/>
                <a:ea typeface="+mj-ea"/>
              </a:rPr>
              <a:t>电压传输特性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16DD675-DA13-AF15-2078-845E92FC42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675" y="1809750"/>
          <a:ext cx="3679825" cy="395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1438095" imgH="12904762" progId="Photoshop.Image.8">
                  <p:embed/>
                </p:oleObj>
              </mc:Choice>
              <mc:Fallback>
                <p:oleObj name="Image" r:id="rId3" imgW="11438095" imgH="12904762" progId="Photoshop.Image.8">
                  <p:embed/>
                  <p:pic>
                    <p:nvPicPr>
                      <p:cNvPr id="1434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1809750"/>
                        <a:ext cx="3679825" cy="395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ED53DDC-265D-FD21-7DD6-8E268F9980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1944688"/>
          <a:ext cx="4176712" cy="389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14180952" imgH="10504762" progId="Photoshop.Image.8">
                  <p:embed/>
                </p:oleObj>
              </mc:Choice>
              <mc:Fallback>
                <p:oleObj name="Image" r:id="rId5" imgW="14180952" imgH="10504762" progId="Photoshop.Image.8">
                  <p:embed/>
                  <p:pic>
                    <p:nvPicPr>
                      <p:cNvPr id="1434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1944688"/>
                        <a:ext cx="4176712" cy="389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">
            <a:extLst>
              <a:ext uri="{FF2B5EF4-FFF2-40B4-BE49-F238E27FC236}">
                <a16:creationId xmlns:a16="http://schemas.microsoft.com/office/drawing/2014/main" id="{985AD5B8-3455-492A-50DB-2DAD71058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5875338"/>
            <a:ext cx="171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 b="0">
                <a:latin typeface="+mj-ea"/>
                <a:ea typeface="+mj-ea"/>
              </a:rPr>
              <a:t>电流传输特性</a:t>
            </a:r>
          </a:p>
        </p:txBody>
      </p:sp>
      <p:grpSp>
        <p:nvGrpSpPr>
          <p:cNvPr id="11" name="Group 104">
            <a:extLst>
              <a:ext uri="{FF2B5EF4-FFF2-40B4-BE49-F238E27FC236}">
                <a16:creationId xmlns:a16="http://schemas.microsoft.com/office/drawing/2014/main" id="{020B003C-3969-FB09-9BFA-6109CA534486}"/>
              </a:ext>
            </a:extLst>
          </p:cNvPr>
          <p:cNvGrpSpPr>
            <a:grpSpLocks/>
          </p:cNvGrpSpPr>
          <p:nvPr/>
        </p:nvGrpSpPr>
        <p:grpSpPr bwMode="auto">
          <a:xfrm>
            <a:off x="7475220" y="562307"/>
            <a:ext cx="1947863" cy="2303462"/>
            <a:chOff x="4150" y="890"/>
            <a:chExt cx="1390" cy="1643"/>
          </a:xfrm>
        </p:grpSpPr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1A1A0DAD-99C8-6DEE-7C7C-5CF6C5B8D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434"/>
              <a:ext cx="291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i="1"/>
                <a:t>v</a:t>
              </a:r>
              <a:r>
                <a:rPr kumimoji="1" lang="en-US" altLang="zh-CN" baseline="-10000"/>
                <a:t>i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8BE7524B-4F9D-B42B-DD9B-BF42B8366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5" y="1298"/>
              <a:ext cx="329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T</a:t>
              </a:r>
              <a:r>
                <a:rPr kumimoji="1" lang="en-US" altLang="zh-CN" sz="1400"/>
                <a:t>P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4F3314CF-2326-0973-1644-EB5B7FCCA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" y="890"/>
              <a:ext cx="423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i="1"/>
                <a:t>V</a:t>
              </a:r>
              <a:r>
                <a:rPr kumimoji="1" lang="en-US" altLang="zh-CN" sz="2000" baseline="-15000"/>
                <a:t>DD</a:t>
              </a:r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B10F2C95-88AD-5199-736D-3378D68234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0" y="1602"/>
              <a:ext cx="330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i="1"/>
                <a:t>v</a:t>
              </a:r>
              <a:r>
                <a:rPr kumimoji="1" lang="en-US" altLang="zh-CN" baseline="-10000"/>
                <a:t>o</a:t>
              </a: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53FD0A80-2107-563B-DC39-B3F3AF3C9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784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033D327D-1C21-D28A-DF25-7262A46F9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693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5E8F7849-F21E-8A70-6FEC-8768E71B13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9" y="2396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4EDDFD65-8E52-B4EF-8A5A-BBB97C4DA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" y="2532"/>
              <a:ext cx="181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CCE0DA02-2824-4CA6-6BB2-4A1BEEB8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036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Oval 18">
              <a:extLst>
                <a:ext uri="{FF2B5EF4-FFF2-40B4-BE49-F238E27FC236}">
                  <a16:creationId xmlns:a16="http://schemas.microsoft.com/office/drawing/2014/main" id="{2858DC8D-2991-A0A2-4B94-BBAAD648D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96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8C34D555-A2D0-24A7-89A1-64EEB5260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4" y="1285"/>
              <a:ext cx="0" cy="9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6891B132-D13A-37BB-2643-BCC8D846C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196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E77DE585-4D7F-BD11-513C-D8715223B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10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E9D8EF21-C554-1261-FCE9-342C8C26A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237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25BC4179-B1A6-99A4-EE7C-6DEC14D0C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14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34B02A8B-2C75-6FEB-78C7-1F2D23781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2" y="2011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5AD55020-6B78-96AA-D8AF-A2D3A0EDC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01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610953BC-1BE5-2FF1-0C0E-4A73EB697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28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62EA0D1F-A080-6B70-5286-AFD2DB339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" y="214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41212499-3082-C981-42A0-9CDE7ADDCA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4" y="2283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4CCF9DF5-A939-A8DE-2202-8652B1623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9" y="2147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FDCF4B30-EE98-4228-BA1E-C690646F9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2" y="1875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5">
              <a:extLst>
                <a:ext uri="{FF2B5EF4-FFF2-40B4-BE49-F238E27FC236}">
                  <a16:creationId xmlns:a16="http://schemas.microsoft.com/office/drawing/2014/main" id="{8FF184E6-ABC9-66A4-EF49-5EDD9FB68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239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6">
              <a:extLst>
                <a:ext uri="{FF2B5EF4-FFF2-40B4-BE49-F238E27FC236}">
                  <a16:creationId xmlns:a16="http://schemas.microsoft.com/office/drawing/2014/main" id="{D09C3B5D-9B3A-F00D-C585-3E551E475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37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37">
              <a:extLst>
                <a:ext uri="{FF2B5EF4-FFF2-40B4-BE49-F238E27FC236}">
                  <a16:creationId xmlns:a16="http://schemas.microsoft.com/office/drawing/2014/main" id="{0EE00D47-CDFB-2479-C4CB-A94A48343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51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466F8A4E-8D33-996E-1793-CAB26FE1A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42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39">
              <a:extLst>
                <a:ext uri="{FF2B5EF4-FFF2-40B4-BE49-F238E27FC236}">
                  <a16:creationId xmlns:a16="http://schemas.microsoft.com/office/drawing/2014/main" id="{C1E90E00-AEB4-FB6A-9056-0557F877E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6" y="1285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40">
              <a:extLst>
                <a:ext uri="{FF2B5EF4-FFF2-40B4-BE49-F238E27FC236}">
                  <a16:creationId xmlns:a16="http://schemas.microsoft.com/office/drawing/2014/main" id="{68238D34-5433-6E07-474F-D38CFB857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285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41">
              <a:extLst>
                <a:ext uri="{FF2B5EF4-FFF2-40B4-BE49-F238E27FC236}">
                  <a16:creationId xmlns:a16="http://schemas.microsoft.com/office/drawing/2014/main" id="{361A9675-6C80-982D-9BBE-F537B2A70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55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2">
              <a:extLst>
                <a:ext uri="{FF2B5EF4-FFF2-40B4-BE49-F238E27FC236}">
                  <a16:creationId xmlns:a16="http://schemas.microsoft.com/office/drawing/2014/main" id="{FE5BD455-C094-B900-9CE3-F9A0B2BFC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" y="142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3">
              <a:extLst>
                <a:ext uri="{FF2B5EF4-FFF2-40B4-BE49-F238E27FC236}">
                  <a16:creationId xmlns:a16="http://schemas.microsoft.com/office/drawing/2014/main" id="{CD65F571-03D4-5FB2-2FC7-3AD3FD150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149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4">
              <a:extLst>
                <a:ext uri="{FF2B5EF4-FFF2-40B4-BE49-F238E27FC236}">
                  <a16:creationId xmlns:a16="http://schemas.microsoft.com/office/drawing/2014/main" id="{891C351D-03DD-DDE2-AC0D-71187434D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557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6">
              <a:extLst>
                <a:ext uri="{FF2B5EF4-FFF2-40B4-BE49-F238E27FC236}">
                  <a16:creationId xmlns:a16="http://schemas.microsoft.com/office/drawing/2014/main" id="{AE269BF8-0D93-61A6-757D-D91D8EC72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5" y="1285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47">
              <a:extLst>
                <a:ext uri="{FF2B5EF4-FFF2-40B4-BE49-F238E27FC236}">
                  <a16:creationId xmlns:a16="http://schemas.microsoft.com/office/drawing/2014/main" id="{AE2270E0-DB6A-371A-682C-6B93F033C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2" y="1784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Box 49">
              <a:extLst>
                <a:ext uri="{FF2B5EF4-FFF2-40B4-BE49-F238E27FC236}">
                  <a16:creationId xmlns:a16="http://schemas.microsoft.com/office/drawing/2014/main" id="{13EE6125-9C15-5677-68E0-839674C66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1979"/>
              <a:ext cx="33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T</a:t>
              </a:r>
              <a:r>
                <a:rPr kumimoji="1" lang="en-US" altLang="zh-CN" sz="1200"/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4648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AF2C7-A4D1-D7CC-1A19-BC00EFC1A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 </a:t>
            </a:r>
            <a:r>
              <a:rPr lang="zh-CN" altLang="en-US" dirty="0"/>
              <a:t>与非门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86145B-0182-B01B-0F92-8AA7FB77E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4C03DB-DBD9-96B5-D97D-7D3C09C4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/35</a:t>
            </a:r>
            <a:endParaRPr lang="en-US" dirty="0"/>
          </a:p>
        </p:txBody>
      </p:sp>
      <p:grpSp>
        <p:nvGrpSpPr>
          <p:cNvPr id="6" name="Group 138">
            <a:extLst>
              <a:ext uri="{FF2B5EF4-FFF2-40B4-BE49-F238E27FC236}">
                <a16:creationId xmlns:a16="http://schemas.microsoft.com/office/drawing/2014/main" id="{DF74A339-472F-BC0B-E923-C3D8E036D83A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981075"/>
            <a:ext cx="3406775" cy="3708400"/>
            <a:chOff x="3334" y="731"/>
            <a:chExt cx="2146" cy="2336"/>
          </a:xfrm>
        </p:grpSpPr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C26C0D29-8B17-3E66-86CD-DC4E153D4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" y="1637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L</a:t>
              </a:r>
              <a:endParaRPr kumimoji="1" lang="en-US" altLang="zh-CN" sz="1800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FC7F3218-4272-E8BA-B9DB-18B938E75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99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0F9510D0-3151-72A7-CAE5-3FBC2332E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3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F009EB72-3026-4B74-C42E-5072EAA824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77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14BEB297-E523-8338-0E02-9CDE5D092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7E76FA81-E2F1-883F-E82F-B462FB605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545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B295F187-B0D0-B999-EC80-C88AB10FB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545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CA943138-F423-5D4D-46C2-F1B1C818D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81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FA7F4550-A9E1-B452-F839-DF509571E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438505E0-6A79-9843-1BA4-822E1A2BC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817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F02C4505-3BB7-AC0C-7F6B-CB330B2EC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681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1E270CB0-9593-7441-03C1-8DFA9AEA7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409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04B1D360-A721-9AD8-0392-992EADF250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252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DDA8127C-4EE8-8CF3-D496-54611626E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38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7DDBE817-B764-778D-8376-69E2BFA1A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52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DE0F4A78-E1F1-872B-FE71-01AFEA9B19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1E62A5F8-46F4-C76E-ED1A-DDC1C1A23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5" y="1298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86922585-E277-B9CE-D737-FD13A5B7F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298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922EEF16-0EE2-02FB-68DC-237596D76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57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F27F4AFF-3695-EDDC-7CCE-5B2E454F5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26496C23-8B4F-6F29-17C7-402D4947B5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1117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E2F49961-6EDE-D50F-D3CB-4D0013B37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1570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55E999C5-ABF3-E5A3-E3C0-06DCB4DC0C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4" y="1298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556BD8F7-3B56-4F84-105D-B13239225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52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D86220C3-10BD-8F49-00ED-B2CA90EC3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38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AC1A5D32-3474-18DF-DC9E-3A1EFCB59F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52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1E82505C-80DD-05A3-0C1F-9F943AAD1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6">
              <a:extLst>
                <a:ext uri="{FF2B5EF4-FFF2-40B4-BE49-F238E27FC236}">
                  <a16:creationId xmlns:a16="http://schemas.microsoft.com/office/drawing/2014/main" id="{0323253E-B165-4526-90F4-7A66C18A9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1298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7">
              <a:extLst>
                <a:ext uri="{FF2B5EF4-FFF2-40B4-BE49-F238E27FC236}">
                  <a16:creationId xmlns:a16="http://schemas.microsoft.com/office/drawing/2014/main" id="{BD25EEE7-F526-669C-9C0A-159EA2DC1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98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38">
              <a:extLst>
                <a:ext uri="{FF2B5EF4-FFF2-40B4-BE49-F238E27FC236}">
                  <a16:creationId xmlns:a16="http://schemas.microsoft.com/office/drawing/2014/main" id="{5D21F414-E834-718E-BAD4-A72D34441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57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9">
              <a:extLst>
                <a:ext uri="{FF2B5EF4-FFF2-40B4-BE49-F238E27FC236}">
                  <a16:creationId xmlns:a16="http://schemas.microsoft.com/office/drawing/2014/main" id="{5410B357-BA78-D7F2-AE66-7066DD10E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40">
              <a:extLst>
                <a:ext uri="{FF2B5EF4-FFF2-40B4-BE49-F238E27FC236}">
                  <a16:creationId xmlns:a16="http://schemas.microsoft.com/office/drawing/2014/main" id="{F0BF28B3-5A00-366B-1F3A-D671FB8EFC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162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41">
              <a:extLst>
                <a:ext uri="{FF2B5EF4-FFF2-40B4-BE49-F238E27FC236}">
                  <a16:creationId xmlns:a16="http://schemas.microsoft.com/office/drawing/2014/main" id="{642F3AC6-8434-9CE4-2CCD-112300A81D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570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4D794676-37C3-44D1-107B-C5E282ABE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298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D24465CF-5752-C8EB-2029-0CA8EBCEE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95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E95D0A92-200E-825E-787F-CB495A682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9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C18317DA-0C39-771A-8FF9-F9F6FCE68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227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BC49D3D2-6E9D-ACF9-6EE6-2A4F4919C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13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539E07A8-D0E7-8E27-AE37-579A6795A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001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49">
              <a:extLst>
                <a:ext uri="{FF2B5EF4-FFF2-40B4-BE49-F238E27FC236}">
                  <a16:creationId xmlns:a16="http://schemas.microsoft.com/office/drawing/2014/main" id="{FC8B94A9-8182-E4D6-8758-1F67152B3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0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7F018AC1-F51B-53D9-1776-9647BA7452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27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51">
              <a:extLst>
                <a:ext uri="{FF2B5EF4-FFF2-40B4-BE49-F238E27FC236}">
                  <a16:creationId xmlns:a16="http://schemas.microsoft.com/office/drawing/2014/main" id="{2C41640A-DDD2-99C6-5BA9-160EC44B9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137"/>
              <a:ext cx="2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52">
              <a:extLst>
                <a:ext uri="{FF2B5EF4-FFF2-40B4-BE49-F238E27FC236}">
                  <a16:creationId xmlns:a16="http://schemas.microsoft.com/office/drawing/2014/main" id="{6DF2F269-58E5-6EA7-AE03-9E9A27CFA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273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1277D2C5-C672-F227-4F6A-C1AEA11C0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274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54">
              <a:extLst>
                <a:ext uri="{FF2B5EF4-FFF2-40B4-BE49-F238E27FC236}">
                  <a16:creationId xmlns:a16="http://schemas.microsoft.com/office/drawing/2014/main" id="{F6C5C685-961C-FABA-1C67-34BA75320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1865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55">
              <a:extLst>
                <a:ext uri="{FF2B5EF4-FFF2-40B4-BE49-F238E27FC236}">
                  <a16:creationId xmlns:a16="http://schemas.microsoft.com/office/drawing/2014/main" id="{2ED4A8CD-68A9-AE3F-E6F5-E9200C1EC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117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56">
              <a:extLst>
                <a:ext uri="{FF2B5EF4-FFF2-40B4-BE49-F238E27FC236}">
                  <a16:creationId xmlns:a16="http://schemas.microsoft.com/office/drawing/2014/main" id="{DD6FAF29-ED2D-CB1A-F86A-A06AF9611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731"/>
              <a:ext cx="4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i="1"/>
                <a:t>V</a:t>
              </a:r>
              <a:r>
                <a:rPr kumimoji="1" lang="en-US" altLang="zh-CN" sz="1600"/>
                <a:t>DD</a:t>
              </a:r>
              <a:endParaRPr kumimoji="1" lang="en-US" altLang="zh-CN" sz="1800"/>
            </a:p>
          </p:txBody>
        </p:sp>
        <p:sp>
          <p:nvSpPr>
            <p:cNvPr id="54" name="Line 57">
              <a:extLst>
                <a:ext uri="{FF2B5EF4-FFF2-40B4-BE49-F238E27FC236}">
                  <a16:creationId xmlns:a16="http://schemas.microsoft.com/office/drawing/2014/main" id="{C1111BCC-5E7C-092E-2E0C-3E1DC98B6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945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Oval 58">
              <a:extLst>
                <a:ext uri="{FF2B5EF4-FFF2-40B4-BE49-F238E27FC236}">
                  <a16:creationId xmlns:a16="http://schemas.microsoft.com/office/drawing/2014/main" id="{69E18559-5990-21E9-FC5A-B27352A3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87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6" name="Line 59">
              <a:extLst>
                <a:ext uri="{FF2B5EF4-FFF2-40B4-BE49-F238E27FC236}">
                  <a16:creationId xmlns:a16="http://schemas.microsoft.com/office/drawing/2014/main" id="{2528E774-7E9F-00D7-94F2-014449B5D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273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60">
              <a:extLst>
                <a:ext uri="{FF2B5EF4-FFF2-40B4-BE49-F238E27FC236}">
                  <a16:creationId xmlns:a16="http://schemas.microsoft.com/office/drawing/2014/main" id="{419A9143-0762-1BB6-06BB-D9BD9146C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1298"/>
              <a:ext cx="0" cy="15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61">
              <a:extLst>
                <a:ext uri="{FF2B5EF4-FFF2-40B4-BE49-F238E27FC236}">
                  <a16:creationId xmlns:a16="http://schemas.microsoft.com/office/drawing/2014/main" id="{11B6C33F-E6F7-CB91-0110-2293A3C39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297"/>
              <a:ext cx="0" cy="9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62">
              <a:extLst>
                <a:ext uri="{FF2B5EF4-FFF2-40B4-BE49-F238E27FC236}">
                  <a16:creationId xmlns:a16="http://schemas.microsoft.com/office/drawing/2014/main" id="{68545EC1-D3BE-0478-16A5-3C80360E0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818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63">
              <a:extLst>
                <a:ext uri="{FF2B5EF4-FFF2-40B4-BE49-F238E27FC236}">
                  <a16:creationId xmlns:a16="http://schemas.microsoft.com/office/drawing/2014/main" id="{1B6866B6-D0A0-5E45-709E-FE1ECCCFEA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005"/>
              <a:ext cx="0" cy="2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4">
              <a:extLst>
                <a:ext uri="{FF2B5EF4-FFF2-40B4-BE49-F238E27FC236}">
                  <a16:creationId xmlns:a16="http://schemas.microsoft.com/office/drawing/2014/main" id="{E667D3A7-21A3-1364-557A-654B323F0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8" y="3066"/>
              <a:ext cx="181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5">
              <a:extLst>
                <a:ext uri="{FF2B5EF4-FFF2-40B4-BE49-F238E27FC236}">
                  <a16:creationId xmlns:a16="http://schemas.microsoft.com/office/drawing/2014/main" id="{C465B487-44B1-9C51-E48A-1F241DE61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8" y="2931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67">
              <a:extLst>
                <a:ext uri="{FF2B5EF4-FFF2-40B4-BE49-F238E27FC236}">
                  <a16:creationId xmlns:a16="http://schemas.microsoft.com/office/drawing/2014/main" id="{AADB82D5-CF37-8606-1B5A-97BABED36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11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A</a:t>
              </a:r>
              <a:endParaRPr kumimoji="1" lang="en-US" altLang="zh-CN" sz="1800"/>
            </a:p>
          </p:txBody>
        </p:sp>
        <p:sp>
          <p:nvSpPr>
            <p:cNvPr id="64" name="Text Box 68">
              <a:extLst>
                <a:ext uri="{FF2B5EF4-FFF2-40B4-BE49-F238E27FC236}">
                  <a16:creationId xmlns:a16="http://schemas.microsoft.com/office/drawing/2014/main" id="{2EFAFBC4-623D-E56D-80DE-3D4E665BB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681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B</a:t>
              </a:r>
              <a:endParaRPr kumimoji="1" lang="en-US" altLang="zh-CN" sz="1800"/>
            </a:p>
          </p:txBody>
        </p:sp>
        <p:sp>
          <p:nvSpPr>
            <p:cNvPr id="65" name="Line 69">
              <a:extLst>
                <a:ext uri="{FF2B5EF4-FFF2-40B4-BE49-F238E27FC236}">
                  <a16:creationId xmlns:a16="http://schemas.microsoft.com/office/drawing/2014/main" id="{1D30D4CF-E4B1-5CA9-6894-990D5BA7D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774"/>
              <a:ext cx="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70">
              <a:extLst>
                <a:ext uri="{FF2B5EF4-FFF2-40B4-BE49-F238E27FC236}">
                  <a16:creationId xmlns:a16="http://schemas.microsoft.com/office/drawing/2014/main" id="{4D964691-17B3-3842-41E6-2ED93D377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683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Oval 71">
              <a:extLst>
                <a:ext uri="{FF2B5EF4-FFF2-40B4-BE49-F238E27FC236}">
                  <a16:creationId xmlns:a16="http://schemas.microsoft.com/office/drawing/2014/main" id="{73CFF2DC-ABA7-5657-18A6-C968B0E7F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752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8" name="Line 73">
              <a:extLst>
                <a:ext uri="{FF2B5EF4-FFF2-40B4-BE49-F238E27FC236}">
                  <a16:creationId xmlns:a16="http://schemas.microsoft.com/office/drawing/2014/main" id="{69DBE1F9-EE62-DA5D-D26B-31F54E70F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81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74">
              <a:extLst>
                <a:ext uri="{FF2B5EF4-FFF2-40B4-BE49-F238E27FC236}">
                  <a16:creationId xmlns:a16="http://schemas.microsoft.com/office/drawing/2014/main" id="{9DDDA215-926C-8523-AC1D-48A7AFD52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6" y="2138"/>
              <a:ext cx="0" cy="6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Text Box 75">
              <a:extLst>
                <a:ext uri="{FF2B5EF4-FFF2-40B4-BE49-F238E27FC236}">
                  <a16:creationId xmlns:a16="http://schemas.microsoft.com/office/drawing/2014/main" id="{ABF94CFC-A51A-5D42-ECBD-B957D8118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1275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P1</a:t>
              </a:r>
              <a:endParaRPr kumimoji="1" lang="en-US" altLang="zh-CN" sz="1400"/>
            </a:p>
          </p:txBody>
        </p:sp>
        <p:sp>
          <p:nvSpPr>
            <p:cNvPr id="71" name="Text Box 76">
              <a:extLst>
                <a:ext uri="{FF2B5EF4-FFF2-40B4-BE49-F238E27FC236}">
                  <a16:creationId xmlns:a16="http://schemas.microsoft.com/office/drawing/2014/main" id="{22643673-FC6B-C07C-125C-19C78EA65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4" y="935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P2</a:t>
              </a:r>
            </a:p>
          </p:txBody>
        </p:sp>
        <p:sp>
          <p:nvSpPr>
            <p:cNvPr id="72" name="Text Box 77">
              <a:extLst>
                <a:ext uri="{FF2B5EF4-FFF2-40B4-BE49-F238E27FC236}">
                  <a16:creationId xmlns:a16="http://schemas.microsoft.com/office/drawing/2014/main" id="{39359EF2-C89F-4A93-556F-76567CF8A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" y="2002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N1</a:t>
              </a:r>
            </a:p>
          </p:txBody>
        </p:sp>
        <p:sp>
          <p:nvSpPr>
            <p:cNvPr id="73" name="Text Box 78">
              <a:extLst>
                <a:ext uri="{FF2B5EF4-FFF2-40B4-BE49-F238E27FC236}">
                  <a16:creationId xmlns:a16="http://schemas.microsoft.com/office/drawing/2014/main" id="{A0E993AB-DB63-2CED-90EB-9602C7B2F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" y="2553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N2</a:t>
              </a:r>
            </a:p>
          </p:txBody>
        </p:sp>
      </p:grpSp>
      <p:sp>
        <p:nvSpPr>
          <p:cNvPr id="74" name="Rectangle 135">
            <a:extLst>
              <a:ext uri="{FF2B5EF4-FFF2-40B4-BE49-F238E27FC236}">
                <a16:creationId xmlns:a16="http://schemas.microsoft.com/office/drawing/2014/main" id="{CA03B5E0-495D-C3AE-E3C9-5FE2BA6EB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484313"/>
            <a:ext cx="954087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zh-CN" altLang="en-US" sz="2400"/>
              <a:t>真值表</a:t>
            </a:r>
          </a:p>
        </p:txBody>
      </p:sp>
      <p:sp>
        <p:nvSpPr>
          <p:cNvPr id="75" name="文本框 2">
            <a:extLst>
              <a:ext uri="{FF2B5EF4-FFF2-40B4-BE49-F238E27FC236}">
                <a16:creationId xmlns:a16="http://schemas.microsoft.com/office/drawing/2014/main" id="{E493E3C8-1114-7C3C-3367-FF4D3126C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50" y="305435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</a:rPr>
              <a:t>0</a:t>
            </a:r>
            <a:endParaRPr lang="zh-CN" altLang="en-US">
              <a:solidFill>
                <a:srgbClr val="009900"/>
              </a:solidFill>
            </a:endParaRPr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BF97421C-A6FC-6F2D-A757-4D8E78B69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39354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</a:rPr>
              <a:t>0</a:t>
            </a:r>
            <a:endParaRPr lang="zh-CN" altLang="en-US">
              <a:solidFill>
                <a:srgbClr val="009900"/>
              </a:solidFill>
            </a:endParaRP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18E3F73A-95F2-67A7-789B-982FAD0B024C}"/>
              </a:ext>
            </a:extLst>
          </p:cNvPr>
          <p:cNvGrpSpPr>
            <a:grpSpLocks/>
          </p:cNvGrpSpPr>
          <p:nvPr/>
        </p:nvGrpSpPr>
        <p:grpSpPr bwMode="auto">
          <a:xfrm>
            <a:off x="7196138" y="1665288"/>
            <a:ext cx="969962" cy="1992312"/>
            <a:chOff x="7195425" y="1665288"/>
            <a:chExt cx="970755" cy="1992614"/>
          </a:xfrm>
        </p:grpSpPr>
        <p:grpSp>
          <p:nvGrpSpPr>
            <p:cNvPr id="78" name="组合 99">
              <a:extLst>
                <a:ext uri="{FF2B5EF4-FFF2-40B4-BE49-F238E27FC236}">
                  <a16:creationId xmlns:a16="http://schemas.microsoft.com/office/drawing/2014/main" id="{CB21A3C9-D00C-AF2B-D4C2-F861C3AA26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5425" y="2783795"/>
              <a:ext cx="970755" cy="874107"/>
              <a:chOff x="7273132" y="3742343"/>
              <a:chExt cx="970755" cy="874107"/>
            </a:xfrm>
          </p:grpSpPr>
          <p:cxnSp>
            <p:nvCxnSpPr>
              <p:cNvPr id="80" name="直接连接符 100">
                <a:extLst>
                  <a:ext uri="{FF2B5EF4-FFF2-40B4-BE49-F238E27FC236}">
                    <a16:creationId xmlns:a16="http://schemas.microsoft.com/office/drawing/2014/main" id="{F3F46D14-870E-3D3B-B78D-ED962FED0C73}"/>
                  </a:ext>
                </a:extLst>
              </p:cNvPr>
              <p:cNvCxnSpPr/>
              <p:nvPr/>
            </p:nvCxnSpPr>
            <p:spPr>
              <a:xfrm>
                <a:off x="7273132" y="3752720"/>
                <a:ext cx="932624" cy="82880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101">
                <a:extLst>
                  <a:ext uri="{FF2B5EF4-FFF2-40B4-BE49-F238E27FC236}">
                    <a16:creationId xmlns:a16="http://schemas.microsoft.com/office/drawing/2014/main" id="{52364FC5-6B08-65B6-79FD-D1405317EA83}"/>
                  </a:ext>
                </a:extLst>
              </p:cNvPr>
              <p:cNvCxnSpPr/>
              <p:nvPr/>
            </p:nvCxnSpPr>
            <p:spPr>
              <a:xfrm flipV="1">
                <a:off x="7314441" y="3741606"/>
                <a:ext cx="929446" cy="87484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9" name="直接连接符 12">
              <a:extLst>
                <a:ext uri="{FF2B5EF4-FFF2-40B4-BE49-F238E27FC236}">
                  <a16:creationId xmlns:a16="http://schemas.microsoft.com/office/drawing/2014/main" id="{39A0B8E9-ACB0-5D77-2BC4-1867BAC23822}"/>
                </a:ext>
              </a:extLst>
            </p:cNvPr>
            <p:cNvCxnSpPr/>
            <p:nvPr/>
          </p:nvCxnSpPr>
          <p:spPr>
            <a:xfrm>
              <a:off x="7773747" y="1665288"/>
              <a:ext cx="0" cy="912950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B774891-BD3C-8CE9-10BE-EEE9F60E5869}"/>
              </a:ext>
            </a:extLst>
          </p:cNvPr>
          <p:cNvGrpSpPr>
            <a:grpSpLocks/>
          </p:cNvGrpSpPr>
          <p:nvPr/>
        </p:nvGrpSpPr>
        <p:grpSpPr bwMode="auto">
          <a:xfrm>
            <a:off x="6623050" y="1712913"/>
            <a:ext cx="1620838" cy="2903537"/>
            <a:chOff x="6623050" y="1712119"/>
            <a:chExt cx="1620837" cy="2904331"/>
          </a:xfrm>
        </p:grpSpPr>
        <p:grpSp>
          <p:nvGrpSpPr>
            <p:cNvPr id="83" name="组合 10">
              <a:extLst>
                <a:ext uri="{FF2B5EF4-FFF2-40B4-BE49-F238E27FC236}">
                  <a16:creationId xmlns:a16="http://schemas.microsoft.com/office/drawing/2014/main" id="{9BDB5EFE-1ACB-1C09-0DAA-69EF9A8F87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73132" y="3742343"/>
              <a:ext cx="970755" cy="874107"/>
              <a:chOff x="7273132" y="3742343"/>
              <a:chExt cx="970755" cy="874107"/>
            </a:xfrm>
          </p:grpSpPr>
          <p:cxnSp>
            <p:nvCxnSpPr>
              <p:cNvPr id="85" name="直接连接符 5">
                <a:extLst>
                  <a:ext uri="{FF2B5EF4-FFF2-40B4-BE49-F238E27FC236}">
                    <a16:creationId xmlns:a16="http://schemas.microsoft.com/office/drawing/2014/main" id="{A6D07BC4-1324-23BF-33DE-895178A3FE35}"/>
                  </a:ext>
                </a:extLst>
              </p:cNvPr>
              <p:cNvCxnSpPr/>
              <p:nvPr/>
            </p:nvCxnSpPr>
            <p:spPr>
              <a:xfrm>
                <a:off x="7273925" y="3754202"/>
                <a:ext cx="931862" cy="82731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93">
                <a:extLst>
                  <a:ext uri="{FF2B5EF4-FFF2-40B4-BE49-F238E27FC236}">
                    <a16:creationId xmlns:a16="http://schemas.microsoft.com/office/drawing/2014/main" id="{58FEE0C4-4366-DF12-FC73-4AB0482C7838}"/>
                  </a:ext>
                </a:extLst>
              </p:cNvPr>
              <p:cNvCxnSpPr/>
              <p:nvPr/>
            </p:nvCxnSpPr>
            <p:spPr>
              <a:xfrm flipV="1">
                <a:off x="7315200" y="3743086"/>
                <a:ext cx="928687" cy="87336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4" name="直接连接符 104">
              <a:extLst>
                <a:ext uri="{FF2B5EF4-FFF2-40B4-BE49-F238E27FC236}">
                  <a16:creationId xmlns:a16="http://schemas.microsoft.com/office/drawing/2014/main" id="{D13C9609-00A3-B8D3-5B3C-A1DB3241FA62}"/>
                </a:ext>
              </a:extLst>
            </p:cNvPr>
            <p:cNvCxnSpPr/>
            <p:nvPr/>
          </p:nvCxnSpPr>
          <p:spPr>
            <a:xfrm>
              <a:off x="6623050" y="1712119"/>
              <a:ext cx="0" cy="913062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083F61D9-23F4-4A64-4643-7993B98B8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2447925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</a:rPr>
              <a:t>1</a:t>
            </a:r>
            <a:endParaRPr lang="zh-CN" altLang="en-US">
              <a:solidFill>
                <a:srgbClr val="009900"/>
              </a:solidFill>
            </a:endParaRPr>
          </a:p>
        </p:txBody>
      </p:sp>
      <p:graphicFrame>
        <p:nvGraphicFramePr>
          <p:cNvPr id="88" name="Group 79">
            <a:extLst>
              <a:ext uri="{FF2B5EF4-FFF2-40B4-BE49-F238E27FC236}">
                <a16:creationId xmlns:a16="http://schemas.microsoft.com/office/drawing/2014/main" id="{F14E7F4F-58BF-97D5-4A39-A1999949CE35}"/>
              </a:ext>
            </a:extLst>
          </p:cNvPr>
          <p:cNvGraphicFramePr>
            <a:graphicFrameLocks noGrp="1"/>
          </p:cNvGraphicFramePr>
          <p:nvPr/>
        </p:nvGraphicFramePr>
        <p:xfrm>
          <a:off x="719138" y="2060575"/>
          <a:ext cx="4391025" cy="2824163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</a:t>
                      </a:r>
                      <a:endParaRPr kumimoji="1" lang="zh-CN" alt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N1</a:t>
                      </a:r>
                      <a:endParaRPr kumimoji="1" lang="zh-CN" alt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>
                      <a:lvl1pPr marL="533400" indent="-5334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>
                      <a:lvl1pPr marL="533400" indent="-5334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33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4D271-06B6-54F4-D484-2692D7A3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 </a:t>
            </a:r>
            <a:r>
              <a:rPr lang="zh-CN" altLang="en-US" dirty="0"/>
              <a:t>与非门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C306B9-4A60-B1C4-AC8A-1884601E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22994D-4168-B054-9641-12918C42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/35</a:t>
            </a:r>
            <a:endParaRPr lang="en-US" dirty="0"/>
          </a:p>
        </p:txBody>
      </p:sp>
      <p:grpSp>
        <p:nvGrpSpPr>
          <p:cNvPr id="6" name="Group 138">
            <a:extLst>
              <a:ext uri="{FF2B5EF4-FFF2-40B4-BE49-F238E27FC236}">
                <a16:creationId xmlns:a16="http://schemas.microsoft.com/office/drawing/2014/main" id="{E2707668-046C-7BA5-0CEA-AD709D1EB41E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981075"/>
            <a:ext cx="3406775" cy="3708400"/>
            <a:chOff x="3334" y="731"/>
            <a:chExt cx="2146" cy="2336"/>
          </a:xfrm>
        </p:grpSpPr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9EB6CE0C-2C48-73A4-204A-EAE2A38E6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" y="1637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L</a:t>
              </a:r>
              <a:endParaRPr kumimoji="1" lang="en-US" altLang="zh-CN" sz="1800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1C613AB0-AA39-EDBE-477E-890AC3757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99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E8D5C646-86FD-5D89-23B7-AC1A9E0D6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3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AC6DE422-E622-CA70-DC37-B13351775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77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7AC369EA-5141-FC09-48CE-5FF2AC4929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07269F16-EA10-8C40-3D5A-D9B3E52E8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545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3DFC2E40-9071-F990-331D-78AF5D996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545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42B1806D-0D60-C523-37F8-1E21AFE74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81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7ADAD18A-634E-FB11-C655-A07646EEC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BC7896F5-8CB6-8592-1308-7E3058243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817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65831C4D-E6D0-E8A2-7EB1-38192BF81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681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075EEFFA-8716-3AF9-34DB-C9C8C947C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409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14CECA17-F339-9C45-64EE-5E8FE7C543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252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75C89609-76BA-1282-AA88-84EA275B8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38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DA0B07FD-3207-D131-2725-FB7E592F5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52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26DAAEE6-81A6-61B8-8BFF-4435547A18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6AC72663-93A3-3765-698F-EE9D71D8EC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5" y="1298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D86A5DB7-9949-C1AB-544D-3640BA997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298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37042038-55C4-0345-668F-EB2523A1D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57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606A8F28-099F-2EBE-7B22-DD96D20B4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49EB93FD-05CB-E6D8-D37D-4DC51B7DE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1117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4D79E96C-B2A1-C382-04F3-D87968733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1570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C8FC7B9E-6C32-615A-3754-D3DF08FB3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4" y="1298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2B7A2E43-EC47-26D4-13E9-A34592DCC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52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0479A7AB-9D59-2BF0-3D14-2DF647571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38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826F712C-9B87-0439-D8C1-33A5DCEB2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52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C06860DD-0CEB-9965-F3B8-4D1F52FF4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6">
              <a:extLst>
                <a:ext uri="{FF2B5EF4-FFF2-40B4-BE49-F238E27FC236}">
                  <a16:creationId xmlns:a16="http://schemas.microsoft.com/office/drawing/2014/main" id="{5E315264-A6C1-2E10-F062-D7E42A19C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1298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7">
              <a:extLst>
                <a:ext uri="{FF2B5EF4-FFF2-40B4-BE49-F238E27FC236}">
                  <a16:creationId xmlns:a16="http://schemas.microsoft.com/office/drawing/2014/main" id="{599211C6-EB36-5F95-4B45-F1DBC0123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98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38">
              <a:extLst>
                <a:ext uri="{FF2B5EF4-FFF2-40B4-BE49-F238E27FC236}">
                  <a16:creationId xmlns:a16="http://schemas.microsoft.com/office/drawing/2014/main" id="{1619A0A1-80C8-0972-B77B-3048478E7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57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9">
              <a:extLst>
                <a:ext uri="{FF2B5EF4-FFF2-40B4-BE49-F238E27FC236}">
                  <a16:creationId xmlns:a16="http://schemas.microsoft.com/office/drawing/2014/main" id="{CC22E1E2-9C3C-00C4-B944-3B6F5A1F2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40">
              <a:extLst>
                <a:ext uri="{FF2B5EF4-FFF2-40B4-BE49-F238E27FC236}">
                  <a16:creationId xmlns:a16="http://schemas.microsoft.com/office/drawing/2014/main" id="{7D10DC2B-1DC7-5309-16FA-6C56620D2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162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41">
              <a:extLst>
                <a:ext uri="{FF2B5EF4-FFF2-40B4-BE49-F238E27FC236}">
                  <a16:creationId xmlns:a16="http://schemas.microsoft.com/office/drawing/2014/main" id="{AF603CEC-41C6-6B4B-E2FB-47D5503BB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570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A33D218E-080B-C866-B78E-ED6A1FBD7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298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FCDB116E-C3CE-C1F7-605B-998FC7A86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95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CC451121-B264-7A2C-51F1-7B659FB26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9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D215661A-6F8A-933D-259F-E16D075A2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227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6A42FB34-B03A-7DFF-C6D2-44BE64054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13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3844F0B4-759A-C8B9-71C0-EE28675FE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001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49">
              <a:extLst>
                <a:ext uri="{FF2B5EF4-FFF2-40B4-BE49-F238E27FC236}">
                  <a16:creationId xmlns:a16="http://schemas.microsoft.com/office/drawing/2014/main" id="{7EED5B67-4292-CE2C-DBC9-657D6C052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0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37FEA1C9-F5AF-BC94-CF2E-2EE82873D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27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51">
              <a:extLst>
                <a:ext uri="{FF2B5EF4-FFF2-40B4-BE49-F238E27FC236}">
                  <a16:creationId xmlns:a16="http://schemas.microsoft.com/office/drawing/2014/main" id="{5CE9F8A1-83CE-6543-C9A2-5C77D5EE1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137"/>
              <a:ext cx="2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52">
              <a:extLst>
                <a:ext uri="{FF2B5EF4-FFF2-40B4-BE49-F238E27FC236}">
                  <a16:creationId xmlns:a16="http://schemas.microsoft.com/office/drawing/2014/main" id="{A1FCD30F-E0E4-BF6F-42F9-30F0F08F9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273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2667953A-E024-8EBD-BC6B-BE6D8A55D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274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54">
              <a:extLst>
                <a:ext uri="{FF2B5EF4-FFF2-40B4-BE49-F238E27FC236}">
                  <a16:creationId xmlns:a16="http://schemas.microsoft.com/office/drawing/2014/main" id="{271A591F-FA2C-7C24-57C5-6F4241BB67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1865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55">
              <a:extLst>
                <a:ext uri="{FF2B5EF4-FFF2-40B4-BE49-F238E27FC236}">
                  <a16:creationId xmlns:a16="http://schemas.microsoft.com/office/drawing/2014/main" id="{0982660A-E545-8BE0-FB1C-F38F1F2A9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117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56">
              <a:extLst>
                <a:ext uri="{FF2B5EF4-FFF2-40B4-BE49-F238E27FC236}">
                  <a16:creationId xmlns:a16="http://schemas.microsoft.com/office/drawing/2014/main" id="{687D53A6-4FC5-6FB2-8300-727CE3681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731"/>
              <a:ext cx="4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i="1"/>
                <a:t>V</a:t>
              </a:r>
              <a:r>
                <a:rPr kumimoji="1" lang="en-US" altLang="zh-CN" sz="1600"/>
                <a:t>DD</a:t>
              </a:r>
              <a:endParaRPr kumimoji="1" lang="en-US" altLang="zh-CN" sz="1800"/>
            </a:p>
          </p:txBody>
        </p:sp>
        <p:sp>
          <p:nvSpPr>
            <p:cNvPr id="54" name="Line 57">
              <a:extLst>
                <a:ext uri="{FF2B5EF4-FFF2-40B4-BE49-F238E27FC236}">
                  <a16:creationId xmlns:a16="http://schemas.microsoft.com/office/drawing/2014/main" id="{239121C7-4B20-F084-3D15-77E21661D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945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Oval 58">
              <a:extLst>
                <a:ext uri="{FF2B5EF4-FFF2-40B4-BE49-F238E27FC236}">
                  <a16:creationId xmlns:a16="http://schemas.microsoft.com/office/drawing/2014/main" id="{29B2EBE2-1D3C-D51C-8DEA-D6483B5D2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87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6" name="Line 59">
              <a:extLst>
                <a:ext uri="{FF2B5EF4-FFF2-40B4-BE49-F238E27FC236}">
                  <a16:creationId xmlns:a16="http://schemas.microsoft.com/office/drawing/2014/main" id="{869D97F5-3DD3-61C0-EC36-8172E9946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273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60">
              <a:extLst>
                <a:ext uri="{FF2B5EF4-FFF2-40B4-BE49-F238E27FC236}">
                  <a16:creationId xmlns:a16="http://schemas.microsoft.com/office/drawing/2014/main" id="{170918AB-1959-8E6C-F73F-7ACA56F2D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1298"/>
              <a:ext cx="0" cy="15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61">
              <a:extLst>
                <a:ext uri="{FF2B5EF4-FFF2-40B4-BE49-F238E27FC236}">
                  <a16:creationId xmlns:a16="http://schemas.microsoft.com/office/drawing/2014/main" id="{7369D08A-4C1B-61FA-2A44-DB0020431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297"/>
              <a:ext cx="0" cy="9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62">
              <a:extLst>
                <a:ext uri="{FF2B5EF4-FFF2-40B4-BE49-F238E27FC236}">
                  <a16:creationId xmlns:a16="http://schemas.microsoft.com/office/drawing/2014/main" id="{65D85971-C315-FEDF-20F1-BD96E624A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818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63">
              <a:extLst>
                <a:ext uri="{FF2B5EF4-FFF2-40B4-BE49-F238E27FC236}">
                  <a16:creationId xmlns:a16="http://schemas.microsoft.com/office/drawing/2014/main" id="{260F6D20-CC6A-B1B5-0DB7-BB51F4CB6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005"/>
              <a:ext cx="0" cy="2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4">
              <a:extLst>
                <a:ext uri="{FF2B5EF4-FFF2-40B4-BE49-F238E27FC236}">
                  <a16:creationId xmlns:a16="http://schemas.microsoft.com/office/drawing/2014/main" id="{59DCE4D1-DD86-D95D-1641-F85D5E7AF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8" y="3066"/>
              <a:ext cx="181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5">
              <a:extLst>
                <a:ext uri="{FF2B5EF4-FFF2-40B4-BE49-F238E27FC236}">
                  <a16:creationId xmlns:a16="http://schemas.microsoft.com/office/drawing/2014/main" id="{DA70D56B-6EA3-7557-FF3B-8FB3A0557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8" y="2931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67">
              <a:extLst>
                <a:ext uri="{FF2B5EF4-FFF2-40B4-BE49-F238E27FC236}">
                  <a16:creationId xmlns:a16="http://schemas.microsoft.com/office/drawing/2014/main" id="{2A8E67BD-F471-0B4C-EC80-8DF93BFDF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11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A</a:t>
              </a:r>
              <a:endParaRPr kumimoji="1" lang="en-US" altLang="zh-CN" sz="1800"/>
            </a:p>
          </p:txBody>
        </p:sp>
        <p:sp>
          <p:nvSpPr>
            <p:cNvPr id="64" name="Text Box 68">
              <a:extLst>
                <a:ext uri="{FF2B5EF4-FFF2-40B4-BE49-F238E27FC236}">
                  <a16:creationId xmlns:a16="http://schemas.microsoft.com/office/drawing/2014/main" id="{43ACFDE9-6C4B-BDEE-B9E0-8F3B2A6787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681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B</a:t>
              </a:r>
              <a:endParaRPr kumimoji="1" lang="en-US" altLang="zh-CN" sz="1800"/>
            </a:p>
          </p:txBody>
        </p:sp>
        <p:sp>
          <p:nvSpPr>
            <p:cNvPr id="65" name="Line 69">
              <a:extLst>
                <a:ext uri="{FF2B5EF4-FFF2-40B4-BE49-F238E27FC236}">
                  <a16:creationId xmlns:a16="http://schemas.microsoft.com/office/drawing/2014/main" id="{15ED1948-D6C5-7654-8A1E-4F2970268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774"/>
              <a:ext cx="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70">
              <a:extLst>
                <a:ext uri="{FF2B5EF4-FFF2-40B4-BE49-F238E27FC236}">
                  <a16:creationId xmlns:a16="http://schemas.microsoft.com/office/drawing/2014/main" id="{3CFBA53A-5358-8E6F-0EBB-C40409DB7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683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Oval 71">
              <a:extLst>
                <a:ext uri="{FF2B5EF4-FFF2-40B4-BE49-F238E27FC236}">
                  <a16:creationId xmlns:a16="http://schemas.microsoft.com/office/drawing/2014/main" id="{FBAFC3BE-8C3F-6014-F140-ADE87534A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752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8" name="Line 73">
              <a:extLst>
                <a:ext uri="{FF2B5EF4-FFF2-40B4-BE49-F238E27FC236}">
                  <a16:creationId xmlns:a16="http://schemas.microsoft.com/office/drawing/2014/main" id="{A85764E8-5919-2646-F44F-7C51082F8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81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74">
              <a:extLst>
                <a:ext uri="{FF2B5EF4-FFF2-40B4-BE49-F238E27FC236}">
                  <a16:creationId xmlns:a16="http://schemas.microsoft.com/office/drawing/2014/main" id="{C903A949-2123-52E0-B3A4-D4B13A8B2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6" y="2138"/>
              <a:ext cx="0" cy="6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Text Box 75">
              <a:extLst>
                <a:ext uri="{FF2B5EF4-FFF2-40B4-BE49-F238E27FC236}">
                  <a16:creationId xmlns:a16="http://schemas.microsoft.com/office/drawing/2014/main" id="{CDBA11D5-8268-E417-C9EA-89152EE51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1275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P1</a:t>
              </a:r>
              <a:endParaRPr kumimoji="1" lang="en-US" altLang="zh-CN" sz="1400"/>
            </a:p>
          </p:txBody>
        </p:sp>
        <p:sp>
          <p:nvSpPr>
            <p:cNvPr id="71" name="Text Box 76">
              <a:extLst>
                <a:ext uri="{FF2B5EF4-FFF2-40B4-BE49-F238E27FC236}">
                  <a16:creationId xmlns:a16="http://schemas.microsoft.com/office/drawing/2014/main" id="{00640296-B9D8-D004-08F7-10FC9C6BA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4" y="935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P2</a:t>
              </a:r>
            </a:p>
          </p:txBody>
        </p:sp>
        <p:sp>
          <p:nvSpPr>
            <p:cNvPr id="72" name="Text Box 77">
              <a:extLst>
                <a:ext uri="{FF2B5EF4-FFF2-40B4-BE49-F238E27FC236}">
                  <a16:creationId xmlns:a16="http://schemas.microsoft.com/office/drawing/2014/main" id="{16F65C69-19F7-3A14-3FED-0A9FB79CB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" y="2002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N1</a:t>
              </a:r>
            </a:p>
          </p:txBody>
        </p:sp>
        <p:sp>
          <p:nvSpPr>
            <p:cNvPr id="73" name="Text Box 78">
              <a:extLst>
                <a:ext uri="{FF2B5EF4-FFF2-40B4-BE49-F238E27FC236}">
                  <a16:creationId xmlns:a16="http://schemas.microsoft.com/office/drawing/2014/main" id="{D6BBC05C-E0E5-0BD6-D7F9-E1E8B25680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" y="2553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N2</a:t>
              </a:r>
            </a:p>
          </p:txBody>
        </p:sp>
      </p:grpSp>
      <p:sp>
        <p:nvSpPr>
          <p:cNvPr id="74" name="Rectangle 135">
            <a:extLst>
              <a:ext uri="{FF2B5EF4-FFF2-40B4-BE49-F238E27FC236}">
                <a16:creationId xmlns:a16="http://schemas.microsoft.com/office/drawing/2014/main" id="{D8C7035E-2097-BD55-778E-321B0B609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484313"/>
            <a:ext cx="954087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zh-CN" altLang="en-US" sz="2400"/>
              <a:t>真值表</a:t>
            </a:r>
          </a:p>
        </p:txBody>
      </p:sp>
      <p:sp>
        <p:nvSpPr>
          <p:cNvPr id="75" name="文本框 2">
            <a:extLst>
              <a:ext uri="{FF2B5EF4-FFF2-40B4-BE49-F238E27FC236}">
                <a16:creationId xmlns:a16="http://schemas.microsoft.com/office/drawing/2014/main" id="{8324E095-ED54-4935-DF31-9B1275617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50" y="305435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</a:rPr>
              <a:t>0</a:t>
            </a:r>
            <a:endParaRPr lang="zh-CN" altLang="en-US">
              <a:solidFill>
                <a:srgbClr val="009900"/>
              </a:solidFill>
            </a:endParaRPr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9B5688B2-95C0-A526-3AB3-398E688E7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39354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</a:rPr>
              <a:t>1</a:t>
            </a:r>
            <a:endParaRPr lang="zh-CN" altLang="en-US">
              <a:solidFill>
                <a:srgbClr val="009900"/>
              </a:solidFill>
            </a:endParaRPr>
          </a:p>
        </p:txBody>
      </p:sp>
      <p:grpSp>
        <p:nvGrpSpPr>
          <p:cNvPr id="77" name="组合 99">
            <a:extLst>
              <a:ext uri="{FF2B5EF4-FFF2-40B4-BE49-F238E27FC236}">
                <a16:creationId xmlns:a16="http://schemas.microsoft.com/office/drawing/2014/main" id="{EA356B40-E444-F7E5-AE16-24F0397870C5}"/>
              </a:ext>
            </a:extLst>
          </p:cNvPr>
          <p:cNvGrpSpPr>
            <a:grpSpLocks/>
          </p:cNvGrpSpPr>
          <p:nvPr/>
        </p:nvGrpSpPr>
        <p:grpSpPr bwMode="auto">
          <a:xfrm>
            <a:off x="7196138" y="2784475"/>
            <a:ext cx="969962" cy="873125"/>
            <a:chOff x="7273132" y="3742343"/>
            <a:chExt cx="970755" cy="874107"/>
          </a:xfrm>
        </p:grpSpPr>
        <p:cxnSp>
          <p:nvCxnSpPr>
            <p:cNvPr id="78" name="直接连接符 100">
              <a:extLst>
                <a:ext uri="{FF2B5EF4-FFF2-40B4-BE49-F238E27FC236}">
                  <a16:creationId xmlns:a16="http://schemas.microsoft.com/office/drawing/2014/main" id="{C3C45AFB-3904-9436-69A0-E61C25235639}"/>
                </a:ext>
              </a:extLst>
            </p:cNvPr>
            <p:cNvCxnSpPr/>
            <p:nvPr/>
          </p:nvCxnSpPr>
          <p:spPr>
            <a:xfrm>
              <a:off x="7273132" y="3753468"/>
              <a:ext cx="932624" cy="8280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101">
              <a:extLst>
                <a:ext uri="{FF2B5EF4-FFF2-40B4-BE49-F238E27FC236}">
                  <a16:creationId xmlns:a16="http://schemas.microsoft.com/office/drawing/2014/main" id="{756F03F0-E616-9762-4E92-631539D41D6B}"/>
                </a:ext>
              </a:extLst>
            </p:cNvPr>
            <p:cNvCxnSpPr/>
            <p:nvPr/>
          </p:nvCxnSpPr>
          <p:spPr>
            <a:xfrm flipV="1">
              <a:off x="7314441" y="3742343"/>
              <a:ext cx="929446" cy="87410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0" name="直接连接符 12">
            <a:extLst>
              <a:ext uri="{FF2B5EF4-FFF2-40B4-BE49-F238E27FC236}">
                <a16:creationId xmlns:a16="http://schemas.microsoft.com/office/drawing/2014/main" id="{6AB1CFBA-DEF0-D631-7133-7AC77B8A47CE}"/>
              </a:ext>
            </a:extLst>
          </p:cNvPr>
          <p:cNvCxnSpPr/>
          <p:nvPr/>
        </p:nvCxnSpPr>
        <p:spPr>
          <a:xfrm>
            <a:off x="7773988" y="1665288"/>
            <a:ext cx="0" cy="912812"/>
          </a:xfrm>
          <a:prstGeom prst="line">
            <a:avLst/>
          </a:prstGeom>
          <a:ln w="5715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887C92B-08BF-BCB3-A62A-89000483BCFA}"/>
              </a:ext>
            </a:extLst>
          </p:cNvPr>
          <p:cNvGrpSpPr>
            <a:grpSpLocks/>
          </p:cNvGrpSpPr>
          <p:nvPr/>
        </p:nvGrpSpPr>
        <p:grpSpPr bwMode="auto">
          <a:xfrm>
            <a:off x="6016625" y="1663700"/>
            <a:ext cx="1757363" cy="2868613"/>
            <a:chOff x="6015938" y="1663763"/>
            <a:chExt cx="1758050" cy="2868549"/>
          </a:xfrm>
        </p:grpSpPr>
        <p:grpSp>
          <p:nvGrpSpPr>
            <p:cNvPr id="82" name="组合 10">
              <a:extLst>
                <a:ext uri="{FF2B5EF4-FFF2-40B4-BE49-F238E27FC236}">
                  <a16:creationId xmlns:a16="http://schemas.microsoft.com/office/drawing/2014/main" id="{E960763C-4A31-850F-2D2A-D1CF56B156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15938" y="1663763"/>
              <a:ext cx="970755" cy="874107"/>
              <a:chOff x="7273132" y="3742343"/>
              <a:chExt cx="970755" cy="874107"/>
            </a:xfrm>
          </p:grpSpPr>
          <p:cxnSp>
            <p:nvCxnSpPr>
              <p:cNvPr id="84" name="直接连接符 5">
                <a:extLst>
                  <a:ext uri="{FF2B5EF4-FFF2-40B4-BE49-F238E27FC236}">
                    <a16:creationId xmlns:a16="http://schemas.microsoft.com/office/drawing/2014/main" id="{9381B601-68BE-DF92-1691-3F1472A78ACC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93">
                <a:extLst>
                  <a:ext uri="{FF2B5EF4-FFF2-40B4-BE49-F238E27FC236}">
                    <a16:creationId xmlns:a16="http://schemas.microsoft.com/office/drawing/2014/main" id="{DE7CFC25-6604-08C9-4D88-2CF18811021F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3" name="直接连接符 104">
              <a:extLst>
                <a:ext uri="{FF2B5EF4-FFF2-40B4-BE49-F238E27FC236}">
                  <a16:creationId xmlns:a16="http://schemas.microsoft.com/office/drawing/2014/main" id="{5235AEE4-2114-E616-B3FC-57B81B3E040E}"/>
                </a:ext>
              </a:extLst>
            </p:cNvPr>
            <p:cNvCxnSpPr/>
            <p:nvPr/>
          </p:nvCxnSpPr>
          <p:spPr>
            <a:xfrm>
              <a:off x="7773988" y="3619519"/>
              <a:ext cx="0" cy="912793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文本框 85">
            <a:extLst>
              <a:ext uri="{FF2B5EF4-FFF2-40B4-BE49-F238E27FC236}">
                <a16:creationId xmlns:a16="http://schemas.microsoft.com/office/drawing/2014/main" id="{C4EC4752-786D-4BE6-EB49-54BC48499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2447925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</a:rPr>
              <a:t>1</a:t>
            </a:r>
            <a:endParaRPr lang="zh-CN" altLang="en-US">
              <a:solidFill>
                <a:srgbClr val="009900"/>
              </a:solidFill>
            </a:endParaRPr>
          </a:p>
        </p:txBody>
      </p:sp>
      <p:graphicFrame>
        <p:nvGraphicFramePr>
          <p:cNvPr id="87" name="Group 79">
            <a:extLst>
              <a:ext uri="{FF2B5EF4-FFF2-40B4-BE49-F238E27FC236}">
                <a16:creationId xmlns:a16="http://schemas.microsoft.com/office/drawing/2014/main" id="{3FAA4C18-407B-FCD2-BF76-C18EA0E632D1}"/>
              </a:ext>
            </a:extLst>
          </p:cNvPr>
          <p:cNvGraphicFramePr>
            <a:graphicFrameLocks noGrp="1"/>
          </p:cNvGraphicFramePr>
          <p:nvPr/>
        </p:nvGraphicFramePr>
        <p:xfrm>
          <a:off x="719138" y="2060575"/>
          <a:ext cx="4391025" cy="2824163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</a:t>
                      </a:r>
                      <a:endParaRPr kumimoji="1" lang="zh-CN" alt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N1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>
                      <a:lvl1pPr marL="533400" indent="-5334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>
                      <a:lvl1pPr marL="533400" indent="-5334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22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F3D49A-297D-C02B-4CDC-E3FEF6477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 </a:t>
            </a:r>
            <a:r>
              <a:rPr lang="zh-CN" altLang="en-US" dirty="0"/>
              <a:t>与非门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1E256B-2D09-3196-6737-BB45C23B6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721176-C1B2-73A8-92FC-B6DCB443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/35</a:t>
            </a:r>
            <a:endParaRPr lang="en-US" dirty="0"/>
          </a:p>
        </p:txBody>
      </p:sp>
      <p:grpSp>
        <p:nvGrpSpPr>
          <p:cNvPr id="8" name="Group 138">
            <a:extLst>
              <a:ext uri="{FF2B5EF4-FFF2-40B4-BE49-F238E27FC236}">
                <a16:creationId xmlns:a16="http://schemas.microsoft.com/office/drawing/2014/main" id="{33D6E3B4-FD12-C6F5-B7EE-5C6B2C66DB3C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981075"/>
            <a:ext cx="3406775" cy="3708400"/>
            <a:chOff x="3334" y="731"/>
            <a:chExt cx="2146" cy="2336"/>
          </a:xfrm>
        </p:grpSpPr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F8FAEDFB-5D4D-30C0-BE83-70B83D7F5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" y="1637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L</a:t>
              </a:r>
              <a:endParaRPr kumimoji="1" lang="en-US" altLang="zh-CN" sz="1800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48F049F3-47DB-6C0F-F5EE-219F3DC95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99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AB5A2271-3F25-38A5-F610-75E38E4F1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3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90E5B989-F176-82EA-5203-9B934C290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77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F8B1BF2C-4404-144A-8AE7-A706A6774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4A124F1A-DCC4-DAB2-FFB3-70BD1ACD0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545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FD51BE36-86B9-EA06-7EED-D9B573E0F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545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24055A74-720C-9764-2841-40097FE67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81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8F8A71E5-3D92-2B34-C3C5-D2A54EA8A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D6721919-D662-5B14-80A0-0F33CBC7C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817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09935725-836B-D082-FF2D-79C78DEEF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681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3F97E09B-F17A-43FE-A5D2-0D1D24A3C6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409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3D2245E5-D9B6-98AA-A7BF-C49FE9A9A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252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139C0CF1-D01F-0536-332F-DB35DE1A6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38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E2043002-2309-4837-06EE-DF45F6A31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52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ED016AE0-403D-262A-793C-2B49A2584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3B4DFE78-1E85-1F95-E2F9-BC14480E84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5" y="1298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6F236F40-EC48-E334-3247-4AADCA9E7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298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8925EBD3-A24A-290E-C3A4-F1DC4E955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57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AE801176-13A9-018D-2D41-507B0D099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3202CEEE-AF29-4D13-F230-FADC78AF1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1117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5E6A1C98-5121-7D71-10FB-38E80F56A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1570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E96425D1-F1B8-E35F-BA07-81E42583C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4" y="1298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33DB8E53-C75F-9665-2039-938A062DD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52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90E0D997-8682-268A-3645-3ED847426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38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15FE9056-F283-9489-711A-ED0DC1EC95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52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A5F77E9A-6725-B8DC-4372-B6D94A604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E2A49FF4-B629-7441-C802-91D81558A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1298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A3193657-C226-11C0-C23E-491232463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98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C4E0A19A-1B69-F5EA-4B25-C0BECAD1C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57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3BB83325-5591-3B89-4330-0AFDCE197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7AA831E3-0384-FCA2-6134-C0DAB9561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162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A6EEB544-2F48-F1EC-6CFD-DF51796B6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570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3">
              <a:extLst>
                <a:ext uri="{FF2B5EF4-FFF2-40B4-BE49-F238E27FC236}">
                  <a16:creationId xmlns:a16="http://schemas.microsoft.com/office/drawing/2014/main" id="{0AD6EB56-9B88-A4D0-2EB2-C40C64709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298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4">
              <a:extLst>
                <a:ext uri="{FF2B5EF4-FFF2-40B4-BE49-F238E27FC236}">
                  <a16:creationId xmlns:a16="http://schemas.microsoft.com/office/drawing/2014/main" id="{1F652976-7CD6-96BC-9F6C-6E99FEB37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95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5">
              <a:extLst>
                <a:ext uri="{FF2B5EF4-FFF2-40B4-BE49-F238E27FC236}">
                  <a16:creationId xmlns:a16="http://schemas.microsoft.com/office/drawing/2014/main" id="{71B5166D-703C-59DB-C844-9B71A3343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9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46">
              <a:extLst>
                <a:ext uri="{FF2B5EF4-FFF2-40B4-BE49-F238E27FC236}">
                  <a16:creationId xmlns:a16="http://schemas.microsoft.com/office/drawing/2014/main" id="{C6879B59-F779-33BB-FF23-8AFB7B1E5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227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47">
              <a:extLst>
                <a:ext uri="{FF2B5EF4-FFF2-40B4-BE49-F238E27FC236}">
                  <a16:creationId xmlns:a16="http://schemas.microsoft.com/office/drawing/2014/main" id="{C4B7EC9E-ADEE-0482-1EB6-25EC579E4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13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48">
              <a:extLst>
                <a:ext uri="{FF2B5EF4-FFF2-40B4-BE49-F238E27FC236}">
                  <a16:creationId xmlns:a16="http://schemas.microsoft.com/office/drawing/2014/main" id="{0EA2179A-7E98-D8AC-90E6-FF254831C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001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45FF1A97-8622-2FFC-39C5-C34E7DCF6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0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50">
              <a:extLst>
                <a:ext uri="{FF2B5EF4-FFF2-40B4-BE49-F238E27FC236}">
                  <a16:creationId xmlns:a16="http://schemas.microsoft.com/office/drawing/2014/main" id="{670262AC-0536-41C6-3D3F-6F3526550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27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51">
              <a:extLst>
                <a:ext uri="{FF2B5EF4-FFF2-40B4-BE49-F238E27FC236}">
                  <a16:creationId xmlns:a16="http://schemas.microsoft.com/office/drawing/2014/main" id="{9BC18BE6-7390-B552-6824-2F0C6628F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137"/>
              <a:ext cx="2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52">
              <a:extLst>
                <a:ext uri="{FF2B5EF4-FFF2-40B4-BE49-F238E27FC236}">
                  <a16:creationId xmlns:a16="http://schemas.microsoft.com/office/drawing/2014/main" id="{B0FC4DF3-9880-B1DB-0003-B34336316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273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53">
              <a:extLst>
                <a:ext uri="{FF2B5EF4-FFF2-40B4-BE49-F238E27FC236}">
                  <a16:creationId xmlns:a16="http://schemas.microsoft.com/office/drawing/2014/main" id="{08337DE0-A822-3C83-72E6-2A8257636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274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54">
              <a:extLst>
                <a:ext uri="{FF2B5EF4-FFF2-40B4-BE49-F238E27FC236}">
                  <a16:creationId xmlns:a16="http://schemas.microsoft.com/office/drawing/2014/main" id="{3A1F6A0C-B584-6F2E-D70E-562C51F24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1865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55">
              <a:extLst>
                <a:ext uri="{FF2B5EF4-FFF2-40B4-BE49-F238E27FC236}">
                  <a16:creationId xmlns:a16="http://schemas.microsoft.com/office/drawing/2014/main" id="{4D88CD83-CED9-F4BA-E2CC-0BA9A62F7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117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56">
              <a:extLst>
                <a:ext uri="{FF2B5EF4-FFF2-40B4-BE49-F238E27FC236}">
                  <a16:creationId xmlns:a16="http://schemas.microsoft.com/office/drawing/2014/main" id="{3ECF344E-40C3-9B3A-15FF-C973EF200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731"/>
              <a:ext cx="4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i="1"/>
                <a:t>V</a:t>
              </a:r>
              <a:r>
                <a:rPr kumimoji="1" lang="en-US" altLang="zh-CN" sz="1600"/>
                <a:t>DD</a:t>
              </a:r>
              <a:endParaRPr kumimoji="1" lang="en-US" altLang="zh-CN" sz="1800"/>
            </a:p>
          </p:txBody>
        </p:sp>
        <p:sp>
          <p:nvSpPr>
            <p:cNvPr id="56" name="Line 57">
              <a:extLst>
                <a:ext uri="{FF2B5EF4-FFF2-40B4-BE49-F238E27FC236}">
                  <a16:creationId xmlns:a16="http://schemas.microsoft.com/office/drawing/2014/main" id="{6ADCDA30-9E70-27D1-3A3C-330DAB827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945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Oval 58">
              <a:extLst>
                <a:ext uri="{FF2B5EF4-FFF2-40B4-BE49-F238E27FC236}">
                  <a16:creationId xmlns:a16="http://schemas.microsoft.com/office/drawing/2014/main" id="{01AB90FB-68E8-8FCE-DB2E-632C0E0C2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87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8" name="Line 59">
              <a:extLst>
                <a:ext uri="{FF2B5EF4-FFF2-40B4-BE49-F238E27FC236}">
                  <a16:creationId xmlns:a16="http://schemas.microsoft.com/office/drawing/2014/main" id="{0A7D355C-855D-B2FF-C158-A8FBA8072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273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60">
              <a:extLst>
                <a:ext uri="{FF2B5EF4-FFF2-40B4-BE49-F238E27FC236}">
                  <a16:creationId xmlns:a16="http://schemas.microsoft.com/office/drawing/2014/main" id="{7E7A0E34-B3E5-715F-6035-C2EDA1B76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1298"/>
              <a:ext cx="0" cy="15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61">
              <a:extLst>
                <a:ext uri="{FF2B5EF4-FFF2-40B4-BE49-F238E27FC236}">
                  <a16:creationId xmlns:a16="http://schemas.microsoft.com/office/drawing/2014/main" id="{B2EAED35-6B08-7A87-45C2-1D0073363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297"/>
              <a:ext cx="0" cy="9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2">
              <a:extLst>
                <a:ext uri="{FF2B5EF4-FFF2-40B4-BE49-F238E27FC236}">
                  <a16:creationId xmlns:a16="http://schemas.microsoft.com/office/drawing/2014/main" id="{9E93EE28-A2F4-E9C7-E8FD-A2C800CEA6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818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3">
              <a:extLst>
                <a:ext uri="{FF2B5EF4-FFF2-40B4-BE49-F238E27FC236}">
                  <a16:creationId xmlns:a16="http://schemas.microsoft.com/office/drawing/2014/main" id="{564915CC-9E54-FCE2-E438-B84096B59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005"/>
              <a:ext cx="0" cy="2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64">
              <a:extLst>
                <a:ext uri="{FF2B5EF4-FFF2-40B4-BE49-F238E27FC236}">
                  <a16:creationId xmlns:a16="http://schemas.microsoft.com/office/drawing/2014/main" id="{649782A0-4196-F511-06E8-1B81C0E5D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8" y="3066"/>
              <a:ext cx="181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65">
              <a:extLst>
                <a:ext uri="{FF2B5EF4-FFF2-40B4-BE49-F238E27FC236}">
                  <a16:creationId xmlns:a16="http://schemas.microsoft.com/office/drawing/2014/main" id="{4E8A6B75-6FED-A2C2-711F-18F86182F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8" y="2931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67">
              <a:extLst>
                <a:ext uri="{FF2B5EF4-FFF2-40B4-BE49-F238E27FC236}">
                  <a16:creationId xmlns:a16="http://schemas.microsoft.com/office/drawing/2014/main" id="{418B537B-229A-CB18-4A39-8A6B17AE7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11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A</a:t>
              </a:r>
              <a:endParaRPr kumimoji="1" lang="en-US" altLang="zh-CN" sz="1800"/>
            </a:p>
          </p:txBody>
        </p:sp>
        <p:sp>
          <p:nvSpPr>
            <p:cNvPr id="66" name="Text Box 68">
              <a:extLst>
                <a:ext uri="{FF2B5EF4-FFF2-40B4-BE49-F238E27FC236}">
                  <a16:creationId xmlns:a16="http://schemas.microsoft.com/office/drawing/2014/main" id="{75B204A7-A8D7-FD34-B90F-7F55AE086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681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B</a:t>
              </a:r>
              <a:endParaRPr kumimoji="1" lang="en-US" altLang="zh-CN" sz="1800"/>
            </a:p>
          </p:txBody>
        </p:sp>
        <p:sp>
          <p:nvSpPr>
            <p:cNvPr id="67" name="Line 69">
              <a:extLst>
                <a:ext uri="{FF2B5EF4-FFF2-40B4-BE49-F238E27FC236}">
                  <a16:creationId xmlns:a16="http://schemas.microsoft.com/office/drawing/2014/main" id="{53AE658A-7DA9-E420-FFD3-D28A663E6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774"/>
              <a:ext cx="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70">
              <a:extLst>
                <a:ext uri="{FF2B5EF4-FFF2-40B4-BE49-F238E27FC236}">
                  <a16:creationId xmlns:a16="http://schemas.microsoft.com/office/drawing/2014/main" id="{00D8D14B-D769-308F-0BCF-856E70F2A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683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Oval 71">
              <a:extLst>
                <a:ext uri="{FF2B5EF4-FFF2-40B4-BE49-F238E27FC236}">
                  <a16:creationId xmlns:a16="http://schemas.microsoft.com/office/drawing/2014/main" id="{1A7BFDB9-85C3-FC58-2870-369B56509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752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70" name="Line 73">
              <a:extLst>
                <a:ext uri="{FF2B5EF4-FFF2-40B4-BE49-F238E27FC236}">
                  <a16:creationId xmlns:a16="http://schemas.microsoft.com/office/drawing/2014/main" id="{647EFDE5-9B9A-E004-5772-F57BC206B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81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74">
              <a:extLst>
                <a:ext uri="{FF2B5EF4-FFF2-40B4-BE49-F238E27FC236}">
                  <a16:creationId xmlns:a16="http://schemas.microsoft.com/office/drawing/2014/main" id="{7EF0B7AD-2049-6A67-D134-62F342783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6" y="2138"/>
              <a:ext cx="0" cy="6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Text Box 75">
              <a:extLst>
                <a:ext uri="{FF2B5EF4-FFF2-40B4-BE49-F238E27FC236}">
                  <a16:creationId xmlns:a16="http://schemas.microsoft.com/office/drawing/2014/main" id="{EDE44747-64C3-2411-AEAC-F966FEBF8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1275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P1</a:t>
              </a:r>
              <a:endParaRPr kumimoji="1" lang="en-US" altLang="zh-CN" sz="1400"/>
            </a:p>
          </p:txBody>
        </p:sp>
        <p:sp>
          <p:nvSpPr>
            <p:cNvPr id="73" name="Text Box 76">
              <a:extLst>
                <a:ext uri="{FF2B5EF4-FFF2-40B4-BE49-F238E27FC236}">
                  <a16:creationId xmlns:a16="http://schemas.microsoft.com/office/drawing/2014/main" id="{ED622782-5963-034D-1DF0-674FAB0123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4" y="935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P2</a:t>
              </a:r>
            </a:p>
          </p:txBody>
        </p:sp>
        <p:sp>
          <p:nvSpPr>
            <p:cNvPr id="74" name="Text Box 77">
              <a:extLst>
                <a:ext uri="{FF2B5EF4-FFF2-40B4-BE49-F238E27FC236}">
                  <a16:creationId xmlns:a16="http://schemas.microsoft.com/office/drawing/2014/main" id="{C46B3239-3F85-444E-F6BA-8032C81D0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" y="2002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N1</a:t>
              </a:r>
            </a:p>
          </p:txBody>
        </p:sp>
        <p:sp>
          <p:nvSpPr>
            <p:cNvPr id="75" name="Text Box 78">
              <a:extLst>
                <a:ext uri="{FF2B5EF4-FFF2-40B4-BE49-F238E27FC236}">
                  <a16:creationId xmlns:a16="http://schemas.microsoft.com/office/drawing/2014/main" id="{318F77EA-8580-7F05-79FF-BB45D751B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" y="2553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N2</a:t>
              </a:r>
            </a:p>
          </p:txBody>
        </p:sp>
      </p:grpSp>
      <p:graphicFrame>
        <p:nvGraphicFramePr>
          <p:cNvPr id="76" name="Group 79">
            <a:extLst>
              <a:ext uri="{FF2B5EF4-FFF2-40B4-BE49-F238E27FC236}">
                <a16:creationId xmlns:a16="http://schemas.microsoft.com/office/drawing/2014/main" id="{3449DA0B-FB23-5E95-BB3A-5F82FD515FA0}"/>
              </a:ext>
            </a:extLst>
          </p:cNvPr>
          <p:cNvGraphicFramePr>
            <a:graphicFrameLocks noGrp="1"/>
          </p:cNvGraphicFramePr>
          <p:nvPr/>
        </p:nvGraphicFramePr>
        <p:xfrm>
          <a:off x="720725" y="2060575"/>
          <a:ext cx="4391025" cy="2824163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A B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N1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N2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L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Rectangle 135">
            <a:extLst>
              <a:ext uri="{FF2B5EF4-FFF2-40B4-BE49-F238E27FC236}">
                <a16:creationId xmlns:a16="http://schemas.microsoft.com/office/drawing/2014/main" id="{21306EBF-FC43-D8DB-427B-9AA6504F7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484313"/>
            <a:ext cx="954087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zh-CN" altLang="en-US" sz="2400"/>
              <a:t>真值表</a:t>
            </a:r>
          </a:p>
        </p:txBody>
      </p:sp>
      <p:graphicFrame>
        <p:nvGraphicFramePr>
          <p:cNvPr id="78" name="Group 79">
            <a:extLst>
              <a:ext uri="{FF2B5EF4-FFF2-40B4-BE49-F238E27FC236}">
                <a16:creationId xmlns:a16="http://schemas.microsoft.com/office/drawing/2014/main" id="{7349FEFF-F115-5A04-5707-0E4B71B7B3B4}"/>
              </a:ext>
            </a:extLst>
          </p:cNvPr>
          <p:cNvGraphicFramePr>
            <a:graphicFrameLocks noGrp="1"/>
          </p:cNvGraphicFramePr>
          <p:nvPr/>
        </p:nvGraphicFramePr>
        <p:xfrm>
          <a:off x="719138" y="2060575"/>
          <a:ext cx="4391025" cy="2824163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</a:t>
                      </a:r>
                      <a:endParaRPr kumimoji="1" lang="zh-CN" alt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N1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>
                      <a:lvl1pPr marL="533400" indent="-5334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" name="文本框 2">
            <a:extLst>
              <a:ext uri="{FF2B5EF4-FFF2-40B4-BE49-F238E27FC236}">
                <a16:creationId xmlns:a16="http://schemas.microsoft.com/office/drawing/2014/main" id="{0ABBCC82-BC73-9C45-972A-B781EB80E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50" y="305435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80" name="文本框 89">
            <a:extLst>
              <a:ext uri="{FF2B5EF4-FFF2-40B4-BE49-F238E27FC236}">
                <a16:creationId xmlns:a16="http://schemas.microsoft.com/office/drawing/2014/main" id="{2329D4EE-9A0A-9E75-5438-FB4C09CC1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39354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</a:rPr>
              <a:t>0</a:t>
            </a:r>
            <a:endParaRPr lang="zh-CN" altLang="en-US">
              <a:solidFill>
                <a:srgbClr val="009900"/>
              </a:solidFill>
            </a:endParaRPr>
          </a:p>
        </p:txBody>
      </p:sp>
      <p:grpSp>
        <p:nvGrpSpPr>
          <p:cNvPr id="81" name="组合 10">
            <a:extLst>
              <a:ext uri="{FF2B5EF4-FFF2-40B4-BE49-F238E27FC236}">
                <a16:creationId xmlns:a16="http://schemas.microsoft.com/office/drawing/2014/main" id="{92FA7C05-F61C-D6D4-49A5-0534774E768F}"/>
              </a:ext>
            </a:extLst>
          </p:cNvPr>
          <p:cNvGrpSpPr>
            <a:grpSpLocks/>
          </p:cNvGrpSpPr>
          <p:nvPr/>
        </p:nvGrpSpPr>
        <p:grpSpPr bwMode="auto">
          <a:xfrm>
            <a:off x="7221538" y="1746250"/>
            <a:ext cx="971550" cy="873125"/>
            <a:chOff x="7273132" y="3742343"/>
            <a:chExt cx="970755" cy="874107"/>
          </a:xfrm>
        </p:grpSpPr>
        <p:cxnSp>
          <p:nvCxnSpPr>
            <p:cNvPr id="82" name="直接连接符 5">
              <a:extLst>
                <a:ext uri="{FF2B5EF4-FFF2-40B4-BE49-F238E27FC236}">
                  <a16:creationId xmlns:a16="http://schemas.microsoft.com/office/drawing/2014/main" id="{CE2C8417-087A-A7D7-968E-6ED33D168C9E}"/>
                </a:ext>
              </a:extLst>
            </p:cNvPr>
            <p:cNvCxnSpPr/>
            <p:nvPr/>
          </p:nvCxnSpPr>
          <p:spPr>
            <a:xfrm>
              <a:off x="7273132" y="3753468"/>
              <a:ext cx="932686" cy="8280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93">
              <a:extLst>
                <a:ext uri="{FF2B5EF4-FFF2-40B4-BE49-F238E27FC236}">
                  <a16:creationId xmlns:a16="http://schemas.microsoft.com/office/drawing/2014/main" id="{D2C2E9B8-A6B1-6510-AF29-5929333F6596}"/>
                </a:ext>
              </a:extLst>
            </p:cNvPr>
            <p:cNvCxnSpPr/>
            <p:nvPr/>
          </p:nvCxnSpPr>
          <p:spPr>
            <a:xfrm flipV="1">
              <a:off x="7314373" y="3742343"/>
              <a:ext cx="929514" cy="87410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组合 99">
            <a:extLst>
              <a:ext uri="{FF2B5EF4-FFF2-40B4-BE49-F238E27FC236}">
                <a16:creationId xmlns:a16="http://schemas.microsoft.com/office/drawing/2014/main" id="{CE4FC0E6-92F1-9EDB-2F8A-2FF93CB545A5}"/>
              </a:ext>
            </a:extLst>
          </p:cNvPr>
          <p:cNvGrpSpPr>
            <a:grpSpLocks/>
          </p:cNvGrpSpPr>
          <p:nvPr/>
        </p:nvGrpSpPr>
        <p:grpSpPr bwMode="auto">
          <a:xfrm>
            <a:off x="7272338" y="3660775"/>
            <a:ext cx="971550" cy="874713"/>
            <a:chOff x="7273132" y="3742343"/>
            <a:chExt cx="970755" cy="874107"/>
          </a:xfrm>
        </p:grpSpPr>
        <p:cxnSp>
          <p:nvCxnSpPr>
            <p:cNvPr id="85" name="直接连接符 100">
              <a:extLst>
                <a:ext uri="{FF2B5EF4-FFF2-40B4-BE49-F238E27FC236}">
                  <a16:creationId xmlns:a16="http://schemas.microsoft.com/office/drawing/2014/main" id="{CA704D2B-D9F7-9075-01E8-087D59398172}"/>
                </a:ext>
              </a:extLst>
            </p:cNvPr>
            <p:cNvCxnSpPr/>
            <p:nvPr/>
          </p:nvCxnSpPr>
          <p:spPr>
            <a:xfrm>
              <a:off x="7273132" y="3753448"/>
              <a:ext cx="932686" cy="8281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101">
              <a:extLst>
                <a:ext uri="{FF2B5EF4-FFF2-40B4-BE49-F238E27FC236}">
                  <a16:creationId xmlns:a16="http://schemas.microsoft.com/office/drawing/2014/main" id="{3F63C27A-488D-06D5-F2C2-DED54D4F0E63}"/>
                </a:ext>
              </a:extLst>
            </p:cNvPr>
            <p:cNvCxnSpPr/>
            <p:nvPr/>
          </p:nvCxnSpPr>
          <p:spPr>
            <a:xfrm flipV="1">
              <a:off x="7314373" y="3742343"/>
              <a:ext cx="929514" cy="87410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直接连接符 12">
            <a:extLst>
              <a:ext uri="{FF2B5EF4-FFF2-40B4-BE49-F238E27FC236}">
                <a16:creationId xmlns:a16="http://schemas.microsoft.com/office/drawing/2014/main" id="{0FE7F05F-F4D9-4C04-EC30-4C93E18165E2}"/>
              </a:ext>
            </a:extLst>
          </p:cNvPr>
          <p:cNvCxnSpPr/>
          <p:nvPr/>
        </p:nvCxnSpPr>
        <p:spPr>
          <a:xfrm>
            <a:off x="6618288" y="1712913"/>
            <a:ext cx="0" cy="912812"/>
          </a:xfrm>
          <a:prstGeom prst="line">
            <a:avLst/>
          </a:prstGeom>
          <a:ln w="5715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104">
            <a:extLst>
              <a:ext uri="{FF2B5EF4-FFF2-40B4-BE49-F238E27FC236}">
                <a16:creationId xmlns:a16="http://schemas.microsoft.com/office/drawing/2014/main" id="{36253940-5A6D-C367-AED9-CFCC93CF07BB}"/>
              </a:ext>
            </a:extLst>
          </p:cNvPr>
          <p:cNvCxnSpPr/>
          <p:nvPr/>
        </p:nvCxnSpPr>
        <p:spPr>
          <a:xfrm>
            <a:off x="7773988" y="2732088"/>
            <a:ext cx="0" cy="912812"/>
          </a:xfrm>
          <a:prstGeom prst="line">
            <a:avLst/>
          </a:prstGeom>
          <a:ln w="5715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7628AF2B-8F11-FCC7-138A-2BB4874DD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2447925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</a:rPr>
              <a:t>1</a:t>
            </a:r>
            <a:endParaRPr lang="zh-CN" altLang="en-US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0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717C7-4295-65C8-B803-2A540340D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 </a:t>
            </a:r>
            <a:r>
              <a:rPr lang="zh-CN" altLang="en-US" dirty="0"/>
              <a:t>与非门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291195-5CD3-DF9D-2F41-C86FCBD66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F5C3D0-0142-E853-9494-7BC0C604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/35</a:t>
            </a:r>
            <a:endParaRPr lang="en-US" dirty="0"/>
          </a:p>
        </p:txBody>
      </p:sp>
      <p:grpSp>
        <p:nvGrpSpPr>
          <p:cNvPr id="6" name="Group 138">
            <a:extLst>
              <a:ext uri="{FF2B5EF4-FFF2-40B4-BE49-F238E27FC236}">
                <a16:creationId xmlns:a16="http://schemas.microsoft.com/office/drawing/2014/main" id="{9EFB19ED-3A4D-0955-7DEA-9A241B4A5112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981075"/>
            <a:ext cx="3406775" cy="3708400"/>
            <a:chOff x="3334" y="731"/>
            <a:chExt cx="2146" cy="2336"/>
          </a:xfrm>
        </p:grpSpPr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EF8E84FC-8261-3FF0-DD0D-6AC4DF6F60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" y="1637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L</a:t>
              </a:r>
              <a:endParaRPr kumimoji="1" lang="en-US" altLang="zh-CN" sz="1800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2320F0FC-6E51-5F61-0BE7-C538ED6CA8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99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74024C77-3FC7-ACBC-E248-14A3A1A22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3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E557A441-E100-7D63-4579-42FD054CA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77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47B184EE-3750-6AED-4EBB-72DE92036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5667EECD-FA45-B5D4-FCD2-4BFFDB52DD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545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2174EE5A-BE93-ACD4-1270-F4BB6789F3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545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CBCABD0A-14DF-6743-B28C-A8EEFA450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81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5AF6AD61-4130-FEDB-FC00-E1A4BA68C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60C66692-E47B-FCEA-7221-394D5ABE2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817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4B860687-FA2F-6671-3341-708C613BB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681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F56742A8-83B8-21B5-E79E-DF4B85C56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409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5B470438-DA5F-0939-BAF2-880C7E91BA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252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3C455582-CB74-0512-4AF3-AE7D49E5F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38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84C48977-A0D8-D15D-33EB-DEA7AA7DF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52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E99235CA-E702-AAF1-1D65-F3F943E00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844D3B6F-2E57-4F77-9A55-D1C1402E7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5" y="1298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D39174FF-F556-544C-3E90-D3AC8A590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298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E8A76A34-B734-4C96-2632-A86CAF4D5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57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CCEE3988-6A9B-5F99-B23D-1F7CAA724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ACA288DF-1C62-4006-D086-568CC9B22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1117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55A9376B-46E2-A35E-FB92-85D69BF85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1570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ED8B0D9C-9214-0873-2124-5E86A54F4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4" y="1298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065C6DC2-FA18-7591-42F7-DB32D869F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52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FD47108A-FF98-1537-8E19-6C0BD8250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38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824CC956-CF78-E20D-B935-A3DAD4B13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52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A8B5D3F4-B1F5-BD20-0351-865C0886D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6">
              <a:extLst>
                <a:ext uri="{FF2B5EF4-FFF2-40B4-BE49-F238E27FC236}">
                  <a16:creationId xmlns:a16="http://schemas.microsoft.com/office/drawing/2014/main" id="{CBCC1F32-6FCB-4560-58D8-FEF9DF892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1298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7">
              <a:extLst>
                <a:ext uri="{FF2B5EF4-FFF2-40B4-BE49-F238E27FC236}">
                  <a16:creationId xmlns:a16="http://schemas.microsoft.com/office/drawing/2014/main" id="{8B112E2E-797E-F136-D3EB-9DB451028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98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38">
              <a:extLst>
                <a:ext uri="{FF2B5EF4-FFF2-40B4-BE49-F238E27FC236}">
                  <a16:creationId xmlns:a16="http://schemas.microsoft.com/office/drawing/2014/main" id="{5D9F03BE-641E-2330-945F-C2FDF34CB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57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9">
              <a:extLst>
                <a:ext uri="{FF2B5EF4-FFF2-40B4-BE49-F238E27FC236}">
                  <a16:creationId xmlns:a16="http://schemas.microsoft.com/office/drawing/2014/main" id="{D176BDE6-DB68-F720-30B3-3BC354D5C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40">
              <a:extLst>
                <a:ext uri="{FF2B5EF4-FFF2-40B4-BE49-F238E27FC236}">
                  <a16:creationId xmlns:a16="http://schemas.microsoft.com/office/drawing/2014/main" id="{49D288DD-1D59-DF51-472E-FC8E6F5F8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162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41">
              <a:extLst>
                <a:ext uri="{FF2B5EF4-FFF2-40B4-BE49-F238E27FC236}">
                  <a16:creationId xmlns:a16="http://schemas.microsoft.com/office/drawing/2014/main" id="{DA715F03-7C49-24F3-5519-D47C3AEED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570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9CBA7133-B5DA-1659-91CA-EC89E36F3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298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8E2D5143-53C1-32FD-79B2-5DFD9B7F2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95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CD2AF50C-AA50-3A20-A801-256D8B6A3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9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03706421-ADBF-72AD-4F34-674281033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227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41E7AE0A-9334-D5D3-2418-0670FB04D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13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55E03777-B5A7-D9CC-8130-CB31880AA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001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49">
              <a:extLst>
                <a:ext uri="{FF2B5EF4-FFF2-40B4-BE49-F238E27FC236}">
                  <a16:creationId xmlns:a16="http://schemas.microsoft.com/office/drawing/2014/main" id="{EC587C83-91D3-D0F4-7CB2-3C6F9F4AF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0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62DFE8AC-F995-3993-66A4-272ED972A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27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51">
              <a:extLst>
                <a:ext uri="{FF2B5EF4-FFF2-40B4-BE49-F238E27FC236}">
                  <a16:creationId xmlns:a16="http://schemas.microsoft.com/office/drawing/2014/main" id="{64ABB8DA-3CA5-E6A7-EC94-319E9CD19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137"/>
              <a:ext cx="2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52">
              <a:extLst>
                <a:ext uri="{FF2B5EF4-FFF2-40B4-BE49-F238E27FC236}">
                  <a16:creationId xmlns:a16="http://schemas.microsoft.com/office/drawing/2014/main" id="{4B31A850-3A4D-2496-D7F5-526B37F9E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273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BFA08A3C-9189-0802-9F4C-E6F427FCB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274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54">
              <a:extLst>
                <a:ext uri="{FF2B5EF4-FFF2-40B4-BE49-F238E27FC236}">
                  <a16:creationId xmlns:a16="http://schemas.microsoft.com/office/drawing/2014/main" id="{F3C6F683-ABFE-052B-EAC8-3B2B6B83B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1865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55">
              <a:extLst>
                <a:ext uri="{FF2B5EF4-FFF2-40B4-BE49-F238E27FC236}">
                  <a16:creationId xmlns:a16="http://schemas.microsoft.com/office/drawing/2014/main" id="{299CEC45-5CFA-2141-8E8A-5E5839BE6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117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56">
              <a:extLst>
                <a:ext uri="{FF2B5EF4-FFF2-40B4-BE49-F238E27FC236}">
                  <a16:creationId xmlns:a16="http://schemas.microsoft.com/office/drawing/2014/main" id="{244A4C67-8CE4-0491-FBF0-1D7AC62AAE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731"/>
              <a:ext cx="4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i="1"/>
                <a:t>V</a:t>
              </a:r>
              <a:r>
                <a:rPr kumimoji="1" lang="en-US" altLang="zh-CN" sz="1600"/>
                <a:t>DD</a:t>
              </a:r>
              <a:endParaRPr kumimoji="1" lang="en-US" altLang="zh-CN" sz="1800"/>
            </a:p>
          </p:txBody>
        </p:sp>
        <p:sp>
          <p:nvSpPr>
            <p:cNvPr id="54" name="Line 57">
              <a:extLst>
                <a:ext uri="{FF2B5EF4-FFF2-40B4-BE49-F238E27FC236}">
                  <a16:creationId xmlns:a16="http://schemas.microsoft.com/office/drawing/2014/main" id="{FFF0B295-E3AB-39C4-AD94-0484D2560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945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Oval 58">
              <a:extLst>
                <a:ext uri="{FF2B5EF4-FFF2-40B4-BE49-F238E27FC236}">
                  <a16:creationId xmlns:a16="http://schemas.microsoft.com/office/drawing/2014/main" id="{F2BAAB73-C8D1-8DB7-688A-5A9B2298F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87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6" name="Line 59">
              <a:extLst>
                <a:ext uri="{FF2B5EF4-FFF2-40B4-BE49-F238E27FC236}">
                  <a16:creationId xmlns:a16="http://schemas.microsoft.com/office/drawing/2014/main" id="{570A45B3-1CDB-09C3-59F5-721224830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273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60">
              <a:extLst>
                <a:ext uri="{FF2B5EF4-FFF2-40B4-BE49-F238E27FC236}">
                  <a16:creationId xmlns:a16="http://schemas.microsoft.com/office/drawing/2014/main" id="{AF85F814-949F-9943-D159-C24FA296B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1298"/>
              <a:ext cx="0" cy="15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61">
              <a:extLst>
                <a:ext uri="{FF2B5EF4-FFF2-40B4-BE49-F238E27FC236}">
                  <a16:creationId xmlns:a16="http://schemas.microsoft.com/office/drawing/2014/main" id="{ED1A0E5C-1F48-8787-F2C5-86441BC0A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297"/>
              <a:ext cx="0" cy="9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62">
              <a:extLst>
                <a:ext uri="{FF2B5EF4-FFF2-40B4-BE49-F238E27FC236}">
                  <a16:creationId xmlns:a16="http://schemas.microsoft.com/office/drawing/2014/main" id="{B362016D-F94E-109C-4483-FC864DD61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818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63">
              <a:extLst>
                <a:ext uri="{FF2B5EF4-FFF2-40B4-BE49-F238E27FC236}">
                  <a16:creationId xmlns:a16="http://schemas.microsoft.com/office/drawing/2014/main" id="{9ABE7807-FE53-0C88-CCA1-D1E8483B8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005"/>
              <a:ext cx="0" cy="2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4">
              <a:extLst>
                <a:ext uri="{FF2B5EF4-FFF2-40B4-BE49-F238E27FC236}">
                  <a16:creationId xmlns:a16="http://schemas.microsoft.com/office/drawing/2014/main" id="{457A220A-5036-26BE-D982-9FAF8B4A0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8" y="3066"/>
              <a:ext cx="181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5">
              <a:extLst>
                <a:ext uri="{FF2B5EF4-FFF2-40B4-BE49-F238E27FC236}">
                  <a16:creationId xmlns:a16="http://schemas.microsoft.com/office/drawing/2014/main" id="{F0123D93-06E5-A839-49DF-6C64D1C528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8" y="2931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67">
              <a:extLst>
                <a:ext uri="{FF2B5EF4-FFF2-40B4-BE49-F238E27FC236}">
                  <a16:creationId xmlns:a16="http://schemas.microsoft.com/office/drawing/2014/main" id="{BBE571F9-A464-F909-2ABB-BE2F5E22B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11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A</a:t>
              </a:r>
              <a:endParaRPr kumimoji="1" lang="en-US" altLang="zh-CN" sz="1800"/>
            </a:p>
          </p:txBody>
        </p:sp>
        <p:sp>
          <p:nvSpPr>
            <p:cNvPr id="64" name="Text Box 68">
              <a:extLst>
                <a:ext uri="{FF2B5EF4-FFF2-40B4-BE49-F238E27FC236}">
                  <a16:creationId xmlns:a16="http://schemas.microsoft.com/office/drawing/2014/main" id="{FC2439ED-160B-71E0-22A8-D8495DF7A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681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B</a:t>
              </a:r>
              <a:endParaRPr kumimoji="1" lang="en-US" altLang="zh-CN" sz="1800"/>
            </a:p>
          </p:txBody>
        </p:sp>
        <p:sp>
          <p:nvSpPr>
            <p:cNvPr id="65" name="Line 69">
              <a:extLst>
                <a:ext uri="{FF2B5EF4-FFF2-40B4-BE49-F238E27FC236}">
                  <a16:creationId xmlns:a16="http://schemas.microsoft.com/office/drawing/2014/main" id="{79E67ECB-B197-0E6B-5F6A-8AD68613D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774"/>
              <a:ext cx="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70">
              <a:extLst>
                <a:ext uri="{FF2B5EF4-FFF2-40B4-BE49-F238E27FC236}">
                  <a16:creationId xmlns:a16="http://schemas.microsoft.com/office/drawing/2014/main" id="{AD4F95FA-DACF-F67E-6B8D-2B484616C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683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Oval 71">
              <a:extLst>
                <a:ext uri="{FF2B5EF4-FFF2-40B4-BE49-F238E27FC236}">
                  <a16:creationId xmlns:a16="http://schemas.microsoft.com/office/drawing/2014/main" id="{EDF36745-6F1A-8100-E8CD-93C4B326A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752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8" name="Line 73">
              <a:extLst>
                <a:ext uri="{FF2B5EF4-FFF2-40B4-BE49-F238E27FC236}">
                  <a16:creationId xmlns:a16="http://schemas.microsoft.com/office/drawing/2014/main" id="{B0960CF3-9060-1C7F-7AA2-82A8373B9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81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74">
              <a:extLst>
                <a:ext uri="{FF2B5EF4-FFF2-40B4-BE49-F238E27FC236}">
                  <a16:creationId xmlns:a16="http://schemas.microsoft.com/office/drawing/2014/main" id="{855D392B-151E-1D35-EF1B-B531993BA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6" y="2138"/>
              <a:ext cx="0" cy="6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Text Box 75">
              <a:extLst>
                <a:ext uri="{FF2B5EF4-FFF2-40B4-BE49-F238E27FC236}">
                  <a16:creationId xmlns:a16="http://schemas.microsoft.com/office/drawing/2014/main" id="{F4164C6C-24BA-1CF3-1007-F54727334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1275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P1</a:t>
              </a:r>
              <a:endParaRPr kumimoji="1" lang="en-US" altLang="zh-CN" sz="1400"/>
            </a:p>
          </p:txBody>
        </p:sp>
        <p:sp>
          <p:nvSpPr>
            <p:cNvPr id="71" name="Text Box 76">
              <a:extLst>
                <a:ext uri="{FF2B5EF4-FFF2-40B4-BE49-F238E27FC236}">
                  <a16:creationId xmlns:a16="http://schemas.microsoft.com/office/drawing/2014/main" id="{18171940-E529-0ECA-46C4-0483B1DE5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4" y="935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P2</a:t>
              </a:r>
            </a:p>
          </p:txBody>
        </p:sp>
        <p:sp>
          <p:nvSpPr>
            <p:cNvPr id="72" name="Text Box 77">
              <a:extLst>
                <a:ext uri="{FF2B5EF4-FFF2-40B4-BE49-F238E27FC236}">
                  <a16:creationId xmlns:a16="http://schemas.microsoft.com/office/drawing/2014/main" id="{2E45D476-EA9B-6A97-36A8-73459D40F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" y="2002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N1</a:t>
              </a:r>
            </a:p>
          </p:txBody>
        </p:sp>
        <p:sp>
          <p:nvSpPr>
            <p:cNvPr id="73" name="Text Box 78">
              <a:extLst>
                <a:ext uri="{FF2B5EF4-FFF2-40B4-BE49-F238E27FC236}">
                  <a16:creationId xmlns:a16="http://schemas.microsoft.com/office/drawing/2014/main" id="{B1E7D965-B56D-F8A3-AF7D-2F0816A46D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" y="2553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N2</a:t>
              </a:r>
            </a:p>
          </p:txBody>
        </p:sp>
      </p:grpSp>
      <p:graphicFrame>
        <p:nvGraphicFramePr>
          <p:cNvPr id="74" name="Group 79">
            <a:extLst>
              <a:ext uri="{FF2B5EF4-FFF2-40B4-BE49-F238E27FC236}">
                <a16:creationId xmlns:a16="http://schemas.microsoft.com/office/drawing/2014/main" id="{EF6572B3-4A20-83C6-6921-EAEF94544A2F}"/>
              </a:ext>
            </a:extLst>
          </p:cNvPr>
          <p:cNvGraphicFramePr>
            <a:graphicFrameLocks noGrp="1"/>
          </p:cNvGraphicFramePr>
          <p:nvPr/>
        </p:nvGraphicFramePr>
        <p:xfrm>
          <a:off x="720725" y="2060575"/>
          <a:ext cx="4391025" cy="2824163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A B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N1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N2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L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Rectangle 135">
            <a:extLst>
              <a:ext uri="{FF2B5EF4-FFF2-40B4-BE49-F238E27FC236}">
                <a16:creationId xmlns:a16="http://schemas.microsoft.com/office/drawing/2014/main" id="{69B3EAA3-AB3C-5655-0B8F-B0D03FA5E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484313"/>
            <a:ext cx="954087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zh-CN" altLang="en-US" sz="2400"/>
              <a:t>真值表</a:t>
            </a:r>
          </a:p>
        </p:txBody>
      </p:sp>
      <p:grpSp>
        <p:nvGrpSpPr>
          <p:cNvPr id="76" name="Group 136">
            <a:extLst>
              <a:ext uri="{FF2B5EF4-FFF2-40B4-BE49-F238E27FC236}">
                <a16:creationId xmlns:a16="http://schemas.microsoft.com/office/drawing/2014/main" id="{A15A1675-C7EE-6FF2-5676-747B69FFB064}"/>
              </a:ext>
            </a:extLst>
          </p:cNvPr>
          <p:cNvGrpSpPr>
            <a:grpSpLocks/>
          </p:cNvGrpSpPr>
          <p:nvPr/>
        </p:nvGrpSpPr>
        <p:grpSpPr bwMode="auto">
          <a:xfrm>
            <a:off x="5543550" y="5013325"/>
            <a:ext cx="2470150" cy="700088"/>
            <a:chOff x="2570" y="3487"/>
            <a:chExt cx="1353" cy="414"/>
          </a:xfrm>
        </p:grpSpPr>
        <p:sp>
          <p:nvSpPr>
            <p:cNvPr id="77" name="Text Box 137">
              <a:extLst>
                <a:ext uri="{FF2B5EF4-FFF2-40B4-BE49-F238E27FC236}">
                  <a16:creationId xmlns:a16="http://schemas.microsoft.com/office/drawing/2014/main" id="{663164BC-EF7B-787D-D2DF-3F6822B9B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0" y="3487"/>
              <a:ext cx="17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78" name="Text Box 138">
              <a:extLst>
                <a:ext uri="{FF2B5EF4-FFF2-40B4-BE49-F238E27FC236}">
                  <a16:creationId xmlns:a16="http://schemas.microsoft.com/office/drawing/2014/main" id="{4F1AF3FE-77BE-5C6A-75A6-E4A16AA50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0" y="3707"/>
              <a:ext cx="17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B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79" name="Line 139">
              <a:extLst>
                <a:ext uri="{FF2B5EF4-FFF2-40B4-BE49-F238E27FC236}">
                  <a16:creationId xmlns:a16="http://schemas.microsoft.com/office/drawing/2014/main" id="{B4237561-6BB5-26BD-B345-13AE614B9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3601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140">
              <a:extLst>
                <a:ext uri="{FF2B5EF4-FFF2-40B4-BE49-F238E27FC236}">
                  <a16:creationId xmlns:a16="http://schemas.microsoft.com/office/drawing/2014/main" id="{F5A0A781-8E99-C7DC-FCF7-2B8A62E83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3792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141">
              <a:extLst>
                <a:ext uri="{FF2B5EF4-FFF2-40B4-BE49-F238E27FC236}">
                  <a16:creationId xmlns:a16="http://schemas.microsoft.com/office/drawing/2014/main" id="{144C8885-2388-7CA0-BA3D-EF978582B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2" y="3690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Text Box 142">
              <a:extLst>
                <a:ext uri="{FF2B5EF4-FFF2-40B4-BE49-F238E27FC236}">
                  <a16:creationId xmlns:a16="http://schemas.microsoft.com/office/drawing/2014/main" id="{A40B80B7-64F9-4723-BCA9-F3F88BEC0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1" y="3601"/>
              <a:ext cx="17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L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83" name="AutoShape 143">
              <a:extLst>
                <a:ext uri="{FF2B5EF4-FFF2-40B4-BE49-F238E27FC236}">
                  <a16:creationId xmlns:a16="http://schemas.microsoft.com/office/drawing/2014/main" id="{5352F69F-082A-1CC8-8EC0-105823AFC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3498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84" name="Oval 144">
              <a:extLst>
                <a:ext uri="{FF2B5EF4-FFF2-40B4-BE49-F238E27FC236}">
                  <a16:creationId xmlns:a16="http://schemas.microsoft.com/office/drawing/2014/main" id="{ECF9A844-6B42-CC1E-4471-38D259951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" y="3645"/>
              <a:ext cx="90" cy="9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85" name="Object 145">
            <a:extLst>
              <a:ext uri="{FF2B5EF4-FFF2-40B4-BE49-F238E27FC236}">
                <a16:creationId xmlns:a16="http://schemas.microsoft.com/office/drawing/2014/main" id="{745D28E6-6A65-D59D-D5F2-721AAB92D2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6125" y="5121275"/>
          <a:ext cx="134778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95359" imgH="190391" progId="Equation.3">
                  <p:embed/>
                </p:oleObj>
              </mc:Choice>
              <mc:Fallback>
                <p:oleObj name="公式" r:id="rId2" imgW="495359" imgH="190391" progId="Equation.3">
                  <p:embed/>
                  <p:pic>
                    <p:nvPicPr>
                      <p:cNvPr id="1089681" name="Object 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5121275"/>
                        <a:ext cx="1347788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Rectangle 136">
            <a:extLst>
              <a:ext uri="{FF2B5EF4-FFF2-40B4-BE49-F238E27FC236}">
                <a16:creationId xmlns:a16="http://schemas.microsoft.com/office/drawing/2014/main" id="{52A30156-AD0D-8CC6-BEDA-FEE81BD0A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9268" y="5932308"/>
            <a:ext cx="4607352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200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kumimoji="1" lang="zh-CN" altLang="en-US" sz="2200" dirty="0">
                <a:solidFill>
                  <a:schemeClr val="accent1">
                    <a:lumMod val="50000"/>
                  </a:schemeClr>
                </a:solidFill>
              </a:rPr>
              <a:t>输入的与非门电路结构应该如何</a:t>
            </a:r>
            <a:r>
              <a:rPr kumimoji="1" lang="en-US" altLang="zh-CN" sz="2200" dirty="0">
                <a:solidFill>
                  <a:schemeClr val="accent1">
                    <a:lumMod val="50000"/>
                  </a:schemeClr>
                </a:solidFill>
              </a:rPr>
              <a:t>?</a:t>
            </a:r>
          </a:p>
        </p:txBody>
      </p:sp>
      <p:graphicFrame>
        <p:nvGraphicFramePr>
          <p:cNvPr id="87" name="Group 79">
            <a:extLst>
              <a:ext uri="{FF2B5EF4-FFF2-40B4-BE49-F238E27FC236}">
                <a16:creationId xmlns:a16="http://schemas.microsoft.com/office/drawing/2014/main" id="{4540844C-A313-6451-14B2-7F31A86066D7}"/>
              </a:ext>
            </a:extLst>
          </p:cNvPr>
          <p:cNvGraphicFramePr>
            <a:graphicFrameLocks noGrp="1"/>
          </p:cNvGraphicFramePr>
          <p:nvPr/>
        </p:nvGraphicFramePr>
        <p:xfrm>
          <a:off x="719138" y="2060575"/>
          <a:ext cx="4391025" cy="2824163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</a:t>
                      </a:r>
                      <a:endParaRPr kumimoji="1" lang="zh-CN" alt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N1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>
                      <a:lvl1pPr marL="533400" indent="-5334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>
                      <a:lvl1pPr marL="533400" indent="-5334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8" name="文本框 2">
            <a:extLst>
              <a:ext uri="{FF2B5EF4-FFF2-40B4-BE49-F238E27FC236}">
                <a16:creationId xmlns:a16="http://schemas.microsoft.com/office/drawing/2014/main" id="{E9C3883D-8249-5CC8-A720-7BC459E49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50" y="305435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</a:rPr>
              <a:t>1</a:t>
            </a:r>
            <a:endParaRPr lang="zh-CN" altLang="en-US">
              <a:solidFill>
                <a:srgbClr val="009900"/>
              </a:solidFill>
            </a:endParaRPr>
          </a:p>
        </p:txBody>
      </p:sp>
      <p:sp>
        <p:nvSpPr>
          <p:cNvPr id="89" name="文本框 89">
            <a:extLst>
              <a:ext uri="{FF2B5EF4-FFF2-40B4-BE49-F238E27FC236}">
                <a16:creationId xmlns:a16="http://schemas.microsoft.com/office/drawing/2014/main" id="{3D7D4FF2-CB1A-0EEB-DBE7-4DD703AC1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39354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</a:rPr>
              <a:t>1</a:t>
            </a:r>
            <a:endParaRPr lang="zh-CN" altLang="en-US">
              <a:solidFill>
                <a:srgbClr val="009900"/>
              </a:solidFill>
            </a:endParaRPr>
          </a:p>
        </p:txBody>
      </p:sp>
      <p:grpSp>
        <p:nvGrpSpPr>
          <p:cNvPr id="90" name="组合 10">
            <a:extLst>
              <a:ext uri="{FF2B5EF4-FFF2-40B4-BE49-F238E27FC236}">
                <a16:creationId xmlns:a16="http://schemas.microsoft.com/office/drawing/2014/main" id="{31EDE7F6-DD97-9509-2F69-DA385BB20CA3}"/>
              </a:ext>
            </a:extLst>
          </p:cNvPr>
          <p:cNvGrpSpPr>
            <a:grpSpLocks/>
          </p:cNvGrpSpPr>
          <p:nvPr/>
        </p:nvGrpSpPr>
        <p:grpSpPr bwMode="auto">
          <a:xfrm>
            <a:off x="7221538" y="1746250"/>
            <a:ext cx="971550" cy="873125"/>
            <a:chOff x="7273132" y="3742343"/>
            <a:chExt cx="970755" cy="874107"/>
          </a:xfrm>
        </p:grpSpPr>
        <p:cxnSp>
          <p:nvCxnSpPr>
            <p:cNvPr id="91" name="直接连接符 5">
              <a:extLst>
                <a:ext uri="{FF2B5EF4-FFF2-40B4-BE49-F238E27FC236}">
                  <a16:creationId xmlns:a16="http://schemas.microsoft.com/office/drawing/2014/main" id="{75C0E363-9A09-0B76-EB35-21E233286D3B}"/>
                </a:ext>
              </a:extLst>
            </p:cNvPr>
            <p:cNvCxnSpPr/>
            <p:nvPr/>
          </p:nvCxnSpPr>
          <p:spPr>
            <a:xfrm>
              <a:off x="7273132" y="3753468"/>
              <a:ext cx="932686" cy="8280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3">
              <a:extLst>
                <a:ext uri="{FF2B5EF4-FFF2-40B4-BE49-F238E27FC236}">
                  <a16:creationId xmlns:a16="http://schemas.microsoft.com/office/drawing/2014/main" id="{6ABAA6CA-4D42-0900-5ABD-A58C7F0168CA}"/>
                </a:ext>
              </a:extLst>
            </p:cNvPr>
            <p:cNvCxnSpPr/>
            <p:nvPr/>
          </p:nvCxnSpPr>
          <p:spPr>
            <a:xfrm flipV="1">
              <a:off x="7314373" y="3742343"/>
              <a:ext cx="929514" cy="87410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F80DA7B4-A09D-D826-8173-D3086DD01170}"/>
              </a:ext>
            </a:extLst>
          </p:cNvPr>
          <p:cNvGrpSpPr>
            <a:grpSpLocks/>
          </p:cNvGrpSpPr>
          <p:nvPr/>
        </p:nvGrpSpPr>
        <p:grpSpPr bwMode="auto">
          <a:xfrm>
            <a:off x="6045200" y="1682750"/>
            <a:ext cx="1736725" cy="2800350"/>
            <a:chOff x="6044534" y="1682533"/>
            <a:chExt cx="1737178" cy="2801312"/>
          </a:xfrm>
        </p:grpSpPr>
        <p:grpSp>
          <p:nvGrpSpPr>
            <p:cNvPr id="94" name="组合 99">
              <a:extLst>
                <a:ext uri="{FF2B5EF4-FFF2-40B4-BE49-F238E27FC236}">
                  <a16:creationId xmlns:a16="http://schemas.microsoft.com/office/drawing/2014/main" id="{3F71FD3E-351B-A05A-9324-4AE0B29657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4534" y="1682533"/>
              <a:ext cx="970755" cy="874107"/>
              <a:chOff x="7273132" y="3742343"/>
              <a:chExt cx="970755" cy="874107"/>
            </a:xfrm>
          </p:grpSpPr>
          <p:cxnSp>
            <p:nvCxnSpPr>
              <p:cNvPr id="96" name="直接连接符 100">
                <a:extLst>
                  <a:ext uri="{FF2B5EF4-FFF2-40B4-BE49-F238E27FC236}">
                    <a16:creationId xmlns:a16="http://schemas.microsoft.com/office/drawing/2014/main" id="{174E5FEC-E947-8172-6557-74C014F5D915}"/>
                  </a:ext>
                </a:extLst>
              </p:cNvPr>
              <p:cNvCxnSpPr/>
              <p:nvPr/>
            </p:nvCxnSpPr>
            <p:spPr>
              <a:xfrm>
                <a:off x="7273132" y="3753460"/>
                <a:ext cx="932106" cy="827371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101">
                <a:extLst>
                  <a:ext uri="{FF2B5EF4-FFF2-40B4-BE49-F238E27FC236}">
                    <a16:creationId xmlns:a16="http://schemas.microsoft.com/office/drawing/2014/main" id="{55D8A51D-A3F8-A592-8740-4FA3B2565D10}"/>
                  </a:ext>
                </a:extLst>
              </p:cNvPr>
              <p:cNvCxnSpPr/>
              <p:nvPr/>
            </p:nvCxnSpPr>
            <p:spPr>
              <a:xfrm flipV="1">
                <a:off x="7314418" y="3742343"/>
                <a:ext cx="928930" cy="873425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5" name="直接连接符 12">
              <a:extLst>
                <a:ext uri="{FF2B5EF4-FFF2-40B4-BE49-F238E27FC236}">
                  <a16:creationId xmlns:a16="http://schemas.microsoft.com/office/drawing/2014/main" id="{BA97661D-205B-67DA-2F5F-4378FD1ADB35}"/>
                </a:ext>
              </a:extLst>
            </p:cNvPr>
            <p:cNvCxnSpPr/>
            <p:nvPr/>
          </p:nvCxnSpPr>
          <p:spPr>
            <a:xfrm>
              <a:off x="7781712" y="3570719"/>
              <a:ext cx="0" cy="913126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直接连接符 104">
            <a:extLst>
              <a:ext uri="{FF2B5EF4-FFF2-40B4-BE49-F238E27FC236}">
                <a16:creationId xmlns:a16="http://schemas.microsoft.com/office/drawing/2014/main" id="{7AA5DE3B-489C-7CE3-E68A-A2AFAE6F51A4}"/>
              </a:ext>
            </a:extLst>
          </p:cNvPr>
          <p:cNvCxnSpPr/>
          <p:nvPr/>
        </p:nvCxnSpPr>
        <p:spPr>
          <a:xfrm>
            <a:off x="7773988" y="2732088"/>
            <a:ext cx="0" cy="912812"/>
          </a:xfrm>
          <a:prstGeom prst="line">
            <a:avLst/>
          </a:prstGeom>
          <a:ln w="5715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B4C3CE18-9DD1-8AA7-7250-47DFFC4C2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2447925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9900"/>
                </a:solidFill>
              </a:rPr>
              <a:t>0</a:t>
            </a:r>
            <a:endParaRPr lang="zh-CN" altLang="en-US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12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9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3BD419-C871-6AF0-240C-D6E0F617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 </a:t>
            </a:r>
            <a:r>
              <a:rPr lang="zh-CN" altLang="en-US" dirty="0"/>
              <a:t>或非门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B9DAE5-6C37-C6F8-6BEE-6E13814D2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EBC130-5A8B-6A11-546F-756CF073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/35</a:t>
            </a:r>
            <a:endParaRPr lang="en-US" dirty="0"/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0BAC7BD0-647C-EE96-C547-333AD77E5F2A}"/>
              </a:ext>
            </a:extLst>
          </p:cNvPr>
          <p:cNvGraphicFramePr>
            <a:graphicFrameLocks noGrp="1"/>
          </p:cNvGraphicFramePr>
          <p:nvPr/>
        </p:nvGraphicFramePr>
        <p:xfrm>
          <a:off x="720725" y="2025650"/>
          <a:ext cx="4391025" cy="2824163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A B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N1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N2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P1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P2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L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59">
            <a:extLst>
              <a:ext uri="{FF2B5EF4-FFF2-40B4-BE49-F238E27FC236}">
                <a16:creationId xmlns:a16="http://schemas.microsoft.com/office/drawing/2014/main" id="{DDE3B1A8-D68F-37E7-78E6-A3E99882C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449388"/>
            <a:ext cx="954087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zh-CN" altLang="en-US" sz="2400"/>
              <a:t>真值表</a:t>
            </a:r>
          </a:p>
        </p:txBody>
      </p:sp>
      <p:graphicFrame>
        <p:nvGraphicFramePr>
          <p:cNvPr id="8" name="Object 60">
            <a:extLst>
              <a:ext uri="{FF2B5EF4-FFF2-40B4-BE49-F238E27FC236}">
                <a16:creationId xmlns:a16="http://schemas.microsoft.com/office/drawing/2014/main" id="{9C08E79A-6945-62A5-DBB8-C375F3D2E0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5988" y="5168900"/>
          <a:ext cx="15176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32595" imgH="190391" progId="Equation.3">
                  <p:embed/>
                </p:oleObj>
              </mc:Choice>
              <mc:Fallback>
                <p:oleObj name="公式" r:id="rId3" imgW="632595" imgH="190391" progId="Equation.3">
                  <p:embed/>
                  <p:pic>
                    <p:nvPicPr>
                      <p:cNvPr id="24625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5168900"/>
                        <a:ext cx="151765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40">
            <a:extLst>
              <a:ext uri="{FF2B5EF4-FFF2-40B4-BE49-F238E27FC236}">
                <a16:creationId xmlns:a16="http://schemas.microsoft.com/office/drawing/2014/main" id="{E73E7EF8-CC32-391D-604F-10C7C43E6854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955675"/>
            <a:ext cx="3378200" cy="3733800"/>
            <a:chOff x="3334" y="686"/>
            <a:chExt cx="2128" cy="2352"/>
          </a:xfrm>
        </p:grpSpPr>
        <p:sp>
          <p:nvSpPr>
            <p:cNvPr id="10" name="Text Box 62">
              <a:extLst>
                <a:ext uri="{FF2B5EF4-FFF2-40B4-BE49-F238E27FC236}">
                  <a16:creationId xmlns:a16="http://schemas.microsoft.com/office/drawing/2014/main" id="{AAE1BAE6-6F72-86C4-406B-0DC254AF9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8" y="1117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P1</a:t>
              </a:r>
            </a:p>
          </p:txBody>
        </p:sp>
        <p:sp>
          <p:nvSpPr>
            <p:cNvPr id="11" name="Line 64">
              <a:extLst>
                <a:ext uri="{FF2B5EF4-FFF2-40B4-BE49-F238E27FC236}">
                  <a16:creationId xmlns:a16="http://schemas.microsoft.com/office/drawing/2014/main" id="{EBB8F983-0B69-D7A9-F22E-FF30111B2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34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65">
              <a:extLst>
                <a:ext uri="{FF2B5EF4-FFF2-40B4-BE49-F238E27FC236}">
                  <a16:creationId xmlns:a16="http://schemas.microsoft.com/office/drawing/2014/main" id="{06220798-C4B7-6A12-241C-B3FE50C55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77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66">
              <a:extLst>
                <a:ext uri="{FF2B5EF4-FFF2-40B4-BE49-F238E27FC236}">
                  <a16:creationId xmlns:a16="http://schemas.microsoft.com/office/drawing/2014/main" id="{FB224877-87D8-4B22-6AB3-1D4F8A32B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13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67">
              <a:extLst>
                <a:ext uri="{FF2B5EF4-FFF2-40B4-BE49-F238E27FC236}">
                  <a16:creationId xmlns:a16="http://schemas.microsoft.com/office/drawing/2014/main" id="{DAC24E5A-F5E4-3453-740F-46BB40E2EE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52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68">
              <a:extLst>
                <a:ext uri="{FF2B5EF4-FFF2-40B4-BE49-F238E27FC236}">
                  <a16:creationId xmlns:a16="http://schemas.microsoft.com/office/drawing/2014/main" id="{D56A4601-A0BC-AE5A-D284-5D99F49DA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387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69">
              <a:extLst>
                <a:ext uri="{FF2B5EF4-FFF2-40B4-BE49-F238E27FC236}">
                  <a16:creationId xmlns:a16="http://schemas.microsoft.com/office/drawing/2014/main" id="{C371E5E8-554C-A708-BA1E-B942CA126D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38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70">
              <a:extLst>
                <a:ext uri="{FF2B5EF4-FFF2-40B4-BE49-F238E27FC236}">
                  <a16:creationId xmlns:a16="http://schemas.microsoft.com/office/drawing/2014/main" id="{65328352-22B3-FBD3-1590-78E94BC5C1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59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71">
              <a:extLst>
                <a:ext uri="{FF2B5EF4-FFF2-40B4-BE49-F238E27FC236}">
                  <a16:creationId xmlns:a16="http://schemas.microsoft.com/office/drawing/2014/main" id="{D2715C16-FF2F-5EAD-3A11-9C4A7AE7A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52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72">
              <a:extLst>
                <a:ext uri="{FF2B5EF4-FFF2-40B4-BE49-F238E27FC236}">
                  <a16:creationId xmlns:a16="http://schemas.microsoft.com/office/drawing/2014/main" id="{AC346FA9-5B6A-E675-38B5-CAB13ADB1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659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73">
              <a:extLst>
                <a:ext uri="{FF2B5EF4-FFF2-40B4-BE49-F238E27FC236}">
                  <a16:creationId xmlns:a16="http://schemas.microsoft.com/office/drawing/2014/main" id="{C60081B5-9425-D3E6-1802-0BFE7A342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523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74">
              <a:extLst>
                <a:ext uri="{FF2B5EF4-FFF2-40B4-BE49-F238E27FC236}">
                  <a16:creationId xmlns:a16="http://schemas.microsoft.com/office/drawing/2014/main" id="{E6536E45-9C82-5423-2C4E-6C9E6DAB9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251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76">
              <a:extLst>
                <a:ext uri="{FF2B5EF4-FFF2-40B4-BE49-F238E27FC236}">
                  <a16:creationId xmlns:a16="http://schemas.microsoft.com/office/drawing/2014/main" id="{60FBBCEC-461B-358E-2DDA-47F92F344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63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77">
              <a:extLst>
                <a:ext uri="{FF2B5EF4-FFF2-40B4-BE49-F238E27FC236}">
                  <a16:creationId xmlns:a16="http://schemas.microsoft.com/office/drawing/2014/main" id="{1880AB7C-C551-6F8D-41AD-902A6866F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77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78">
              <a:extLst>
                <a:ext uri="{FF2B5EF4-FFF2-40B4-BE49-F238E27FC236}">
                  <a16:creationId xmlns:a16="http://schemas.microsoft.com/office/drawing/2014/main" id="{2585C4B6-3892-6C03-D3D9-0B43D7320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910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79">
              <a:extLst>
                <a:ext uri="{FF2B5EF4-FFF2-40B4-BE49-F238E27FC236}">
                  <a16:creationId xmlns:a16="http://schemas.microsoft.com/office/drawing/2014/main" id="{B0BDCEDD-24D9-7C27-FCE9-455D79B8C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82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80">
              <a:extLst>
                <a:ext uri="{FF2B5EF4-FFF2-40B4-BE49-F238E27FC236}">
                  <a16:creationId xmlns:a16="http://schemas.microsoft.com/office/drawing/2014/main" id="{8441EBE4-244B-C09A-B63A-3BBB9B72F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1684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81">
              <a:extLst>
                <a:ext uri="{FF2B5EF4-FFF2-40B4-BE49-F238E27FC236}">
                  <a16:creationId xmlns:a16="http://schemas.microsoft.com/office/drawing/2014/main" id="{53235EFA-4CB8-FDF9-EFFA-0EDD2AAC5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68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82">
              <a:extLst>
                <a:ext uri="{FF2B5EF4-FFF2-40B4-BE49-F238E27FC236}">
                  <a16:creationId xmlns:a16="http://schemas.microsoft.com/office/drawing/2014/main" id="{E3EF0B52-74CE-5785-78A0-C4A046800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956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83">
              <a:extLst>
                <a:ext uri="{FF2B5EF4-FFF2-40B4-BE49-F238E27FC236}">
                  <a16:creationId xmlns:a16="http://schemas.microsoft.com/office/drawing/2014/main" id="{8956F10A-5548-9232-01C0-0AABFE36A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820"/>
              <a:ext cx="27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84">
              <a:extLst>
                <a:ext uri="{FF2B5EF4-FFF2-40B4-BE49-F238E27FC236}">
                  <a16:creationId xmlns:a16="http://schemas.microsoft.com/office/drawing/2014/main" id="{4C6FA651-D438-BA89-1594-A0B35840C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548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85">
              <a:extLst>
                <a:ext uri="{FF2B5EF4-FFF2-40B4-BE49-F238E27FC236}">
                  <a16:creationId xmlns:a16="http://schemas.microsoft.com/office/drawing/2014/main" id="{87000BAA-569F-3981-7199-35934AC3C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956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86">
              <a:extLst>
                <a:ext uri="{FF2B5EF4-FFF2-40B4-BE49-F238E27FC236}">
                  <a16:creationId xmlns:a16="http://schemas.microsoft.com/office/drawing/2014/main" id="{B82DFD4D-2834-464F-5BCD-090621BF9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684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87">
              <a:extLst>
                <a:ext uri="{FF2B5EF4-FFF2-40B4-BE49-F238E27FC236}">
                  <a16:creationId xmlns:a16="http://schemas.microsoft.com/office/drawing/2014/main" id="{AA23FFE6-B831-5F6F-8DD6-DA6A7657F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09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88">
              <a:extLst>
                <a:ext uri="{FF2B5EF4-FFF2-40B4-BE49-F238E27FC236}">
                  <a16:creationId xmlns:a16="http://schemas.microsoft.com/office/drawing/2014/main" id="{9085DB60-CD76-5B26-C1DE-3170F1D68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30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89">
              <a:extLst>
                <a:ext uri="{FF2B5EF4-FFF2-40B4-BE49-F238E27FC236}">
                  <a16:creationId xmlns:a16="http://schemas.microsoft.com/office/drawing/2014/main" id="{6C9A769A-82E3-4E98-90B4-605BB3A01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366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90">
              <a:extLst>
                <a:ext uri="{FF2B5EF4-FFF2-40B4-BE49-F238E27FC236}">
                  <a16:creationId xmlns:a16="http://schemas.microsoft.com/office/drawing/2014/main" id="{68EB4896-4F86-4137-5006-84EE67ABE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76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91">
              <a:extLst>
                <a:ext uri="{FF2B5EF4-FFF2-40B4-BE49-F238E27FC236}">
                  <a16:creationId xmlns:a16="http://schemas.microsoft.com/office/drawing/2014/main" id="{BEBC5577-DFA4-49C3-08AF-ECCB199D95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1140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92">
              <a:extLst>
                <a:ext uri="{FF2B5EF4-FFF2-40B4-BE49-F238E27FC236}">
                  <a16:creationId xmlns:a16="http://schemas.microsoft.com/office/drawing/2014/main" id="{786CC400-1339-EB8A-9297-3F8CF59A2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2" y="1139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93">
              <a:extLst>
                <a:ext uri="{FF2B5EF4-FFF2-40B4-BE49-F238E27FC236}">
                  <a16:creationId xmlns:a16="http://schemas.microsoft.com/office/drawing/2014/main" id="{6AD1058C-EB8D-C88C-5D07-D3221EBEC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12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94">
              <a:extLst>
                <a:ext uri="{FF2B5EF4-FFF2-40B4-BE49-F238E27FC236}">
                  <a16:creationId xmlns:a16="http://schemas.microsoft.com/office/drawing/2014/main" id="{BF16FBC9-1470-FA0B-250F-B76C75554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76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95">
              <a:extLst>
                <a:ext uri="{FF2B5EF4-FFF2-40B4-BE49-F238E27FC236}">
                  <a16:creationId xmlns:a16="http://schemas.microsoft.com/office/drawing/2014/main" id="{EC83285C-C729-5B9F-6719-37C92F5698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004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96">
              <a:extLst>
                <a:ext uri="{FF2B5EF4-FFF2-40B4-BE49-F238E27FC236}">
                  <a16:creationId xmlns:a16="http://schemas.microsoft.com/office/drawing/2014/main" id="{3CF557E9-D793-A52F-7F05-BBF1A730A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412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98">
              <a:extLst>
                <a:ext uri="{FF2B5EF4-FFF2-40B4-BE49-F238E27FC236}">
                  <a16:creationId xmlns:a16="http://schemas.microsoft.com/office/drawing/2014/main" id="{C1E9485E-F1E2-CF09-56D1-2CF6B2245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140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100">
              <a:extLst>
                <a:ext uri="{FF2B5EF4-FFF2-40B4-BE49-F238E27FC236}">
                  <a16:creationId xmlns:a16="http://schemas.microsoft.com/office/drawing/2014/main" id="{19F26EBC-FDC9-C6F5-4885-82EF1B9D4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363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101">
              <a:extLst>
                <a:ext uri="{FF2B5EF4-FFF2-40B4-BE49-F238E27FC236}">
                  <a16:creationId xmlns:a16="http://schemas.microsoft.com/office/drawing/2014/main" id="{574FEF5A-BADB-1A4D-4A1F-690ED0607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499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102">
              <a:extLst>
                <a:ext uri="{FF2B5EF4-FFF2-40B4-BE49-F238E27FC236}">
                  <a16:creationId xmlns:a16="http://schemas.microsoft.com/office/drawing/2014/main" id="{60046DF0-6D15-4A68-61CA-E5DA3B5BA5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63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103">
              <a:extLst>
                <a:ext uri="{FF2B5EF4-FFF2-40B4-BE49-F238E27FC236}">
                  <a16:creationId xmlns:a16="http://schemas.microsoft.com/office/drawing/2014/main" id="{742EA6EB-35EB-6DA8-4FD4-922FA44B2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545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104">
              <a:extLst>
                <a:ext uri="{FF2B5EF4-FFF2-40B4-BE49-F238E27FC236}">
                  <a16:creationId xmlns:a16="http://schemas.microsoft.com/office/drawing/2014/main" id="{09CBA5AD-A979-46C3-6768-B85733624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3" y="2409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105">
              <a:extLst>
                <a:ext uri="{FF2B5EF4-FFF2-40B4-BE49-F238E27FC236}">
                  <a16:creationId xmlns:a16="http://schemas.microsoft.com/office/drawing/2014/main" id="{9A6E2A9F-3958-463D-F0F6-8159441E3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409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106">
              <a:extLst>
                <a:ext uri="{FF2B5EF4-FFF2-40B4-BE49-F238E27FC236}">
                  <a16:creationId xmlns:a16="http://schemas.microsoft.com/office/drawing/2014/main" id="{D469A2DA-05CC-97E1-32CE-76B73C30B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107">
              <a:extLst>
                <a:ext uri="{FF2B5EF4-FFF2-40B4-BE49-F238E27FC236}">
                  <a16:creationId xmlns:a16="http://schemas.microsoft.com/office/drawing/2014/main" id="{1B88589A-4BCF-74DC-9A59-2DC57F572C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545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108">
              <a:extLst>
                <a:ext uri="{FF2B5EF4-FFF2-40B4-BE49-F238E27FC236}">
                  <a16:creationId xmlns:a16="http://schemas.microsoft.com/office/drawing/2014/main" id="{D1123BB6-7C00-E629-1B93-FCC139430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2681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109">
              <a:extLst>
                <a:ext uri="{FF2B5EF4-FFF2-40B4-BE49-F238E27FC236}">
                  <a16:creationId xmlns:a16="http://schemas.microsoft.com/office/drawing/2014/main" id="{0FB74CA3-65C7-E0F9-D42F-203950239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" y="2545"/>
              <a:ext cx="0" cy="34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110">
              <a:extLst>
                <a:ext uri="{FF2B5EF4-FFF2-40B4-BE49-F238E27FC236}">
                  <a16:creationId xmlns:a16="http://schemas.microsoft.com/office/drawing/2014/main" id="{34EB1090-BF06-11D7-1843-4B7A6EDBB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273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Text Box 112">
              <a:extLst>
                <a:ext uri="{FF2B5EF4-FFF2-40B4-BE49-F238E27FC236}">
                  <a16:creationId xmlns:a16="http://schemas.microsoft.com/office/drawing/2014/main" id="{9C408DD7-B46E-C2A8-9801-0212F70DF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" y="2024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L</a:t>
              </a:r>
              <a:endParaRPr kumimoji="1" lang="en-US" altLang="zh-CN" sz="1800"/>
            </a:p>
          </p:txBody>
        </p:sp>
        <p:sp>
          <p:nvSpPr>
            <p:cNvPr id="56" name="Line 113">
              <a:extLst>
                <a:ext uri="{FF2B5EF4-FFF2-40B4-BE49-F238E27FC236}">
                  <a16:creationId xmlns:a16="http://schemas.microsoft.com/office/drawing/2014/main" id="{0DCEEEA9-0907-9233-6C18-5ABD702F8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885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114">
              <a:extLst>
                <a:ext uri="{FF2B5EF4-FFF2-40B4-BE49-F238E27FC236}">
                  <a16:creationId xmlns:a16="http://schemas.microsoft.com/office/drawing/2014/main" id="{D7585052-7C0F-F167-B446-89973AD81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686"/>
              <a:ext cx="4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V</a:t>
              </a:r>
              <a:r>
                <a:rPr kumimoji="1" lang="en-US" altLang="zh-CN" sz="1600"/>
                <a:t>DD</a:t>
              </a:r>
              <a:endParaRPr kumimoji="1" lang="en-US" altLang="zh-CN" sz="1800"/>
            </a:p>
          </p:txBody>
        </p:sp>
        <p:sp>
          <p:nvSpPr>
            <p:cNvPr id="58" name="Line 115">
              <a:extLst>
                <a:ext uri="{FF2B5EF4-FFF2-40B4-BE49-F238E27FC236}">
                  <a16:creationId xmlns:a16="http://schemas.microsoft.com/office/drawing/2014/main" id="{B8E60655-C2CD-590B-26DF-CCF2EBF17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900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Oval 116">
              <a:extLst>
                <a:ext uri="{FF2B5EF4-FFF2-40B4-BE49-F238E27FC236}">
                  <a16:creationId xmlns:a16="http://schemas.microsoft.com/office/drawing/2014/main" id="{891582E4-3046-A958-9F0D-ADF38E4D7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2" y="83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0" name="Line 117">
              <a:extLst>
                <a:ext uri="{FF2B5EF4-FFF2-40B4-BE49-F238E27FC236}">
                  <a16:creationId xmlns:a16="http://schemas.microsoft.com/office/drawing/2014/main" id="{998B8102-C723-DB1F-848E-D9155DB803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1140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118">
              <a:extLst>
                <a:ext uri="{FF2B5EF4-FFF2-40B4-BE49-F238E27FC236}">
                  <a16:creationId xmlns:a16="http://schemas.microsoft.com/office/drawing/2014/main" id="{1156E11B-5C16-B2D7-2435-6EACD8136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1140"/>
              <a:ext cx="0" cy="15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119">
              <a:extLst>
                <a:ext uri="{FF2B5EF4-FFF2-40B4-BE49-F238E27FC236}">
                  <a16:creationId xmlns:a16="http://schemas.microsoft.com/office/drawing/2014/main" id="{239E8940-5423-B4CE-EDA9-DF9C3A44B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684"/>
              <a:ext cx="0" cy="9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20">
              <a:extLst>
                <a:ext uri="{FF2B5EF4-FFF2-40B4-BE49-F238E27FC236}">
                  <a16:creationId xmlns:a16="http://schemas.microsoft.com/office/drawing/2014/main" id="{1B74D6D1-033F-F7E5-F27E-66A14A439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161"/>
              <a:ext cx="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121">
              <a:extLst>
                <a:ext uri="{FF2B5EF4-FFF2-40B4-BE49-F238E27FC236}">
                  <a16:creationId xmlns:a16="http://schemas.microsoft.com/office/drawing/2014/main" id="{3E95CDBC-0464-7FA7-2A1C-411A8F43DC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2070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Oval 122">
              <a:extLst>
                <a:ext uri="{FF2B5EF4-FFF2-40B4-BE49-F238E27FC236}">
                  <a16:creationId xmlns:a16="http://schemas.microsoft.com/office/drawing/2014/main" id="{803DCF8D-C159-0488-32F7-27998E26A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2127"/>
              <a:ext cx="56" cy="5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6" name="Line 123">
              <a:extLst>
                <a:ext uri="{FF2B5EF4-FFF2-40B4-BE49-F238E27FC236}">
                  <a16:creationId xmlns:a16="http://schemas.microsoft.com/office/drawing/2014/main" id="{8950DA22-C036-6650-7006-8FE8A9C45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1684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24">
              <a:extLst>
                <a:ext uri="{FF2B5EF4-FFF2-40B4-BE49-F238E27FC236}">
                  <a16:creationId xmlns:a16="http://schemas.microsoft.com/office/drawing/2014/main" id="{C916FD75-4C51-E066-23B3-C5DE328C0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2796"/>
              <a:ext cx="0" cy="2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125">
              <a:extLst>
                <a:ext uri="{FF2B5EF4-FFF2-40B4-BE49-F238E27FC236}">
                  <a16:creationId xmlns:a16="http://schemas.microsoft.com/office/drawing/2014/main" id="{557EB652-5FE8-34D1-E6C4-8221530D8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8" y="3021"/>
              <a:ext cx="181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127">
              <a:extLst>
                <a:ext uri="{FF2B5EF4-FFF2-40B4-BE49-F238E27FC236}">
                  <a16:creationId xmlns:a16="http://schemas.microsoft.com/office/drawing/2014/main" id="{677BA518-781D-BC21-F657-E5ABFD0C6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161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 Box 128">
              <a:extLst>
                <a:ext uri="{FF2B5EF4-FFF2-40B4-BE49-F238E27FC236}">
                  <a16:creationId xmlns:a16="http://schemas.microsoft.com/office/drawing/2014/main" id="{5A84CFAF-F082-F523-292D-19BBA5AB6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98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A</a:t>
              </a:r>
              <a:endParaRPr kumimoji="1" lang="en-US" altLang="zh-CN" sz="1800"/>
            </a:p>
          </p:txBody>
        </p:sp>
        <p:sp>
          <p:nvSpPr>
            <p:cNvPr id="71" name="Text Box 129">
              <a:extLst>
                <a:ext uri="{FF2B5EF4-FFF2-40B4-BE49-F238E27FC236}">
                  <a16:creationId xmlns:a16="http://schemas.microsoft.com/office/drawing/2014/main" id="{EF0F1B46-5BC4-0F21-7628-1D520FC9E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54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B</a:t>
              </a:r>
              <a:endParaRPr kumimoji="1" lang="en-US" altLang="zh-CN" sz="1800"/>
            </a:p>
          </p:txBody>
        </p:sp>
        <p:sp>
          <p:nvSpPr>
            <p:cNvPr id="72" name="Line 130">
              <a:extLst>
                <a:ext uri="{FF2B5EF4-FFF2-40B4-BE49-F238E27FC236}">
                  <a16:creationId xmlns:a16="http://schemas.microsoft.com/office/drawing/2014/main" id="{A3B8A72F-04DB-7C8F-0D7E-196C0BB8E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140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131">
              <a:extLst>
                <a:ext uri="{FF2B5EF4-FFF2-40B4-BE49-F238E27FC236}">
                  <a16:creationId xmlns:a16="http://schemas.microsoft.com/office/drawing/2014/main" id="{0DF78FD4-B506-21A3-35D6-F1E188601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5" y="1140"/>
              <a:ext cx="0" cy="6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" name="Text Box 132">
              <a:extLst>
                <a:ext uri="{FF2B5EF4-FFF2-40B4-BE49-F238E27FC236}">
                  <a16:creationId xmlns:a16="http://schemas.microsoft.com/office/drawing/2014/main" id="{67F495E9-ECC0-5D00-BB1A-96EFCC308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8" y="1668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P2</a:t>
              </a:r>
            </a:p>
          </p:txBody>
        </p:sp>
        <p:sp>
          <p:nvSpPr>
            <p:cNvPr id="75" name="Text Box 133">
              <a:extLst>
                <a:ext uri="{FF2B5EF4-FFF2-40B4-BE49-F238E27FC236}">
                  <a16:creationId xmlns:a16="http://schemas.microsoft.com/office/drawing/2014/main" id="{C23F9EAE-CA8A-863C-FE3A-3A05F3D3C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5" y="2387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N2</a:t>
              </a:r>
              <a:endParaRPr kumimoji="1" lang="en-US" altLang="zh-CN" sz="1400"/>
            </a:p>
          </p:txBody>
        </p:sp>
        <p:sp>
          <p:nvSpPr>
            <p:cNvPr id="76" name="Text Box 134">
              <a:extLst>
                <a:ext uri="{FF2B5EF4-FFF2-40B4-BE49-F238E27FC236}">
                  <a16:creationId xmlns:a16="http://schemas.microsoft.com/office/drawing/2014/main" id="{90512876-051A-16EC-C23A-5CA3001BF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0" y="2750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N1</a:t>
              </a:r>
            </a:p>
          </p:txBody>
        </p:sp>
      </p:grpSp>
      <p:grpSp>
        <p:nvGrpSpPr>
          <p:cNvPr id="77" name="Group 135">
            <a:extLst>
              <a:ext uri="{FF2B5EF4-FFF2-40B4-BE49-F238E27FC236}">
                <a16:creationId xmlns:a16="http://schemas.microsoft.com/office/drawing/2014/main" id="{1366A23E-8DD9-A8F5-F758-4B61F5E15BD2}"/>
              </a:ext>
            </a:extLst>
          </p:cNvPr>
          <p:cNvGrpSpPr>
            <a:grpSpLocks/>
          </p:cNvGrpSpPr>
          <p:nvPr/>
        </p:nvGrpSpPr>
        <p:grpSpPr bwMode="auto">
          <a:xfrm>
            <a:off x="5903913" y="5049838"/>
            <a:ext cx="2376487" cy="703262"/>
            <a:chOff x="3515" y="3430"/>
            <a:chExt cx="1497" cy="443"/>
          </a:xfrm>
        </p:grpSpPr>
        <p:grpSp>
          <p:nvGrpSpPr>
            <p:cNvPr id="78" name="Group 136">
              <a:extLst>
                <a:ext uri="{FF2B5EF4-FFF2-40B4-BE49-F238E27FC236}">
                  <a16:creationId xmlns:a16="http://schemas.microsoft.com/office/drawing/2014/main" id="{1623F51A-CC90-9D26-9118-B9A7480365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5" y="3430"/>
              <a:ext cx="1497" cy="443"/>
              <a:chOff x="3470" y="3430"/>
              <a:chExt cx="1655" cy="489"/>
            </a:xfrm>
          </p:grpSpPr>
          <p:sp>
            <p:nvSpPr>
              <p:cNvPr id="80" name="Text Box 137">
                <a:extLst>
                  <a:ext uri="{FF2B5EF4-FFF2-40B4-BE49-F238E27FC236}">
                    <a16:creationId xmlns:a16="http://schemas.microsoft.com/office/drawing/2014/main" id="{169D57AC-7FA8-5D6D-4227-2BE080FB59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6" y="3430"/>
                <a:ext cx="205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A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81" name="Text Box 138">
                <a:extLst>
                  <a:ext uri="{FF2B5EF4-FFF2-40B4-BE49-F238E27FC236}">
                    <a16:creationId xmlns:a16="http://schemas.microsoft.com/office/drawing/2014/main" id="{04EF7DA0-2BB7-28F0-F7D5-1B4EA04899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5" y="3691"/>
                <a:ext cx="204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B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82" name="Line 139">
                <a:extLst>
                  <a:ext uri="{FF2B5EF4-FFF2-40B4-BE49-F238E27FC236}">
                    <a16:creationId xmlns:a16="http://schemas.microsoft.com/office/drawing/2014/main" id="{F83570A4-94CD-130F-B9F8-B3160E42C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3566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Line 140">
                <a:extLst>
                  <a:ext uri="{FF2B5EF4-FFF2-40B4-BE49-F238E27FC236}">
                    <a16:creationId xmlns:a16="http://schemas.microsoft.com/office/drawing/2014/main" id="{6ABBE880-4911-5F29-8A4C-E657BEA37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3793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Line 141">
                <a:extLst>
                  <a:ext uri="{FF2B5EF4-FFF2-40B4-BE49-F238E27FC236}">
                    <a16:creationId xmlns:a16="http://schemas.microsoft.com/office/drawing/2014/main" id="{066149E4-F522-4E1D-99CA-6030057074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1" y="3676"/>
                <a:ext cx="2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Text Box 142">
                <a:extLst>
                  <a:ext uri="{FF2B5EF4-FFF2-40B4-BE49-F238E27FC236}">
                    <a16:creationId xmlns:a16="http://schemas.microsoft.com/office/drawing/2014/main" id="{1FCB5E7D-2148-8CCA-B528-F76E0CE799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0" y="3566"/>
                <a:ext cx="205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L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grpSp>
            <p:nvGrpSpPr>
              <p:cNvPr id="86" name="Group 143">
                <a:extLst>
                  <a:ext uri="{FF2B5EF4-FFF2-40B4-BE49-F238E27FC236}">
                    <a16:creationId xmlns:a16="http://schemas.microsoft.com/office/drawing/2014/main" id="{A58069E3-0183-341A-07A9-B0DDBDD789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452"/>
                <a:ext cx="1156" cy="454"/>
                <a:chOff x="986" y="3158"/>
                <a:chExt cx="1671" cy="658"/>
              </a:xfrm>
            </p:grpSpPr>
            <p:sp>
              <p:nvSpPr>
                <p:cNvPr id="87" name="Arc 144">
                  <a:extLst>
                    <a:ext uri="{FF2B5EF4-FFF2-40B4-BE49-F238E27FC236}">
                      <a16:creationId xmlns:a16="http://schemas.microsoft.com/office/drawing/2014/main" id="{96FA93F5-BA8D-1A1B-5B21-6D9A059F3E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" y="3159"/>
                  <a:ext cx="480" cy="657"/>
                </a:xfrm>
                <a:custGeom>
                  <a:avLst/>
                  <a:gdLst>
                    <a:gd name="T0" fmla="*/ 0 w 19012"/>
                    <a:gd name="T1" fmla="*/ 0 h 21600"/>
                    <a:gd name="T2" fmla="*/ 0 w 19012"/>
                    <a:gd name="T3" fmla="*/ 0 h 21600"/>
                    <a:gd name="T4" fmla="*/ 0 w 1901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9012"/>
                    <a:gd name="T10" fmla="*/ 0 h 21600"/>
                    <a:gd name="T11" fmla="*/ 19012 w 1901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012" h="21600" fill="none" extrusionOk="0">
                      <a:moveTo>
                        <a:pt x="0" y="0"/>
                      </a:moveTo>
                      <a:cubicBezTo>
                        <a:pt x="7941" y="0"/>
                        <a:pt x="15242" y="4357"/>
                        <a:pt x="19012" y="11347"/>
                      </a:cubicBezTo>
                    </a:path>
                    <a:path w="19012" h="21600" stroke="0" extrusionOk="0">
                      <a:moveTo>
                        <a:pt x="0" y="0"/>
                      </a:moveTo>
                      <a:cubicBezTo>
                        <a:pt x="7941" y="0"/>
                        <a:pt x="15242" y="4357"/>
                        <a:pt x="19012" y="11347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Arc 145">
                  <a:extLst>
                    <a:ext uri="{FF2B5EF4-FFF2-40B4-BE49-F238E27FC236}">
                      <a16:creationId xmlns:a16="http://schemas.microsoft.com/office/drawing/2014/main" id="{B5501846-6E1F-F48D-80A9-85FDE5561E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183" y="3159"/>
                  <a:ext cx="470" cy="657"/>
                </a:xfrm>
                <a:custGeom>
                  <a:avLst/>
                  <a:gdLst>
                    <a:gd name="T0" fmla="*/ 0 w 18607"/>
                    <a:gd name="T1" fmla="*/ 0 h 21600"/>
                    <a:gd name="T2" fmla="*/ 0 w 18607"/>
                    <a:gd name="T3" fmla="*/ 0 h 21600"/>
                    <a:gd name="T4" fmla="*/ 0 w 18607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8607"/>
                    <a:gd name="T10" fmla="*/ 0 h 21600"/>
                    <a:gd name="T11" fmla="*/ 18607 w 18607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607" h="21600" fill="none" extrusionOk="0">
                      <a:moveTo>
                        <a:pt x="0" y="0"/>
                      </a:moveTo>
                      <a:cubicBezTo>
                        <a:pt x="7646" y="0"/>
                        <a:pt x="14724" y="4043"/>
                        <a:pt x="18607" y="10630"/>
                      </a:cubicBezTo>
                    </a:path>
                    <a:path w="18607" h="21600" stroke="0" extrusionOk="0">
                      <a:moveTo>
                        <a:pt x="0" y="0"/>
                      </a:moveTo>
                      <a:cubicBezTo>
                        <a:pt x="7646" y="0"/>
                        <a:pt x="14724" y="4043"/>
                        <a:pt x="18607" y="1063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Arc 146">
                  <a:extLst>
                    <a:ext uri="{FF2B5EF4-FFF2-40B4-BE49-F238E27FC236}">
                      <a16:creationId xmlns:a16="http://schemas.microsoft.com/office/drawing/2014/main" id="{2C8BFA69-E3AE-AE7C-7C39-9ECE4A499F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1174" y="2973"/>
                  <a:ext cx="655" cy="1032"/>
                </a:xfrm>
                <a:custGeom>
                  <a:avLst/>
                  <a:gdLst>
                    <a:gd name="T0" fmla="*/ 0 w 21674"/>
                    <a:gd name="T1" fmla="*/ 0 h 21600"/>
                    <a:gd name="T2" fmla="*/ 0 w 21674"/>
                    <a:gd name="T3" fmla="*/ 0 h 21600"/>
                    <a:gd name="T4" fmla="*/ 0 w 21674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74"/>
                    <a:gd name="T10" fmla="*/ 0 h 21600"/>
                    <a:gd name="T11" fmla="*/ 21674 w 21674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74" h="21600" fill="none" extrusionOk="0">
                      <a:moveTo>
                        <a:pt x="-1" y="2923"/>
                      </a:moveTo>
                      <a:cubicBezTo>
                        <a:pt x="3295" y="1008"/>
                        <a:pt x="7040" y="-1"/>
                        <a:pt x="10852" y="0"/>
                      </a:cubicBezTo>
                      <a:cubicBezTo>
                        <a:pt x="14652" y="0"/>
                        <a:pt x="18385" y="1002"/>
                        <a:pt x="21674" y="2906"/>
                      </a:cubicBezTo>
                    </a:path>
                    <a:path w="21674" h="21600" stroke="0" extrusionOk="0">
                      <a:moveTo>
                        <a:pt x="-1" y="2923"/>
                      </a:moveTo>
                      <a:cubicBezTo>
                        <a:pt x="3295" y="1008"/>
                        <a:pt x="7040" y="-1"/>
                        <a:pt x="10852" y="0"/>
                      </a:cubicBezTo>
                      <a:cubicBezTo>
                        <a:pt x="14652" y="0"/>
                        <a:pt x="18385" y="1002"/>
                        <a:pt x="21674" y="2906"/>
                      </a:cubicBezTo>
                      <a:lnTo>
                        <a:pt x="10852" y="21600"/>
                      </a:lnTo>
                      <a:lnTo>
                        <a:pt x="-1" y="2923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Line 147">
                  <a:extLst>
                    <a:ext uri="{FF2B5EF4-FFF2-40B4-BE49-F238E27FC236}">
                      <a16:creationId xmlns:a16="http://schemas.microsoft.com/office/drawing/2014/main" id="{B7AB52B3-F75D-7A3A-AB8A-66F725AEA4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882" y="3816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" name="Line 148">
                  <a:extLst>
                    <a:ext uri="{FF2B5EF4-FFF2-40B4-BE49-F238E27FC236}">
                      <a16:creationId xmlns:a16="http://schemas.microsoft.com/office/drawing/2014/main" id="{1FAB577F-9223-E670-2BBC-7B82837349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882" y="3158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9" name="Oval 149">
              <a:extLst>
                <a:ext uri="{FF2B5EF4-FFF2-40B4-BE49-F238E27FC236}">
                  <a16:creationId xmlns:a16="http://schemas.microsoft.com/office/drawing/2014/main" id="{39E01901-FD59-56BE-E9CB-10F44CA82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" y="3612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93" name="Group 3">
            <a:extLst>
              <a:ext uri="{FF2B5EF4-FFF2-40B4-BE49-F238E27FC236}">
                <a16:creationId xmlns:a16="http://schemas.microsoft.com/office/drawing/2014/main" id="{AC4EC522-691B-633A-8532-8B683F3A4BAE}"/>
              </a:ext>
            </a:extLst>
          </p:cNvPr>
          <p:cNvGraphicFramePr>
            <a:graphicFrameLocks noGrp="1"/>
          </p:cNvGraphicFramePr>
          <p:nvPr/>
        </p:nvGraphicFramePr>
        <p:xfrm>
          <a:off x="719138" y="2024063"/>
          <a:ext cx="4391025" cy="2824163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N1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N2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P1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P2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>
                      <a:lvl1pPr marL="533400" indent="-5334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>
                      <a:lvl1pPr marL="533400" indent="-53340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4" name="Rectangle 136">
            <a:extLst>
              <a:ext uri="{FF2B5EF4-FFF2-40B4-BE49-F238E27FC236}">
                <a16:creationId xmlns:a16="http://schemas.microsoft.com/office/drawing/2014/main" id="{9BCFD63B-44F1-06B5-44C6-BDDF8691A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249" y="5960977"/>
            <a:ext cx="4714752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200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kumimoji="1" lang="zh-CN" altLang="en-US" sz="2200" dirty="0">
                <a:solidFill>
                  <a:schemeClr val="accent1">
                    <a:lumMod val="50000"/>
                  </a:schemeClr>
                </a:solidFill>
              </a:rPr>
              <a:t>输入的或非门电路结构应该如何</a:t>
            </a:r>
            <a:r>
              <a:rPr kumimoji="1" lang="en-US" altLang="zh-CN" sz="2200" dirty="0">
                <a:solidFill>
                  <a:schemeClr val="accent1">
                    <a:lumMod val="5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0963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ED2AD-FE5B-2F66-D35F-4BCDB876B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 </a:t>
            </a:r>
            <a:r>
              <a:rPr lang="zh-CN" altLang="en-US" dirty="0"/>
              <a:t>与非</a:t>
            </a:r>
            <a:r>
              <a:rPr lang="en-US" altLang="zh-CN" dirty="0"/>
              <a:t>/</a:t>
            </a:r>
            <a:r>
              <a:rPr lang="zh-CN" altLang="en-US" dirty="0"/>
              <a:t>或非门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FF4E2-B2A0-C04B-3DBF-BDA0BC1FC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D2EEF3-7DBF-38C9-F208-0D6D6025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14</a:t>
            </a:fld>
            <a:r>
              <a:rPr lang="en-US" altLang="zh-CN" dirty="0"/>
              <a:t>/35</a:t>
            </a:r>
            <a:endParaRPr lang="en-US" dirty="0"/>
          </a:p>
        </p:txBody>
      </p:sp>
      <p:grpSp>
        <p:nvGrpSpPr>
          <p:cNvPr id="6" name="Group 138">
            <a:extLst>
              <a:ext uri="{FF2B5EF4-FFF2-40B4-BE49-F238E27FC236}">
                <a16:creationId xmlns:a16="http://schemas.microsoft.com/office/drawing/2014/main" id="{68A5FB6A-C93B-95CE-E059-EFDA069BD57F}"/>
              </a:ext>
            </a:extLst>
          </p:cNvPr>
          <p:cNvGrpSpPr>
            <a:grpSpLocks/>
          </p:cNvGrpSpPr>
          <p:nvPr/>
        </p:nvGrpSpPr>
        <p:grpSpPr bwMode="auto">
          <a:xfrm>
            <a:off x="360363" y="1111250"/>
            <a:ext cx="3406775" cy="3708400"/>
            <a:chOff x="3334" y="731"/>
            <a:chExt cx="2146" cy="2336"/>
          </a:xfrm>
        </p:grpSpPr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E51FAD24-A5FF-5FC6-1416-DF92A83E15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" y="1637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L</a:t>
              </a:r>
              <a:endParaRPr kumimoji="1" lang="en-US" altLang="zh-CN" sz="1800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2273620A-935E-2432-C8D1-C0413004D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99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3A8C058B-C826-7A19-A13E-F4FF336C3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3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DA0D13B9-81B3-AB77-2BC6-987A76DA4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77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104B46BA-9A9C-A13A-6B46-788D56767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29D21A88-3D21-DE41-3254-F6E3676F8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545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91D05DFC-44CB-DC9E-E573-FE00FD43D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545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2B829937-438F-23B8-5D18-5E5D5E68B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81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62F75B9D-CA99-3411-8172-92C8E5A87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614BE8D6-5052-8160-91CC-E3D2644BD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817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403D5A5A-9066-82A2-E840-51787AF431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681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7034EAC6-A55A-39B7-DFC6-57B4E5A2F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409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703A09DB-D9F7-B36B-DC29-63539E837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252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E005EC6B-D201-8E64-7BBE-42D1C21D6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38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A301D0FE-2419-E365-F8D5-94521F33D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52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F9883317-C60D-8AB9-ED98-ADED73B4B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81B2BC4B-0E76-5126-4D1F-B847A8C45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5" y="1298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9B6C25E2-ED46-F2C7-75D1-CACD89806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298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A501D5C3-00DB-A863-F84B-7C9C279AE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57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757F50BF-AFC8-AA08-F76C-769D7F3CA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1710E2A2-A5A8-56C7-554B-3BC9198D4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1117"/>
              <a:ext cx="0" cy="3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8E451883-7323-3B87-3351-2E21BE4CC0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1570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E2FEAC0D-1ED6-EC15-44CC-548E8BD8D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4" y="1298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EE5F4014-F4F9-543C-6D7C-0AFBF3C6E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52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D0E95CE5-A589-AC96-1A34-FEA991E61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38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46B2F83F-A5C8-993A-6D6D-E59D6D3A46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52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43D56A02-645E-76E0-1304-81F9AD979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6">
              <a:extLst>
                <a:ext uri="{FF2B5EF4-FFF2-40B4-BE49-F238E27FC236}">
                  <a16:creationId xmlns:a16="http://schemas.microsoft.com/office/drawing/2014/main" id="{F64A5738-BE1C-F199-D547-8CA14F145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1298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7">
              <a:extLst>
                <a:ext uri="{FF2B5EF4-FFF2-40B4-BE49-F238E27FC236}">
                  <a16:creationId xmlns:a16="http://schemas.microsoft.com/office/drawing/2014/main" id="{AFC6D990-4D5D-A98E-4C74-224770057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98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38">
              <a:extLst>
                <a:ext uri="{FF2B5EF4-FFF2-40B4-BE49-F238E27FC236}">
                  <a16:creationId xmlns:a16="http://schemas.microsoft.com/office/drawing/2014/main" id="{1E78BC98-0566-CA17-5653-BC0317835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57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9">
              <a:extLst>
                <a:ext uri="{FF2B5EF4-FFF2-40B4-BE49-F238E27FC236}">
                  <a16:creationId xmlns:a16="http://schemas.microsoft.com/office/drawing/2014/main" id="{8CFB7157-74A3-CD94-9233-E42005187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3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40">
              <a:extLst>
                <a:ext uri="{FF2B5EF4-FFF2-40B4-BE49-F238E27FC236}">
                  <a16:creationId xmlns:a16="http://schemas.microsoft.com/office/drawing/2014/main" id="{A5020F2F-694A-3F75-C51E-5382C3024D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162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41">
              <a:extLst>
                <a:ext uri="{FF2B5EF4-FFF2-40B4-BE49-F238E27FC236}">
                  <a16:creationId xmlns:a16="http://schemas.microsoft.com/office/drawing/2014/main" id="{42CCA43D-82FA-A12D-7DD8-36B40654E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570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70F67CA7-299F-1821-CA4D-6B9EBD0093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298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64F0D0CE-8F66-3447-90A4-74C2425DA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95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322D6CB8-5325-9ED2-78E3-79CC7D5AD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9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08F470D0-15E7-999E-75B6-DB0B0A36F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227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38846E87-AC48-1B75-22FB-06CFDFB29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13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0542BD42-473F-7349-6CDD-DFA651C8B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001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49">
              <a:extLst>
                <a:ext uri="{FF2B5EF4-FFF2-40B4-BE49-F238E27FC236}">
                  <a16:creationId xmlns:a16="http://schemas.microsoft.com/office/drawing/2014/main" id="{6515ED9C-1283-2381-47C4-25C6DD416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0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F4FE6CC4-EE20-EF53-9283-D4CACA0B8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27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51">
              <a:extLst>
                <a:ext uri="{FF2B5EF4-FFF2-40B4-BE49-F238E27FC236}">
                  <a16:creationId xmlns:a16="http://schemas.microsoft.com/office/drawing/2014/main" id="{80B0E5AA-3CAA-666C-910C-72A7689A9B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137"/>
              <a:ext cx="2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52">
              <a:extLst>
                <a:ext uri="{FF2B5EF4-FFF2-40B4-BE49-F238E27FC236}">
                  <a16:creationId xmlns:a16="http://schemas.microsoft.com/office/drawing/2014/main" id="{574D03BA-BDFD-22B1-1556-E77C604C4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273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E4212D5C-6063-C0EB-C9FC-0764C866B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274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54">
              <a:extLst>
                <a:ext uri="{FF2B5EF4-FFF2-40B4-BE49-F238E27FC236}">
                  <a16:creationId xmlns:a16="http://schemas.microsoft.com/office/drawing/2014/main" id="{6EC494D8-CF47-5BBD-7749-AC6BF7E53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1865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55">
              <a:extLst>
                <a:ext uri="{FF2B5EF4-FFF2-40B4-BE49-F238E27FC236}">
                  <a16:creationId xmlns:a16="http://schemas.microsoft.com/office/drawing/2014/main" id="{6C6CAAA7-9158-C9D4-C3B1-588ED79097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117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56">
              <a:extLst>
                <a:ext uri="{FF2B5EF4-FFF2-40B4-BE49-F238E27FC236}">
                  <a16:creationId xmlns:a16="http://schemas.microsoft.com/office/drawing/2014/main" id="{72CDD30A-D2C3-2E15-F1DC-810517CFD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731"/>
              <a:ext cx="4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i="1"/>
                <a:t>V</a:t>
              </a:r>
              <a:r>
                <a:rPr kumimoji="1" lang="en-US" altLang="zh-CN" sz="1600"/>
                <a:t>DD</a:t>
              </a:r>
              <a:endParaRPr kumimoji="1" lang="en-US" altLang="zh-CN" sz="1800"/>
            </a:p>
          </p:txBody>
        </p:sp>
        <p:sp>
          <p:nvSpPr>
            <p:cNvPr id="54" name="Line 57">
              <a:extLst>
                <a:ext uri="{FF2B5EF4-FFF2-40B4-BE49-F238E27FC236}">
                  <a16:creationId xmlns:a16="http://schemas.microsoft.com/office/drawing/2014/main" id="{0DD4B810-C216-2672-3DA4-5C29AE5A4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945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Oval 58">
              <a:extLst>
                <a:ext uri="{FF2B5EF4-FFF2-40B4-BE49-F238E27FC236}">
                  <a16:creationId xmlns:a16="http://schemas.microsoft.com/office/drawing/2014/main" id="{021B929A-B360-4933-7563-05572C3C0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87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6" name="Line 59">
              <a:extLst>
                <a:ext uri="{FF2B5EF4-FFF2-40B4-BE49-F238E27FC236}">
                  <a16:creationId xmlns:a16="http://schemas.microsoft.com/office/drawing/2014/main" id="{4EA24731-A69F-67F8-43A3-B309690AC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273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60">
              <a:extLst>
                <a:ext uri="{FF2B5EF4-FFF2-40B4-BE49-F238E27FC236}">
                  <a16:creationId xmlns:a16="http://schemas.microsoft.com/office/drawing/2014/main" id="{3A82FA14-095A-94AC-F66A-A82C790D6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1298"/>
              <a:ext cx="0" cy="15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61">
              <a:extLst>
                <a:ext uri="{FF2B5EF4-FFF2-40B4-BE49-F238E27FC236}">
                  <a16:creationId xmlns:a16="http://schemas.microsoft.com/office/drawing/2014/main" id="{0D269AEE-DAEC-87D0-F611-8B8EADA0C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297"/>
              <a:ext cx="0" cy="9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62">
              <a:extLst>
                <a:ext uri="{FF2B5EF4-FFF2-40B4-BE49-F238E27FC236}">
                  <a16:creationId xmlns:a16="http://schemas.microsoft.com/office/drawing/2014/main" id="{6E351DAE-3E6A-2EE7-3FAB-C658BF057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818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63">
              <a:extLst>
                <a:ext uri="{FF2B5EF4-FFF2-40B4-BE49-F238E27FC236}">
                  <a16:creationId xmlns:a16="http://schemas.microsoft.com/office/drawing/2014/main" id="{220A19E0-CA98-5796-C4D1-BA8912355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005"/>
              <a:ext cx="0" cy="2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4">
              <a:extLst>
                <a:ext uri="{FF2B5EF4-FFF2-40B4-BE49-F238E27FC236}">
                  <a16:creationId xmlns:a16="http://schemas.microsoft.com/office/drawing/2014/main" id="{A800993B-B943-C5B0-9B41-3677C2C9B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8" y="3066"/>
              <a:ext cx="181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5">
              <a:extLst>
                <a:ext uri="{FF2B5EF4-FFF2-40B4-BE49-F238E27FC236}">
                  <a16:creationId xmlns:a16="http://schemas.microsoft.com/office/drawing/2014/main" id="{F7A1B4AA-625E-1A2A-289A-BB6A6F90B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8" y="2931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67">
              <a:extLst>
                <a:ext uri="{FF2B5EF4-FFF2-40B4-BE49-F238E27FC236}">
                  <a16:creationId xmlns:a16="http://schemas.microsoft.com/office/drawing/2014/main" id="{3FE6B68D-612F-A159-04B9-CB1F74D89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11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A</a:t>
              </a:r>
              <a:endParaRPr kumimoji="1" lang="en-US" altLang="zh-CN" sz="1800"/>
            </a:p>
          </p:txBody>
        </p:sp>
        <p:sp>
          <p:nvSpPr>
            <p:cNvPr id="64" name="Text Box 68">
              <a:extLst>
                <a:ext uri="{FF2B5EF4-FFF2-40B4-BE49-F238E27FC236}">
                  <a16:creationId xmlns:a16="http://schemas.microsoft.com/office/drawing/2014/main" id="{63D3755E-1DF6-AB8E-49FE-720C2079A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681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B</a:t>
              </a:r>
              <a:endParaRPr kumimoji="1" lang="en-US" altLang="zh-CN" sz="1800"/>
            </a:p>
          </p:txBody>
        </p:sp>
        <p:sp>
          <p:nvSpPr>
            <p:cNvPr id="65" name="Line 69">
              <a:extLst>
                <a:ext uri="{FF2B5EF4-FFF2-40B4-BE49-F238E27FC236}">
                  <a16:creationId xmlns:a16="http://schemas.microsoft.com/office/drawing/2014/main" id="{6530975D-94B5-2410-07B6-138584BB0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774"/>
              <a:ext cx="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70">
              <a:extLst>
                <a:ext uri="{FF2B5EF4-FFF2-40B4-BE49-F238E27FC236}">
                  <a16:creationId xmlns:a16="http://schemas.microsoft.com/office/drawing/2014/main" id="{021DB020-44F4-801D-628F-04E99A3DA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683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Oval 71">
              <a:extLst>
                <a:ext uri="{FF2B5EF4-FFF2-40B4-BE49-F238E27FC236}">
                  <a16:creationId xmlns:a16="http://schemas.microsoft.com/office/drawing/2014/main" id="{4B856698-3E75-2847-5C62-5E679CBA8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752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8" name="Line 73">
              <a:extLst>
                <a:ext uri="{FF2B5EF4-FFF2-40B4-BE49-F238E27FC236}">
                  <a16:creationId xmlns:a16="http://schemas.microsoft.com/office/drawing/2014/main" id="{A20F0CA8-6A9E-D9E3-7F06-85DD6F4D1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81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74">
              <a:extLst>
                <a:ext uri="{FF2B5EF4-FFF2-40B4-BE49-F238E27FC236}">
                  <a16:creationId xmlns:a16="http://schemas.microsoft.com/office/drawing/2014/main" id="{3DB84D2E-C0B7-8B7F-56B2-4B3716A46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6" y="2138"/>
              <a:ext cx="0" cy="6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Text Box 75">
              <a:extLst>
                <a:ext uri="{FF2B5EF4-FFF2-40B4-BE49-F238E27FC236}">
                  <a16:creationId xmlns:a16="http://schemas.microsoft.com/office/drawing/2014/main" id="{FC8BA5E6-1E51-E9DD-1A13-32C2E255D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1275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P1</a:t>
              </a:r>
              <a:endParaRPr kumimoji="1" lang="en-US" altLang="zh-CN" sz="1400"/>
            </a:p>
          </p:txBody>
        </p:sp>
        <p:sp>
          <p:nvSpPr>
            <p:cNvPr id="71" name="Text Box 76">
              <a:extLst>
                <a:ext uri="{FF2B5EF4-FFF2-40B4-BE49-F238E27FC236}">
                  <a16:creationId xmlns:a16="http://schemas.microsoft.com/office/drawing/2014/main" id="{10A8E4FD-C2C1-CC0F-B4B2-E0724E83B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4" y="935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P2</a:t>
              </a:r>
            </a:p>
          </p:txBody>
        </p:sp>
        <p:sp>
          <p:nvSpPr>
            <p:cNvPr id="72" name="Text Box 77">
              <a:extLst>
                <a:ext uri="{FF2B5EF4-FFF2-40B4-BE49-F238E27FC236}">
                  <a16:creationId xmlns:a16="http://schemas.microsoft.com/office/drawing/2014/main" id="{7C5D9F0E-F08E-C5F4-B7BA-8C3BC8CFE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" y="2002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N1</a:t>
              </a:r>
            </a:p>
          </p:txBody>
        </p:sp>
        <p:sp>
          <p:nvSpPr>
            <p:cNvPr id="73" name="Text Box 78">
              <a:extLst>
                <a:ext uri="{FF2B5EF4-FFF2-40B4-BE49-F238E27FC236}">
                  <a16:creationId xmlns:a16="http://schemas.microsoft.com/office/drawing/2014/main" id="{2F633C9D-B1DB-988B-5661-B75DFA454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" y="2553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N2</a:t>
              </a:r>
            </a:p>
          </p:txBody>
        </p:sp>
      </p:grpSp>
      <p:grpSp>
        <p:nvGrpSpPr>
          <p:cNvPr id="74" name="Group 136">
            <a:extLst>
              <a:ext uri="{FF2B5EF4-FFF2-40B4-BE49-F238E27FC236}">
                <a16:creationId xmlns:a16="http://schemas.microsoft.com/office/drawing/2014/main" id="{43837208-B054-4A5E-8E94-91BD458B405C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5143500"/>
            <a:ext cx="2470150" cy="700088"/>
            <a:chOff x="2570" y="3487"/>
            <a:chExt cx="1353" cy="414"/>
          </a:xfrm>
        </p:grpSpPr>
        <p:sp>
          <p:nvSpPr>
            <p:cNvPr id="75" name="Text Box 137">
              <a:extLst>
                <a:ext uri="{FF2B5EF4-FFF2-40B4-BE49-F238E27FC236}">
                  <a16:creationId xmlns:a16="http://schemas.microsoft.com/office/drawing/2014/main" id="{7365D306-FF5C-3393-B866-5E79016A6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0" y="3487"/>
              <a:ext cx="17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76" name="Text Box 138">
              <a:extLst>
                <a:ext uri="{FF2B5EF4-FFF2-40B4-BE49-F238E27FC236}">
                  <a16:creationId xmlns:a16="http://schemas.microsoft.com/office/drawing/2014/main" id="{24576AE3-06C3-B217-2057-9BA1E6D7C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0" y="3707"/>
              <a:ext cx="17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B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77" name="Line 139">
              <a:extLst>
                <a:ext uri="{FF2B5EF4-FFF2-40B4-BE49-F238E27FC236}">
                  <a16:creationId xmlns:a16="http://schemas.microsoft.com/office/drawing/2014/main" id="{26A31C8C-14B7-7735-6372-292A699DE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3601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140">
              <a:extLst>
                <a:ext uri="{FF2B5EF4-FFF2-40B4-BE49-F238E27FC236}">
                  <a16:creationId xmlns:a16="http://schemas.microsoft.com/office/drawing/2014/main" id="{607178FF-C623-20FF-5E53-85BD00B6B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3792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141">
              <a:extLst>
                <a:ext uri="{FF2B5EF4-FFF2-40B4-BE49-F238E27FC236}">
                  <a16:creationId xmlns:a16="http://schemas.microsoft.com/office/drawing/2014/main" id="{46A53F16-4E96-8BD7-4D6A-8093F80586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2" y="3690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Text Box 142">
              <a:extLst>
                <a:ext uri="{FF2B5EF4-FFF2-40B4-BE49-F238E27FC236}">
                  <a16:creationId xmlns:a16="http://schemas.microsoft.com/office/drawing/2014/main" id="{0D439394-A350-5B79-2222-425243497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1" y="3601"/>
              <a:ext cx="17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L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81" name="AutoShape 143">
              <a:extLst>
                <a:ext uri="{FF2B5EF4-FFF2-40B4-BE49-F238E27FC236}">
                  <a16:creationId xmlns:a16="http://schemas.microsoft.com/office/drawing/2014/main" id="{C890B5FC-542C-DFB0-3360-74ADF55F2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3498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82" name="Oval 144">
              <a:extLst>
                <a:ext uri="{FF2B5EF4-FFF2-40B4-BE49-F238E27FC236}">
                  <a16:creationId xmlns:a16="http://schemas.microsoft.com/office/drawing/2014/main" id="{2B4B00DA-486B-94C9-3FA1-98C4BFFEB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" y="3645"/>
              <a:ext cx="90" cy="9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83" name="Group 140">
            <a:extLst>
              <a:ext uri="{FF2B5EF4-FFF2-40B4-BE49-F238E27FC236}">
                <a16:creationId xmlns:a16="http://schemas.microsoft.com/office/drawing/2014/main" id="{13EF7193-9EEA-6F5D-86F2-CAA505AFD6E9}"/>
              </a:ext>
            </a:extLst>
          </p:cNvPr>
          <p:cNvGrpSpPr>
            <a:grpSpLocks/>
          </p:cNvGrpSpPr>
          <p:nvPr/>
        </p:nvGrpSpPr>
        <p:grpSpPr bwMode="auto">
          <a:xfrm>
            <a:off x="4829175" y="889000"/>
            <a:ext cx="3378200" cy="3733800"/>
            <a:chOff x="3334" y="686"/>
            <a:chExt cx="2128" cy="2352"/>
          </a:xfrm>
        </p:grpSpPr>
        <p:sp>
          <p:nvSpPr>
            <p:cNvPr id="84" name="Text Box 62">
              <a:extLst>
                <a:ext uri="{FF2B5EF4-FFF2-40B4-BE49-F238E27FC236}">
                  <a16:creationId xmlns:a16="http://schemas.microsoft.com/office/drawing/2014/main" id="{D5DE18AD-36F9-87C8-7825-F26F7DFA0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8" y="1117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P1</a:t>
              </a:r>
            </a:p>
          </p:txBody>
        </p:sp>
        <p:sp>
          <p:nvSpPr>
            <p:cNvPr id="85" name="Line 64">
              <a:extLst>
                <a:ext uri="{FF2B5EF4-FFF2-40B4-BE49-F238E27FC236}">
                  <a16:creationId xmlns:a16="http://schemas.microsoft.com/office/drawing/2014/main" id="{AB853812-B558-586F-1673-A42B96BC1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341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Line 65">
              <a:extLst>
                <a:ext uri="{FF2B5EF4-FFF2-40B4-BE49-F238E27FC236}">
                  <a16:creationId xmlns:a16="http://schemas.microsoft.com/office/drawing/2014/main" id="{A84C2C8E-D045-1B98-130C-88ADF17BAC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77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Line 66">
              <a:extLst>
                <a:ext uri="{FF2B5EF4-FFF2-40B4-BE49-F238E27FC236}">
                  <a16:creationId xmlns:a16="http://schemas.microsoft.com/office/drawing/2014/main" id="{9E338812-984D-7921-D29F-60D461BD5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13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" name="Line 67">
              <a:extLst>
                <a:ext uri="{FF2B5EF4-FFF2-40B4-BE49-F238E27FC236}">
                  <a16:creationId xmlns:a16="http://schemas.microsoft.com/office/drawing/2014/main" id="{ACC4571E-5C83-1818-B2D2-CF729E0A6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52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Line 68">
              <a:extLst>
                <a:ext uri="{FF2B5EF4-FFF2-40B4-BE49-F238E27FC236}">
                  <a16:creationId xmlns:a16="http://schemas.microsoft.com/office/drawing/2014/main" id="{98E99E96-5382-E479-F60D-089E6CC28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387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Line 69">
              <a:extLst>
                <a:ext uri="{FF2B5EF4-FFF2-40B4-BE49-F238E27FC236}">
                  <a16:creationId xmlns:a16="http://schemas.microsoft.com/office/drawing/2014/main" id="{A70163F7-0E0F-C179-547E-F7D9B5728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387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" name="Line 70">
              <a:extLst>
                <a:ext uri="{FF2B5EF4-FFF2-40B4-BE49-F238E27FC236}">
                  <a16:creationId xmlns:a16="http://schemas.microsoft.com/office/drawing/2014/main" id="{D8B49B2F-DCD1-4901-1324-97D3D3F584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659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" name="Line 71">
              <a:extLst>
                <a:ext uri="{FF2B5EF4-FFF2-40B4-BE49-F238E27FC236}">
                  <a16:creationId xmlns:a16="http://schemas.microsoft.com/office/drawing/2014/main" id="{0B0983C2-8129-0340-7C0A-6A14C5A0D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523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3" name="Line 72">
              <a:extLst>
                <a:ext uri="{FF2B5EF4-FFF2-40B4-BE49-F238E27FC236}">
                  <a16:creationId xmlns:a16="http://schemas.microsoft.com/office/drawing/2014/main" id="{A2A71F93-0B0F-2B54-2EAB-C5431B1C5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2" y="2659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" name="Line 73">
              <a:extLst>
                <a:ext uri="{FF2B5EF4-FFF2-40B4-BE49-F238E27FC236}">
                  <a16:creationId xmlns:a16="http://schemas.microsoft.com/office/drawing/2014/main" id="{C1985C62-5493-18E1-ECF8-B876FCCBD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" y="2523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5" name="Line 74">
              <a:extLst>
                <a:ext uri="{FF2B5EF4-FFF2-40B4-BE49-F238E27FC236}">
                  <a16:creationId xmlns:a16="http://schemas.microsoft.com/office/drawing/2014/main" id="{346B51F2-DD24-388F-8EEC-072068970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251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6" name="Line 76">
              <a:extLst>
                <a:ext uri="{FF2B5EF4-FFF2-40B4-BE49-F238E27FC236}">
                  <a16:creationId xmlns:a16="http://schemas.microsoft.com/office/drawing/2014/main" id="{FAE94F96-7265-48E8-BDA3-C9849C2EE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638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7" name="Line 77">
              <a:extLst>
                <a:ext uri="{FF2B5EF4-FFF2-40B4-BE49-F238E27FC236}">
                  <a16:creationId xmlns:a16="http://schemas.microsoft.com/office/drawing/2014/main" id="{4535B6F1-C7D4-B8B8-6751-631F474B5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77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8" name="Line 78">
              <a:extLst>
                <a:ext uri="{FF2B5EF4-FFF2-40B4-BE49-F238E27FC236}">
                  <a16:creationId xmlns:a16="http://schemas.microsoft.com/office/drawing/2014/main" id="{DCBCB169-CC8E-1223-D0F6-E2FA73EED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910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9" name="Line 79">
              <a:extLst>
                <a:ext uri="{FF2B5EF4-FFF2-40B4-BE49-F238E27FC236}">
                  <a16:creationId xmlns:a16="http://schemas.microsoft.com/office/drawing/2014/main" id="{B99CBBFF-79B2-3B4B-C255-72C719C0D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82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0" name="Line 80">
              <a:extLst>
                <a:ext uri="{FF2B5EF4-FFF2-40B4-BE49-F238E27FC236}">
                  <a16:creationId xmlns:a16="http://schemas.microsoft.com/office/drawing/2014/main" id="{1F6C71A0-9EDB-CDCF-ECA9-E93BBA09E3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1684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1" name="Line 81">
              <a:extLst>
                <a:ext uri="{FF2B5EF4-FFF2-40B4-BE49-F238E27FC236}">
                  <a16:creationId xmlns:a16="http://schemas.microsoft.com/office/drawing/2014/main" id="{1AA982A8-2D30-781F-E7A2-1ADF876B3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684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" name="Line 82">
              <a:extLst>
                <a:ext uri="{FF2B5EF4-FFF2-40B4-BE49-F238E27FC236}">
                  <a16:creationId xmlns:a16="http://schemas.microsoft.com/office/drawing/2014/main" id="{9CC86A5F-B948-5349-49DB-0F11AFDDA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956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" name="Line 83">
              <a:extLst>
                <a:ext uri="{FF2B5EF4-FFF2-40B4-BE49-F238E27FC236}">
                  <a16:creationId xmlns:a16="http://schemas.microsoft.com/office/drawing/2014/main" id="{4ECF4F34-B1BC-2478-499A-52A2377366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820"/>
              <a:ext cx="27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" name="Line 84">
              <a:extLst>
                <a:ext uri="{FF2B5EF4-FFF2-40B4-BE49-F238E27FC236}">
                  <a16:creationId xmlns:a16="http://schemas.microsoft.com/office/drawing/2014/main" id="{62A90345-0E4A-FF87-62D8-C975045B9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548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" name="Line 85">
              <a:extLst>
                <a:ext uri="{FF2B5EF4-FFF2-40B4-BE49-F238E27FC236}">
                  <a16:creationId xmlns:a16="http://schemas.microsoft.com/office/drawing/2014/main" id="{EC949271-DA8D-FDAB-71E7-EC5499A82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956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6" name="Line 86">
              <a:extLst>
                <a:ext uri="{FF2B5EF4-FFF2-40B4-BE49-F238E27FC236}">
                  <a16:creationId xmlns:a16="http://schemas.microsoft.com/office/drawing/2014/main" id="{8DC886FD-B3AF-FD6E-478B-D6C24C1B3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684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7" name="Line 87">
              <a:extLst>
                <a:ext uri="{FF2B5EF4-FFF2-40B4-BE49-F238E27FC236}">
                  <a16:creationId xmlns:a16="http://schemas.microsoft.com/office/drawing/2014/main" id="{93A0B109-42D4-DAC0-B92D-CC272F012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094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8" name="Line 88">
              <a:extLst>
                <a:ext uri="{FF2B5EF4-FFF2-40B4-BE49-F238E27FC236}">
                  <a16:creationId xmlns:a16="http://schemas.microsoft.com/office/drawing/2014/main" id="{BA235835-8FD1-47CA-37F7-85633B2CA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30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9" name="Line 89">
              <a:extLst>
                <a:ext uri="{FF2B5EF4-FFF2-40B4-BE49-F238E27FC236}">
                  <a16:creationId xmlns:a16="http://schemas.microsoft.com/office/drawing/2014/main" id="{4B41E89C-8FA2-2D9E-2AE8-4DF2F6073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366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0" name="Line 90">
              <a:extLst>
                <a:ext uri="{FF2B5EF4-FFF2-40B4-BE49-F238E27FC236}">
                  <a16:creationId xmlns:a16="http://schemas.microsoft.com/office/drawing/2014/main" id="{8089E111-3C1E-2B57-24DC-F682FFA12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76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" name="Line 91">
              <a:extLst>
                <a:ext uri="{FF2B5EF4-FFF2-40B4-BE49-F238E27FC236}">
                  <a16:creationId xmlns:a16="http://schemas.microsoft.com/office/drawing/2014/main" id="{BA440C47-8206-2302-BEF2-8E47E2062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1140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" name="Line 92">
              <a:extLst>
                <a:ext uri="{FF2B5EF4-FFF2-40B4-BE49-F238E27FC236}">
                  <a16:creationId xmlns:a16="http://schemas.microsoft.com/office/drawing/2014/main" id="{7024DF64-AD04-4B52-0202-25EF1F397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2" y="1139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" name="Line 93">
              <a:extLst>
                <a:ext uri="{FF2B5EF4-FFF2-40B4-BE49-F238E27FC236}">
                  <a16:creationId xmlns:a16="http://schemas.microsoft.com/office/drawing/2014/main" id="{813A3F94-264F-FEC6-715E-70D7274B5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412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4" name="Line 94">
              <a:extLst>
                <a:ext uri="{FF2B5EF4-FFF2-40B4-BE49-F238E27FC236}">
                  <a16:creationId xmlns:a16="http://schemas.microsoft.com/office/drawing/2014/main" id="{C589B74A-2D9E-DD86-E12F-2F20FCF2C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1276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5" name="Line 95">
              <a:extLst>
                <a:ext uri="{FF2B5EF4-FFF2-40B4-BE49-F238E27FC236}">
                  <a16:creationId xmlns:a16="http://schemas.microsoft.com/office/drawing/2014/main" id="{F0AC44DC-3DF6-04E2-8315-189BF386B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004"/>
              <a:ext cx="0" cy="2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6" name="Line 96">
              <a:extLst>
                <a:ext uri="{FF2B5EF4-FFF2-40B4-BE49-F238E27FC236}">
                  <a16:creationId xmlns:a16="http://schemas.microsoft.com/office/drawing/2014/main" id="{C5901EAA-876D-8C6F-195A-11EF96A64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412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7" name="Line 98">
              <a:extLst>
                <a:ext uri="{FF2B5EF4-FFF2-40B4-BE49-F238E27FC236}">
                  <a16:creationId xmlns:a16="http://schemas.microsoft.com/office/drawing/2014/main" id="{50C5C6E5-C5F4-E906-09B8-3ADCC67E0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140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8" name="Line 100">
              <a:extLst>
                <a:ext uri="{FF2B5EF4-FFF2-40B4-BE49-F238E27FC236}">
                  <a16:creationId xmlns:a16="http://schemas.microsoft.com/office/drawing/2014/main" id="{D5E9B3A0-2FC6-9523-9355-0D4C5CD98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363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" name="Line 101">
              <a:extLst>
                <a:ext uri="{FF2B5EF4-FFF2-40B4-BE49-F238E27FC236}">
                  <a16:creationId xmlns:a16="http://schemas.microsoft.com/office/drawing/2014/main" id="{2A99E1DC-160F-C790-FE30-C632BC93E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499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" name="Line 102">
              <a:extLst>
                <a:ext uri="{FF2B5EF4-FFF2-40B4-BE49-F238E27FC236}">
                  <a16:creationId xmlns:a16="http://schemas.microsoft.com/office/drawing/2014/main" id="{E3EFD4BA-5DB1-9D1E-F452-6CF24102A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635"/>
              <a:ext cx="0" cy="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" name="Line 103">
              <a:extLst>
                <a:ext uri="{FF2B5EF4-FFF2-40B4-BE49-F238E27FC236}">
                  <a16:creationId xmlns:a16="http://schemas.microsoft.com/office/drawing/2014/main" id="{B4BE9587-4215-5E4D-866B-A186580F8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545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2" name="Line 104">
              <a:extLst>
                <a:ext uri="{FF2B5EF4-FFF2-40B4-BE49-F238E27FC236}">
                  <a16:creationId xmlns:a16="http://schemas.microsoft.com/office/drawing/2014/main" id="{BFF5B1C7-2C02-FCB0-C454-1162EC283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3" y="2409"/>
              <a:ext cx="0" cy="2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" name="Line 105">
              <a:extLst>
                <a:ext uri="{FF2B5EF4-FFF2-40B4-BE49-F238E27FC236}">
                  <a16:creationId xmlns:a16="http://schemas.microsoft.com/office/drawing/2014/main" id="{EF5CBE1A-26C6-472F-58ED-07FB54981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409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4" name="Line 106">
              <a:extLst>
                <a:ext uri="{FF2B5EF4-FFF2-40B4-BE49-F238E27FC236}">
                  <a16:creationId xmlns:a16="http://schemas.microsoft.com/office/drawing/2014/main" id="{CF4DE432-4A27-02D1-B753-2B980ECBC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681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5" name="Line 107">
              <a:extLst>
                <a:ext uri="{FF2B5EF4-FFF2-40B4-BE49-F238E27FC236}">
                  <a16:creationId xmlns:a16="http://schemas.microsoft.com/office/drawing/2014/main" id="{F1FFF99B-EC5F-A4CE-6189-BBF246B6C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2545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6" name="Line 108">
              <a:extLst>
                <a:ext uri="{FF2B5EF4-FFF2-40B4-BE49-F238E27FC236}">
                  <a16:creationId xmlns:a16="http://schemas.microsoft.com/office/drawing/2014/main" id="{BCBBF121-557E-F9BF-C932-407AA502D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2681"/>
              <a:ext cx="1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7" name="Line 109">
              <a:extLst>
                <a:ext uri="{FF2B5EF4-FFF2-40B4-BE49-F238E27FC236}">
                  <a16:creationId xmlns:a16="http://schemas.microsoft.com/office/drawing/2014/main" id="{5229FF1C-D65C-FE22-3CE3-472BD1D3A3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" y="2545"/>
              <a:ext cx="0" cy="34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8" name="Line 110">
              <a:extLst>
                <a:ext uri="{FF2B5EF4-FFF2-40B4-BE49-F238E27FC236}">
                  <a16:creationId xmlns:a16="http://schemas.microsoft.com/office/drawing/2014/main" id="{08A1CFCA-EBBC-B793-5793-3AF58BCBC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273"/>
              <a:ext cx="0" cy="1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9" name="Text Box 112">
              <a:extLst>
                <a:ext uri="{FF2B5EF4-FFF2-40B4-BE49-F238E27FC236}">
                  <a16:creationId xmlns:a16="http://schemas.microsoft.com/office/drawing/2014/main" id="{20FCBDE9-1451-2E2F-D297-D640F6273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" y="2024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L</a:t>
              </a:r>
              <a:endParaRPr kumimoji="1" lang="en-US" altLang="zh-CN" sz="1800"/>
            </a:p>
          </p:txBody>
        </p:sp>
        <p:sp>
          <p:nvSpPr>
            <p:cNvPr id="130" name="Line 113">
              <a:extLst>
                <a:ext uri="{FF2B5EF4-FFF2-40B4-BE49-F238E27FC236}">
                  <a16:creationId xmlns:a16="http://schemas.microsoft.com/office/drawing/2014/main" id="{CF7888A6-2836-EEE9-FD89-1DE4A3A5A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885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Text Box 114">
              <a:extLst>
                <a:ext uri="{FF2B5EF4-FFF2-40B4-BE49-F238E27FC236}">
                  <a16:creationId xmlns:a16="http://schemas.microsoft.com/office/drawing/2014/main" id="{AC141998-DA8A-44D7-F119-7484D77CC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686"/>
              <a:ext cx="4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V</a:t>
              </a:r>
              <a:r>
                <a:rPr kumimoji="1" lang="en-US" altLang="zh-CN" sz="1600"/>
                <a:t>DD</a:t>
              </a:r>
              <a:endParaRPr kumimoji="1" lang="en-US" altLang="zh-CN" sz="1800"/>
            </a:p>
          </p:txBody>
        </p:sp>
        <p:sp>
          <p:nvSpPr>
            <p:cNvPr id="132" name="Line 115">
              <a:extLst>
                <a:ext uri="{FF2B5EF4-FFF2-40B4-BE49-F238E27FC236}">
                  <a16:creationId xmlns:a16="http://schemas.microsoft.com/office/drawing/2014/main" id="{77657D61-14E9-5774-8EB7-405544DD2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900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Oval 116">
              <a:extLst>
                <a:ext uri="{FF2B5EF4-FFF2-40B4-BE49-F238E27FC236}">
                  <a16:creationId xmlns:a16="http://schemas.microsoft.com/office/drawing/2014/main" id="{CD82431A-3112-ECCD-88BF-DDB482097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2" y="83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4" name="Line 117">
              <a:extLst>
                <a:ext uri="{FF2B5EF4-FFF2-40B4-BE49-F238E27FC236}">
                  <a16:creationId xmlns:a16="http://schemas.microsoft.com/office/drawing/2014/main" id="{0BB314D1-681F-BE51-548E-6B2E60F9A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1140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118">
              <a:extLst>
                <a:ext uri="{FF2B5EF4-FFF2-40B4-BE49-F238E27FC236}">
                  <a16:creationId xmlns:a16="http://schemas.microsoft.com/office/drawing/2014/main" id="{FA75D922-EE8E-751B-944E-315D51B4E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1140"/>
              <a:ext cx="0" cy="15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119">
              <a:extLst>
                <a:ext uri="{FF2B5EF4-FFF2-40B4-BE49-F238E27FC236}">
                  <a16:creationId xmlns:a16="http://schemas.microsoft.com/office/drawing/2014/main" id="{7BA83977-B446-CC1A-2847-B1471AFE2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1684"/>
              <a:ext cx="0" cy="9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120">
              <a:extLst>
                <a:ext uri="{FF2B5EF4-FFF2-40B4-BE49-F238E27FC236}">
                  <a16:creationId xmlns:a16="http://schemas.microsoft.com/office/drawing/2014/main" id="{3BCFC470-AF29-BF94-3391-D6A7ACCF9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161"/>
              <a:ext cx="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121">
              <a:extLst>
                <a:ext uri="{FF2B5EF4-FFF2-40B4-BE49-F238E27FC236}">
                  <a16:creationId xmlns:a16="http://schemas.microsoft.com/office/drawing/2014/main" id="{85B17A39-E1CE-E3C1-E907-1BABC78BD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2070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Oval 122">
              <a:extLst>
                <a:ext uri="{FF2B5EF4-FFF2-40B4-BE49-F238E27FC236}">
                  <a16:creationId xmlns:a16="http://schemas.microsoft.com/office/drawing/2014/main" id="{9CE21E43-4AEF-8653-2016-7AC9AAF8D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2127"/>
              <a:ext cx="56" cy="5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0" name="Line 123">
              <a:extLst>
                <a:ext uri="{FF2B5EF4-FFF2-40B4-BE49-F238E27FC236}">
                  <a16:creationId xmlns:a16="http://schemas.microsoft.com/office/drawing/2014/main" id="{0ACB3414-B5CF-76EA-259E-1DDBE7200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1684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24">
              <a:extLst>
                <a:ext uri="{FF2B5EF4-FFF2-40B4-BE49-F238E27FC236}">
                  <a16:creationId xmlns:a16="http://schemas.microsoft.com/office/drawing/2014/main" id="{886F9DF7-D9FF-6AFC-4D47-AF5C33D26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2796"/>
              <a:ext cx="0" cy="2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125">
              <a:extLst>
                <a:ext uri="{FF2B5EF4-FFF2-40B4-BE49-F238E27FC236}">
                  <a16:creationId xmlns:a16="http://schemas.microsoft.com/office/drawing/2014/main" id="{0E23BD29-3BED-732A-C38E-E43339781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8" y="3021"/>
              <a:ext cx="181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127">
              <a:extLst>
                <a:ext uri="{FF2B5EF4-FFF2-40B4-BE49-F238E27FC236}">
                  <a16:creationId xmlns:a16="http://schemas.microsoft.com/office/drawing/2014/main" id="{76038D04-4D9C-9768-0426-BD30F90FE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161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Text Box 128">
              <a:extLst>
                <a:ext uri="{FF2B5EF4-FFF2-40B4-BE49-F238E27FC236}">
                  <a16:creationId xmlns:a16="http://schemas.microsoft.com/office/drawing/2014/main" id="{57377994-8C25-9CA0-8B4D-B2B62D43F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98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A</a:t>
              </a:r>
              <a:endParaRPr kumimoji="1" lang="en-US" altLang="zh-CN" sz="1800"/>
            </a:p>
          </p:txBody>
        </p:sp>
        <p:sp>
          <p:nvSpPr>
            <p:cNvPr id="145" name="Text Box 129">
              <a:extLst>
                <a:ext uri="{FF2B5EF4-FFF2-40B4-BE49-F238E27FC236}">
                  <a16:creationId xmlns:a16="http://schemas.microsoft.com/office/drawing/2014/main" id="{DC67140F-35D4-F04F-692F-93B2BF5B5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54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B</a:t>
              </a:r>
              <a:endParaRPr kumimoji="1" lang="en-US" altLang="zh-CN" sz="1800"/>
            </a:p>
          </p:txBody>
        </p:sp>
        <p:sp>
          <p:nvSpPr>
            <p:cNvPr id="146" name="Line 130">
              <a:extLst>
                <a:ext uri="{FF2B5EF4-FFF2-40B4-BE49-F238E27FC236}">
                  <a16:creationId xmlns:a16="http://schemas.microsoft.com/office/drawing/2014/main" id="{0B689150-88E2-8B16-5105-F41C2F32A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140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131">
              <a:extLst>
                <a:ext uri="{FF2B5EF4-FFF2-40B4-BE49-F238E27FC236}">
                  <a16:creationId xmlns:a16="http://schemas.microsoft.com/office/drawing/2014/main" id="{DD4FAB86-1B63-C243-60E1-B13C425D6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5" y="1140"/>
              <a:ext cx="0" cy="6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8" name="Text Box 132">
              <a:extLst>
                <a:ext uri="{FF2B5EF4-FFF2-40B4-BE49-F238E27FC236}">
                  <a16:creationId xmlns:a16="http://schemas.microsoft.com/office/drawing/2014/main" id="{45542453-E7E9-EA58-B80B-FB116E563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8" y="1668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P2</a:t>
              </a:r>
            </a:p>
          </p:txBody>
        </p:sp>
        <p:sp>
          <p:nvSpPr>
            <p:cNvPr id="149" name="Text Box 133">
              <a:extLst>
                <a:ext uri="{FF2B5EF4-FFF2-40B4-BE49-F238E27FC236}">
                  <a16:creationId xmlns:a16="http://schemas.microsoft.com/office/drawing/2014/main" id="{278E52A5-20AA-D635-FB54-565C4C954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5" y="2387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N2</a:t>
              </a:r>
              <a:endParaRPr kumimoji="1" lang="en-US" altLang="zh-CN" sz="1400"/>
            </a:p>
          </p:txBody>
        </p:sp>
        <p:sp>
          <p:nvSpPr>
            <p:cNvPr id="150" name="Text Box 134">
              <a:extLst>
                <a:ext uri="{FF2B5EF4-FFF2-40B4-BE49-F238E27FC236}">
                  <a16:creationId xmlns:a16="http://schemas.microsoft.com/office/drawing/2014/main" id="{BE62F1CA-C45D-6CB9-ABA7-B452609B6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0" y="2750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T</a:t>
              </a:r>
              <a:r>
                <a:rPr kumimoji="1" lang="en-US" altLang="zh-CN" sz="1800"/>
                <a:t>N1</a:t>
              </a:r>
            </a:p>
          </p:txBody>
        </p:sp>
      </p:grpSp>
      <p:grpSp>
        <p:nvGrpSpPr>
          <p:cNvPr id="151" name="Group 135">
            <a:extLst>
              <a:ext uri="{FF2B5EF4-FFF2-40B4-BE49-F238E27FC236}">
                <a16:creationId xmlns:a16="http://schemas.microsoft.com/office/drawing/2014/main" id="{9E3C587A-7B3F-F1C7-7D28-5B8A782CBBAF}"/>
              </a:ext>
            </a:extLst>
          </p:cNvPr>
          <p:cNvGrpSpPr>
            <a:grpSpLocks/>
          </p:cNvGrpSpPr>
          <p:nvPr/>
        </p:nvGrpSpPr>
        <p:grpSpPr bwMode="auto">
          <a:xfrm>
            <a:off x="5440363" y="4983163"/>
            <a:ext cx="2376487" cy="703262"/>
            <a:chOff x="3515" y="3430"/>
            <a:chExt cx="1497" cy="443"/>
          </a:xfrm>
        </p:grpSpPr>
        <p:grpSp>
          <p:nvGrpSpPr>
            <p:cNvPr id="152" name="Group 136">
              <a:extLst>
                <a:ext uri="{FF2B5EF4-FFF2-40B4-BE49-F238E27FC236}">
                  <a16:creationId xmlns:a16="http://schemas.microsoft.com/office/drawing/2014/main" id="{504F74C5-0B3C-706C-FA29-DD517C6224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5" y="3430"/>
              <a:ext cx="1497" cy="443"/>
              <a:chOff x="3470" y="3430"/>
              <a:chExt cx="1655" cy="489"/>
            </a:xfrm>
          </p:grpSpPr>
          <p:sp>
            <p:nvSpPr>
              <p:cNvPr id="154" name="Text Box 137">
                <a:extLst>
                  <a:ext uri="{FF2B5EF4-FFF2-40B4-BE49-F238E27FC236}">
                    <a16:creationId xmlns:a16="http://schemas.microsoft.com/office/drawing/2014/main" id="{AB32D02E-6A5F-0B0F-F5CF-58BF573FF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6" y="3430"/>
                <a:ext cx="205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A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55" name="Text Box 138">
                <a:extLst>
                  <a:ext uri="{FF2B5EF4-FFF2-40B4-BE49-F238E27FC236}">
                    <a16:creationId xmlns:a16="http://schemas.microsoft.com/office/drawing/2014/main" id="{50FB7FCC-1CC0-0CE6-16F9-B9FF099B45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5" y="3691"/>
                <a:ext cx="204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B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56" name="Line 139">
                <a:extLst>
                  <a:ext uri="{FF2B5EF4-FFF2-40B4-BE49-F238E27FC236}">
                    <a16:creationId xmlns:a16="http://schemas.microsoft.com/office/drawing/2014/main" id="{DE67C4CE-0A3E-809B-A664-22C65105C4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3566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7" name="Line 140">
                <a:extLst>
                  <a:ext uri="{FF2B5EF4-FFF2-40B4-BE49-F238E27FC236}">
                    <a16:creationId xmlns:a16="http://schemas.microsoft.com/office/drawing/2014/main" id="{59D1775C-F089-32DB-0D79-ECF544FBA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3793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8" name="Line 141">
                <a:extLst>
                  <a:ext uri="{FF2B5EF4-FFF2-40B4-BE49-F238E27FC236}">
                    <a16:creationId xmlns:a16="http://schemas.microsoft.com/office/drawing/2014/main" id="{53701F9F-5FFA-D7B7-1428-6C770549A4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1" y="3676"/>
                <a:ext cx="2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9" name="Text Box 142">
                <a:extLst>
                  <a:ext uri="{FF2B5EF4-FFF2-40B4-BE49-F238E27FC236}">
                    <a16:creationId xmlns:a16="http://schemas.microsoft.com/office/drawing/2014/main" id="{BD14360E-0242-CAB4-FBD1-2C9A504776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0" y="3566"/>
                <a:ext cx="205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L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grpSp>
            <p:nvGrpSpPr>
              <p:cNvPr id="160" name="Group 143">
                <a:extLst>
                  <a:ext uri="{FF2B5EF4-FFF2-40B4-BE49-F238E27FC236}">
                    <a16:creationId xmlns:a16="http://schemas.microsoft.com/office/drawing/2014/main" id="{8DED8392-ABB2-852C-2D9B-6B5F338616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3452"/>
                <a:ext cx="1156" cy="454"/>
                <a:chOff x="986" y="3158"/>
                <a:chExt cx="1671" cy="658"/>
              </a:xfrm>
            </p:grpSpPr>
            <p:sp>
              <p:nvSpPr>
                <p:cNvPr id="161" name="Arc 144">
                  <a:extLst>
                    <a:ext uri="{FF2B5EF4-FFF2-40B4-BE49-F238E27FC236}">
                      <a16:creationId xmlns:a16="http://schemas.microsoft.com/office/drawing/2014/main" id="{1A11E5C8-83B1-F7AD-68BB-9C3DB62238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" y="3159"/>
                  <a:ext cx="480" cy="657"/>
                </a:xfrm>
                <a:custGeom>
                  <a:avLst/>
                  <a:gdLst>
                    <a:gd name="T0" fmla="*/ 0 w 19012"/>
                    <a:gd name="T1" fmla="*/ 0 h 21600"/>
                    <a:gd name="T2" fmla="*/ 0 w 19012"/>
                    <a:gd name="T3" fmla="*/ 0 h 21600"/>
                    <a:gd name="T4" fmla="*/ 0 w 1901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9012"/>
                    <a:gd name="T10" fmla="*/ 0 h 21600"/>
                    <a:gd name="T11" fmla="*/ 19012 w 1901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012" h="21600" fill="none" extrusionOk="0">
                      <a:moveTo>
                        <a:pt x="0" y="0"/>
                      </a:moveTo>
                      <a:cubicBezTo>
                        <a:pt x="7941" y="0"/>
                        <a:pt x="15242" y="4357"/>
                        <a:pt x="19012" y="11347"/>
                      </a:cubicBezTo>
                    </a:path>
                    <a:path w="19012" h="21600" stroke="0" extrusionOk="0">
                      <a:moveTo>
                        <a:pt x="0" y="0"/>
                      </a:moveTo>
                      <a:cubicBezTo>
                        <a:pt x="7941" y="0"/>
                        <a:pt x="15242" y="4357"/>
                        <a:pt x="19012" y="11347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2" name="Arc 145">
                  <a:extLst>
                    <a:ext uri="{FF2B5EF4-FFF2-40B4-BE49-F238E27FC236}">
                      <a16:creationId xmlns:a16="http://schemas.microsoft.com/office/drawing/2014/main" id="{70B81635-4440-8FE4-0019-9A0BA58098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183" y="3159"/>
                  <a:ext cx="470" cy="657"/>
                </a:xfrm>
                <a:custGeom>
                  <a:avLst/>
                  <a:gdLst>
                    <a:gd name="T0" fmla="*/ 0 w 18607"/>
                    <a:gd name="T1" fmla="*/ 0 h 21600"/>
                    <a:gd name="T2" fmla="*/ 0 w 18607"/>
                    <a:gd name="T3" fmla="*/ 0 h 21600"/>
                    <a:gd name="T4" fmla="*/ 0 w 18607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8607"/>
                    <a:gd name="T10" fmla="*/ 0 h 21600"/>
                    <a:gd name="T11" fmla="*/ 18607 w 18607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607" h="21600" fill="none" extrusionOk="0">
                      <a:moveTo>
                        <a:pt x="0" y="0"/>
                      </a:moveTo>
                      <a:cubicBezTo>
                        <a:pt x="7646" y="0"/>
                        <a:pt x="14724" y="4043"/>
                        <a:pt x="18607" y="10630"/>
                      </a:cubicBezTo>
                    </a:path>
                    <a:path w="18607" h="21600" stroke="0" extrusionOk="0">
                      <a:moveTo>
                        <a:pt x="0" y="0"/>
                      </a:moveTo>
                      <a:cubicBezTo>
                        <a:pt x="7646" y="0"/>
                        <a:pt x="14724" y="4043"/>
                        <a:pt x="18607" y="1063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3" name="Arc 146">
                  <a:extLst>
                    <a:ext uri="{FF2B5EF4-FFF2-40B4-BE49-F238E27FC236}">
                      <a16:creationId xmlns:a16="http://schemas.microsoft.com/office/drawing/2014/main" id="{53BB5043-817B-C563-4B93-9257DB8C17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1174" y="2973"/>
                  <a:ext cx="655" cy="1032"/>
                </a:xfrm>
                <a:custGeom>
                  <a:avLst/>
                  <a:gdLst>
                    <a:gd name="T0" fmla="*/ 0 w 21674"/>
                    <a:gd name="T1" fmla="*/ 0 h 21600"/>
                    <a:gd name="T2" fmla="*/ 0 w 21674"/>
                    <a:gd name="T3" fmla="*/ 0 h 21600"/>
                    <a:gd name="T4" fmla="*/ 0 w 21674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74"/>
                    <a:gd name="T10" fmla="*/ 0 h 21600"/>
                    <a:gd name="T11" fmla="*/ 21674 w 21674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74" h="21600" fill="none" extrusionOk="0">
                      <a:moveTo>
                        <a:pt x="-1" y="2923"/>
                      </a:moveTo>
                      <a:cubicBezTo>
                        <a:pt x="3295" y="1008"/>
                        <a:pt x="7040" y="-1"/>
                        <a:pt x="10852" y="0"/>
                      </a:cubicBezTo>
                      <a:cubicBezTo>
                        <a:pt x="14652" y="0"/>
                        <a:pt x="18385" y="1002"/>
                        <a:pt x="21674" y="2906"/>
                      </a:cubicBezTo>
                    </a:path>
                    <a:path w="21674" h="21600" stroke="0" extrusionOk="0">
                      <a:moveTo>
                        <a:pt x="-1" y="2923"/>
                      </a:moveTo>
                      <a:cubicBezTo>
                        <a:pt x="3295" y="1008"/>
                        <a:pt x="7040" y="-1"/>
                        <a:pt x="10852" y="0"/>
                      </a:cubicBezTo>
                      <a:cubicBezTo>
                        <a:pt x="14652" y="0"/>
                        <a:pt x="18385" y="1002"/>
                        <a:pt x="21674" y="2906"/>
                      </a:cubicBezTo>
                      <a:lnTo>
                        <a:pt x="10852" y="21600"/>
                      </a:lnTo>
                      <a:lnTo>
                        <a:pt x="-1" y="2923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" name="Line 147">
                  <a:extLst>
                    <a:ext uri="{FF2B5EF4-FFF2-40B4-BE49-F238E27FC236}">
                      <a16:creationId xmlns:a16="http://schemas.microsoft.com/office/drawing/2014/main" id="{6742A8D1-919A-A896-D61D-C5182BA2F0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882" y="3816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" name="Line 148">
                  <a:extLst>
                    <a:ext uri="{FF2B5EF4-FFF2-40B4-BE49-F238E27FC236}">
                      <a16:creationId xmlns:a16="http://schemas.microsoft.com/office/drawing/2014/main" id="{E6B2B376-6463-9E5E-E7F5-5E99129B76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882" y="3158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53" name="Oval 149">
              <a:extLst>
                <a:ext uri="{FF2B5EF4-FFF2-40B4-BE49-F238E27FC236}">
                  <a16:creationId xmlns:a16="http://schemas.microsoft.com/office/drawing/2014/main" id="{2B9E7AA9-0B16-D067-4C40-22555976A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" y="3612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166" name="Rectangle 136">
            <a:extLst>
              <a:ext uri="{FF2B5EF4-FFF2-40B4-BE49-F238E27FC236}">
                <a16:creationId xmlns:a16="http://schemas.microsoft.com/office/drawing/2014/main" id="{8C6F14AF-3064-AEA2-50FA-10A56E362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515" y="5946212"/>
            <a:ext cx="3195105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200" dirty="0">
                <a:solidFill>
                  <a:schemeClr val="accent1">
                    <a:lumMod val="50000"/>
                  </a:schemeClr>
                </a:solidFill>
              </a:rPr>
              <a:t>输入端增加有什么问题</a:t>
            </a:r>
            <a:r>
              <a:rPr kumimoji="1" lang="en-US" altLang="zh-CN" sz="2200" dirty="0">
                <a:solidFill>
                  <a:schemeClr val="accent1">
                    <a:lumMod val="5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893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1755D-4EB2-D3AB-4A35-8F45229CB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</a:t>
            </a:r>
            <a:r>
              <a:rPr lang="zh-CN" altLang="en-US" dirty="0"/>
              <a:t>异或门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6A9214-9EDD-526B-8F91-5EB3B52D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CF9867-D3CA-2AB9-A3C3-A86264CB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15</a:t>
            </a:fld>
            <a:r>
              <a:rPr lang="en-US" altLang="zh-CN" dirty="0"/>
              <a:t>/35</a:t>
            </a:r>
            <a:endParaRPr lang="en-US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8752ECF-87A6-F104-13D9-CA64FF318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376772"/>
            <a:ext cx="5184775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2">
            <a:extLst>
              <a:ext uri="{FF2B5EF4-FFF2-40B4-BE49-F238E27FC236}">
                <a16:creationId xmlns:a16="http://schemas.microsoft.com/office/drawing/2014/main" id="{A5B02237-42E9-2411-8C77-86D8C9BA4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84" y="3761029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8" name="文本框 89">
            <a:extLst>
              <a:ext uri="{FF2B5EF4-FFF2-40B4-BE49-F238E27FC236}">
                <a16:creationId xmlns:a16="http://schemas.microsoft.com/office/drawing/2014/main" id="{1C9687FE-32FE-2C44-DE7D-9F132D45E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84" y="2233817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9" name="文本框 89">
            <a:extLst>
              <a:ext uri="{FF2B5EF4-FFF2-40B4-BE49-F238E27FC236}">
                <a16:creationId xmlns:a16="http://schemas.microsoft.com/office/drawing/2014/main" id="{98E91E9E-3F75-05DA-64F4-81DEF0273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306" y="3069431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1BB4303-3290-0FE1-BC2F-6D61FD1481DF}"/>
              </a:ext>
            </a:extLst>
          </p:cNvPr>
          <p:cNvGrpSpPr/>
          <p:nvPr/>
        </p:nvGrpSpPr>
        <p:grpSpPr>
          <a:xfrm>
            <a:off x="4297708" y="2862136"/>
            <a:ext cx="507975" cy="1317590"/>
            <a:chOff x="4297708" y="2862136"/>
            <a:chExt cx="507975" cy="1317590"/>
          </a:xfrm>
        </p:grpSpPr>
        <p:cxnSp>
          <p:nvCxnSpPr>
            <p:cNvPr id="11" name="直接连接符 40">
              <a:extLst>
                <a:ext uri="{FF2B5EF4-FFF2-40B4-BE49-F238E27FC236}">
                  <a16:creationId xmlns:a16="http://schemas.microsoft.com/office/drawing/2014/main" id="{038A098B-17D2-5667-B632-F273AD6046EC}"/>
                </a:ext>
              </a:extLst>
            </p:cNvPr>
            <p:cNvCxnSpPr/>
            <p:nvPr/>
          </p:nvCxnSpPr>
          <p:spPr bwMode="auto">
            <a:xfrm flipH="1">
              <a:off x="4541615" y="3597225"/>
              <a:ext cx="11014" cy="582501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0">
              <a:extLst>
                <a:ext uri="{FF2B5EF4-FFF2-40B4-BE49-F238E27FC236}">
                  <a16:creationId xmlns:a16="http://schemas.microsoft.com/office/drawing/2014/main" id="{1C43801A-FA11-9A9B-0CCD-77B06562C1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7708" y="2862136"/>
              <a:ext cx="507975" cy="571798"/>
              <a:chOff x="7273132" y="3742343"/>
              <a:chExt cx="970755" cy="874107"/>
            </a:xfrm>
          </p:grpSpPr>
          <p:cxnSp>
            <p:nvCxnSpPr>
              <p:cNvPr id="13" name="直接连接符 42">
                <a:extLst>
                  <a:ext uri="{FF2B5EF4-FFF2-40B4-BE49-F238E27FC236}">
                    <a16:creationId xmlns:a16="http://schemas.microsoft.com/office/drawing/2014/main" id="{96E03D8E-8DD3-B46E-0145-1B1338B19E2A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43">
                <a:extLst>
                  <a:ext uri="{FF2B5EF4-FFF2-40B4-BE49-F238E27FC236}">
                    <a16:creationId xmlns:a16="http://schemas.microsoft.com/office/drawing/2014/main" id="{01A5F442-6043-C9B4-1E67-EA0BA2914D27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文本框 2">
            <a:extLst>
              <a:ext uri="{FF2B5EF4-FFF2-40B4-BE49-F238E27FC236}">
                <a16:creationId xmlns:a16="http://schemas.microsoft.com/office/drawing/2014/main" id="{5718BC97-6877-CD01-BD1B-7BC595181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3693" y="3071486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300C1BB-4815-16C1-C9FE-32A2058A934C}"/>
              </a:ext>
            </a:extLst>
          </p:cNvPr>
          <p:cNvGrpSpPr/>
          <p:nvPr/>
        </p:nvGrpSpPr>
        <p:grpSpPr>
          <a:xfrm>
            <a:off x="1068532" y="1736812"/>
            <a:ext cx="3048051" cy="3732627"/>
            <a:chOff x="1068532" y="1736812"/>
            <a:chExt cx="3048051" cy="3732627"/>
          </a:xfrm>
        </p:grpSpPr>
        <p:cxnSp>
          <p:nvCxnSpPr>
            <p:cNvPr id="17" name="直接连接符 27">
              <a:extLst>
                <a:ext uri="{FF2B5EF4-FFF2-40B4-BE49-F238E27FC236}">
                  <a16:creationId xmlns:a16="http://schemas.microsoft.com/office/drawing/2014/main" id="{1184F020-BAF5-2078-1A18-4D79EF887096}"/>
                </a:ext>
              </a:extLst>
            </p:cNvPr>
            <p:cNvCxnSpPr/>
            <p:nvPr/>
          </p:nvCxnSpPr>
          <p:spPr bwMode="auto">
            <a:xfrm flipH="1">
              <a:off x="3527884" y="1736812"/>
              <a:ext cx="10752" cy="568623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0">
              <a:extLst>
                <a:ext uri="{FF2B5EF4-FFF2-40B4-BE49-F238E27FC236}">
                  <a16:creationId xmlns:a16="http://schemas.microsoft.com/office/drawing/2014/main" id="{DE0ADF92-B582-4C10-540F-D5A610C254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8608" y="4897641"/>
              <a:ext cx="507975" cy="571798"/>
              <a:chOff x="7273132" y="3742343"/>
              <a:chExt cx="970755" cy="874107"/>
            </a:xfrm>
          </p:grpSpPr>
          <p:cxnSp>
            <p:nvCxnSpPr>
              <p:cNvPr id="23" name="直接连接符 34">
                <a:extLst>
                  <a:ext uri="{FF2B5EF4-FFF2-40B4-BE49-F238E27FC236}">
                    <a16:creationId xmlns:a16="http://schemas.microsoft.com/office/drawing/2014/main" id="{F25F62F9-6C7B-19C8-4180-10618290B384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35">
                <a:extLst>
                  <a:ext uri="{FF2B5EF4-FFF2-40B4-BE49-F238E27FC236}">
                    <a16:creationId xmlns:a16="http://schemas.microsoft.com/office/drawing/2014/main" id="{5D905C6A-D4C9-DC9D-89C8-34B79D6EA09E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直接连接符 47">
              <a:extLst>
                <a:ext uri="{FF2B5EF4-FFF2-40B4-BE49-F238E27FC236}">
                  <a16:creationId xmlns:a16="http://schemas.microsoft.com/office/drawing/2014/main" id="{A3F220E0-DCE8-3D44-C88E-454A5227DB0E}"/>
                </a:ext>
              </a:extLst>
            </p:cNvPr>
            <p:cNvCxnSpPr/>
            <p:nvPr/>
          </p:nvCxnSpPr>
          <p:spPr bwMode="auto">
            <a:xfrm flipH="1">
              <a:off x="2104664" y="1789194"/>
              <a:ext cx="11014" cy="566722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0">
              <a:extLst>
                <a:ext uri="{FF2B5EF4-FFF2-40B4-BE49-F238E27FC236}">
                  <a16:creationId xmlns:a16="http://schemas.microsoft.com/office/drawing/2014/main" id="{2D3746A5-2923-5FC3-56EC-7C7BAE2093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8532" y="3755972"/>
              <a:ext cx="507975" cy="571798"/>
              <a:chOff x="7273132" y="3742343"/>
              <a:chExt cx="970755" cy="874107"/>
            </a:xfrm>
          </p:grpSpPr>
          <p:cxnSp>
            <p:nvCxnSpPr>
              <p:cNvPr id="21" name="直接连接符 49">
                <a:extLst>
                  <a:ext uri="{FF2B5EF4-FFF2-40B4-BE49-F238E27FC236}">
                    <a16:creationId xmlns:a16="http://schemas.microsoft.com/office/drawing/2014/main" id="{6CD3BD8C-FD14-AEA2-C2AA-4AFE5C08789E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50">
                <a:extLst>
                  <a:ext uri="{FF2B5EF4-FFF2-40B4-BE49-F238E27FC236}">
                    <a16:creationId xmlns:a16="http://schemas.microsoft.com/office/drawing/2014/main" id="{65CF88B7-61FE-9AE2-ED63-94B09675D4F4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A25B532F-B550-1B9B-8F00-B5114569E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059719"/>
              </p:ext>
            </p:extLst>
          </p:nvPr>
        </p:nvGraphicFramePr>
        <p:xfrm>
          <a:off x="5983598" y="1394529"/>
          <a:ext cx="227161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70357F49-B54E-8D62-F25C-69352F25B1B8}"/>
              </a:ext>
            </a:extLst>
          </p:cNvPr>
          <p:cNvGrpSpPr/>
          <p:nvPr/>
        </p:nvGrpSpPr>
        <p:grpSpPr>
          <a:xfrm>
            <a:off x="2017154" y="1672464"/>
            <a:ext cx="2564992" cy="3102896"/>
            <a:chOff x="2017154" y="1672464"/>
            <a:chExt cx="2564992" cy="3102896"/>
          </a:xfrm>
        </p:grpSpPr>
        <p:grpSp>
          <p:nvGrpSpPr>
            <p:cNvPr id="27" name="组合 10">
              <a:extLst>
                <a:ext uri="{FF2B5EF4-FFF2-40B4-BE49-F238E27FC236}">
                  <a16:creationId xmlns:a16="http://schemas.microsoft.com/office/drawing/2014/main" id="{314E3AFD-3DB6-9A5D-F0DF-525F4FA14F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7740" y="4203562"/>
              <a:ext cx="507975" cy="571798"/>
              <a:chOff x="7273132" y="3742343"/>
              <a:chExt cx="970755" cy="874107"/>
            </a:xfrm>
          </p:grpSpPr>
          <p:cxnSp>
            <p:nvCxnSpPr>
              <p:cNvPr id="33" name="直接连接符 28">
                <a:extLst>
                  <a:ext uri="{FF2B5EF4-FFF2-40B4-BE49-F238E27FC236}">
                    <a16:creationId xmlns:a16="http://schemas.microsoft.com/office/drawing/2014/main" id="{8BFBA2A3-9392-6EE2-F0F3-7264763F29FF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29">
                <a:extLst>
                  <a:ext uri="{FF2B5EF4-FFF2-40B4-BE49-F238E27FC236}">
                    <a16:creationId xmlns:a16="http://schemas.microsoft.com/office/drawing/2014/main" id="{6A140A98-3ACF-0B53-1721-AAC1B54E73C6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直接连接符 36">
              <a:extLst>
                <a:ext uri="{FF2B5EF4-FFF2-40B4-BE49-F238E27FC236}">
                  <a16:creationId xmlns:a16="http://schemas.microsoft.com/office/drawing/2014/main" id="{501B760E-1442-F404-A7D7-DDF4D2B93B1A}"/>
                </a:ext>
              </a:extLst>
            </p:cNvPr>
            <p:cNvCxnSpPr/>
            <p:nvPr/>
          </p:nvCxnSpPr>
          <p:spPr bwMode="auto">
            <a:xfrm flipH="1">
              <a:off x="4571132" y="1672464"/>
              <a:ext cx="11014" cy="582501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5">
              <a:extLst>
                <a:ext uri="{FF2B5EF4-FFF2-40B4-BE49-F238E27FC236}">
                  <a16:creationId xmlns:a16="http://schemas.microsoft.com/office/drawing/2014/main" id="{B8A13B24-1BD1-5FAC-A1F0-5FB4BC1708DF}"/>
                </a:ext>
              </a:extLst>
            </p:cNvPr>
            <p:cNvCxnSpPr/>
            <p:nvPr/>
          </p:nvCxnSpPr>
          <p:spPr bwMode="auto">
            <a:xfrm flipH="1">
              <a:off x="2104664" y="2430701"/>
              <a:ext cx="11014" cy="566722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组合 10">
              <a:extLst>
                <a:ext uri="{FF2B5EF4-FFF2-40B4-BE49-F238E27FC236}">
                  <a16:creationId xmlns:a16="http://schemas.microsoft.com/office/drawing/2014/main" id="{80726B92-BD0C-9D6C-AA59-958AB0C99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7154" y="3713716"/>
              <a:ext cx="507975" cy="571798"/>
              <a:chOff x="7273132" y="3742343"/>
              <a:chExt cx="970755" cy="874107"/>
            </a:xfrm>
          </p:grpSpPr>
          <p:cxnSp>
            <p:nvCxnSpPr>
              <p:cNvPr id="31" name="直接连接符 52">
                <a:extLst>
                  <a:ext uri="{FF2B5EF4-FFF2-40B4-BE49-F238E27FC236}">
                    <a16:creationId xmlns:a16="http://schemas.microsoft.com/office/drawing/2014/main" id="{23A1CD82-160C-9EEB-9D25-5AC5B6F3583F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53">
                <a:extLst>
                  <a:ext uri="{FF2B5EF4-FFF2-40B4-BE49-F238E27FC236}">
                    <a16:creationId xmlns:a16="http://schemas.microsoft.com/office/drawing/2014/main" id="{A6A0C7AB-A7DA-76EC-FE24-5D354E9AAC44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7695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33A34-DA7B-EAE3-982E-F8655C211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</a:t>
            </a:r>
            <a:r>
              <a:rPr lang="zh-CN" altLang="en-US" dirty="0"/>
              <a:t>异或门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A8DA44-ACBB-E1B3-9AA0-9B32837B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FD16F2-8051-F2CF-96CD-62D490AE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16</a:t>
            </a:fld>
            <a:r>
              <a:rPr lang="en-US" altLang="zh-CN" dirty="0"/>
              <a:t>/35</a:t>
            </a:r>
            <a:endParaRPr lang="en-US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D3A8961-5E16-7D8D-9E8D-73A198654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376772"/>
            <a:ext cx="5184775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2">
            <a:extLst>
              <a:ext uri="{FF2B5EF4-FFF2-40B4-BE49-F238E27FC236}">
                <a16:creationId xmlns:a16="http://schemas.microsoft.com/office/drawing/2014/main" id="{0C96926D-2A7A-8A19-2957-0D59AA1F2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84" y="3761029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8" name="文本框 89">
            <a:extLst>
              <a:ext uri="{FF2B5EF4-FFF2-40B4-BE49-F238E27FC236}">
                <a16:creationId xmlns:a16="http://schemas.microsoft.com/office/drawing/2014/main" id="{C6ACD32D-D8D7-D827-80C6-9EDC4B607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84" y="2233817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9" name="文本框 89">
            <a:extLst>
              <a:ext uri="{FF2B5EF4-FFF2-40B4-BE49-F238E27FC236}">
                <a16:creationId xmlns:a16="http://schemas.microsoft.com/office/drawing/2014/main" id="{317177C7-DD54-1635-93E5-EF6519BD9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306" y="3069431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D4991CE-90E5-4614-6232-4D4C3A452FB1}"/>
              </a:ext>
            </a:extLst>
          </p:cNvPr>
          <p:cNvGrpSpPr/>
          <p:nvPr/>
        </p:nvGrpSpPr>
        <p:grpSpPr>
          <a:xfrm>
            <a:off x="4398703" y="2856817"/>
            <a:ext cx="507975" cy="1343212"/>
            <a:chOff x="4398703" y="2856817"/>
            <a:chExt cx="507975" cy="1343212"/>
          </a:xfrm>
        </p:grpSpPr>
        <p:cxnSp>
          <p:nvCxnSpPr>
            <p:cNvPr id="11" name="直接连接符 40">
              <a:extLst>
                <a:ext uri="{FF2B5EF4-FFF2-40B4-BE49-F238E27FC236}">
                  <a16:creationId xmlns:a16="http://schemas.microsoft.com/office/drawing/2014/main" id="{623F4521-3B43-74E1-24D5-A993D2E5579F}"/>
                </a:ext>
              </a:extLst>
            </p:cNvPr>
            <p:cNvCxnSpPr/>
            <p:nvPr/>
          </p:nvCxnSpPr>
          <p:spPr bwMode="auto">
            <a:xfrm flipH="1">
              <a:off x="4542913" y="2856817"/>
              <a:ext cx="11014" cy="582501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0">
              <a:extLst>
                <a:ext uri="{FF2B5EF4-FFF2-40B4-BE49-F238E27FC236}">
                  <a16:creationId xmlns:a16="http://schemas.microsoft.com/office/drawing/2014/main" id="{99D48E44-822F-A652-2F52-117F467E61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8703" y="3628231"/>
              <a:ext cx="507975" cy="571798"/>
              <a:chOff x="7273132" y="3742343"/>
              <a:chExt cx="970755" cy="874107"/>
            </a:xfrm>
          </p:grpSpPr>
          <p:cxnSp>
            <p:nvCxnSpPr>
              <p:cNvPr id="13" name="直接连接符 42">
                <a:extLst>
                  <a:ext uri="{FF2B5EF4-FFF2-40B4-BE49-F238E27FC236}">
                    <a16:creationId xmlns:a16="http://schemas.microsoft.com/office/drawing/2014/main" id="{74AE1D30-8665-CA83-5BB1-24CF9A3F358F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43">
                <a:extLst>
                  <a:ext uri="{FF2B5EF4-FFF2-40B4-BE49-F238E27FC236}">
                    <a16:creationId xmlns:a16="http://schemas.microsoft.com/office/drawing/2014/main" id="{6F5EEDBB-7935-0D8B-5540-BC5FA1F7F603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文本框 2">
            <a:extLst>
              <a:ext uri="{FF2B5EF4-FFF2-40B4-BE49-F238E27FC236}">
                <a16:creationId xmlns:a16="http://schemas.microsoft.com/office/drawing/2014/main" id="{8CDC4D49-B7C3-A788-9E27-40A1E8185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3693" y="3071486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46C1CB4-4C29-8A49-17A0-0018A8CC0CC0}"/>
              </a:ext>
            </a:extLst>
          </p:cNvPr>
          <p:cNvGrpSpPr/>
          <p:nvPr/>
        </p:nvGrpSpPr>
        <p:grpSpPr>
          <a:xfrm>
            <a:off x="1917974" y="1672464"/>
            <a:ext cx="2664172" cy="3028663"/>
            <a:chOff x="1917974" y="1672464"/>
            <a:chExt cx="2664172" cy="3028663"/>
          </a:xfrm>
        </p:grpSpPr>
        <p:grpSp>
          <p:nvGrpSpPr>
            <p:cNvPr id="17" name="组合 10">
              <a:extLst>
                <a:ext uri="{FF2B5EF4-FFF2-40B4-BE49-F238E27FC236}">
                  <a16:creationId xmlns:a16="http://schemas.microsoft.com/office/drawing/2014/main" id="{CCEF759D-A240-F97F-8E39-57B7345152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2133" y="4129329"/>
              <a:ext cx="507975" cy="571798"/>
              <a:chOff x="7273132" y="3742343"/>
              <a:chExt cx="970755" cy="874107"/>
            </a:xfrm>
          </p:grpSpPr>
          <p:cxnSp>
            <p:nvCxnSpPr>
              <p:cNvPr id="23" name="直接连接符 28">
                <a:extLst>
                  <a:ext uri="{FF2B5EF4-FFF2-40B4-BE49-F238E27FC236}">
                    <a16:creationId xmlns:a16="http://schemas.microsoft.com/office/drawing/2014/main" id="{BF4799EC-68FF-AFBD-9C9F-084C695B765F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9">
                <a:extLst>
                  <a:ext uri="{FF2B5EF4-FFF2-40B4-BE49-F238E27FC236}">
                    <a16:creationId xmlns:a16="http://schemas.microsoft.com/office/drawing/2014/main" id="{615B05E1-382F-F821-B169-EEFF242269EA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连接符 36">
              <a:extLst>
                <a:ext uri="{FF2B5EF4-FFF2-40B4-BE49-F238E27FC236}">
                  <a16:creationId xmlns:a16="http://schemas.microsoft.com/office/drawing/2014/main" id="{30B9B5C4-A4ED-EA01-CF65-31E5A24266AE}"/>
                </a:ext>
              </a:extLst>
            </p:cNvPr>
            <p:cNvCxnSpPr/>
            <p:nvPr/>
          </p:nvCxnSpPr>
          <p:spPr bwMode="auto">
            <a:xfrm flipH="1">
              <a:off x="4571132" y="1672464"/>
              <a:ext cx="11014" cy="582501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45">
              <a:extLst>
                <a:ext uri="{FF2B5EF4-FFF2-40B4-BE49-F238E27FC236}">
                  <a16:creationId xmlns:a16="http://schemas.microsoft.com/office/drawing/2014/main" id="{B400BF51-FA09-FDC6-C693-BAE39FAE82E0}"/>
                </a:ext>
              </a:extLst>
            </p:cNvPr>
            <p:cNvCxnSpPr/>
            <p:nvPr/>
          </p:nvCxnSpPr>
          <p:spPr bwMode="auto">
            <a:xfrm flipH="1">
              <a:off x="2104664" y="2430701"/>
              <a:ext cx="11014" cy="566722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0">
              <a:extLst>
                <a:ext uri="{FF2B5EF4-FFF2-40B4-BE49-F238E27FC236}">
                  <a16:creationId xmlns:a16="http://schemas.microsoft.com/office/drawing/2014/main" id="{B54DDB2D-1273-9571-3FFB-DF95D38E5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7974" y="3668294"/>
              <a:ext cx="507975" cy="571798"/>
              <a:chOff x="7273132" y="3742343"/>
              <a:chExt cx="970755" cy="874107"/>
            </a:xfrm>
          </p:grpSpPr>
          <p:cxnSp>
            <p:nvCxnSpPr>
              <p:cNvPr id="21" name="直接连接符 49">
                <a:extLst>
                  <a:ext uri="{FF2B5EF4-FFF2-40B4-BE49-F238E27FC236}">
                    <a16:creationId xmlns:a16="http://schemas.microsoft.com/office/drawing/2014/main" id="{C22CECBB-FB8E-2F56-3FA6-31F823C87BD6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50">
                <a:extLst>
                  <a:ext uri="{FF2B5EF4-FFF2-40B4-BE49-F238E27FC236}">
                    <a16:creationId xmlns:a16="http://schemas.microsoft.com/office/drawing/2014/main" id="{56B9687C-61B7-5DE7-96B6-E371B960362B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545AA5E-0435-0832-4E16-E771E74F0378}"/>
              </a:ext>
            </a:extLst>
          </p:cNvPr>
          <p:cNvGrpSpPr/>
          <p:nvPr/>
        </p:nvGrpSpPr>
        <p:grpSpPr>
          <a:xfrm>
            <a:off x="1182715" y="1665194"/>
            <a:ext cx="2683325" cy="3793852"/>
            <a:chOff x="1182715" y="1665194"/>
            <a:chExt cx="2683325" cy="3793852"/>
          </a:xfrm>
        </p:grpSpPr>
        <p:cxnSp>
          <p:nvCxnSpPr>
            <p:cNvPr id="26" name="直接连接符 27">
              <a:extLst>
                <a:ext uri="{FF2B5EF4-FFF2-40B4-BE49-F238E27FC236}">
                  <a16:creationId xmlns:a16="http://schemas.microsoft.com/office/drawing/2014/main" id="{66197143-77CC-ED60-A531-FD42275F441A}"/>
                </a:ext>
              </a:extLst>
            </p:cNvPr>
            <p:cNvCxnSpPr/>
            <p:nvPr/>
          </p:nvCxnSpPr>
          <p:spPr bwMode="auto">
            <a:xfrm flipH="1">
              <a:off x="3855288" y="4890423"/>
              <a:ext cx="10752" cy="568623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组合 10">
              <a:extLst>
                <a:ext uri="{FF2B5EF4-FFF2-40B4-BE49-F238E27FC236}">
                  <a16:creationId xmlns:a16="http://schemas.microsoft.com/office/drawing/2014/main" id="{87F9F557-E57B-495E-9247-098D8B655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7313" y="1665194"/>
              <a:ext cx="507975" cy="571798"/>
              <a:chOff x="7273132" y="3742343"/>
              <a:chExt cx="970755" cy="874107"/>
            </a:xfrm>
          </p:grpSpPr>
          <p:cxnSp>
            <p:nvCxnSpPr>
              <p:cNvPr id="32" name="直接连接符 34">
                <a:extLst>
                  <a:ext uri="{FF2B5EF4-FFF2-40B4-BE49-F238E27FC236}">
                    <a16:creationId xmlns:a16="http://schemas.microsoft.com/office/drawing/2014/main" id="{70A06868-2BA7-3D29-B149-3CE2DFEA1875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5">
                <a:extLst>
                  <a:ext uri="{FF2B5EF4-FFF2-40B4-BE49-F238E27FC236}">
                    <a16:creationId xmlns:a16="http://schemas.microsoft.com/office/drawing/2014/main" id="{69FCBAC5-29B8-FD60-3F86-41267AD073EA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直接连接符 47">
              <a:extLst>
                <a:ext uri="{FF2B5EF4-FFF2-40B4-BE49-F238E27FC236}">
                  <a16:creationId xmlns:a16="http://schemas.microsoft.com/office/drawing/2014/main" id="{43B17B61-13B4-1EA7-10D2-857C0B79AA63}"/>
                </a:ext>
              </a:extLst>
            </p:cNvPr>
            <p:cNvCxnSpPr/>
            <p:nvPr/>
          </p:nvCxnSpPr>
          <p:spPr bwMode="auto">
            <a:xfrm flipH="1">
              <a:off x="1182715" y="3648144"/>
              <a:ext cx="11014" cy="566722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10">
              <a:extLst>
                <a:ext uri="{FF2B5EF4-FFF2-40B4-BE49-F238E27FC236}">
                  <a16:creationId xmlns:a16="http://schemas.microsoft.com/office/drawing/2014/main" id="{A0DF13E6-0211-8D9E-3F63-D354516E9A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0476" y="1772293"/>
              <a:ext cx="507975" cy="571798"/>
              <a:chOff x="7273132" y="3742343"/>
              <a:chExt cx="970755" cy="874107"/>
            </a:xfrm>
          </p:grpSpPr>
          <p:cxnSp>
            <p:nvCxnSpPr>
              <p:cNvPr id="30" name="直接连接符 52">
                <a:extLst>
                  <a:ext uri="{FF2B5EF4-FFF2-40B4-BE49-F238E27FC236}">
                    <a16:creationId xmlns:a16="http://schemas.microsoft.com/office/drawing/2014/main" id="{9C76B0A1-E983-8794-35CB-94EAB4575C4A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53">
                <a:extLst>
                  <a:ext uri="{FF2B5EF4-FFF2-40B4-BE49-F238E27FC236}">
                    <a16:creationId xmlns:a16="http://schemas.microsoft.com/office/drawing/2014/main" id="{149C8421-208B-DBF4-A07C-D8D41FD36077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727BBD68-C09A-42FE-D9EC-E1A3E57AF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385456"/>
              </p:ext>
            </p:extLst>
          </p:nvPr>
        </p:nvGraphicFramePr>
        <p:xfrm>
          <a:off x="5983598" y="1394529"/>
          <a:ext cx="227161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95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C94177-D514-5937-5805-74451EE6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</a:t>
            </a:r>
            <a:r>
              <a:rPr lang="zh-CN" altLang="en-US" dirty="0"/>
              <a:t>异或门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9D93C6-1FE7-BCEF-39D7-E05AEDD49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552BED-86CD-F28E-ADC3-3EA97E40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17</a:t>
            </a:fld>
            <a:r>
              <a:rPr lang="en-US" altLang="zh-CN" dirty="0"/>
              <a:t>/35</a:t>
            </a:r>
            <a:endParaRPr lang="en-US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C250629-6044-8E6F-06A2-BA85F9DD6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376772"/>
            <a:ext cx="5184775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2">
            <a:extLst>
              <a:ext uri="{FF2B5EF4-FFF2-40B4-BE49-F238E27FC236}">
                <a16:creationId xmlns:a16="http://schemas.microsoft.com/office/drawing/2014/main" id="{217A4B19-0D86-D935-D359-541B0406C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84" y="3761029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8" name="文本框 89">
            <a:extLst>
              <a:ext uri="{FF2B5EF4-FFF2-40B4-BE49-F238E27FC236}">
                <a16:creationId xmlns:a16="http://schemas.microsoft.com/office/drawing/2014/main" id="{6377A4BB-299B-9BD6-6DBC-16DAACFA5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84" y="2233817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9" name="文本框 89">
            <a:extLst>
              <a:ext uri="{FF2B5EF4-FFF2-40B4-BE49-F238E27FC236}">
                <a16:creationId xmlns:a16="http://schemas.microsoft.com/office/drawing/2014/main" id="{0106A53F-0AF6-2144-B892-C0E54FCE5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306" y="3069431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6FF191B-5F6C-986F-128C-3DB82270804C}"/>
              </a:ext>
            </a:extLst>
          </p:cNvPr>
          <p:cNvGrpSpPr/>
          <p:nvPr/>
        </p:nvGrpSpPr>
        <p:grpSpPr>
          <a:xfrm>
            <a:off x="4395093" y="2798505"/>
            <a:ext cx="507975" cy="1406201"/>
            <a:chOff x="4395093" y="2798505"/>
            <a:chExt cx="507975" cy="1406201"/>
          </a:xfrm>
        </p:grpSpPr>
        <p:cxnSp>
          <p:nvCxnSpPr>
            <p:cNvPr id="11" name="直接连接符 40">
              <a:extLst>
                <a:ext uri="{FF2B5EF4-FFF2-40B4-BE49-F238E27FC236}">
                  <a16:creationId xmlns:a16="http://schemas.microsoft.com/office/drawing/2014/main" id="{BC4770C1-1ACD-299F-239D-7AA430A78AB6}"/>
                </a:ext>
              </a:extLst>
            </p:cNvPr>
            <p:cNvCxnSpPr/>
            <p:nvPr/>
          </p:nvCxnSpPr>
          <p:spPr bwMode="auto">
            <a:xfrm flipH="1">
              <a:off x="4539720" y="2798505"/>
              <a:ext cx="11014" cy="582501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0">
              <a:extLst>
                <a:ext uri="{FF2B5EF4-FFF2-40B4-BE49-F238E27FC236}">
                  <a16:creationId xmlns:a16="http://schemas.microsoft.com/office/drawing/2014/main" id="{2B0907A8-F97C-9965-EE6C-BE9F9E9028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5093" y="3632908"/>
              <a:ext cx="507975" cy="571798"/>
              <a:chOff x="7273132" y="3742343"/>
              <a:chExt cx="970755" cy="874107"/>
            </a:xfrm>
          </p:grpSpPr>
          <p:cxnSp>
            <p:nvCxnSpPr>
              <p:cNvPr id="13" name="直接连接符 42">
                <a:extLst>
                  <a:ext uri="{FF2B5EF4-FFF2-40B4-BE49-F238E27FC236}">
                    <a16:creationId xmlns:a16="http://schemas.microsoft.com/office/drawing/2014/main" id="{BE3C76F9-523E-B591-72E0-E5E94FF44BDD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43">
                <a:extLst>
                  <a:ext uri="{FF2B5EF4-FFF2-40B4-BE49-F238E27FC236}">
                    <a16:creationId xmlns:a16="http://schemas.microsoft.com/office/drawing/2014/main" id="{968F1990-B6DC-A27A-2B82-CB70A207FBEA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文本框 2">
            <a:extLst>
              <a:ext uri="{FF2B5EF4-FFF2-40B4-BE49-F238E27FC236}">
                <a16:creationId xmlns:a16="http://schemas.microsoft.com/office/drawing/2014/main" id="{5985BA8E-8226-FDD0-841F-8BBE1CF33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3693" y="3071486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491E60C-08D1-A473-9A89-291E5430C967}"/>
              </a:ext>
            </a:extLst>
          </p:cNvPr>
          <p:cNvGrpSpPr/>
          <p:nvPr/>
        </p:nvGrpSpPr>
        <p:grpSpPr>
          <a:xfrm>
            <a:off x="966222" y="1739128"/>
            <a:ext cx="3153749" cy="3702706"/>
            <a:chOff x="966222" y="1739128"/>
            <a:chExt cx="3153749" cy="3702706"/>
          </a:xfrm>
        </p:grpSpPr>
        <p:grpSp>
          <p:nvGrpSpPr>
            <p:cNvPr id="17" name="组合 10">
              <a:extLst>
                <a:ext uri="{FF2B5EF4-FFF2-40B4-BE49-F238E27FC236}">
                  <a16:creationId xmlns:a16="http://schemas.microsoft.com/office/drawing/2014/main" id="{87124F90-5DB4-FD63-913E-96563FE2A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1996" y="4870036"/>
              <a:ext cx="507975" cy="571798"/>
              <a:chOff x="7273132" y="3742343"/>
              <a:chExt cx="970755" cy="874107"/>
            </a:xfrm>
          </p:grpSpPr>
          <p:cxnSp>
            <p:nvCxnSpPr>
              <p:cNvPr id="23" name="直接连接符 28">
                <a:extLst>
                  <a:ext uri="{FF2B5EF4-FFF2-40B4-BE49-F238E27FC236}">
                    <a16:creationId xmlns:a16="http://schemas.microsoft.com/office/drawing/2014/main" id="{82726452-E202-5410-7101-E08D4CC1F36A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9">
                <a:extLst>
                  <a:ext uri="{FF2B5EF4-FFF2-40B4-BE49-F238E27FC236}">
                    <a16:creationId xmlns:a16="http://schemas.microsoft.com/office/drawing/2014/main" id="{A21F769F-0A31-4F76-7D4D-C10F27CE8351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连接符 36">
              <a:extLst>
                <a:ext uri="{FF2B5EF4-FFF2-40B4-BE49-F238E27FC236}">
                  <a16:creationId xmlns:a16="http://schemas.microsoft.com/office/drawing/2014/main" id="{04297D66-6FE3-0698-C3B2-48515CFFF89C}"/>
                </a:ext>
              </a:extLst>
            </p:cNvPr>
            <p:cNvCxnSpPr/>
            <p:nvPr/>
          </p:nvCxnSpPr>
          <p:spPr bwMode="auto">
            <a:xfrm flipH="1">
              <a:off x="3527884" y="1739128"/>
              <a:ext cx="11014" cy="582501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45">
              <a:extLst>
                <a:ext uri="{FF2B5EF4-FFF2-40B4-BE49-F238E27FC236}">
                  <a16:creationId xmlns:a16="http://schemas.microsoft.com/office/drawing/2014/main" id="{4D61BD41-92F0-547D-137D-5764A1DF3D49}"/>
                </a:ext>
              </a:extLst>
            </p:cNvPr>
            <p:cNvCxnSpPr/>
            <p:nvPr/>
          </p:nvCxnSpPr>
          <p:spPr bwMode="auto">
            <a:xfrm flipH="1">
              <a:off x="2122560" y="1799509"/>
              <a:ext cx="11014" cy="566722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0">
              <a:extLst>
                <a:ext uri="{FF2B5EF4-FFF2-40B4-BE49-F238E27FC236}">
                  <a16:creationId xmlns:a16="http://schemas.microsoft.com/office/drawing/2014/main" id="{C3EEF5D5-6F4B-6587-136A-145B82F5A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6222" y="3686705"/>
              <a:ext cx="507975" cy="571798"/>
              <a:chOff x="7273132" y="3742343"/>
              <a:chExt cx="970755" cy="874107"/>
            </a:xfrm>
          </p:grpSpPr>
          <p:cxnSp>
            <p:nvCxnSpPr>
              <p:cNvPr id="21" name="直接连接符 49">
                <a:extLst>
                  <a:ext uri="{FF2B5EF4-FFF2-40B4-BE49-F238E27FC236}">
                    <a16:creationId xmlns:a16="http://schemas.microsoft.com/office/drawing/2014/main" id="{9E4D3920-C6BB-C135-1353-6609723D67C1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50">
                <a:extLst>
                  <a:ext uri="{FF2B5EF4-FFF2-40B4-BE49-F238E27FC236}">
                    <a16:creationId xmlns:a16="http://schemas.microsoft.com/office/drawing/2014/main" id="{FF8A7B1A-7315-D7F3-D2A7-28179FFA2814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657532D-D408-129B-38BA-C0A8BEA0C084}"/>
              </a:ext>
            </a:extLst>
          </p:cNvPr>
          <p:cNvGrpSpPr/>
          <p:nvPr/>
        </p:nvGrpSpPr>
        <p:grpSpPr>
          <a:xfrm>
            <a:off x="1906960" y="1809779"/>
            <a:ext cx="2893560" cy="2950384"/>
            <a:chOff x="1906960" y="1809779"/>
            <a:chExt cx="2893560" cy="2950384"/>
          </a:xfrm>
        </p:grpSpPr>
        <p:cxnSp>
          <p:nvCxnSpPr>
            <p:cNvPr id="26" name="直接连接符 27">
              <a:extLst>
                <a:ext uri="{FF2B5EF4-FFF2-40B4-BE49-F238E27FC236}">
                  <a16:creationId xmlns:a16="http://schemas.microsoft.com/office/drawing/2014/main" id="{5453308F-DA3E-506C-7C46-D29EA58095A3}"/>
                </a:ext>
              </a:extLst>
            </p:cNvPr>
            <p:cNvCxnSpPr/>
            <p:nvPr/>
          </p:nvCxnSpPr>
          <p:spPr bwMode="auto">
            <a:xfrm flipH="1">
              <a:off x="3844320" y="4191540"/>
              <a:ext cx="10752" cy="568623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组合 10">
              <a:extLst>
                <a:ext uri="{FF2B5EF4-FFF2-40B4-BE49-F238E27FC236}">
                  <a16:creationId xmlns:a16="http://schemas.microsoft.com/office/drawing/2014/main" id="{30F72E0A-A71D-EFE2-85EF-B5D73F2ABF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6960" y="2497633"/>
              <a:ext cx="507975" cy="571798"/>
              <a:chOff x="7273132" y="3742343"/>
              <a:chExt cx="970755" cy="874107"/>
            </a:xfrm>
          </p:grpSpPr>
          <p:cxnSp>
            <p:nvCxnSpPr>
              <p:cNvPr id="32" name="直接连接符 34">
                <a:extLst>
                  <a:ext uri="{FF2B5EF4-FFF2-40B4-BE49-F238E27FC236}">
                    <a16:creationId xmlns:a16="http://schemas.microsoft.com/office/drawing/2014/main" id="{0722CD46-364D-A5FD-4532-8E9BBE365795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5">
                <a:extLst>
                  <a:ext uri="{FF2B5EF4-FFF2-40B4-BE49-F238E27FC236}">
                    <a16:creationId xmlns:a16="http://schemas.microsoft.com/office/drawing/2014/main" id="{6BCD501C-A97F-8FCB-E257-E0090AA183A8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直接连接符 47">
              <a:extLst>
                <a:ext uri="{FF2B5EF4-FFF2-40B4-BE49-F238E27FC236}">
                  <a16:creationId xmlns:a16="http://schemas.microsoft.com/office/drawing/2014/main" id="{26C9ED1B-76BD-99A9-A03F-E2B72D6B8C13}"/>
                </a:ext>
              </a:extLst>
            </p:cNvPr>
            <p:cNvCxnSpPr/>
            <p:nvPr/>
          </p:nvCxnSpPr>
          <p:spPr bwMode="auto">
            <a:xfrm flipH="1">
              <a:off x="2160948" y="3681973"/>
              <a:ext cx="11014" cy="566722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10">
              <a:extLst>
                <a:ext uri="{FF2B5EF4-FFF2-40B4-BE49-F238E27FC236}">
                  <a16:creationId xmlns:a16="http://schemas.microsoft.com/office/drawing/2014/main" id="{F7AACDF8-C677-CAC0-FB00-0B26202240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2545" y="1809779"/>
              <a:ext cx="507975" cy="571798"/>
              <a:chOff x="7273132" y="3742343"/>
              <a:chExt cx="970755" cy="874107"/>
            </a:xfrm>
          </p:grpSpPr>
          <p:cxnSp>
            <p:nvCxnSpPr>
              <p:cNvPr id="30" name="直接连接符 52">
                <a:extLst>
                  <a:ext uri="{FF2B5EF4-FFF2-40B4-BE49-F238E27FC236}">
                    <a16:creationId xmlns:a16="http://schemas.microsoft.com/office/drawing/2014/main" id="{4B31B3A1-8A8B-C7DB-82B6-BF2C3A6067DF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53">
                <a:extLst>
                  <a:ext uri="{FF2B5EF4-FFF2-40B4-BE49-F238E27FC236}">
                    <a16:creationId xmlns:a16="http://schemas.microsoft.com/office/drawing/2014/main" id="{1846365E-1BCC-B3A8-045D-B2785BDF100B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C1452A17-3E78-2620-23FC-BE3BFA152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548219"/>
              </p:ext>
            </p:extLst>
          </p:nvPr>
        </p:nvGraphicFramePr>
        <p:xfrm>
          <a:off x="5983598" y="1394529"/>
          <a:ext cx="227161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01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7DD2C-4B21-1EC4-DB62-621D38C4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</a:t>
            </a:r>
            <a:r>
              <a:rPr lang="zh-CN" altLang="en-US" dirty="0"/>
              <a:t>异或门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6F2D5E-7EBF-1EB2-AFC2-E754AEF3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A48C01-FFC2-899F-714D-F945B360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18</a:t>
            </a:fld>
            <a:r>
              <a:rPr lang="en-US" altLang="zh-CN" dirty="0"/>
              <a:t>/35</a:t>
            </a:r>
            <a:endParaRPr lang="en-US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3AB3FCA2-EB6B-E4D0-E500-C2A33C4A6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376772"/>
            <a:ext cx="5184775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2">
            <a:extLst>
              <a:ext uri="{FF2B5EF4-FFF2-40B4-BE49-F238E27FC236}">
                <a16:creationId xmlns:a16="http://schemas.microsoft.com/office/drawing/2014/main" id="{A01D079E-B2D9-93DE-FA57-C39F6A73A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84" y="3761029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8" name="文本框 89">
            <a:extLst>
              <a:ext uri="{FF2B5EF4-FFF2-40B4-BE49-F238E27FC236}">
                <a16:creationId xmlns:a16="http://schemas.microsoft.com/office/drawing/2014/main" id="{D501712D-25E0-4D38-B720-C42723FF7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84" y="2233817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3F20951-542A-3734-F572-3FDE74796010}"/>
              </a:ext>
            </a:extLst>
          </p:cNvPr>
          <p:cNvGrpSpPr/>
          <p:nvPr/>
        </p:nvGrpSpPr>
        <p:grpSpPr>
          <a:xfrm>
            <a:off x="4309010" y="2811284"/>
            <a:ext cx="507975" cy="1367518"/>
            <a:chOff x="4309010" y="2811284"/>
            <a:chExt cx="507975" cy="1367518"/>
          </a:xfrm>
        </p:grpSpPr>
        <p:grpSp>
          <p:nvGrpSpPr>
            <p:cNvPr id="10" name="组合 10">
              <a:extLst>
                <a:ext uri="{FF2B5EF4-FFF2-40B4-BE49-F238E27FC236}">
                  <a16:creationId xmlns:a16="http://schemas.microsoft.com/office/drawing/2014/main" id="{A463F685-3101-FAAE-8B69-2B38141A92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9010" y="3607004"/>
              <a:ext cx="507975" cy="571798"/>
              <a:chOff x="7273132" y="3742343"/>
              <a:chExt cx="970755" cy="874107"/>
            </a:xfrm>
          </p:grpSpPr>
          <p:cxnSp>
            <p:nvCxnSpPr>
              <p:cNvPr id="12" name="直接连接符 34">
                <a:extLst>
                  <a:ext uri="{FF2B5EF4-FFF2-40B4-BE49-F238E27FC236}">
                    <a16:creationId xmlns:a16="http://schemas.microsoft.com/office/drawing/2014/main" id="{8AA0A417-990C-A6F3-B726-D37F42F86822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35">
                <a:extLst>
                  <a:ext uri="{FF2B5EF4-FFF2-40B4-BE49-F238E27FC236}">
                    <a16:creationId xmlns:a16="http://schemas.microsoft.com/office/drawing/2014/main" id="{E5CA1FF8-8444-BDAE-6CA8-818B889285CC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直接连接符 36">
              <a:extLst>
                <a:ext uri="{FF2B5EF4-FFF2-40B4-BE49-F238E27FC236}">
                  <a16:creationId xmlns:a16="http://schemas.microsoft.com/office/drawing/2014/main" id="{CACF367B-6BC2-FD78-165E-4536C6D9C667}"/>
                </a:ext>
              </a:extLst>
            </p:cNvPr>
            <p:cNvCxnSpPr/>
            <p:nvPr/>
          </p:nvCxnSpPr>
          <p:spPr bwMode="auto">
            <a:xfrm flipH="1">
              <a:off x="4562998" y="2811284"/>
              <a:ext cx="11014" cy="582501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89">
            <a:extLst>
              <a:ext uri="{FF2B5EF4-FFF2-40B4-BE49-F238E27FC236}">
                <a16:creationId xmlns:a16="http://schemas.microsoft.com/office/drawing/2014/main" id="{403AE1E5-414D-D6D8-04AC-2D9F9D87B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306" y="3069431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C36DC6D-6DAC-1EFC-E80A-857CC9F92D72}"/>
              </a:ext>
            </a:extLst>
          </p:cNvPr>
          <p:cNvGrpSpPr/>
          <p:nvPr/>
        </p:nvGrpSpPr>
        <p:grpSpPr>
          <a:xfrm>
            <a:off x="1239192" y="1734698"/>
            <a:ext cx="2661029" cy="3688866"/>
            <a:chOff x="1239192" y="1734698"/>
            <a:chExt cx="2661029" cy="3688866"/>
          </a:xfrm>
        </p:grpSpPr>
        <p:grpSp>
          <p:nvGrpSpPr>
            <p:cNvPr id="16" name="组合 10">
              <a:extLst>
                <a:ext uri="{FF2B5EF4-FFF2-40B4-BE49-F238E27FC236}">
                  <a16:creationId xmlns:a16="http://schemas.microsoft.com/office/drawing/2014/main" id="{B039ABB5-300C-2348-0D48-D5DC3C5BD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2246" y="1749831"/>
              <a:ext cx="507975" cy="571798"/>
              <a:chOff x="7273132" y="3742343"/>
              <a:chExt cx="970755" cy="874107"/>
            </a:xfrm>
          </p:grpSpPr>
          <p:cxnSp>
            <p:nvCxnSpPr>
              <p:cNvPr id="22" name="直接连接符 28">
                <a:extLst>
                  <a:ext uri="{FF2B5EF4-FFF2-40B4-BE49-F238E27FC236}">
                    <a16:creationId xmlns:a16="http://schemas.microsoft.com/office/drawing/2014/main" id="{5E91B6C8-6726-376B-48B0-A16E7E2FA1B6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9">
                <a:extLst>
                  <a:ext uri="{FF2B5EF4-FFF2-40B4-BE49-F238E27FC236}">
                    <a16:creationId xmlns:a16="http://schemas.microsoft.com/office/drawing/2014/main" id="{49C8FB37-E931-7350-8562-76B20402A37B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接连接符 27">
              <a:extLst>
                <a:ext uri="{FF2B5EF4-FFF2-40B4-BE49-F238E27FC236}">
                  <a16:creationId xmlns:a16="http://schemas.microsoft.com/office/drawing/2014/main" id="{9DF12F56-996D-FACE-C1A2-6A2BBB5A3C89}"/>
                </a:ext>
              </a:extLst>
            </p:cNvPr>
            <p:cNvCxnSpPr/>
            <p:nvPr/>
          </p:nvCxnSpPr>
          <p:spPr bwMode="auto">
            <a:xfrm flipH="1">
              <a:off x="3848002" y="4854941"/>
              <a:ext cx="10752" cy="568623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40">
              <a:extLst>
                <a:ext uri="{FF2B5EF4-FFF2-40B4-BE49-F238E27FC236}">
                  <a16:creationId xmlns:a16="http://schemas.microsoft.com/office/drawing/2014/main" id="{E384D616-1A9A-1353-51A7-D23133B4F0AF}"/>
                </a:ext>
              </a:extLst>
            </p:cNvPr>
            <p:cNvCxnSpPr/>
            <p:nvPr/>
          </p:nvCxnSpPr>
          <p:spPr bwMode="auto">
            <a:xfrm flipH="1">
              <a:off x="1239192" y="3706354"/>
              <a:ext cx="11014" cy="582501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组合 10">
              <a:extLst>
                <a:ext uri="{FF2B5EF4-FFF2-40B4-BE49-F238E27FC236}">
                  <a16:creationId xmlns:a16="http://schemas.microsoft.com/office/drawing/2014/main" id="{C070D072-87A6-BF62-6794-1A0810B2D1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0460" y="1734698"/>
              <a:ext cx="507975" cy="571798"/>
              <a:chOff x="7273132" y="3742343"/>
              <a:chExt cx="970755" cy="874107"/>
            </a:xfrm>
          </p:grpSpPr>
          <p:cxnSp>
            <p:nvCxnSpPr>
              <p:cNvPr id="20" name="直接连接符 42">
                <a:extLst>
                  <a:ext uri="{FF2B5EF4-FFF2-40B4-BE49-F238E27FC236}">
                    <a16:creationId xmlns:a16="http://schemas.microsoft.com/office/drawing/2014/main" id="{F8FFAD9D-5B5B-0680-84E6-7FFC2C4ECBF7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43">
                <a:extLst>
                  <a:ext uri="{FF2B5EF4-FFF2-40B4-BE49-F238E27FC236}">
                    <a16:creationId xmlns:a16="http://schemas.microsoft.com/office/drawing/2014/main" id="{DD98B7A0-ED05-109E-9972-E46B81FAA741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文本框 2">
            <a:extLst>
              <a:ext uri="{FF2B5EF4-FFF2-40B4-BE49-F238E27FC236}">
                <a16:creationId xmlns:a16="http://schemas.microsoft.com/office/drawing/2014/main" id="{716469BC-F90C-D482-BDB1-088E2F7EC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3693" y="3071486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FBDCFF4-B812-24B0-9A82-9BBAEC70542E}"/>
              </a:ext>
            </a:extLst>
          </p:cNvPr>
          <p:cNvGrpSpPr/>
          <p:nvPr/>
        </p:nvGrpSpPr>
        <p:grpSpPr>
          <a:xfrm>
            <a:off x="1935214" y="1683878"/>
            <a:ext cx="2928737" cy="3069626"/>
            <a:chOff x="1935214" y="1683878"/>
            <a:chExt cx="2928737" cy="3069626"/>
          </a:xfrm>
        </p:grpSpPr>
        <p:cxnSp>
          <p:nvCxnSpPr>
            <p:cNvPr id="26" name="直接连接符 45">
              <a:extLst>
                <a:ext uri="{FF2B5EF4-FFF2-40B4-BE49-F238E27FC236}">
                  <a16:creationId xmlns:a16="http://schemas.microsoft.com/office/drawing/2014/main" id="{3D7C675D-45A6-2942-5ADC-62846F2143EE}"/>
                </a:ext>
              </a:extLst>
            </p:cNvPr>
            <p:cNvCxnSpPr/>
            <p:nvPr/>
          </p:nvCxnSpPr>
          <p:spPr bwMode="auto">
            <a:xfrm flipH="1">
              <a:off x="3836988" y="4186782"/>
              <a:ext cx="11014" cy="566722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47">
              <a:extLst>
                <a:ext uri="{FF2B5EF4-FFF2-40B4-BE49-F238E27FC236}">
                  <a16:creationId xmlns:a16="http://schemas.microsoft.com/office/drawing/2014/main" id="{329AD480-4C3A-65FA-8E94-2F10544ADAC0}"/>
                </a:ext>
              </a:extLst>
            </p:cNvPr>
            <p:cNvCxnSpPr/>
            <p:nvPr/>
          </p:nvCxnSpPr>
          <p:spPr bwMode="auto">
            <a:xfrm flipH="1">
              <a:off x="2116138" y="3675395"/>
              <a:ext cx="11014" cy="566722"/>
            </a:xfrm>
            <a:prstGeom prst="line">
              <a:avLst/>
            </a:prstGeom>
            <a:ln w="571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组合 10">
              <a:extLst>
                <a:ext uri="{FF2B5EF4-FFF2-40B4-BE49-F238E27FC236}">
                  <a16:creationId xmlns:a16="http://schemas.microsoft.com/office/drawing/2014/main" id="{BD22F33C-FD86-EF39-6220-AC85FD5385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5214" y="2497633"/>
              <a:ext cx="507975" cy="571798"/>
              <a:chOff x="7273132" y="3742343"/>
              <a:chExt cx="970755" cy="874107"/>
            </a:xfrm>
          </p:grpSpPr>
          <p:cxnSp>
            <p:nvCxnSpPr>
              <p:cNvPr id="32" name="直接连接符 49">
                <a:extLst>
                  <a:ext uri="{FF2B5EF4-FFF2-40B4-BE49-F238E27FC236}">
                    <a16:creationId xmlns:a16="http://schemas.microsoft.com/office/drawing/2014/main" id="{0FB478FF-8AC6-4E93-F4BD-758141674C9A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50">
                <a:extLst>
                  <a:ext uri="{FF2B5EF4-FFF2-40B4-BE49-F238E27FC236}">
                    <a16:creationId xmlns:a16="http://schemas.microsoft.com/office/drawing/2014/main" id="{45788CC3-AAEE-631B-D3BC-E2F0D6DE06FB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组合 10">
              <a:extLst>
                <a:ext uri="{FF2B5EF4-FFF2-40B4-BE49-F238E27FC236}">
                  <a16:creationId xmlns:a16="http://schemas.microsoft.com/office/drawing/2014/main" id="{26F8C8E7-E225-FEF3-4A42-50836B5372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5976" y="1683878"/>
              <a:ext cx="507975" cy="571798"/>
              <a:chOff x="7273132" y="3742343"/>
              <a:chExt cx="970755" cy="874107"/>
            </a:xfrm>
          </p:grpSpPr>
          <p:cxnSp>
            <p:nvCxnSpPr>
              <p:cNvPr id="30" name="直接连接符 52">
                <a:extLst>
                  <a:ext uri="{FF2B5EF4-FFF2-40B4-BE49-F238E27FC236}">
                    <a16:creationId xmlns:a16="http://schemas.microsoft.com/office/drawing/2014/main" id="{8B963945-9AC8-F6CB-BBFD-D8A16DA25EB5}"/>
                  </a:ext>
                </a:extLst>
              </p:cNvPr>
              <p:cNvCxnSpPr/>
              <p:nvPr/>
            </p:nvCxnSpPr>
            <p:spPr>
              <a:xfrm>
                <a:off x="7273132" y="3753456"/>
                <a:ext cx="932227" cy="828656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53">
                <a:extLst>
                  <a:ext uri="{FF2B5EF4-FFF2-40B4-BE49-F238E27FC236}">
                    <a16:creationId xmlns:a16="http://schemas.microsoft.com/office/drawing/2014/main" id="{ADFA4943-E192-8B6C-9B0D-2761B9D2D75A}"/>
                  </a:ext>
                </a:extLst>
              </p:cNvPr>
              <p:cNvCxnSpPr/>
              <p:nvPr/>
            </p:nvCxnSpPr>
            <p:spPr>
              <a:xfrm flipV="1">
                <a:off x="7314423" y="3742343"/>
                <a:ext cx="929051" cy="87469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A9059C34-40C9-8648-4404-54E7BD68D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45536"/>
              </p:ext>
            </p:extLst>
          </p:nvPr>
        </p:nvGraphicFramePr>
        <p:xfrm>
          <a:off x="5983598" y="1394529"/>
          <a:ext cx="227161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 Box 19">
            <a:extLst>
              <a:ext uri="{FF2B5EF4-FFF2-40B4-BE49-F238E27FC236}">
                <a16:creationId xmlns:a16="http://schemas.microsoft.com/office/drawing/2014/main" id="{B96D158C-924D-F801-5526-181FEF284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737" y="4595384"/>
            <a:ext cx="3584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ea typeface="楷体_GB2312" pitchFamily="49" charset="-122"/>
              </a:rPr>
              <a:t>L =  A 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</a:t>
            </a:r>
            <a:r>
              <a:rPr kumimoji="1" lang="en-US" altLang="zh-CN" sz="2400" dirty="0">
                <a:ea typeface="楷体_GB2312" pitchFamily="49" charset="-122"/>
              </a:rPr>
              <a:t> B = A B + A B</a:t>
            </a:r>
          </a:p>
        </p:txBody>
      </p:sp>
      <p:sp>
        <p:nvSpPr>
          <p:cNvPr id="36" name="Line 20">
            <a:extLst>
              <a:ext uri="{FF2B5EF4-FFF2-40B4-BE49-F238E27FC236}">
                <a16:creationId xmlns:a16="http://schemas.microsoft.com/office/drawing/2014/main" id="{E272BB57-8C74-06C1-F8FE-F4C7C4695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1552" y="4689140"/>
            <a:ext cx="2381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" name="Line 21">
            <a:extLst>
              <a:ext uri="{FF2B5EF4-FFF2-40B4-BE49-F238E27FC236}">
                <a16:creationId xmlns:a16="http://schemas.microsoft.com/office/drawing/2014/main" id="{AE82ECC2-9549-E74B-E7E2-443EEB9BB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564" y="4689140"/>
            <a:ext cx="242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22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  <p:bldP spid="35" grpId="0"/>
      <p:bldP spid="36" grpId="0" animBg="1"/>
      <p:bldP spid="3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CF1D9-D52F-2D75-FE15-8E8318925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</a:t>
            </a:r>
            <a:r>
              <a:rPr lang="en-US" altLang="zh-CN" dirty="0"/>
              <a:t>CMOS</a:t>
            </a:r>
            <a:r>
              <a:rPr lang="zh-CN" altLang="en-US" dirty="0"/>
              <a:t>逻辑门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3F27EB-AEB3-0E94-D11C-E88E870A1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分析电路逻辑功能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065209-6171-BD4B-090C-3A369D54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008900-B469-55DC-C0AD-6BF3895EF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19</a:t>
            </a:fld>
            <a:r>
              <a:rPr lang="en-US" altLang="zh-CN" dirty="0"/>
              <a:t>/35</a:t>
            </a:r>
            <a:endParaRPr lang="en-US" dirty="0"/>
          </a:p>
        </p:txBody>
      </p:sp>
      <p:pic>
        <p:nvPicPr>
          <p:cNvPr id="6" name="Picture 4" descr="未命名">
            <a:extLst>
              <a:ext uri="{FF2B5EF4-FFF2-40B4-BE49-F238E27FC236}">
                <a16:creationId xmlns:a16="http://schemas.microsoft.com/office/drawing/2014/main" id="{EA07F18F-05C3-ECE9-DBFF-668EBA45F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550" y="1449388"/>
            <a:ext cx="5689600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EC8A2207-983A-3F67-1927-371EDC4D6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0538" y="1952625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i="1"/>
              <a:t>C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4B25739B-F8EB-8329-F5B3-39A0739A2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0538" y="286702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i="1"/>
              <a:t>D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818A6DA9-2B29-EB4F-F29B-89174B3C9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0388" y="3932238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i="1"/>
              <a:t>E</a:t>
            </a:r>
          </a:p>
        </p:txBody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EB6C7437-89C3-43AF-3D7D-45CBAF09EE29}"/>
              </a:ext>
            </a:extLst>
          </p:cNvPr>
          <p:cNvGrpSpPr>
            <a:grpSpLocks/>
          </p:cNvGrpSpPr>
          <p:nvPr/>
        </p:nvGrpSpPr>
        <p:grpSpPr bwMode="auto">
          <a:xfrm>
            <a:off x="509588" y="3752850"/>
            <a:ext cx="3746500" cy="2428875"/>
            <a:chOff x="272" y="2426"/>
            <a:chExt cx="2360" cy="1530"/>
          </a:xfrm>
        </p:grpSpPr>
        <p:pic>
          <p:nvPicPr>
            <p:cNvPr id="11" name="Picture 9" descr="未命名2">
              <a:extLst>
                <a:ext uri="{FF2B5EF4-FFF2-40B4-BE49-F238E27FC236}">
                  <a16:creationId xmlns:a16="http://schemas.microsoft.com/office/drawing/2014/main" id="{30EB3602-FFFC-3887-71CE-68AC1B1042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" y="2426"/>
              <a:ext cx="2360" cy="1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0A0E53EB-BF1D-7381-4CA3-8F2D251AF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2500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i="1"/>
                <a:t>C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8065255C-7D0B-5487-B9CC-A8AC2B7F2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5" y="3271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i="1"/>
                <a:t>D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AB145A6B-C4D1-A566-7C14-647719099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2704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i="1"/>
                <a:t>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D29F67A-7418-95D2-6E3F-5DCF376A6953}"/>
                  </a:ext>
                </a:extLst>
              </p:cNvPr>
              <p:cNvSpPr txBox="1"/>
              <p:nvPr/>
            </p:nvSpPr>
            <p:spPr>
              <a:xfrm>
                <a:off x="4129206" y="5444677"/>
                <a:ext cx="4557594" cy="349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D29F67A-7418-95D2-6E3F-5DCF376A6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206" y="5444677"/>
                <a:ext cx="4557594" cy="349455"/>
              </a:xfrm>
              <a:prstGeom prst="rect">
                <a:avLst/>
              </a:prstGeom>
              <a:blipFill>
                <a:blip r:embed="rId5"/>
                <a:stretch>
                  <a:fillRect l="-278" r="-556"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 16">
            <a:extLst>
              <a:ext uri="{FF2B5EF4-FFF2-40B4-BE49-F238E27FC236}">
                <a16:creationId xmlns:a16="http://schemas.microsoft.com/office/drawing/2014/main" id="{4B363EA1-C6EB-5FF7-5E44-E010D566736F}"/>
              </a:ext>
            </a:extLst>
          </p:cNvPr>
          <p:cNvSpPr/>
          <p:nvPr/>
        </p:nvSpPr>
        <p:spPr>
          <a:xfrm>
            <a:off x="6264188" y="3248980"/>
            <a:ext cx="81723" cy="817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976DE33-66A4-9331-55EF-A79EB1F84BD9}"/>
              </a:ext>
            </a:extLst>
          </p:cNvPr>
          <p:cNvSpPr/>
          <p:nvPr/>
        </p:nvSpPr>
        <p:spPr>
          <a:xfrm>
            <a:off x="7298589" y="3923341"/>
            <a:ext cx="81723" cy="817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85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7D8FF-8D93-D0CA-3211-FF0F6FC9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</a:t>
            </a:r>
            <a:r>
              <a:rPr lang="en-US" altLang="zh-CN" dirty="0"/>
              <a:t>CMOS</a:t>
            </a:r>
            <a:r>
              <a:rPr lang="zh-CN" altLang="en-US" dirty="0"/>
              <a:t>逻辑门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775151-C4B7-290C-8478-1302AB20B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分析电路逻辑功能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21E311-07B7-38F7-78D9-BF68B8E42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01DC55-C17C-BC24-BF7C-3E5370BB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20</a:t>
            </a:fld>
            <a:r>
              <a:rPr lang="en-US" altLang="zh-CN" dirty="0"/>
              <a:t>/35</a:t>
            </a:r>
            <a:endParaRPr lang="en-US" dirty="0"/>
          </a:p>
        </p:txBody>
      </p:sp>
      <p:pic>
        <p:nvPicPr>
          <p:cNvPr id="6" name="Bild 22" descr="Macintosh HD:Users:jingyuancheng:Desktop:Screen Shot 2020-01-04 at 15.47.12.png">
            <a:extLst>
              <a:ext uri="{FF2B5EF4-FFF2-40B4-BE49-F238E27FC236}">
                <a16:creationId xmlns:a16="http://schemas.microsoft.com/office/drawing/2014/main" id="{173241B6-CB92-4DDA-C459-B7E623B52F2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95" y="1980458"/>
            <a:ext cx="6375636" cy="4291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C22E12-D8F6-E70E-84DA-12B9043DEA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682" y="1161309"/>
            <a:ext cx="25273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3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62B8C-F753-37F8-3469-C7D4D258F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</a:t>
            </a:r>
            <a:r>
              <a:rPr lang="zh-CN" altLang="en-US" dirty="0"/>
              <a:t>漏极开路门 </a:t>
            </a:r>
            <a:r>
              <a:rPr lang="en-US" altLang="zh-CN" dirty="0"/>
              <a:t>(1)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A5616C-98C1-0AE0-9388-2E7E3A9FA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4935220" cy="5947119"/>
          </a:xfrm>
        </p:spPr>
        <p:txBody>
          <a:bodyPr/>
          <a:lstStyle/>
          <a:p>
            <a:r>
              <a:rPr lang="zh-CN" altLang="en-US" dirty="0"/>
              <a:t>简称</a:t>
            </a:r>
            <a:r>
              <a:rPr lang="en-US" altLang="zh-CN" dirty="0"/>
              <a:t>OD</a:t>
            </a:r>
            <a:r>
              <a:rPr lang="zh-CN" altLang="en-US" dirty="0"/>
              <a:t>门</a:t>
            </a:r>
          </a:p>
          <a:p>
            <a:pPr lvl="1"/>
            <a:r>
              <a:rPr lang="en-US" altLang="zh-CN" dirty="0"/>
              <a:t>Open Drain</a:t>
            </a:r>
            <a:endParaRPr lang="zh-CN" altLang="en-US" dirty="0"/>
          </a:p>
          <a:p>
            <a:r>
              <a:rPr lang="zh-CN" altLang="en-US" dirty="0"/>
              <a:t>可以实现线与功能</a:t>
            </a:r>
          </a:p>
          <a:p>
            <a:pPr lvl="1" algn="just"/>
            <a:r>
              <a:rPr lang="zh-CN" altLang="en-US" sz="2000" dirty="0"/>
              <a:t>将多个</a:t>
            </a:r>
            <a:r>
              <a:rPr lang="en-US" altLang="zh-CN" sz="2000" dirty="0"/>
              <a:t>OD</a:t>
            </a:r>
            <a:r>
              <a:rPr lang="zh-CN" altLang="en-US" sz="2000" dirty="0"/>
              <a:t>门的输出直接连接在一起，实现所有输出的与运算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9444FE-1CDF-A1F9-AA86-C58FBFD6B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AFD072-06A0-B5CE-008F-A7BAB59B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21</a:t>
            </a:fld>
            <a:r>
              <a:rPr lang="en-US" altLang="zh-CN" dirty="0"/>
              <a:t>/35</a:t>
            </a:r>
            <a:endParaRPr lang="en-US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A99EB1FE-0F85-F26D-7490-CE0F9F56EF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96357"/>
              </p:ext>
            </p:extLst>
          </p:nvPr>
        </p:nvGraphicFramePr>
        <p:xfrm>
          <a:off x="5229785" y="1207661"/>
          <a:ext cx="3729038" cy="461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044848" imgH="2514980" progId="Word.Picture.8">
                  <p:embed/>
                </p:oleObj>
              </mc:Choice>
              <mc:Fallback>
                <p:oleObj name="图片" r:id="rId2" imgW="2044848" imgH="2514980" progId="Word.Picture.8">
                  <p:embed/>
                  <p:pic>
                    <p:nvPicPr>
                      <p:cNvPr id="66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-1898"/>
                      <a:stretch>
                        <a:fillRect/>
                      </a:stretch>
                    </p:blipFill>
                    <p:spPr bwMode="auto">
                      <a:xfrm>
                        <a:off x="5229785" y="1207661"/>
                        <a:ext cx="3729038" cy="461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3">
            <a:extLst>
              <a:ext uri="{FF2B5EF4-FFF2-40B4-BE49-F238E27FC236}">
                <a16:creationId xmlns:a16="http://schemas.microsoft.com/office/drawing/2014/main" id="{624FC91F-6F94-E285-E306-288EACF98911}"/>
              </a:ext>
            </a:extLst>
          </p:cNvPr>
          <p:cNvGrpSpPr>
            <a:grpSpLocks/>
          </p:cNvGrpSpPr>
          <p:nvPr/>
        </p:nvGrpSpPr>
        <p:grpSpPr bwMode="auto">
          <a:xfrm>
            <a:off x="8938185" y="2468136"/>
            <a:ext cx="396875" cy="2160588"/>
            <a:chOff x="5012" y="1752"/>
            <a:chExt cx="250" cy="1361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22C1EE97-525E-4633-90D1-BCC6AAADC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2" y="1752"/>
              <a:ext cx="0" cy="1361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63E69050-3DA8-D15E-FCE6-69C136299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2" y="2432"/>
              <a:ext cx="25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" name="Object 22">
              <a:extLst>
                <a:ext uri="{FF2B5EF4-FFF2-40B4-BE49-F238E27FC236}">
                  <a16:creationId xmlns:a16="http://schemas.microsoft.com/office/drawing/2014/main" id="{2E23E393-0C40-23AE-0EF8-897334D4B2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0" y="2183"/>
            <a:ext cx="16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9579" imgH="164957" progId="Equation.3">
                    <p:embed/>
                  </p:oleObj>
                </mc:Choice>
                <mc:Fallback>
                  <p:oleObj name="公式" r:id="rId4" imgW="139579" imgH="164957" progId="Equation.3">
                    <p:embed/>
                    <p:pic>
                      <p:nvPicPr>
                        <p:cNvPr id="31773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0" y="2183"/>
                          <a:ext cx="168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8">
            <a:extLst>
              <a:ext uri="{FF2B5EF4-FFF2-40B4-BE49-F238E27FC236}">
                <a16:creationId xmlns:a16="http://schemas.microsoft.com/office/drawing/2014/main" id="{59ACA039-5FBA-13C8-C4C9-DBCA15BF1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898" y="2517349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CC3300"/>
                </a:solidFill>
              </a:rPr>
              <a:t>1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57C88EA8-7158-131B-E569-2ADFF0D37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898" y="470016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CC3300"/>
                </a:solidFill>
              </a:rPr>
              <a:t>0</a:t>
            </a: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3128565E-2065-7398-FCD8-53594CABF584}"/>
              </a:ext>
            </a:extLst>
          </p:cNvPr>
          <p:cNvGrpSpPr>
            <a:grpSpLocks/>
          </p:cNvGrpSpPr>
          <p:nvPr/>
        </p:nvGrpSpPr>
        <p:grpSpPr bwMode="auto">
          <a:xfrm>
            <a:off x="8938185" y="1639461"/>
            <a:ext cx="504825" cy="3636963"/>
            <a:chOff x="13468" y="8797"/>
            <a:chExt cx="571" cy="3118"/>
          </a:xfrm>
        </p:grpSpPr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D8B1CDCD-876B-A80B-E56C-648A1E87D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18" y="8797"/>
              <a:ext cx="0" cy="47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Arc 12">
              <a:extLst>
                <a:ext uri="{FF2B5EF4-FFF2-40B4-BE49-F238E27FC236}">
                  <a16:creationId xmlns:a16="http://schemas.microsoft.com/office/drawing/2014/main" id="{3D12BE2B-F479-07D0-AF09-226BCD964FB8}"/>
                </a:ext>
              </a:extLst>
            </p:cNvPr>
            <p:cNvSpPr>
              <a:spLocks/>
            </p:cNvSpPr>
            <p:nvPr/>
          </p:nvSpPr>
          <p:spPr bwMode="auto">
            <a:xfrm rot="-10588670">
              <a:off x="13515" y="9243"/>
              <a:ext cx="154" cy="122"/>
            </a:xfrm>
            <a:custGeom>
              <a:avLst/>
              <a:gdLst>
                <a:gd name="T0" fmla="*/ 0 w 21600"/>
                <a:gd name="T1" fmla="*/ 0 h 19594"/>
                <a:gd name="T2" fmla="*/ 0 w 21600"/>
                <a:gd name="T3" fmla="*/ 0 h 19594"/>
                <a:gd name="T4" fmla="*/ 0 w 21600"/>
                <a:gd name="T5" fmla="*/ 0 h 1959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594"/>
                <a:gd name="T11" fmla="*/ 21600 w 21600"/>
                <a:gd name="T12" fmla="*/ 19594 h 195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594" fill="none" extrusionOk="0">
                  <a:moveTo>
                    <a:pt x="9090" y="-1"/>
                  </a:moveTo>
                  <a:cubicBezTo>
                    <a:pt x="16718" y="3538"/>
                    <a:pt x="21600" y="11184"/>
                    <a:pt x="21600" y="19594"/>
                  </a:cubicBezTo>
                </a:path>
                <a:path w="21600" h="19594" stroke="0" extrusionOk="0">
                  <a:moveTo>
                    <a:pt x="9090" y="-1"/>
                  </a:moveTo>
                  <a:cubicBezTo>
                    <a:pt x="16718" y="3538"/>
                    <a:pt x="21600" y="11184"/>
                    <a:pt x="21600" y="19594"/>
                  </a:cubicBezTo>
                  <a:lnTo>
                    <a:pt x="0" y="19594"/>
                  </a:lnTo>
                  <a:lnTo>
                    <a:pt x="9090" y="-1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38E1842B-7D58-ED7B-892A-988AA5614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95" y="11579"/>
              <a:ext cx="0" cy="25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CC76D1C5-1E2E-BBB8-946C-48DDD12DC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77" y="11488"/>
              <a:ext cx="32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AutoShape 15">
              <a:extLst>
                <a:ext uri="{FF2B5EF4-FFF2-40B4-BE49-F238E27FC236}">
                  <a16:creationId xmlns:a16="http://schemas.microsoft.com/office/drawing/2014/main" id="{BC3E45AC-F338-15F9-1699-7CA09109038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3468" y="11796"/>
              <a:ext cx="51" cy="119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38100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8EE56AAE-F53C-E56D-6E3D-2E8852E4D9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39" y="9498"/>
              <a:ext cx="0" cy="184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9087E9FB-B7FD-C730-4427-8B4D43971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03" y="9372"/>
              <a:ext cx="32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Arc 18">
              <a:extLst>
                <a:ext uri="{FF2B5EF4-FFF2-40B4-BE49-F238E27FC236}">
                  <a16:creationId xmlns:a16="http://schemas.microsoft.com/office/drawing/2014/main" id="{4B93BF91-C748-250B-BD8A-3DAF5411E4A9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13892" y="9371"/>
              <a:ext cx="149" cy="1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Arc 19">
              <a:extLst>
                <a:ext uri="{FF2B5EF4-FFF2-40B4-BE49-F238E27FC236}">
                  <a16:creationId xmlns:a16="http://schemas.microsoft.com/office/drawing/2014/main" id="{2C959E0F-60D6-DC1C-A07F-8A9840904920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13888" y="11344"/>
              <a:ext cx="149" cy="1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Arc 20">
              <a:extLst>
                <a:ext uri="{FF2B5EF4-FFF2-40B4-BE49-F238E27FC236}">
                  <a16:creationId xmlns:a16="http://schemas.microsoft.com/office/drawing/2014/main" id="{E215C392-ED36-9807-4AEC-6D333B3EF2E8}"/>
                </a:ext>
              </a:extLst>
            </p:cNvPr>
            <p:cNvSpPr>
              <a:spLocks/>
            </p:cNvSpPr>
            <p:nvPr/>
          </p:nvSpPr>
          <p:spPr bwMode="auto">
            <a:xfrm rot="10588670" flipV="1">
              <a:off x="13489" y="11489"/>
              <a:ext cx="154" cy="122"/>
            </a:xfrm>
            <a:custGeom>
              <a:avLst/>
              <a:gdLst>
                <a:gd name="T0" fmla="*/ 0 w 21600"/>
                <a:gd name="T1" fmla="*/ 0 h 19594"/>
                <a:gd name="T2" fmla="*/ 0 w 21600"/>
                <a:gd name="T3" fmla="*/ 0 h 19594"/>
                <a:gd name="T4" fmla="*/ 0 w 21600"/>
                <a:gd name="T5" fmla="*/ 0 h 1959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594"/>
                <a:gd name="T11" fmla="*/ 21600 w 21600"/>
                <a:gd name="T12" fmla="*/ 19594 h 195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594" fill="none" extrusionOk="0">
                  <a:moveTo>
                    <a:pt x="9090" y="-1"/>
                  </a:moveTo>
                  <a:cubicBezTo>
                    <a:pt x="16718" y="3538"/>
                    <a:pt x="21600" y="11184"/>
                    <a:pt x="21600" y="19594"/>
                  </a:cubicBezTo>
                </a:path>
                <a:path w="21600" h="19594" stroke="0" extrusionOk="0">
                  <a:moveTo>
                    <a:pt x="9090" y="-1"/>
                  </a:moveTo>
                  <a:cubicBezTo>
                    <a:pt x="16718" y="3538"/>
                    <a:pt x="21600" y="11184"/>
                    <a:pt x="21600" y="19594"/>
                  </a:cubicBezTo>
                  <a:lnTo>
                    <a:pt x="0" y="19594"/>
                  </a:lnTo>
                  <a:lnTo>
                    <a:pt x="9090" y="-1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6">
            <a:extLst>
              <a:ext uri="{FF2B5EF4-FFF2-40B4-BE49-F238E27FC236}">
                <a16:creationId xmlns:a16="http://schemas.microsoft.com/office/drawing/2014/main" id="{9B7ACC50-7CED-3B5D-F460-554D5976DB35}"/>
              </a:ext>
            </a:extLst>
          </p:cNvPr>
          <p:cNvGrpSpPr>
            <a:grpSpLocks/>
          </p:cNvGrpSpPr>
          <p:nvPr/>
        </p:nvGrpSpPr>
        <p:grpSpPr bwMode="auto">
          <a:xfrm>
            <a:off x="8685773" y="2971374"/>
            <a:ext cx="576262" cy="1081087"/>
            <a:chOff x="4853" y="2069"/>
            <a:chExt cx="363" cy="681"/>
          </a:xfrm>
        </p:grpSpPr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A1A8A3BA-8F11-9BBD-E9E9-96359B3E1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53" y="2069"/>
              <a:ext cx="340" cy="681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68FBC7E7-C7BB-0006-C9AD-160269F8E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3" y="2183"/>
              <a:ext cx="363" cy="567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" name="Text Box 21">
            <a:extLst>
              <a:ext uri="{FF2B5EF4-FFF2-40B4-BE49-F238E27FC236}">
                <a16:creationId xmlns:a16="http://schemas.microsoft.com/office/drawing/2014/main" id="{9B3DD9B9-DF88-BB52-4124-5E4E29C4D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0968" y="4647524"/>
            <a:ext cx="22320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普通的逻辑门不具有该功能</a:t>
            </a:r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81A9362D-72D6-BC24-3A54-6CA4B4ED5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952" y="4047436"/>
            <a:ext cx="31149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可能导致器件的损毁</a:t>
            </a:r>
            <a:r>
              <a:rPr kumimoji="1" lang="en-US" altLang="zh-CN" sz="24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5716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7" grpId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A415C-2640-DD5B-14C2-806256DAF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</a:t>
            </a:r>
            <a:r>
              <a:rPr lang="zh-CN" altLang="en-US" dirty="0"/>
              <a:t>漏极开路门 </a:t>
            </a:r>
            <a:r>
              <a:rPr lang="en-US" altLang="zh-CN" dirty="0"/>
              <a:t>(2)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3587E0-E822-EB96-58CA-BAB215CF1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516185" cy="59471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>
                <a:cs typeface="Times New Roman" panose="02020603050405020304" pitchFamily="18" charset="0"/>
              </a:rPr>
              <a:t>必须外</a:t>
            </a:r>
            <a:r>
              <a:rPr lang="zh-CN" altLang="en-US" dirty="0">
                <a:cs typeface="Times New Roman" panose="02020603050405020304" pitchFamily="18" charset="0"/>
              </a:rPr>
              <a:t>接</a:t>
            </a:r>
            <a:r>
              <a:rPr lang="zh-CN" altLang="zh-CN" dirty="0">
                <a:cs typeface="Times New Roman" panose="02020603050405020304" pitchFamily="18" charset="0"/>
              </a:rPr>
              <a:t>电源和电阻；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>
                <a:cs typeface="Times New Roman" panose="02020603050405020304" pitchFamily="18" charset="0"/>
              </a:rPr>
              <a:t>多路连接，相当于单路连接电源和电阻的值直接输出</a:t>
            </a:r>
            <a:r>
              <a:rPr lang="zh-CN" altLang="en-US" dirty="0">
                <a:cs typeface="Times New Roman" panose="02020603050405020304" pitchFamily="18" charset="0"/>
              </a:rPr>
              <a:t>然后相</a:t>
            </a:r>
            <a:r>
              <a:rPr lang="zh-CN" altLang="zh-CN" dirty="0">
                <a:cs typeface="Times New Roman" panose="02020603050405020304" pitchFamily="18" charset="0"/>
              </a:rPr>
              <a:t>与，称为“线与</a:t>
            </a:r>
            <a:r>
              <a:rPr lang="en-US" altLang="zh-CN" dirty="0">
                <a:cs typeface="Times New Roman" panose="02020603050405020304" pitchFamily="18" charset="0"/>
              </a:rPr>
              <a:t>”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48D5C3-324A-3DCF-68A8-A02F8314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56A18F-2211-5E22-5561-7D37E7D1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22</a:t>
            </a:fld>
            <a:r>
              <a:rPr lang="en-US" altLang="zh-CN" dirty="0"/>
              <a:t>/35</a:t>
            </a:r>
            <a:endParaRPr lang="en-US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B05CE654-7646-CEBE-C48A-2130B82397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9000"/>
              </p:ext>
            </p:extLst>
          </p:nvPr>
        </p:nvGraphicFramePr>
        <p:xfrm>
          <a:off x="1580590" y="2463827"/>
          <a:ext cx="2235200" cy="224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914257" imgH="876191" progId="Word.Picture.8">
                  <p:embed/>
                </p:oleObj>
              </mc:Choice>
              <mc:Fallback>
                <p:oleObj name="图片" r:id="rId3" imgW="914257" imgH="876191" progId="Word.Picture.8">
                  <p:embed/>
                  <p:pic>
                    <p:nvPicPr>
                      <p:cNvPr id="327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-1897"/>
                      <a:stretch>
                        <a:fillRect/>
                      </a:stretch>
                    </p:blipFill>
                    <p:spPr bwMode="auto">
                      <a:xfrm>
                        <a:off x="1580590" y="2463827"/>
                        <a:ext cx="2235200" cy="224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5">
            <a:extLst>
              <a:ext uri="{FF2B5EF4-FFF2-40B4-BE49-F238E27FC236}">
                <a16:creationId xmlns:a16="http://schemas.microsoft.com/office/drawing/2014/main" id="{CE10841E-033B-5E02-C532-02060D70BC5C}"/>
              </a:ext>
            </a:extLst>
          </p:cNvPr>
          <p:cNvGrpSpPr>
            <a:grpSpLocks/>
          </p:cNvGrpSpPr>
          <p:nvPr/>
        </p:nvGrpSpPr>
        <p:grpSpPr bwMode="auto">
          <a:xfrm>
            <a:off x="1590115" y="5380065"/>
            <a:ext cx="2147888" cy="677862"/>
            <a:chOff x="2570" y="3487"/>
            <a:chExt cx="1353" cy="427"/>
          </a:xfrm>
        </p:grpSpPr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09AFC349-701F-901B-EA72-2779A72488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0" y="3487"/>
              <a:ext cx="1353" cy="427"/>
              <a:chOff x="2570" y="3487"/>
              <a:chExt cx="1353" cy="427"/>
            </a:xfrm>
          </p:grpSpPr>
          <p:sp>
            <p:nvSpPr>
              <p:cNvPr id="12" name="Text Box 7">
                <a:extLst>
                  <a:ext uri="{FF2B5EF4-FFF2-40B4-BE49-F238E27FC236}">
                    <a16:creationId xmlns:a16="http://schemas.microsoft.com/office/drawing/2014/main" id="{CEE391CB-B80B-C1F1-0B33-1F14B8E501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0" y="3487"/>
                <a:ext cx="172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A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3" name="Text Box 8">
                <a:extLst>
                  <a:ext uri="{FF2B5EF4-FFF2-40B4-BE49-F238E27FC236}">
                    <a16:creationId xmlns:a16="http://schemas.microsoft.com/office/drawing/2014/main" id="{6B15C734-11B7-2210-5022-FE5C993187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0" y="3707"/>
                <a:ext cx="171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B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4" name="Line 9">
                <a:extLst>
                  <a:ext uri="{FF2B5EF4-FFF2-40B4-BE49-F238E27FC236}">
                    <a16:creationId xmlns:a16="http://schemas.microsoft.com/office/drawing/2014/main" id="{F72BC470-1512-013E-5430-4E64CD316F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9" y="3601"/>
                <a:ext cx="25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Line 10">
                <a:extLst>
                  <a:ext uri="{FF2B5EF4-FFF2-40B4-BE49-F238E27FC236}">
                    <a16:creationId xmlns:a16="http://schemas.microsoft.com/office/drawing/2014/main" id="{F0F5F1DC-F233-5590-DE7F-28F7A32F6C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9" y="3792"/>
                <a:ext cx="25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11">
                <a:extLst>
                  <a:ext uri="{FF2B5EF4-FFF2-40B4-BE49-F238E27FC236}">
                    <a16:creationId xmlns:a16="http://schemas.microsoft.com/office/drawing/2014/main" id="{D1D3A7C5-0158-749E-10C8-6130A63BD5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2" y="3690"/>
                <a:ext cx="2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Text Box 12">
                <a:extLst>
                  <a:ext uri="{FF2B5EF4-FFF2-40B4-BE49-F238E27FC236}">
                    <a16:creationId xmlns:a16="http://schemas.microsoft.com/office/drawing/2014/main" id="{8FBED333-9257-A349-A58B-7E50BEF06C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1" y="3601"/>
                <a:ext cx="172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L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8" name="AutoShape 13">
                <a:extLst>
                  <a:ext uri="{FF2B5EF4-FFF2-40B4-BE49-F238E27FC236}">
                    <a16:creationId xmlns:a16="http://schemas.microsoft.com/office/drawing/2014/main" id="{FFF612F7-ADB5-8D9B-D692-CD9AFFBD9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" y="3498"/>
                <a:ext cx="340" cy="374"/>
              </a:xfrm>
              <a:prstGeom prst="flowChartDelay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9" name="Oval 14">
                <a:extLst>
                  <a:ext uri="{FF2B5EF4-FFF2-40B4-BE49-F238E27FC236}">
                    <a16:creationId xmlns:a16="http://schemas.microsoft.com/office/drawing/2014/main" id="{D33CA284-0527-21AB-E71F-5CA04FA0E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1" y="3645"/>
                <a:ext cx="90" cy="9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" name="Group 15">
              <a:extLst>
                <a:ext uri="{FF2B5EF4-FFF2-40B4-BE49-F238E27FC236}">
                  <a16:creationId xmlns:a16="http://schemas.microsoft.com/office/drawing/2014/main" id="{F3266A46-5935-78E9-7BB8-CCD4D17D38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3582"/>
              <a:ext cx="143" cy="154"/>
              <a:chOff x="4372" y="3759"/>
              <a:chExt cx="143" cy="154"/>
            </a:xfrm>
          </p:grpSpPr>
          <p:sp>
            <p:nvSpPr>
              <p:cNvPr id="10" name="AutoShape 16">
                <a:extLst>
                  <a:ext uri="{FF2B5EF4-FFF2-40B4-BE49-F238E27FC236}">
                    <a16:creationId xmlns:a16="http://schemas.microsoft.com/office/drawing/2014/main" id="{0ACEDC29-E062-FFD9-5D72-3204E18A5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367" y="3780"/>
                <a:ext cx="145" cy="104"/>
              </a:xfrm>
              <a:prstGeom prst="flowChartDecision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1" name="Line 17">
                <a:extLst>
                  <a:ext uri="{FF2B5EF4-FFF2-40B4-BE49-F238E27FC236}">
                    <a16:creationId xmlns:a16="http://schemas.microsoft.com/office/drawing/2014/main" id="{61D67D21-9023-9B3E-9892-1E1399F13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2" y="3913"/>
                <a:ext cx="14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0" name="Object 18">
            <a:extLst>
              <a:ext uri="{FF2B5EF4-FFF2-40B4-BE49-F238E27FC236}">
                <a16:creationId xmlns:a16="http://schemas.microsoft.com/office/drawing/2014/main" id="{B2118DE7-652E-6DC5-251A-E27EC442CA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803079"/>
              </p:ext>
            </p:extLst>
          </p:nvPr>
        </p:nvGraphicFramePr>
        <p:xfrm>
          <a:off x="4082490" y="1341465"/>
          <a:ext cx="2460625" cy="487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5" imgW="1097239" imgH="2156351" progId="Word.Picture.8">
                  <p:embed/>
                </p:oleObj>
              </mc:Choice>
              <mc:Fallback>
                <p:oleObj name="图片" r:id="rId5" imgW="1097239" imgH="2156351" progId="Word.Picture.8">
                  <p:embed/>
                  <p:pic>
                    <p:nvPicPr>
                      <p:cNvPr id="2663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-1897"/>
                      <a:stretch>
                        <a:fillRect/>
                      </a:stretch>
                    </p:blipFill>
                    <p:spPr bwMode="auto">
                      <a:xfrm>
                        <a:off x="4082490" y="1341465"/>
                        <a:ext cx="2460625" cy="487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A0CBB0AF-6E3F-95CA-0613-31818C2755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01612"/>
              </p:ext>
            </p:extLst>
          </p:nvPr>
        </p:nvGraphicFramePr>
        <p:xfrm>
          <a:off x="6883633" y="4920930"/>
          <a:ext cx="17637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46632" imgH="198229" progId="Equation.3">
                  <p:embed/>
                </p:oleObj>
              </mc:Choice>
              <mc:Fallback>
                <p:oleObj name="公式" r:id="rId7" imgW="746632" imgH="198229" progId="Equation.3">
                  <p:embed/>
                  <p:pic>
                    <p:nvPicPr>
                      <p:cNvPr id="2663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633" y="4920930"/>
                        <a:ext cx="176371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B10822C8-ADC4-2D22-0052-B905CB77C7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310884"/>
              </p:ext>
            </p:extLst>
          </p:nvPr>
        </p:nvGraphicFramePr>
        <p:xfrm>
          <a:off x="7136046" y="5692455"/>
          <a:ext cx="160178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693371" imgH="198229" progId="Equation.3">
                  <p:embed/>
                </p:oleObj>
              </mc:Choice>
              <mc:Fallback>
                <p:oleObj name="公式" r:id="rId9" imgW="693371" imgH="198229" progId="Equation.3">
                  <p:embed/>
                  <p:pic>
                    <p:nvPicPr>
                      <p:cNvPr id="2663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6046" y="5692455"/>
                        <a:ext cx="160178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6">
            <a:extLst>
              <a:ext uri="{FF2B5EF4-FFF2-40B4-BE49-F238E27FC236}">
                <a16:creationId xmlns:a16="http://schemas.microsoft.com/office/drawing/2014/main" id="{6BF4595C-7E60-F6D5-5C7F-CD9014B54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847116"/>
              </p:ext>
            </p:extLst>
          </p:nvPr>
        </p:nvGraphicFramePr>
        <p:xfrm>
          <a:off x="6779139" y="1638300"/>
          <a:ext cx="2643188" cy="305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11" imgW="1131969" imgH="1287159" progId="Word.Picture.8">
                  <p:embed/>
                </p:oleObj>
              </mc:Choice>
              <mc:Fallback>
                <p:oleObj name="图片" r:id="rId11" imgW="1131969" imgH="1287159" progId="Word.Picture.8">
                  <p:embed/>
                  <p:pic>
                    <p:nvPicPr>
                      <p:cNvPr id="2665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-1254"/>
                      <a:stretch>
                        <a:fillRect/>
                      </a:stretch>
                    </p:blipFill>
                    <p:spPr bwMode="auto">
                      <a:xfrm>
                        <a:off x="6779139" y="1638300"/>
                        <a:ext cx="2643188" cy="305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221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4962E-66C5-9960-A5A3-D0F88ED7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</a:t>
            </a:r>
            <a:r>
              <a:rPr lang="zh-CN" altLang="en-US" dirty="0"/>
              <a:t>三态门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AEC014-24C0-0F38-B40E-E42F1F58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B6A6A-6823-643B-AB4F-680B9CE3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23</a:t>
            </a:fld>
            <a:r>
              <a:rPr lang="en-US" altLang="zh-CN" dirty="0"/>
              <a:t>/35</a:t>
            </a:r>
            <a:endParaRPr lang="en-US" dirty="0"/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CAC9C7F7-856C-C6E6-2AD2-C77A51391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38837"/>
            <a:ext cx="2796995" cy="2476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15">
            <a:extLst>
              <a:ext uri="{FF2B5EF4-FFF2-40B4-BE49-F238E27FC236}">
                <a16:creationId xmlns:a16="http://schemas.microsoft.com/office/drawing/2014/main" id="{076D18DD-80C0-53DA-B6BB-ACE2C4AF5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094924"/>
              </p:ext>
            </p:extLst>
          </p:nvPr>
        </p:nvGraphicFramePr>
        <p:xfrm>
          <a:off x="6357289" y="4441032"/>
          <a:ext cx="2197100" cy="1908175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7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EN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A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Y</a:t>
                      </a:r>
                      <a:endParaRPr kumimoji="1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88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43">
            <a:extLst>
              <a:ext uri="{FF2B5EF4-FFF2-40B4-BE49-F238E27FC236}">
                <a16:creationId xmlns:a16="http://schemas.microsoft.com/office/drawing/2014/main" id="{582B6A3A-9AF6-8168-794C-BE5F02FC4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039" y="3901282"/>
            <a:ext cx="954088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zh-CN" altLang="en-US" sz="2400"/>
              <a:t>真值表</a:t>
            </a:r>
          </a:p>
        </p:txBody>
      </p:sp>
      <p:grpSp>
        <p:nvGrpSpPr>
          <p:cNvPr id="9" name="Group 40">
            <a:extLst>
              <a:ext uri="{FF2B5EF4-FFF2-40B4-BE49-F238E27FC236}">
                <a16:creationId xmlns:a16="http://schemas.microsoft.com/office/drawing/2014/main" id="{4C52B49A-244A-14A1-8E8F-55D2051EDC76}"/>
              </a:ext>
            </a:extLst>
          </p:cNvPr>
          <p:cNvGrpSpPr>
            <a:grpSpLocks/>
          </p:cNvGrpSpPr>
          <p:nvPr/>
        </p:nvGrpSpPr>
        <p:grpSpPr bwMode="auto">
          <a:xfrm>
            <a:off x="750442" y="4914709"/>
            <a:ext cx="2263775" cy="1117600"/>
            <a:chOff x="2969" y="3191"/>
            <a:chExt cx="1426" cy="704"/>
          </a:xfrm>
        </p:grpSpPr>
        <p:grpSp>
          <p:nvGrpSpPr>
            <p:cNvPr id="10" name="Group 45">
              <a:extLst>
                <a:ext uri="{FF2B5EF4-FFF2-40B4-BE49-F238E27FC236}">
                  <a16:creationId xmlns:a16="http://schemas.microsoft.com/office/drawing/2014/main" id="{610901AB-2C49-CFF8-AF40-077AA21511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9" y="3191"/>
              <a:ext cx="1426" cy="704"/>
              <a:chOff x="969" y="3250"/>
              <a:chExt cx="1426" cy="704"/>
            </a:xfrm>
          </p:grpSpPr>
          <p:sp>
            <p:nvSpPr>
              <p:cNvPr id="12" name="Line 4">
                <a:extLst>
                  <a:ext uri="{FF2B5EF4-FFF2-40B4-BE49-F238E27FC236}">
                    <a16:creationId xmlns:a16="http://schemas.microsoft.com/office/drawing/2014/main" id="{8BD3768A-C573-0564-3444-B0DA20BCF9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" y="3472"/>
                <a:ext cx="2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Text Box 5">
                <a:extLst>
                  <a:ext uri="{FF2B5EF4-FFF2-40B4-BE49-F238E27FC236}">
                    <a16:creationId xmlns:a16="http://schemas.microsoft.com/office/drawing/2014/main" id="{A976E567-2B89-B8A5-6882-8A3A5FFD2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3" y="3383"/>
                <a:ext cx="172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Y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4" name="AutoShape 7">
                <a:extLst>
                  <a:ext uri="{FF2B5EF4-FFF2-40B4-BE49-F238E27FC236}">
                    <a16:creationId xmlns:a16="http://schemas.microsoft.com/office/drawing/2014/main" id="{3F316C0F-2AF6-A18B-6B27-865D2E104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542" y="3261"/>
                <a:ext cx="431" cy="409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5" name="Text Box 8">
                <a:extLst>
                  <a:ext uri="{FF2B5EF4-FFF2-40B4-BE49-F238E27FC236}">
                    <a16:creationId xmlns:a16="http://schemas.microsoft.com/office/drawing/2014/main" id="{2F925DDA-CFA8-B90D-E019-5C823B8476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4" y="3363"/>
                <a:ext cx="172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A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6" name="Line 9">
                <a:extLst>
                  <a:ext uri="{FF2B5EF4-FFF2-40B4-BE49-F238E27FC236}">
                    <a16:creationId xmlns:a16="http://schemas.microsoft.com/office/drawing/2014/main" id="{4DDB70D2-7C38-3BBC-166B-FA7AC6449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7" y="3477"/>
                <a:ext cx="29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Line 10">
                <a:extLst>
                  <a:ext uri="{FF2B5EF4-FFF2-40B4-BE49-F238E27FC236}">
                    <a16:creationId xmlns:a16="http://schemas.microsoft.com/office/drawing/2014/main" id="{80BF423D-45ED-4171-A18C-0D741D2F5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304" y="3860"/>
                <a:ext cx="45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Text Box 11">
                <a:extLst>
                  <a:ext uri="{FF2B5EF4-FFF2-40B4-BE49-F238E27FC236}">
                    <a16:creationId xmlns:a16="http://schemas.microsoft.com/office/drawing/2014/main" id="{2ADF2555-0009-3D7D-F3EB-BE3D8A476A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9" y="3724"/>
                <a:ext cx="26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ea typeface="华康简宋" charset="-122"/>
                  </a:rPr>
                  <a:t>EN</a:t>
                </a:r>
                <a:endParaRPr lang="en-US" altLang="zh-CN" sz="3200">
                  <a:ea typeface="华康简宋" charset="-122"/>
                </a:endParaRPr>
              </a:p>
            </p:txBody>
          </p:sp>
          <p:sp>
            <p:nvSpPr>
              <p:cNvPr id="19" name="Line 12">
                <a:extLst>
                  <a:ext uri="{FF2B5EF4-FFF2-40B4-BE49-F238E27FC236}">
                    <a16:creationId xmlns:a16="http://schemas.microsoft.com/office/drawing/2014/main" id="{8F0B475A-8481-18D8-3B3E-BC436F7E0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610" y="3715"/>
                <a:ext cx="29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" name="AutoShape 39">
              <a:extLst>
                <a:ext uri="{FF2B5EF4-FFF2-40B4-BE49-F238E27FC236}">
                  <a16:creationId xmlns:a16="http://schemas.microsoft.com/office/drawing/2014/main" id="{50E87B17-B28A-740C-452C-FA50A33C36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628" y="3362"/>
              <a:ext cx="114" cy="113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0" name="Group 15">
            <a:extLst>
              <a:ext uri="{FF2B5EF4-FFF2-40B4-BE49-F238E27FC236}">
                <a16:creationId xmlns:a16="http://schemas.microsoft.com/office/drawing/2014/main" id="{C956ACEC-38EA-69B3-0688-B114B8E55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358544"/>
              </p:ext>
            </p:extLst>
          </p:nvPr>
        </p:nvGraphicFramePr>
        <p:xfrm>
          <a:off x="6357289" y="4441032"/>
          <a:ext cx="2197100" cy="1908175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7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EN</a:t>
                      </a:r>
                      <a:endParaRPr kumimoji="1" lang="zh-CN" altLang="en-US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A</a:t>
                      </a:r>
                      <a:endParaRPr kumimoji="1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Y</a:t>
                      </a:r>
                      <a:endParaRPr kumimoji="1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x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Z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88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533400" marR="0" lvl="0" indent="-5334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Picture 13">
            <a:extLst>
              <a:ext uri="{FF2B5EF4-FFF2-40B4-BE49-F238E27FC236}">
                <a16:creationId xmlns:a16="http://schemas.microsoft.com/office/drawing/2014/main" id="{F96012BC-3996-5123-B35B-30551DE16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558" y="1338837"/>
            <a:ext cx="2796995" cy="2476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13">
            <a:extLst>
              <a:ext uri="{FF2B5EF4-FFF2-40B4-BE49-F238E27FC236}">
                <a16:creationId xmlns:a16="http://schemas.microsoft.com/office/drawing/2014/main" id="{02CDFF41-CE06-8989-89B2-4F8C01B5E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589" y="1340768"/>
            <a:ext cx="2796995" cy="2476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10">
            <a:extLst>
              <a:ext uri="{FF2B5EF4-FFF2-40B4-BE49-F238E27FC236}">
                <a16:creationId xmlns:a16="http://schemas.microsoft.com/office/drawing/2014/main" id="{3481766D-70F2-7C0D-C250-8D0C9AA44EBF}"/>
              </a:ext>
            </a:extLst>
          </p:cNvPr>
          <p:cNvGrpSpPr>
            <a:grpSpLocks/>
          </p:cNvGrpSpPr>
          <p:nvPr/>
        </p:nvGrpSpPr>
        <p:grpSpPr bwMode="auto">
          <a:xfrm>
            <a:off x="7802495" y="2402244"/>
            <a:ext cx="375915" cy="427267"/>
            <a:chOff x="7273132" y="3742343"/>
            <a:chExt cx="970755" cy="874107"/>
          </a:xfrm>
        </p:grpSpPr>
        <p:cxnSp>
          <p:nvCxnSpPr>
            <p:cNvPr id="24" name="直接连接符 26">
              <a:extLst>
                <a:ext uri="{FF2B5EF4-FFF2-40B4-BE49-F238E27FC236}">
                  <a16:creationId xmlns:a16="http://schemas.microsoft.com/office/drawing/2014/main" id="{0F93DEBF-8821-38F9-BAE9-5D37D7E3246F}"/>
                </a:ext>
              </a:extLst>
            </p:cNvPr>
            <p:cNvCxnSpPr/>
            <p:nvPr/>
          </p:nvCxnSpPr>
          <p:spPr>
            <a:xfrm>
              <a:off x="7273132" y="3753456"/>
              <a:ext cx="932227" cy="82865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7">
              <a:extLst>
                <a:ext uri="{FF2B5EF4-FFF2-40B4-BE49-F238E27FC236}">
                  <a16:creationId xmlns:a16="http://schemas.microsoft.com/office/drawing/2014/main" id="{4A6A03B8-EAE8-C849-3782-0CD828FFF2A4}"/>
                </a:ext>
              </a:extLst>
            </p:cNvPr>
            <p:cNvCxnSpPr/>
            <p:nvPr/>
          </p:nvCxnSpPr>
          <p:spPr>
            <a:xfrm flipV="1">
              <a:off x="7314423" y="3742343"/>
              <a:ext cx="929051" cy="87469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ADD42D3-A2CE-BEF6-49C0-C4F17B43BEB1}"/>
              </a:ext>
            </a:extLst>
          </p:cNvPr>
          <p:cNvCxnSpPr/>
          <p:nvPr/>
        </p:nvCxnSpPr>
        <p:spPr bwMode="auto">
          <a:xfrm>
            <a:off x="2051720" y="2417140"/>
            <a:ext cx="0" cy="439746"/>
          </a:xfrm>
          <a:prstGeom prst="line">
            <a:avLst/>
          </a:prstGeom>
          <a:ln w="5715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10">
            <a:extLst>
              <a:ext uri="{FF2B5EF4-FFF2-40B4-BE49-F238E27FC236}">
                <a16:creationId xmlns:a16="http://schemas.microsoft.com/office/drawing/2014/main" id="{B5E701DF-59B1-4930-45B9-6DA3E16ABC67}"/>
              </a:ext>
            </a:extLst>
          </p:cNvPr>
          <p:cNvGrpSpPr>
            <a:grpSpLocks/>
          </p:cNvGrpSpPr>
          <p:nvPr/>
        </p:nvGrpSpPr>
        <p:grpSpPr bwMode="auto">
          <a:xfrm>
            <a:off x="1978081" y="1731732"/>
            <a:ext cx="375915" cy="427267"/>
            <a:chOff x="7273132" y="3742343"/>
            <a:chExt cx="970755" cy="874107"/>
          </a:xfrm>
        </p:grpSpPr>
        <p:cxnSp>
          <p:nvCxnSpPr>
            <p:cNvPr id="28" name="直接连接符 35">
              <a:extLst>
                <a:ext uri="{FF2B5EF4-FFF2-40B4-BE49-F238E27FC236}">
                  <a16:creationId xmlns:a16="http://schemas.microsoft.com/office/drawing/2014/main" id="{75BC9DAE-0BEA-699F-891C-78FC568E7D2B}"/>
                </a:ext>
              </a:extLst>
            </p:cNvPr>
            <p:cNvCxnSpPr/>
            <p:nvPr/>
          </p:nvCxnSpPr>
          <p:spPr>
            <a:xfrm>
              <a:off x="7273132" y="3753456"/>
              <a:ext cx="932227" cy="82865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36">
              <a:extLst>
                <a:ext uri="{FF2B5EF4-FFF2-40B4-BE49-F238E27FC236}">
                  <a16:creationId xmlns:a16="http://schemas.microsoft.com/office/drawing/2014/main" id="{08E8234B-DCA3-47F9-7506-C20D8DE0FFCF}"/>
                </a:ext>
              </a:extLst>
            </p:cNvPr>
            <p:cNvCxnSpPr/>
            <p:nvPr/>
          </p:nvCxnSpPr>
          <p:spPr>
            <a:xfrm flipV="1">
              <a:off x="7314423" y="3742343"/>
              <a:ext cx="929051" cy="87469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接连接符 37">
            <a:extLst>
              <a:ext uri="{FF2B5EF4-FFF2-40B4-BE49-F238E27FC236}">
                <a16:creationId xmlns:a16="http://schemas.microsoft.com/office/drawing/2014/main" id="{69D7698F-F7F2-22F2-A5D9-767F11026066}"/>
              </a:ext>
            </a:extLst>
          </p:cNvPr>
          <p:cNvCxnSpPr/>
          <p:nvPr/>
        </p:nvCxnSpPr>
        <p:spPr bwMode="auto">
          <a:xfrm>
            <a:off x="5005500" y="2357426"/>
            <a:ext cx="0" cy="439746"/>
          </a:xfrm>
          <a:prstGeom prst="line">
            <a:avLst/>
          </a:prstGeom>
          <a:ln w="5715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C2088AD-623E-FA9F-917B-267A7400E224}"/>
              </a:ext>
            </a:extLst>
          </p:cNvPr>
          <p:cNvSpPr txBox="1"/>
          <p:nvPr/>
        </p:nvSpPr>
        <p:spPr>
          <a:xfrm>
            <a:off x="2646071" y="184711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Z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67BC918-0E4A-6AC8-1783-26DCD7EECA66}"/>
              </a:ext>
            </a:extLst>
          </p:cNvPr>
          <p:cNvSpPr txBox="1"/>
          <p:nvPr/>
        </p:nvSpPr>
        <p:spPr>
          <a:xfrm>
            <a:off x="647564" y="30689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0C4773F-C874-0037-3E9F-E108B376C67F}"/>
              </a:ext>
            </a:extLst>
          </p:cNvPr>
          <p:cNvSpPr txBox="1"/>
          <p:nvPr/>
        </p:nvSpPr>
        <p:spPr>
          <a:xfrm>
            <a:off x="647564" y="18808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x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AEBB60D-5DA9-1C83-4C45-D1289D140C72}"/>
              </a:ext>
            </a:extLst>
          </p:cNvPr>
          <p:cNvSpPr txBox="1"/>
          <p:nvPr/>
        </p:nvSpPr>
        <p:spPr>
          <a:xfrm>
            <a:off x="1452530" y="229818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grpSp>
        <p:nvGrpSpPr>
          <p:cNvPr id="35" name="组合 10">
            <a:extLst>
              <a:ext uri="{FF2B5EF4-FFF2-40B4-BE49-F238E27FC236}">
                <a16:creationId xmlns:a16="http://schemas.microsoft.com/office/drawing/2014/main" id="{5518DFE3-E3E3-E570-C323-21CBB8827E34}"/>
              </a:ext>
            </a:extLst>
          </p:cNvPr>
          <p:cNvGrpSpPr>
            <a:grpSpLocks/>
          </p:cNvGrpSpPr>
          <p:nvPr/>
        </p:nvGrpSpPr>
        <p:grpSpPr bwMode="auto">
          <a:xfrm>
            <a:off x="1944849" y="3164924"/>
            <a:ext cx="375915" cy="427267"/>
            <a:chOff x="7273132" y="3742343"/>
            <a:chExt cx="970755" cy="874107"/>
          </a:xfrm>
        </p:grpSpPr>
        <p:cxnSp>
          <p:nvCxnSpPr>
            <p:cNvPr id="36" name="直接连接符 45">
              <a:extLst>
                <a:ext uri="{FF2B5EF4-FFF2-40B4-BE49-F238E27FC236}">
                  <a16:creationId xmlns:a16="http://schemas.microsoft.com/office/drawing/2014/main" id="{2E1DB2A3-8910-3D1A-A00A-55CA0F82CFE6}"/>
                </a:ext>
              </a:extLst>
            </p:cNvPr>
            <p:cNvCxnSpPr/>
            <p:nvPr/>
          </p:nvCxnSpPr>
          <p:spPr>
            <a:xfrm>
              <a:off x="7273132" y="3753456"/>
              <a:ext cx="932227" cy="82865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6">
              <a:extLst>
                <a:ext uri="{FF2B5EF4-FFF2-40B4-BE49-F238E27FC236}">
                  <a16:creationId xmlns:a16="http://schemas.microsoft.com/office/drawing/2014/main" id="{5DAD0F71-B953-CB2E-B8EE-E6E0AA4A96C6}"/>
                </a:ext>
              </a:extLst>
            </p:cNvPr>
            <p:cNvCxnSpPr/>
            <p:nvPr/>
          </p:nvCxnSpPr>
          <p:spPr>
            <a:xfrm flipV="1">
              <a:off x="7314423" y="3742343"/>
              <a:ext cx="929051" cy="87469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4ED26F2B-FF59-FA4D-B1D8-7A45F4EB5B82}"/>
              </a:ext>
            </a:extLst>
          </p:cNvPr>
          <p:cNvSpPr txBox="1"/>
          <p:nvPr/>
        </p:nvSpPr>
        <p:spPr>
          <a:xfrm>
            <a:off x="3656829" y="18808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14CFACA-2BEA-DB9B-88BC-56E2DDD0F390}"/>
              </a:ext>
            </a:extLst>
          </p:cNvPr>
          <p:cNvSpPr txBox="1"/>
          <p:nvPr/>
        </p:nvSpPr>
        <p:spPr>
          <a:xfrm>
            <a:off x="3645010" y="301487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5B6D474-9EF8-2846-3E96-C19C831D08E0}"/>
              </a:ext>
            </a:extLst>
          </p:cNvPr>
          <p:cNvSpPr txBox="1"/>
          <p:nvPr/>
        </p:nvSpPr>
        <p:spPr>
          <a:xfrm>
            <a:off x="6584133" y="30412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B40ADDD-8DB5-7EA6-ABA2-CE9031FAC055}"/>
              </a:ext>
            </a:extLst>
          </p:cNvPr>
          <p:cNvSpPr txBox="1"/>
          <p:nvPr/>
        </p:nvSpPr>
        <p:spPr>
          <a:xfrm>
            <a:off x="6584133" y="18808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96BDE25-E18A-642B-BE51-2C8716A94E91}"/>
              </a:ext>
            </a:extLst>
          </p:cNvPr>
          <p:cNvSpPr txBox="1"/>
          <p:nvPr/>
        </p:nvSpPr>
        <p:spPr>
          <a:xfrm>
            <a:off x="4420225" y="23113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cxnSp>
        <p:nvCxnSpPr>
          <p:cNvPr id="43" name="直接连接符 52">
            <a:extLst>
              <a:ext uri="{FF2B5EF4-FFF2-40B4-BE49-F238E27FC236}">
                <a16:creationId xmlns:a16="http://schemas.microsoft.com/office/drawing/2014/main" id="{E8325F81-E05C-8B35-D965-7D7907D9A21F}"/>
              </a:ext>
            </a:extLst>
          </p:cNvPr>
          <p:cNvCxnSpPr/>
          <p:nvPr/>
        </p:nvCxnSpPr>
        <p:spPr bwMode="auto">
          <a:xfrm>
            <a:off x="5004048" y="3073715"/>
            <a:ext cx="0" cy="439746"/>
          </a:xfrm>
          <a:prstGeom prst="line">
            <a:avLst/>
          </a:prstGeom>
          <a:ln w="5715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53">
            <a:extLst>
              <a:ext uri="{FF2B5EF4-FFF2-40B4-BE49-F238E27FC236}">
                <a16:creationId xmlns:a16="http://schemas.microsoft.com/office/drawing/2014/main" id="{444944E3-8C0C-12CB-2C4D-CC227799BC6D}"/>
              </a:ext>
            </a:extLst>
          </p:cNvPr>
          <p:cNvCxnSpPr/>
          <p:nvPr/>
        </p:nvCxnSpPr>
        <p:spPr bwMode="auto">
          <a:xfrm>
            <a:off x="7920372" y="3073715"/>
            <a:ext cx="0" cy="439746"/>
          </a:xfrm>
          <a:prstGeom prst="line">
            <a:avLst/>
          </a:prstGeom>
          <a:ln w="5715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10">
            <a:extLst>
              <a:ext uri="{FF2B5EF4-FFF2-40B4-BE49-F238E27FC236}">
                <a16:creationId xmlns:a16="http://schemas.microsoft.com/office/drawing/2014/main" id="{CB0DE267-8CFA-BE87-5397-83F24D5AF730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1736812"/>
            <a:ext cx="375915" cy="427267"/>
            <a:chOff x="7273132" y="3742343"/>
            <a:chExt cx="970755" cy="874107"/>
          </a:xfrm>
        </p:grpSpPr>
        <p:cxnSp>
          <p:nvCxnSpPr>
            <p:cNvPr id="46" name="直接连接符 55">
              <a:extLst>
                <a:ext uri="{FF2B5EF4-FFF2-40B4-BE49-F238E27FC236}">
                  <a16:creationId xmlns:a16="http://schemas.microsoft.com/office/drawing/2014/main" id="{7CB4D78E-782F-DAF1-B6A6-BBFE16EA0E53}"/>
                </a:ext>
              </a:extLst>
            </p:cNvPr>
            <p:cNvCxnSpPr/>
            <p:nvPr/>
          </p:nvCxnSpPr>
          <p:spPr>
            <a:xfrm>
              <a:off x="7273132" y="3753456"/>
              <a:ext cx="932227" cy="82865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6">
              <a:extLst>
                <a:ext uri="{FF2B5EF4-FFF2-40B4-BE49-F238E27FC236}">
                  <a16:creationId xmlns:a16="http://schemas.microsoft.com/office/drawing/2014/main" id="{9EECC325-E543-539A-45C6-8EF23AC3A170}"/>
                </a:ext>
              </a:extLst>
            </p:cNvPr>
            <p:cNvCxnSpPr/>
            <p:nvPr/>
          </p:nvCxnSpPr>
          <p:spPr>
            <a:xfrm flipV="1">
              <a:off x="7314423" y="3742343"/>
              <a:ext cx="929051" cy="87469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5EE27F3B-DD42-D7B0-F636-2FD0E7BCACA0}"/>
              </a:ext>
            </a:extLst>
          </p:cNvPr>
          <p:cNvSpPr txBox="1"/>
          <p:nvPr/>
        </p:nvSpPr>
        <p:spPr>
          <a:xfrm>
            <a:off x="5604575" y="18649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F956387-C3E5-FCDA-BA42-C59DD177E2A8}"/>
              </a:ext>
            </a:extLst>
          </p:cNvPr>
          <p:cNvSpPr txBox="1"/>
          <p:nvPr/>
        </p:nvSpPr>
        <p:spPr>
          <a:xfrm>
            <a:off x="7374083" y="229818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cxnSp>
        <p:nvCxnSpPr>
          <p:cNvPr id="50" name="直接连接符 59">
            <a:extLst>
              <a:ext uri="{FF2B5EF4-FFF2-40B4-BE49-F238E27FC236}">
                <a16:creationId xmlns:a16="http://schemas.microsoft.com/office/drawing/2014/main" id="{47E0C68D-9820-5264-2CA6-5054B37E706A}"/>
              </a:ext>
            </a:extLst>
          </p:cNvPr>
          <p:cNvCxnSpPr/>
          <p:nvPr/>
        </p:nvCxnSpPr>
        <p:spPr bwMode="auto">
          <a:xfrm>
            <a:off x="7920372" y="1719816"/>
            <a:ext cx="0" cy="439746"/>
          </a:xfrm>
          <a:prstGeom prst="line">
            <a:avLst/>
          </a:prstGeom>
          <a:ln w="5715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F044AA1B-04CE-7A06-CC6D-0ACCFF7EA20B}"/>
              </a:ext>
            </a:extLst>
          </p:cNvPr>
          <p:cNvSpPr txBox="1"/>
          <p:nvPr/>
        </p:nvSpPr>
        <p:spPr>
          <a:xfrm>
            <a:off x="8411019" y="19187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</a:rPr>
              <a:t>1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86640C9-57CB-40E0-5C38-0FE08B518DC8}"/>
              </a:ext>
            </a:extLst>
          </p:cNvPr>
          <p:cNvSpPr txBox="1"/>
          <p:nvPr/>
        </p:nvSpPr>
        <p:spPr>
          <a:xfrm>
            <a:off x="795677" y="4384847"/>
            <a:ext cx="2628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三态：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TS : three states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2914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F8A2F-4A1F-9359-5ACC-083DCA28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</a:t>
            </a:r>
            <a:r>
              <a:rPr lang="en-US" altLang="zh-CN" dirty="0"/>
              <a:t>CMOS</a:t>
            </a:r>
            <a:r>
              <a:rPr lang="zh-CN" altLang="en-US" dirty="0"/>
              <a:t>逻辑门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91CF07-1718-C6E8-48F5-2D3D43D4D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分析电路逻辑功能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75AED6-A0B9-3CAB-2B37-F0111133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7D0462-8390-0783-C07B-74E53B32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24</a:t>
            </a:fld>
            <a:r>
              <a:rPr lang="en-US" altLang="zh-CN" dirty="0"/>
              <a:t>/35</a:t>
            </a:r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1AC580F6-8ED5-0A90-FD7C-348CDAFA7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150" y="1360488"/>
            <a:ext cx="4130675" cy="467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18">
            <a:extLst>
              <a:ext uri="{FF2B5EF4-FFF2-40B4-BE49-F238E27FC236}">
                <a16:creationId xmlns:a16="http://schemas.microsoft.com/office/drawing/2014/main" id="{10643026-A903-015A-65D6-9BB82330D61D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3465513"/>
            <a:ext cx="2279650" cy="1117600"/>
            <a:chOff x="739" y="1319"/>
            <a:chExt cx="1436" cy="704"/>
          </a:xfrm>
        </p:grpSpPr>
        <p:grpSp>
          <p:nvGrpSpPr>
            <p:cNvPr id="8" name="Group 75">
              <a:extLst>
                <a:ext uri="{FF2B5EF4-FFF2-40B4-BE49-F238E27FC236}">
                  <a16:creationId xmlns:a16="http://schemas.microsoft.com/office/drawing/2014/main" id="{F51A82BE-95CD-2919-D4AD-83C45AB7C2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9" y="1319"/>
              <a:ext cx="1436" cy="704"/>
              <a:chOff x="687" y="1147"/>
              <a:chExt cx="1436" cy="704"/>
            </a:xfrm>
          </p:grpSpPr>
          <p:sp>
            <p:nvSpPr>
              <p:cNvPr id="10" name="Line 5">
                <a:extLst>
                  <a:ext uri="{FF2B5EF4-FFF2-40B4-BE49-F238E27FC236}">
                    <a16:creationId xmlns:a16="http://schemas.microsoft.com/office/drawing/2014/main" id="{C52AB41E-1E1A-B5E0-0A1F-4EAA4A2787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2" y="1369"/>
                <a:ext cx="2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Text Box 6">
                <a:extLst>
                  <a:ext uri="{FF2B5EF4-FFF2-40B4-BE49-F238E27FC236}">
                    <a16:creationId xmlns:a16="http://schemas.microsoft.com/office/drawing/2014/main" id="{5712DCCF-E828-A175-B67C-3E109FD6B5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1" y="1280"/>
                <a:ext cx="172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Y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2" name="AutoShape 8">
                <a:extLst>
                  <a:ext uri="{FF2B5EF4-FFF2-40B4-BE49-F238E27FC236}">
                    <a16:creationId xmlns:a16="http://schemas.microsoft.com/office/drawing/2014/main" id="{B6B37DDF-D4B2-A93E-C57D-CD60C5D8DA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180" y="1158"/>
                <a:ext cx="431" cy="409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3" name="Text Box 9">
                <a:extLst>
                  <a:ext uri="{FF2B5EF4-FFF2-40B4-BE49-F238E27FC236}">
                    <a16:creationId xmlns:a16="http://schemas.microsoft.com/office/drawing/2014/main" id="{E1C3A0D1-EAAA-15F3-C2B7-D4E21EE830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2" y="1260"/>
                <a:ext cx="172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A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4" name="Line 10">
                <a:extLst>
                  <a:ext uri="{FF2B5EF4-FFF2-40B4-BE49-F238E27FC236}">
                    <a16:creationId xmlns:a16="http://schemas.microsoft.com/office/drawing/2014/main" id="{9B2510A2-C216-675D-85E1-A1C23B2DA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1" y="1374"/>
                <a:ext cx="25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Oval 11">
                <a:extLst>
                  <a:ext uri="{FF2B5EF4-FFF2-40B4-BE49-F238E27FC236}">
                    <a16:creationId xmlns:a16="http://schemas.microsoft.com/office/drawing/2014/main" id="{2686DB4A-5661-71E2-2050-E97188F5A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" y="1488"/>
                <a:ext cx="90" cy="9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Line 12">
                <a:extLst>
                  <a:ext uri="{FF2B5EF4-FFF2-40B4-BE49-F238E27FC236}">
                    <a16:creationId xmlns:a16="http://schemas.microsoft.com/office/drawing/2014/main" id="{15E4112B-4892-324B-A4A9-3AEE6D040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942" y="1757"/>
                <a:ext cx="45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2896043E-A034-F70C-09C9-7672266042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1" y="1621"/>
                <a:ext cx="26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>
                    <a:ea typeface="华康简宋" charset="-122"/>
                  </a:rPr>
                  <a:t>EN</a:t>
                </a:r>
                <a:endParaRPr lang="en-US" altLang="zh-CN" sz="3200">
                  <a:ea typeface="华康简宋" charset="-122"/>
                </a:endParaRPr>
              </a:p>
            </p:txBody>
          </p:sp>
          <p:sp>
            <p:nvSpPr>
              <p:cNvPr id="18" name="Line 14">
                <a:extLst>
                  <a:ext uri="{FF2B5EF4-FFF2-40B4-BE49-F238E27FC236}">
                    <a16:creationId xmlns:a16="http://schemas.microsoft.com/office/drawing/2014/main" id="{C9A56AAE-CE49-8B04-3D3D-BDE2DC545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7" y="1621"/>
                <a:ext cx="2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15">
                <a:extLst>
                  <a:ext uri="{FF2B5EF4-FFF2-40B4-BE49-F238E27FC236}">
                    <a16:creationId xmlns:a16="http://schemas.microsoft.com/office/drawing/2014/main" id="{DC46E200-6F11-034A-9317-EC392BB98D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305" y="1669"/>
                <a:ext cx="18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Oval 16">
                <a:extLst>
                  <a:ext uri="{FF2B5EF4-FFF2-40B4-BE49-F238E27FC236}">
                    <a16:creationId xmlns:a16="http://schemas.microsoft.com/office/drawing/2014/main" id="{90917001-8448-5155-A423-CD8DD8062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1" y="1324"/>
                <a:ext cx="90" cy="9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" name="AutoShape 17">
              <a:extLst>
                <a:ext uri="{FF2B5EF4-FFF2-40B4-BE49-F238E27FC236}">
                  <a16:creationId xmlns:a16="http://schemas.microsoft.com/office/drawing/2014/main" id="{338A686B-DEFC-FC7D-D133-C68BCC1DC9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315" y="1480"/>
              <a:ext cx="114" cy="113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304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188DE-FE5B-4566-3BB8-4AAEE0D8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CMOS</a:t>
            </a:r>
            <a:r>
              <a:rPr lang="zh-CN" altLang="en-US" dirty="0"/>
              <a:t>传输门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31BC39-0CC3-82A1-1E24-32D923F1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5334149" cy="5947119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en-US" altLang="zh-CN" sz="3200" b="0" i="1" dirty="0"/>
              <a:t>v</a:t>
            </a:r>
            <a:r>
              <a:rPr kumimoji="1" lang="en-US" altLang="zh-CN" sz="2000" b="0" i="1" dirty="0"/>
              <a:t>i</a:t>
            </a:r>
            <a:r>
              <a:rPr lang="en-US" altLang="zh-CN" sz="2400" dirty="0"/>
              <a:t> </a:t>
            </a:r>
            <a:r>
              <a:rPr kumimoji="1" lang="en-US" altLang="zh-CN" sz="3200" b="0" dirty="0"/>
              <a:t>= </a:t>
            </a:r>
            <a:r>
              <a:rPr kumimoji="1" lang="en-US" altLang="zh-CN" b="0" dirty="0"/>
              <a:t>0</a:t>
            </a:r>
            <a:r>
              <a:rPr kumimoji="1" lang="zh-CN" altLang="en-US" b="0" dirty="0"/>
              <a:t>～</a:t>
            </a:r>
            <a:r>
              <a:rPr kumimoji="1" lang="en-US" altLang="zh-CN" b="0" dirty="0" err="1"/>
              <a:t>V</a:t>
            </a:r>
            <a:r>
              <a:rPr kumimoji="1" lang="en-US" altLang="zh-CN" sz="2000" b="0" dirty="0" err="1"/>
              <a:t>dd</a:t>
            </a:r>
            <a:endParaRPr kumimoji="1" lang="en-US" altLang="zh-CN" sz="2000" b="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当</a:t>
            </a:r>
            <a:r>
              <a:rPr lang="en-US" altLang="zh-CN" sz="2400" dirty="0"/>
              <a:t>C=0V</a:t>
            </a:r>
            <a:r>
              <a:rPr lang="zh-CN" altLang="en-US" sz="2400" dirty="0"/>
              <a:t>，</a:t>
            </a:r>
            <a:r>
              <a:rPr lang="en-US" altLang="zh-CN" sz="2400" dirty="0"/>
              <a:t>C =V</a:t>
            </a:r>
            <a:r>
              <a:rPr lang="en-US" altLang="zh-CN" sz="1800" dirty="0"/>
              <a:t>DD</a:t>
            </a:r>
            <a:r>
              <a:rPr lang="zh-CN" altLang="en-US" sz="2400" dirty="0"/>
              <a:t>时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/>
              <a:t>T1</a:t>
            </a:r>
            <a:r>
              <a:rPr lang="zh-CN" altLang="en-US" sz="2000" dirty="0"/>
              <a:t>、</a:t>
            </a:r>
            <a:r>
              <a:rPr lang="en-US" altLang="zh-CN" sz="2000" dirty="0"/>
              <a:t>T2</a:t>
            </a:r>
            <a:r>
              <a:rPr lang="zh-CN" altLang="en-US" sz="2000" dirty="0"/>
              <a:t>截止，传输门断开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当</a:t>
            </a:r>
            <a:r>
              <a:rPr lang="en-US" altLang="zh-CN" sz="2400" dirty="0"/>
              <a:t>C=V</a:t>
            </a:r>
            <a:r>
              <a:rPr lang="en-US" altLang="zh-CN" sz="1800" dirty="0"/>
              <a:t>DD</a:t>
            </a:r>
            <a:r>
              <a:rPr lang="zh-CN" altLang="en-US" sz="2400" dirty="0"/>
              <a:t>，</a:t>
            </a:r>
            <a:r>
              <a:rPr lang="en-US" altLang="zh-CN" sz="2400" dirty="0"/>
              <a:t>C =0V</a:t>
            </a:r>
            <a:r>
              <a:rPr lang="zh-CN" altLang="en-US" sz="2400" dirty="0"/>
              <a:t>时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/>
              <a:t>T1</a:t>
            </a:r>
            <a:r>
              <a:rPr lang="zh-CN" altLang="en-US" sz="2000" dirty="0"/>
              <a:t>、</a:t>
            </a:r>
            <a:r>
              <a:rPr lang="en-US" altLang="zh-CN" sz="2000" dirty="0"/>
              <a:t>T2</a:t>
            </a:r>
            <a:r>
              <a:rPr lang="zh-CN" altLang="en-US" sz="2000" dirty="0"/>
              <a:t>至少有一个导通，传输门导通</a:t>
            </a:r>
          </a:p>
          <a:p>
            <a:pPr lvl="1">
              <a:lnSpc>
                <a:spcPct val="120000"/>
              </a:lnSpc>
            </a:pPr>
            <a:r>
              <a:rPr kumimoji="1" lang="en-US" altLang="zh-CN" sz="2800" b="1" i="1" dirty="0" err="1"/>
              <a:t>v</a:t>
            </a:r>
            <a:r>
              <a:rPr kumimoji="1" lang="en-US" altLang="zh-CN" b="1" i="1" dirty="0" err="1"/>
              <a:t>o</a:t>
            </a:r>
            <a:r>
              <a:rPr kumimoji="1" lang="en-US" altLang="zh-CN" sz="2800" b="1" i="1" dirty="0"/>
              <a:t> </a:t>
            </a:r>
            <a:r>
              <a:rPr kumimoji="1" lang="en-US" altLang="zh-CN" sz="2800" b="1" dirty="0"/>
              <a:t>= </a:t>
            </a:r>
            <a:r>
              <a:rPr kumimoji="1" lang="en-US" altLang="zh-CN" sz="2800" b="1" i="1" dirty="0"/>
              <a:t>v</a:t>
            </a:r>
            <a:r>
              <a:rPr kumimoji="1" lang="en-US" altLang="zh-CN" sz="1800" b="1" i="1" dirty="0"/>
              <a:t>i</a:t>
            </a:r>
          </a:p>
          <a:p>
            <a:pPr lvl="1">
              <a:lnSpc>
                <a:spcPct val="120000"/>
              </a:lnSpc>
            </a:pPr>
            <a:endParaRPr kumimoji="1" lang="en-US" altLang="zh-CN" sz="1800" b="1" i="1" dirty="0"/>
          </a:p>
          <a:p>
            <a:pPr lvl="1">
              <a:lnSpc>
                <a:spcPct val="120000"/>
              </a:lnSpc>
            </a:pPr>
            <a:endParaRPr lang="zh-CN" altLang="en-US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传输门相当于一个理想的双向开关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D35A27-AD63-A7B6-0D11-F8A356B77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16B583-55F9-78E2-33B4-FD7F072C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25</a:t>
            </a:fld>
            <a:r>
              <a:rPr lang="en-US" altLang="zh-CN" dirty="0"/>
              <a:t>/35</a:t>
            </a:r>
            <a:endParaRPr lang="en-US" dirty="0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5C760DAF-7703-CD9A-1359-4B287A605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0241" y="1201276"/>
            <a:ext cx="679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i="1"/>
              <a:t>V</a:t>
            </a:r>
            <a:r>
              <a:rPr kumimoji="1" lang="en-US" altLang="zh-CN" sz="1600"/>
              <a:t>DD</a:t>
            </a:r>
            <a:endParaRPr kumimoji="1" lang="en-US" altLang="zh-CN" sz="1800"/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157199DD-FF5C-80E7-A354-BAA379CEA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5966" y="1001251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/>
              <a:t>C</a:t>
            </a:r>
            <a:endParaRPr kumimoji="1" lang="en-US" altLang="zh-CN" sz="1800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8B4AA45D-0B99-C093-3F5E-8E4E3D88F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6429" y="3233276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0A084717-4404-C35C-A98B-2B9E7A3C1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1966" y="3449176"/>
            <a:ext cx="287338" cy="1587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847EC942-704F-5E4F-486F-7BF880ABE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6429" y="1541001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6588E8FB-953C-86E2-7138-010714B14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4041" y="1433051"/>
            <a:ext cx="107950" cy="10795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56FF071B-8A40-130A-3460-928CE63D2B31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091223" y="3049919"/>
            <a:ext cx="0" cy="1984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6FAF865E-013E-BE2A-5AE3-95891B5D4C9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386498" y="3049919"/>
            <a:ext cx="0" cy="1984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9CD81DE5-7A39-CFC8-FC88-42AC7B612AE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81773" y="3049919"/>
            <a:ext cx="0" cy="1984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DC1282BB-2269-D284-95E3-44E4A01A1200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239653" y="3001501"/>
            <a:ext cx="2952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23D123F9-4F8C-54F6-9E75-57844D9492F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387291" y="3052301"/>
            <a:ext cx="0" cy="5905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0AC34DF4-8945-384A-E42C-233480406068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944378" y="3001501"/>
            <a:ext cx="2952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2D396183-11C6-34E4-49E3-28589586ACA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468254" y="2939588"/>
            <a:ext cx="4191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DA9478C4-DF16-0381-67C5-57340C9619D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239653" y="3001501"/>
            <a:ext cx="2952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394B449C-BED8-7DDD-60FD-DE0D38AF61D8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188854" y="3534901"/>
            <a:ext cx="3937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EC0EEBFB-E8E8-4F7C-0619-15C5B43DB62C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746860" y="2494294"/>
            <a:ext cx="0" cy="7191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0951D478-A8CE-04BC-16A1-F2C54F313EF1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8020704" y="2137900"/>
            <a:ext cx="0" cy="6762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9860F364-38E4-5CE3-8DAA-59CA3965AD5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676216" y="1744201"/>
            <a:ext cx="0" cy="1968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D29FB3D0-C505-F4AF-A426-740ECE0E226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380941" y="1744201"/>
            <a:ext cx="0" cy="1968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671DBFCA-DB6F-B591-548A-B831FEDFCB2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85666" y="1744201"/>
            <a:ext cx="0" cy="1968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DF1D16F7-DF94-D6B1-9277-77C92A01CC20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234891" y="1990264"/>
            <a:ext cx="2952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5F2078F0-4F6A-39B5-EDC4-1647C95E1E2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382529" y="1350501"/>
            <a:ext cx="0" cy="5905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0406F41F-A68B-F3A3-2D6D-88E022CA2E1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197585" y="2322845"/>
            <a:ext cx="9604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B37FEDDA-3666-C386-8960-225B1427684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534804" y="2395076"/>
            <a:ext cx="11049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4124DCB7-C44D-4EFD-EE48-3CD6870DCDB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234891" y="1990264"/>
            <a:ext cx="2952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A663DD00-30C1-C451-D13A-CA9CFD2D7D8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744479" y="1775951"/>
            <a:ext cx="0" cy="7239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" name="Oval 32">
            <a:extLst>
              <a:ext uri="{FF2B5EF4-FFF2-40B4-BE49-F238E27FC236}">
                <a16:creationId xmlns:a16="http://schemas.microsoft.com/office/drawing/2014/main" id="{9BFDE669-9F4B-D771-B313-71D0028DDCF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33354" y="2428413"/>
            <a:ext cx="104775" cy="104775"/>
          </a:xfrm>
          <a:prstGeom prst="ellipse">
            <a:avLst/>
          </a:prstGeom>
          <a:solidFill>
            <a:srgbClr val="000000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F72EC703-E147-C421-67A0-CFAF6C83934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188854" y="1448926"/>
            <a:ext cx="3937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56BBF529-A636-6DB0-7B23-B1400CCADD08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788010" y="2162507"/>
            <a:ext cx="0" cy="60166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lg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57A307D1-2969-28B4-2F21-56AC2664F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5966" y="3557126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/>
              <a:t>C</a:t>
            </a:r>
            <a:endParaRPr kumimoji="1" lang="en-US" altLang="zh-CN" sz="1800"/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34819F75-B92F-865C-D9DF-522BB53E8BA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909579" y="1953751"/>
            <a:ext cx="3937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FB87CB61-E7F5-44CC-7D9B-171D25B5AE9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909579" y="3036426"/>
            <a:ext cx="3937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B4E1395D-B7B8-DAC5-3A30-999350DEA8D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146785" y="943307"/>
            <a:ext cx="0" cy="2619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CFA7E7AF-21AC-6E2A-C94F-47FD5B2D8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741" y="2117263"/>
            <a:ext cx="506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3200" i="1"/>
              <a:t>v</a:t>
            </a:r>
            <a:r>
              <a:rPr kumimoji="1" lang="en-US" altLang="zh-CN" sz="2400" i="1"/>
              <a:t>i</a:t>
            </a:r>
            <a:r>
              <a:rPr kumimoji="1" lang="en-US" altLang="zh-CN" sz="1800" i="1"/>
              <a:t> </a:t>
            </a:r>
            <a:endParaRPr kumimoji="1" lang="en-US" altLang="zh-CN" sz="2400" i="1"/>
          </a:p>
        </p:txBody>
      </p:sp>
      <p:sp>
        <p:nvSpPr>
          <p:cNvPr id="40" name="Text Box 40">
            <a:extLst>
              <a:ext uri="{FF2B5EF4-FFF2-40B4-BE49-F238E27FC236}">
                <a16:creationId xmlns:a16="http://schemas.microsoft.com/office/drawing/2014/main" id="{BF2B12F6-67C1-2F9E-2D1B-304A6EC1A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3766" y="2117263"/>
            <a:ext cx="517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3200" i="1"/>
              <a:t>v</a:t>
            </a:r>
            <a:r>
              <a:rPr kumimoji="1" lang="en-US" altLang="zh-CN" sz="2400" i="1"/>
              <a:t>o</a:t>
            </a:r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35BEC8BB-8BE0-2DD5-38C1-B57AF4DCD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2716" y="3052301"/>
            <a:ext cx="501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/>
              <a:t>T</a:t>
            </a:r>
            <a:r>
              <a:rPr kumimoji="1" lang="en-US" altLang="zh-CN" sz="1800"/>
              <a:t>1</a:t>
            </a:r>
            <a:endParaRPr kumimoji="1" lang="en-US" altLang="zh-CN" sz="1400"/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76CB7E4C-3B38-E371-9D92-8275FCF9A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2716" y="1541001"/>
            <a:ext cx="501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/>
              <a:t>T</a:t>
            </a:r>
            <a:r>
              <a:rPr kumimoji="1" lang="en-US" altLang="zh-CN" sz="1800"/>
              <a:t>2</a:t>
            </a:r>
            <a:endParaRPr kumimoji="1" lang="en-US" altLang="zh-CN" sz="1400"/>
          </a:p>
        </p:txBody>
      </p:sp>
      <p:grpSp>
        <p:nvGrpSpPr>
          <p:cNvPr id="43" name="Group 74">
            <a:extLst>
              <a:ext uri="{FF2B5EF4-FFF2-40B4-BE49-F238E27FC236}">
                <a16:creationId xmlns:a16="http://schemas.microsoft.com/office/drawing/2014/main" id="{0EA1B631-3FFA-8522-4584-2489E107F9A0}"/>
              </a:ext>
            </a:extLst>
          </p:cNvPr>
          <p:cNvGrpSpPr>
            <a:grpSpLocks/>
          </p:cNvGrpSpPr>
          <p:nvPr/>
        </p:nvGrpSpPr>
        <p:grpSpPr bwMode="auto">
          <a:xfrm>
            <a:off x="5477529" y="4277851"/>
            <a:ext cx="3808412" cy="1763712"/>
            <a:chOff x="2993" y="2863"/>
            <a:chExt cx="2399" cy="1111"/>
          </a:xfrm>
        </p:grpSpPr>
        <p:sp>
          <p:nvSpPr>
            <p:cNvPr id="44" name="Text Box 44">
              <a:extLst>
                <a:ext uri="{FF2B5EF4-FFF2-40B4-BE49-F238E27FC236}">
                  <a16:creationId xmlns:a16="http://schemas.microsoft.com/office/drawing/2014/main" id="{570951DD-64A7-DD12-493B-BA63AFEDF1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5" y="3767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3ED47F8E-87B8-DB9C-8044-893B45CF5B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9" y="3407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120152EF-B668-2150-5350-F69939257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1" y="3430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B834550A-57AD-8D84-5F68-FC51DFFBF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5" y="2863"/>
              <a:ext cx="1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Oval 48">
              <a:extLst>
                <a:ext uri="{FF2B5EF4-FFF2-40B4-BE49-F238E27FC236}">
                  <a16:creationId xmlns:a16="http://schemas.microsoft.com/office/drawing/2014/main" id="{7F953B0D-9930-11C2-CDEB-35C20FD5E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" y="3135"/>
              <a:ext cx="90" cy="9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9" name="Text Box 49">
              <a:extLst>
                <a:ext uri="{FF2B5EF4-FFF2-40B4-BE49-F238E27FC236}">
                  <a16:creationId xmlns:a16="http://schemas.microsoft.com/office/drawing/2014/main" id="{FE006100-E9BD-2199-3100-D13B93D16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2" y="3226"/>
              <a:ext cx="567" cy="4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TG</a:t>
              </a:r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A459812E-6095-101E-548D-7EFF1D96D7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5" y="3654"/>
              <a:ext cx="0" cy="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B748726D-1084-13ED-E1D5-2954E1A14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5" y="2886"/>
              <a:ext cx="0" cy="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 Box 52">
              <a:extLst>
                <a:ext uri="{FF2B5EF4-FFF2-40B4-BE49-F238E27FC236}">
                  <a16:creationId xmlns:a16="http://schemas.microsoft.com/office/drawing/2014/main" id="{E95BA458-FF3D-0CEE-2E7E-4279DD7FD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5" y="2886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53" name="Text Box 53">
              <a:extLst>
                <a:ext uri="{FF2B5EF4-FFF2-40B4-BE49-F238E27FC236}">
                  <a16:creationId xmlns:a16="http://schemas.microsoft.com/office/drawing/2014/main" id="{7A789BEE-BE87-C2C7-C1AD-D6E8AC086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3" y="3226"/>
              <a:ext cx="6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3200" i="1"/>
                <a:t>v</a:t>
              </a:r>
              <a:r>
                <a:rPr kumimoji="1" lang="en-US" altLang="zh-CN" sz="2400" i="1"/>
                <a:t>i</a:t>
              </a:r>
              <a:r>
                <a:rPr kumimoji="1" lang="en-US" altLang="zh-CN" sz="1800" i="1"/>
                <a:t> </a:t>
              </a:r>
              <a:r>
                <a:rPr kumimoji="1" lang="en-US" altLang="zh-CN" sz="3200" i="1"/>
                <a:t>/v</a:t>
              </a:r>
              <a:r>
                <a:rPr kumimoji="1" lang="en-US" altLang="zh-CN" sz="2400" i="1"/>
                <a:t>o</a:t>
              </a:r>
              <a:r>
                <a:rPr kumimoji="1" lang="en-US" altLang="zh-CN" sz="1800" i="1"/>
                <a:t> </a:t>
              </a:r>
            </a:p>
          </p:txBody>
        </p:sp>
        <p:sp>
          <p:nvSpPr>
            <p:cNvPr id="54" name="Text Box 53">
              <a:extLst>
                <a:ext uri="{FF2B5EF4-FFF2-40B4-BE49-F238E27FC236}">
                  <a16:creationId xmlns:a16="http://schemas.microsoft.com/office/drawing/2014/main" id="{AC49D783-1AB6-9571-EE02-1B94E92E0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226"/>
              <a:ext cx="65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3200" i="1"/>
                <a:t>v</a:t>
              </a:r>
              <a:r>
                <a:rPr kumimoji="1" lang="en-US" altLang="zh-CN" sz="2400" i="1"/>
                <a:t>o</a:t>
              </a:r>
              <a:r>
                <a:rPr kumimoji="1" lang="en-US" altLang="zh-CN" sz="1600" i="1"/>
                <a:t> </a:t>
              </a:r>
              <a:r>
                <a:rPr kumimoji="1" lang="en-US" altLang="zh-CN" sz="3200" i="1"/>
                <a:t>/</a:t>
              </a:r>
              <a:r>
                <a:rPr kumimoji="1" lang="en-US" altLang="zh-CN" sz="1000" i="1"/>
                <a:t> </a:t>
              </a:r>
              <a:r>
                <a:rPr kumimoji="1" lang="en-US" altLang="zh-CN" sz="3200" i="1"/>
                <a:t>v</a:t>
              </a:r>
              <a:r>
                <a:rPr kumimoji="1" lang="en-US" altLang="zh-CN" sz="2400" i="1"/>
                <a:t>i</a:t>
              </a:r>
              <a:r>
                <a:rPr kumimoji="1" lang="en-US" altLang="zh-CN" sz="1800" i="1"/>
                <a:t> </a:t>
              </a:r>
            </a:p>
          </p:txBody>
        </p:sp>
      </p:grpSp>
      <p:sp>
        <p:nvSpPr>
          <p:cNvPr id="55" name="Line 38">
            <a:extLst>
              <a:ext uri="{FF2B5EF4-FFF2-40B4-BE49-F238E27FC236}">
                <a16:creationId xmlns:a16="http://schemas.microsoft.com/office/drawing/2014/main" id="{4F8F7C1D-D3E8-F43D-CA1C-C33BE64AA4D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987590" y="1189836"/>
            <a:ext cx="0" cy="2619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6" name="Line 38">
            <a:extLst>
              <a:ext uri="{FF2B5EF4-FFF2-40B4-BE49-F238E27FC236}">
                <a16:creationId xmlns:a16="http://schemas.microsoft.com/office/drawing/2014/main" id="{19D86458-7A73-1B36-CAD5-2CF54655208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2139990" y="2135609"/>
            <a:ext cx="0" cy="2619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89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821DC-833F-9BC9-0501-942AFE57C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示例：传输门的应用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CB4623-D7F3-0A24-DDB9-1860734B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D447CC-0A1A-0254-363F-42B2B77A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26</a:t>
            </a:fld>
            <a:r>
              <a:rPr lang="en-US" altLang="zh-CN" dirty="0"/>
              <a:t>/35</a:t>
            </a:r>
            <a:endParaRPr lang="en-US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75CE0AD1-8D5C-51D0-CA0E-A2B64574F3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850" y="1557338"/>
          <a:ext cx="3559175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1816628" imgH="1267380" progId="Word.Picture.8">
                  <p:embed/>
                </p:oleObj>
              </mc:Choice>
              <mc:Fallback>
                <p:oleObj name="图片" r:id="rId2" imgW="1816628" imgH="1267380" progId="Word.Picture.8">
                  <p:embed/>
                  <p:pic>
                    <p:nvPicPr>
                      <p:cNvPr id="389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-1254"/>
                      <a:stretch>
                        <a:fillRect/>
                      </a:stretch>
                    </p:blipFill>
                    <p:spPr bwMode="auto">
                      <a:xfrm>
                        <a:off x="577850" y="1557338"/>
                        <a:ext cx="3559175" cy="252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48C9FAC2-BF0F-204B-52E5-355EAF12DF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773205"/>
              </p:ext>
            </p:extLst>
          </p:nvPr>
        </p:nvGraphicFramePr>
        <p:xfrm>
          <a:off x="5603446" y="1197823"/>
          <a:ext cx="3675063" cy="311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4" imgW="1588409" imgH="1314545" progId="Word.Picture.8">
                  <p:embed/>
                </p:oleObj>
              </mc:Choice>
              <mc:Fallback>
                <p:oleObj name="图片" r:id="rId4" imgW="1588409" imgH="1314545" progId="Word.Picture.8">
                  <p:embed/>
                  <p:pic>
                    <p:nvPicPr>
                      <p:cNvPr id="634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-2304"/>
                      <a:stretch>
                        <a:fillRect/>
                      </a:stretch>
                    </p:blipFill>
                    <p:spPr bwMode="auto">
                      <a:xfrm>
                        <a:off x="5603446" y="1197823"/>
                        <a:ext cx="3675063" cy="311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A325AFCB-37B9-1F03-41F7-7F87350228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038" y="5919788"/>
                <a:ext cx="321594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FontTx/>
                  <a:buNone/>
                </a:pPr>
                <a:r>
                  <a:rPr lang="zh-CN" altLang="en-US" sz="2400" dirty="0">
                    <a:latin typeface="Arial" panose="020B0604020202020204" pitchFamily="34" charset="0"/>
                  </a:rPr>
                  <a:t>异或门：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zh-CN" altLang="en-US" sz="2400" b="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A325AFCB-37B9-1F03-41F7-7F8735022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038" y="5919788"/>
                <a:ext cx="3215945" cy="461665"/>
              </a:xfrm>
              <a:prstGeom prst="rect">
                <a:avLst/>
              </a:prstGeom>
              <a:blipFill>
                <a:blip r:embed="rId6"/>
                <a:stretch>
                  <a:fillRect l="-3137" t="-13514" b="-270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62D945CC-E073-FD4E-014F-D7A838A43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5343" y="5837823"/>
                <a:ext cx="4553619" cy="46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:r>
                  <a:rPr lang="zh-CN" altLang="en-US" sz="2400" dirty="0">
                    <a:latin typeface="Arial" panose="020B0604020202020204" pitchFamily="34" charset="0"/>
                  </a:rPr>
                  <a:t>二选一数据选择器</a:t>
                </a:r>
                <a:r>
                  <a:rPr lang="en-US" altLang="zh-CN" sz="2400" dirty="0">
                    <a:latin typeface="Arial" panose="020B060402020202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𝑌𝐶</m:t>
                    </m:r>
                  </m:oMath>
                </a14:m>
                <a:endParaRPr lang="zh-CN" altLang="en-US" sz="2400" b="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62D945CC-E073-FD4E-014F-D7A838A431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5343" y="5837823"/>
                <a:ext cx="4553619" cy="462434"/>
              </a:xfrm>
              <a:prstGeom prst="rect">
                <a:avLst/>
              </a:prstGeom>
              <a:blipFill>
                <a:blip r:embed="rId7"/>
                <a:stretch>
                  <a:fillRect l="-1944" t="-13158" b="-263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8">
            <a:extLst>
              <a:ext uri="{FF2B5EF4-FFF2-40B4-BE49-F238E27FC236}">
                <a16:creationId xmlns:a16="http://schemas.microsoft.com/office/drawing/2014/main" id="{557857B1-17ED-16EA-845F-C32B32F50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4227513"/>
            <a:ext cx="795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/>
              <a:t>B=0: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B2A6C98-3A21-96C2-C475-6C047B21E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863" y="4227513"/>
            <a:ext cx="26733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TG1</a:t>
            </a:r>
            <a:r>
              <a:rPr lang="zh-CN" altLang="en-US" sz="2400" b="0"/>
              <a:t>断开</a:t>
            </a:r>
            <a:r>
              <a:rPr lang="en-US" altLang="zh-CN" sz="2400" b="0"/>
              <a:t>, TG2</a:t>
            </a:r>
            <a:r>
              <a:rPr lang="zh-CN" altLang="en-US" sz="2400" b="0"/>
              <a:t>导通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L = A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01CB0602-7C06-6C0E-60FA-78B5ED631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5060950"/>
            <a:ext cx="795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B=1:</a:t>
            </a:r>
          </a:p>
        </p:txBody>
      </p:sp>
      <p:grpSp>
        <p:nvGrpSpPr>
          <p:cNvPr id="13" name="Group 23">
            <a:extLst>
              <a:ext uri="{FF2B5EF4-FFF2-40B4-BE49-F238E27FC236}">
                <a16:creationId xmlns:a16="http://schemas.microsoft.com/office/drawing/2014/main" id="{04ECE88E-759F-3227-1597-2149F9FE9D1D}"/>
              </a:ext>
            </a:extLst>
          </p:cNvPr>
          <p:cNvGrpSpPr>
            <a:grpSpLocks/>
          </p:cNvGrpSpPr>
          <p:nvPr/>
        </p:nvGrpSpPr>
        <p:grpSpPr bwMode="auto">
          <a:xfrm>
            <a:off x="1430338" y="5049838"/>
            <a:ext cx="2673350" cy="858837"/>
            <a:chOff x="901" y="3181"/>
            <a:chExt cx="1684" cy="541"/>
          </a:xfrm>
        </p:grpSpPr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8C6E7542-77D3-24D7-3AF9-8D7C29C12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" y="3181"/>
              <a:ext cx="1684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TG1</a:t>
              </a:r>
              <a:r>
                <a:rPr lang="zh-CN" altLang="en-US" sz="2400" b="0"/>
                <a:t>导通</a:t>
              </a:r>
              <a:r>
                <a:rPr lang="en-US" altLang="zh-CN" sz="2400" b="0"/>
                <a:t>, TG2</a:t>
              </a:r>
              <a:r>
                <a:rPr lang="zh-CN" altLang="en-US" sz="2400" b="0"/>
                <a:t>断开</a:t>
              </a:r>
            </a:p>
            <a:p>
              <a:pPr algn="ctr" eaLnBrk="1" hangingPunct="1">
                <a:spcBef>
                  <a:spcPct val="1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L = A</a:t>
              </a: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E3DC51BE-4014-1865-A583-842209875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3475"/>
              <a:ext cx="1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6" name="Rectangle 16">
            <a:extLst>
              <a:ext uri="{FF2B5EF4-FFF2-40B4-BE49-F238E27FC236}">
                <a16:creationId xmlns:a16="http://schemas.microsoft.com/office/drawing/2014/main" id="{E885AD82-A7B3-C2AC-64F1-E441FFEAE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184" y="4690323"/>
            <a:ext cx="795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/>
              <a:t>C=0:</a:t>
            </a: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CD161144-9CE4-8B88-8FC2-438CFEE67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421" y="4690323"/>
            <a:ext cx="355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TG1</a:t>
            </a:r>
            <a:r>
              <a:rPr lang="zh-CN" altLang="en-US" sz="2400" b="0"/>
              <a:t>导通</a:t>
            </a:r>
            <a:r>
              <a:rPr lang="en-US" altLang="zh-CN" sz="2400" b="0"/>
              <a:t>, TG2</a:t>
            </a:r>
            <a:r>
              <a:rPr lang="zh-CN" altLang="en-US" sz="2400" b="0"/>
              <a:t>断开</a:t>
            </a:r>
            <a:r>
              <a:rPr lang="en-US" altLang="zh-CN" sz="2400" b="0"/>
              <a:t>, L = X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7309F395-6452-A58B-109A-567D97DA3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184" y="5182448"/>
            <a:ext cx="795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C=1:</a:t>
            </a: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B86FC1C6-8B34-2693-602A-9EC295439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421" y="5193560"/>
            <a:ext cx="355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TG1</a:t>
            </a:r>
            <a:r>
              <a:rPr lang="zh-CN" altLang="en-US" sz="2400" b="0"/>
              <a:t>断开</a:t>
            </a:r>
            <a:r>
              <a:rPr lang="en-US" altLang="zh-CN" sz="2400" b="0"/>
              <a:t>, TG2</a:t>
            </a:r>
            <a:r>
              <a:rPr lang="zh-CN" altLang="en-US" sz="2400" b="0"/>
              <a:t>导通</a:t>
            </a:r>
            <a:r>
              <a:rPr lang="en-US" altLang="zh-CN" sz="2400" b="0"/>
              <a:t>, L = Y</a:t>
            </a:r>
          </a:p>
        </p:txBody>
      </p:sp>
    </p:spTree>
    <p:extLst>
      <p:ext uri="{BB962C8B-B14F-4D97-AF65-F5344CB8AC3E}">
        <p14:creationId xmlns:p14="http://schemas.microsoft.com/office/powerpoint/2010/main" val="346708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6" grpId="0"/>
      <p:bldP spid="17" grpId="0"/>
      <p:bldP spid="18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6C37D-E81D-8531-C958-096E3DB66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逻辑门主要参数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77703-8008-A666-65FC-D5F2B3E7C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输入和输出电平</a:t>
            </a:r>
          </a:p>
          <a:p>
            <a:r>
              <a:rPr lang="zh-CN" altLang="en-US" dirty="0"/>
              <a:t>噪声容限</a:t>
            </a:r>
          </a:p>
          <a:p>
            <a:r>
              <a:rPr lang="zh-CN" altLang="en-US" dirty="0"/>
              <a:t>传输延迟</a:t>
            </a:r>
          </a:p>
          <a:p>
            <a:r>
              <a:rPr lang="zh-CN" altLang="en-US" dirty="0"/>
              <a:t>功耗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FC4B4B-B95B-14C2-E130-8B07A8E4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CEA252-43E7-CA9D-47C7-C8F2D6329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27</a:t>
            </a:fld>
            <a:r>
              <a:rPr lang="en-US" altLang="zh-CN" dirty="0"/>
              <a:t>/35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59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E1875-C69C-104B-E6B8-0B603271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输入和输出电平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6D61D2-C44D-28A6-B2B4-F03F6F4F2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5455173" cy="5947119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en-US" altLang="zh-CN" sz="2000" dirty="0"/>
              <a:t>V</a:t>
            </a:r>
            <a:r>
              <a:rPr lang="en-US" altLang="zh-CN" sz="2000" baseline="-25000" dirty="0"/>
              <a:t>OL</a:t>
            </a:r>
            <a:r>
              <a:rPr lang="en-US" altLang="zh-CN" sz="2000" dirty="0"/>
              <a:t>(max) </a:t>
            </a:r>
            <a:r>
              <a:rPr kumimoji="1" lang="zh-CN" altLang="en-US" sz="2000" dirty="0"/>
              <a:t>：输出低电平的上限值</a:t>
            </a:r>
          </a:p>
          <a:p>
            <a:pPr>
              <a:spcBef>
                <a:spcPct val="10000"/>
              </a:spcBef>
            </a:pPr>
            <a:r>
              <a:rPr lang="en-US" altLang="zh-CN" sz="2000" dirty="0"/>
              <a:t>V</a:t>
            </a:r>
            <a:r>
              <a:rPr lang="en-US" altLang="zh-CN" sz="2000" baseline="-25000" dirty="0"/>
              <a:t>OH</a:t>
            </a:r>
            <a:r>
              <a:rPr lang="en-US" altLang="zh-CN" sz="2000" dirty="0"/>
              <a:t>(min) </a:t>
            </a:r>
            <a:r>
              <a:rPr kumimoji="1" lang="zh-CN" altLang="en-US" sz="2000" dirty="0"/>
              <a:t>：输出高电平的下限值</a:t>
            </a:r>
            <a:endParaRPr lang="zh-CN" altLang="en-US" sz="2000" dirty="0"/>
          </a:p>
          <a:p>
            <a:pPr>
              <a:spcBef>
                <a:spcPct val="10000"/>
              </a:spcBef>
            </a:pPr>
            <a:r>
              <a:rPr lang="en-US" altLang="zh-CN" sz="2000" dirty="0"/>
              <a:t>V</a:t>
            </a:r>
            <a:r>
              <a:rPr lang="en-US" altLang="zh-CN" sz="2000" baseline="-25000" dirty="0"/>
              <a:t>IL</a:t>
            </a:r>
            <a:r>
              <a:rPr lang="en-US" altLang="zh-CN" sz="2000" dirty="0"/>
              <a:t>(max) </a:t>
            </a:r>
            <a:r>
              <a:rPr kumimoji="1" lang="zh-CN" altLang="en-US" sz="2000" dirty="0"/>
              <a:t>：输入低电平的上限值</a:t>
            </a:r>
          </a:p>
          <a:p>
            <a:pPr>
              <a:spcBef>
                <a:spcPct val="10000"/>
              </a:spcBef>
            </a:pPr>
            <a:r>
              <a:rPr lang="en-US" altLang="zh-CN" sz="2000" dirty="0"/>
              <a:t>V</a:t>
            </a:r>
            <a:r>
              <a:rPr lang="en-US" altLang="zh-CN" sz="2000" baseline="-25000" dirty="0"/>
              <a:t>IH</a:t>
            </a:r>
            <a:r>
              <a:rPr lang="en-US" altLang="zh-CN" sz="2000" dirty="0"/>
              <a:t>(min) </a:t>
            </a:r>
            <a:r>
              <a:rPr kumimoji="1" lang="zh-CN" altLang="en-US" sz="2000" dirty="0"/>
              <a:t>：输入高电平的下限值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F90095-A87F-2E97-7B4A-04C2AB7E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DF7CA2-059D-3FDE-26F0-E2D628AE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28</a:t>
            </a:fld>
            <a:r>
              <a:rPr lang="en-US" altLang="zh-CN" dirty="0"/>
              <a:t>/35</a:t>
            </a:r>
            <a:endParaRPr lang="en-US" dirty="0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098604D4-B88C-640C-CA6D-F2A695C25DB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14164" y="1488309"/>
            <a:ext cx="523875" cy="493713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C279C5AF-762F-1760-9A48-F92B6DA5A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670" y="2125690"/>
            <a:ext cx="1014413" cy="2921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41BEFF4F-8101-D45E-905C-D1F53AC7F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295" y="2144740"/>
            <a:ext cx="12827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chemeClr val="tx2"/>
                </a:solidFill>
              </a:rPr>
              <a:t>驱动门</a:t>
            </a:r>
            <a:r>
              <a:rPr lang="en-US" altLang="zh-CN" sz="2400">
                <a:solidFill>
                  <a:schemeClr val="tx2"/>
                </a:solidFill>
              </a:rPr>
              <a:t>G</a:t>
            </a:r>
            <a:r>
              <a:rPr lang="en-US" altLang="zh-CN" sz="2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B1645C9E-BEE0-61AE-257A-182991928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483" y="2106640"/>
            <a:ext cx="993775" cy="3317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1D9E06DB-FFC0-9594-8143-A4C09C668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445" y="2165378"/>
            <a:ext cx="12827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chemeClr val="tx2"/>
                </a:solidFill>
              </a:rPr>
              <a:t>负载门</a:t>
            </a:r>
            <a:r>
              <a:rPr lang="en-US" altLang="zh-CN" sz="2400">
                <a:solidFill>
                  <a:schemeClr val="tx2"/>
                </a:solidFill>
              </a:rPr>
              <a:t>G</a:t>
            </a:r>
            <a:r>
              <a:rPr lang="en-US" altLang="zh-CN" sz="2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1" name="Line 37">
            <a:extLst>
              <a:ext uri="{FF2B5EF4-FFF2-40B4-BE49-F238E27FC236}">
                <a16:creationId xmlns:a16="http://schemas.microsoft.com/office/drawing/2014/main" id="{F75E0AC0-9B1E-38E3-9DA7-448A743192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045" y="1719290"/>
            <a:ext cx="147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38">
            <a:extLst>
              <a:ext uri="{FF2B5EF4-FFF2-40B4-BE49-F238E27FC236}">
                <a16:creationId xmlns:a16="http://schemas.microsoft.com/office/drawing/2014/main" id="{C1F084BC-E1EE-3210-2E9D-0AAD554213B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861526" y="1478785"/>
            <a:ext cx="523875" cy="493712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" name="Line 39">
            <a:extLst>
              <a:ext uri="{FF2B5EF4-FFF2-40B4-BE49-F238E27FC236}">
                <a16:creationId xmlns:a16="http://schemas.microsoft.com/office/drawing/2014/main" id="{08577886-9363-8353-7588-F7ACAE17A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6245" y="1725640"/>
            <a:ext cx="361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Oval 40">
            <a:extLst>
              <a:ext uri="{FF2B5EF4-FFF2-40B4-BE49-F238E27FC236}">
                <a16:creationId xmlns:a16="http://schemas.microsoft.com/office/drawing/2014/main" id="{702A57DF-55EE-6A34-3602-AB77D2ECC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283" y="1654203"/>
            <a:ext cx="130175" cy="1301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5" name="Line 41">
            <a:extLst>
              <a:ext uri="{FF2B5EF4-FFF2-40B4-BE49-F238E27FC236}">
                <a16:creationId xmlns:a16="http://schemas.microsoft.com/office/drawing/2014/main" id="{A3A07C17-AFB6-9BC6-4F2C-CF350CA31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5508" y="1735165"/>
            <a:ext cx="361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Oval 42">
            <a:extLst>
              <a:ext uri="{FF2B5EF4-FFF2-40B4-BE49-F238E27FC236}">
                <a16:creationId xmlns:a16="http://schemas.microsoft.com/office/drawing/2014/main" id="{B56DBE78-9440-4ECA-6393-B6A13E8F4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6920" y="1663728"/>
            <a:ext cx="130175" cy="1301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7" name="Rectangle 43">
            <a:extLst>
              <a:ext uri="{FF2B5EF4-FFF2-40B4-BE49-F238E27FC236}">
                <a16:creationId xmlns:a16="http://schemas.microsoft.com/office/drawing/2014/main" id="{998D3F56-8CED-A341-D416-85D4B38BB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333" y="1212878"/>
            <a:ext cx="33337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3200" i="1">
                <a:solidFill>
                  <a:srgbClr val="000000"/>
                </a:solidFill>
              </a:rPr>
              <a:t>v</a:t>
            </a:r>
            <a:r>
              <a:rPr lang="en-US" altLang="zh-CN" sz="2400">
                <a:solidFill>
                  <a:srgbClr val="000000"/>
                </a:solidFill>
              </a:rPr>
              <a:t>o</a:t>
            </a:r>
            <a:endParaRPr lang="zh-CN" altLang="en-US" sz="2400"/>
          </a:p>
        </p:txBody>
      </p:sp>
      <p:sp>
        <p:nvSpPr>
          <p:cNvPr id="18" name="Rectangle 44">
            <a:extLst>
              <a:ext uri="{FF2B5EF4-FFF2-40B4-BE49-F238E27FC236}">
                <a16:creationId xmlns:a16="http://schemas.microsoft.com/office/drawing/2014/main" id="{5385489A-FE93-4430-1DDF-EDECD2D02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1720" y="1212878"/>
            <a:ext cx="2651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3200" i="1">
                <a:solidFill>
                  <a:srgbClr val="000000"/>
                </a:solidFill>
              </a:rPr>
              <a:t>v</a:t>
            </a:r>
            <a:r>
              <a:rPr lang="en-US" altLang="zh-CN" sz="2400">
                <a:solidFill>
                  <a:srgbClr val="000000"/>
                </a:solidFill>
              </a:rPr>
              <a:t>i</a:t>
            </a:r>
            <a:endParaRPr lang="zh-CN" altLang="en-US" sz="2400"/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62F14F65-B484-F809-BFCD-522B8BD13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1295" y="3030565"/>
            <a:ext cx="79851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20" name="Group 84">
            <a:extLst>
              <a:ext uri="{FF2B5EF4-FFF2-40B4-BE49-F238E27FC236}">
                <a16:creationId xmlns:a16="http://schemas.microsoft.com/office/drawing/2014/main" id="{F4C3B41C-0F69-7202-BA5D-486ECD03EEAE}"/>
              </a:ext>
            </a:extLst>
          </p:cNvPr>
          <p:cNvGrpSpPr>
            <a:grpSpLocks/>
          </p:cNvGrpSpPr>
          <p:nvPr/>
        </p:nvGrpSpPr>
        <p:grpSpPr bwMode="auto">
          <a:xfrm>
            <a:off x="4509770" y="2625753"/>
            <a:ext cx="2266950" cy="3662362"/>
            <a:chOff x="2404" y="1667"/>
            <a:chExt cx="1428" cy="2307"/>
          </a:xfrm>
        </p:grpSpPr>
        <p:sp>
          <p:nvSpPr>
            <p:cNvPr id="21" name="Rectangle 4">
              <a:extLst>
                <a:ext uri="{FF2B5EF4-FFF2-40B4-BE49-F238E27FC236}">
                  <a16:creationId xmlns:a16="http://schemas.microsoft.com/office/drawing/2014/main" id="{CA71828B-86C3-5FB4-C386-10673A696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1774"/>
              <a:ext cx="499" cy="34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22" name="Rectangle 6">
              <a:extLst>
                <a:ext uri="{FF2B5EF4-FFF2-40B4-BE49-F238E27FC236}">
                  <a16:creationId xmlns:a16="http://schemas.microsoft.com/office/drawing/2014/main" id="{347CE558-4451-DA60-2194-404EA53F3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271"/>
              <a:ext cx="499" cy="34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23" name="Rectangle 14">
              <a:extLst>
                <a:ext uri="{FF2B5EF4-FFF2-40B4-BE49-F238E27FC236}">
                  <a16:creationId xmlns:a16="http://schemas.microsoft.com/office/drawing/2014/main" id="{4AB93BCA-1935-F5D9-1623-373187E55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1769"/>
              <a:ext cx="499" cy="1843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4" name="Rectangle 16">
              <a:extLst>
                <a:ext uri="{FF2B5EF4-FFF2-40B4-BE49-F238E27FC236}">
                  <a16:creationId xmlns:a16="http://schemas.microsoft.com/office/drawing/2014/main" id="{CE6DA928-810B-79AE-EC76-6B82898C6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" y="3667"/>
              <a:ext cx="87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G</a:t>
              </a:r>
              <a:r>
                <a:rPr lang="en-US" altLang="zh-CN" sz="2000">
                  <a:solidFill>
                    <a:srgbClr val="000000"/>
                  </a:solidFill>
                </a:rPr>
                <a:t>1</a:t>
              </a:r>
              <a:r>
                <a:rPr lang="en-US" altLang="zh-CN" sz="2400">
                  <a:solidFill>
                    <a:srgbClr val="000000"/>
                  </a:solidFill>
                </a:rPr>
                <a:t> </a:t>
              </a:r>
              <a:r>
                <a:rPr lang="en-US" altLang="zh-CN" sz="3200" i="1">
                  <a:solidFill>
                    <a:srgbClr val="000000"/>
                  </a:solidFill>
                </a:rPr>
                <a:t>v</a:t>
              </a:r>
              <a:r>
                <a:rPr lang="en-US" altLang="zh-CN" sz="2400">
                  <a:solidFill>
                    <a:srgbClr val="000000"/>
                  </a:solidFill>
                </a:rPr>
                <a:t>o</a:t>
              </a:r>
              <a:r>
                <a:rPr lang="zh-CN" altLang="en-US" sz="2400">
                  <a:solidFill>
                    <a:srgbClr val="000000"/>
                  </a:solidFill>
                </a:rPr>
                <a:t>范围</a:t>
              </a:r>
              <a:endParaRPr lang="zh-CN" altLang="en-US" sz="2400"/>
            </a:p>
          </p:txBody>
        </p:sp>
        <p:sp>
          <p:nvSpPr>
            <p:cNvPr id="25" name="Text Box 20">
              <a:extLst>
                <a:ext uri="{FF2B5EF4-FFF2-40B4-BE49-F238E27FC236}">
                  <a16:creationId xmlns:a16="http://schemas.microsoft.com/office/drawing/2014/main" id="{6DBB2E47-73DB-5B3D-2444-BE2007AC7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7" y="1910"/>
              <a:ext cx="7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V</a:t>
              </a:r>
              <a:r>
                <a:rPr lang="en-US" altLang="zh-CN" sz="1600" b="0"/>
                <a:t>OH(min)</a:t>
              </a:r>
            </a:p>
          </p:txBody>
        </p:sp>
        <p:sp>
          <p:nvSpPr>
            <p:cNvPr id="26" name="Text Box 21">
              <a:extLst>
                <a:ext uri="{FF2B5EF4-FFF2-40B4-BE49-F238E27FC236}">
                  <a16:creationId xmlns:a16="http://schemas.microsoft.com/office/drawing/2014/main" id="{7DF6C19D-2A82-A118-F477-A68C5B8F3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3119"/>
              <a:ext cx="7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V</a:t>
              </a:r>
              <a:r>
                <a:rPr lang="en-US" altLang="zh-CN" sz="1600" b="0"/>
                <a:t>OL(max)</a:t>
              </a:r>
            </a:p>
          </p:txBody>
        </p:sp>
        <p:sp>
          <p:nvSpPr>
            <p:cNvPr id="27" name="Text Box 34">
              <a:extLst>
                <a:ext uri="{FF2B5EF4-FFF2-40B4-BE49-F238E27FC236}">
                  <a16:creationId xmlns:a16="http://schemas.microsoft.com/office/drawing/2014/main" id="{4B1DA6AE-48F0-7675-596E-776D02916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9" y="1667"/>
              <a:ext cx="4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V</a:t>
              </a:r>
              <a:r>
                <a:rPr lang="en-US" altLang="zh-CN" sz="1600" b="0"/>
                <a:t>DD</a:t>
              </a:r>
            </a:p>
          </p:txBody>
        </p:sp>
        <p:sp>
          <p:nvSpPr>
            <p:cNvPr id="28" name="Text Box 35">
              <a:extLst>
                <a:ext uri="{FF2B5EF4-FFF2-40B4-BE49-F238E27FC236}">
                  <a16:creationId xmlns:a16="http://schemas.microsoft.com/office/drawing/2014/main" id="{7FC36A8C-6574-B682-6F33-67A723491C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3398"/>
              <a:ext cx="3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0V</a:t>
              </a:r>
              <a:endParaRPr lang="en-US" altLang="zh-CN" sz="1600" b="0"/>
            </a:p>
          </p:txBody>
        </p:sp>
      </p:grpSp>
      <p:grpSp>
        <p:nvGrpSpPr>
          <p:cNvPr id="29" name="Group 85">
            <a:extLst>
              <a:ext uri="{FF2B5EF4-FFF2-40B4-BE49-F238E27FC236}">
                <a16:creationId xmlns:a16="http://schemas.microsoft.com/office/drawing/2014/main" id="{D9F8992C-DBD2-59F1-057B-257CE1C2EEBC}"/>
              </a:ext>
            </a:extLst>
          </p:cNvPr>
          <p:cNvGrpSpPr>
            <a:grpSpLocks/>
          </p:cNvGrpSpPr>
          <p:nvPr/>
        </p:nvGrpSpPr>
        <p:grpSpPr bwMode="auto">
          <a:xfrm>
            <a:off x="7475220" y="2795615"/>
            <a:ext cx="2209800" cy="3476625"/>
            <a:chOff x="4272" y="1774"/>
            <a:chExt cx="1392" cy="2190"/>
          </a:xfrm>
        </p:grpSpPr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C4681AB4-5DC0-FE60-45D0-4BAF8199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774"/>
              <a:ext cx="545" cy="59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31" name="Rectangle 7">
              <a:extLst>
                <a:ext uri="{FF2B5EF4-FFF2-40B4-BE49-F238E27FC236}">
                  <a16:creationId xmlns:a16="http://schemas.microsoft.com/office/drawing/2014/main" id="{279AB039-A12A-75FB-B5D8-4E203681C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3045"/>
              <a:ext cx="545" cy="56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32" name="Rectangle 17">
              <a:extLst>
                <a:ext uri="{FF2B5EF4-FFF2-40B4-BE49-F238E27FC236}">
                  <a16:creationId xmlns:a16="http://schemas.microsoft.com/office/drawing/2014/main" id="{ADC603F3-0E43-F5E5-0DFD-CBEACC23D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774"/>
              <a:ext cx="545" cy="1838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3" name="Text Box 22">
              <a:extLst>
                <a:ext uri="{FF2B5EF4-FFF2-40B4-BE49-F238E27FC236}">
                  <a16:creationId xmlns:a16="http://schemas.microsoft.com/office/drawing/2014/main" id="{7FDA359C-A84D-727D-4183-F4645315FA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8" y="2190"/>
              <a:ext cx="6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V</a:t>
              </a:r>
              <a:r>
                <a:rPr lang="en-US" altLang="zh-CN" sz="1600" b="0"/>
                <a:t>IH(min)</a:t>
              </a:r>
            </a:p>
          </p:txBody>
        </p:sp>
        <p:sp>
          <p:nvSpPr>
            <p:cNvPr id="34" name="Text Box 23">
              <a:extLst>
                <a:ext uri="{FF2B5EF4-FFF2-40B4-BE49-F238E27FC236}">
                  <a16:creationId xmlns:a16="http://schemas.microsoft.com/office/drawing/2014/main" id="{D8B6172D-0DD3-213B-7FA3-7947B2A42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5" y="2893"/>
              <a:ext cx="6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V</a:t>
              </a:r>
              <a:r>
                <a:rPr lang="en-US" altLang="zh-CN" sz="1600" b="0"/>
                <a:t>IL(max)</a:t>
              </a: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0D8BF6DB-5D15-9F92-5997-90C77AA15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3657"/>
              <a:ext cx="83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G</a:t>
              </a:r>
              <a:r>
                <a:rPr lang="en-US" altLang="zh-CN" sz="2000">
                  <a:solidFill>
                    <a:srgbClr val="000000"/>
                  </a:solidFill>
                </a:rPr>
                <a:t>2</a:t>
              </a:r>
              <a:r>
                <a:rPr lang="en-US" altLang="zh-CN" sz="2400">
                  <a:solidFill>
                    <a:srgbClr val="000000"/>
                  </a:solidFill>
                </a:rPr>
                <a:t> </a:t>
              </a:r>
              <a:r>
                <a:rPr lang="en-US" altLang="zh-CN" sz="3200" i="1">
                  <a:solidFill>
                    <a:srgbClr val="000000"/>
                  </a:solidFill>
                </a:rPr>
                <a:t>v</a:t>
              </a:r>
              <a:r>
                <a:rPr lang="en-US" altLang="zh-CN" sz="2400">
                  <a:solidFill>
                    <a:srgbClr val="000000"/>
                  </a:solidFill>
                </a:rPr>
                <a:t>i</a:t>
              </a:r>
              <a:r>
                <a:rPr lang="zh-CN" altLang="en-US" sz="2400">
                  <a:solidFill>
                    <a:srgbClr val="000000"/>
                  </a:solidFill>
                </a:rPr>
                <a:t>范围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3559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850F5-06CA-5174-6DA1-9F75F772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噪声容限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423F27-9390-130E-9D1C-64BDA1A94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10000"/>
              </a:spcAft>
            </a:pPr>
            <a:r>
              <a:rPr lang="en-US" altLang="zh-CN" sz="2400" b="0" dirty="0"/>
              <a:t>V</a:t>
            </a:r>
            <a:r>
              <a:rPr lang="en-US" altLang="zh-CN" sz="2400" b="0" baseline="-25000" dirty="0"/>
              <a:t>NL</a:t>
            </a:r>
            <a:r>
              <a:rPr lang="zh-CN" altLang="en-US" sz="2400" b="0" dirty="0"/>
              <a:t>：输入低电平时的噪声容限</a:t>
            </a:r>
          </a:p>
          <a:p>
            <a:pPr>
              <a:spcAft>
                <a:spcPct val="10000"/>
              </a:spcAft>
            </a:pPr>
            <a:endParaRPr lang="zh-CN" altLang="en-US" sz="2400" b="0" dirty="0"/>
          </a:p>
          <a:p>
            <a:pPr>
              <a:spcBef>
                <a:spcPct val="20000"/>
              </a:spcBef>
              <a:spcAft>
                <a:spcPct val="10000"/>
              </a:spcAft>
            </a:pPr>
            <a:endParaRPr lang="en-US" altLang="zh-CN" sz="2400" b="0" dirty="0"/>
          </a:p>
          <a:p>
            <a:pPr>
              <a:spcBef>
                <a:spcPct val="20000"/>
              </a:spcBef>
              <a:spcAft>
                <a:spcPct val="10000"/>
              </a:spcAft>
            </a:pPr>
            <a:r>
              <a:rPr lang="en-US" altLang="zh-CN" sz="2400" b="0" dirty="0"/>
              <a:t>V</a:t>
            </a:r>
            <a:r>
              <a:rPr lang="en-US" altLang="zh-CN" sz="2400" b="0" baseline="-25000" dirty="0"/>
              <a:t>NH</a:t>
            </a:r>
            <a:r>
              <a:rPr lang="zh-CN" altLang="en-US" sz="2400" b="0"/>
              <a:t>：输入高电</a:t>
            </a:r>
            <a:r>
              <a:rPr lang="zh-CN" altLang="en-US" sz="2400" b="0" dirty="0"/>
              <a:t>平时的噪声容限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C200EE-C380-8779-61B8-574DC1CAE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8C1E76-42A7-9DC2-0629-8A383588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29</a:t>
            </a:fld>
            <a:r>
              <a:rPr lang="en-US" altLang="zh-CN" dirty="0"/>
              <a:t>/35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B4E4A26-1FB3-A22A-DFC4-E851628D8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81" y="2681754"/>
            <a:ext cx="792163" cy="5413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23DB1B1-EB46-BF08-6D7A-2A4105490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0194" y="2681754"/>
            <a:ext cx="865187" cy="9366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FF52AF8-818D-EB1A-4C0E-A3F718CF4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81" y="5058242"/>
            <a:ext cx="792163" cy="5413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E6B0EB7-A5EB-6C44-BF05-3225EF90C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0194" y="4699467"/>
            <a:ext cx="865187" cy="90011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7141E092-971C-C598-B1AB-FAFDCFB09CB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87525" y="1374448"/>
            <a:ext cx="523875" cy="493713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D872F0EA-4700-C269-AF5D-734014187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31" y="2011829"/>
            <a:ext cx="1014413" cy="2921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A67BE458-6054-EF48-06E9-ECEE5D05C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1656" y="2030879"/>
            <a:ext cx="12827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chemeClr val="tx2"/>
                </a:solidFill>
              </a:rPr>
              <a:t>驱动门</a:t>
            </a:r>
            <a:r>
              <a:rPr lang="en-US" altLang="zh-CN" sz="2400">
                <a:solidFill>
                  <a:schemeClr val="tx2"/>
                </a:solidFill>
              </a:rPr>
              <a:t>G</a:t>
            </a:r>
            <a:r>
              <a:rPr lang="en-US" altLang="zh-CN" sz="2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A068CA13-A617-0036-A1D9-18A4D8FD7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44" y="1992779"/>
            <a:ext cx="993775" cy="3317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50E16599-867E-BF5F-1E4E-8D138783F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806" y="2051517"/>
            <a:ext cx="12827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chemeClr val="tx2"/>
                </a:solidFill>
              </a:rPr>
              <a:t>负载门</a:t>
            </a:r>
            <a:r>
              <a:rPr lang="en-US" altLang="zh-CN" sz="2400">
                <a:solidFill>
                  <a:schemeClr val="tx2"/>
                </a:solidFill>
              </a:rPr>
              <a:t>G</a:t>
            </a:r>
            <a:r>
              <a:rPr lang="en-US" altLang="zh-CN" sz="2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A02B77-5991-B68E-C00C-DB08B6CC3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81" y="2673817"/>
            <a:ext cx="792163" cy="292576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63EBFA-5727-B3BF-B967-F660EC8BB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56" y="2916704"/>
            <a:ext cx="79851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FE7FD2-CF22-DBA1-345D-077DC6B4C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194" y="5686892"/>
            <a:ext cx="1385887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G</a:t>
            </a:r>
            <a:r>
              <a:rPr lang="en-US" altLang="zh-CN" sz="2000">
                <a:solidFill>
                  <a:srgbClr val="000000"/>
                </a:solidFill>
              </a:rPr>
              <a:t>1</a:t>
            </a: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en-US" altLang="zh-CN" sz="3200" i="1">
                <a:solidFill>
                  <a:srgbClr val="000000"/>
                </a:solidFill>
              </a:rPr>
              <a:t>v</a:t>
            </a:r>
            <a:r>
              <a:rPr lang="en-US" altLang="zh-CN" sz="2400">
                <a:solidFill>
                  <a:srgbClr val="000000"/>
                </a:solidFill>
              </a:rPr>
              <a:t>o</a:t>
            </a:r>
            <a:r>
              <a:rPr lang="zh-CN" altLang="en-US" sz="2400">
                <a:solidFill>
                  <a:srgbClr val="000000"/>
                </a:solidFill>
              </a:rPr>
              <a:t>范围</a:t>
            </a:r>
            <a:endParaRPr lang="zh-CN" altLang="en-US" sz="2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054A71-142C-02A3-5E35-C55921675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0194" y="2681754"/>
            <a:ext cx="865187" cy="291782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B31B21D2-8CEB-5F87-80B0-C546401AC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44" y="2897654"/>
            <a:ext cx="1150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V</a:t>
            </a:r>
            <a:r>
              <a:rPr lang="en-US" altLang="zh-CN" sz="1600" b="0"/>
              <a:t>OH(min)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50CD9BD8-9B96-0DE2-3AC2-1696BCC09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31" y="4816942"/>
            <a:ext cx="1162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V</a:t>
            </a:r>
            <a:r>
              <a:rPr lang="en-US" altLang="zh-CN" sz="1600" b="0"/>
              <a:t>OL(max)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0C2EEDB7-09F2-75E8-739A-84454A563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5231" y="3342154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V</a:t>
            </a:r>
            <a:r>
              <a:rPr lang="en-US" altLang="zh-CN" sz="1600" b="0"/>
              <a:t>IH(min)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91E4E14-6073-E541-0541-A565BD069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8719" y="4458167"/>
            <a:ext cx="1084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V</a:t>
            </a:r>
            <a:r>
              <a:rPr lang="en-US" altLang="zh-CN" sz="1600" b="0"/>
              <a:t>IL(max)</a:t>
            </a:r>
          </a:p>
        </p:txBody>
      </p:sp>
      <p:grpSp>
        <p:nvGrpSpPr>
          <p:cNvPr id="23" name="Group 52">
            <a:extLst>
              <a:ext uri="{FF2B5EF4-FFF2-40B4-BE49-F238E27FC236}">
                <a16:creationId xmlns:a16="http://schemas.microsoft.com/office/drawing/2014/main" id="{79E73F4E-7DCF-9449-3238-634FD948E74D}"/>
              </a:ext>
            </a:extLst>
          </p:cNvPr>
          <p:cNvGrpSpPr>
            <a:grpSpLocks/>
          </p:cNvGrpSpPr>
          <p:nvPr/>
        </p:nvGrpSpPr>
        <p:grpSpPr bwMode="auto">
          <a:xfrm>
            <a:off x="5770581" y="4348629"/>
            <a:ext cx="2843213" cy="1069975"/>
            <a:chOff x="3152" y="2824"/>
            <a:chExt cx="1791" cy="674"/>
          </a:xfrm>
        </p:grpSpPr>
        <p:sp>
          <p:nvSpPr>
            <p:cNvPr id="24" name="Line 26">
              <a:extLst>
                <a:ext uri="{FF2B5EF4-FFF2-40B4-BE49-F238E27FC236}">
                  <a16:creationId xmlns:a16="http://schemas.microsoft.com/office/drawing/2014/main" id="{3C08DF11-1D37-DFC9-CAD4-CDB332232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5" y="3051"/>
              <a:ext cx="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D4F3835E-A920-2DFB-CF9C-D48BCFBC2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3271"/>
              <a:ext cx="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29">
              <a:extLst>
                <a:ext uri="{FF2B5EF4-FFF2-40B4-BE49-F238E27FC236}">
                  <a16:creationId xmlns:a16="http://schemas.microsoft.com/office/drawing/2014/main" id="{9EDF815D-2005-ED0A-F9A3-29287AAA4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" y="3005"/>
              <a:ext cx="4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V</a:t>
              </a:r>
              <a:r>
                <a:rPr lang="en-US" altLang="zh-CN" sz="1600" b="0"/>
                <a:t>NL</a:t>
              </a:r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5A5CAD38-B1B9-C5CA-539B-2AAE8502D4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1" y="3271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31">
              <a:extLst>
                <a:ext uri="{FF2B5EF4-FFF2-40B4-BE49-F238E27FC236}">
                  <a16:creationId xmlns:a16="http://schemas.microsoft.com/office/drawing/2014/main" id="{582054BC-FDD1-B04B-67BA-C8AB160AA0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4" y="2824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" name="Group 51">
            <a:extLst>
              <a:ext uri="{FF2B5EF4-FFF2-40B4-BE49-F238E27FC236}">
                <a16:creationId xmlns:a16="http://schemas.microsoft.com/office/drawing/2014/main" id="{5DE16408-6AE7-FE6A-BA49-AA4763F1015A}"/>
              </a:ext>
            </a:extLst>
          </p:cNvPr>
          <p:cNvGrpSpPr>
            <a:grpSpLocks/>
          </p:cNvGrpSpPr>
          <p:nvPr/>
        </p:nvGrpSpPr>
        <p:grpSpPr bwMode="auto">
          <a:xfrm>
            <a:off x="5770581" y="2872254"/>
            <a:ext cx="2843213" cy="1106488"/>
            <a:chOff x="3152" y="1894"/>
            <a:chExt cx="1791" cy="697"/>
          </a:xfrm>
        </p:grpSpPr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F9F60178-83D2-7278-8F5B-E241A3ED6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115"/>
              <a:ext cx="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5">
              <a:extLst>
                <a:ext uri="{FF2B5EF4-FFF2-40B4-BE49-F238E27FC236}">
                  <a16:creationId xmlns:a16="http://schemas.microsoft.com/office/drawing/2014/main" id="{872DA126-812A-474C-BB2B-CED0E7E7D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5" y="2364"/>
              <a:ext cx="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28">
              <a:extLst>
                <a:ext uri="{FF2B5EF4-FFF2-40B4-BE49-F238E27FC236}">
                  <a16:creationId xmlns:a16="http://schemas.microsoft.com/office/drawing/2014/main" id="{0420E999-3496-7023-71EB-EDCCDF04F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1" y="2075"/>
              <a:ext cx="4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V</a:t>
              </a:r>
              <a:r>
                <a:rPr lang="en-US" altLang="zh-CN" sz="1600" b="0"/>
                <a:t>NH</a:t>
              </a: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C987B785-378D-8EF9-51A9-C1DA0E1077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6" y="2364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C310E4EE-A0B2-90A3-7B21-A37E42271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6" y="1894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" name="Text Box 34">
            <a:extLst>
              <a:ext uri="{FF2B5EF4-FFF2-40B4-BE49-F238E27FC236}">
                <a16:creationId xmlns:a16="http://schemas.microsoft.com/office/drawing/2014/main" id="{28DA49F5-7D24-2F2F-DE12-C02D57CDF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694" y="2511892"/>
            <a:ext cx="696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V</a:t>
            </a:r>
            <a:r>
              <a:rPr lang="en-US" altLang="zh-CN" sz="1600" b="0"/>
              <a:t>DD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84A04505-34A8-5A78-73E6-AF98B5DB4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19" y="5259854"/>
            <a:ext cx="557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0V</a:t>
            </a:r>
            <a:endParaRPr lang="en-US" altLang="zh-CN" sz="1600" b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98B96A-D1EE-653F-78BC-957E0F471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81" y="5671017"/>
            <a:ext cx="131762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G</a:t>
            </a:r>
            <a:r>
              <a:rPr lang="en-US" altLang="zh-CN" sz="2000">
                <a:solidFill>
                  <a:srgbClr val="000000"/>
                </a:solidFill>
              </a:rPr>
              <a:t>2</a:t>
            </a: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en-US" altLang="zh-CN" sz="3200" i="1">
                <a:solidFill>
                  <a:srgbClr val="000000"/>
                </a:solidFill>
              </a:rPr>
              <a:t>v</a:t>
            </a:r>
            <a:r>
              <a:rPr lang="en-US" altLang="zh-CN" sz="2400">
                <a:solidFill>
                  <a:srgbClr val="000000"/>
                </a:solidFill>
              </a:rPr>
              <a:t>i</a:t>
            </a:r>
            <a:r>
              <a:rPr lang="zh-CN" altLang="en-US" sz="2400">
                <a:solidFill>
                  <a:srgbClr val="000000"/>
                </a:solidFill>
              </a:rPr>
              <a:t>范围</a:t>
            </a:r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CFC7055F-C4D4-567E-7CEE-8CC2558B73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9406" y="1605429"/>
            <a:ext cx="147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AutoShape 38">
            <a:extLst>
              <a:ext uri="{FF2B5EF4-FFF2-40B4-BE49-F238E27FC236}">
                <a16:creationId xmlns:a16="http://schemas.microsoft.com/office/drawing/2014/main" id="{B21BE673-4128-5F6A-C416-BE33335B897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4887" y="1364924"/>
            <a:ext cx="523875" cy="493712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B538166A-D044-1513-9184-2498DBB707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9606" y="1611779"/>
            <a:ext cx="361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FF38338-A50F-1119-2DAF-69C33DFF9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44" y="1540342"/>
            <a:ext cx="130175" cy="1301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826C8291-3C62-53D9-A26E-9F76BC05420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8869" y="1621304"/>
            <a:ext cx="361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FAE1E97-B04A-BF9E-2209-24098D10D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0281" y="1549867"/>
            <a:ext cx="130175" cy="1301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163B71-A8CA-3289-F496-9BE8CFF82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94" y="1099017"/>
            <a:ext cx="33337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3200" i="1">
                <a:solidFill>
                  <a:srgbClr val="000000"/>
                </a:solidFill>
              </a:rPr>
              <a:t>v</a:t>
            </a:r>
            <a:r>
              <a:rPr lang="en-US" altLang="zh-CN" sz="2400">
                <a:solidFill>
                  <a:srgbClr val="000000"/>
                </a:solidFill>
              </a:rPr>
              <a:t>o</a:t>
            </a:r>
            <a:endParaRPr lang="zh-CN" altLang="en-US" sz="2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87B7AC-A75D-67B7-C50B-048D9608A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081" y="1099017"/>
            <a:ext cx="2651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3200" i="1">
                <a:solidFill>
                  <a:srgbClr val="000000"/>
                </a:solidFill>
              </a:rPr>
              <a:t>v</a:t>
            </a:r>
            <a:r>
              <a:rPr lang="en-US" altLang="zh-CN" sz="2400">
                <a:solidFill>
                  <a:srgbClr val="000000"/>
                </a:solidFill>
              </a:rPr>
              <a:t>i</a:t>
            </a:r>
            <a:endParaRPr lang="zh-CN" altLang="en-US" sz="2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97A053D-96A3-2F6E-9597-5B0840B59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44" y="2671109"/>
            <a:ext cx="288607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dirty="0"/>
              <a:t>V</a:t>
            </a:r>
            <a:r>
              <a:rPr kumimoji="1" lang="en-US" altLang="zh-CN" sz="2400" baseline="-25000" dirty="0"/>
              <a:t>NH </a:t>
            </a:r>
            <a:r>
              <a:rPr kumimoji="1" lang="en-US" altLang="zh-CN" sz="2400" dirty="0"/>
              <a:t>=V</a:t>
            </a:r>
            <a:r>
              <a:rPr kumimoji="1" lang="en-US" altLang="zh-CN" sz="2400" baseline="-25000" dirty="0"/>
              <a:t>OH(min)</a:t>
            </a:r>
            <a:r>
              <a:rPr kumimoji="1" lang="en-US" altLang="zh-CN" sz="2400" dirty="0">
                <a:cs typeface="Times New Roman" panose="02020603050405020304" pitchFamily="18" charset="0"/>
              </a:rPr>
              <a:t>–V</a:t>
            </a:r>
            <a:r>
              <a:rPr kumimoji="1" lang="en-US" altLang="zh-CN" sz="2400" baseline="-25000" dirty="0">
                <a:cs typeface="Times New Roman" panose="02020603050405020304" pitchFamily="18" charset="0"/>
              </a:rPr>
              <a:t>IH(min)</a:t>
            </a:r>
            <a:endParaRPr kumimoji="1" lang="en-US" altLang="zh-CN" sz="2400" dirty="0">
              <a:latin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0F74A21-C0E9-B8CD-2EF0-D6422D8FC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606" y="1219666"/>
            <a:ext cx="2922588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 dirty="0"/>
              <a:t>V</a:t>
            </a:r>
            <a:r>
              <a:rPr kumimoji="1" lang="en-US" altLang="zh-CN" sz="2400" baseline="-25000" dirty="0"/>
              <a:t>NL</a:t>
            </a:r>
            <a:r>
              <a:rPr kumimoji="1" lang="en-US" altLang="zh-CN" sz="2400" dirty="0"/>
              <a:t> =V</a:t>
            </a:r>
            <a:r>
              <a:rPr kumimoji="1" lang="en-US" altLang="zh-CN" sz="2400" baseline="-25000" dirty="0"/>
              <a:t>IL(max) </a:t>
            </a:r>
            <a:r>
              <a:rPr kumimoji="1" lang="en-US" altLang="zh-CN" sz="2400" dirty="0">
                <a:cs typeface="Times New Roman" panose="02020603050405020304" pitchFamily="18" charset="0"/>
              </a:rPr>
              <a:t>–V</a:t>
            </a:r>
            <a:r>
              <a:rPr kumimoji="1" lang="en-US" altLang="zh-CN" sz="2400" baseline="-25000" dirty="0">
                <a:cs typeface="Times New Roman" panose="02020603050405020304" pitchFamily="18" charset="0"/>
              </a:rPr>
              <a:t>OL(max)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033B504-7A79-1FDD-974F-BF7441804B5B}"/>
              </a:ext>
            </a:extLst>
          </p:cNvPr>
          <p:cNvSpPr/>
          <p:nvPr/>
        </p:nvSpPr>
        <p:spPr>
          <a:xfrm>
            <a:off x="227247" y="4490990"/>
            <a:ext cx="3757998" cy="14527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ct val="10000"/>
              </a:spcAft>
            </a:pPr>
            <a:r>
              <a:rPr lang="zh-CN" altLang="en-US" sz="2400" b="1" u="sng" dirty="0">
                <a:latin typeface="+mj-ea"/>
                <a:ea typeface="+mj-ea"/>
              </a:rPr>
              <a:t>噪声容限</a:t>
            </a:r>
            <a:r>
              <a:rPr lang="zh-CN" altLang="en-US" sz="2000" dirty="0">
                <a:latin typeface="+mj-ea"/>
                <a:ea typeface="+mj-ea"/>
              </a:rPr>
              <a:t>：</a:t>
            </a:r>
            <a:endParaRPr lang="en-US" altLang="zh-CN" sz="2000" dirty="0">
              <a:latin typeface="+mj-ea"/>
              <a:ea typeface="+mj-ea"/>
            </a:endParaRPr>
          </a:p>
          <a:p>
            <a:pPr algn="just">
              <a:spcAft>
                <a:spcPct val="10000"/>
              </a:spcAft>
            </a:pPr>
            <a:r>
              <a:rPr lang="zh-CN" altLang="en-US" sz="2000" dirty="0">
                <a:latin typeface="+mj-ea"/>
                <a:ea typeface="+mj-ea"/>
              </a:rPr>
              <a:t>在保证输出电平不变的条件下，输入电平允许波动的范围；</a:t>
            </a:r>
            <a:endParaRPr lang="en-US" altLang="zh-CN" sz="2000" dirty="0">
              <a:latin typeface="+mj-ea"/>
              <a:ea typeface="+mj-ea"/>
            </a:endParaRPr>
          </a:p>
          <a:p>
            <a:pPr>
              <a:spcAft>
                <a:spcPct val="10000"/>
              </a:spcAft>
            </a:pPr>
            <a:r>
              <a:rPr lang="zh-CN" altLang="en-US" sz="2000" dirty="0">
                <a:latin typeface="+mj-ea"/>
                <a:ea typeface="+mj-ea"/>
              </a:rPr>
              <a:t>表示抗干扰能力</a:t>
            </a:r>
          </a:p>
        </p:txBody>
      </p:sp>
    </p:spTree>
    <p:extLst>
      <p:ext uri="{BB962C8B-B14F-4D97-AF65-F5344CB8AC3E}">
        <p14:creationId xmlns:p14="http://schemas.microsoft.com/office/powerpoint/2010/main" val="42726167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0BB34-6E4B-FEDA-5192-D39049C4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传输延迟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CD71FD-04EA-0896-4A65-F832DFE6C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4297045" cy="5947119"/>
          </a:xfrm>
        </p:spPr>
        <p:txBody>
          <a:bodyPr/>
          <a:lstStyle/>
          <a:p>
            <a:r>
              <a:rPr lang="zh-CN" altLang="en-US" dirty="0"/>
              <a:t>在输入脉冲波形作用下，其输出波形相对于输入波形的延迟时间</a:t>
            </a:r>
          </a:p>
          <a:p>
            <a:pPr lvl="1"/>
            <a:r>
              <a:rPr lang="zh-CN" altLang="en-US" dirty="0"/>
              <a:t>表征门电路的开关速度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61AABB-60EB-6EB5-6300-2FBE60A3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670B22-11B4-6E54-3992-913DFF92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30</a:t>
            </a:fld>
            <a:r>
              <a:rPr lang="en-US" altLang="zh-CN" dirty="0"/>
              <a:t>/35</a:t>
            </a:r>
            <a:endParaRPr 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9DEA80F-E620-E7FC-59DF-B5C286460CB0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635500" y="948422"/>
            <a:ext cx="4960938" cy="346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0D95F9-752B-CCA4-F8A3-D4106BE0A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175" y="1973947"/>
            <a:ext cx="925513" cy="428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F82507-E0D9-6133-AD8D-7B372408B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0275" y="991284"/>
            <a:ext cx="1871663" cy="41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FBBD43C-E00E-B3BD-C0AF-91B36A825011}"/>
              </a:ext>
            </a:extLst>
          </p:cNvPr>
          <p:cNvSpPr>
            <a:spLocks/>
          </p:cNvSpPr>
          <p:nvPr/>
        </p:nvSpPr>
        <p:spPr bwMode="auto">
          <a:xfrm>
            <a:off x="7837488" y="991284"/>
            <a:ext cx="450850" cy="1025525"/>
          </a:xfrm>
          <a:custGeom>
            <a:avLst/>
            <a:gdLst>
              <a:gd name="T0" fmla="*/ 2147483646 w 182"/>
              <a:gd name="T1" fmla="*/ 2147483646 h 436"/>
              <a:gd name="T2" fmla="*/ 2147483646 w 182"/>
              <a:gd name="T3" fmla="*/ 2147483646 h 436"/>
              <a:gd name="T4" fmla="*/ 2147483646 w 182"/>
              <a:gd name="T5" fmla="*/ 0 h 436"/>
              <a:gd name="T6" fmla="*/ 0 w 182"/>
              <a:gd name="T7" fmla="*/ 2147483646 h 436"/>
              <a:gd name="T8" fmla="*/ 2147483646 w 182"/>
              <a:gd name="T9" fmla="*/ 2147483646 h 4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436"/>
              <a:gd name="T17" fmla="*/ 182 w 182"/>
              <a:gd name="T18" fmla="*/ 436 h 4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436">
                <a:moveTo>
                  <a:pt x="164" y="436"/>
                </a:moveTo>
                <a:lnTo>
                  <a:pt x="182" y="427"/>
                </a:lnTo>
                <a:lnTo>
                  <a:pt x="18" y="0"/>
                </a:lnTo>
                <a:lnTo>
                  <a:pt x="0" y="9"/>
                </a:lnTo>
                <a:lnTo>
                  <a:pt x="164" y="43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A9F0966-EE82-5C25-3971-F96EB9C825B4}"/>
              </a:ext>
            </a:extLst>
          </p:cNvPr>
          <p:cNvSpPr>
            <a:spLocks/>
          </p:cNvSpPr>
          <p:nvPr/>
        </p:nvSpPr>
        <p:spPr bwMode="auto">
          <a:xfrm>
            <a:off x="5583238" y="991284"/>
            <a:ext cx="452437" cy="1025525"/>
          </a:xfrm>
          <a:custGeom>
            <a:avLst/>
            <a:gdLst>
              <a:gd name="T0" fmla="*/ 0 w 182"/>
              <a:gd name="T1" fmla="*/ 2147483646 h 436"/>
              <a:gd name="T2" fmla="*/ 2147483646 w 182"/>
              <a:gd name="T3" fmla="*/ 2147483646 h 436"/>
              <a:gd name="T4" fmla="*/ 2147483646 w 182"/>
              <a:gd name="T5" fmla="*/ 2147483646 h 436"/>
              <a:gd name="T6" fmla="*/ 2147483646 w 182"/>
              <a:gd name="T7" fmla="*/ 0 h 436"/>
              <a:gd name="T8" fmla="*/ 0 w 182"/>
              <a:gd name="T9" fmla="*/ 2147483646 h 4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436"/>
              <a:gd name="T17" fmla="*/ 182 w 182"/>
              <a:gd name="T18" fmla="*/ 436 h 4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436">
                <a:moveTo>
                  <a:pt x="0" y="427"/>
                </a:moveTo>
                <a:lnTo>
                  <a:pt x="18" y="436"/>
                </a:lnTo>
                <a:lnTo>
                  <a:pt x="182" y="9"/>
                </a:lnTo>
                <a:lnTo>
                  <a:pt x="163" y="0"/>
                </a:lnTo>
                <a:lnTo>
                  <a:pt x="0" y="4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D76E59-F56E-312D-3E74-FBE7C5C57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1953309"/>
            <a:ext cx="1263650" cy="41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CF9804-94BA-6F7C-8567-EC680957D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263" y="2874059"/>
            <a:ext cx="698500" cy="41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078913-B8F1-D1A3-83BE-105B7A991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3813859"/>
            <a:ext cx="1851025" cy="428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8CF12A89-03D1-E192-5431-D22B14769F03}"/>
              </a:ext>
            </a:extLst>
          </p:cNvPr>
          <p:cNvSpPr>
            <a:spLocks/>
          </p:cNvSpPr>
          <p:nvPr/>
        </p:nvSpPr>
        <p:spPr bwMode="auto">
          <a:xfrm>
            <a:off x="6235700" y="2894697"/>
            <a:ext cx="430213" cy="962025"/>
          </a:xfrm>
          <a:custGeom>
            <a:avLst/>
            <a:gdLst>
              <a:gd name="T0" fmla="*/ 2147483646 w 173"/>
              <a:gd name="T1" fmla="*/ 0 h 409"/>
              <a:gd name="T2" fmla="*/ 0 w 173"/>
              <a:gd name="T3" fmla="*/ 2147483646 h 409"/>
              <a:gd name="T4" fmla="*/ 2147483646 w 173"/>
              <a:gd name="T5" fmla="*/ 2147483646 h 409"/>
              <a:gd name="T6" fmla="*/ 2147483646 w 173"/>
              <a:gd name="T7" fmla="*/ 2147483646 h 409"/>
              <a:gd name="T8" fmla="*/ 2147483646 w 173"/>
              <a:gd name="T9" fmla="*/ 0 h 4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3"/>
              <a:gd name="T16" fmla="*/ 0 h 409"/>
              <a:gd name="T17" fmla="*/ 173 w 173"/>
              <a:gd name="T18" fmla="*/ 409 h 40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3" h="409">
                <a:moveTo>
                  <a:pt x="18" y="0"/>
                </a:moveTo>
                <a:lnTo>
                  <a:pt x="0" y="9"/>
                </a:lnTo>
                <a:lnTo>
                  <a:pt x="154" y="409"/>
                </a:lnTo>
                <a:lnTo>
                  <a:pt x="173" y="400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8A7A38AF-7C76-862E-88C7-628A3F5976B9}"/>
              </a:ext>
            </a:extLst>
          </p:cNvPr>
          <p:cNvSpPr>
            <a:spLocks/>
          </p:cNvSpPr>
          <p:nvPr/>
        </p:nvSpPr>
        <p:spPr bwMode="auto">
          <a:xfrm>
            <a:off x="8445500" y="2874059"/>
            <a:ext cx="430213" cy="982663"/>
          </a:xfrm>
          <a:custGeom>
            <a:avLst/>
            <a:gdLst>
              <a:gd name="T0" fmla="*/ 2147483646 w 173"/>
              <a:gd name="T1" fmla="*/ 2147483646 h 418"/>
              <a:gd name="T2" fmla="*/ 2147483646 w 173"/>
              <a:gd name="T3" fmla="*/ 0 h 418"/>
              <a:gd name="T4" fmla="*/ 0 w 173"/>
              <a:gd name="T5" fmla="*/ 2147483646 h 418"/>
              <a:gd name="T6" fmla="*/ 2147483646 w 173"/>
              <a:gd name="T7" fmla="*/ 2147483646 h 418"/>
              <a:gd name="T8" fmla="*/ 2147483646 w 173"/>
              <a:gd name="T9" fmla="*/ 2147483646 h 4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3"/>
              <a:gd name="T16" fmla="*/ 0 h 418"/>
              <a:gd name="T17" fmla="*/ 173 w 173"/>
              <a:gd name="T18" fmla="*/ 418 h 4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3" h="418">
                <a:moveTo>
                  <a:pt x="173" y="9"/>
                </a:moveTo>
                <a:lnTo>
                  <a:pt x="155" y="0"/>
                </a:lnTo>
                <a:lnTo>
                  <a:pt x="0" y="409"/>
                </a:lnTo>
                <a:lnTo>
                  <a:pt x="18" y="418"/>
                </a:lnTo>
                <a:lnTo>
                  <a:pt x="17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897F64-E982-939F-1933-7517902D0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2874059"/>
            <a:ext cx="1600200" cy="412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0D04E-560D-EB06-9541-78ED5064ED03}"/>
              </a:ext>
            </a:extLst>
          </p:cNvPr>
          <p:cNvGrpSpPr>
            <a:grpSpLocks/>
          </p:cNvGrpSpPr>
          <p:nvPr/>
        </p:nvGrpSpPr>
        <p:grpSpPr bwMode="auto">
          <a:xfrm>
            <a:off x="5830888" y="1334184"/>
            <a:ext cx="22225" cy="1366838"/>
            <a:chOff x="3951" y="2052"/>
            <a:chExt cx="9" cy="581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DCBA181-9A93-D77B-2EB1-3987B0CE6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597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E419843-B8E0-BC2B-0682-5AAB2169C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533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AE96249-6F95-E335-AB70-D28C98F16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470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BB620DA-680A-FA18-29A7-44D2E8946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406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8C1E56F-5911-A280-097A-B1BF30186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342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7A7A775-CBD1-EE35-12E7-B8EB1F1BB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279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7ED0BC2-7C91-1445-911E-3DF66F2D5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215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6FD78DA-C019-0C87-DC58-09CC5430A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152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D045933-2FC4-14EA-9F02-6FE4458C7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088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D2FD3F7-386A-F43B-6B8F-DD1875DDA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052"/>
              <a:ext cx="9" cy="9"/>
            </a:xfrm>
            <a:custGeom>
              <a:avLst/>
              <a:gdLst>
                <a:gd name="T0" fmla="*/ 0 w 9"/>
                <a:gd name="T1" fmla="*/ 9 h 9"/>
                <a:gd name="T2" fmla="*/ 0 w 9"/>
                <a:gd name="T3" fmla="*/ 9 h 9"/>
                <a:gd name="T4" fmla="*/ 9 w 9"/>
                <a:gd name="T5" fmla="*/ 9 h 9"/>
                <a:gd name="T6" fmla="*/ 9 w 9"/>
                <a:gd name="T7" fmla="*/ 0 h 9"/>
                <a:gd name="T8" fmla="*/ 0 w 9"/>
                <a:gd name="T9" fmla="*/ 0 h 9"/>
                <a:gd name="T10" fmla="*/ 0 w 9"/>
                <a:gd name="T11" fmla="*/ 0 h 9"/>
                <a:gd name="T12" fmla="*/ 0 w 9"/>
                <a:gd name="T13" fmla="*/ 9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9"/>
                <a:gd name="T23" fmla="*/ 9 w 9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9">
                  <a:moveTo>
                    <a:pt x="0" y="9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Line 27">
            <a:extLst>
              <a:ext uri="{FF2B5EF4-FFF2-40B4-BE49-F238E27FC236}">
                <a16:creationId xmlns:a16="http://schemas.microsoft.com/office/drawing/2014/main" id="{F808DE1D-A129-A0F9-42F9-70D6AAB323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0400" y="1504047"/>
            <a:ext cx="158750" cy="1587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BAB0409-EE49-BFFC-DCAB-AE38C52BD65C}"/>
              </a:ext>
            </a:extLst>
          </p:cNvPr>
          <p:cNvGrpSpPr>
            <a:grpSpLocks/>
          </p:cNvGrpSpPr>
          <p:nvPr/>
        </p:nvGrpSpPr>
        <p:grpSpPr bwMode="auto">
          <a:xfrm>
            <a:off x="6461125" y="2210484"/>
            <a:ext cx="23813" cy="1281113"/>
            <a:chOff x="4205" y="2424"/>
            <a:chExt cx="9" cy="545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F84E52F-D5C6-681A-0BBA-3FDFEB71E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933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5AF83BC-5C64-4A05-EC05-B97EDA57C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869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2A609B1-52C1-63D9-019D-6FD951899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806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4359BF4-FB13-01B7-9067-3916288A1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742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4510745-C50B-0151-29DC-AAA57E93B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679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8131A9D-DEF6-8AED-9B79-85DA20B45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615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3D3A345-BA4B-4D0F-0C15-28A657ED6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551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E5BC8F4-7830-5C24-F4FB-79A7F49E1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488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DD839C35-5A33-3472-6D39-B35154931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424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" name="Line 38">
            <a:extLst>
              <a:ext uri="{FF2B5EF4-FFF2-40B4-BE49-F238E27FC236}">
                <a16:creationId xmlns:a16="http://schemas.microsoft.com/office/drawing/2014/main" id="{871722E5-E785-03F8-856C-28326AE84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8263" y="3386822"/>
            <a:ext cx="155575" cy="1587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E6570AFF-934B-5658-261F-A74138F0BF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0275" y="2508934"/>
            <a:ext cx="384175" cy="31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55345F5A-905D-BB8E-F5CE-E8C049557988}"/>
              </a:ext>
            </a:extLst>
          </p:cNvPr>
          <p:cNvSpPr>
            <a:spLocks/>
          </p:cNvSpPr>
          <p:nvPr/>
        </p:nvSpPr>
        <p:spPr bwMode="auto">
          <a:xfrm>
            <a:off x="5830888" y="2486709"/>
            <a:ext cx="225425" cy="42863"/>
          </a:xfrm>
          <a:custGeom>
            <a:avLst/>
            <a:gdLst>
              <a:gd name="T0" fmla="*/ 2147483646 w 91"/>
              <a:gd name="T1" fmla="*/ 2147483646 h 18"/>
              <a:gd name="T2" fmla="*/ 2147483646 w 91"/>
              <a:gd name="T3" fmla="*/ 0 h 18"/>
              <a:gd name="T4" fmla="*/ 0 w 91"/>
              <a:gd name="T5" fmla="*/ 2147483646 h 18"/>
              <a:gd name="T6" fmla="*/ 2147483646 w 91"/>
              <a:gd name="T7" fmla="*/ 2147483646 h 18"/>
              <a:gd name="T8" fmla="*/ 0 60000 65536"/>
              <a:gd name="T9" fmla="*/ 0 60000 65536"/>
              <a:gd name="T10" fmla="*/ 0 60000 65536"/>
              <a:gd name="T11" fmla="*/ 0 60000 65536"/>
              <a:gd name="T12" fmla="*/ 0 w 91"/>
              <a:gd name="T13" fmla="*/ 0 h 18"/>
              <a:gd name="T14" fmla="*/ 91 w 91"/>
              <a:gd name="T15" fmla="*/ 18 h 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" h="18">
                <a:moveTo>
                  <a:pt x="91" y="18"/>
                </a:moveTo>
                <a:lnTo>
                  <a:pt x="91" y="0"/>
                </a:lnTo>
                <a:lnTo>
                  <a:pt x="0" y="9"/>
                </a:lnTo>
                <a:lnTo>
                  <a:pt x="91" y="18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48573E0-4D68-E19A-2B63-B0A2ECB2B12A}"/>
              </a:ext>
            </a:extLst>
          </p:cNvPr>
          <p:cNvGrpSpPr>
            <a:grpSpLocks/>
          </p:cNvGrpSpPr>
          <p:nvPr/>
        </p:nvGrpSpPr>
        <p:grpSpPr bwMode="auto">
          <a:xfrm>
            <a:off x="6302375" y="2915334"/>
            <a:ext cx="22225" cy="1433513"/>
            <a:chOff x="4141" y="2724"/>
            <a:chExt cx="9" cy="609"/>
          </a:xfrm>
        </p:grpSpPr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377F4417-22BF-CB9A-F52B-DFD188B43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3296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25B0DDB8-7C6F-B004-07E2-8D9DD106C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3233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C0D4241-AA08-9B82-BB8E-9E188DE08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3169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650E522-E99B-0AFD-CA88-84597BC33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3106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8CE7EB2B-3233-B14F-189E-4F16D1539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3042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4E9E785-7BD2-C387-2D21-8490EA7A5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2978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53CC676-04AE-9FA3-F6A5-BD163F4AE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2915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AAECF07-8D3D-ED8F-A50D-954EDA0AC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2851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786257EE-CEE4-147E-8A9F-990B76DF2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2788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8587F4D-74FF-85A1-AEE2-F14FBF2BE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2724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" name="Line 52">
            <a:extLst>
              <a:ext uri="{FF2B5EF4-FFF2-40B4-BE49-F238E27FC236}">
                <a16:creationId xmlns:a16="http://schemas.microsoft.com/office/drawing/2014/main" id="{8EAB16DA-5E03-6E15-6612-D71017D6C1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3475" y="2978834"/>
            <a:ext cx="158750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0280493-A784-30D9-D46B-72D14C8846CF}"/>
              </a:ext>
            </a:extLst>
          </p:cNvPr>
          <p:cNvGrpSpPr>
            <a:grpSpLocks/>
          </p:cNvGrpSpPr>
          <p:nvPr/>
        </p:nvGrpSpPr>
        <p:grpSpPr bwMode="auto">
          <a:xfrm>
            <a:off x="6618288" y="3685272"/>
            <a:ext cx="22225" cy="684212"/>
            <a:chOff x="4268" y="3051"/>
            <a:chExt cx="9" cy="291"/>
          </a:xfrm>
        </p:grpSpPr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0550896F-F6F9-1BEC-2CC7-A0A12E1FB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3305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5B07C57-7983-AA64-0DA8-CCE285AD9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3242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06AD948-B866-308D-0AD0-C78FBD102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3178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79B07EEC-22EA-B277-14A8-A0D87D9A9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3115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850E7360-5C42-B987-DDFE-8F23E6CCB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3051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" name="Line 59">
            <a:extLst>
              <a:ext uri="{FF2B5EF4-FFF2-40B4-BE49-F238E27FC236}">
                <a16:creationId xmlns:a16="http://schemas.microsoft.com/office/drawing/2014/main" id="{507A116F-9C09-5FB0-D7C5-48DB57856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1613" y="3769409"/>
            <a:ext cx="182562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C5EF1156-D7B8-BF35-69E3-D2C8F1DCD7DA}"/>
              </a:ext>
            </a:extLst>
          </p:cNvPr>
          <p:cNvSpPr>
            <a:spLocks/>
          </p:cNvSpPr>
          <p:nvPr/>
        </p:nvSpPr>
        <p:spPr bwMode="auto">
          <a:xfrm>
            <a:off x="6035675" y="4134534"/>
            <a:ext cx="244475" cy="63500"/>
          </a:xfrm>
          <a:custGeom>
            <a:avLst/>
            <a:gdLst>
              <a:gd name="T0" fmla="*/ 0 w 99"/>
              <a:gd name="T1" fmla="*/ 2147483646 h 27"/>
              <a:gd name="T2" fmla="*/ 0 w 99"/>
              <a:gd name="T3" fmla="*/ 0 h 27"/>
              <a:gd name="T4" fmla="*/ 2147483646 w 99"/>
              <a:gd name="T5" fmla="*/ 2147483646 h 27"/>
              <a:gd name="T6" fmla="*/ 0 w 99"/>
              <a:gd name="T7" fmla="*/ 2147483646 h 27"/>
              <a:gd name="T8" fmla="*/ 0 60000 65536"/>
              <a:gd name="T9" fmla="*/ 0 60000 65536"/>
              <a:gd name="T10" fmla="*/ 0 60000 65536"/>
              <a:gd name="T11" fmla="*/ 0 60000 65536"/>
              <a:gd name="T12" fmla="*/ 0 w 99"/>
              <a:gd name="T13" fmla="*/ 0 h 27"/>
              <a:gd name="T14" fmla="*/ 99 w 99"/>
              <a:gd name="T15" fmla="*/ 27 h 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9" h="27">
                <a:moveTo>
                  <a:pt x="0" y="27"/>
                </a:moveTo>
                <a:lnTo>
                  <a:pt x="0" y="0"/>
                </a:lnTo>
                <a:lnTo>
                  <a:pt x="99" y="9"/>
                </a:lnTo>
                <a:lnTo>
                  <a:pt x="0" y="27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Line 61">
            <a:extLst>
              <a:ext uri="{FF2B5EF4-FFF2-40B4-BE49-F238E27FC236}">
                <a16:creationId xmlns:a16="http://schemas.microsoft.com/office/drawing/2014/main" id="{13D635A7-65B2-3AA3-33A0-EF8D1A649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6925" y="4156759"/>
            <a:ext cx="158750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B859A002-13C9-1B8B-4B1A-371435AAB3DB}"/>
              </a:ext>
            </a:extLst>
          </p:cNvPr>
          <p:cNvSpPr>
            <a:spLocks/>
          </p:cNvSpPr>
          <p:nvPr/>
        </p:nvSpPr>
        <p:spPr bwMode="auto">
          <a:xfrm>
            <a:off x="6618288" y="4134534"/>
            <a:ext cx="249237" cy="63500"/>
          </a:xfrm>
          <a:custGeom>
            <a:avLst/>
            <a:gdLst>
              <a:gd name="T0" fmla="*/ 2147483646 w 100"/>
              <a:gd name="T1" fmla="*/ 2147483646 h 27"/>
              <a:gd name="T2" fmla="*/ 2147483646 w 100"/>
              <a:gd name="T3" fmla="*/ 0 h 27"/>
              <a:gd name="T4" fmla="*/ 0 w 100"/>
              <a:gd name="T5" fmla="*/ 2147483646 h 27"/>
              <a:gd name="T6" fmla="*/ 2147483646 w 100"/>
              <a:gd name="T7" fmla="*/ 2147483646 h 27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27"/>
              <a:gd name="T14" fmla="*/ 100 w 100"/>
              <a:gd name="T15" fmla="*/ 27 h 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27">
                <a:moveTo>
                  <a:pt x="100" y="27"/>
                </a:moveTo>
                <a:lnTo>
                  <a:pt x="100" y="0"/>
                </a:lnTo>
                <a:lnTo>
                  <a:pt x="0" y="9"/>
                </a:lnTo>
                <a:lnTo>
                  <a:pt x="100" y="27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Line 63">
            <a:extLst>
              <a:ext uri="{FF2B5EF4-FFF2-40B4-BE49-F238E27FC236}">
                <a16:creationId xmlns:a16="http://schemas.microsoft.com/office/drawing/2014/main" id="{883ED5A3-E23D-DE07-FC17-8684E6609E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7525" y="4156759"/>
            <a:ext cx="158750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DEEB4D4-623B-3601-CD61-E927D426104D}"/>
              </a:ext>
            </a:extLst>
          </p:cNvPr>
          <p:cNvGrpSpPr>
            <a:grpSpLocks/>
          </p:cNvGrpSpPr>
          <p:nvPr/>
        </p:nvGrpSpPr>
        <p:grpSpPr bwMode="auto">
          <a:xfrm>
            <a:off x="8062913" y="1419909"/>
            <a:ext cx="23812" cy="1281113"/>
            <a:chOff x="4849" y="2088"/>
            <a:chExt cx="9" cy="545"/>
          </a:xfrm>
        </p:grpSpPr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1FBE3395-5729-1BB5-1EEB-B58361C2E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597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1A6C1AF-263F-22DF-78DA-ADD03D19C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533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AA1EF97-A5FA-23F5-9A83-07E9ADEFB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470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69C8BBC0-FA2B-C632-020F-172B7D586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406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4E43638C-E000-CAE3-BB9C-4E011AF65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342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20BCDC3-5F30-D059-BCF9-65DEA754C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279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E0C2B001-B003-94D1-49FA-56285B9D2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215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A596C1AD-21A9-64F1-A6C6-34C15428F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152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EC46705D-13BA-791F-CE9A-0DFA47743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088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5" name="Line 74">
            <a:extLst>
              <a:ext uri="{FF2B5EF4-FFF2-40B4-BE49-F238E27FC236}">
                <a16:creationId xmlns:a16="http://schemas.microsoft.com/office/drawing/2014/main" id="{820D801A-B494-0206-CFE9-9914EF7DF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4013" y="1504047"/>
            <a:ext cx="179387" cy="1587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49D4896-CA6A-7A85-7CB7-3DB58E03C899}"/>
              </a:ext>
            </a:extLst>
          </p:cNvPr>
          <p:cNvGrpSpPr>
            <a:grpSpLocks/>
          </p:cNvGrpSpPr>
          <p:nvPr/>
        </p:nvGrpSpPr>
        <p:grpSpPr bwMode="auto">
          <a:xfrm>
            <a:off x="8672513" y="2167622"/>
            <a:ext cx="20637" cy="1239837"/>
            <a:chOff x="5094" y="2406"/>
            <a:chExt cx="9" cy="527"/>
          </a:xfrm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764149-DBD8-3571-115A-B844DFA7E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" y="2897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6440F3E-29A9-511D-B9F3-1BB0F19CA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" y="2833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83D36A2D-817A-1EBD-1C04-D8ADB39C8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" y="2769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B9C1DD43-2F1B-A33D-721D-E36D1A25F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" y="2706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49845EE0-030F-B55C-3F9D-AE8B1BE9C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" y="2642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5B1EE28A-BD3F-9E92-F82E-2463DBACE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" y="2579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C970DEC1-3CD5-6211-C727-873FF431E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" y="2515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C1D329D-8FC0-4F9D-5444-373265324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" y="2451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72CD9EF-F3F6-DB57-F856-524A41B3C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" y="2406"/>
              <a:ext cx="9" cy="18"/>
            </a:xfrm>
            <a:custGeom>
              <a:avLst/>
              <a:gdLst>
                <a:gd name="T0" fmla="*/ 0 w 9"/>
                <a:gd name="T1" fmla="*/ 18 h 18"/>
                <a:gd name="T2" fmla="*/ 0 w 9"/>
                <a:gd name="T3" fmla="*/ 18 h 18"/>
                <a:gd name="T4" fmla="*/ 9 w 9"/>
                <a:gd name="T5" fmla="*/ 18 h 18"/>
                <a:gd name="T6" fmla="*/ 9 w 9"/>
                <a:gd name="T7" fmla="*/ 0 h 18"/>
                <a:gd name="T8" fmla="*/ 0 w 9"/>
                <a:gd name="T9" fmla="*/ 0 h 18"/>
                <a:gd name="T10" fmla="*/ 0 w 9"/>
                <a:gd name="T11" fmla="*/ 0 h 18"/>
                <a:gd name="T12" fmla="*/ 0 w 9"/>
                <a:gd name="T13" fmla="*/ 1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18"/>
                <a:gd name="T23" fmla="*/ 9 w 9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18">
                  <a:moveTo>
                    <a:pt x="0" y="18"/>
                  </a:moveTo>
                  <a:lnTo>
                    <a:pt x="0" y="18"/>
                  </a:lnTo>
                  <a:lnTo>
                    <a:pt x="9" y="18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6" name="Line 85">
            <a:extLst>
              <a:ext uri="{FF2B5EF4-FFF2-40B4-BE49-F238E27FC236}">
                <a16:creationId xmlns:a16="http://schemas.microsoft.com/office/drawing/2014/main" id="{8C34D756-EB06-E2B3-DAA5-10760A9C73C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7575" y="3343959"/>
            <a:ext cx="201613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86">
            <a:extLst>
              <a:ext uri="{FF2B5EF4-FFF2-40B4-BE49-F238E27FC236}">
                <a16:creationId xmlns:a16="http://schemas.microsoft.com/office/drawing/2014/main" id="{22294BAE-BB6E-2369-056D-487F2EEA23BD}"/>
              </a:ext>
            </a:extLst>
          </p:cNvPr>
          <p:cNvSpPr>
            <a:spLocks/>
          </p:cNvSpPr>
          <p:nvPr/>
        </p:nvSpPr>
        <p:spPr bwMode="auto">
          <a:xfrm>
            <a:off x="8445500" y="2466072"/>
            <a:ext cx="227013" cy="63500"/>
          </a:xfrm>
          <a:custGeom>
            <a:avLst/>
            <a:gdLst>
              <a:gd name="T0" fmla="*/ 0 w 91"/>
              <a:gd name="T1" fmla="*/ 2147483646 h 27"/>
              <a:gd name="T2" fmla="*/ 0 w 91"/>
              <a:gd name="T3" fmla="*/ 0 h 27"/>
              <a:gd name="T4" fmla="*/ 2147483646 w 91"/>
              <a:gd name="T5" fmla="*/ 2147483646 h 27"/>
              <a:gd name="T6" fmla="*/ 0 w 91"/>
              <a:gd name="T7" fmla="*/ 2147483646 h 27"/>
              <a:gd name="T8" fmla="*/ 0 60000 65536"/>
              <a:gd name="T9" fmla="*/ 0 60000 65536"/>
              <a:gd name="T10" fmla="*/ 0 60000 65536"/>
              <a:gd name="T11" fmla="*/ 0 60000 65536"/>
              <a:gd name="T12" fmla="*/ 0 w 91"/>
              <a:gd name="T13" fmla="*/ 0 h 27"/>
              <a:gd name="T14" fmla="*/ 91 w 91"/>
              <a:gd name="T15" fmla="*/ 27 h 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" h="27">
                <a:moveTo>
                  <a:pt x="0" y="27"/>
                </a:moveTo>
                <a:lnTo>
                  <a:pt x="0" y="0"/>
                </a:lnTo>
                <a:lnTo>
                  <a:pt x="91" y="9"/>
                </a:lnTo>
                <a:lnTo>
                  <a:pt x="0" y="27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Line 87">
            <a:extLst>
              <a:ext uri="{FF2B5EF4-FFF2-40B4-BE49-F238E27FC236}">
                <a16:creationId xmlns:a16="http://schemas.microsoft.com/office/drawing/2014/main" id="{DC65B35B-A67D-F2EC-70EC-C561DBF97F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66113" y="2508934"/>
            <a:ext cx="271462" cy="31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9DDEF63D-9086-21D8-4C60-78C7C6932772}"/>
              </a:ext>
            </a:extLst>
          </p:cNvPr>
          <p:cNvSpPr>
            <a:spLocks/>
          </p:cNvSpPr>
          <p:nvPr/>
        </p:nvSpPr>
        <p:spPr bwMode="auto">
          <a:xfrm>
            <a:off x="8062913" y="2466072"/>
            <a:ext cx="225425" cy="63500"/>
          </a:xfrm>
          <a:custGeom>
            <a:avLst/>
            <a:gdLst>
              <a:gd name="T0" fmla="*/ 2147483646 w 91"/>
              <a:gd name="T1" fmla="*/ 2147483646 h 27"/>
              <a:gd name="T2" fmla="*/ 2147483646 w 91"/>
              <a:gd name="T3" fmla="*/ 0 h 27"/>
              <a:gd name="T4" fmla="*/ 0 w 91"/>
              <a:gd name="T5" fmla="*/ 2147483646 h 27"/>
              <a:gd name="T6" fmla="*/ 2147483646 w 91"/>
              <a:gd name="T7" fmla="*/ 2147483646 h 27"/>
              <a:gd name="T8" fmla="*/ 0 60000 65536"/>
              <a:gd name="T9" fmla="*/ 0 60000 65536"/>
              <a:gd name="T10" fmla="*/ 0 60000 65536"/>
              <a:gd name="T11" fmla="*/ 0 60000 65536"/>
              <a:gd name="T12" fmla="*/ 0 w 91"/>
              <a:gd name="T13" fmla="*/ 0 h 27"/>
              <a:gd name="T14" fmla="*/ 91 w 91"/>
              <a:gd name="T15" fmla="*/ 27 h 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" h="27">
                <a:moveTo>
                  <a:pt x="91" y="27"/>
                </a:moveTo>
                <a:lnTo>
                  <a:pt x="91" y="0"/>
                </a:lnTo>
                <a:lnTo>
                  <a:pt x="0" y="18"/>
                </a:lnTo>
                <a:lnTo>
                  <a:pt x="91" y="27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4498A65-1734-91C6-26B3-B355E059DF31}"/>
              </a:ext>
            </a:extLst>
          </p:cNvPr>
          <p:cNvGrpSpPr>
            <a:grpSpLocks/>
          </p:cNvGrpSpPr>
          <p:nvPr/>
        </p:nvGrpSpPr>
        <p:grpSpPr bwMode="auto">
          <a:xfrm>
            <a:off x="8515350" y="3685272"/>
            <a:ext cx="22225" cy="684212"/>
            <a:chOff x="5031" y="3051"/>
            <a:chExt cx="9" cy="291"/>
          </a:xfrm>
        </p:grpSpPr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014F5A1D-AAF8-A4ED-C759-E445C1753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3305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8CD097DD-1579-8F67-CBB4-9B1C21B21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3242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55FE2BEF-47D3-E69E-CCBE-B496D0186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3178"/>
              <a:ext cx="9" cy="37"/>
            </a:xfrm>
            <a:custGeom>
              <a:avLst/>
              <a:gdLst>
                <a:gd name="T0" fmla="*/ 0 w 9"/>
                <a:gd name="T1" fmla="*/ 37 h 37"/>
                <a:gd name="T2" fmla="*/ 0 w 9"/>
                <a:gd name="T3" fmla="*/ 37 h 37"/>
                <a:gd name="T4" fmla="*/ 9 w 9"/>
                <a:gd name="T5" fmla="*/ 37 h 37"/>
                <a:gd name="T6" fmla="*/ 9 w 9"/>
                <a:gd name="T7" fmla="*/ 0 h 37"/>
                <a:gd name="T8" fmla="*/ 0 w 9"/>
                <a:gd name="T9" fmla="*/ 0 h 37"/>
                <a:gd name="T10" fmla="*/ 0 w 9"/>
                <a:gd name="T11" fmla="*/ 0 h 37"/>
                <a:gd name="T12" fmla="*/ 0 w 9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7"/>
                <a:gd name="T23" fmla="*/ 9 w 9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7">
                  <a:moveTo>
                    <a:pt x="0" y="37"/>
                  </a:moveTo>
                  <a:lnTo>
                    <a:pt x="0" y="37"/>
                  </a:lnTo>
                  <a:lnTo>
                    <a:pt x="9" y="3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7725E3A3-824B-F021-633E-AE12763E3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3115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70D1DEB2-477A-12DF-2808-826AEBAF6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3051"/>
              <a:ext cx="9" cy="36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36 h 36"/>
                <a:gd name="T4" fmla="*/ 9 w 9"/>
                <a:gd name="T5" fmla="*/ 36 h 36"/>
                <a:gd name="T6" fmla="*/ 9 w 9"/>
                <a:gd name="T7" fmla="*/ 0 h 36"/>
                <a:gd name="T8" fmla="*/ 0 w 9"/>
                <a:gd name="T9" fmla="*/ 0 h 36"/>
                <a:gd name="T10" fmla="*/ 0 w 9"/>
                <a:gd name="T11" fmla="*/ 0 h 36"/>
                <a:gd name="T12" fmla="*/ 0 w 9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"/>
                <a:gd name="T22" fmla="*/ 0 h 36"/>
                <a:gd name="T23" fmla="*/ 9 w 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" h="36">
                  <a:moveTo>
                    <a:pt x="0" y="36"/>
                  </a:moveTo>
                  <a:lnTo>
                    <a:pt x="0" y="36"/>
                  </a:lnTo>
                  <a:lnTo>
                    <a:pt x="9" y="3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" name="Line 95">
            <a:extLst>
              <a:ext uri="{FF2B5EF4-FFF2-40B4-BE49-F238E27FC236}">
                <a16:creationId xmlns:a16="http://schemas.microsoft.com/office/drawing/2014/main" id="{0DED756A-8E42-77A8-8467-DCE033A3B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78825" y="3748772"/>
            <a:ext cx="180975" cy="1587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020F5AB-4F7C-8FAD-3A64-EB166EB3E068}"/>
              </a:ext>
            </a:extLst>
          </p:cNvPr>
          <p:cNvGrpSpPr>
            <a:grpSpLocks/>
          </p:cNvGrpSpPr>
          <p:nvPr/>
        </p:nvGrpSpPr>
        <p:grpSpPr bwMode="auto">
          <a:xfrm>
            <a:off x="8805863" y="2937559"/>
            <a:ext cx="25400" cy="1431925"/>
            <a:chOff x="5148" y="2733"/>
            <a:chExt cx="10" cy="609"/>
          </a:xfrm>
        </p:grpSpPr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EA9583E6-4681-AFCC-F88B-B3802FCE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" y="3305"/>
              <a:ext cx="10" cy="37"/>
            </a:xfrm>
            <a:custGeom>
              <a:avLst/>
              <a:gdLst>
                <a:gd name="T0" fmla="*/ 0 w 10"/>
                <a:gd name="T1" fmla="*/ 37 h 37"/>
                <a:gd name="T2" fmla="*/ 0 w 10"/>
                <a:gd name="T3" fmla="*/ 37 h 37"/>
                <a:gd name="T4" fmla="*/ 10 w 10"/>
                <a:gd name="T5" fmla="*/ 37 h 37"/>
                <a:gd name="T6" fmla="*/ 10 w 10"/>
                <a:gd name="T7" fmla="*/ 0 h 37"/>
                <a:gd name="T8" fmla="*/ 0 w 10"/>
                <a:gd name="T9" fmla="*/ 0 h 37"/>
                <a:gd name="T10" fmla="*/ 0 w 10"/>
                <a:gd name="T11" fmla="*/ 0 h 37"/>
                <a:gd name="T12" fmla="*/ 0 w 10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"/>
                <a:gd name="T22" fmla="*/ 0 h 37"/>
                <a:gd name="T23" fmla="*/ 10 w 10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" h="37">
                  <a:moveTo>
                    <a:pt x="0" y="37"/>
                  </a:moveTo>
                  <a:lnTo>
                    <a:pt x="0" y="37"/>
                  </a:lnTo>
                  <a:lnTo>
                    <a:pt x="10" y="3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41AB648-8A8F-4F37-E319-F36D42735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" y="3242"/>
              <a:ext cx="10" cy="36"/>
            </a:xfrm>
            <a:custGeom>
              <a:avLst/>
              <a:gdLst>
                <a:gd name="T0" fmla="*/ 0 w 10"/>
                <a:gd name="T1" fmla="*/ 36 h 36"/>
                <a:gd name="T2" fmla="*/ 0 w 10"/>
                <a:gd name="T3" fmla="*/ 36 h 36"/>
                <a:gd name="T4" fmla="*/ 10 w 10"/>
                <a:gd name="T5" fmla="*/ 36 h 36"/>
                <a:gd name="T6" fmla="*/ 10 w 10"/>
                <a:gd name="T7" fmla="*/ 0 h 36"/>
                <a:gd name="T8" fmla="*/ 0 w 10"/>
                <a:gd name="T9" fmla="*/ 0 h 36"/>
                <a:gd name="T10" fmla="*/ 0 w 10"/>
                <a:gd name="T11" fmla="*/ 0 h 36"/>
                <a:gd name="T12" fmla="*/ 0 w 10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"/>
                <a:gd name="T22" fmla="*/ 0 h 36"/>
                <a:gd name="T23" fmla="*/ 10 w 10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" h="36">
                  <a:moveTo>
                    <a:pt x="0" y="36"/>
                  </a:moveTo>
                  <a:lnTo>
                    <a:pt x="0" y="36"/>
                  </a:lnTo>
                  <a:lnTo>
                    <a:pt x="10" y="36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61E20CE-C49B-2F2B-D36D-E4617ABA9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" y="3178"/>
              <a:ext cx="10" cy="37"/>
            </a:xfrm>
            <a:custGeom>
              <a:avLst/>
              <a:gdLst>
                <a:gd name="T0" fmla="*/ 0 w 10"/>
                <a:gd name="T1" fmla="*/ 37 h 37"/>
                <a:gd name="T2" fmla="*/ 0 w 10"/>
                <a:gd name="T3" fmla="*/ 37 h 37"/>
                <a:gd name="T4" fmla="*/ 10 w 10"/>
                <a:gd name="T5" fmla="*/ 37 h 37"/>
                <a:gd name="T6" fmla="*/ 10 w 10"/>
                <a:gd name="T7" fmla="*/ 0 h 37"/>
                <a:gd name="T8" fmla="*/ 0 w 10"/>
                <a:gd name="T9" fmla="*/ 0 h 37"/>
                <a:gd name="T10" fmla="*/ 0 w 10"/>
                <a:gd name="T11" fmla="*/ 0 h 37"/>
                <a:gd name="T12" fmla="*/ 0 w 10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"/>
                <a:gd name="T22" fmla="*/ 0 h 37"/>
                <a:gd name="T23" fmla="*/ 10 w 10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" h="37">
                  <a:moveTo>
                    <a:pt x="0" y="37"/>
                  </a:moveTo>
                  <a:lnTo>
                    <a:pt x="0" y="37"/>
                  </a:lnTo>
                  <a:lnTo>
                    <a:pt x="10" y="3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AA7EC28-C059-808B-CD46-E35E192B0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" y="3115"/>
              <a:ext cx="10" cy="36"/>
            </a:xfrm>
            <a:custGeom>
              <a:avLst/>
              <a:gdLst>
                <a:gd name="T0" fmla="*/ 0 w 10"/>
                <a:gd name="T1" fmla="*/ 36 h 36"/>
                <a:gd name="T2" fmla="*/ 0 w 10"/>
                <a:gd name="T3" fmla="*/ 36 h 36"/>
                <a:gd name="T4" fmla="*/ 10 w 10"/>
                <a:gd name="T5" fmla="*/ 36 h 36"/>
                <a:gd name="T6" fmla="*/ 10 w 10"/>
                <a:gd name="T7" fmla="*/ 0 h 36"/>
                <a:gd name="T8" fmla="*/ 0 w 10"/>
                <a:gd name="T9" fmla="*/ 0 h 36"/>
                <a:gd name="T10" fmla="*/ 0 w 10"/>
                <a:gd name="T11" fmla="*/ 0 h 36"/>
                <a:gd name="T12" fmla="*/ 0 w 10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"/>
                <a:gd name="T22" fmla="*/ 0 h 36"/>
                <a:gd name="T23" fmla="*/ 10 w 10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" h="36">
                  <a:moveTo>
                    <a:pt x="0" y="36"/>
                  </a:moveTo>
                  <a:lnTo>
                    <a:pt x="0" y="36"/>
                  </a:lnTo>
                  <a:lnTo>
                    <a:pt x="10" y="36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80722A4-9106-2742-FB7E-DC965883A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" y="3051"/>
              <a:ext cx="10" cy="36"/>
            </a:xfrm>
            <a:custGeom>
              <a:avLst/>
              <a:gdLst>
                <a:gd name="T0" fmla="*/ 0 w 10"/>
                <a:gd name="T1" fmla="*/ 36 h 36"/>
                <a:gd name="T2" fmla="*/ 0 w 10"/>
                <a:gd name="T3" fmla="*/ 36 h 36"/>
                <a:gd name="T4" fmla="*/ 10 w 10"/>
                <a:gd name="T5" fmla="*/ 36 h 36"/>
                <a:gd name="T6" fmla="*/ 10 w 10"/>
                <a:gd name="T7" fmla="*/ 0 h 36"/>
                <a:gd name="T8" fmla="*/ 0 w 10"/>
                <a:gd name="T9" fmla="*/ 0 h 36"/>
                <a:gd name="T10" fmla="*/ 0 w 10"/>
                <a:gd name="T11" fmla="*/ 0 h 36"/>
                <a:gd name="T12" fmla="*/ 0 w 10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"/>
                <a:gd name="T22" fmla="*/ 0 h 36"/>
                <a:gd name="T23" fmla="*/ 10 w 10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" h="36">
                  <a:moveTo>
                    <a:pt x="0" y="36"/>
                  </a:moveTo>
                  <a:lnTo>
                    <a:pt x="0" y="36"/>
                  </a:lnTo>
                  <a:lnTo>
                    <a:pt x="10" y="36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11C0F789-BB90-81D2-E0EE-F1EC01672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" y="2987"/>
              <a:ext cx="10" cy="37"/>
            </a:xfrm>
            <a:custGeom>
              <a:avLst/>
              <a:gdLst>
                <a:gd name="T0" fmla="*/ 0 w 10"/>
                <a:gd name="T1" fmla="*/ 37 h 37"/>
                <a:gd name="T2" fmla="*/ 0 w 10"/>
                <a:gd name="T3" fmla="*/ 37 h 37"/>
                <a:gd name="T4" fmla="*/ 10 w 10"/>
                <a:gd name="T5" fmla="*/ 37 h 37"/>
                <a:gd name="T6" fmla="*/ 10 w 10"/>
                <a:gd name="T7" fmla="*/ 0 h 37"/>
                <a:gd name="T8" fmla="*/ 0 w 10"/>
                <a:gd name="T9" fmla="*/ 0 h 37"/>
                <a:gd name="T10" fmla="*/ 0 w 10"/>
                <a:gd name="T11" fmla="*/ 0 h 37"/>
                <a:gd name="T12" fmla="*/ 0 w 10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"/>
                <a:gd name="T22" fmla="*/ 0 h 37"/>
                <a:gd name="T23" fmla="*/ 10 w 10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" h="37">
                  <a:moveTo>
                    <a:pt x="0" y="37"/>
                  </a:moveTo>
                  <a:lnTo>
                    <a:pt x="0" y="37"/>
                  </a:lnTo>
                  <a:lnTo>
                    <a:pt x="10" y="3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6DB624BD-DC2A-A0A2-F278-329917872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" y="2924"/>
              <a:ext cx="10" cy="36"/>
            </a:xfrm>
            <a:custGeom>
              <a:avLst/>
              <a:gdLst>
                <a:gd name="T0" fmla="*/ 0 w 10"/>
                <a:gd name="T1" fmla="*/ 36 h 36"/>
                <a:gd name="T2" fmla="*/ 0 w 10"/>
                <a:gd name="T3" fmla="*/ 36 h 36"/>
                <a:gd name="T4" fmla="*/ 10 w 10"/>
                <a:gd name="T5" fmla="*/ 36 h 36"/>
                <a:gd name="T6" fmla="*/ 10 w 10"/>
                <a:gd name="T7" fmla="*/ 0 h 36"/>
                <a:gd name="T8" fmla="*/ 0 w 10"/>
                <a:gd name="T9" fmla="*/ 0 h 36"/>
                <a:gd name="T10" fmla="*/ 0 w 10"/>
                <a:gd name="T11" fmla="*/ 0 h 36"/>
                <a:gd name="T12" fmla="*/ 0 w 10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"/>
                <a:gd name="T22" fmla="*/ 0 h 36"/>
                <a:gd name="T23" fmla="*/ 10 w 10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" h="36">
                  <a:moveTo>
                    <a:pt x="0" y="36"/>
                  </a:moveTo>
                  <a:lnTo>
                    <a:pt x="0" y="36"/>
                  </a:lnTo>
                  <a:lnTo>
                    <a:pt x="10" y="36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38BA6B9C-47A2-8F55-ADF1-C3501E965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" y="2860"/>
              <a:ext cx="10" cy="37"/>
            </a:xfrm>
            <a:custGeom>
              <a:avLst/>
              <a:gdLst>
                <a:gd name="T0" fmla="*/ 0 w 10"/>
                <a:gd name="T1" fmla="*/ 37 h 37"/>
                <a:gd name="T2" fmla="*/ 0 w 10"/>
                <a:gd name="T3" fmla="*/ 37 h 37"/>
                <a:gd name="T4" fmla="*/ 10 w 10"/>
                <a:gd name="T5" fmla="*/ 37 h 37"/>
                <a:gd name="T6" fmla="*/ 10 w 10"/>
                <a:gd name="T7" fmla="*/ 0 h 37"/>
                <a:gd name="T8" fmla="*/ 0 w 10"/>
                <a:gd name="T9" fmla="*/ 0 h 37"/>
                <a:gd name="T10" fmla="*/ 0 w 10"/>
                <a:gd name="T11" fmla="*/ 0 h 37"/>
                <a:gd name="T12" fmla="*/ 0 w 10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"/>
                <a:gd name="T22" fmla="*/ 0 h 37"/>
                <a:gd name="T23" fmla="*/ 10 w 10"/>
                <a:gd name="T24" fmla="*/ 37 h 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" h="37">
                  <a:moveTo>
                    <a:pt x="0" y="37"/>
                  </a:moveTo>
                  <a:lnTo>
                    <a:pt x="0" y="37"/>
                  </a:lnTo>
                  <a:lnTo>
                    <a:pt x="10" y="3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65E21609-BDDF-FDA6-706C-3F9927030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" y="2797"/>
              <a:ext cx="10" cy="36"/>
            </a:xfrm>
            <a:custGeom>
              <a:avLst/>
              <a:gdLst>
                <a:gd name="T0" fmla="*/ 0 w 10"/>
                <a:gd name="T1" fmla="*/ 36 h 36"/>
                <a:gd name="T2" fmla="*/ 0 w 10"/>
                <a:gd name="T3" fmla="*/ 36 h 36"/>
                <a:gd name="T4" fmla="*/ 10 w 10"/>
                <a:gd name="T5" fmla="*/ 36 h 36"/>
                <a:gd name="T6" fmla="*/ 10 w 10"/>
                <a:gd name="T7" fmla="*/ 0 h 36"/>
                <a:gd name="T8" fmla="*/ 0 w 10"/>
                <a:gd name="T9" fmla="*/ 0 h 36"/>
                <a:gd name="T10" fmla="*/ 0 w 10"/>
                <a:gd name="T11" fmla="*/ 0 h 36"/>
                <a:gd name="T12" fmla="*/ 0 w 10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"/>
                <a:gd name="T22" fmla="*/ 0 h 36"/>
                <a:gd name="T23" fmla="*/ 10 w 10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" h="36">
                  <a:moveTo>
                    <a:pt x="0" y="36"/>
                  </a:moveTo>
                  <a:lnTo>
                    <a:pt x="0" y="36"/>
                  </a:lnTo>
                  <a:lnTo>
                    <a:pt x="10" y="36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568FD6F6-1419-8FBC-ADFF-8BFFB0ED4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" y="2733"/>
              <a:ext cx="10" cy="36"/>
            </a:xfrm>
            <a:custGeom>
              <a:avLst/>
              <a:gdLst>
                <a:gd name="T0" fmla="*/ 0 w 10"/>
                <a:gd name="T1" fmla="*/ 36 h 36"/>
                <a:gd name="T2" fmla="*/ 0 w 10"/>
                <a:gd name="T3" fmla="*/ 36 h 36"/>
                <a:gd name="T4" fmla="*/ 10 w 10"/>
                <a:gd name="T5" fmla="*/ 36 h 36"/>
                <a:gd name="T6" fmla="*/ 10 w 10"/>
                <a:gd name="T7" fmla="*/ 0 h 36"/>
                <a:gd name="T8" fmla="*/ 0 w 10"/>
                <a:gd name="T9" fmla="*/ 0 h 36"/>
                <a:gd name="T10" fmla="*/ 0 w 10"/>
                <a:gd name="T11" fmla="*/ 0 h 36"/>
                <a:gd name="T12" fmla="*/ 0 w 10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"/>
                <a:gd name="T22" fmla="*/ 0 h 36"/>
                <a:gd name="T23" fmla="*/ 10 w 10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" h="36">
                  <a:moveTo>
                    <a:pt x="0" y="36"/>
                  </a:moveTo>
                  <a:lnTo>
                    <a:pt x="0" y="36"/>
                  </a:lnTo>
                  <a:lnTo>
                    <a:pt x="10" y="36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8" name="Line 107">
            <a:extLst>
              <a:ext uri="{FF2B5EF4-FFF2-40B4-BE49-F238E27FC236}">
                <a16:creationId xmlns:a16="http://schemas.microsoft.com/office/drawing/2014/main" id="{75AEB9A2-8AF9-86D1-DCB2-AAFEA1BA2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9825" y="3001059"/>
            <a:ext cx="182563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08">
            <a:extLst>
              <a:ext uri="{FF2B5EF4-FFF2-40B4-BE49-F238E27FC236}">
                <a16:creationId xmlns:a16="http://schemas.microsoft.com/office/drawing/2014/main" id="{D32DAF88-5DD0-8FB4-1B41-43F4E4CCFE60}"/>
              </a:ext>
            </a:extLst>
          </p:cNvPr>
          <p:cNvSpPr>
            <a:spLocks/>
          </p:cNvSpPr>
          <p:nvPr/>
        </p:nvSpPr>
        <p:spPr bwMode="auto">
          <a:xfrm>
            <a:off x="8243888" y="4156759"/>
            <a:ext cx="225425" cy="63500"/>
          </a:xfrm>
          <a:custGeom>
            <a:avLst/>
            <a:gdLst>
              <a:gd name="T0" fmla="*/ 0 w 90"/>
              <a:gd name="T1" fmla="*/ 2147483646 h 27"/>
              <a:gd name="T2" fmla="*/ 0 w 90"/>
              <a:gd name="T3" fmla="*/ 0 h 27"/>
              <a:gd name="T4" fmla="*/ 2147483646 w 90"/>
              <a:gd name="T5" fmla="*/ 2147483646 h 27"/>
              <a:gd name="T6" fmla="*/ 0 w 90"/>
              <a:gd name="T7" fmla="*/ 2147483646 h 27"/>
              <a:gd name="T8" fmla="*/ 0 60000 65536"/>
              <a:gd name="T9" fmla="*/ 0 60000 65536"/>
              <a:gd name="T10" fmla="*/ 0 60000 65536"/>
              <a:gd name="T11" fmla="*/ 0 60000 65536"/>
              <a:gd name="T12" fmla="*/ 0 w 90"/>
              <a:gd name="T13" fmla="*/ 0 h 27"/>
              <a:gd name="T14" fmla="*/ 90 w 90"/>
              <a:gd name="T15" fmla="*/ 27 h 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0" h="27">
                <a:moveTo>
                  <a:pt x="0" y="27"/>
                </a:moveTo>
                <a:lnTo>
                  <a:pt x="0" y="0"/>
                </a:lnTo>
                <a:lnTo>
                  <a:pt x="90" y="18"/>
                </a:lnTo>
                <a:lnTo>
                  <a:pt x="0" y="27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Line 109">
            <a:extLst>
              <a:ext uri="{FF2B5EF4-FFF2-40B4-BE49-F238E27FC236}">
                <a16:creationId xmlns:a16="http://schemas.microsoft.com/office/drawing/2014/main" id="{4FD31B00-2278-C631-420E-65F092C09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2913" y="4198034"/>
            <a:ext cx="158750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10">
            <a:extLst>
              <a:ext uri="{FF2B5EF4-FFF2-40B4-BE49-F238E27FC236}">
                <a16:creationId xmlns:a16="http://schemas.microsoft.com/office/drawing/2014/main" id="{36C6391C-9378-A723-455F-163FB90E685C}"/>
              </a:ext>
            </a:extLst>
          </p:cNvPr>
          <p:cNvSpPr>
            <a:spLocks/>
          </p:cNvSpPr>
          <p:nvPr/>
        </p:nvSpPr>
        <p:spPr bwMode="auto">
          <a:xfrm>
            <a:off x="8831263" y="4156759"/>
            <a:ext cx="223837" cy="63500"/>
          </a:xfrm>
          <a:custGeom>
            <a:avLst/>
            <a:gdLst>
              <a:gd name="T0" fmla="*/ 2147483646 w 90"/>
              <a:gd name="T1" fmla="*/ 2147483646 h 27"/>
              <a:gd name="T2" fmla="*/ 2147483646 w 90"/>
              <a:gd name="T3" fmla="*/ 0 h 27"/>
              <a:gd name="T4" fmla="*/ 0 w 90"/>
              <a:gd name="T5" fmla="*/ 2147483646 h 27"/>
              <a:gd name="T6" fmla="*/ 2147483646 w 90"/>
              <a:gd name="T7" fmla="*/ 2147483646 h 27"/>
              <a:gd name="T8" fmla="*/ 0 60000 65536"/>
              <a:gd name="T9" fmla="*/ 0 60000 65536"/>
              <a:gd name="T10" fmla="*/ 0 60000 65536"/>
              <a:gd name="T11" fmla="*/ 0 60000 65536"/>
              <a:gd name="T12" fmla="*/ 0 w 90"/>
              <a:gd name="T13" fmla="*/ 0 h 27"/>
              <a:gd name="T14" fmla="*/ 90 w 90"/>
              <a:gd name="T15" fmla="*/ 27 h 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0" h="27">
                <a:moveTo>
                  <a:pt x="90" y="27"/>
                </a:moveTo>
                <a:lnTo>
                  <a:pt x="90" y="0"/>
                </a:lnTo>
                <a:lnTo>
                  <a:pt x="0" y="18"/>
                </a:lnTo>
                <a:lnTo>
                  <a:pt x="90" y="27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Line 111">
            <a:extLst>
              <a:ext uri="{FF2B5EF4-FFF2-40B4-BE49-F238E27FC236}">
                <a16:creationId xmlns:a16="http://schemas.microsoft.com/office/drawing/2014/main" id="{21B4186B-D0FB-2FC1-C53F-8E830069C1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55100" y="4198034"/>
            <a:ext cx="179388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BC0E3D9-62F3-F993-60FA-9F443CC74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2167622"/>
            <a:ext cx="7651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F9AA057-1BF2-B86C-5C40-18A767C05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013" y="2102534"/>
            <a:ext cx="841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t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5656DE8-7513-45B0-D5F3-BC8026D42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2231122"/>
            <a:ext cx="4175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600">
                <a:solidFill>
                  <a:srgbClr val="000000"/>
                </a:solidFill>
              </a:rPr>
              <a:t>PHL</a:t>
            </a:r>
            <a:endParaRPr lang="en-US" altLang="zh-CN" sz="1600">
              <a:latin typeface="Tahoma" panose="020B060403050404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C6C5DEA-B9EE-0B63-DF59-FE36D9F3D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588" y="2188259"/>
            <a:ext cx="523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600">
                <a:solidFill>
                  <a:srgbClr val="000000"/>
                </a:solidFill>
              </a:rPr>
              <a:t> </a:t>
            </a:r>
            <a:endParaRPr lang="zh-CN" altLang="en-US" sz="1600">
              <a:latin typeface="Tahoma" panose="020B060403050404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8B80C52-17F4-EDE0-4A19-E8EF0CD88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937559"/>
            <a:ext cx="8810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CEBDA0F-66A5-5115-8A1A-8C3485A16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0" y="3253472"/>
            <a:ext cx="561975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宋体" panose="02010600030101010101" pitchFamily="2" charset="-122"/>
              </a:rPr>
              <a:t>输出</a:t>
            </a:r>
            <a:endParaRPr lang="zh-CN" altLang="en-US" sz="2200">
              <a:latin typeface="Tahoma" panose="020B060403050404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EF02F38-6675-3D3A-4749-674804712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075" y="2915334"/>
            <a:ext cx="76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 </a:t>
            </a: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11CFF4C-C60A-7CF8-AFE7-A0C9CE316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75" y="1419909"/>
            <a:ext cx="606425" cy="255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5F8910B-E432-67D8-A77F-1ED8208F1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5825" y="1377047"/>
            <a:ext cx="48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800">
                <a:solidFill>
                  <a:srgbClr val="000000"/>
                </a:solidFill>
              </a:rPr>
              <a:t>50</a:t>
            </a:r>
            <a:r>
              <a:rPr lang="en-US" altLang="zh-CN" sz="2000">
                <a:solidFill>
                  <a:srgbClr val="000000"/>
                </a:solidFill>
              </a:rPr>
              <a:t>%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052FE31-3F21-B504-729E-2D74FB881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25" y="1377047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600">
                <a:solidFill>
                  <a:srgbClr val="000000"/>
                </a:solidFill>
              </a:rPr>
              <a:t> </a:t>
            </a:r>
            <a:endParaRPr lang="zh-CN" altLang="en-US" sz="1600">
              <a:latin typeface="Tahoma" panose="020B060403050404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51B8233-932D-ABB8-33A4-C6828E9BB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138" y="2937559"/>
            <a:ext cx="5857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10332A4-413A-8E47-D86A-F08692270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588" y="2894697"/>
            <a:ext cx="571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800">
                <a:solidFill>
                  <a:srgbClr val="000000"/>
                </a:solidFill>
              </a:rPr>
              <a:t>90</a:t>
            </a:r>
            <a:r>
              <a:rPr lang="en-US" altLang="zh-CN" sz="2000">
                <a:solidFill>
                  <a:srgbClr val="000000"/>
                </a:solidFill>
              </a:rPr>
              <a:t>%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DCD1E61-F0F1-1C4F-B54E-0757BFA2E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2894697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600">
                <a:solidFill>
                  <a:srgbClr val="000000"/>
                </a:solidFill>
              </a:rPr>
              <a:t> </a:t>
            </a:r>
            <a:endParaRPr lang="zh-CN" altLang="en-US" sz="1600">
              <a:latin typeface="Tahoma" panose="020B060403050404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91B7D0A-5690-4A8E-64DC-FABC782D0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513" y="3193147"/>
            <a:ext cx="609600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F60403E-16CF-6D05-3B2A-123149C7D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138" y="3150284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800">
                <a:solidFill>
                  <a:srgbClr val="000000"/>
                </a:solidFill>
              </a:rPr>
              <a:t>50%</a:t>
            </a:r>
            <a:endParaRPr lang="en-US" altLang="zh-CN" sz="1800">
              <a:latin typeface="Tahoma" panose="020B060403050404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1D6330D-94D5-124A-4D58-638AF7DEC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3150284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600">
                <a:solidFill>
                  <a:srgbClr val="000000"/>
                </a:solidFill>
              </a:rPr>
              <a:t> </a:t>
            </a:r>
            <a:endParaRPr lang="zh-CN" altLang="en-US" sz="1600">
              <a:latin typeface="Tahoma" panose="020B060403050404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902C4CE-8030-9393-07BC-F790DF62D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075" y="3534459"/>
            <a:ext cx="565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AFC1A05-ACD3-C20D-CFA1-055A9BA3E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713" y="3558272"/>
            <a:ext cx="457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800">
                <a:solidFill>
                  <a:srgbClr val="000000"/>
                </a:solidFill>
              </a:rPr>
              <a:t>10%</a:t>
            </a:r>
            <a:endParaRPr lang="en-US" altLang="zh-CN" sz="1800">
              <a:latin typeface="Tahoma" panose="020B060403050404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DAEBC91-F2B5-0045-B622-5A0C3967B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2188" y="3558272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600">
                <a:solidFill>
                  <a:srgbClr val="000000"/>
                </a:solidFill>
              </a:rPr>
              <a:t> </a:t>
            </a:r>
            <a:endParaRPr lang="zh-CN" altLang="en-US" sz="1600">
              <a:latin typeface="Tahoma" panose="020B060403050404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9F780CF-965C-98B8-4706-04805B736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6238" y="2124759"/>
            <a:ext cx="7429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7A5F9A0-EF3F-59A3-5672-AA116C98E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015222"/>
            <a:ext cx="841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t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3CD4985-AFE5-A95A-78FF-1DDC26D3D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166034"/>
            <a:ext cx="4175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600">
                <a:solidFill>
                  <a:srgbClr val="000000"/>
                </a:solidFill>
              </a:rPr>
              <a:t>PLH</a:t>
            </a:r>
            <a:endParaRPr lang="en-US" altLang="zh-CN" sz="1600">
              <a:latin typeface="Tahoma" panose="020B0604030504040204" pitchFamily="34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6F4C780-A1AB-1C05-3743-8F46724DF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7575" y="2083484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600">
                <a:solidFill>
                  <a:srgbClr val="000000"/>
                </a:solidFill>
              </a:rPr>
              <a:t> </a:t>
            </a:r>
            <a:endParaRPr lang="zh-CN" altLang="en-US" sz="1600">
              <a:latin typeface="Tahoma" panose="020B0604030504040204" pitchFamily="34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6B86A1F-359E-DE11-4591-608704E86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350" y="4004359"/>
            <a:ext cx="7413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4B1806E-B15D-E562-FF35-0729EFB7A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3936097"/>
            <a:ext cx="841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t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3549D23-C965-FB49-7F0D-5416386D8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25" y="4098022"/>
            <a:ext cx="682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600">
                <a:solidFill>
                  <a:srgbClr val="000000"/>
                </a:solidFill>
              </a:rPr>
              <a:t>f</a:t>
            </a:r>
            <a:endParaRPr lang="en-US" altLang="zh-CN" sz="1600">
              <a:latin typeface="Tahoma" panose="020B0604030504040204" pitchFamily="34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427E3C9-2BB1-3AAF-9CA4-ADAE327CE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8338" y="4050397"/>
            <a:ext cx="742950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7BDA751-45B8-C47F-5D5E-3DB9C0659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7263" y="3990072"/>
            <a:ext cx="841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t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31701A5-FECD-0537-C437-1CDE178A1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4100" y="4134534"/>
            <a:ext cx="88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600">
                <a:solidFill>
                  <a:srgbClr val="000000"/>
                </a:solidFill>
              </a:rPr>
              <a:t>r</a:t>
            </a:r>
            <a:endParaRPr lang="en-US" altLang="zh-CN" sz="1600">
              <a:latin typeface="Tahoma" panose="020B0604030504040204" pitchFamily="34" charset="0"/>
            </a:endParaRPr>
          </a:p>
        </p:txBody>
      </p:sp>
      <p:sp>
        <p:nvSpPr>
          <p:cNvPr id="142" name="Rectangle 142">
            <a:extLst>
              <a:ext uri="{FF2B5EF4-FFF2-40B4-BE49-F238E27FC236}">
                <a16:creationId xmlns:a16="http://schemas.microsoft.com/office/drawing/2014/main" id="{081F39EE-6089-8F9E-43ED-5FFF52F60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611997"/>
            <a:ext cx="88106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3" name="Rectangle 143">
            <a:extLst>
              <a:ext uri="{FF2B5EF4-FFF2-40B4-BE49-F238E27FC236}">
                <a16:creationId xmlns:a16="http://schemas.microsoft.com/office/drawing/2014/main" id="{BDBABF2E-42BC-C963-3464-17269DB0E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0" y="1327834"/>
            <a:ext cx="561975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宋体" panose="02010600030101010101" pitchFamily="2" charset="-122"/>
              </a:rPr>
              <a:t>输入</a:t>
            </a:r>
            <a:endParaRPr lang="zh-CN" altLang="en-US" sz="2200">
              <a:latin typeface="Tahoma" panose="020B0604030504040204" pitchFamily="34" charset="0"/>
            </a:endParaRPr>
          </a:p>
        </p:txBody>
      </p:sp>
      <p:sp>
        <p:nvSpPr>
          <p:cNvPr id="144" name="Rectangle 144">
            <a:extLst>
              <a:ext uri="{FF2B5EF4-FFF2-40B4-BE49-F238E27FC236}">
                <a16:creationId xmlns:a16="http://schemas.microsoft.com/office/drawing/2014/main" id="{4B65F43A-4A3E-E589-C201-7A537A9EA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075" y="1591359"/>
            <a:ext cx="76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 </a:t>
            </a: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5" name="Rectangle 145">
            <a:extLst>
              <a:ext uri="{FF2B5EF4-FFF2-40B4-BE49-F238E27FC236}">
                <a16:creationId xmlns:a16="http://schemas.microsoft.com/office/drawing/2014/main" id="{F9EBB428-0D01-B9E7-419D-30F381CFC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738" y="1419909"/>
            <a:ext cx="609600" cy="2762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6" name="Rectangle 146">
            <a:extLst>
              <a:ext uri="{FF2B5EF4-FFF2-40B4-BE49-F238E27FC236}">
                <a16:creationId xmlns:a16="http://schemas.microsoft.com/office/drawing/2014/main" id="{52C9FBBE-83E7-7845-4BEB-1D89513A6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2188" y="1377047"/>
            <a:ext cx="48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800">
                <a:solidFill>
                  <a:srgbClr val="000000"/>
                </a:solidFill>
              </a:rPr>
              <a:t>50</a:t>
            </a:r>
            <a:r>
              <a:rPr lang="en-US" altLang="zh-CN" sz="2000">
                <a:solidFill>
                  <a:srgbClr val="000000"/>
                </a:solidFill>
              </a:rPr>
              <a:t>%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147" name="Rectangle 147">
            <a:extLst>
              <a:ext uri="{FF2B5EF4-FFF2-40B4-BE49-F238E27FC236}">
                <a16:creationId xmlns:a16="http://schemas.microsoft.com/office/drawing/2014/main" id="{0FAEBB29-FCA9-C915-C169-6393F42B8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488" y="1377047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600">
                <a:solidFill>
                  <a:srgbClr val="000000"/>
                </a:solidFill>
              </a:rPr>
              <a:t> </a:t>
            </a:r>
            <a:endParaRPr lang="zh-CN" altLang="en-US" sz="1600">
              <a:latin typeface="Tahoma" panose="020B0604030504040204" pitchFamily="34" charset="0"/>
            </a:endParaRPr>
          </a:p>
        </p:txBody>
      </p:sp>
      <p:sp>
        <p:nvSpPr>
          <p:cNvPr id="148" name="Rectangle 148">
            <a:extLst>
              <a:ext uri="{FF2B5EF4-FFF2-40B4-BE49-F238E27FC236}">
                <a16:creationId xmlns:a16="http://schemas.microsoft.com/office/drawing/2014/main" id="{A973C998-2DDE-CE8D-6D2E-9458C5CBC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1938" y="3150284"/>
            <a:ext cx="60960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9" name="Rectangle 149">
            <a:extLst>
              <a:ext uri="{FF2B5EF4-FFF2-40B4-BE49-F238E27FC236}">
                <a16:creationId xmlns:a16="http://schemas.microsoft.com/office/drawing/2014/main" id="{FF04EA10-2573-429A-697E-D9955F71A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3" y="3109009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800">
                <a:solidFill>
                  <a:srgbClr val="000000"/>
                </a:solidFill>
              </a:rPr>
              <a:t>50%</a:t>
            </a:r>
            <a:endParaRPr lang="en-US" altLang="zh-CN" sz="1800">
              <a:latin typeface="Tahoma" panose="020B0604030504040204" pitchFamily="34" charset="0"/>
            </a:endParaRPr>
          </a:p>
        </p:txBody>
      </p:sp>
      <p:sp>
        <p:nvSpPr>
          <p:cNvPr id="150" name="Rectangle 151">
            <a:extLst>
              <a:ext uri="{FF2B5EF4-FFF2-40B4-BE49-F238E27FC236}">
                <a16:creationId xmlns:a16="http://schemas.microsoft.com/office/drawing/2014/main" id="{07B1CA41-C6AF-06C5-5C57-FCD735F43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038" y="3534459"/>
            <a:ext cx="565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51" name="Rectangle 152">
            <a:extLst>
              <a:ext uri="{FF2B5EF4-FFF2-40B4-BE49-F238E27FC236}">
                <a16:creationId xmlns:a16="http://schemas.microsoft.com/office/drawing/2014/main" id="{1471950D-3319-A173-D559-D8E999524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675" y="3558272"/>
            <a:ext cx="457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800">
                <a:solidFill>
                  <a:srgbClr val="000000"/>
                </a:solidFill>
              </a:rPr>
              <a:t>10%</a:t>
            </a:r>
            <a:endParaRPr lang="en-US" altLang="zh-CN" sz="1800">
              <a:latin typeface="Tahoma" panose="020B0604030504040204" pitchFamily="34" charset="0"/>
            </a:endParaRPr>
          </a:p>
        </p:txBody>
      </p:sp>
      <p:sp>
        <p:nvSpPr>
          <p:cNvPr id="152" name="Rectangle 153">
            <a:extLst>
              <a:ext uri="{FF2B5EF4-FFF2-40B4-BE49-F238E27FC236}">
                <a16:creationId xmlns:a16="http://schemas.microsoft.com/office/drawing/2014/main" id="{9AE62108-C284-744D-537F-AB25D7582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0563" y="3558272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600">
                <a:solidFill>
                  <a:srgbClr val="000000"/>
                </a:solidFill>
              </a:rPr>
              <a:t> </a:t>
            </a:r>
            <a:endParaRPr lang="zh-CN" altLang="en-US" sz="1600">
              <a:latin typeface="Tahoma" panose="020B0604030504040204" pitchFamily="34" charset="0"/>
            </a:endParaRPr>
          </a:p>
        </p:txBody>
      </p:sp>
      <p:sp>
        <p:nvSpPr>
          <p:cNvPr id="153" name="Rectangle 154">
            <a:extLst>
              <a:ext uri="{FF2B5EF4-FFF2-40B4-BE49-F238E27FC236}">
                <a16:creationId xmlns:a16="http://schemas.microsoft.com/office/drawing/2014/main" id="{57575E22-5106-C2A8-3150-0458B9651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8425" y="2915334"/>
            <a:ext cx="541338" cy="320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54" name="Rectangle 155">
            <a:extLst>
              <a:ext uri="{FF2B5EF4-FFF2-40B4-BE49-F238E27FC236}">
                <a16:creationId xmlns:a16="http://schemas.microsoft.com/office/drawing/2014/main" id="{1C756856-747A-158A-81B5-497A1A278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9063" y="2874059"/>
            <a:ext cx="48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800">
                <a:solidFill>
                  <a:srgbClr val="000000"/>
                </a:solidFill>
              </a:rPr>
              <a:t>90</a:t>
            </a:r>
            <a:r>
              <a:rPr lang="en-US" altLang="zh-CN" sz="2000">
                <a:solidFill>
                  <a:srgbClr val="000000"/>
                </a:solidFill>
              </a:rPr>
              <a:t>%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155" name="Rectangle 156">
            <a:extLst>
              <a:ext uri="{FF2B5EF4-FFF2-40B4-BE49-F238E27FC236}">
                <a16:creationId xmlns:a16="http://schemas.microsoft.com/office/drawing/2014/main" id="{4AA71D12-6A5C-41E0-4BE1-F11FB211E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25" y="2874059"/>
            <a:ext cx="523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600">
                <a:solidFill>
                  <a:srgbClr val="000000"/>
                </a:solidFill>
              </a:rPr>
              <a:t> </a:t>
            </a:r>
            <a:endParaRPr lang="zh-CN" altLang="en-US" sz="1600">
              <a:latin typeface="Tahoma" panose="020B0604030504040204" pitchFamily="34" charset="0"/>
            </a:endParaRPr>
          </a:p>
        </p:txBody>
      </p:sp>
      <p:sp>
        <p:nvSpPr>
          <p:cNvPr id="156" name="Freeform 157">
            <a:extLst>
              <a:ext uri="{FF2B5EF4-FFF2-40B4-BE49-F238E27FC236}">
                <a16:creationId xmlns:a16="http://schemas.microsoft.com/office/drawing/2014/main" id="{09B7AE62-D978-9949-DC52-51EB0260FCF9}"/>
              </a:ext>
            </a:extLst>
          </p:cNvPr>
          <p:cNvSpPr>
            <a:spLocks/>
          </p:cNvSpPr>
          <p:nvPr/>
        </p:nvSpPr>
        <p:spPr bwMode="auto">
          <a:xfrm>
            <a:off x="6213475" y="2486709"/>
            <a:ext cx="247650" cy="42863"/>
          </a:xfrm>
          <a:custGeom>
            <a:avLst/>
            <a:gdLst>
              <a:gd name="T0" fmla="*/ 0 w 100"/>
              <a:gd name="T1" fmla="*/ 2147483646 h 18"/>
              <a:gd name="T2" fmla="*/ 0 w 100"/>
              <a:gd name="T3" fmla="*/ 0 h 18"/>
              <a:gd name="T4" fmla="*/ 2147483646 w 100"/>
              <a:gd name="T5" fmla="*/ 2147483646 h 18"/>
              <a:gd name="T6" fmla="*/ 0 w 100"/>
              <a:gd name="T7" fmla="*/ 2147483646 h 18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18"/>
              <a:gd name="T14" fmla="*/ 100 w 100"/>
              <a:gd name="T15" fmla="*/ 18 h 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18">
                <a:moveTo>
                  <a:pt x="0" y="18"/>
                </a:moveTo>
                <a:lnTo>
                  <a:pt x="0" y="0"/>
                </a:lnTo>
                <a:lnTo>
                  <a:pt x="100" y="9"/>
                </a:lnTo>
                <a:lnTo>
                  <a:pt x="0" y="18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7" name="Group 210">
            <a:extLst>
              <a:ext uri="{FF2B5EF4-FFF2-40B4-BE49-F238E27FC236}">
                <a16:creationId xmlns:a16="http://schemas.microsoft.com/office/drawing/2014/main" id="{9ED8A634-D24F-215C-C34C-7A5E683F1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275017"/>
              </p:ext>
            </p:extLst>
          </p:nvPr>
        </p:nvGraphicFramePr>
        <p:xfrm>
          <a:off x="1425575" y="5018404"/>
          <a:ext cx="6804025" cy="1295400"/>
        </p:xfrm>
        <a:graphic>
          <a:graphicData uri="http://schemas.openxmlformats.org/drawingml/2006/table">
            <a:tbl>
              <a:tblPr/>
              <a:tblGrid>
                <a:gridCol w="148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0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6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5650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类型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参数</a:t>
                      </a:r>
                    </a:p>
                  </a:txBody>
                  <a:tcPr marL="18000" marR="18000" marT="10800" marB="10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269875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26987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74HC</a:t>
                      </a:r>
                    </a:p>
                    <a:p>
                      <a:pPr marL="0" marR="0" lvl="0" indent="26987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1" lang="en-US" altLang="zh-CN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=5V</a:t>
                      </a:r>
                    </a:p>
                  </a:txBody>
                  <a:tcPr marL="18000" marR="18000" marT="10800" marB="10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74AHC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=5V</a:t>
                      </a:r>
                    </a:p>
                  </a:txBody>
                  <a:tcPr marL="18000" marR="18000" marT="10800" marB="10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74LVC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1" lang="en-US" altLang="zh-CN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=3.3V</a:t>
                      </a:r>
                    </a:p>
                  </a:txBody>
                  <a:tcPr marL="18000" marR="18000" marT="10800" marB="10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74AUC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=1.8V</a:t>
                      </a:r>
                    </a:p>
                  </a:txBody>
                  <a:tcPr marL="18000" marR="18000" marT="10800" marB="10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249863" algn="r"/>
                        </a:tabLst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zh-CN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PLH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zh-CN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PHL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(ns)</a:t>
                      </a:r>
                    </a:p>
                  </a:txBody>
                  <a:tcPr marL="18000" marR="18000" marT="10800" marB="10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249863" algn="r"/>
                        </a:tabLst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8000" marR="18000" marT="10800" marB="10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249863" algn="r"/>
                        </a:tabLst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3.8</a:t>
                      </a:r>
                    </a:p>
                  </a:txBody>
                  <a:tcPr marL="18000" marR="18000" marT="10800" marB="10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249863" algn="r"/>
                        </a:tabLst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2.5</a:t>
                      </a:r>
                    </a:p>
                  </a:txBody>
                  <a:tcPr marL="18000" marR="18000" marT="10800" marB="10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5249863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249863" algn="r"/>
                        </a:tabLst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</a:t>
                      </a:r>
                    </a:p>
                  </a:txBody>
                  <a:tcPr marL="18000" marR="18000" marT="10800" marB="10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777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B83BB-C896-4234-9E1A-B861AA590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功耗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A0AC00-4787-AF64-FC9C-EC5F93D7F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10000"/>
              </a:spcAft>
            </a:pPr>
            <a:r>
              <a:rPr lang="zh-CN" altLang="en-US" dirty="0"/>
              <a:t>静态功耗：当电路没有状态转换时的功耗</a:t>
            </a:r>
          </a:p>
          <a:p>
            <a:pPr>
              <a:spcAft>
                <a:spcPct val="10000"/>
              </a:spcAft>
            </a:pPr>
            <a:r>
              <a:rPr lang="zh-CN" altLang="en-US" dirty="0"/>
              <a:t>动态功耗：电路在输出状态转换时的功耗</a:t>
            </a:r>
          </a:p>
          <a:p>
            <a:pPr lvl="1">
              <a:spcAft>
                <a:spcPct val="10000"/>
              </a:spcAft>
            </a:pPr>
            <a:r>
              <a:rPr lang="en-US" altLang="zh-CN" dirty="0"/>
              <a:t>CMOS</a:t>
            </a:r>
            <a:r>
              <a:rPr lang="zh-CN" altLang="en-US" dirty="0"/>
              <a:t>电路的静态功耗非常低，主要是动态功耗</a:t>
            </a:r>
          </a:p>
          <a:p>
            <a:pPr lvl="1">
              <a:spcAft>
                <a:spcPct val="10000"/>
              </a:spcAft>
            </a:pPr>
            <a:r>
              <a:rPr lang="zh-CN" altLang="en-US" dirty="0"/>
              <a:t>对于</a:t>
            </a:r>
            <a:r>
              <a:rPr lang="en-US" altLang="zh-CN" dirty="0"/>
              <a:t>TTL</a:t>
            </a:r>
            <a:r>
              <a:rPr lang="zh-CN" altLang="en-US" dirty="0"/>
              <a:t>门电路来说，静态功耗是主要的</a:t>
            </a:r>
          </a:p>
          <a:p>
            <a:pPr>
              <a:spcAft>
                <a:spcPct val="10000"/>
              </a:spcAft>
            </a:pPr>
            <a:r>
              <a:rPr lang="zh-CN" altLang="en-US" dirty="0"/>
              <a:t>延时</a:t>
            </a:r>
            <a:r>
              <a:rPr lang="en-US" altLang="zh-CN" dirty="0"/>
              <a:t>-</a:t>
            </a:r>
            <a:r>
              <a:rPr lang="zh-CN" altLang="en-US" dirty="0"/>
              <a:t>功耗积：是速度和功耗的综合性指标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44439C-8B41-C59A-FB74-9440DE50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70FF12-2A76-FD7C-2322-93C4A6F3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31</a:t>
            </a:fld>
            <a:r>
              <a:rPr lang="en-US" altLang="zh-CN" dirty="0"/>
              <a:t>/35</a:t>
            </a:r>
            <a:endParaRPr lang="en-US" dirty="0"/>
          </a:p>
        </p:txBody>
      </p:sp>
      <p:graphicFrame>
        <p:nvGraphicFramePr>
          <p:cNvPr id="6" name="Group 93">
            <a:extLst>
              <a:ext uri="{FF2B5EF4-FFF2-40B4-BE49-F238E27FC236}">
                <a16:creationId xmlns:a16="http://schemas.microsoft.com/office/drawing/2014/main" id="{36897F4D-3DC8-5CFD-E7D7-DB64DF8FB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583374"/>
              </p:ext>
            </p:extLst>
          </p:nvPr>
        </p:nvGraphicFramePr>
        <p:xfrm>
          <a:off x="745808" y="3429000"/>
          <a:ext cx="7885112" cy="2593976"/>
        </p:xfrm>
        <a:graphic>
          <a:graphicData uri="http://schemas.openxmlformats.org/drawingml/2006/table">
            <a:tbl>
              <a:tblPr/>
              <a:tblGrid>
                <a:gridCol w="226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4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7088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                      系列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参数</a:t>
                      </a:r>
                      <a:r>
                        <a:rPr kumimoji="1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kumimoji="1" lang="zh-CN" alt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单位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74HC04</a:t>
                      </a:r>
                      <a:endParaRPr kumimoji="1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en-US" altLang="zh-CN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V</a:t>
                      </a:r>
                      <a:r>
                        <a:rPr kumimoji="1" lang="en-US" altLang="zh-CN" sz="17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DD</a:t>
                      </a: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=5V)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74AHC04</a:t>
                      </a:r>
                      <a:endParaRPr kumimoji="1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en-US" altLang="zh-CN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V</a:t>
                      </a:r>
                      <a:r>
                        <a:rPr kumimoji="1" lang="en-US" altLang="zh-CN" sz="17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DD</a:t>
                      </a: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=5V)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74LVC04</a:t>
                      </a:r>
                      <a:endParaRPr kumimoji="1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en-US" altLang="zh-CN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V</a:t>
                      </a:r>
                      <a:r>
                        <a:rPr kumimoji="1" lang="en-US" altLang="zh-CN" sz="17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DD</a:t>
                      </a: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=3.3V)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74AUC04</a:t>
                      </a:r>
                      <a:endParaRPr kumimoji="1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en-US" altLang="zh-CN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V</a:t>
                      </a:r>
                      <a:r>
                        <a:rPr kumimoji="1" lang="en-US" altLang="zh-CN" sz="17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DD</a:t>
                      </a:r>
                      <a:r>
                        <a:rPr kumimoji="1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=1.8V)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功耗电容</a:t>
                      </a:r>
                      <a:r>
                        <a:rPr kumimoji="1" lang="en-US" altLang="zh-CN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C</a:t>
                      </a:r>
                      <a:r>
                        <a:rPr kumimoji="1" lang="en-US" altLang="zh-CN" sz="17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PD</a:t>
                      </a:r>
                      <a:r>
                        <a:rPr kumimoji="1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/pF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传输延迟时间</a:t>
                      </a:r>
                      <a:r>
                        <a:rPr kumimoji="1" lang="en-US" altLang="zh-CN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t</a:t>
                      </a:r>
                      <a:r>
                        <a:rPr kumimoji="1" lang="en-US" altLang="zh-CN" sz="17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pd</a:t>
                      </a: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/ns(C</a:t>
                      </a:r>
                      <a:r>
                        <a:rPr kumimoji="1" lang="en-US" altLang="zh-CN" sz="17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L</a:t>
                      </a: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=15pF)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3.8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2.5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功耗</a:t>
                      </a:r>
                      <a:r>
                        <a:rPr kumimoji="1" lang="en-US" altLang="zh-CN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P</a:t>
                      </a:r>
                      <a:r>
                        <a:rPr kumimoji="1" lang="en-US" altLang="zh-CN" sz="17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D</a:t>
                      </a: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sym typeface="Symbol" panose="05050102010706020507" pitchFamily="18" charset="2"/>
                        </a:rPr>
                        <a:t></a:t>
                      </a: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mW(10MHz)</a:t>
                      </a:r>
                      <a:endParaRPr kumimoji="1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sym typeface="Symbol" panose="05050102010706020507" pitchFamily="18" charset="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6.8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2.5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延时功耗积</a:t>
                      </a:r>
                      <a:r>
                        <a:rPr kumimoji="1" lang="en-US" altLang="zh-CN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DP</a:t>
                      </a: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/pJ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54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25.84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6.25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Line 91">
            <a:extLst>
              <a:ext uri="{FF2B5EF4-FFF2-40B4-BE49-F238E27FC236}">
                <a16:creationId xmlns:a16="http://schemas.microsoft.com/office/drawing/2014/main" id="{2F25D530-826A-50AB-A715-D5AC82E6D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808" y="3428999"/>
            <a:ext cx="2266950" cy="792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E7B741-B98D-5AB7-4967-EC06A2C8A70D}"/>
              </a:ext>
            </a:extLst>
          </p:cNvPr>
          <p:cNvSpPr txBox="1"/>
          <p:nvPr/>
        </p:nvSpPr>
        <p:spPr>
          <a:xfrm>
            <a:off x="7554880" y="575599"/>
            <a:ext cx="223174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+mj-ea"/>
                <a:ea typeface="+mj-ea"/>
              </a:rPr>
              <a:t>更具体的参数描述参见数电</a:t>
            </a:r>
            <a:r>
              <a:rPr lang="en-US" altLang="zh-CN" dirty="0">
                <a:latin typeface="+mj-ea"/>
                <a:ea typeface="+mj-ea"/>
              </a:rPr>
              <a:t>P105</a:t>
            </a:r>
            <a:endParaRPr lang="zh-CN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36309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D2E0D-B1AB-6171-389F-1C10D731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扇入扇出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3EF153-B0BF-5D0A-0B5A-54668B0B1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楷体_GB2312" pitchFamily="49" charset="-122"/>
              </a:rPr>
              <a:t>扇入数</a:t>
            </a:r>
            <a:endParaRPr kumimoji="1" lang="en-US" altLang="zh-CN" dirty="0">
              <a:latin typeface="楷体_GB2312" pitchFamily="49" charset="-122"/>
            </a:endParaRPr>
          </a:p>
          <a:p>
            <a:pPr lvl="1"/>
            <a:r>
              <a:rPr kumimoji="1" lang="zh-CN" altLang="en-US" dirty="0">
                <a:latin typeface="楷体_GB2312" pitchFamily="49" charset="-122"/>
              </a:rPr>
              <a:t>逻辑门的输入端的个数。</a:t>
            </a:r>
            <a:endParaRPr kumimoji="1" lang="en-US" altLang="zh-CN" dirty="0">
              <a:latin typeface="楷体_GB2312" pitchFamily="49" charset="-122"/>
            </a:endParaRPr>
          </a:p>
          <a:p>
            <a:endParaRPr kumimoji="1" lang="en-US" altLang="zh-CN" dirty="0">
              <a:latin typeface="Tahoma" panose="020B0604030504040204" pitchFamily="34" charset="0"/>
            </a:endParaRPr>
          </a:p>
          <a:p>
            <a:r>
              <a:rPr kumimoji="1" lang="zh-CN" altLang="en-US" dirty="0">
                <a:latin typeface="Tahoma" panose="020B0604030504040204" pitchFamily="34" charset="0"/>
              </a:rPr>
              <a:t>扇出数</a:t>
            </a:r>
            <a:endParaRPr kumimoji="1" lang="en-US" altLang="zh-CN" dirty="0">
              <a:latin typeface="Tahoma" panose="020B0604030504040204" pitchFamily="34" charset="0"/>
            </a:endParaRPr>
          </a:p>
          <a:p>
            <a:pPr lvl="1"/>
            <a:r>
              <a:rPr kumimoji="1" lang="zh-CN" altLang="en-US" dirty="0">
                <a:latin typeface="Tahoma" panose="020B0604030504040204" pitchFamily="34" charset="0"/>
              </a:rPr>
              <a:t>在能正常工作情况下，所能带同类门电路的最大数目。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347EE2-F198-75AC-12F4-77C410B47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101F1E-AD27-7791-FC2C-210DDAD6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32</a:t>
            </a:fld>
            <a:r>
              <a:rPr lang="en-US" altLang="zh-CN" dirty="0"/>
              <a:t>/35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917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B7BFD-04CD-D033-A2E7-84DA8D397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扇入扇出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B217D9-C91E-C534-F205-87AB2A440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Tahoma" panose="020B0604030504040204" pitchFamily="34" charset="0"/>
              </a:rPr>
              <a:t>扇出数：拉电流负载</a:t>
            </a:r>
          </a:p>
          <a:p>
            <a:pPr lvl="1"/>
            <a:r>
              <a:rPr kumimoji="1" lang="zh-CN" altLang="en-US" dirty="0">
                <a:latin typeface="楷体_GB2312" pitchFamily="49" charset="-122"/>
                <a:cs typeface="Times New Roman" panose="02020603050405020304" pitchFamily="18" charset="0"/>
              </a:rPr>
              <a:t>当负载门的个数增加时，总的拉电流将增加，引起输出高电压的降低。但不得低于输出高电平的下限值，这就限制了负载门的个数。</a:t>
            </a:r>
            <a:endParaRPr kumimoji="1" lang="zh-CN" altLang="en-US" dirty="0">
              <a:latin typeface="楷体_GB2312" pitchFamily="49" charset="-122"/>
            </a:endParaRP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7987F0-5EB9-5EC7-C49E-F3C3AEFD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A6166F-38E4-1A5F-8DD8-764CD8DB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33</a:t>
            </a:fld>
            <a:r>
              <a:rPr lang="en-US" altLang="zh-CN" dirty="0"/>
              <a:t>/35</a:t>
            </a:r>
            <a:endParaRPr lang="en-US" dirty="0"/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72EE0E63-78DD-BE8E-8BBB-B373BC59C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900851"/>
              </p:ext>
            </p:extLst>
          </p:nvPr>
        </p:nvGraphicFramePr>
        <p:xfrm>
          <a:off x="1004515" y="2729753"/>
          <a:ext cx="3225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06500" imgH="381000" progId="Equation.3">
                  <p:embed/>
                </p:oleObj>
              </mc:Choice>
              <mc:Fallback>
                <p:oleObj name="公式" r:id="rId2" imgW="1206500" imgH="381000" progId="Equation.3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9B7314D3-A73A-C085-686B-75DEDB18D5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515" y="2729753"/>
                        <a:ext cx="3225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3535D1FE-4F67-5A76-48E2-07DF72DB8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84556"/>
              </p:ext>
            </p:extLst>
          </p:nvPr>
        </p:nvGraphicFramePr>
        <p:xfrm>
          <a:off x="5934892" y="2333709"/>
          <a:ext cx="3379017" cy="3134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4" imgW="1588008" imgH="1490472" progId="Word.Picture.8">
                  <p:embed/>
                </p:oleObj>
              </mc:Choice>
              <mc:Fallback>
                <p:oleObj name="图片" r:id="rId4" imgW="1588008" imgH="1490472" progId="Word.Picture.8">
                  <p:embed/>
                  <p:pic>
                    <p:nvPicPr>
                      <p:cNvPr id="11" name="Object 15">
                        <a:extLst>
                          <a:ext uri="{FF2B5EF4-FFF2-40B4-BE49-F238E27FC236}">
                            <a16:creationId xmlns:a16="http://schemas.microsoft.com/office/drawing/2014/main" id="{27AB2BDF-0BCC-23C9-487D-51EC8873B2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892" y="2333709"/>
                        <a:ext cx="3379017" cy="313448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2">
            <a:extLst>
              <a:ext uri="{FF2B5EF4-FFF2-40B4-BE49-F238E27FC236}">
                <a16:creationId xmlns:a16="http://schemas.microsoft.com/office/drawing/2014/main" id="{5CAB548B-1C7D-8DBA-331A-D581299622AC}"/>
              </a:ext>
            </a:extLst>
          </p:cNvPr>
          <p:cNvGrpSpPr>
            <a:grpSpLocks/>
          </p:cNvGrpSpPr>
          <p:nvPr/>
        </p:nvGrpSpPr>
        <p:grpSpPr bwMode="auto">
          <a:xfrm>
            <a:off x="911733" y="4238746"/>
            <a:ext cx="5292725" cy="1109662"/>
            <a:chOff x="0" y="3201"/>
            <a:chExt cx="3334" cy="699"/>
          </a:xfrm>
        </p:grpSpPr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FE592B21-0237-9CE0-06C6-D24DE0DEE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201"/>
              <a:ext cx="33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OH </a:t>
              </a:r>
              <a:r>
                <a:rPr kumimoji="1" lang="en-US" altLang="zh-CN" sz="2400" b="0" dirty="0">
                  <a:latin typeface="楷体_GB2312" pitchFamily="49" charset="-122"/>
                  <a:cs typeface="Times New Roman" panose="02020603050405020304" pitchFamily="18" charset="0"/>
                </a:rPr>
                <a:t>:</a:t>
              </a:r>
              <a:r>
                <a:rPr kumimoji="1" lang="zh-CN" altLang="en-US" sz="2400" b="0" dirty="0">
                  <a:latin typeface="楷体_GB2312" pitchFamily="49" charset="-122"/>
                  <a:cs typeface="Times New Roman" panose="02020603050405020304" pitchFamily="18" charset="0"/>
                </a:rPr>
                <a:t>驱动门的输出为高时能输出的电流</a:t>
              </a:r>
              <a:endParaRPr kumimoji="1"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D45E0687-D457-4B52-78DD-3557F7ACC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12"/>
              <a:ext cx="33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IH </a:t>
              </a:r>
              <a:r>
                <a:rPr kumimoji="1" lang="en-US" altLang="zh-CN" sz="2400" b="0" dirty="0">
                  <a:latin typeface="楷体_GB2312" pitchFamily="49" charset="-122"/>
                  <a:cs typeface="Times New Roman" panose="02020603050405020304" pitchFamily="18" charset="0"/>
                </a:rPr>
                <a:t>:</a:t>
              </a:r>
              <a:r>
                <a:rPr kumimoji="1" lang="zh-CN" altLang="en-US" sz="2400" b="0" dirty="0">
                  <a:latin typeface="楷体_GB2312" pitchFamily="49" charset="-122"/>
                  <a:cs typeface="Times New Roman" panose="02020603050405020304" pitchFamily="18" charset="0"/>
                </a:rPr>
                <a:t>负载门的需要的输入电流</a:t>
              </a:r>
              <a:endParaRPr kumimoji="1"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173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3F5D1-9B6D-A33D-974B-BE0CD044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扇入扇出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76EA67-54AF-A24D-524B-3B6DB32A6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Tahoma" panose="020B0604030504040204" pitchFamily="34" charset="0"/>
              </a:rPr>
              <a:t>扇出数：灌电流负载</a:t>
            </a:r>
          </a:p>
          <a:p>
            <a:pPr lvl="1"/>
            <a:r>
              <a:rPr kumimoji="1" lang="zh-CN" altLang="en-US" dirty="0">
                <a:cs typeface="Times New Roman" panose="02020603050405020304" pitchFamily="18" charset="0"/>
              </a:rPr>
              <a:t>当负载门的个数增加时，总的灌电流</a:t>
            </a:r>
            <a:r>
              <a:rPr kumimoji="1" lang="en-US" altLang="zh-CN" dirty="0">
                <a:cs typeface="Times New Roman" panose="02020603050405020304" pitchFamily="18" charset="0"/>
              </a:rPr>
              <a:t>I</a:t>
            </a:r>
            <a:r>
              <a:rPr kumimoji="1" lang="en-US" altLang="zh-CN" baseline="-25000" dirty="0">
                <a:cs typeface="Times New Roman" panose="02020603050405020304" pitchFamily="18" charset="0"/>
              </a:rPr>
              <a:t>OL</a:t>
            </a:r>
            <a:r>
              <a:rPr kumimoji="1" lang="zh-CN" altLang="en-US" dirty="0">
                <a:cs typeface="Times New Roman" panose="02020603050405020304" pitchFamily="18" charset="0"/>
              </a:rPr>
              <a:t>将增加，同时也将引起输出低电压</a:t>
            </a:r>
            <a:r>
              <a:rPr kumimoji="1" lang="en-US" altLang="zh-CN" dirty="0"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cs typeface="Times New Roman" panose="02020603050405020304" pitchFamily="18" charset="0"/>
              </a:rPr>
              <a:t>OL</a:t>
            </a:r>
            <a:r>
              <a:rPr kumimoji="1" lang="zh-CN" altLang="en-US" dirty="0">
                <a:cs typeface="Times New Roman" panose="02020603050405020304" pitchFamily="18" charset="0"/>
              </a:rPr>
              <a:t>的升高。当输出为低电平，并且保证不超过输出低电平的上限值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64EB53-A30D-FAD2-3530-AC7D43B8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96DA22-D3C7-2247-C48C-37BA78AF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34</a:t>
            </a:fld>
            <a:r>
              <a:rPr lang="en-US" altLang="zh-CN" dirty="0"/>
              <a:t>/35</a:t>
            </a:r>
            <a:endParaRPr lang="en-US" dirty="0"/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33736792-73ED-3A13-D39E-C27438E87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525851"/>
              </p:ext>
            </p:extLst>
          </p:nvPr>
        </p:nvGraphicFramePr>
        <p:xfrm>
          <a:off x="5834505" y="2564587"/>
          <a:ext cx="3076881" cy="282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1606296" imgH="1490472" progId="Word.Picture.8">
                  <p:embed/>
                </p:oleObj>
              </mc:Choice>
              <mc:Fallback>
                <p:oleObj name="图片" r:id="rId2" imgW="1606296" imgH="1490472" progId="Word.Picture.8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9189103E-90A1-B12E-8E38-4DA0D8F132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505" y="2564587"/>
                        <a:ext cx="3076881" cy="28241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C0AD1F8D-2A53-F7A0-57FF-913CF01215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281552"/>
              </p:ext>
            </p:extLst>
          </p:nvPr>
        </p:nvGraphicFramePr>
        <p:xfrm>
          <a:off x="985048" y="2770094"/>
          <a:ext cx="28924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93800" imgH="381000" progId="Equation.3">
                  <p:embed/>
                </p:oleObj>
              </mc:Choice>
              <mc:Fallback>
                <p:oleObj name="公式" r:id="rId4" imgW="1193800" imgH="381000" progId="Equation.3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F0DC670A-6D23-66A2-7C00-C4EF0EFB02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048" y="2770094"/>
                        <a:ext cx="289242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6">
            <a:extLst>
              <a:ext uri="{FF2B5EF4-FFF2-40B4-BE49-F238E27FC236}">
                <a16:creationId xmlns:a16="http://schemas.microsoft.com/office/drawing/2014/main" id="{F160D025-E5EB-0216-2FC6-C87FCDB51CF7}"/>
              </a:ext>
            </a:extLst>
          </p:cNvPr>
          <p:cNvGrpSpPr>
            <a:grpSpLocks/>
          </p:cNvGrpSpPr>
          <p:nvPr/>
        </p:nvGrpSpPr>
        <p:grpSpPr bwMode="auto">
          <a:xfrm>
            <a:off x="733020" y="4145509"/>
            <a:ext cx="5724526" cy="1177924"/>
            <a:chOff x="204" y="3112"/>
            <a:chExt cx="3606" cy="742"/>
          </a:xfrm>
        </p:grpSpPr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1DA3B789-E496-CDDE-ECFC-A99857599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3112"/>
              <a:ext cx="360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OL</a:t>
              </a:r>
              <a:r>
                <a:rPr kumimoji="1"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：驱动门的输出为低时能流入的电流	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AEED595-B0E2-D6A4-9F5D-54B37359A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" y="3566"/>
              <a:ext cx="29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IL </a:t>
              </a:r>
              <a:r>
                <a:rPr kumimoji="1" lang="zh-CN" alt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：负载门输入端电流之和	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2729DFBA-35F5-84D2-0B47-8A3267AA6AAF}"/>
              </a:ext>
            </a:extLst>
          </p:cNvPr>
          <p:cNvSpPr txBox="1"/>
          <p:nvPr/>
        </p:nvSpPr>
        <p:spPr>
          <a:xfrm>
            <a:off x="5811240" y="5859385"/>
            <a:ext cx="397538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dirty="0">
                <a:latin typeface="+mj-ea"/>
                <a:ea typeface="+mj-ea"/>
              </a:rPr>
              <a:t>实际设计中</a:t>
            </a:r>
            <a:r>
              <a:rPr kumimoji="1" lang="en-US" altLang="zh-CN" dirty="0">
                <a:latin typeface="+mj-ea"/>
                <a:ea typeface="+mj-ea"/>
              </a:rPr>
              <a:t>min(N</a:t>
            </a:r>
            <a:r>
              <a:rPr kumimoji="1" lang="en-US" altLang="zh-CN" baseline="-25000" dirty="0">
                <a:latin typeface="+mj-ea"/>
                <a:ea typeface="+mj-ea"/>
              </a:rPr>
              <a:t>OH</a:t>
            </a:r>
            <a:r>
              <a:rPr kumimoji="1" lang="en-US" altLang="zh-CN" dirty="0">
                <a:latin typeface="+mj-ea"/>
                <a:ea typeface="+mj-ea"/>
              </a:rPr>
              <a:t>,N</a:t>
            </a:r>
            <a:r>
              <a:rPr kumimoji="1" lang="en-US" altLang="zh-CN" baseline="-25000" dirty="0">
                <a:latin typeface="+mj-ea"/>
                <a:ea typeface="+mj-ea"/>
              </a:rPr>
              <a:t>OL</a:t>
            </a:r>
            <a:r>
              <a:rPr kumimoji="1" lang="en-US" altLang="zh-CN" dirty="0">
                <a:latin typeface="+mj-ea"/>
                <a:ea typeface="+mj-ea"/>
              </a:rPr>
              <a:t>)</a:t>
            </a:r>
            <a:r>
              <a:rPr kumimoji="1" lang="zh-CN" altLang="en-US" dirty="0">
                <a:latin typeface="+mj-ea"/>
                <a:ea typeface="+mj-ea"/>
              </a:rPr>
              <a:t>为扇出上限</a:t>
            </a:r>
          </a:p>
        </p:txBody>
      </p:sp>
    </p:spTree>
    <p:extLst>
      <p:ext uri="{BB962C8B-B14F-4D97-AF65-F5344CB8AC3E}">
        <p14:creationId xmlns:p14="http://schemas.microsoft.com/office/powerpoint/2010/main" val="12925838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P130-136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3.2.1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3.2.4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3.2.6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3.2.7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3.2.9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3.2.11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3.3.3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3.3.5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3.3.9</a:t>
            </a:r>
            <a:endParaRPr lang="en-US" altLang="zh-CN" sz="2400" kern="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22. </a:t>
            </a:r>
            <a:r>
              <a:rPr lang="zh-CN" altLang="en-US"/>
              <a:t>逻辑门电路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35</a:t>
            </a:fld>
            <a:r>
              <a:rPr lang="en-US" altLang="zh-CN" dirty="0"/>
              <a:t>/35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19129</TotalTime>
  <Words>3244</Words>
  <Application>Microsoft Macintosh PowerPoint</Application>
  <PresentationFormat>A4 纸张(210x297 毫米)</PresentationFormat>
  <Paragraphs>835</Paragraphs>
  <Slides>35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50" baseType="lpstr">
      <vt:lpstr>等线</vt:lpstr>
      <vt:lpstr>黑体</vt:lpstr>
      <vt:lpstr>楷体_GB2312</vt:lpstr>
      <vt:lpstr>宋体</vt:lpstr>
      <vt:lpstr>Microsoft YaHei</vt:lpstr>
      <vt:lpstr>Microsoft YaHei</vt:lpstr>
      <vt:lpstr>Arial</vt:lpstr>
      <vt:lpstr>Arial Black</vt:lpstr>
      <vt:lpstr>Cambria Math</vt:lpstr>
      <vt:lpstr>Tahoma</vt:lpstr>
      <vt:lpstr>Times New Roman</vt:lpstr>
      <vt:lpstr>Office-Design</vt:lpstr>
      <vt:lpstr>图片</vt:lpstr>
      <vt:lpstr>公式</vt:lpstr>
      <vt:lpstr>Image</vt:lpstr>
      <vt:lpstr>  模拟与数字电路 Analog and Digital Circuits</vt:lpstr>
      <vt:lpstr>内容提纲</vt:lpstr>
      <vt:lpstr>逻辑门电路</vt:lpstr>
      <vt:lpstr>（回顾）增强型NMOS管特性曲线</vt:lpstr>
      <vt:lpstr>后续电路常见接法及导通判断</vt:lpstr>
      <vt:lpstr>MOS管开关电路</vt:lpstr>
      <vt:lpstr>CMOS非门 (1)</vt:lpstr>
      <vt:lpstr>CMOS非门 (2)</vt:lpstr>
      <vt:lpstr>CMOS 与非门</vt:lpstr>
      <vt:lpstr>CMOS 与非门</vt:lpstr>
      <vt:lpstr>CMOS 与非门</vt:lpstr>
      <vt:lpstr>CMOS 与非门</vt:lpstr>
      <vt:lpstr>CMOS 或非门</vt:lpstr>
      <vt:lpstr>CMOS 与非/或非门</vt:lpstr>
      <vt:lpstr>CMOS异或门</vt:lpstr>
      <vt:lpstr>CMOS异或门</vt:lpstr>
      <vt:lpstr>CMOS异或门</vt:lpstr>
      <vt:lpstr>CMOS异或门</vt:lpstr>
      <vt:lpstr>示例：CMOS逻辑门</vt:lpstr>
      <vt:lpstr>示例：CMOS逻辑门</vt:lpstr>
      <vt:lpstr>CMOS漏极开路门 (1)</vt:lpstr>
      <vt:lpstr>CMOS漏极开路门 (2)</vt:lpstr>
      <vt:lpstr>CMOS三态门</vt:lpstr>
      <vt:lpstr>示例：CMOS逻辑门</vt:lpstr>
      <vt:lpstr>CMOS传输门</vt:lpstr>
      <vt:lpstr>示例：传输门的应用</vt:lpstr>
      <vt:lpstr>逻辑门主要参数</vt:lpstr>
      <vt:lpstr>输入和输出电平</vt:lpstr>
      <vt:lpstr>噪声容限</vt:lpstr>
      <vt:lpstr>传输延迟</vt:lpstr>
      <vt:lpstr>功耗</vt:lpstr>
      <vt:lpstr>扇入扇出</vt:lpstr>
      <vt:lpstr>扇入扇出</vt:lpstr>
      <vt:lpstr>扇入扇出</vt:lpstr>
      <vt:lpstr>作业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2537</cp:revision>
  <cp:lastPrinted>2020-05-26T13:24:01Z</cp:lastPrinted>
  <dcterms:created xsi:type="dcterms:W3CDTF">2020-04-07T12:23:01Z</dcterms:created>
  <dcterms:modified xsi:type="dcterms:W3CDTF">2024-11-19T01:39:18Z</dcterms:modified>
</cp:coreProperties>
</file>